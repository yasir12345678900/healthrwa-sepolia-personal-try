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e60a77d8-7792-1a6c-7695-79cd3ad83908}">
          <p14:sldIdLst>
            <p14:sldId id="256"/>
          </p14:sldIdLst>
        </p14:section>
        <p14:section name="Outline" id="{4264478c-e182-17c9-2a27-6daa2a74ba98}">
          <p14:sldIdLst>
            <p14:sldId id="257"/>
          </p14:sldIdLst>
        </p14:section>
        <p14:section name="Introduction" id="{d337b303-632e-df0d-2524-557127fcdb85}">
          <p14:sldIdLst>
            <p14:sldId id="258"/>
            <p14:sldId id="259"/>
          </p14:sldIdLst>
        </p14:section>
        <p14:section name="Systematic Literature Review" id="{cfc0049f-5ba1-6727-0c82-189def036c66}">
          <p14:sldIdLst>
            <p14:sldId id="260"/>
            <p14:sldId id="261"/>
            <p14:sldId id="262"/>
            <p14:sldId id="263"/>
            <p14:sldId id="264"/>
            <p14:sldId id="265"/>
            <p14:sldId id="266"/>
            <p14:sldId id="267"/>
          </p14:sldIdLst>
        </p14:section>
        <p14:section name="Research Gap" id="{21dea97b-7aef-0ee8-7c8b-98f611137ab0}">
          <p14:sldIdLst>
            <p14:sldId id="268"/>
          </p14:sldIdLst>
        </p14:section>
        <p14:section name="Research Questions" id="{1abc1dbe-f986-e43a-dc2a-24b0ad216f75}">
          <p14:sldIdLst>
            <p14:sldId id="269"/>
            <p14:sldId id="270"/>
          </p14:sldIdLst>
        </p14:section>
        <p14:section name="Research Objectives" id="{83cc9a29-3d69-2a63-abb0-cfac76bccf33}">
          <p14:sldIdLst>
            <p14:sldId id="271"/>
          </p14:sldIdLst>
        </p14:section>
        <p14:section name="Research Methodology" id="{fddaa95f-730f-9856-ac72-f9d73a6ac3a6}">
          <p14:sldIdLst>
            <p14:sldId id="272"/>
          </p14:sldIdLst>
        </p14:section>
        <p14:section name="Research Architecture" id="{c4891513-718f-811d-5046-77cf151f6f40}">
          <p14:sldIdLst>
            <p14:sldId id="273"/>
          </p14:sldIdLst>
        </p14:section>
        <p14:section name="The Proposed Solutions" id="{ccc04994-1fd2-e515-a7e9-d113bc562266}">
          <p14:sldIdLst>
            <p14:sldId id="274"/>
            <p14:sldId id="275"/>
            <p14:sldId id="276"/>
            <p14:sldId id="277"/>
            <p14:sldId id="278"/>
            <p14:sldId id="279"/>
            <p14:sldId id="280"/>
          </p14:sldIdLst>
        </p14:section>
        <p14:section name="Implementation and Evaluation" id="{9be27356-5b40-3c91-eb45-2a04f9c22a38}">
          <p14:sldIdLst>
            <p14:sldId id="281"/>
            <p14:sldId id="282"/>
            <p14:sldId id="283"/>
            <p14:sldId id="284"/>
            <p14:sldId id="285"/>
            <p14:sldId id="286"/>
            <p14:sldId id="287"/>
          </p14:sldIdLst>
        </p14:section>
        <p14:section name="Significance of the Research" id="{d5400a7a-b3c1-6808-0348-b03bc120c24e}">
          <p14:sldIdLst>
            <p14:sldId id="288"/>
            <p14:sldId id="289"/>
            <p14:sldId id="290"/>
            <p14:sldId id="291"/>
          </p14:sldIdLst>
        </p14:section>
        <p14:section name="Research Plan" id="{9a6bc33c-e59a-261c-5b5b-a938da077e83}">
          <p14:sldIdLst>
            <p14:sldId id="292"/>
            <p14:sldId id="293"/>
          </p14:sldIdLst>
        </p14:section>
        <p14:section name="References" id="{ae0f813e-a835-3527-a7c8-cb9b6d7ab5eb}">
          <p14:sldIdLst>
            <p14:sldId id="294"/>
            <p14:sldId id="295"/>
            <p14:sldId id="296"/>
          </p14:sldIdLst>
        </p14:section>
        <p14:section name="Thank You" id="{33546d0a-791d-209d-ad71-e4a95a2af192}">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 </a:t>
            </a:r>
            <a:r>
              <a:rPr lang="en-US" dirty="0">
                <a:highlight>
                  <a:srgbClr val="FFFF00"/>
                </a:highlight>
              </a:rPr>
              <a:t>L means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a:t>
            </a:r>
            <a:r>
              <a:rPr lang="en-US" dirty="0">
                <a:highlight>
                  <a:srgbClr val="FFFF00"/>
                </a:highlight>
              </a:rPr>
              <a:t>It checks the DID format and invokes VC verification.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a:t>
            </a:r>
            <a:r>
              <a:rPr lang="en-US" dirty="0">
                <a:highlight>
                  <a:srgbClr val="FFFF00"/>
                </a:highlight>
              </a:rPr>
              <a:t>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of the HALAH prototype, for the evaluated consent, f050c29a.</a:t>
            </a:r>
            <a:r>
              <a:rPr lang="en-US" dirty="0"/>
              <a:t>
</a:t>
            </a:r>
            <a:r>
              <a:rPr lang="en-US" dirty="0">
                <a:highlight>
                  <a:srgbClr val="FFFF00"/>
                </a:highlight>
              </a:rPr>
              <a:t>The doctor enters the consent ID.</a:t>
            </a:r>
            <a:r>
              <a:rPr lang="en-US" dirty="0"/>
              <a:t> Below that is the decision matrix. VI is identity and authority. VA is collective approval, and revocation is also checked inside VA. VP is policy and context. VT is time. All five </a:t>
            </a:r>
            <a:r>
              <a:rPr lang="en-US" dirty="0">
                <a:highlight>
                  <a:srgbClr val="FFFF00"/>
                </a:highlight>
              </a:rPr>
              <a:t>checks</a:t>
            </a:r>
            <a:r>
              <a:rPr lang="en-US" dirty="0"/>
              <a:t>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t>
            </a:r>
            <a:r>
              <a:rPr lang="en-US" dirty="0">
                <a:highlight>
                  <a:srgbClr val="FFFF00"/>
                </a:highlight>
              </a:rPr>
              <a:t>and</a:t>
            </a:r>
            <a:r>
              <a:rPr lang="en-US" dirty="0"/>
              <a:t>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t>
            </a:r>
            <a:r>
              <a:rPr lang="en-US" dirty="0">
                <a:highlight>
                  <a:srgbClr val="FFFF00"/>
                </a:highlight>
              </a:rPr>
              <a:t>and</a:t>
            </a:r>
            <a:r>
              <a:rPr lang="en-US" dirty="0"/>
              <a:t>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and guardians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RQs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0B1F33"/>
                </a:solidFill>
                <a:highlight>
                  <a:srgbClr val="FFFF00"/>
                </a:highlight>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2026-10-11T01:10:07Z</dcterms:created>
  <dcterms:modified xsi:type="dcterms:W3CDTF">2026-10-11T01:10:07Z</dcterms:modified>
</cp:coreProperties>
</file>
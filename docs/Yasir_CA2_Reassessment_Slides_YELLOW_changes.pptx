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charts/chart1.xml" ContentType="application/vnd.openxmlformats-officedocument.drawingml.chart+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3f16ffb0-4888-55b1-a99d-f9b5263da333}">
          <p14:sldIdLst>
            <p14:sldId id="256"/>
          </p14:sldIdLst>
        </p14:section>
        <p14:section name="Outline" id="{54268a87-50e3-119e-80b7-f6c8cccb803a}">
          <p14:sldIdLst>
            <p14:sldId id="257"/>
          </p14:sldIdLst>
        </p14:section>
        <p14:section name="Introduction" id="{0a30a3e1-dc91-5bf8-dc42-e0bb97096e7b}">
          <p14:sldIdLst>
            <p14:sldId id="258"/>
            <p14:sldId id="259"/>
          </p14:sldIdLst>
        </p14:section>
        <p14:section name="Systematic Literature Review" id="{cc1c3124-6cda-e2e4-ce53-d164aeb6938e}">
          <p14:sldIdLst>
            <p14:sldId id="260"/>
            <p14:sldId id="261"/>
            <p14:sldId id="262"/>
            <p14:sldId id="263"/>
            <p14:sldId id="264"/>
            <p14:sldId id="265"/>
            <p14:sldId id="266"/>
            <p14:sldId id="267"/>
          </p14:sldIdLst>
        </p14:section>
        <p14:section name="Research Gap" id="{fd589055-b8d0-b068-0973-8563c7be48f5}">
          <p14:sldIdLst>
            <p14:sldId id="268"/>
          </p14:sldIdLst>
        </p14:section>
        <p14:section name="Research Questions" id="{e00f9b94-aef4-4630-2c31-4618878befcf}">
          <p14:sldIdLst>
            <p14:sldId id="269"/>
            <p14:sldId id="270"/>
          </p14:sldIdLst>
        </p14:section>
        <p14:section name="Research Objectives" id="{cc542621-f73b-71a9-b9eb-c88761060e6a}">
          <p14:sldIdLst>
            <p14:sldId id="271"/>
          </p14:sldIdLst>
        </p14:section>
        <p14:section name="Research Methodology" id="{44b204b8-65a5-79fa-cbb8-d717240a7edc}">
          <p14:sldIdLst>
            <p14:sldId id="272"/>
          </p14:sldIdLst>
        </p14:section>
        <p14:section name="Research Architecture" id="{731a24af-5d15-2f6f-4de8-117c77931bda}">
          <p14:sldIdLst>
            <p14:sldId id="273"/>
          </p14:sldIdLst>
        </p14:section>
        <p14:section name="The Proposed Solutions" id="{22670cbf-79e6-67d3-71a3-ceee1e006958}">
          <p14:sldIdLst>
            <p14:sldId id="274"/>
            <p14:sldId id="275"/>
            <p14:sldId id="276"/>
            <p14:sldId id="277"/>
            <p14:sldId id="278"/>
            <p14:sldId id="279"/>
            <p14:sldId id="280"/>
            <p14:sldId id="281"/>
            <p14:sldId id="282"/>
            <p14:sldId id="283"/>
            <p14:sldId id="284"/>
            <p14:sldId id="285"/>
            <p14:sldId id="286"/>
          </p14:sldIdLst>
        </p14:section>
        <p14:section name="Implementation and Evaluation" id="{e4081f80-c91c-9259-7219-32aec7496f41}">
          <p14:sldIdLst>
            <p14:sldId id="287"/>
            <p14:sldId id="288"/>
            <p14:sldId id="289"/>
            <p14:sldId id="290"/>
            <p14:sldId id="291"/>
            <p14:sldId id="292"/>
            <p14:sldId id="293"/>
          </p14:sldIdLst>
        </p14:section>
        <p14:section name="Significance of the Research" id="{3bc731e4-fb5a-a770-0224-eeba7311c401}">
          <p14:sldIdLst>
            <p14:sldId id="294"/>
            <p14:sldId id="295"/>
            <p14:sldId id="296"/>
            <p14:sldId id="297"/>
          </p14:sldIdLst>
        </p14:section>
        <p14:section name="Research Plan" id="{84e40a46-cb53-ad88-8c3a-be5844714ecf}">
          <p14:sldIdLst>
            <p14:sldId id="298"/>
            <p14:sldId id="299"/>
            <p14:sldId id="300"/>
          </p14:sldIdLst>
        </p14:section>
        <p14:section name="References" id="{0becb84f-f83b-7298-1d23-f6b978a9d3d4}">
          <p14:sldIdLst>
            <p14:sldId id="301"/>
            <p14:sldId id="302"/>
            <p14:sldId id="303"/>
          </p14:sldIdLst>
        </p14:section>
        <p14:section name="Thank You" id="{19d95092-0268-9d0e-36de-b45bd20524e3}">
          <p14:sldIdLst>
            <p14:sldId id="30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1F33"/>
                </a:solidFill>
                <a:latin typeface="+mn-lt"/>
              </a:defRPr>
            </a:pPr>
            <a:r>
              <a:rPr sz="1400" b="0" i="0" u="none" strike="noStrike">
                <a:solidFill>
                  <a:srgbClr val="0B1F33"/>
                </a:solidFill>
                <a:latin typeface="+mn-lt"/>
              </a:rPr>
              <a:t>Gas used by the five anchored Sepolia transactions</a:t>
            </a:r>
          </a:p>
        </c:rich>
      </c:tx>
      <c:layout/>
      <c:overlay val="0"/>
    </c:title>
    <c:autoTitleDeleted val="0"/>
    <c:plotArea>
      <c:layout/>
      <c:barChart>
        <c:barDir val="col"/>
        <c:grouping val="clustered"/>
        <c:varyColors val="0"/>
        <c:ser>
          <c:idx val="0"/>
          <c:order val="0"/>
          <c:tx>
            <c:strRef>
              <c:f>Sheet1!$B$1</c:f>
              <c:strCache>
                <c:ptCount val="1"/>
                <c:pt idx="0">
                  <c:v>Gas used</c:v>
                </c:pt>
              </c:strCache>
            </c:strRef>
          </c:tx>
          <c:spPr>
            <a:solidFill>
              <a:srgbClr val="1FB5D6"/>
            </a:solidFill>
            <a:effectLst/>
          </c:spPr>
          <c:invertIfNegative val="0"/>
          <c:dLbls>
            <c:numFmt formatCode="#,##0" sourceLinked="0"/>
            <c:txPr>
              <a:bodyPr/>
              <a:lstStyle/>
              <a:p>
                <a:pPr>
                  <a:defRPr b="0" i="0" strike="noStrike" sz="1000" u="none">
                    <a:solidFill>
                      <a:srgbClr val="0B1F33"/>
                    </a:solidFill>
                    <a:latin typeface="+mn-lt"/>
                  </a:defRPr>
                </a:pPr>
              </a:p>
            </c:txPr>
            <c:showLegendKey val="0"/>
            <c:showVal val="1"/>
            <c:showCatName val="0"/>
            <c:showSerName val="0"/>
            <c:showPercent val="0"/>
            <c:showBubbleSize val="0"/>
            <c:showLeaderLines val="0"/>
          </c:dLbls>
          <c:cat>
            <c:multiLvlStrRef>
              <c:f>Sheet1!$A$2:$A$6</c:f>
              <c:multiLvlStrCache>
                <c:ptCount val="5"/>
                <c:lvl>
                  <c:pt idx="0">
                    <c:v>Mint #8 (prev.)</c:v>
                  </c:pt>
                  <c:pt idx="1">
                    <c:v>Revoke #8 (prev.)</c:v>
                  </c:pt>
                  <c:pt idx="2">
                    <c:v>Mint #1</c:v>
                  </c:pt>
                  <c:pt idx="3">
                    <c:v>Revoke #1</c:v>
                  </c:pt>
                  <c:pt idx="4">
                    <c:v>Mint #2</c:v>
                  </c:pt>
                </c:lvl>
              </c:multiLvlStrCache>
            </c:multiLvlStrRef>
          </c:cat>
          <c:val>
            <c:numRef>
              <c:f>Sheet1!$B$2:$B$6</c:f>
              <c:numCache>
                <c:formatCode>General</c:formatCode>
                <c:ptCount val="5"/>
                <c:pt idx="0">
                  <c:v>156589</c:v>
                </c:pt>
                <c:pt idx="1">
                  <c:v>46226</c:v>
                </c:pt>
                <c:pt idx="2">
                  <c:v>196406</c:v>
                </c:pt>
                <c:pt idx="3">
                  <c:v>32980</c:v>
                </c:pt>
                <c:pt idx="4">
                  <c:v>179306</c:v>
                </c:pt>
              </c:numCache>
            </c:numRef>
          </c:val>
        </c:ser>
        <c:dLbls>
          <c:numFmt formatCode="#,##0" sourceLinked="0"/>
          <c:txPr>
            <a:bodyPr/>
            <a:lstStyle/>
            <a:p>
              <a:pPr>
                <a:defRPr b="0" i="0" strike="noStrike" sz="1000" u="none">
                  <a:solidFill>
                    <a:srgbClr val="0B1F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0B1F33"/>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5DEE7"/>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0B1F33"/>
                </a:solidFill>
                <a:latin typeface="+mn-lt"/>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My name is Yasir Alyoubi. My principal supervisor is Professor Farookh Hussain, and my co-supervisor is Dr Firas Al-Doghman. Today I present my candidature reassessment.
</a:t>
            </a:r>
            <a:r>
              <a:rPr lang="en-US" dirty="0">
                <a:highlight>
                  <a:srgbClr val="FFFF00"/>
                </a:highlight>
              </a:rPr>
              <a:t>My research title is A Trusted Authorisation Framework for Multi-Party Patient Consent in Healthcare Data Sharing.</a:t>
            </a:r>
            <a:r>
              <a:rPr lang="en-US" dirty="0"/>
              <a:t> My research asks one main question. Before any patient data is shared, how can a system check the patient's consent together with identity, authority, approvals, policy and time, all in one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outline of my talk. It has </a:t>
            </a:r>
            <a:r>
              <a:rPr lang="en-US" dirty="0">
                <a:highlight>
                  <a:srgbClr val="FFFF00"/>
                </a:highlight>
              </a:rPr>
              <a:t>ten</a:t>
            </a:r>
            <a:r>
              <a:rPr lang="en-US" dirty="0"/>
              <a:t> parts.
I start with the introduction and the systematic literature review. Then I show the research </a:t>
            </a:r>
            <a:r>
              <a:rPr lang="en-US" dirty="0">
                <a:highlight>
                  <a:srgbClr val="FFFF00"/>
                </a:highlight>
              </a:rPr>
              <a:t>gap</a:t>
            </a:r>
            <a:r>
              <a:rPr lang="en-US" dirty="0"/>
              <a:t>, the research questions and the research objectives. After that I explain the research methodology </a:t>
            </a:r>
            <a:r>
              <a:rPr lang="en-US" dirty="0">
                <a:highlight>
                  <a:srgbClr val="FFFF00"/>
                </a:highlight>
              </a:rPr>
              <a:t>and the architecture, and then</a:t>
            </a:r>
            <a:r>
              <a:rPr lang="en-US" dirty="0"/>
              <a:t> the proposed solutions.
Next, I show the implementation and evaluation of my prototype. I finish with the significance of the research, </a:t>
            </a:r>
            <a:r>
              <a:rPr lang="en-US" dirty="0">
                <a:highlight>
                  <a:srgbClr val="FFFF00"/>
                </a:highlight>
              </a:rPr>
              <a:t>my publications,</a:t>
            </a:r>
            <a:r>
              <a:rPr lang="en-US" dirty="0"/>
              <a:t> the research plan and the references.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why this research is needed.
First, healthcare data is very sensitive. It is shared between many independent parties, like patients, guardians, doctors and hospitals.
Second, consent is usually kept as a passive record. It only says that permission was given.
Third, identity is not authority. A system may know who you are. That does not mean you may see this patient's data.
Fourth, even with approval, a request can ask for more data, or for another purpose, than the patient allowed.
So the last point is that we need one trusted decision that checks all these conditions together.
The box on the right states the central problem. No current mechanism links all these conditions in one decision and also shows that it is secure. "Formally" means with exact definitions. "Empirically" means with tests and measurements.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defines the key ideas I use in the whole research.
The top row has three questions. Identity asks if we can reliably know who the participant is. For this I use a DID, which means a decentralised identifier. Authority asks if the participant has the right role or permission. For this I use a VC, which means a verifiable credential. Multi-party approval asks if all required guardians approved, and if each one was checked on their own.
In the second row, Policy asks if the request stays inside the allowed purpose </a:t>
            </a:r>
            <a:r>
              <a:rPr lang="en-US" dirty="0">
                <a:highlight>
                  <a:srgbClr val="FFFF00"/>
                </a:highlight>
              </a:rPr>
              <a:t>and</a:t>
            </a:r>
            <a:r>
              <a:rPr lang="en-US" dirty="0"/>
              <a:t> data scope. Time and lifecycle asks if the consent is still valid, and not expired or revoked.
The dark box brings it together. Consent becomes an object the system can evaluate: C equals I, A, P, T, L, E. That is identity, </a:t>
            </a:r>
            <a:r>
              <a:rPr lang="en-US" dirty="0">
                <a:highlight>
                  <a:srgbClr val="FFFF00"/>
                </a:highlight>
              </a:rPr>
              <a:t>authorisation</a:t>
            </a:r>
            <a:r>
              <a:rPr lang="en-US" dirty="0"/>
              <a:t>, policy, time, </a:t>
            </a:r>
            <a:r>
              <a:rPr lang="en-US" dirty="0">
                <a:highlight>
                  <a:srgbClr val="FFFF00"/>
                </a:highlight>
              </a:rPr>
              <a:t>lifecycle</a:t>
            </a:r>
            <a:r>
              <a:rPr lang="en-US" dirty="0"/>
              <a:t> and evidence. </a:t>
            </a:r>
            <a:r>
              <a:rPr lang="en-US" dirty="0">
                <a:highlight>
                  <a:srgbClr val="FFFF00"/>
                </a:highlight>
              </a:rPr>
              <a:t>Authorisation</a:t>
            </a:r>
            <a:r>
              <a:rPr lang="en-US" dirty="0"/>
              <a:t> holds the guardian set G and the threshold N, which is the number of approvals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how I ran the systematic literature review. I read the table from top to bottom.
Protocol: I followed PRISMA 2020. This is a standard guide that makes a review clear and repeatable. A written protocol, version 1.1, fixed the questions, databases, query, criteria and quality items before screening started.
Search: I used one master query with three concept blocks joined by AND. The blocks cover healthcare data, consent and authorisation, and trust and multi-party ideas. I searched seven databases. Google Scholar was only a discovery arm, so its results are reported separately.
Dates: the main searches were on 24 and 25 August 2026. ACM Digital Library was searched later, on 5 September 2026.
Screening went from title, to abstract, to full text, with seven inclusion and nine exclusion criteria. For quality, a study is included when QA1 to QA4 add up to at least 3.0.
Possible question: Why was ACM searched later? My UTS Library account was put on hold after I downloaded many full-text PDFs, so I had no access. The library removed the hold, but it took time. I used the same string and fields.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PRISMA flow diagram. It shows how the number of papers went down at each step.
The seven databases returned 9,256 records. Google Scholar, on the right, was only a discovery arm, so it is not added to this total.
After removing duplicates, 6,039 records were screened by title. 2,910 were excluded, mostly because they had no authorisation signal or were outside healthcare. That left 3,129 records for the abstract stage. 2,541 abstracts were screened and 741 were excluded. 588 could not be screened, because the export had no abstracts.
Next, 1,800 full texts were sought and sorted into priority tiers A, B and C. At the reporting checkpoint, 64 full texts were assessed. That is all 39 in Tier A and 25 more. </a:t>
            </a:r>
            <a:r>
              <a:rPr lang="en-US" dirty="0">
                <a:highlight>
                  <a:srgbClr val="FFFF00"/>
                </a:highlight>
              </a:rPr>
              <a:t>17 were excluded. One full text could not be retrieved, and the other 1,735 are not assessed yet. That work continues.</a:t>
            </a:r>
            <a:r>
              <a:rPr lang="en-US" dirty="0"/>
              <a:t>
The last box shows the 25 primary studies: 23 core studies plus the 2 supporting studies with the highest quality score.
Possible question: Why does the report say 44 studies? The 25 primary and 19 supporting studies make 44. The 3 secondary studies are kept only for background.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gives the quality assessment rules.
QA1 asks if the study is about patient consent, or data access controlled by consent, in healthcare. QA2 asks if it has a real authorisation or access-decision mechanism, not only storage or recording. QA3 asks if it offers a proper framework, model, protocol or architecture. QA4 asks if the method is tested with a proof of concept or an implementation.
These four items decide inclusion. QA5 to QA8 are extra quality items. They were scored for every included study, but they only place a study in an evidence tier: A, B, C or Background. They do not decide inclusion. These evidence tiers are not the same as the priority tiers on the PRISMA slide.
The last row is the rule. Yes scores 1, Partial scores 0.5 and No scores 0. A study is included when QA1 to QA4 add up to at least 3.0 out of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literature, I defined six key requirements for trustworthy multi-party consent. Each requirement matches one research question, and later one research objective.
Req 1: consent should be an object the system can evaluate at access time, not only a record.
Req 2: identity and authority are checked in a decentralised way, with DIDs and verifiable credentials. Identity tells us who the person is. Authority tells us what they may do.
Req 3: multi-party authorisation. A set number of independent approvals, called the threshold, must be reached. So no single person can approve alone.
Req 4: policy and context. Even an approved request must stay inside the allowed purpose </a:t>
            </a:r>
            <a:r>
              <a:rPr lang="en-US" dirty="0">
                <a:highlight>
                  <a:srgbClr val="FFFF00"/>
                </a:highlight>
              </a:rPr>
              <a:t>and</a:t>
            </a:r>
            <a:r>
              <a:rPr lang="en-US" dirty="0"/>
              <a:t> data scope.
Req 5: time and lifecycle. Expired or revoked consent must not work.
Req 6: auditability and security assurance. Every decision keeps evidence that explains why it was made. The security properties are also defined and 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lists the 25 primary studies from my review. This slide shows S1 to S13. The next slide shows S14 to S25.
</a:t>
            </a:r>
            <a:r>
              <a:rPr lang="en-US" dirty="0">
                <a:highlight>
                  <a:srgbClr val="FFFF00"/>
                </a:highlight>
              </a:rPr>
              <a:t>For each study you see the code, the authors, the year, the title and the category.</a:t>
            </a:r>
            <a:r>
              <a:rPr lang="en-US" dirty="0"/>
              <a:t> The category shows which of my six requirements the study is placed under. Each study sits in one group only, normally the one it is coded most strongly on.
For example, S10 by Madine and others, from 2020, is about fully decentralised multi-party consent. So it sits under Req 3. The years run from 2020 to 2026, which matches the date range of the search.
S2 and S9 are the two supporting studies with the highest quality score, 7.0. The other studies in the list are core studies.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continues the list of primary studies. It shows S14 to S25, so with the last slide we have all 25 studies.
</a:t>
            </a:r>
            <a:r>
              <a:rPr lang="en-US" dirty="0">
                <a:highlight>
                  <a:srgbClr val="FFFF00"/>
                </a:highlight>
              </a:rPr>
              <a:t>Each row gives the study number, the authors, the year, the title and the category.</a:t>
            </a:r>
            <a:r>
              <a:rPr lang="en-US" dirty="0"/>
              <a:t> The category is the stream where I placed the study. Each stream matches one requirement.
Most of these studies are very recent. Eight of these twelve are from 2025 or 2026. This shows the topic is active right now.
You can also see that the streams are mixed. S14, S15 and S23 are under identity and authority. S16, S20 and S24 are under multi-party authorisation. S25, HealthDID, is under security assurance.
Each study sits in one stream only. Normally this is the requirement where it is graded most strongly. On the next slide, I compare all 25 studies against all six requirements.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the heart of the review. Each row is one of the 25 studies. Each column is one of the six requirements. Req means requirement.
Green Yes means the study fully meets the requirement. Gold Partial means it meets only part of it. Red No means it does not meet it.
First, read down the columns. Every requirement is met by at least one study. Requirement 3, multi-party authorisation, is the weakest. Only 6 studies get a Yes.
Now read across the rows. No study meets all six. The best are S10, Madine et al., and S13, Panagoulias et al., with four Yes each. Five studies have no Yes at all.
For Requirement 6, each study takes the higher of two grades: its formal assurance grade and its empirical validation grade.
So the pieces exist, but no study puts them together in one decision.
Possible question: Why is S6 in the multi-party stream but only Partial on Req 3? It is placed there for its guardian access gate, but it does not fully meet the requirement.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figure sums up the whole review in one picture. Please read it from left to right.
On the left are the six requirements. Each box shows how many of the 25 studies get a full Yes. Consent representation has 12. Identity and authority has 7. Multi-party authorisation has 6. Policy and context has 10. Temporal and lifecycle has 8. Assurance has 9, but only 4 have a formal proof.
All the arrows lead to the yellow box, the conjunction gap. Conjunction means joining conditions with AND. Each requirement is met somewhere, but no study joins Requirements 1 to 5 in one access decision.
The next box is the assurance gap. The few proofs cover only a small part of the decision. The joined conditions are never proved or tested as one decision.
The dark box at the bottom is my answer. Consent becomes an object C that can be checked. R is the request and t is the time. Access is allowed only when all five checks pass: identity, approval, policy, time and </a:t>
            </a:r>
            <a:r>
              <a:rPr lang="en-US" dirty="0">
                <a:highlight>
                  <a:srgbClr val="FFFF00"/>
                </a:highlight>
              </a:rPr>
              <a:t>lifecycle</a:t>
            </a:r>
            <a:r>
              <a:rPr lang="en-US" dirty="0"/>
              <a:t>. The symbol ∧ means 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ighlight>
                  <a:srgbClr val="FFFF00"/>
                </a:highlight>
              </a:rPr>
              <a:t>This is the research gap of my study.
Existing healthcare consent and access-control research provides many of the necessary technological building blocks, but there remains a need for an integrated Trust Computing framework that treats patient consent as a security-bearing and evaluable authorisation object. Such a framework should be capable of representing the relevant trust conditions, verifying the participating entities and their authority, establishing collective authorisation where required, and enforcing the policy and data-scope constraints associated with the consent.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ighlight>
                  <a:srgbClr val="FFFF00"/>
                </a:highlight>
              </a:rPr>
              <a:t>This gap leads</a:t>
            </a:r>
            <a:r>
              <a:rPr lang="en-US" dirty="0"/>
              <a:t> to my main research question. Let me read it.
How can a trust-oriented computing framework establish and enforce trustworthy multi-party consent for decentralised healthcare data sharing under identity, authority, and policy constraints?
Two words are the key here. Establish is about creating trust. That means trusted participants, their authority, and a shared consent decision. Enforce is about checking these conditions each time someone asks for healthcare data.
Trust-oriented means my focus is trust, not one technology. Blockchain, decentralised identity and credentials are tools that support the trust model.
Multi-party means one person alone cannot give the approval. A set of chosen participants must each approve.
The last part of the question names the limits on every decision. These are who the person is, what they are allowed to do, and what the policy permits.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split the main question into six sub-questions.
RQ1 asks how to model consent as an object that holds identity, authority, policy and evidence.
RQ2 asks how DIDs and VCs can give us trusted participants. A DID is a decentralised identifier. It does not depend on one central identity provider. A VC is a verifiable credential, for example proof of a role. The key point is to keep proof of identity separate from authority.
RQ3 asks how verified participants can approve together, so no single person can approve alone.
RQ4 asks how purpose and data scope can stop a valid user from reaching data they should not see.
RQ5 asks how to reject access after expiry, revocation or a wrong state change.
RQ6 asks how to define the security properties formally and test them in practice.
RQ1 to RQ5 build the decision. RQ6 checks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questions, I set six research objectives. Each objective answers the question with the same number. The table shows each one and its status.
RO1 is the consent model. Consent becomes a structured object that can be checked. It is done.
RO2 checks identity and authority with DIDs and VCs, and keeps them apart. It is done.
RO3 is multi-party approval. Each guardian signs with EIP-712, a standard for signing typed data. In the prototype, every listed guardian must sign. It is done.
RO4 checks purpose and data scope. It is done.
So RO1 to RO4 are delivered and validated with the prototype.
RO5, time and lifecycle, is in progress. The validity window and revocation already work. </a:t>
            </a:r>
            <a:r>
              <a:rPr lang="en-US" dirty="0">
                <a:highlight>
                  <a:srgbClr val="FFFF00"/>
                </a:highlight>
              </a:rPr>
              <a:t>Next I will add the suspended state and the lifecycle transition check, and extend them to consent changes, delegation and guardian-set changes.</a:t>
            </a:r>
            <a:r>
              <a:rPr lang="en-US" dirty="0"/>
              <a:t>
RO6 is partially completed. The tests and first measurements are done. The formal analysis comes in the next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my research method as seven steps, from left to right.
Step 1 is the problem. Consent is a passive record, and there is no integrated trusted decision.
Step 2 is the systematic literature review. I followed PRISMA 2020, a standard guide for reporting reviews, and analysed 25 primary studies.
Step 3 gives the </a:t>
            </a:r>
            <a:r>
              <a:rPr lang="en-US" dirty="0">
                <a:highlight>
                  <a:srgbClr val="FFFF00"/>
                </a:highlight>
              </a:rPr>
              <a:t>research gap</a:t>
            </a:r>
            <a:r>
              <a:rPr lang="en-US" dirty="0"/>
              <a:t> and the six research questions. Step 4 sets the six objectives.
Step 5 is the design. It has the MVC architecture, the consent object C and four algorithms.
Step 6 is the prototype, called HALAH. That stands for History Access Link for Authorised Healthcare. Its smart contract, ConsentSBTv3, runs on Sepolia, an Ethereum test network.
Step 7 is the evaluation. </a:t>
            </a:r>
            <a:r>
              <a:rPr lang="en-US" dirty="0">
                <a:highlight>
                  <a:srgbClr val="FFFF00"/>
                </a:highlight>
              </a:rPr>
              <a:t>I used live scenarios, measurements and thirteen attack scenarios.</a:t>
            </a:r>
            <a:r>
              <a:rPr lang="en-US" dirty="0"/>
              <a:t> The formal assurance comes in the next stage.
The arrow at the bottom shows the whole path, from the problem to the evaluated prototype.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figure shows my research architecture. It uses MVC, which means Model, View and Controller. Please read it from top to bottom.
At the top are the four user groups: patients, guardians, healthcare professionals and auditors. Each group has its own interface in the View layer. The View only sends requests. It never decides access.
Every request enters the Controller layer through request validation. The security checks happen here. Identity Verification checks the DID. Authority Verification checks evidence of authority for the case. Approval Aggregation counts the valid approvals from the guardian set G against the threshold N. Policy Enforcement checks purpose and scope. The Decision Engine joins all five checks. Audit Coordination records evidence for every decision.
At the bottom, the Model layer stores the state. This includes identity records, credentials, the consent object C, approvals, policy, evidence and lifecycle state.
The protected healthcare data sit outside all three layers. The Controller releases them only on ALLOW.
Possible question: Does the prototype do full DID resolution now? </a:t>
            </a:r>
            <a:r>
              <a:rPr lang="en-US" dirty="0">
                <a:highlight>
                  <a:srgbClr val="FFFF00"/>
                </a:highlight>
              </a:rPr>
              <a:t>No. It checks the DID syntax, and it checks a verifiable credential for each guardian when they sign and for the doctor at access time. Full DID resolution is planned for the next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core of my solution in one rule. The box at the top is the decision equation. It says the decision for consent C, request R, at time t is ALLOW only if all five checks are true. The small 'and' symbols mean every check must pass. The double arrow means 'if and only if'.
</a:t>
            </a:r>
            <a:r>
              <a:rPr lang="en-US" dirty="0">
                <a:highlight>
                  <a:srgbClr val="FFFF00"/>
                </a:highlight>
              </a:rPr>
              <a:t>The five boxes explain each check with the definitions in my report. VI is identity and authority validity. VA is collective authorisation validity: all the required guardians approved. VP is policy and contextual compliance: the purpose and the data scope. VT is temporal validity: the request is inside the validity window. VL is consent lifecycle validity: the consent is in a valid state, for example active and not revoked.</a:t>
            </a:r>
            <a:r>
              <a:rPr lang="en-US" dirty="0"/>
              <a:t>
The points below are simple. If any one check fails, the answer is DENY. In the prototype, a Groth16 zero-knowledge proof must also verify before any data is released. This kind of proof shows something is true without showing the secret behind it. </a:t>
            </a:r>
            <a:r>
              <a:rPr lang="en-US" dirty="0">
                <a:highlight>
                  <a:srgbClr val="FFFF00"/>
                </a:highlight>
              </a:rPr>
              <a:t>Every access decision, allowed or denied, is written to the off-chain audit ledger with its decision matrix.</a:t>
            </a:r>
            <a:r>
              <a:rPr lang="en-US" dirty="0"/>
              <a:t> The matrix shows the result of each check, so an auditor can see why a request was allowed or denied.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 go through each research objective. RO1 is the trust-centric consent model, and its status is Done.
The points on the left follow the steps. The patient selects the patient DID, the doctor, the guardians, the data scope </a:t>
            </a:r>
            <a:r>
              <a:rPr lang="en-US" dirty="0">
                <a:highlight>
                  <a:srgbClr val="FFFF00"/>
                </a:highlight>
              </a:rPr>
              <a:t>and</a:t>
            </a:r>
            <a:r>
              <a:rPr lang="en-US" dirty="0"/>
              <a:t> the validity time. In the current interface the purpose is fixed to Treatment. The system then checks the input. For example, an empty data scope or a badly formed guardian DID is rejected.
</a:t>
            </a:r>
            <a:r>
              <a:rPr lang="en-US" dirty="0">
                <a:highlight>
                  <a:srgbClr val="FFFF00"/>
                </a:highlight>
              </a:rPr>
              <a:t>If the input is valid, the system builds the consent object C and assigns a consent identifier.</a:t>
            </a:r>
            <a:r>
              <a:rPr lang="en-US" dirty="0"/>
              <a:t> C has six parts: identity, </a:t>
            </a:r>
            <a:r>
              <a:rPr lang="en-US" dirty="0">
                <a:highlight>
                  <a:srgbClr val="FFFF00"/>
                </a:highlight>
              </a:rPr>
              <a:t>authorisation</a:t>
            </a:r>
            <a:r>
              <a:rPr lang="en-US" dirty="0"/>
              <a:t>, policy and data scope, time, </a:t>
            </a:r>
            <a:r>
              <a:rPr lang="en-US" dirty="0">
                <a:highlight>
                  <a:srgbClr val="FFFF00"/>
                </a:highlight>
              </a:rPr>
              <a:t>lifecycle</a:t>
            </a:r>
            <a:r>
              <a:rPr lang="en-US" dirty="0"/>
              <a:t> and evidence. The consent is saved in the state PENDING_SIGNATURE. Nothing goes on-chain until all guardians approve. Last, the creation is recorded in the audit ledger.
</a:t>
            </a:r>
            <a:r>
              <a:rPr lang="en-US" dirty="0">
                <a:highlight>
                  <a:srgbClr val="FFFF00"/>
                </a:highlight>
              </a:rPr>
              <a:t>Algorithm 1: Trust-Aware Consent Creation
The box on the right of the slide is Algorithm 1 from my report. The next slide shows the same algorithm as a flowchart.
Inputs and Output
Require: Patient identity I_p, authorised doctor D, guardian set G, purpose P_u, data scope S_C, validity interval T
Explanation: The algorithm starts by receiving the information required to create a consent.
Ensure: Consent object C or rejection
Explanation: The algorithm either creates a valid consent or rejects the request.
Step-by-Step Explanation
Line 1: Validate I_p
First, we verify the patient’s identity.
Line 2: if I_p is invalid then
We check whether the patient’s identity is invalid.
Line 3: return REJECT
If the identity is invalid, the request is rejected.
Line 4: end if
This completes the identity validation check.
Line 5: Validate authorised doctor D, guardian set G, purpose P_u and data scope S_C
Next, we check the other parts of the consent: that the doctor is authorised, that the guardians are valid, that the purpose of using the patient’s data is valid, and that the data scope, which is the patient data that can be accessed, is valid.
Line 6: if any of them is invalid then
We check whether any of these four parts is invalid.
Line 7: return REJECT
If one of them is invalid, the request is rejected, and no consent is created.
Line 8: end if
This completes these four checks.
Line 9: Validate validity interval T = (t_s, t_e)
We check the consent’s start and end times.
Line 10: if t_e ≤ t_s then
We check whether the end time is earlier than or equal to the start time.
Line 11: return REJECT
If the time interval is invalid, the request is rejected.
Line 12: end if
This completes the time validation check.
Line 13: Define authorisation requirement A
We define the conditions that must be met later before access can be granted, such as the required guardian approvals.
Line 14: Generate consent identifier id_C
We generate a unique identifier for the consent.
Line 15: Construct C = (I, A, P, T, L, E)
We build the consent object from its six parts: identity I, authorisation requirements A, policy P (the purpose and the data scope), time T (the validity interval), the lifecycle state L, which starts as pending until the guardians approve, and evidence E.
Line 16: Persist C
We store the newly created consent object.
Line 17: Record consent creation evidence
We record evidence of the consent creation for auditing and traceability.
Line 18: return C
Finally, we return the successfully created consent object.
Note: In the prototype, the purpose is fixed to Treatment. The consent is saved off-chain in the state PENDING_SIGNATURE, and nothing goes on the blockchain until all guardians approve.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ighlight>
                  <a:srgbClr val="FFFF00"/>
                </a:highlight>
              </a:rPr>
              <a:t>This slide shows Algorithm 1 as a flowchart. It shows the main steps in a simpler form: it collects all the inputs, runs one combined validity check with a Yes and a No branch, and then creates and stores the consent and records an audit entry.
First, the patient starts to create a consent, and the system collects the patient DID.
Second, the patient specifies the authorised doctor and the guardian DIDs.
Third, the patient specifies the purpose and the data scope, and then the consent validity, which is the start and end time.
Fourth, the system checks if the consent specification is valid. If it is not valid, the No branch rejects the consent request.
Finally, if it is valid, the system creates the trust-aware consent object, generates the consent identifier, stores the consent record, and records the creation in the audit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RO2 is about decentralised identity and authority. The status is Done.
A DID is a decentralised identifier. It tells us who the person is. A verifiable credential, or VC, tells us what the person is allowed to do. So identity is not authority. A valid DID alone never gives access.
The formula says VI for user u is true only when the DID is valid, the credential is valid and the person has authority for this consent C.
</a:t>
            </a:r>
            <a:r>
              <a:rPr lang="en-US" dirty="0">
                <a:highlight>
                  <a:srgbClr val="FFFF00"/>
                </a:highlight>
              </a:rPr>
              <a:t>In the HALAH implementation, the guardian workflow uses a selected guardian DID and invokes VC verification before adding the guardian's signature to the consent. Each guardian's EIP-712 signature is also recovered.</a:t>
            </a:r>
            <a:r>
              <a:rPr lang="en-US" dirty="0"/>
              <a:t> EIP-712 is a typed signature format on Ethereum, so we can see who signed. Full DID resolution </a:t>
            </a:r>
            <a:r>
              <a:rPr lang="en-US" dirty="0">
                <a:highlight>
                  <a:srgbClr val="FFFF00"/>
                </a:highlight>
              </a:rPr>
              <a:t>is</a:t>
            </a:r>
            <a:r>
              <a:rPr lang="en-US" dirty="0"/>
              <a:t> planned for the next stage.
</a:t>
            </a:r>
            <a:r>
              <a:rPr lang="en-US" dirty="0">
                <a:highlight>
                  <a:srgbClr val="FFFF00"/>
                </a:highlight>
              </a:rPr>
              <a:t>Algorithm 2: DID and VC Identity and Authority Verification
The box on the right of the slide is Algorithm 2 from my report. The next slide shows the same algorithm as a flowchart.
Inputs and Output
Require: Participant u, consent object C
Explanation: The algorithm starts by receiving the participant who wants to take part and the consent object that defines the required authority.
Ensure: Verification result V_I(u)
Explanation: The algorithm returns VALID if both the participant’s identity and authority are verified, or INVALID otherwise. This result is not an access decision by itself; the later stages use it.
Step-by-Step Explanation
Line 1: Resolve DID of u
First, we resolve the participant’s DID to find their DID document.
Line 2: if DID resolution fails then
We check whether the DID could not be resolved.
Line 3: return INVALID
If the DID cannot be resolved, the participant is invalid and the process stops.
Line 4: end if
This completes the DID resolution check.
Line 5: Verify DID document and associated identity information
Next, we check that the DID document is well formed and that its keys can be trusted.
Line 6: if DID verification fails then
We check whether the DID verification failed.
Line 7: return INVALID
If it failed, we return INVALID.
Line 8: end if
This completes the DID verification check.
Line 9: Retrieve VC associated with u
Then, we retrieve the participant’s verifiable credential, which holds claims such as their role.
Line 10: if VC retrieval fails then
We check whether a credential could not be found.
Line 11: return INVALID
Without a credential, the participant cannot show any authority, so we return INVALID.
Line 12: end if
This completes the credential retrieval check.
Line 13: Verify VC signature, issuer, subject, and validity
We check that the signature is correct, the issuer is trusted, the credential belongs to this participant, and it is still within its valid time period.
Line 14: if VC verification fails then
We check whether any of these four checks failed.
Line 15: return INVALID
If any check fails, we return INVALID.
Line 16: end if
This completes the credential verification check.
Line 17: Extract role and authority claims from VC
Next, we read the role and authority claims from the credential, for example doctor or guardian.
Line 18: if claims do not satisfy the authority requirements of C then
We compare these claims with the authorisation requirements of consent C.
Line 19: return INVALID
If the claims do not meet the requirements, we return INVALID. A valid identity alone never gives access.
Line 20: end if
This completes the authority check.
Line 21: Record identity and authority verification evidence
We record the evidence, such as the DID, the credential, the issuer, the claims and the time, for auditing.
Line 22: return VALID
Finally, we return VALID, which means the participant’s identity and authority are both verified.
Note: Today, the guardian workflow verifies the guardian’s credential before adding the signature to the consent. Full DID resolution, in lines 1 to 8, is planned for the next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ighlight>
                  <a:srgbClr val="FFFF00"/>
                </a:highlight>
              </a:rPr>
              <a:t>This slide shows Algorithm 2 as a flowchart. It follows the same order as the algorithm, but it joins the two DID checks into one “DID Valid?” decision and the two credential checks into one “VC Valid?” decision. Every “No” leads to Reject Participant, which is the INVALID result.
First, a participant asks to take part, and the system resolves the participant’s DID.
Second, it checks if the DID is valid. If not, the participant is rejected.
Third, it retrieves the verifiable credential and checks if it is valid. If not, the participant is rejected.
Fourth, it extracts the role and authority claims, and checks if they match what the consent requires. If not, the participant is rejected.
Finally, if all checks pass, it records the verification evidence and returns the verified identity and authority.
This flowchart is the target design. Full DID resolution is planned for the next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RO3 is about multi-party authorisation. The status is Done. The idea is that no single person can approve alone.
The guardian set G is fixed when the consent is created. Each guardian signs an EIP-712 approval. The system recovers the signer from the signature and checks it. </a:t>
            </a:r>
            <a:r>
              <a:rPr lang="en-US" dirty="0">
                <a:highlight>
                  <a:srgbClr val="FFFF00"/>
                </a:highlight>
              </a:rPr>
              <a:t>An approval from someone outside G is not counted, and a duplicate approval is not counted either. A signature replayed from another consent fails the identity check, so the answer is DENY.</a:t>
            </a:r>
            <a:r>
              <a:rPr lang="en-US" dirty="0"/>
              <a:t>
The rule is N-of-N. This means every listed guardian must give a valid signature. In the demo there are two guardians, so it is 2-of-2. One approval is not enough.
</a:t>
            </a:r>
            <a:r>
              <a:rPr lang="en-US" dirty="0">
                <a:highlight>
                  <a:srgbClr val="FFFF00"/>
                </a:highlight>
              </a:rPr>
              <a:t>Algorithm 3: Threshold-Based Multi-Party Authorisation
The box on the right of the slide is Algorithm 3 from my report. The next slide shows the same algorithm as a flowchart.
Inputs and Output
Require: Consent object C, participant approval a, threshold N
Explanation: The algorithm receives the consent, one approval from a participant, and the number of valid approvals that are needed.
Ensure: Authorisation result
Explanation: The algorithm returns ALLOW, PENDING or DENY for this approval.
Step-by-Step Explanation
Line 1: Retrieve required participant set G
First, we retrieve the set G of participants who are allowed to approve this consent, for example the guardians.
Line 2: Verify identity and authority of participant submitting a
Next, we verify the identity and authority of the person who submitted the approval. This can use the DID and VC check from Algorithm 2.
Line 3: if verification fails then
We check whether this verification has failed.
Line 4: Record invalid approval
If it failed, we record the approval as invalid.
Line 5: return DENY
The approval is denied, and it does not count towards the threshold.
Line 6: end if
This completes the identity and authority check.
Line 7: if participant is not in G then
Then, we check whether the participant is outside the required participant set G.
Line 8: Record unauthorised approval attempt
If so, we record it as an unauthorised approval attempt.
Line 9: return DENY
The approval is denied, because only members of G can be counted.
Line 10: end if
This completes the membership check.
Line 11: if participant has already approved C then
Next, we check whether this participant has already approved this consent.
Line 12: Record duplicate approval
If so, we record a duplicate approval.
Line 13: return DENY
The extra approval is denied, so one person cannot be counted twice.
Line 14: end if
This completes the duplicate check.
Line 15: Record valid approval a
The approval has passed all three checks, so we record it as valid.
Line 16: Update valid approval set A_v
We add this approval to the set of valid approvals, A_v.
Line 17: if |A_v| ≥ N then
We check whether the number of valid approvals has reached the threshold N.
Line 18: Activate authorisation
If it has, we activate the authorisation, so the consent can move on to the access-control stage.
Line 19: Generate activation or token evidence
We generate evidence of the activation, such as a consent token. It can include the consent identifier, the threshold N and the approving participants.
Line 20: Record threshold-satisfied event
We record in the audit log that the threshold was met, for traceability.
Line 21: return ALLOW
The result is ALLOW.
Line 22: else
Otherwise, the threshold has not been reached yet.
Line 23: Keep consent in pending state
We keep the consent in the pending state, so access is not activated.
Line 24: Record threshold-pending event
We record a threshold-pending event, so we can see later how many approvals are still needed.
Line 25: return PENDING
The result is PENDING, and the consent waits for more approvals.
Line 26: end if
Finally, this completes the threshold check, and the algorithm ends.
Note: In the prototype, N is the number of guardians, so the demo needs 2-of-2. When the threshold is met, a local token is recorded, and the mint is anchored on the Sepolia test network in the background.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ighlight>
                  <a:srgbClr val="FFFF00"/>
                </a:highlight>
              </a:rPr>
              <a:t>This slide shows Algorithm 3 as a flowchart. It shows the same three checks in the same order, with the identity check drawn as the prototype runs it: the DID, the credential and the EIP-712 signature. It joins the three rejections into one box, and it shows activation last, after the token and the evidence.
First, the consent needs approval from several people, so the system identifies the required participants.
Second, a participant submits an approval, and the system verifies the DID, the credential and the EIP-712 signature.
Third, it asks three questions: is the participant verified, is the participant in the guardian set G, and has the participant already approved? If the participant is not verified, is not in G, or has already approved, the approval is rejected.
Fourth, a valid approval is recorded, and the approval count goes up.
Fifth, the system checks if the threshold is met. If not, the consent stays pending.
Finally, if it is met, the system issues the consent token or activation record, records the approval evidence, and activates the authorisation.
The dashed box shows that the mint on the Sepolia test network runs in the background, so it does not delay the guardians or the doctor. In the prototype, the consent becomes active once its start time is reached.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RO4 is about policy and context. The status is Done. A valid identity and full approval are still not enough.
First, the requested scope, SR, must be a non-empty subset of the authorised scope, SC. In simple words, the doctor must ask for something, and only for data the patient allowed. Second, the purpose must be a supported healthcare purpose of the consent. Time and </a:t>
            </a:r>
            <a:r>
              <a:rPr lang="en-US" dirty="0">
                <a:highlight>
                  <a:srgbClr val="FFFF00"/>
                </a:highlight>
              </a:rPr>
              <a:t>the lifecycle state</a:t>
            </a:r>
            <a:r>
              <a:rPr lang="en-US" dirty="0"/>
              <a:t> are checked in the same decision.
Then a Groth16 proof must verify before any data is retrieved. This proof shows the consent has not expired, without showing the secret behind it. If it fails, the answer is DENY.
The example makes it clear. The consent allows only Observation and Medication, so a request that adds Procedure is denied.
</a:t>
            </a:r>
            <a:r>
              <a:rPr lang="en-US" dirty="0">
                <a:highlight>
                  <a:srgbClr val="FFFF00"/>
                </a:highlight>
              </a:rPr>
              <a:t>Algorithm 4: Policy-Aware Access Decision
The box on the right of the slide is Algorithm 4 from my report. The next slide shows the same algorithm as a flowchart.
Inputs and Output
Require: Consent object C, access request R, requesting participant u
Explanation: The algorithm starts with the patient’s consent, the request for data, and the participant who makes the request, for example a doctor.
Ensure: Access decision
Explanation: The algorithm returns one decision, ALLOW or DENY, and it records that decision.
Step-by-Step Explanation
Line 1: Verify DID and VC of u
First, we verify the decentralised identifier and the verifiable credential of the requester. This uses the identity check from Algorithm 2.
Line 2: if identity or authority verification fails then
We check whether the identity or authority check for the requester has failed.
Line 3: Record denied decision
If it has failed, we record the denied decision for auditing.
Line 4: return DENY
The request is denied and stops here.
Line 5: end if
This completes the identity and authority check.
Line 6: Evaluate consent state
Next, we check the current state of the consent. It must be active, within its validity period, and not revoked.
Line 7: if consent is not active then
We check whether the consent is not active.
Line 8: Record denied decision
If the consent is not active, we record the denied decision.
Line 9: return DENY
The request is denied.
Line 10: end if
This completes the consent state check.
Line 11: Verify multi-party authorisation
Then, we verify the multi-party authorisation. We compare the number of valid approvals, |A_v|, with the required threshold N.
Line 12: if threshold is not satisfied then
We check whether there are fewer valid approvals than the threshold.
Line 13: Record denied decision
If there are not enough approvals, we record the denied decision.
Line 14: return DENY
The request is denied.
Line 15: end if
This completes the multi-party authorisation check.
Line 16: Evaluate requested purpose
Next, we compare the purpose of the request with the purpose the patient allowed in the consent.
Line 17: if purpose is incompatible with consent then
We check whether the purpose does not match the consent. This stops valid credentials from being used for a purpose the patient did not allow.
Line 18: Record denied decision
If the purpose does not match, we record the denied decision.
Line 19: return DENY
The request is denied.
Line 20: end if
This completes the purpose check.
Line 21: Evaluate requested data scope
We look at the data the request asks for, S_R, and the data the patient allowed, S_C.
Line 22: if S_R ⊈ S_C then
We check whether the request asks for data outside the allowed scope. For example, the request may ask for Procedure records when only Observation and Medication records are allowed.
Line 23: Record denied decision
If the request goes outside the scope, we record the denied decision.
Line 24: return DENY
The request is denied.
Line 25: end if
This completes the data scope check.
Line 26: Generate or verify access evidence
All checks have passed, so we generate or verify the evidence for this decision. In the flowchart on the next slide, this is the Groth16 proof, which must be valid before any data is released.
Line 27: Retrieve authorised healthcare data
Then, we retrieve only the data inside the authorised scope, and nothing more.
Line 28: Record granted decision
We record the granted decision, so an auditor can see why and when access was given.
Line 29: return ALLOW
Finally, we return ALLOW, and the requester receives the authorised data.
Note: In the prototype, the request uses the consent’s own purpose, so the purpose check confirms that it is a supported healthcare purpose. The requested scope must also be non-empty.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ighlight>
                  <a:srgbClr val="FFFF00"/>
                </a:highlight>
              </a:rPr>
              <a:t>This slide shows Algorithm 4 as a flowchart. It has the same checks, but it checks the consent state before the identity, and it shows the validity interval check and the Groth16 zero-knowledge proof as separate steps before access is granted.
First, the doctor requests patient data, and the system retrieves the consent object.
Second, it checks if the consent is ACTIVE.
Third, it verifies the identity and authority of the requester.
Fourth, it verifies the multi-party authorisation: is the threshold satisfied?
Fifth, it checks the requested purpose, and then the requested data scope, which must be inside the consent.
Sixth, it checks that the request is within the validity interval.
Seventh, it generates and verifies the Groth16 proof.
If any answer is No, access is denied, and the denied access is recorded.
Finally, if every answer is Yes, data access is granted, and the granted access is recorded.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RO5 is about time and the consent lifecycle. The status is In Progress.
The validity window has two times, notBefore and expiry. They are stored on-chain, and VT checks them at every request. Revocation also works end to end, including an on-chain revoke transaction.
</a:t>
            </a:r>
            <a:r>
              <a:rPr lang="en-US" dirty="0">
                <a:highlight>
                  <a:srgbClr val="FFFF00"/>
                </a:highlight>
              </a:rPr>
              <a:t>In the design, L is the lifecycle state: CREATED, PENDING, ACTIVE, SUSPENDED, REVOKED or EXPIRED, and VL checks a valid state and a valid transition. The prototype works with six states: PENDING_SIGNATURE, PENDING_TOKEN, NOT_STARTED, ACTIVE, EXPIRED and REVOKED. Access can be granted only in ACTIVE.</a:t>
            </a:r>
            <a:r>
              <a:rPr lang="en-US" dirty="0"/>
              <a:t>
The next stage adds </a:t>
            </a:r>
            <a:r>
              <a:rPr lang="en-US" dirty="0">
                <a:highlight>
                  <a:srgbClr val="FFFF00"/>
                </a:highlight>
              </a:rPr>
              <a:t>the SUSPENDED state,</a:t>
            </a:r>
            <a:r>
              <a:rPr lang="en-US" dirty="0"/>
              <a:t> a lifecycle transition check, consent modification, delegation, guardian-set changes and a formal lifecycle model.
</a:t>
            </a:r>
            <a:r>
              <a:rPr lang="en-US" dirty="0">
                <a:highlight>
                  <a:srgbClr val="FFFF00"/>
                </a:highlight>
              </a:rPr>
              <a:t>Algorithm 5: Temporal and Lifecycle Validation
The box on the right of the slide is Algorithm 5 from my report. The next slide shows the same algorithm as a flowchart.
Inputs and Output
Require: Consent object C, current time t, requested transition q
Explanation: The algorithm receives the consent, the time of the request, and the requested transition, which is the change of lifecycle state being asked for.
Ensure: Lifecycle validity result
Explanation: The algorithm returns VALID if the consent can still be used at this time and in its current state, or INVALID if it cannot.
Step-by-Step Explanation
Line 1: Retrieve consent start time t_s and expiry time t_e
First, we read the start time and the expiry time stored in the consent.
Line 2: if t &lt; t_s or t &gt; t_e then
We check whether the current time is before the start time or after the expiry time.
Line 3: Record temporal invalidity
If so, we record that the consent is not valid at this time.
Line 4: return INVALID
The request is outside the validity interval, so we return INVALID.
Line 5: end if
This completes the time check.
Line 6: Retrieve current lifecycle state of C
Next, we read the current lifecycle state of the consent, for example pending, active or revoked.
Line 7: if current state does not permit the requested operation then
We check whether this state does not allow the requested operation. For example, data access is allowed only when the consent is active.
Line 8: Record invalid lifecycle state
If the state does not allow it, we record that the consent is in an invalid lifecycle state.
Line 9: return INVALID
The operation is not allowed in this state, so we return INVALID.
Line 10: end if
This completes the lifecycle state check.
Line 11: Check whether C has been revoked
Then, we check whether the consent has been revoked.
Line 12: if C is revoked then
We test whether the consent is revoked.
Line 13: Record revocation-based invalidity
If it is revoked, we record that the consent is invalid because of revocation.
Line 14: return INVALID
A revoked consent must not be used, even if it was approved before, so we return INVALID.
Line 15: end if
This completes the revocation check.
Line 16: Validate requested transition q
Next, we check the requested transition, which is the change from the current state to a new state.
Line 17: if transition q is not permitted then
We check whether this change of state is not allowed.
Line 18: Record unauthorised state transition
If it is not allowed, we record an unauthorised state transition.
Line 19: return INVALID
The transition is rejected, so we return INVALID.
Line 20: end if
This completes the transition check.
Line 21: Record valid temporal and lifecycle evidence
All checks have passed, so we record evidence that the consent is valid in time and in state.
Line 22: return VALID
Finally, we return VALID, so the system can continue with the remaining authorisation conditions.
Note: Today, the prototype checks the validity interval, the lifecycle state and revocation for every access request. The transition check in lines 16 to 20 is planned for the next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ighlight>
                  <a:srgbClr val="FFFF00"/>
                </a:highlight>
              </a:rPr>
              <a:t>This slide shows Algorithm 5 as a flowchart. It shows the same four checks in the same order. The transition check is drawn in dashed lines because it is planned for the next stage. INVALID leads to Deny Access, and VALID leads to Continue Authorisation Evaluation.
First, an access request comes in, and the system retrieves the consent state.
Second, it checks the consent validity interval: is the request within the valid time?
Third, it checks the lifecycle state: does the state permit access?
Fourth, it checks the revocation status: has the consent been revoked?
Fifth, in the next stage, it will also check if the requested state transition is permitted.
If any check fails, access is denied, and a lifecycle-based denial is recorded.
Finally, if all checks pass, the system records the temporal and lifecycle evidence and continues with the rest of the authorisation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RO6 is about formal assurance and empirical validation. The status is Partially completed. The slide separates what is done from what comes next.
</a:t>
            </a:r>
            <a:r>
              <a:rPr lang="en-US" dirty="0">
                <a:highlight>
                  <a:srgbClr val="FFFF00"/>
                </a:highlight>
              </a:rPr>
              <a:t>First, I have 46 automated tests. They include thirteen attack scenarios, A1 to A13.</a:t>
            </a:r>
            <a:r>
              <a:rPr lang="en-US" dirty="0"/>
              <a:t> These try things like replayed approvals, unauthorised signers, requests outside the allowed scope and use of a revoked consent. Second, I measured the on-chain cost, the confirmation latency and the processing time.
The next stage covers formal proofs or model checking of the security properties. It also covers a larger evaluation under load.
</a:t>
            </a:r>
            <a:r>
              <a:rPr lang="en-US" dirty="0">
                <a:highlight>
                  <a:srgbClr val="FFFF00"/>
                </a:highlight>
              </a:rPr>
              <a:t>Algorithm 6: Formal and Empirical Authorisation Validation
The box on the right of the slide is Algorithm 6 from my report. The next slide shows the same algorithm as a flowchart.
Inputs and Output
Require: Framework implementation F, validation scenarios S, security properties P
Explanation: The algorithm starts with the implemented framework, the set of test scenarios, and the security properties that the framework should satisfy.
Ensure: Validation evidence and evaluation results
Explanation: The algorithm produces evidence and results that show whether the framework really meets these properties.
Step-by-Step Explanation
Line 1: Define expected authorisation properties P
First, we define the security properties that the framework must satisfy, such as soundness, correct denial, threshold correctness, policy and scope compliance, and audit consistency. These are the criteria we use to judge the results.
Line 2: Define valid scenarios S_valid
We define legitimate requests that should be allowed, with valid identities, active consent and enough approvals. They show that the framework does not wrongly reject valid requests.
Line 3: Define negative scenarios S_negative
We define requests that break at least one condition, such as expired or revoked consent, too few approvals, or data outside the consent scope. They test that access is refused when a requirement is not met.
Line 4: Define adversarial scenarios S_adv
We define deliberate attempts to bypass the controls, such as replayed (reused) or duplicate approvals, forged credentials, or use of a revoked consent. They test whether the framework can resist attacks.
Line 5: for each scenario s in S_valid ∪ S_negative ∪ S_adv do
Next, we combine the three groups into one set and repeat the following steps for every scenario. Each scenario has an expected decision.
Line 6: Execute s using framework F
We run the scenario on the implemented framework. The framework performs its consent, identity, approval, policy, scope and lifecycle checks.
Line 7: Collect authorisation decision
We record the decision that the framework actually made, for example ALLOW, DENY or PENDING.
Line 8: Collect identity, approval, policy, and audit evidence
We also collect the evidence behind the decision, such as identity and credential results, approvals, policy checks, timestamps and audit records.
Line 9: Compare observed decision with expected decision
We compare the actual decision with the expected decision. The scenario passes only when the two are the same.
Line 10: Record pass or failure result
We record whether the scenario passed or failed. For a failure, we keep the details and the evidence for later analysis.
Line 11: end for
This completes the loop over all scenarios.
Line 12: Evaluate soundness property
Then, we check soundness. Every request that was allowed must really satisfy all the authorisation conditions.
Line 13: Evaluate denial property
We check that every invalid or unauthorised request was refused. This is most important for the negative and adversarial scenarios.
Line 14: Evaluate threshold correctness
We check that consent is authorised only when the number of verified approvals reaches the required threshold. Duplicate or unauthorised approvals must not be counted.
Line 15: Evaluate policy-scope enforcement
We check that every allowed request matches the consent’s purpose and stays inside the permitted data scope. This must be true even when the requester has a valid identity and credential.
Line 16: Evaluate audit consistency
We check that the audit records match the decisions that were actually made. Important evidence, such as the requester, the consent, the result and the time, must not be missing.
Line 17: Analyse failures and limitations
We study each failed scenario to find its cause, for example an implementation defect, a policy error, an integration problem or a limit of the test environment. The aim is to explain failures openly, not to hide them.
Line 18: return Validation results
Finally, we return the combined validation results, which bring together the scenario results and the result for each security property.
Note: Today, the testing part is done with 46 automated tests, including 13 attack scenarios. Formal proofs or model checking of these properties, and a larger evaluation under load, are planned for the next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ighlight>
                  <a:srgbClr val="FFFF00"/>
                </a:highlight>
              </a:rPr>
              <a:t>This slide shows Algorithm 6 as a flowchart. It has the same main steps, but it also adds a practical performance check, and a loop that refines the framework and tests again when a property fails. The algorithm itself does not include these two parts.
First, I define the security and authorisation properties, and the threat and failure conditions.
Second, I implement the validation scenarios.
Third, I run the valid consent workflow, and also the negative and adversarial scenarios.
Fourth, I collect the decision and audit evidence.
Fifth, I evaluate the security properties, compare the observed decisions with the expected ones, and evaluate the functional and practical performance.
Then I ask: are the properties satisfied? If yes, I document the evidence and the limitations.
Finally, if not, I identify the security or functional failure, refine the framework, and run the validation scenarios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HALAH prototype. HALAH stands for History Access Link for Authorised Healthcare. Each box is one part of it.
There are four interfaces, for the patient, guardian, doctor and auditor. The smart contract is ConsentSBTv3. It is a soulbound ERC-721 token that follows ERC-5484. Soulbound means it cannot be moved to another account. It runs on the Sepolia test network. Guardian approval uses EIP-712 typed signatures, checked by signature recovery.
The access proof is a Groth16 zero-knowledge proof over a Poseidon commitment. Poseidon is a hash function. The proof shows the consent has not expired, without showing the secret. The data are synthetic Synthea records: Observation, Medication, Condition and Procedure. So no real patient is involved. </a:t>
            </a:r>
            <a:r>
              <a:rPr lang="en-US" dirty="0">
                <a:highlight>
                  <a:srgbClr val="FFFF00"/>
                </a:highlight>
              </a:rPr>
              <a:t>Last, the off-chain audit ledger keeps evidence of every access decision, allowed or denied, and no medical content goes on-chain.</a:t>
            </a:r>
            <a:r>
              <a:rPr lang="en-US" dirty="0"/>
              <a:t>
Possible question: Is anything sensitive on-chain? The plaintext purpose is visible in the mint transaction input. I state this in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ighlight>
                  <a:srgbClr val="FFFF00"/>
                </a:highlight>
              </a:rPr>
              <a:t>This slide shows a real screen from the doctor subsystem, from 24 September 2026. The picture is shown in two parts.
First, the doctor enters the consent ID, f050c29a. The screen shows the patient, the consent ID and the purpose, which is Treatment.
Second, the screen shows the five checks: VI, VA, VP, VT and VL. VI checks the identity data in the consent: the doctor's and the patient's DIDs, and the guardian signatures. VA checks that both guardians signed and that the token exists. VP is the policy check, as in my report: the purpose must be allowed, and the request must stay inside the agreed scope. On this screen, the purpose is checked. The scope is checked when the doctor asks for the data. VT checks the dates.
Third, all five checks show PASS, so the decision is ALLOW, and the consent state is ACTIVE.
Possible question: Is this the same code as today? No. This screen is from the 24 September version. Since 11 October 2026, the doctor also types their own DID and must have a valid credential. VL is now the lifecycle check from my report: the consent must be ACTIVE. On this screen, VL was an earlier, different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public evidence on the Sepolia test network.
</a:t>
            </a:r>
            <a:r>
              <a:rPr lang="en-US" dirty="0">
                <a:highlight>
                  <a:srgbClr val="FFFF00"/>
                </a:highlight>
              </a:rPr>
              <a:t>First,</a:t>
            </a:r>
            <a:r>
              <a:rPr lang="en-US" dirty="0"/>
              <a:t> on the left is the Sepolia Etherscan page for the revoke transaction of token number 1. It was confirmed in block 11,771,307 on 24 September 2026. The status says Success. The input data shows the function revoke with the token ID. Anyone can check this record, so it is not only in my own database.
</a:t>
            </a:r>
            <a:r>
              <a:rPr lang="en-US" dirty="0">
                <a:highlight>
                  <a:srgbClr val="FFFF00"/>
                </a:highlight>
              </a:rPr>
              <a:t>Second,</a:t>
            </a:r>
            <a:r>
              <a:rPr lang="en-US" dirty="0"/>
              <a:t> on the right is the gas used by the five anchored transactions. Gas is the unit of computing work on Ethereum. The first two bars are </a:t>
            </a:r>
            <a:r>
              <a:rPr lang="en-US" dirty="0">
                <a:highlight>
                  <a:srgbClr val="FFFF00"/>
                </a:highlight>
              </a:rPr>
              <a:t>for</a:t>
            </a:r>
            <a:r>
              <a:rPr lang="en-US" dirty="0"/>
              <a:t> token 8</a:t>
            </a:r>
            <a:r>
              <a:rPr lang="en-US" dirty="0">
                <a:highlight>
                  <a:srgbClr val="FFFF00"/>
                </a:highlight>
              </a:rPr>
              <a:t>,</a:t>
            </a:r>
            <a:r>
              <a:rPr lang="en-US" dirty="0"/>
              <a:t> from the earlier deployment. The other three are on the current contract, ConsentSBTv3.
</a:t>
            </a:r>
            <a:r>
              <a:rPr lang="en-US" dirty="0">
                <a:highlight>
                  <a:srgbClr val="FFFF00"/>
                </a:highlight>
              </a:rPr>
              <a:t>Third, compare the bars.</a:t>
            </a:r>
            <a:r>
              <a:rPr lang="en-US" dirty="0"/>
              <a:t> A mint creates a token and writes a full consent record, so it costs much more. A revoke changes only one flag. For token 1, the revoke used about one sixth of the gas of its mint.
No fee was higher than 0.00021 ETH. Sepolia ether has no money value, so gas is the fair way to compare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about validation. Validation asks one simple question: does the system make the right decision? I read the table from top to bottom.
The first row is the valid scenarios. A real, allowed request must get access. A scenario passes only when the observed decision is the same as the expected decision. In scenarios 1 to 3, the consent was created, both guardians approved, and the doctor got ALLOW. These cover RQ1 to RQ4.
The second row is the negative scenarios. A wrong request must be refused. If any one check fails, the answer is DENY. </a:t>
            </a:r>
            <a:r>
              <a:rPr lang="en-US" dirty="0">
                <a:highlight>
                  <a:srgbClr val="FFFF00"/>
                </a:highlight>
              </a:rPr>
              <a:t>In scenario 5, the consent was revoked, so the request was refused.</a:t>
            </a:r>
            <a:r>
              <a:rPr lang="en-US" dirty="0"/>
              <a:t>
</a:t>
            </a:r>
            <a:r>
              <a:rPr lang="en-US" dirty="0">
                <a:highlight>
                  <a:srgbClr val="FFFF00"/>
                </a:highlight>
              </a:rPr>
              <a:t>The third row is the thirteen attack scenarios, A1 to A13. Twelve of them are refused.</a:t>
            </a:r>
            <a:r>
              <a:rPr lang="en-US" dirty="0"/>
              <a:t> A11 is different. A rewritten audit event changes its digest, but nothing in the prototype compares the digest yet.
</a:t>
            </a:r>
            <a:r>
              <a:rPr lang="en-US" dirty="0">
                <a:highlight>
                  <a:srgbClr val="FFFF00"/>
                </a:highlight>
              </a:rPr>
              <a:t>The next slide shows these thirteen attacks in detail.</a:t>
            </a:r>
            <a:r>
              <a:rPr lang="en-US" dirty="0"/>
              <a:t>
The fourth row is the automated tests. </a:t>
            </a:r>
            <a:r>
              <a:rPr lang="en-US" dirty="0">
                <a:highlight>
                  <a:srgbClr val="FFFF00"/>
                </a:highlight>
              </a:rPr>
              <a:t>There are 32 functional and regression tests and 14 adversarial tests. All 46 pass.</a:t>
            </a:r>
            <a:r>
              <a:rPr lang="en-US" dirty="0"/>
              <a:t>
The last row is independent verification. A separate tool reads the receipts from Sepolia and compares them with the local consent state. The result was: all checks passed.
Possible question: Which objectives does this validate? RO1 to RO4, and the parts of RO5 that already work, the validity window and revocation. This validation is the completed part of RO6. The formal proofs and a larger evaluation are planned for the next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 tested the system against attacks. </a:t>
            </a:r>
            <a:r>
              <a:rPr lang="en-US" dirty="0">
                <a:highlight>
                  <a:srgbClr val="FFFF00"/>
                </a:highlight>
              </a:rPr>
              <a:t>The table lists thirteen attack scenarios, A1 to A13.</a:t>
            </a:r>
            <a:r>
              <a:rPr lang="en-US" dirty="0"/>
              <a:t> The dots show which part each attack targets. I is identity, A is </a:t>
            </a:r>
            <a:r>
              <a:rPr lang="en-US" dirty="0">
                <a:highlight>
                  <a:srgbClr val="FFFF00"/>
                </a:highlight>
              </a:rPr>
              <a:t>authorisation</a:t>
            </a:r>
            <a:r>
              <a:rPr lang="en-US" dirty="0"/>
              <a:t>, P is policy and scope, T is time, L is </a:t>
            </a:r>
            <a:r>
              <a:rPr lang="en-US" dirty="0">
                <a:highlight>
                  <a:srgbClr val="FFFF00"/>
                </a:highlight>
              </a:rPr>
              <a:t>lifecycle</a:t>
            </a:r>
            <a:r>
              <a:rPr lang="en-US" dirty="0"/>
              <a:t>, and E is evidence and revocation. Contract means the ConsentSBTv3 contract, run on an in-memory test machine, not on Sepolia.
Examples are a signer outside the guardian set G, a replayed signature, the same guardian approving twice, a request outside the scope, an expired or revoked consent, and a tampered proof.
The two columns on the right show the result before and after the hardening. Before, three attacks, A1, A3 and A5, were accepted when the service functions were called directly. The interface of the 24 September demonstration already refused them. </a:t>
            </a:r>
            <a:r>
              <a:rPr lang="en-US" dirty="0">
                <a:highlight>
                  <a:srgbClr val="FFFF00"/>
                </a:highlight>
              </a:rPr>
              <a:t>After the hardening, eleven of the first twelve are refused, and all 46 automated tests pass. A13, an invalid or forged credential, came with the credential check on 11 October 2026 and is refused too; before that change, a requester without a valid credential was accepted.</a:t>
            </a:r>
            <a:r>
              <a:rPr lang="en-US" dirty="0"/>
              <a:t>
A11 is different. A rewritten audit event changes its digest, but no part of the prototype compares the digest yet. </a:t>
            </a:r>
            <a:r>
              <a:rPr lang="en-US" dirty="0">
                <a:highlight>
                  <a:srgbClr val="FFFF00"/>
                </a:highlight>
              </a:rPr>
              <a:t>So I mark it as neutral, not as refused.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about evaluation. Evaluation asks a different question: how much does the system cost, and how fast is it? Each row is one metric, with its definition, its formula and the result I measured.
Gas used is the computing work of each transaction on Sepolia. The mint of token 1 used 196,406 gas. Its revoke used only 32,980, about one sixth, because a revoke changes only one flag.
The transaction fee is gas used times the gas price. No fee was above 0.00021 ETH. Sepolia ETH has no money value, so gas is the fair way to compare cost.
Latency is the time from the local event to the on-chain event. The median was 11.5 seconds, between 4.9 and 22.1 seconds over five transactions. </a:t>
            </a:r>
            <a:r>
              <a:rPr lang="en-US" dirty="0">
                <a:highlight>
                  <a:srgbClr val="FFFF00"/>
                </a:highlight>
              </a:rPr>
              <a:t>The mint runs in the background, so the guardians and the doctor do not wait for it; a revoke makes the patient wait for the block.</a:t>
            </a:r>
            <a:r>
              <a:rPr lang="en-US" dirty="0"/>
              <a:t>
Processing time is the time of each part of a decision. </a:t>
            </a:r>
            <a:r>
              <a:rPr lang="en-US" dirty="0">
                <a:highlight>
                  <a:srgbClr val="FFFF00"/>
                </a:highlight>
              </a:rPr>
              <a:t>The five checks of the decision rule take about 6 microseconds, and checking one credential about 6 milliseconds.</a:t>
            </a:r>
            <a:r>
              <a:rPr lang="en-US" dirty="0"/>
              <a:t> </a:t>
            </a:r>
            <a:r>
              <a:rPr lang="en-US" dirty="0">
                <a:highlight>
                  <a:srgbClr val="FFFF00"/>
                </a:highlight>
              </a:rPr>
              <a:t>Checking one guardian signature takes about 11 milliseconds.</a:t>
            </a:r>
            <a:r>
              <a:rPr lang="en-US" dirty="0"/>
              <a:t> The Groth16 proof is the slow part, about 1.4 seconds to generate and 0.47 seconds to verify.
The last row is the on-chain read. Reading the contract on Sepolia takes a little over half a second.
</a:t>
            </a:r>
            <a:r>
              <a:rPr lang="en-US" dirty="0">
                <a:highlight>
                  <a:srgbClr val="FFFF00"/>
                </a:highlight>
              </a:rPr>
              <a:t>I measured the timings on 1 October 2026, in one container, and the decision rule and the credential check again on 11 October 2026. The gas, the fees and the latency come from the five Sepolia transactions of September 2026. The results are indicative only.</a:t>
            </a:r>
            <a:r>
              <a:rPr lang="en-US" dirty="0"/>
              <a:t>
The next slide shows all the processing times in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how long each part of the system takes. </a:t>
            </a:r>
            <a:r>
              <a:rPr lang="en-US" dirty="0">
                <a:highlight>
                  <a:srgbClr val="FFFF00"/>
                </a:highlight>
              </a:rPr>
              <a:t>I measured the timings on 1 October 2026, in the development container I used for the demonstration, and the decision rule and the credential check again on 11 October 2026, after the credential check was added. The anchoring times come from the five Sepolia transactions of September 2026. The results are indicative only.</a:t>
            </a:r>
            <a:r>
              <a:rPr lang="en-US" dirty="0"/>
              <a:t>
In the table, the median is the middle value. The column n is how many times I measured each step. The symbol µs means microseconds, and ms means milliseconds.
</a:t>
            </a:r>
            <a:r>
              <a:rPr lang="en-US" dirty="0">
                <a:highlight>
                  <a:srgbClr val="FFFF00"/>
                </a:highlight>
              </a:rPr>
              <a:t>The decision rule with its five checks takes about 6 microseconds, so the checks themselves cost almost nothing. Checking one credential takes about 6 milliseconds.</a:t>
            </a:r>
            <a:r>
              <a:rPr lang="en-US" dirty="0"/>
              <a:t> Recovering one guardian signature takes about 11 milliseconds. The Groth16 proof is the slow part of an access request. It takes about 1.4 seconds to generate and about 0.47 seconds to verify. The two read functions on the Sepolia contract take a little over half a second each.
Anchoring on Sepolia is the slowest step, about 11.5 seconds at the median. </a:t>
            </a:r>
            <a:r>
              <a:rPr lang="en-US" dirty="0">
                <a:highlight>
                  <a:srgbClr val="FFFF00"/>
                </a:highlight>
              </a:rPr>
              <a:t>But the mint runs in the background, so the guardians and the doctor do not wait for it; a revoke makes the patient wait for the block.</a:t>
            </a:r>
            <a:r>
              <a:rPr lang="en-US" dirty="0"/>
              <a:t> The chart on the right shows the same results on a log scale.
Possible question: Why is the proof so slow? The time includes starting the process, not only the cryptographic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compares traditional EHR access control with my HALAH framework, row by row. EHR means electronic health record.
Identity: traditional systems depend on a central identity provider. In HALAH, every participant uses a decentralised identifier, or DID, and identity is kept separate from authority.
Consent: traditionally it is a passive record. In HALAH it is an object, C, with six parts, and it is checked at every request.
Approval: traditional permissions are set by one party. In HALAH, all N guardians must sign with EIP-712, so no single party can authorise alone.
Access check: traditionally the system logs the user in and checks a fixed permission. In HALAH, the small wedge symbol means AND. All five checks must be true, and a Groth16 proof must pass before data is released.
Time and revocation: once a permission is stored, these are hard to verify. In HALAH, the validity window and revocation are checked at each request, and a revoke is also a transaction on the chain.
Audit: </a:t>
            </a:r>
            <a:r>
              <a:rPr lang="en-US" dirty="0">
                <a:highlight>
                  <a:srgbClr val="FFFF00"/>
                </a:highlight>
              </a:rPr>
              <a:t>every access decision, allowed or denied, is logged off-chain</a:t>
            </a:r>
            <a:r>
              <a:rPr lang="en-US" dirty="0"/>
              <a:t> with its decision matrix, and the consent state is anchored on Sepolia.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how the prototype handles data and privacy. I will go through the table from top to bottom.
Data source: I use no real patient data. The records are synthetic, made from the Synthea dataset. They cover four modules: Observation, Medication, Condition and Procedure.
Data storage: the medical records stay off-chain, inside the application. No medical content is written to the blockchain.
</a:t>
            </a:r>
            <a:r>
              <a:rPr lang="en-US" dirty="0">
                <a:highlight>
                  <a:srgbClr val="FFFF00"/>
                </a:highlight>
              </a:rPr>
              <a:t>On-chain record: the ConsentSBTv3 token stores pseudonymous patient and requester addresses, a hash of the purpose, the validity window and a revocation flag.</a:t>
            </a:r>
            <a:r>
              <a:rPr lang="en-US" dirty="0"/>
              <a:t> Pseudonymous means the address does not show a real name.
Access to data: records are released only when the decision is ALLOW, and only inside the authorised scope.
Audit: </a:t>
            </a:r>
            <a:r>
              <a:rPr lang="en-US" dirty="0">
                <a:highlight>
                  <a:srgbClr val="FFFF00"/>
                </a:highlight>
              </a:rPr>
              <a:t>every access decision, allowed or denied, is saved in the off-chain audit ledger</a:t>
            </a:r>
            <a:r>
              <a:rPr lang="en-US" dirty="0"/>
              <a:t> with its decision matrix.
The last row is a limitation I want to be honest about. The plain purpose text is passed in the mint transaction, so anyone can see it in the public transaction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scientific significance of the research. There are five boxes.
First, consent as an object. Consent is not just a stored record. It is an object, C, with six parts: identity, </a:t>
            </a:r>
            <a:r>
              <a:rPr lang="en-US" dirty="0">
                <a:highlight>
                  <a:srgbClr val="FFFF00"/>
                </a:highlight>
              </a:rPr>
              <a:t>authorisation</a:t>
            </a:r>
            <a:r>
              <a:rPr lang="en-US" dirty="0"/>
              <a:t>, policy, time, </a:t>
            </a:r>
            <a:r>
              <a:rPr lang="en-US" dirty="0">
                <a:highlight>
                  <a:srgbClr val="FFFF00"/>
                </a:highlight>
              </a:rPr>
              <a:t>lifecycle</a:t>
            </a:r>
            <a:r>
              <a:rPr lang="en-US" dirty="0"/>
              <a:t> and evidence. The system evaluates it at each request.
Second, standing multi-party approval. Approval is not a one-time step. It is a condition of every access decision, and the patient decides who must approve.
Third, one integrated decision. Identity is kept separate from authority. Then identity, authority, approval, policy, time and </a:t>
            </a:r>
            <a:r>
              <a:rPr lang="en-US" dirty="0">
                <a:highlight>
                  <a:srgbClr val="FFFF00"/>
                </a:highlight>
              </a:rPr>
              <a:t>lifecycle</a:t>
            </a:r>
            <a:r>
              <a:rPr lang="en-US" dirty="0"/>
              <a:t> are all checked together.
Fourth, the evidence-based review. My PRISMA 2020 review of 25 primary studies found two gaps. The conjunction gap means no study combines all these conditions in one decision. The assurance gap means these conditions are not proved or tested together as one decision.
Fifth, the validated prototype. The framework runs on Sepolia, </a:t>
            </a:r>
            <a:r>
              <a:rPr lang="en-US" dirty="0">
                <a:highlight>
                  <a:srgbClr val="FFFF00"/>
                </a:highlight>
              </a:rPr>
              <a:t>and I evaluated it with measurements and thirteen attack scenarios.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second significance slide is about the social side, meaning what the research can do for people.
First, it gives patients and their guardians a direct role in deciding who can see the patient's data.
Second, it stops one person from approving access to sensitive health data alone. All the required guardians must approve.
Third, every access decision can be explained and checked later. This helps auditors and healthcare organisations.
Fourth, the medical records stay off-chain. Only the consent evidence goes on the blockchain.
Finally, these points support trust when health data is shared between hospitals and other independent parties. These parties do not belong to one organisation, so each decision needs evidence that others can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ighlight>
                  <a:srgbClr val="FFFF00"/>
                </a:highlight>
              </a:rPr>
              <a:t>This slide lists my research publications. Two papers were published in 2025 at the IEEE International Conference on E-Business Engineering, ICEBE. Three more papers have been accepted in 2026: one at ICEBE 2026 and two at BWCCA 2026. Paper 4, on trusted multi-party consent governance, comes from this research.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my research plan. It lists each task, a short description, the target date and the status.
Chapters 1 to 4 are done. They cover the introduction, the review, the research questions and objectives, and the methodology. Chapter 5, the MVC architecture and framework design, was done in May 2026. </a:t>
            </a:r>
            <a:r>
              <a:rPr lang="en-US" dirty="0">
                <a:highlight>
                  <a:srgbClr val="FFFF00"/>
                </a:highlight>
              </a:rPr>
              <a:t>Chapter 6, the solution for RQ1 to RQ4 and the HALAH prototype, ran from July to October 2026 and is done.</a:t>
            </a:r>
            <a:r>
              <a:rPr lang="en-US" dirty="0"/>
              <a:t> My first paper was submitted to the BWCCA 2026 conference in September.
The second paper, the SLR journal paper, is in progress for October.
The rest is planned. Chapter 7 completes the prototype evaluation in November. The third paper, on formal security assurance and lifecycle trust, and Chapter 8 are planned for December. The final assessment is planned for January 2027, and thesis submission for March 2027.
The next stage focuses on RO5, which is in progress, and RO6, which is partially completed.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my research plan as a timeline. It has the same milestones as the table on the last slide. Here you can see the order and my progress at a glance.
The legend at the bottom explains the colours. Blue means done. Orange means in progress. Grey means planned. The done points also have a tick, and the solid blue line shows the part I have already finished.
From the left, Chapters 1 to 4 are completed. They cover the introduction, the SLR, the research questions and objectives, and the methodology. Chapter 5, the research architecture based on MVC, was done in May 2026. </a:t>
            </a:r>
            <a:r>
              <a:rPr lang="en-US" dirty="0">
                <a:highlight>
                  <a:srgbClr val="FFFF00"/>
                </a:highlight>
              </a:rPr>
              <a:t>Chapter 6, the proposed solution for RQ1 to RQ4 and the HALAH prototype, ran from July to October 2026 and is done.</a:t>
            </a:r>
            <a:r>
              <a:rPr lang="en-US" dirty="0"/>
              <a:t> In September 2026 I submitted the first paper, a conference paper to BWCCA 2026.
The orange point is October 2026. This is the SLR journal paper, which I am working on now.
After that, everything is planned. In November 2026 comes Chapter 7, the complete prototype evaluation and the integrated results. In December 2026 come the third paper, a journal paper on formal assurance and evaluation, and Chapter 8 with the conclusion and future work. The final assessment is in January 2027, and I plan to submit the thesis in March 2027.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ighlight>
                  <a:srgbClr val="FFFF00"/>
                </a:highlight>
              </a:rPr>
              <a:t>Now I come to the references. The list has three pages and holds the sources used in these slides: the 25 primary studies of my review, and the standards and tools used in the review and the prototype. It follows the UTS Harvard style, so the sources are listed by author name and year. I will not read each one. The full details are in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listening. That is the end of my presentation, and I am happy to answer your questions.
Possible question: Why use blockchain at all? It gives persistence, traceability and evidence of the consent state. </a:t>
            </a:r>
            <a:r>
              <a:rPr lang="en-US" dirty="0">
                <a:highlight>
                  <a:srgbClr val="FFFF00"/>
                </a:highlight>
              </a:rPr>
              <a:t>The token stores pseudonymous addresses, a hash of the purpose, the validity window and a revocation flag, and no medical content.</a:t>
            </a:r>
            <a:r>
              <a:rPr lang="en-US" dirty="0"/>
              <a:t>
Possible question: What is new in this work? Multi-party approval is a standing condition of every access decision, and the patient defines who must approve. </a:t>
            </a:r>
            <a:r>
              <a:rPr lang="en-US" dirty="0">
                <a:highlight>
                  <a:srgbClr val="FFFF00"/>
                </a:highlight>
              </a:rPr>
              <a:t>I tested the prototype against thirteen attack scenarios. Twelve of them are refused.</a:t>
            </a:r>
            <a:r>
              <a:rPr lang="en-US" dirty="0"/>
              <a:t>
Possible question: What is left for the next stage? RO5, on temporal and lifecycle trust, is in progress. RO6, on formal security assurance and empirical validation, is partially completed.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VER-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lstStyle>
            <a:lvl1pPr algn="ctr" indent="0" marL="0">
              <a:buNone/>
              <a:defRPr lang="en-US" sz="3000" b="1" dirty="0">
                <a:solidFill>
                  <a:srgbClr val="FFFFFF"/>
                </a:solidFill>
                <a:latin typeface="Arial" pitchFamily="34" charset="0"/>
                <a:ea typeface="Arial" pitchFamily="34" charset="-122"/>
                <a:cs typeface="Arial" pitchFamily="34" charset="-120"/>
              </a:defRPr>
            </a:lvl1pPr>
          </a:lstStyle>
          <a:p>
            <a:pPr algn="ctr" indent="0" marL="0">
              <a:buNone/>
            </a:pPr>
            <a:endParaRPr lang="en-US" sz="30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34-1.png"/><Relationship Id="rId3" Type="http://schemas.openxmlformats.org/officeDocument/2006/relationships/slideLayout" Target="../slideLayouts/slideLayout2.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logo card"/>
          <p:cNvSpPr/>
          <p:nvPr/>
        </p:nvSpPr>
        <p:spPr>
          <a:xfrm>
            <a:off x="9692640" y="274320"/>
            <a:ext cx="2103120" cy="1143000"/>
          </a:xfrm>
          <a:prstGeom prst="roundRect">
            <a:avLst>
              <a:gd name="adj" fmla="val 8000"/>
            </a:avLst>
          </a:prstGeom>
          <a:solidFill>
            <a:srgbClr val="FFFFFF"/>
          </a:solidFill>
          <a:ln w="12700">
            <a:solidFill>
              <a:srgbClr val="FFFFFF"/>
            </a:solidFill>
            <a:prstDash val="solid"/>
          </a:ln>
        </p:spPr>
      </p:sp>
      <p:pic>
        <p:nvPicPr>
          <p:cNvPr id="3" name="UTS logo" descr="/tmp/deck/img/uts.png">    </p:cNvPr>
          <p:cNvPicPr>
            <a:picLocks noChangeAspect="1"/>
          </p:cNvPicPr>
          <p:nvPr/>
        </p:nvPicPr>
        <p:blipFill>
          <a:blip r:embed="rId1"/>
          <a:stretch>
            <a:fillRect/>
          </a:stretch>
        </p:blipFill>
        <p:spPr>
          <a:xfrm>
            <a:off x="9829800" y="301752"/>
            <a:ext cx="1828800" cy="1170432"/>
          </a:xfrm>
          <a:prstGeom prst="rect">
            <a:avLst/>
          </a:prstGeom>
        </p:spPr>
      </p:pic>
      <p:sp>
        <p:nvSpPr>
          <p:cNvPr id="4" name="deck title"/>
          <p:cNvSpPr txBox="1"/>
          <p:nvPr/>
        </p:nvSpPr>
        <p:spPr>
          <a:xfrm>
            <a:off x="1280160" y="1554480"/>
            <a:ext cx="9601200" cy="1463040"/>
          </a:xfrm>
          <a:prstGeom prst="rect">
            <a:avLst/>
          </a:prstGeom>
          <a:noFill/>
          <a:ln/>
        </p:spPr>
        <p:txBody>
          <a:bodyPr wrap="square" rtlCol="0" anchor="ctr"/>
          <a:lstStyle/>
          <a:p>
            <a:pPr algn="ctr" indent="0" marL="0">
              <a:buNone/>
            </a:pPr>
            <a:r>
              <a:rPr lang="en-US" sz="3400" b="1" i="1" dirty="0">
                <a:solidFill>
                  <a:srgbClr val="FFFFFF"/>
                </a:solidFill>
                <a:latin typeface="Arial" pitchFamily="34" charset="0"/>
                <a:ea typeface="Arial" pitchFamily="34" charset="-122"/>
                <a:cs typeface="Arial" pitchFamily="34" charset="-120"/>
              </a:rPr>
              <a:t>A Trusted Authorisation Framework for Multi-Party Patient Consent in Healthcare Data Sharing</a:t>
            </a:r>
            <a:endParaRPr lang="en-US" sz="3400" dirty="0"/>
          </a:p>
        </p:txBody>
      </p:sp>
      <p:sp>
        <p:nvSpPr>
          <p:cNvPr id="5" name="subtitle"/>
          <p:cNvSpPr txBox="1"/>
          <p:nvPr/>
        </p:nvSpPr>
        <p:spPr>
          <a:xfrm>
            <a:off x="4023360" y="3063240"/>
            <a:ext cx="4114800" cy="457200"/>
          </a:xfrm>
          <a:prstGeom prst="rect">
            <a:avLst/>
          </a:prstGeom>
          <a:noFill/>
          <a:ln/>
        </p:spPr>
        <p:txBody>
          <a:bodyPr wrap="square" rtlCol="0" anchor="ctr"/>
          <a:lstStyle/>
          <a:p>
            <a:pPr algn="ctr" indent="0" marL="0">
              <a:buNone/>
            </a:pPr>
            <a:r>
              <a:rPr lang="en-US" sz="2000" b="1" dirty="0">
                <a:solidFill>
                  <a:srgbClr val="1FB5D6"/>
                </a:solidFill>
              </a:rPr>
              <a:t>Candidature Reassessment</a:t>
            </a:r>
            <a:endParaRPr lang="en-US" sz="2000" dirty="0"/>
          </a:p>
        </p:txBody>
      </p:sp>
      <p:sp>
        <p:nvSpPr>
          <p:cNvPr id="6" name="people"/>
          <p:cNvSpPr txBox="1"/>
          <p:nvPr/>
        </p:nvSpPr>
        <p:spPr>
          <a:xfrm>
            <a:off x="2194560" y="3840480"/>
            <a:ext cx="7772400" cy="1737360"/>
          </a:xfrm>
          <a:prstGeom prst="rect">
            <a:avLst/>
          </a:prstGeom>
          <a:noFill/>
          <a:ln/>
        </p:spPr>
        <p:txBody>
          <a:bodyPr wrap="square" rtlCol="0" anchor="ctr"/>
          <a:lstStyle/>
          <a:p>
            <a:pPr algn="ctr" indent="0" marL="0">
              <a:spcAft>
                <a:spcPts val="400"/>
              </a:spcAft>
              <a:buNone/>
            </a:pPr>
            <a:r>
              <a:rPr lang="en-US" sz="1800" b="1" i="1" dirty="0">
                <a:solidFill>
                  <a:srgbClr val="FFFFFF"/>
                </a:solidFill>
              </a:rPr>
              <a:t>Principal Supervisor: Professor Farookh Hussain</a:t>
            </a:r>
            <a:endParaRPr lang="en-US" sz="1800" dirty="0"/>
          </a:p>
          <a:p>
            <a:pPr algn="ctr" indent="0" marL="0">
              <a:spcAft>
                <a:spcPts val="400"/>
              </a:spcAft>
              <a:buNone/>
            </a:pPr>
            <a:r>
              <a:rPr lang="en-US" sz="1800" b="1" i="1" dirty="0">
                <a:solidFill>
                  <a:srgbClr val="FFFFFF"/>
                </a:solidFill>
              </a:rPr>
              <a:t>Co-Supervisor: Dr. Firas Al-Doghman</a:t>
            </a:r>
            <a:endParaRPr lang="en-US" sz="1800" dirty="0"/>
          </a:p>
          <a:p>
            <a:pPr algn="ctr" indent="0" marL="0">
              <a:spcAft>
                <a:spcPts val="400"/>
              </a:spcAft>
              <a:buNone/>
            </a:pPr>
            <a:r>
              <a:rPr lang="en-US" sz="1800" b="1" i="1" dirty="0">
                <a:solidFill>
                  <a:srgbClr val="FFFFFF"/>
                </a:solidFill>
              </a:rPr>
              <a:t>Presenter: Yasir Dhaifallah O Alyoubi</a:t>
            </a:r>
            <a:endParaRPr lang="en-US" sz="1800" dirty="0"/>
          </a:p>
          <a:p>
            <a:pPr algn="ctr" indent="0" marL="0">
              <a:spcAft>
                <a:spcPts val="400"/>
              </a:spcAft>
              <a:buNone/>
            </a:pPr>
            <a:r>
              <a:rPr lang="en-US" sz="1800" b="1" i="1" dirty="0">
                <a:solidFill>
                  <a:srgbClr val="FFFFFF"/>
                </a:solidFill>
              </a:rPr>
              <a:t>STUDENT ID #: 24724078</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OUTLINE</a:t>
            </a:r>
            <a:endParaRPr lang="en-US" sz="3000" dirty="0"/>
          </a:p>
        </p:txBody>
      </p:sp>
      <p:sp>
        <p:nvSpPr>
          <p:cNvPr id="4" name="cube 01"/>
          <p:cNvSpPr/>
          <p:nvPr/>
        </p:nvSpPr>
        <p:spPr>
          <a:xfrm>
            <a:off x="1060704" y="1965960"/>
            <a:ext cx="1097280" cy="731520"/>
          </a:xfrm>
          <a:prstGeom prst="cube">
            <a:avLst/>
          </a:prstGeom>
          <a:solidFill>
            <a:srgbClr val="285AA0"/>
          </a:solidFill>
          <a:ln w="12700">
            <a:solidFill>
              <a:srgbClr val="FFFFFF"/>
            </a:solidFill>
            <a:prstDash val="solid"/>
          </a:ln>
          <a:effectLst>
            <a:outerShdw sx="100000" sy="100000" kx="0" ky="0" algn="bl" rotWithShape="0" blurRad="50800" dist="25400" dir="5400000">
              <a:srgbClr val="000000">
                <a:alpha val="30000"/>
              </a:srgbClr>
            </a:outerShdw>
          </a:effectLst>
        </p:spPr>
      </p:sp>
      <p:sp>
        <p:nvSpPr>
          <p:cNvPr id="5" name="number 01"/>
          <p:cNvSpPr txBox="1"/>
          <p:nvPr/>
        </p:nvSpPr>
        <p:spPr>
          <a:xfrm>
            <a:off x="1060704" y="2148840"/>
            <a:ext cx="914400" cy="548640"/>
          </a:xfrm>
          <a:prstGeom prst="rect">
            <a:avLst/>
          </a:prstGeom>
          <a:noFill/>
          <a:ln/>
        </p:spPr>
        <p:txBody>
          <a:bodyPr wrap="square" rtlCol="0" anchor="ctr"/>
          <a:lstStyle/>
          <a:p>
            <a:pPr algn="ctr" indent="0" marL="0">
              <a:buNone/>
            </a:pPr>
            <a:r>
              <a:rPr lang="en-US" sz="1600" b="1" dirty="0">
                <a:solidFill>
                  <a:srgbClr val="FFFFFF"/>
                </a:solidFill>
              </a:rPr>
              <a:t>01</a:t>
            </a:r>
            <a:endParaRPr lang="en-US" sz="1600" dirty="0"/>
          </a:p>
        </p:txBody>
      </p:sp>
      <p:sp>
        <p:nvSpPr>
          <p:cNvPr id="6" name="item 01"/>
          <p:cNvSpPr txBox="1"/>
          <p:nvPr/>
        </p:nvSpPr>
        <p:spPr>
          <a:xfrm>
            <a:off x="2340864" y="2148840"/>
            <a:ext cx="4114800" cy="548640"/>
          </a:xfrm>
          <a:prstGeom prst="rect">
            <a:avLst/>
          </a:prstGeom>
          <a:noFill/>
          <a:ln/>
        </p:spPr>
        <p:txBody>
          <a:bodyPr wrap="square" rtlCol="0" anchor="ctr"/>
          <a:lstStyle/>
          <a:p>
            <a:pPr indent="0" marL="0">
              <a:buNone/>
            </a:pPr>
            <a:r>
              <a:rPr lang="en-US" sz="1800" b="1" dirty="0">
                <a:solidFill>
                  <a:srgbClr val="FFFFFF"/>
                </a:solidFill>
              </a:rPr>
              <a:t>INTRODUCTION</a:t>
            </a:r>
            <a:endParaRPr lang="en-US" sz="1800" dirty="0"/>
          </a:p>
        </p:txBody>
      </p:sp>
      <p:sp>
        <p:nvSpPr>
          <p:cNvPr id="7" name="cube 02"/>
          <p:cNvSpPr/>
          <p:nvPr/>
        </p:nvSpPr>
        <p:spPr>
          <a:xfrm>
            <a:off x="1060704" y="2743200"/>
            <a:ext cx="1097280" cy="731520"/>
          </a:xfrm>
          <a:prstGeom prst="cube">
            <a:avLst/>
          </a:prstGeom>
          <a:solidFill>
            <a:srgbClr val="2864A0"/>
          </a:solidFill>
          <a:ln w="12700">
            <a:solidFill>
              <a:srgbClr val="FFFFFF"/>
            </a:solidFill>
            <a:prstDash val="solid"/>
          </a:ln>
          <a:effectLst>
            <a:outerShdw sx="100000" sy="100000" kx="0" ky="0" algn="bl" rotWithShape="0" blurRad="50800" dist="25400" dir="5400000">
              <a:srgbClr val="000000">
                <a:alpha val="30000"/>
              </a:srgbClr>
            </a:outerShdw>
          </a:effectLst>
        </p:spPr>
      </p:sp>
      <p:sp>
        <p:nvSpPr>
          <p:cNvPr id="8" name="number 02"/>
          <p:cNvSpPr txBox="1"/>
          <p:nvPr/>
        </p:nvSpPr>
        <p:spPr>
          <a:xfrm>
            <a:off x="1060704" y="2926080"/>
            <a:ext cx="914400" cy="548640"/>
          </a:xfrm>
          <a:prstGeom prst="rect">
            <a:avLst/>
          </a:prstGeom>
          <a:noFill/>
          <a:ln/>
        </p:spPr>
        <p:txBody>
          <a:bodyPr wrap="square" rtlCol="0" anchor="ctr"/>
          <a:lstStyle/>
          <a:p>
            <a:pPr algn="ctr" indent="0" marL="0">
              <a:buNone/>
            </a:pPr>
            <a:r>
              <a:rPr lang="en-US" sz="1600" b="1" dirty="0">
                <a:solidFill>
                  <a:srgbClr val="FFFFFF"/>
                </a:solidFill>
              </a:rPr>
              <a:t>02</a:t>
            </a:r>
            <a:endParaRPr lang="en-US" sz="1600" dirty="0"/>
          </a:p>
        </p:txBody>
      </p:sp>
      <p:sp>
        <p:nvSpPr>
          <p:cNvPr id="9" name="item 02"/>
          <p:cNvSpPr txBox="1"/>
          <p:nvPr/>
        </p:nvSpPr>
        <p:spPr>
          <a:xfrm>
            <a:off x="2340864" y="2926080"/>
            <a:ext cx="4114800" cy="548640"/>
          </a:xfrm>
          <a:prstGeom prst="rect">
            <a:avLst/>
          </a:prstGeom>
          <a:noFill/>
          <a:ln/>
        </p:spPr>
        <p:txBody>
          <a:bodyPr wrap="square" rtlCol="0" anchor="ctr"/>
          <a:lstStyle/>
          <a:p>
            <a:pPr indent="0" marL="0">
              <a:buNone/>
            </a:pPr>
            <a:r>
              <a:rPr lang="en-US" sz="1800" b="1" dirty="0">
                <a:solidFill>
                  <a:srgbClr val="FFFFFF"/>
                </a:solidFill>
              </a:rPr>
              <a:t>SYSTEMATIC LITERATURE REVIEW</a:t>
            </a:r>
            <a:endParaRPr lang="en-US" sz="1800" dirty="0"/>
          </a:p>
        </p:txBody>
      </p:sp>
      <p:sp>
        <p:nvSpPr>
          <p:cNvPr id="10" name="cube 03"/>
          <p:cNvSpPr/>
          <p:nvPr/>
        </p:nvSpPr>
        <p:spPr>
          <a:xfrm>
            <a:off x="1060704" y="3520440"/>
            <a:ext cx="1097280" cy="731520"/>
          </a:xfrm>
          <a:prstGeom prst="cube">
            <a:avLst/>
          </a:prstGeom>
          <a:solidFill>
            <a:srgbClr val="286EA0"/>
          </a:solidFill>
          <a:ln w="12700">
            <a:solidFill>
              <a:srgbClr val="FFFFFF"/>
            </a:solidFill>
            <a:prstDash val="solid"/>
          </a:ln>
          <a:effectLst>
            <a:outerShdw sx="100000" sy="100000" kx="0" ky="0" algn="bl" rotWithShape="0" blurRad="50800" dist="25400" dir="5400000">
              <a:srgbClr val="000000">
                <a:alpha val="30000"/>
              </a:srgbClr>
            </a:outerShdw>
          </a:effectLst>
        </p:spPr>
      </p:sp>
      <p:sp>
        <p:nvSpPr>
          <p:cNvPr id="11" name="number 03"/>
          <p:cNvSpPr txBox="1"/>
          <p:nvPr/>
        </p:nvSpPr>
        <p:spPr>
          <a:xfrm>
            <a:off x="1060704" y="3703320"/>
            <a:ext cx="914400" cy="548640"/>
          </a:xfrm>
          <a:prstGeom prst="rect">
            <a:avLst/>
          </a:prstGeom>
          <a:noFill/>
          <a:ln/>
        </p:spPr>
        <p:txBody>
          <a:bodyPr wrap="square" rtlCol="0" anchor="ctr"/>
          <a:lstStyle/>
          <a:p>
            <a:pPr algn="ctr" indent="0" marL="0">
              <a:buNone/>
            </a:pPr>
            <a:r>
              <a:rPr lang="en-US" sz="1600" b="1" dirty="0">
                <a:solidFill>
                  <a:srgbClr val="FFFFFF"/>
                </a:solidFill>
              </a:rPr>
              <a:t>03</a:t>
            </a:r>
            <a:endParaRPr lang="en-US" sz="1600" dirty="0"/>
          </a:p>
        </p:txBody>
      </p:sp>
      <p:sp>
        <p:nvSpPr>
          <p:cNvPr id="12" name="item 03"/>
          <p:cNvSpPr txBox="1"/>
          <p:nvPr/>
        </p:nvSpPr>
        <p:spPr>
          <a:xfrm>
            <a:off x="2340864" y="3703320"/>
            <a:ext cx="4114800" cy="548640"/>
          </a:xfrm>
          <a:prstGeom prst="rect">
            <a:avLst/>
          </a:prstGeom>
          <a:noFill/>
          <a:ln/>
        </p:spPr>
        <p:txBody>
          <a:bodyPr wrap="square" rtlCol="0" anchor="ctr"/>
          <a:lstStyle/>
          <a:p>
            <a:pPr indent="0" marL="0">
              <a:buNone/>
            </a:pPr>
            <a:r>
              <a:rPr lang="en-US" sz="1800" b="1" dirty="0">
                <a:solidFill>
                  <a:srgbClr val="FFFFFF"/>
                </a:solidFill>
              </a:rPr>
              <a:t>​</a:t>
            </a:r>
            <a:r>
              <a:rPr lang="en-US" sz="1800" b="1" dirty="0">
                <a:solidFill>
                  <a:srgbClr val="0B1F33"/>
                </a:solidFill>
                <a:highlight>
                  <a:srgbClr val="FFFF00"/>
                </a:highlight>
              </a:rPr>
              <a:t>RESEARCH GAP</a:t>
            </a:r>
            <a:endParaRPr lang="en-US" sz="1800" dirty="0"/>
          </a:p>
        </p:txBody>
      </p:sp>
      <p:sp>
        <p:nvSpPr>
          <p:cNvPr id="13" name="cube 04"/>
          <p:cNvSpPr/>
          <p:nvPr/>
        </p:nvSpPr>
        <p:spPr>
          <a:xfrm>
            <a:off x="1060704" y="4297680"/>
            <a:ext cx="1097280" cy="731520"/>
          </a:xfrm>
          <a:prstGeom prst="cube">
            <a:avLst/>
          </a:prstGeom>
          <a:solidFill>
            <a:srgbClr val="2878A0"/>
          </a:solidFill>
          <a:ln w="12700">
            <a:solidFill>
              <a:srgbClr val="FFFFFF"/>
            </a:solidFill>
            <a:prstDash val="solid"/>
          </a:ln>
          <a:effectLst>
            <a:outerShdw sx="100000" sy="100000" kx="0" ky="0" algn="bl" rotWithShape="0" blurRad="50800" dist="25400" dir="5400000">
              <a:srgbClr val="000000">
                <a:alpha val="30000"/>
              </a:srgbClr>
            </a:outerShdw>
          </a:effectLst>
        </p:spPr>
      </p:sp>
      <p:sp>
        <p:nvSpPr>
          <p:cNvPr id="14" name="number 04"/>
          <p:cNvSpPr txBox="1"/>
          <p:nvPr/>
        </p:nvSpPr>
        <p:spPr>
          <a:xfrm>
            <a:off x="1060704" y="4480560"/>
            <a:ext cx="914400" cy="548640"/>
          </a:xfrm>
          <a:prstGeom prst="rect">
            <a:avLst/>
          </a:prstGeom>
          <a:noFill/>
          <a:ln/>
        </p:spPr>
        <p:txBody>
          <a:bodyPr wrap="square" rtlCol="0" anchor="ctr"/>
          <a:lstStyle/>
          <a:p>
            <a:pPr algn="ctr" indent="0" marL="0">
              <a:buNone/>
            </a:pPr>
            <a:r>
              <a:rPr lang="en-US" sz="1600" b="1" dirty="0">
                <a:solidFill>
                  <a:srgbClr val="FFFFFF"/>
                </a:solidFill>
              </a:rPr>
              <a:t>04</a:t>
            </a:r>
            <a:endParaRPr lang="en-US" sz="1600" dirty="0"/>
          </a:p>
        </p:txBody>
      </p:sp>
      <p:sp>
        <p:nvSpPr>
          <p:cNvPr id="15" name="item 04"/>
          <p:cNvSpPr txBox="1"/>
          <p:nvPr/>
        </p:nvSpPr>
        <p:spPr>
          <a:xfrm>
            <a:off x="2340864" y="4480560"/>
            <a:ext cx="4114800" cy="548640"/>
          </a:xfrm>
          <a:prstGeom prst="rect">
            <a:avLst/>
          </a:prstGeom>
          <a:noFill/>
          <a:ln/>
        </p:spPr>
        <p:txBody>
          <a:bodyPr wrap="square" rtlCol="0" anchor="ctr"/>
          <a:lstStyle/>
          <a:p>
            <a:pPr indent="0" marL="0">
              <a:buNone/>
            </a:pPr>
            <a:r>
              <a:rPr lang="en-US" sz="1800" b="1" dirty="0">
                <a:solidFill>
                  <a:srgbClr val="FFFFFF"/>
                </a:solidFill>
              </a:rPr>
              <a:t>RESEARCH QUESTIONS</a:t>
            </a:r>
            <a:endParaRPr lang="en-US" sz="1800" dirty="0"/>
          </a:p>
        </p:txBody>
      </p:sp>
      <p:sp>
        <p:nvSpPr>
          <p:cNvPr id="16" name="cube 05"/>
          <p:cNvSpPr/>
          <p:nvPr/>
        </p:nvSpPr>
        <p:spPr>
          <a:xfrm>
            <a:off x="1060704" y="5074920"/>
            <a:ext cx="1097280" cy="731520"/>
          </a:xfrm>
          <a:prstGeom prst="cube">
            <a:avLst/>
          </a:prstGeom>
          <a:solidFill>
            <a:srgbClr val="2882A0"/>
          </a:solidFill>
          <a:ln w="12700">
            <a:solidFill>
              <a:srgbClr val="FFFFFF"/>
            </a:solidFill>
            <a:prstDash val="solid"/>
          </a:ln>
          <a:effectLst>
            <a:outerShdw sx="100000" sy="100000" kx="0" ky="0" algn="bl" rotWithShape="0" blurRad="50800" dist="25400" dir="5400000">
              <a:srgbClr val="000000">
                <a:alpha val="30000"/>
              </a:srgbClr>
            </a:outerShdw>
          </a:effectLst>
        </p:spPr>
      </p:sp>
      <p:sp>
        <p:nvSpPr>
          <p:cNvPr id="17" name="number 05"/>
          <p:cNvSpPr txBox="1"/>
          <p:nvPr/>
        </p:nvSpPr>
        <p:spPr>
          <a:xfrm>
            <a:off x="1060704" y="5257800"/>
            <a:ext cx="914400" cy="548640"/>
          </a:xfrm>
          <a:prstGeom prst="rect">
            <a:avLst/>
          </a:prstGeom>
          <a:noFill/>
          <a:ln/>
        </p:spPr>
        <p:txBody>
          <a:bodyPr wrap="square" rtlCol="0" anchor="ctr"/>
          <a:lstStyle/>
          <a:p>
            <a:pPr algn="ctr" indent="0" marL="0">
              <a:buNone/>
            </a:pPr>
            <a:r>
              <a:rPr lang="en-US" sz="1600" b="1" dirty="0">
                <a:solidFill>
                  <a:srgbClr val="FFFFFF"/>
                </a:solidFill>
              </a:rPr>
              <a:t>05</a:t>
            </a:r>
            <a:endParaRPr lang="en-US" sz="1600" dirty="0"/>
          </a:p>
        </p:txBody>
      </p:sp>
      <p:sp>
        <p:nvSpPr>
          <p:cNvPr id="18" name="item 05"/>
          <p:cNvSpPr txBox="1"/>
          <p:nvPr/>
        </p:nvSpPr>
        <p:spPr>
          <a:xfrm>
            <a:off x="2340864" y="5257800"/>
            <a:ext cx="4114800" cy="548640"/>
          </a:xfrm>
          <a:prstGeom prst="rect">
            <a:avLst/>
          </a:prstGeom>
          <a:noFill/>
          <a:ln/>
        </p:spPr>
        <p:txBody>
          <a:bodyPr wrap="square" rtlCol="0" anchor="ctr"/>
          <a:lstStyle/>
          <a:p>
            <a:pPr indent="0" marL="0">
              <a:buNone/>
            </a:pPr>
            <a:r>
              <a:rPr lang="en-US" sz="1800" b="1" dirty="0">
                <a:solidFill>
                  <a:srgbClr val="FFFFFF"/>
                </a:solidFill>
              </a:rPr>
              <a:t>RESEARCH OBJECTIVES</a:t>
            </a:r>
            <a:endParaRPr lang="en-US" sz="1800" dirty="0"/>
          </a:p>
        </p:txBody>
      </p:sp>
      <p:sp>
        <p:nvSpPr>
          <p:cNvPr id="19" name="cube 06"/>
          <p:cNvSpPr/>
          <p:nvPr/>
        </p:nvSpPr>
        <p:spPr>
          <a:xfrm>
            <a:off x="6547104" y="1965960"/>
            <a:ext cx="1097280" cy="731520"/>
          </a:xfrm>
          <a:prstGeom prst="cube">
            <a:avLst/>
          </a:prstGeom>
          <a:solidFill>
            <a:srgbClr val="288CA0"/>
          </a:solidFill>
          <a:ln w="12700">
            <a:solidFill>
              <a:srgbClr val="FFFFFF"/>
            </a:solidFill>
            <a:prstDash val="solid"/>
          </a:ln>
          <a:effectLst>
            <a:outerShdw sx="100000" sy="100000" kx="0" ky="0" algn="bl" rotWithShape="0" blurRad="50800" dist="25400" dir="5400000">
              <a:srgbClr val="000000">
                <a:alpha val="30000"/>
              </a:srgbClr>
            </a:outerShdw>
          </a:effectLst>
        </p:spPr>
      </p:sp>
      <p:sp>
        <p:nvSpPr>
          <p:cNvPr id="20" name="number 06"/>
          <p:cNvSpPr txBox="1"/>
          <p:nvPr/>
        </p:nvSpPr>
        <p:spPr>
          <a:xfrm>
            <a:off x="6547104" y="2148840"/>
            <a:ext cx="914400" cy="548640"/>
          </a:xfrm>
          <a:prstGeom prst="rect">
            <a:avLst/>
          </a:prstGeom>
          <a:noFill/>
          <a:ln/>
        </p:spPr>
        <p:txBody>
          <a:bodyPr wrap="square" rtlCol="0" anchor="ctr"/>
          <a:lstStyle/>
          <a:p>
            <a:pPr algn="ctr" indent="0" marL="0">
              <a:buNone/>
            </a:pPr>
            <a:r>
              <a:rPr lang="en-US" sz="1600" b="1" dirty="0">
                <a:solidFill>
                  <a:srgbClr val="FFFFFF"/>
                </a:solidFill>
              </a:rPr>
              <a:t>06</a:t>
            </a:r>
            <a:endParaRPr lang="en-US" sz="1600" dirty="0"/>
          </a:p>
        </p:txBody>
      </p:sp>
      <p:sp>
        <p:nvSpPr>
          <p:cNvPr id="21" name="item 06"/>
          <p:cNvSpPr txBox="1"/>
          <p:nvPr/>
        </p:nvSpPr>
        <p:spPr>
          <a:xfrm>
            <a:off x="7827264" y="2148840"/>
            <a:ext cx="4206240" cy="548640"/>
          </a:xfrm>
          <a:prstGeom prst="rect">
            <a:avLst/>
          </a:prstGeom>
          <a:noFill/>
          <a:ln/>
        </p:spPr>
        <p:txBody>
          <a:bodyPr wrap="square" rtlCol="0" anchor="ctr"/>
          <a:lstStyle/>
          <a:p>
            <a:pPr indent="0" marL="0">
              <a:buNone/>
            </a:pPr>
            <a:r>
              <a:rPr lang="en-US" sz="1800" b="1" dirty="0">
                <a:solidFill>
                  <a:srgbClr val="FFFFFF"/>
                </a:solidFill>
              </a:rPr>
              <a:t>​</a:t>
            </a:r>
            <a:r>
              <a:rPr lang="en-US" sz="1800" b="1" dirty="0">
                <a:solidFill>
                  <a:srgbClr val="0B1F33"/>
                </a:solidFill>
                <a:highlight>
                  <a:srgbClr val="FFFF00"/>
                </a:highlight>
              </a:rPr>
              <a:t>METHODOLOGY &amp; ARCHITECTURE</a:t>
            </a:r>
            <a:endParaRPr lang="en-US" sz="1800" dirty="0"/>
          </a:p>
        </p:txBody>
      </p:sp>
      <p:sp>
        <p:nvSpPr>
          <p:cNvPr id="22" name="cube 07"/>
          <p:cNvSpPr/>
          <p:nvPr/>
        </p:nvSpPr>
        <p:spPr>
          <a:xfrm>
            <a:off x="6547104" y="2743200"/>
            <a:ext cx="1097280" cy="731520"/>
          </a:xfrm>
          <a:prstGeom prst="cube">
            <a:avLst/>
          </a:prstGeom>
          <a:solidFill>
            <a:srgbClr val="2896A0"/>
          </a:solidFill>
          <a:ln w="12700">
            <a:solidFill>
              <a:srgbClr val="FFFFFF"/>
            </a:solidFill>
            <a:prstDash val="solid"/>
          </a:ln>
          <a:effectLst>
            <a:outerShdw sx="100000" sy="100000" kx="0" ky="0" algn="bl" rotWithShape="0" blurRad="50800" dist="25400" dir="5400000">
              <a:srgbClr val="000000">
                <a:alpha val="30000"/>
              </a:srgbClr>
            </a:outerShdw>
          </a:effectLst>
        </p:spPr>
      </p:sp>
      <p:sp>
        <p:nvSpPr>
          <p:cNvPr id="23" name="number 07"/>
          <p:cNvSpPr txBox="1"/>
          <p:nvPr/>
        </p:nvSpPr>
        <p:spPr>
          <a:xfrm>
            <a:off x="6547104" y="2926080"/>
            <a:ext cx="914400" cy="548640"/>
          </a:xfrm>
          <a:prstGeom prst="rect">
            <a:avLst/>
          </a:prstGeom>
          <a:noFill/>
          <a:ln/>
        </p:spPr>
        <p:txBody>
          <a:bodyPr wrap="square" rtlCol="0" anchor="ctr"/>
          <a:lstStyle/>
          <a:p>
            <a:pPr algn="ctr" indent="0" marL="0">
              <a:buNone/>
            </a:pPr>
            <a:r>
              <a:rPr lang="en-US" sz="1600" b="1" dirty="0">
                <a:solidFill>
                  <a:srgbClr val="FFFFFF"/>
                </a:solidFill>
              </a:rPr>
              <a:t>07</a:t>
            </a:r>
            <a:endParaRPr lang="en-US" sz="1600" dirty="0"/>
          </a:p>
        </p:txBody>
      </p:sp>
      <p:sp>
        <p:nvSpPr>
          <p:cNvPr id="24" name="item 07"/>
          <p:cNvSpPr txBox="1"/>
          <p:nvPr/>
        </p:nvSpPr>
        <p:spPr>
          <a:xfrm>
            <a:off x="7827264" y="2926080"/>
            <a:ext cx="4206240" cy="548640"/>
          </a:xfrm>
          <a:prstGeom prst="rect">
            <a:avLst/>
          </a:prstGeom>
          <a:noFill/>
          <a:ln/>
        </p:spPr>
        <p:txBody>
          <a:bodyPr wrap="square" rtlCol="0" anchor="ctr"/>
          <a:lstStyle/>
          <a:p>
            <a:pPr indent="0" marL="0">
              <a:buNone/>
            </a:pPr>
            <a:r>
              <a:rPr lang="en-US" sz="1800" b="1" dirty="0">
                <a:solidFill>
                  <a:srgbClr val="FFFFFF"/>
                </a:solidFill>
              </a:rPr>
              <a:t>THE PROPOSED SOLUTIONS</a:t>
            </a:r>
            <a:endParaRPr lang="en-US" sz="1800" dirty="0"/>
          </a:p>
        </p:txBody>
      </p:sp>
      <p:sp>
        <p:nvSpPr>
          <p:cNvPr id="25" name="cube 08"/>
          <p:cNvSpPr/>
          <p:nvPr/>
        </p:nvSpPr>
        <p:spPr>
          <a:xfrm>
            <a:off x="6547104" y="3520440"/>
            <a:ext cx="1097280" cy="731520"/>
          </a:xfrm>
          <a:prstGeom prst="cube">
            <a:avLst/>
          </a:prstGeom>
          <a:solidFill>
            <a:srgbClr val="28A0A0"/>
          </a:solidFill>
          <a:ln w="12700">
            <a:solidFill>
              <a:srgbClr val="FFFFFF"/>
            </a:solidFill>
            <a:prstDash val="solid"/>
          </a:ln>
          <a:effectLst>
            <a:outerShdw sx="100000" sy="100000" kx="0" ky="0" algn="bl" rotWithShape="0" blurRad="50800" dist="25400" dir="5400000">
              <a:srgbClr val="000000">
                <a:alpha val="30000"/>
              </a:srgbClr>
            </a:outerShdw>
          </a:effectLst>
        </p:spPr>
      </p:sp>
      <p:sp>
        <p:nvSpPr>
          <p:cNvPr id="26" name="number 08"/>
          <p:cNvSpPr txBox="1"/>
          <p:nvPr/>
        </p:nvSpPr>
        <p:spPr>
          <a:xfrm>
            <a:off x="6547104" y="3703320"/>
            <a:ext cx="914400" cy="548640"/>
          </a:xfrm>
          <a:prstGeom prst="rect">
            <a:avLst/>
          </a:prstGeom>
          <a:noFill/>
          <a:ln/>
        </p:spPr>
        <p:txBody>
          <a:bodyPr wrap="square" rtlCol="0" anchor="ctr"/>
          <a:lstStyle/>
          <a:p>
            <a:pPr algn="ctr" indent="0" marL="0">
              <a:buNone/>
            </a:pPr>
            <a:r>
              <a:rPr lang="en-US" sz="1600" b="1" dirty="0">
                <a:solidFill>
                  <a:srgbClr val="FFFFFF"/>
                </a:solidFill>
              </a:rPr>
              <a:t>08</a:t>
            </a:r>
            <a:endParaRPr lang="en-US" sz="1600" dirty="0"/>
          </a:p>
        </p:txBody>
      </p:sp>
      <p:sp>
        <p:nvSpPr>
          <p:cNvPr id="27" name="item 08"/>
          <p:cNvSpPr txBox="1"/>
          <p:nvPr/>
        </p:nvSpPr>
        <p:spPr>
          <a:xfrm>
            <a:off x="7827264" y="3703320"/>
            <a:ext cx="4206240" cy="548640"/>
          </a:xfrm>
          <a:prstGeom prst="rect">
            <a:avLst/>
          </a:prstGeom>
          <a:noFill/>
          <a:ln/>
        </p:spPr>
        <p:txBody>
          <a:bodyPr wrap="square" rtlCol="0" anchor="ctr"/>
          <a:lstStyle/>
          <a:p>
            <a:pPr indent="0" marL="0">
              <a:buNone/>
            </a:pPr>
            <a:r>
              <a:rPr lang="en-US" sz="1800" b="1" dirty="0">
                <a:solidFill>
                  <a:srgbClr val="FFFFFF"/>
                </a:solidFill>
              </a:rPr>
              <a:t>​</a:t>
            </a:r>
            <a:r>
              <a:rPr lang="en-US" sz="1800" b="1" dirty="0">
                <a:solidFill>
                  <a:srgbClr val="0B1F33"/>
                </a:solidFill>
                <a:highlight>
                  <a:srgbClr val="FFFF00"/>
                </a:highlight>
              </a:rPr>
              <a:t>IMPLEMENTATION &amp; EVALUATION</a:t>
            </a:r>
            <a:endParaRPr lang="en-US" sz="1800" dirty="0"/>
          </a:p>
        </p:txBody>
      </p:sp>
      <p:sp>
        <p:nvSpPr>
          <p:cNvPr id="28" name="cube 09"/>
          <p:cNvSpPr/>
          <p:nvPr/>
        </p:nvSpPr>
        <p:spPr>
          <a:xfrm>
            <a:off x="6547104" y="4297680"/>
            <a:ext cx="1097280" cy="731520"/>
          </a:xfrm>
          <a:prstGeom prst="cube">
            <a:avLst/>
          </a:prstGeom>
          <a:solidFill>
            <a:srgbClr val="28AAA0"/>
          </a:solidFill>
          <a:ln w="12700">
            <a:solidFill>
              <a:srgbClr val="FFFFFF"/>
            </a:solidFill>
            <a:prstDash val="solid"/>
          </a:ln>
          <a:effectLst>
            <a:outerShdw sx="100000" sy="100000" kx="0" ky="0" algn="bl" rotWithShape="0" blurRad="50800" dist="25400" dir="5400000">
              <a:srgbClr val="000000">
                <a:alpha val="30000"/>
              </a:srgbClr>
            </a:outerShdw>
          </a:effectLst>
        </p:spPr>
      </p:sp>
      <p:sp>
        <p:nvSpPr>
          <p:cNvPr id="29" name="number 09"/>
          <p:cNvSpPr txBox="1"/>
          <p:nvPr/>
        </p:nvSpPr>
        <p:spPr>
          <a:xfrm>
            <a:off x="6547104" y="4480560"/>
            <a:ext cx="914400" cy="548640"/>
          </a:xfrm>
          <a:prstGeom prst="rect">
            <a:avLst/>
          </a:prstGeom>
          <a:noFill/>
          <a:ln/>
        </p:spPr>
        <p:txBody>
          <a:bodyPr wrap="square" rtlCol="0" anchor="ctr"/>
          <a:lstStyle/>
          <a:p>
            <a:pPr algn="ctr" indent="0" marL="0">
              <a:buNone/>
            </a:pPr>
            <a:r>
              <a:rPr lang="en-US" sz="1600" b="1" dirty="0">
                <a:solidFill>
                  <a:srgbClr val="FFFFFF"/>
                </a:solidFill>
              </a:rPr>
              <a:t>09</a:t>
            </a:r>
            <a:endParaRPr lang="en-US" sz="1600" dirty="0"/>
          </a:p>
        </p:txBody>
      </p:sp>
      <p:sp>
        <p:nvSpPr>
          <p:cNvPr id="30" name="item 09"/>
          <p:cNvSpPr txBox="1"/>
          <p:nvPr/>
        </p:nvSpPr>
        <p:spPr>
          <a:xfrm>
            <a:off x="7827264" y="4480560"/>
            <a:ext cx="4206240" cy="548640"/>
          </a:xfrm>
          <a:prstGeom prst="rect">
            <a:avLst/>
          </a:prstGeom>
          <a:noFill/>
          <a:ln/>
        </p:spPr>
        <p:txBody>
          <a:bodyPr wrap="square" rtlCol="0" anchor="ctr"/>
          <a:lstStyle/>
          <a:p>
            <a:pPr indent="0" marL="0">
              <a:buNone/>
            </a:pPr>
            <a:r>
              <a:rPr lang="en-US" sz="1800" b="1" dirty="0">
                <a:solidFill>
                  <a:srgbClr val="FFFFFF"/>
                </a:solidFill>
              </a:rPr>
              <a:t>SIGNIFICANCE OF THE RESEARCH</a:t>
            </a:r>
            <a:endParaRPr lang="en-US" sz="1800" dirty="0"/>
          </a:p>
        </p:txBody>
      </p:sp>
      <p:sp>
        <p:nvSpPr>
          <p:cNvPr id="31" name="cube 10"/>
          <p:cNvSpPr/>
          <p:nvPr/>
        </p:nvSpPr>
        <p:spPr>
          <a:xfrm>
            <a:off x="6547104" y="5074920"/>
            <a:ext cx="1097280" cy="731520"/>
          </a:xfrm>
          <a:prstGeom prst="cube">
            <a:avLst/>
          </a:prstGeom>
          <a:solidFill>
            <a:srgbClr val="28B4A0"/>
          </a:solidFill>
          <a:ln w="12700">
            <a:solidFill>
              <a:srgbClr val="FFFFFF"/>
            </a:solidFill>
            <a:prstDash val="solid"/>
          </a:ln>
          <a:effectLst>
            <a:outerShdw sx="100000" sy="100000" kx="0" ky="0" algn="bl" rotWithShape="0" blurRad="50800" dist="25400" dir="5400000">
              <a:srgbClr val="000000">
                <a:alpha val="30000"/>
              </a:srgbClr>
            </a:outerShdw>
          </a:effectLst>
        </p:spPr>
      </p:sp>
      <p:sp>
        <p:nvSpPr>
          <p:cNvPr id="32" name="number 10"/>
          <p:cNvSpPr txBox="1"/>
          <p:nvPr/>
        </p:nvSpPr>
        <p:spPr>
          <a:xfrm>
            <a:off x="6547104" y="5257800"/>
            <a:ext cx="914400" cy="548640"/>
          </a:xfrm>
          <a:prstGeom prst="rect">
            <a:avLst/>
          </a:prstGeom>
          <a:noFill/>
          <a:ln/>
        </p:spPr>
        <p:txBody>
          <a:bodyPr wrap="square" rtlCol="0" anchor="ctr"/>
          <a:lstStyle/>
          <a:p>
            <a:pPr algn="ctr" indent="0" marL="0">
              <a:buNone/>
            </a:pPr>
            <a:r>
              <a:rPr lang="en-US" sz="1600" b="1" dirty="0">
                <a:solidFill>
                  <a:srgbClr val="FFFFFF"/>
                </a:solidFill>
              </a:rPr>
              <a:t>10</a:t>
            </a:r>
            <a:endParaRPr lang="en-US" sz="1600" dirty="0"/>
          </a:p>
        </p:txBody>
      </p:sp>
      <p:sp>
        <p:nvSpPr>
          <p:cNvPr id="33" name="item 10"/>
          <p:cNvSpPr txBox="1"/>
          <p:nvPr/>
        </p:nvSpPr>
        <p:spPr>
          <a:xfrm>
            <a:off x="7827264" y="5257800"/>
            <a:ext cx="4206240" cy="548640"/>
          </a:xfrm>
          <a:prstGeom prst="rect">
            <a:avLst/>
          </a:prstGeom>
          <a:noFill/>
          <a:ln/>
        </p:spPr>
        <p:txBody>
          <a:bodyPr wrap="square" rtlCol="0" anchor="ctr"/>
          <a:lstStyle/>
          <a:p>
            <a:pPr indent="0" marL="0">
              <a:buNone/>
            </a:pPr>
            <a:r>
              <a:rPr lang="en-US" sz="1800" b="1" dirty="0">
                <a:solidFill>
                  <a:srgbClr val="FFFFFF"/>
                </a:solidFill>
              </a:rPr>
              <a:t>​</a:t>
            </a:r>
            <a:r>
              <a:rPr lang="en-US" sz="1800" b="1" dirty="0">
                <a:solidFill>
                  <a:srgbClr val="0B1F33"/>
                </a:solidFill>
                <a:highlight>
                  <a:srgbClr val="FFFF00"/>
                </a:highlight>
              </a:rPr>
              <a:t>PUBLICATIONS, PLAN &amp; REFERENCES</a:t>
            </a:r>
            <a:endParaRPr lang="en-US" sz="18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INTRODUCTION</a:t>
            </a:r>
            <a:endParaRPr lang="en-US" sz="3000" dirty="0"/>
          </a:p>
        </p:txBody>
      </p:sp>
      <p:sp>
        <p:nvSpPr>
          <p:cNvPr id="4" name="bullets"/>
          <p:cNvSpPr txBox="1"/>
          <p:nvPr/>
        </p:nvSpPr>
        <p:spPr>
          <a:xfrm>
            <a:off x="822960" y="1280160"/>
            <a:ext cx="6035040" cy="4937760"/>
          </a:xfrm>
          <a:prstGeom prst="rect">
            <a:avLst/>
          </a:prstGeom>
          <a:noFill/>
          <a:ln/>
        </p:spPr>
        <p:txBody>
          <a:bodyPr wrap="square" rtlCol="0" anchor="t"/>
          <a:lstStyle/>
          <a:p>
            <a:pPr marL="342900" indent="-342900">
              <a:spcAft>
                <a:spcPts val="1000"/>
              </a:spcAft>
              <a:buSzPct val="100000"/>
              <a:buChar char="•"/>
            </a:pPr>
            <a:r>
              <a:rPr lang="en-US" sz="1900" dirty="0">
                <a:solidFill>
                  <a:srgbClr val="FFFFFF"/>
                </a:solidFill>
              </a:rPr>
              <a:t>Healthcare data is very sensitive and is shared across many independent parties: patients, guardians, doctors and hospitals.</a:t>
            </a:r>
            <a:endParaRPr lang="en-US" sz="1900" dirty="0"/>
          </a:p>
          <a:p>
            <a:pPr marL="342900" indent="-342900">
              <a:spcAft>
                <a:spcPts val="1000"/>
              </a:spcAft>
              <a:buSzPct val="100000"/>
              <a:buChar char="•"/>
            </a:pPr>
            <a:r>
              <a:rPr lang="en-US" sz="1900" dirty="0">
                <a:solidFill>
                  <a:srgbClr val="FFFFFF"/>
                </a:solidFill>
              </a:rPr>
              <a:t>Consent is usually stored as a passive record of permission.</a:t>
            </a:r>
            <a:endParaRPr lang="en-US" sz="1900" dirty="0"/>
          </a:p>
          <a:p>
            <a:pPr marL="342900" indent="-342900">
              <a:spcAft>
                <a:spcPts val="1000"/>
              </a:spcAft>
              <a:buSzPct val="100000"/>
              <a:buChar char="•"/>
            </a:pPr>
            <a:r>
              <a:rPr lang="en-US" sz="1900" dirty="0">
                <a:solidFill>
                  <a:srgbClr val="FFFFFF"/>
                </a:solidFill>
              </a:rPr>
              <a:t>A valid identity does not prove the authority to access a patient's data.</a:t>
            </a:r>
            <a:endParaRPr lang="en-US" sz="1900" dirty="0"/>
          </a:p>
          <a:p>
            <a:pPr marL="342900" indent="-342900">
              <a:spcAft>
                <a:spcPts val="1000"/>
              </a:spcAft>
              <a:buSzPct val="100000"/>
              <a:buChar char="•"/>
            </a:pPr>
            <a:r>
              <a:rPr lang="en-US" sz="1900" dirty="0">
                <a:solidFill>
                  <a:srgbClr val="FFFFFF"/>
                </a:solidFill>
              </a:rPr>
              <a:t>Even with approval, a request can exceed the authorised purpose or data scope.</a:t>
            </a:r>
            <a:endParaRPr lang="en-US" sz="1900" dirty="0"/>
          </a:p>
          <a:p>
            <a:pPr marL="342900" indent="-342900">
              <a:spcAft>
                <a:spcPts val="1000"/>
              </a:spcAft>
              <a:buSzPct val="100000"/>
              <a:buChar char="•"/>
            </a:pPr>
            <a:r>
              <a:rPr lang="en-US" sz="1900" dirty="0">
                <a:solidFill>
                  <a:srgbClr val="FFFFFF"/>
                </a:solidFill>
              </a:rPr>
              <a:t>We need one trusted decision that checks identity, authority, multi-party approval, policy, time and lifecycle together.</a:t>
            </a:r>
            <a:endParaRPr lang="en-US" sz="1900" dirty="0"/>
          </a:p>
        </p:txBody>
      </p:sp>
      <p:sp>
        <p:nvSpPr>
          <p:cNvPr id="5" name="card The central problem"/>
          <p:cNvSpPr/>
          <p:nvPr/>
        </p:nvSpPr>
        <p:spPr>
          <a:xfrm>
            <a:off x="7315200" y="1463040"/>
            <a:ext cx="4023360" cy="4206240"/>
          </a:xfrm>
          <a:prstGeom prst="roundRect">
            <a:avLst>
              <a:gd name="adj" fmla="val 2273"/>
            </a:avLst>
          </a:prstGeom>
          <a:solidFill>
            <a:srgbClr val="FFFFFF">
              <a:alpha val="92000"/>
            </a:srgbClr>
          </a:solidFill>
          <a:ln w="19050">
            <a:solidFill>
              <a:srgbClr val="1FB5D6"/>
            </a:solidFill>
            <a:prstDash val="solid"/>
          </a:ln>
        </p:spPr>
      </p:sp>
      <p:sp>
        <p:nvSpPr>
          <p:cNvPr id="6" name="card text The central problem"/>
          <p:cNvSpPr txBox="1"/>
          <p:nvPr/>
        </p:nvSpPr>
        <p:spPr>
          <a:xfrm>
            <a:off x="7452360" y="1554480"/>
            <a:ext cx="3749040" cy="4023360"/>
          </a:xfrm>
          <a:prstGeom prst="rect">
            <a:avLst/>
          </a:prstGeom>
          <a:noFill/>
          <a:ln/>
        </p:spPr>
        <p:txBody>
          <a:bodyPr wrap="square" rtlCol="0" anchor="t"/>
          <a:lstStyle/>
          <a:p>
            <a:pPr indent="0" marL="0">
              <a:spcAft>
                <a:spcPts val="400"/>
              </a:spcAft>
              <a:buNone/>
            </a:pPr>
            <a:r>
              <a:rPr lang="en-US" sz="1900" b="1" dirty="0">
                <a:solidFill>
                  <a:srgbClr val="0B2A4A"/>
                </a:solidFill>
              </a:rPr>
              <a:t>The central problem</a:t>
            </a:r>
            <a:endParaRPr lang="en-US" sz="1900" dirty="0"/>
          </a:p>
          <a:p>
            <a:pPr indent="0" marL="0">
              <a:spcAft>
                <a:spcPts val="400"/>
              </a:spcAft>
              <a:buNone/>
            </a:pPr>
            <a:r>
              <a:rPr lang="en-US" sz="1600" dirty="0">
                <a:solidFill>
                  <a:srgbClr val="0B1F33"/>
                </a:solidFill>
              </a:rPr>
              <a:t>There is no integrated, trust-oriented mechanism that connects identity, authority, multi-party approval, policy, temporal and lifecycle conditions in one authorisation decision, and whose security is formally and empirically shown.</a:t>
            </a:r>
            <a:endParaRPr lang="en-US" sz="19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INTRODUCTION: KEY CONCEPTS</a:t>
            </a:r>
            <a:endParaRPr lang="en-US" sz="3000" dirty="0"/>
          </a:p>
        </p:txBody>
      </p:sp>
      <p:sp>
        <p:nvSpPr>
          <p:cNvPr id="4" name="card Identity"/>
          <p:cNvSpPr/>
          <p:nvPr/>
        </p:nvSpPr>
        <p:spPr>
          <a:xfrm>
            <a:off x="822960" y="1188720"/>
            <a:ext cx="3383280" cy="1371600"/>
          </a:xfrm>
          <a:prstGeom prst="roundRect">
            <a:avLst>
              <a:gd name="adj" fmla="val 6667"/>
            </a:avLst>
          </a:prstGeom>
          <a:solidFill>
            <a:srgbClr val="FFFFFF">
              <a:alpha val="92000"/>
            </a:srgbClr>
          </a:solidFill>
          <a:ln w="19050">
            <a:solidFill>
              <a:srgbClr val="1FB5D6"/>
            </a:solidFill>
            <a:prstDash val="solid"/>
          </a:ln>
        </p:spPr>
      </p:sp>
      <p:sp>
        <p:nvSpPr>
          <p:cNvPr id="5" name="card text Identity"/>
          <p:cNvSpPr txBox="1"/>
          <p:nvPr/>
        </p:nvSpPr>
        <p:spPr>
          <a:xfrm>
            <a:off x="960120" y="1280160"/>
            <a:ext cx="3108960" cy="1188720"/>
          </a:xfrm>
          <a:prstGeom prst="rect">
            <a:avLst/>
          </a:prstGeom>
          <a:noFill/>
          <a:ln/>
        </p:spPr>
        <p:txBody>
          <a:bodyPr wrap="square" rtlCol="0" anchor="t"/>
          <a:lstStyle/>
          <a:p>
            <a:pPr indent="0" marL="0">
              <a:spcAft>
                <a:spcPts val="400"/>
              </a:spcAft>
              <a:buNone/>
            </a:pPr>
            <a:r>
              <a:rPr lang="en-US" sz="1900" b="1" dirty="0">
                <a:solidFill>
                  <a:srgbClr val="0B2A4A"/>
                </a:solidFill>
              </a:rPr>
              <a:t>Identity</a:t>
            </a:r>
            <a:endParaRPr lang="en-US" sz="1900" dirty="0"/>
          </a:p>
          <a:p>
            <a:pPr indent="0" marL="0">
              <a:spcAft>
                <a:spcPts val="400"/>
              </a:spcAft>
              <a:buNone/>
            </a:pPr>
            <a:r>
              <a:rPr lang="en-US" sz="1600" dirty="0">
                <a:solidFill>
                  <a:srgbClr val="0B1F33"/>
                </a:solidFill>
              </a:rPr>
              <a:t>Can the participant be reliably identified? (DID)</a:t>
            </a:r>
            <a:endParaRPr lang="en-US" sz="1900" dirty="0"/>
          </a:p>
        </p:txBody>
      </p:sp>
      <p:sp>
        <p:nvSpPr>
          <p:cNvPr id="6" name="card Authority"/>
          <p:cNvSpPr/>
          <p:nvPr/>
        </p:nvSpPr>
        <p:spPr>
          <a:xfrm>
            <a:off x="4343400" y="1188720"/>
            <a:ext cx="3383280" cy="1371600"/>
          </a:xfrm>
          <a:prstGeom prst="roundRect">
            <a:avLst>
              <a:gd name="adj" fmla="val 6667"/>
            </a:avLst>
          </a:prstGeom>
          <a:solidFill>
            <a:srgbClr val="FFFFFF">
              <a:alpha val="92000"/>
            </a:srgbClr>
          </a:solidFill>
          <a:ln w="19050">
            <a:solidFill>
              <a:srgbClr val="1FB5D6"/>
            </a:solidFill>
            <a:prstDash val="solid"/>
          </a:ln>
        </p:spPr>
      </p:sp>
      <p:sp>
        <p:nvSpPr>
          <p:cNvPr id="7" name="card text Authority"/>
          <p:cNvSpPr txBox="1"/>
          <p:nvPr/>
        </p:nvSpPr>
        <p:spPr>
          <a:xfrm>
            <a:off x="4480560" y="1280160"/>
            <a:ext cx="3108960" cy="1188720"/>
          </a:xfrm>
          <a:prstGeom prst="rect">
            <a:avLst/>
          </a:prstGeom>
          <a:noFill/>
          <a:ln/>
        </p:spPr>
        <p:txBody>
          <a:bodyPr wrap="square" rtlCol="0" anchor="t"/>
          <a:lstStyle/>
          <a:p>
            <a:pPr indent="0" marL="0">
              <a:spcAft>
                <a:spcPts val="400"/>
              </a:spcAft>
              <a:buNone/>
            </a:pPr>
            <a:r>
              <a:rPr lang="en-US" sz="1900" b="1" dirty="0">
                <a:solidFill>
                  <a:srgbClr val="0B2A4A"/>
                </a:solidFill>
              </a:rPr>
              <a:t>Authority</a:t>
            </a:r>
            <a:endParaRPr lang="en-US" sz="1900" dirty="0"/>
          </a:p>
          <a:p>
            <a:pPr indent="0" marL="0">
              <a:spcAft>
                <a:spcPts val="400"/>
              </a:spcAft>
              <a:buNone/>
            </a:pPr>
            <a:r>
              <a:rPr lang="en-US" sz="1600" dirty="0">
                <a:solidFill>
                  <a:srgbClr val="0B1F33"/>
                </a:solidFill>
              </a:rPr>
              <a:t>Does the participant hold the role or permission for this decision? (VC)</a:t>
            </a:r>
            <a:endParaRPr lang="en-US" sz="1900" dirty="0"/>
          </a:p>
        </p:txBody>
      </p:sp>
      <p:sp>
        <p:nvSpPr>
          <p:cNvPr id="8" name="card Multi-party approval"/>
          <p:cNvSpPr/>
          <p:nvPr/>
        </p:nvSpPr>
        <p:spPr>
          <a:xfrm>
            <a:off x="7863840" y="1188720"/>
            <a:ext cx="3383280" cy="1371600"/>
          </a:xfrm>
          <a:prstGeom prst="roundRect">
            <a:avLst>
              <a:gd name="adj" fmla="val 6667"/>
            </a:avLst>
          </a:prstGeom>
          <a:solidFill>
            <a:srgbClr val="FFFFFF">
              <a:alpha val="92000"/>
            </a:srgbClr>
          </a:solidFill>
          <a:ln w="19050">
            <a:solidFill>
              <a:srgbClr val="1FB5D6"/>
            </a:solidFill>
            <a:prstDash val="solid"/>
          </a:ln>
        </p:spPr>
      </p:sp>
      <p:sp>
        <p:nvSpPr>
          <p:cNvPr id="9" name="card text Multi-party approval"/>
          <p:cNvSpPr txBox="1"/>
          <p:nvPr/>
        </p:nvSpPr>
        <p:spPr>
          <a:xfrm>
            <a:off x="8001000" y="1280160"/>
            <a:ext cx="3108960" cy="1188720"/>
          </a:xfrm>
          <a:prstGeom prst="rect">
            <a:avLst/>
          </a:prstGeom>
          <a:noFill/>
          <a:ln/>
        </p:spPr>
        <p:txBody>
          <a:bodyPr wrap="square" rtlCol="0" anchor="t"/>
          <a:lstStyle/>
          <a:p>
            <a:pPr indent="0" marL="0">
              <a:spcAft>
                <a:spcPts val="400"/>
              </a:spcAft>
              <a:buNone/>
            </a:pPr>
            <a:r>
              <a:rPr lang="en-US" sz="1900" b="1" dirty="0">
                <a:solidFill>
                  <a:srgbClr val="0B2A4A"/>
                </a:solidFill>
              </a:rPr>
              <a:t>Multi-party approval</a:t>
            </a:r>
            <a:endParaRPr lang="en-US" sz="1900" dirty="0"/>
          </a:p>
          <a:p>
            <a:pPr indent="0" marL="0">
              <a:spcAft>
                <a:spcPts val="400"/>
              </a:spcAft>
              <a:buNone/>
            </a:pPr>
            <a:r>
              <a:rPr lang="en-US" sz="1600" dirty="0">
                <a:solidFill>
                  <a:srgbClr val="0B1F33"/>
                </a:solidFill>
              </a:rPr>
              <a:t>Have all required, independently verified guardians approved?</a:t>
            </a:r>
            <a:endParaRPr lang="en-US" sz="1900" dirty="0"/>
          </a:p>
        </p:txBody>
      </p:sp>
      <p:sp>
        <p:nvSpPr>
          <p:cNvPr id="10" name="card Policy"/>
          <p:cNvSpPr/>
          <p:nvPr/>
        </p:nvSpPr>
        <p:spPr>
          <a:xfrm>
            <a:off x="2583180" y="2743200"/>
            <a:ext cx="3383280" cy="1371600"/>
          </a:xfrm>
          <a:prstGeom prst="roundRect">
            <a:avLst>
              <a:gd name="adj" fmla="val 6667"/>
            </a:avLst>
          </a:prstGeom>
          <a:solidFill>
            <a:srgbClr val="FFFFFF">
              <a:alpha val="92000"/>
            </a:srgbClr>
          </a:solidFill>
          <a:ln w="19050">
            <a:solidFill>
              <a:srgbClr val="1FB5D6"/>
            </a:solidFill>
            <a:prstDash val="solid"/>
          </a:ln>
        </p:spPr>
      </p:sp>
      <p:sp>
        <p:nvSpPr>
          <p:cNvPr id="11" name="card text Policy"/>
          <p:cNvSpPr txBox="1"/>
          <p:nvPr/>
        </p:nvSpPr>
        <p:spPr>
          <a:xfrm>
            <a:off x="2720340" y="2834640"/>
            <a:ext cx="3108960" cy="1188720"/>
          </a:xfrm>
          <a:prstGeom prst="rect">
            <a:avLst/>
          </a:prstGeom>
          <a:noFill/>
          <a:ln/>
        </p:spPr>
        <p:txBody>
          <a:bodyPr wrap="square" rtlCol="0" anchor="t"/>
          <a:lstStyle/>
          <a:p>
            <a:pPr indent="0" marL="0">
              <a:spcAft>
                <a:spcPts val="400"/>
              </a:spcAft>
              <a:buNone/>
            </a:pPr>
            <a:r>
              <a:rPr lang="en-US" sz="1900" b="1" dirty="0">
                <a:solidFill>
                  <a:srgbClr val="0B2A4A"/>
                </a:solidFill>
              </a:rPr>
              <a:t>Policy</a:t>
            </a:r>
            <a:endParaRPr lang="en-US" sz="1900" dirty="0"/>
          </a:p>
          <a:p>
            <a:pPr indent="0" marL="0">
              <a:spcAft>
                <a:spcPts val="400"/>
              </a:spcAft>
              <a:buNone/>
            </a:pPr>
            <a:r>
              <a:rPr lang="en-US" sz="1600" dirty="0">
                <a:solidFill>
                  <a:srgbClr val="0B1F33"/>
                </a:solidFill>
              </a:rPr>
              <a:t>Is the request inside the authorised purpose </a:t>
            </a:r>
            <a:r>
              <a:rPr lang="en-US" sz="1600" dirty="0">
                <a:solidFill>
                  <a:srgbClr val="0B1F33"/>
                </a:solidFill>
                <a:highlight>
                  <a:srgbClr val="FFFF00"/>
                </a:highlight>
              </a:rPr>
              <a:t>and</a:t>
            </a:r>
            <a:r>
              <a:rPr lang="en-US" sz="1600" dirty="0">
                <a:solidFill>
                  <a:srgbClr val="0B1F33"/>
                </a:solidFill>
              </a:rPr>
              <a:t> data scope?</a:t>
            </a:r>
            <a:endParaRPr lang="en-US" sz="1900" dirty="0"/>
          </a:p>
        </p:txBody>
      </p:sp>
      <p:sp>
        <p:nvSpPr>
          <p:cNvPr id="12" name="card Time and lifecycle"/>
          <p:cNvSpPr/>
          <p:nvPr/>
        </p:nvSpPr>
        <p:spPr>
          <a:xfrm>
            <a:off x="6103620" y="2743200"/>
            <a:ext cx="3383280" cy="1371600"/>
          </a:xfrm>
          <a:prstGeom prst="roundRect">
            <a:avLst>
              <a:gd name="adj" fmla="val 6667"/>
            </a:avLst>
          </a:prstGeom>
          <a:solidFill>
            <a:srgbClr val="FFFFFF">
              <a:alpha val="92000"/>
            </a:srgbClr>
          </a:solidFill>
          <a:ln w="19050">
            <a:solidFill>
              <a:srgbClr val="1FB5D6"/>
            </a:solidFill>
            <a:prstDash val="solid"/>
          </a:ln>
        </p:spPr>
      </p:sp>
      <p:sp>
        <p:nvSpPr>
          <p:cNvPr id="13" name="card text Time and lifecycle"/>
          <p:cNvSpPr txBox="1"/>
          <p:nvPr/>
        </p:nvSpPr>
        <p:spPr>
          <a:xfrm>
            <a:off x="6240780" y="2834640"/>
            <a:ext cx="3108960" cy="1188720"/>
          </a:xfrm>
          <a:prstGeom prst="rect">
            <a:avLst/>
          </a:prstGeom>
          <a:noFill/>
          <a:ln/>
        </p:spPr>
        <p:txBody>
          <a:bodyPr wrap="square" rtlCol="0" anchor="t"/>
          <a:lstStyle/>
          <a:p>
            <a:pPr indent="0" marL="0">
              <a:spcAft>
                <a:spcPts val="400"/>
              </a:spcAft>
              <a:buNone/>
            </a:pPr>
            <a:r>
              <a:rPr lang="en-US" sz="1900" b="1" dirty="0">
                <a:solidFill>
                  <a:srgbClr val="0B2A4A"/>
                </a:solidFill>
              </a:rPr>
              <a:t>Time and lifecycle</a:t>
            </a:r>
            <a:endParaRPr lang="en-US" sz="1900" dirty="0"/>
          </a:p>
          <a:p>
            <a:pPr indent="0" marL="0">
              <a:spcAft>
                <a:spcPts val="400"/>
              </a:spcAft>
              <a:buNone/>
            </a:pPr>
            <a:r>
              <a:rPr lang="en-US" sz="1600" dirty="0">
                <a:solidFill>
                  <a:srgbClr val="0B1F33"/>
                </a:solidFill>
              </a:rPr>
              <a:t>Is the consent within its validity window, and not expired or revoked?</a:t>
            </a:r>
            <a:endParaRPr lang="en-US" sz="1900" dirty="0"/>
          </a:p>
        </p:txBody>
      </p:sp>
      <p:sp>
        <p:nvSpPr>
          <p:cNvPr id="14" name="consent object box"/>
          <p:cNvSpPr/>
          <p:nvPr/>
        </p:nvSpPr>
        <p:spPr>
          <a:xfrm>
            <a:off x="822960" y="4389120"/>
            <a:ext cx="10424160" cy="1463040"/>
          </a:xfrm>
          <a:prstGeom prst="roundRect">
            <a:avLst>
              <a:gd name="adj" fmla="val 6250"/>
            </a:avLst>
          </a:prstGeom>
          <a:solidFill>
            <a:srgbClr val="0B2A4A">
              <a:alpha val="85000"/>
            </a:srgbClr>
          </a:solidFill>
          <a:ln w="19050">
            <a:solidFill>
              <a:srgbClr val="1FB5D6"/>
            </a:solidFill>
            <a:prstDash val="solid"/>
          </a:ln>
        </p:spPr>
      </p:sp>
      <p:sp>
        <p:nvSpPr>
          <p:cNvPr id="15" name="consent object text"/>
          <p:cNvSpPr txBox="1"/>
          <p:nvPr/>
        </p:nvSpPr>
        <p:spPr>
          <a:xfrm>
            <a:off x="1005840" y="4434840"/>
            <a:ext cx="10058400" cy="1371600"/>
          </a:xfrm>
          <a:prstGeom prst="rect">
            <a:avLst/>
          </a:prstGeom>
          <a:noFill/>
          <a:ln/>
        </p:spPr>
        <p:txBody>
          <a:bodyPr wrap="square" rtlCol="0" anchor="ctr"/>
          <a:lstStyle/>
          <a:p>
            <a:pPr algn="ctr" indent="0" marL="0">
              <a:buNone/>
            </a:pPr>
            <a:r>
              <a:rPr lang="en-US" sz="1800" b="1" dirty="0">
                <a:solidFill>
                  <a:srgbClr val="1FB5D6"/>
                </a:solidFill>
              </a:rPr>
              <a:t>Consent as an evaluable authorisation object</a:t>
            </a:r>
            <a:endParaRPr lang="en-US" sz="1800" dirty="0"/>
          </a:p>
          <a:p>
            <a:pPr algn="ctr" indent="0" marL="0">
              <a:buNone/>
            </a:pPr>
            <a:r>
              <a:rPr lang="en-US" sz="2600" b="1" dirty="0">
                <a:solidFill>
                  <a:srgbClr val="FFFFFF"/>
                </a:solidFill>
              </a:rPr>
              <a:t>C = (I, A, P, T, L, E)</a:t>
            </a:r>
            <a:endParaRPr lang="en-US" sz="1800" dirty="0"/>
          </a:p>
          <a:p>
            <a:pPr algn="ctr" indent="0" marL="0">
              <a:buNone/>
            </a:pPr>
            <a:r>
              <a:rPr lang="en-US" sz="1500" dirty="0">
                <a:solidFill>
                  <a:srgbClr val="FFFFFF"/>
                </a:solidFill>
              </a:rPr>
              <a:t>Identity (I) · </a:t>
            </a:r>
            <a:r>
              <a:rPr lang="en-US" sz="1500" dirty="0">
                <a:solidFill>
                  <a:srgbClr val="0B1F33"/>
                </a:solidFill>
                <a:highlight>
                  <a:srgbClr val="FFFF00"/>
                </a:highlight>
              </a:rPr>
              <a:t>Authorisation</a:t>
            </a:r>
            <a:r>
              <a:rPr lang="en-US" sz="1500" dirty="0">
                <a:solidFill>
                  <a:srgbClr val="FFFFFF"/>
                </a:solidFill>
              </a:rPr>
              <a:t> (A: guardian set G, threshold N) · Policy (P: purpose, scope) · Time (T) · </a:t>
            </a:r>
            <a:r>
              <a:rPr lang="en-US" sz="1500" dirty="0">
                <a:solidFill>
                  <a:srgbClr val="0B1F33"/>
                </a:solidFill>
                <a:highlight>
                  <a:srgbClr val="FFFF00"/>
                </a:highlight>
              </a:rPr>
              <a:t>Lifecycle (L)</a:t>
            </a:r>
            <a:r>
              <a:rPr lang="en-US" sz="1500" dirty="0">
                <a:solidFill>
                  <a:srgbClr val="FFFFFF"/>
                </a:solidFill>
              </a:rPr>
              <a:t> · Evidence (E)</a:t>
            </a:r>
            <a:endParaRPr lang="en-US" sz="18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SYSTEMATIC LITERATURE REVIEW</a:t>
            </a:r>
            <a:endParaRPr lang="en-US" sz="3000" dirty="0"/>
          </a:p>
        </p:txBody>
      </p:sp>
      <p:graphicFrame>
        <p:nvGraphicFramePr>
          <p:cNvPr id="6" name="table"/>
          <p:cNvGraphicFramePr>
            <a:graphicFrameLocks noGrp="1"/>
          </p:cNvGraphicFramePr>
          <p:nvPr>
            <p:extLst>
              <p:ext uri="{D42A27DB-BD31-4B8C-83A1-F6EECF244321}">
                <p14:modId xmlns:p14="http://schemas.microsoft.com/office/powerpoint/2010/main" val="1579011935"/>
              </p:ext>
            </p:extLst>
          </p:nvPr>
        </p:nvGraphicFramePr>
        <p:xfrm>
          <a:off x="731520" y="1325880"/>
          <a:ext cx="10698480" cy="914400"/>
        </p:xfrm>
        <a:graphic>
          <a:graphicData uri="http://schemas.openxmlformats.org/drawingml/2006/table">
            <a:tbl>
              <a:tblPr/>
              <a:tblGrid>
                <a:gridCol w="1463040"/>
                <a:gridCol w="3291840"/>
                <a:gridCol w="5943600"/>
              </a:tblGrid>
              <a:tr h="777240">
                <a:tc>
                  <a:txBody>
                    <a:bodyPr/>
                    <a:lstStyle/>
                    <a:p>
                      <a:pPr indent="0" marL="0">
                        <a:buNone/>
                      </a:pPr>
                      <a:r>
                        <a:rPr lang="en-US" sz="1500" b="1" dirty="0">
                          <a:solidFill>
                            <a:srgbClr val="FFFFFF"/>
                          </a:solidFill>
                        </a:rPr>
                        <a:t>Stage</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500" b="1" dirty="0">
                          <a:solidFill>
                            <a:srgbClr val="FFFFFF"/>
                          </a:solidFill>
                        </a:rPr>
                        <a:t>Method</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500" b="1" dirty="0">
                          <a:solidFill>
                            <a:srgbClr val="FFFFFF"/>
                          </a:solidFill>
                        </a:rPr>
                        <a:t>Details</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r>
              <a:tr h="777240">
                <a:tc>
                  <a:txBody>
                    <a:bodyPr/>
                    <a:lstStyle/>
                    <a:p>
                      <a:pPr indent="0" marL="0">
                        <a:buNone/>
                      </a:pPr>
                      <a:r>
                        <a:rPr lang="en-US" sz="1500" b="1" dirty="0">
                          <a:solidFill>
                            <a:srgbClr val="0B1F33"/>
                          </a:solidFill>
                        </a:rPr>
                        <a:t>Protocol</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500" dirty="0">
                          <a:solidFill>
                            <a:srgbClr val="0B1F33"/>
                          </a:solidFill>
                        </a:rPr>
                        <a:t>PRISMA 2020, written protocol (v1.1)</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500" dirty="0">
                          <a:solidFill>
                            <a:srgbClr val="0B1F33"/>
                          </a:solidFill>
                        </a:rPr>
                        <a:t>Review questions, databases, master query, criteria, codebook and quality items fixed before screening</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777240">
                <a:tc>
                  <a:txBody>
                    <a:bodyPr/>
                    <a:lstStyle/>
                    <a:p>
                      <a:pPr indent="0" marL="0">
                        <a:buNone/>
                      </a:pPr>
                      <a:r>
                        <a:rPr lang="en-US" sz="1500" b="1" dirty="0">
                          <a:solidFill>
                            <a:srgbClr val="0B1F33"/>
                          </a:solidFill>
                        </a:rPr>
                        <a:t>Search</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500" dirty="0">
                          <a:solidFill>
                            <a:srgbClr val="0B1F33"/>
                          </a:solidFill>
                        </a:rPr>
                        <a:t>One master query, three concept blocks</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500" dirty="0">
                          <a:solidFill>
                            <a:srgbClr val="0B1F33"/>
                          </a:solidFill>
                        </a:rPr>
                        <a:t>IEEE Xplore, ACM DL, ScienceDirect, SpringerLink, ProQuest Science and Technology, Scopus, Web of Science; Google Scholar as discovery arm</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777240">
                <a:tc>
                  <a:txBody>
                    <a:bodyPr/>
                    <a:lstStyle/>
                    <a:p>
                      <a:pPr indent="0" marL="0">
                        <a:buNone/>
                      </a:pPr>
                      <a:r>
                        <a:rPr lang="en-US" sz="1500" b="1" dirty="0">
                          <a:solidFill>
                            <a:srgbClr val="0B1F33"/>
                          </a:solidFill>
                        </a:rPr>
                        <a:t>Dates</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500" dirty="0">
                          <a:solidFill>
                            <a:srgbClr val="0B1F33"/>
                          </a:solidFill>
                        </a:rPr>
                        <a:t>Main searches in August 2026</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500" dirty="0">
                          <a:solidFill>
                            <a:srgbClr val="0B1F33"/>
                          </a:solidFill>
                        </a:rPr>
                        <a:t>24 and 25 August 2026; ACM DL on 5 September 2026</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777240">
                <a:tc>
                  <a:txBody>
                    <a:bodyPr/>
                    <a:lstStyle/>
                    <a:p>
                      <a:pPr indent="0" marL="0">
                        <a:buNone/>
                      </a:pPr>
                      <a:r>
                        <a:rPr lang="en-US" sz="1500" b="1" dirty="0">
                          <a:solidFill>
                            <a:srgbClr val="0B1F33"/>
                          </a:solidFill>
                        </a:rPr>
                        <a:t>Screening</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500" dirty="0">
                          <a:solidFill>
                            <a:srgbClr val="0B1F33"/>
                          </a:solidFill>
                        </a:rPr>
                        <a:t>Title, abstract, then full text</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500" dirty="0">
                          <a:solidFill>
                            <a:srgbClr val="0B1F33"/>
                          </a:solidFill>
                        </a:rPr>
                        <a:t>Inclusion criteria IC1 to IC7, exclusion criteria EC1 to EC9</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777240">
                <a:tc>
                  <a:txBody>
                    <a:bodyPr/>
                    <a:lstStyle/>
                    <a:p>
                      <a:pPr indent="0" marL="0">
                        <a:buNone/>
                      </a:pPr>
                      <a:r>
                        <a:rPr lang="en-US" sz="1500" b="1" dirty="0">
                          <a:solidFill>
                            <a:srgbClr val="0B1F33"/>
                          </a:solidFill>
                        </a:rPr>
                        <a:t>Quality</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500" dirty="0">
                          <a:solidFill>
                            <a:srgbClr val="0B1F33"/>
                          </a:solidFill>
                        </a:rPr>
                        <a:t>QA1 to QA4 (Yes 1, Partial 0.5, No 0)</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500" dirty="0">
                          <a:solidFill>
                            <a:srgbClr val="0B1F33"/>
                          </a:solidFill>
                        </a:rPr>
                        <a:t>A study is included when QA1 + QA2 + QA3 + QA4 ≥ 3.0</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SYSTEMATIC LITERATURE REVIEW PROCESS</a:t>
            </a:r>
            <a:endParaRPr lang="en-US" sz="3000" dirty="0"/>
          </a:p>
        </p:txBody>
      </p:sp>
      <p:sp>
        <p:nvSpPr>
          <p:cNvPr id="4" name="F2 panel"/>
          <p:cNvSpPr/>
          <p:nvPr/>
        </p:nvSpPr>
        <p:spPr>
          <a:xfrm>
            <a:off x="3090672" y="1051560"/>
            <a:ext cx="5989320" cy="5486400"/>
          </a:xfrm>
          <a:prstGeom prst="roundRect">
            <a:avLst>
              <a:gd name="adj" fmla="val 2000"/>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pic>
        <p:nvPicPr>
          <p:cNvPr id="5" name="F2" descr="/tmp/deck/img/F2.png">    </p:cNvPr>
          <p:cNvPicPr>
            <a:picLocks noChangeAspect="1"/>
          </p:cNvPicPr>
          <p:nvPr/>
        </p:nvPicPr>
        <p:blipFill>
          <a:blip r:embed="rId1"/>
          <a:stretch>
            <a:fillRect/>
          </a:stretch>
        </p:blipFill>
        <p:spPr>
          <a:xfrm>
            <a:off x="3200787" y="1161288"/>
            <a:ext cx="5769089" cy="5266944"/>
          </a:xfrm>
          <a:prstGeom prst="rect">
            <a:avLst/>
          </a:prstGeom>
        </p:spPr>
      </p:pic>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QUALITY ASSESSMENT</a:t>
            </a:r>
            <a:endParaRPr lang="en-US" sz="3000" dirty="0"/>
          </a:p>
        </p:txBody>
      </p:sp>
      <p:graphicFrame>
        <p:nvGraphicFramePr>
          <p:cNvPr id="8" name="table"/>
          <p:cNvGraphicFramePr>
            <a:graphicFrameLocks noGrp="1"/>
          </p:cNvGraphicFramePr>
          <p:nvPr>
            <p:extLst>
              <p:ext uri="{D42A27DB-BD31-4B8C-83A1-F6EECF244321}">
                <p14:modId xmlns:p14="http://schemas.microsoft.com/office/powerpoint/2010/main" val="1579011935"/>
              </p:ext>
            </p:extLst>
          </p:nvPr>
        </p:nvGraphicFramePr>
        <p:xfrm>
          <a:off x="731520" y="1325880"/>
          <a:ext cx="10698480" cy="914400"/>
        </p:xfrm>
        <a:graphic>
          <a:graphicData uri="http://schemas.openxmlformats.org/drawingml/2006/table">
            <a:tbl>
              <a:tblPr/>
              <a:tblGrid>
                <a:gridCol w="1463040"/>
                <a:gridCol w="7223760"/>
                <a:gridCol w="2011680"/>
              </a:tblGrid>
              <a:tr h="713232">
                <a:tc>
                  <a:txBody>
                    <a:bodyPr/>
                    <a:lstStyle/>
                    <a:p>
                      <a:pPr indent="0" marL="0">
                        <a:buNone/>
                      </a:pPr>
                      <a:r>
                        <a:rPr lang="en-US" sz="1500" b="1" dirty="0">
                          <a:solidFill>
                            <a:srgbClr val="FFFFFF"/>
                          </a:solidFill>
                        </a:rPr>
                        <a:t>Item</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500" b="1" dirty="0">
                          <a:solidFill>
                            <a:srgbClr val="FFFFFF"/>
                          </a:solidFill>
                        </a:rPr>
                        <a:t>Question</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500" b="1" dirty="0">
                          <a:solidFill>
                            <a:srgbClr val="FFFFFF"/>
                          </a:solidFill>
                        </a:rPr>
                        <a:t>Used for</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r>
              <a:tr h="713232">
                <a:tc>
                  <a:txBody>
                    <a:bodyPr/>
                    <a:lstStyle/>
                    <a:p>
                      <a:pPr indent="0" marL="0">
                        <a:buNone/>
                      </a:pPr>
                      <a:r>
                        <a:rPr lang="en-US" sz="1500" b="1" dirty="0">
                          <a:solidFill>
                            <a:srgbClr val="0B1F33"/>
                          </a:solidFill>
                        </a:rPr>
                        <a:t>QA1</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500" dirty="0">
                          <a:solidFill>
                            <a:srgbClr val="0B1F33"/>
                          </a:solidFill>
                        </a:rPr>
                        <a:t>Does the study deal with patient consent or consent-governed data access at the healthcare level?</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500" dirty="0">
                          <a:solidFill>
                            <a:srgbClr val="0B1F33"/>
                          </a:solidFill>
                        </a:rPr>
                        <a:t>Inclusion</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713232">
                <a:tc>
                  <a:txBody>
                    <a:bodyPr/>
                    <a:lstStyle/>
                    <a:p>
                      <a:pPr indent="0" marL="0">
                        <a:buNone/>
                      </a:pPr>
                      <a:r>
                        <a:rPr lang="en-US" sz="1500" b="1" dirty="0">
                          <a:solidFill>
                            <a:srgbClr val="0B1F33"/>
                          </a:solidFill>
                        </a:rPr>
                        <a:t>QA2</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500" dirty="0">
                          <a:solidFill>
                            <a:srgbClr val="0B1F33"/>
                          </a:solidFill>
                        </a:rPr>
                        <a:t>Does it deal with an authorisation or access-decision mechanism, not storage or recording only?</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500" dirty="0">
                          <a:solidFill>
                            <a:srgbClr val="0B1F33"/>
                          </a:solidFill>
                        </a:rPr>
                        <a:t>Inclusion</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713232">
                <a:tc>
                  <a:txBody>
                    <a:bodyPr/>
                    <a:lstStyle/>
                    <a:p>
                      <a:pPr indent="0" marL="0">
                        <a:buNone/>
                      </a:pPr>
                      <a:r>
                        <a:rPr lang="en-US" sz="1500" b="1" dirty="0">
                          <a:solidFill>
                            <a:srgbClr val="0B1F33"/>
                          </a:solidFill>
                        </a:rPr>
                        <a:t>QA3</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500" dirty="0">
                          <a:solidFill>
                            <a:srgbClr val="0B1F33"/>
                          </a:solidFill>
                        </a:rPr>
                        <a:t>Does it introduce a proper framework, model, protocol or architecture to address its aim?</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500" dirty="0">
                          <a:solidFill>
                            <a:srgbClr val="0B1F33"/>
                          </a:solidFill>
                        </a:rPr>
                        <a:t>Inclusion</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713232">
                <a:tc>
                  <a:txBody>
                    <a:bodyPr/>
                    <a:lstStyle/>
                    <a:p>
                      <a:pPr indent="0" marL="0">
                        <a:buNone/>
                      </a:pPr>
                      <a:r>
                        <a:rPr lang="en-US" sz="1500" b="1" dirty="0">
                          <a:solidFill>
                            <a:srgbClr val="0B1F33"/>
                          </a:solidFill>
                        </a:rPr>
                        <a:t>QA4</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500" dirty="0">
                          <a:solidFill>
                            <a:srgbClr val="0B1F33"/>
                          </a:solidFill>
                        </a:rPr>
                        <a:t>Is the proposed methodology validated by a proof of concept or an implementation?</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500" dirty="0">
                          <a:solidFill>
                            <a:srgbClr val="0B1F33"/>
                          </a:solidFill>
                        </a:rPr>
                        <a:t>Inclusion</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713232">
                <a:tc>
                  <a:txBody>
                    <a:bodyPr/>
                    <a:lstStyle/>
                    <a:p>
                      <a:pPr indent="0" marL="0">
                        <a:buNone/>
                      </a:pPr>
                      <a:r>
                        <a:rPr lang="en-US" sz="1500" b="1" dirty="0">
                          <a:solidFill>
                            <a:srgbClr val="0B1F33"/>
                          </a:solidFill>
                        </a:rPr>
                        <a:t>QA5 to QA8</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500" dirty="0">
                          <a:solidFill>
                            <a:srgbClr val="0B1F33"/>
                          </a:solidFill>
                        </a:rPr>
                        <a:t>Further quality items scored for every included study</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500" dirty="0">
                          <a:solidFill>
                            <a:srgbClr val="0B1F33"/>
                          </a:solidFill>
                        </a:rPr>
                        <a:t>Evidence tier only</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713232">
                <a:tc>
                  <a:txBody>
                    <a:bodyPr/>
                    <a:lstStyle/>
                    <a:p>
                      <a:pPr indent="0" marL="0">
                        <a:buNone/>
                      </a:pPr>
                      <a:r>
                        <a:rPr lang="en-US" sz="1500" b="1" dirty="0">
                          <a:solidFill>
                            <a:srgbClr val="0B1F33"/>
                          </a:solidFill>
                        </a:rPr>
                        <a:t>Rule</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500" dirty="0">
                          <a:solidFill>
                            <a:srgbClr val="0B1F33"/>
                          </a:solidFill>
                        </a:rPr>
                        <a:t>Yes = 1, Partial = 0.5, No = 0; included when QA1 + QA2 + QA3 + QA4 ≥ 3.0</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500" dirty="0">
                          <a:solidFill>
                            <a:srgbClr val="0B1F33"/>
                          </a:solidFill>
                        </a:rPr>
                        <a:t>—</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KEY REQUIREMENTS</a:t>
            </a:r>
            <a:endParaRPr lang="en-US" sz="3000" dirty="0"/>
          </a:p>
        </p:txBody>
      </p:sp>
      <p:sp>
        <p:nvSpPr>
          <p:cNvPr id="4" name="card Req 1"/>
          <p:cNvSpPr/>
          <p:nvPr/>
        </p:nvSpPr>
        <p:spPr>
          <a:xfrm>
            <a:off x="822960" y="1371600"/>
            <a:ext cx="3291840" cy="2011680"/>
          </a:xfrm>
          <a:prstGeom prst="roundRect">
            <a:avLst>
              <a:gd name="adj" fmla="val 4545"/>
            </a:avLst>
          </a:prstGeom>
          <a:solidFill>
            <a:srgbClr val="FFFFFF">
              <a:alpha val="92000"/>
            </a:srgbClr>
          </a:solidFill>
          <a:ln w="19050">
            <a:solidFill>
              <a:srgbClr val="1FB5D6"/>
            </a:solidFill>
            <a:prstDash val="solid"/>
          </a:ln>
        </p:spPr>
      </p:sp>
      <p:sp>
        <p:nvSpPr>
          <p:cNvPr id="5" name="card text Req 1"/>
          <p:cNvSpPr txBox="1"/>
          <p:nvPr/>
        </p:nvSpPr>
        <p:spPr>
          <a:xfrm>
            <a:off x="960120" y="1463040"/>
            <a:ext cx="3017520" cy="1828800"/>
          </a:xfrm>
          <a:prstGeom prst="rect">
            <a:avLst/>
          </a:prstGeom>
          <a:noFill/>
          <a:ln/>
        </p:spPr>
        <p:txBody>
          <a:bodyPr wrap="square" rtlCol="0" anchor="t"/>
          <a:lstStyle/>
          <a:p>
            <a:pPr indent="0" marL="0">
              <a:spcAft>
                <a:spcPts val="400"/>
              </a:spcAft>
              <a:buNone/>
            </a:pPr>
            <a:r>
              <a:rPr lang="en-US" sz="1900" b="1" dirty="0">
                <a:solidFill>
                  <a:srgbClr val="0B2A4A"/>
                </a:solidFill>
              </a:rPr>
              <a:t>Req 1</a:t>
            </a:r>
            <a:endParaRPr lang="en-US" sz="1900" dirty="0"/>
          </a:p>
          <a:p>
            <a:pPr indent="0" marL="0">
              <a:spcAft>
                <a:spcPts val="400"/>
              </a:spcAft>
              <a:buNone/>
            </a:pPr>
            <a:r>
              <a:rPr lang="en-US" sz="1600" dirty="0">
                <a:solidFill>
                  <a:srgbClr val="0B1F33"/>
                </a:solidFill>
              </a:rPr>
              <a:t>Consent as an evaluable authorisation object</a:t>
            </a:r>
            <a:endParaRPr lang="en-US" sz="1900" dirty="0"/>
          </a:p>
        </p:txBody>
      </p:sp>
      <p:sp>
        <p:nvSpPr>
          <p:cNvPr id="6" name="card Req 2"/>
          <p:cNvSpPr/>
          <p:nvPr/>
        </p:nvSpPr>
        <p:spPr>
          <a:xfrm>
            <a:off x="4389120" y="1371600"/>
            <a:ext cx="3291840" cy="2011680"/>
          </a:xfrm>
          <a:prstGeom prst="roundRect">
            <a:avLst>
              <a:gd name="adj" fmla="val 4545"/>
            </a:avLst>
          </a:prstGeom>
          <a:solidFill>
            <a:srgbClr val="FFFFFF">
              <a:alpha val="92000"/>
            </a:srgbClr>
          </a:solidFill>
          <a:ln w="19050">
            <a:solidFill>
              <a:srgbClr val="1FB5D6"/>
            </a:solidFill>
            <a:prstDash val="solid"/>
          </a:ln>
        </p:spPr>
      </p:sp>
      <p:sp>
        <p:nvSpPr>
          <p:cNvPr id="7" name="card text Req 2"/>
          <p:cNvSpPr txBox="1"/>
          <p:nvPr/>
        </p:nvSpPr>
        <p:spPr>
          <a:xfrm>
            <a:off x="4526280" y="1463040"/>
            <a:ext cx="3017520" cy="1828800"/>
          </a:xfrm>
          <a:prstGeom prst="rect">
            <a:avLst/>
          </a:prstGeom>
          <a:noFill/>
          <a:ln/>
        </p:spPr>
        <p:txBody>
          <a:bodyPr wrap="square" rtlCol="0" anchor="t"/>
          <a:lstStyle/>
          <a:p>
            <a:pPr indent="0" marL="0">
              <a:spcAft>
                <a:spcPts val="400"/>
              </a:spcAft>
              <a:buNone/>
            </a:pPr>
            <a:r>
              <a:rPr lang="en-US" sz="1900" b="1" dirty="0">
                <a:solidFill>
                  <a:srgbClr val="0B2A4A"/>
                </a:solidFill>
              </a:rPr>
              <a:t>Req 2</a:t>
            </a:r>
            <a:endParaRPr lang="en-US" sz="1900" dirty="0"/>
          </a:p>
          <a:p>
            <a:pPr indent="0" marL="0">
              <a:spcAft>
                <a:spcPts val="400"/>
              </a:spcAft>
              <a:buNone/>
            </a:pPr>
            <a:r>
              <a:rPr lang="en-US" sz="1600" dirty="0">
                <a:solidFill>
                  <a:srgbClr val="0B1F33"/>
                </a:solidFill>
              </a:rPr>
              <a:t>Decentralised verification of identity and authority</a:t>
            </a:r>
            <a:endParaRPr lang="en-US" sz="1900" dirty="0"/>
          </a:p>
        </p:txBody>
      </p:sp>
      <p:sp>
        <p:nvSpPr>
          <p:cNvPr id="8" name="card Req 3"/>
          <p:cNvSpPr/>
          <p:nvPr/>
        </p:nvSpPr>
        <p:spPr>
          <a:xfrm>
            <a:off x="7955280" y="1371600"/>
            <a:ext cx="3291840" cy="2011680"/>
          </a:xfrm>
          <a:prstGeom prst="roundRect">
            <a:avLst>
              <a:gd name="adj" fmla="val 4545"/>
            </a:avLst>
          </a:prstGeom>
          <a:solidFill>
            <a:srgbClr val="FFFFFF">
              <a:alpha val="92000"/>
            </a:srgbClr>
          </a:solidFill>
          <a:ln w="19050">
            <a:solidFill>
              <a:srgbClr val="1FB5D6"/>
            </a:solidFill>
            <a:prstDash val="solid"/>
          </a:ln>
        </p:spPr>
      </p:sp>
      <p:sp>
        <p:nvSpPr>
          <p:cNvPr id="9" name="card text Req 3"/>
          <p:cNvSpPr txBox="1"/>
          <p:nvPr/>
        </p:nvSpPr>
        <p:spPr>
          <a:xfrm>
            <a:off x="8092440" y="1463040"/>
            <a:ext cx="3017520" cy="1828800"/>
          </a:xfrm>
          <a:prstGeom prst="rect">
            <a:avLst/>
          </a:prstGeom>
          <a:noFill/>
          <a:ln/>
        </p:spPr>
        <p:txBody>
          <a:bodyPr wrap="square" rtlCol="0" anchor="t"/>
          <a:lstStyle/>
          <a:p>
            <a:pPr indent="0" marL="0">
              <a:spcAft>
                <a:spcPts val="400"/>
              </a:spcAft>
              <a:buNone/>
            </a:pPr>
            <a:r>
              <a:rPr lang="en-US" sz="1900" b="1" dirty="0">
                <a:solidFill>
                  <a:srgbClr val="0B2A4A"/>
                </a:solidFill>
              </a:rPr>
              <a:t>Req 3</a:t>
            </a:r>
            <a:endParaRPr lang="en-US" sz="1900" dirty="0"/>
          </a:p>
          <a:p>
            <a:pPr indent="0" marL="0">
              <a:spcAft>
                <a:spcPts val="400"/>
              </a:spcAft>
              <a:buNone/>
            </a:pPr>
            <a:r>
              <a:rPr lang="en-US" sz="1600" dirty="0">
                <a:solidFill>
                  <a:srgbClr val="0B1F33"/>
                </a:solidFill>
              </a:rPr>
              <a:t>Multi-party authorisation through a verifiable threshold</a:t>
            </a:r>
            <a:endParaRPr lang="en-US" sz="1900" dirty="0"/>
          </a:p>
        </p:txBody>
      </p:sp>
      <p:sp>
        <p:nvSpPr>
          <p:cNvPr id="10" name="card Req 4"/>
          <p:cNvSpPr/>
          <p:nvPr/>
        </p:nvSpPr>
        <p:spPr>
          <a:xfrm>
            <a:off x="822960" y="3749040"/>
            <a:ext cx="3291840" cy="2011680"/>
          </a:xfrm>
          <a:prstGeom prst="roundRect">
            <a:avLst>
              <a:gd name="adj" fmla="val 4545"/>
            </a:avLst>
          </a:prstGeom>
          <a:solidFill>
            <a:srgbClr val="FFFFFF">
              <a:alpha val="92000"/>
            </a:srgbClr>
          </a:solidFill>
          <a:ln w="19050">
            <a:solidFill>
              <a:srgbClr val="1FB5D6"/>
            </a:solidFill>
            <a:prstDash val="solid"/>
          </a:ln>
        </p:spPr>
      </p:sp>
      <p:sp>
        <p:nvSpPr>
          <p:cNvPr id="11" name="card text Req 4"/>
          <p:cNvSpPr txBox="1"/>
          <p:nvPr/>
        </p:nvSpPr>
        <p:spPr>
          <a:xfrm>
            <a:off x="960120" y="3840480"/>
            <a:ext cx="3017520" cy="1828800"/>
          </a:xfrm>
          <a:prstGeom prst="rect">
            <a:avLst/>
          </a:prstGeom>
          <a:noFill/>
          <a:ln/>
        </p:spPr>
        <p:txBody>
          <a:bodyPr wrap="square" rtlCol="0" anchor="t"/>
          <a:lstStyle/>
          <a:p>
            <a:pPr indent="0" marL="0">
              <a:spcAft>
                <a:spcPts val="400"/>
              </a:spcAft>
              <a:buNone/>
            </a:pPr>
            <a:r>
              <a:rPr lang="en-US" sz="1900" b="1" dirty="0">
                <a:solidFill>
                  <a:srgbClr val="0B2A4A"/>
                </a:solidFill>
              </a:rPr>
              <a:t>Req 4</a:t>
            </a:r>
            <a:endParaRPr lang="en-US" sz="1900" dirty="0"/>
          </a:p>
          <a:p>
            <a:pPr indent="0" marL="0">
              <a:spcAft>
                <a:spcPts val="400"/>
              </a:spcAft>
              <a:buNone/>
            </a:pPr>
            <a:r>
              <a:rPr lang="en-US" sz="1600" dirty="0">
                <a:solidFill>
                  <a:srgbClr val="0B1F33"/>
                </a:solidFill>
              </a:rPr>
              <a:t>Policy- and context-aware enforcement at access time</a:t>
            </a:r>
            <a:endParaRPr lang="en-US" sz="1900" dirty="0"/>
          </a:p>
        </p:txBody>
      </p:sp>
      <p:sp>
        <p:nvSpPr>
          <p:cNvPr id="12" name="card Req 5"/>
          <p:cNvSpPr/>
          <p:nvPr/>
        </p:nvSpPr>
        <p:spPr>
          <a:xfrm>
            <a:off x="4389120" y="3749040"/>
            <a:ext cx="3291840" cy="2011680"/>
          </a:xfrm>
          <a:prstGeom prst="roundRect">
            <a:avLst>
              <a:gd name="adj" fmla="val 4545"/>
            </a:avLst>
          </a:prstGeom>
          <a:solidFill>
            <a:srgbClr val="FFFFFF">
              <a:alpha val="92000"/>
            </a:srgbClr>
          </a:solidFill>
          <a:ln w="19050">
            <a:solidFill>
              <a:srgbClr val="1FB5D6"/>
            </a:solidFill>
            <a:prstDash val="solid"/>
          </a:ln>
        </p:spPr>
      </p:sp>
      <p:sp>
        <p:nvSpPr>
          <p:cNvPr id="13" name="card text Req 5"/>
          <p:cNvSpPr txBox="1"/>
          <p:nvPr/>
        </p:nvSpPr>
        <p:spPr>
          <a:xfrm>
            <a:off x="4526280" y="3840480"/>
            <a:ext cx="3017520" cy="1828800"/>
          </a:xfrm>
          <a:prstGeom prst="rect">
            <a:avLst/>
          </a:prstGeom>
          <a:noFill/>
          <a:ln/>
        </p:spPr>
        <p:txBody>
          <a:bodyPr wrap="square" rtlCol="0" anchor="t"/>
          <a:lstStyle/>
          <a:p>
            <a:pPr indent="0" marL="0">
              <a:spcAft>
                <a:spcPts val="400"/>
              </a:spcAft>
              <a:buNone/>
            </a:pPr>
            <a:r>
              <a:rPr lang="en-US" sz="1900" b="1" dirty="0">
                <a:solidFill>
                  <a:srgbClr val="0B2A4A"/>
                </a:solidFill>
              </a:rPr>
              <a:t>Req 5</a:t>
            </a:r>
            <a:endParaRPr lang="en-US" sz="1900" dirty="0"/>
          </a:p>
          <a:p>
            <a:pPr indent="0" marL="0">
              <a:spcAft>
                <a:spcPts val="400"/>
              </a:spcAft>
              <a:buNone/>
            </a:pPr>
            <a:r>
              <a:rPr lang="en-US" sz="1600" dirty="0">
                <a:solidFill>
                  <a:srgbClr val="0B1F33"/>
                </a:solidFill>
              </a:rPr>
              <a:t>Temporal validity and lifecycle control of consent</a:t>
            </a:r>
            <a:endParaRPr lang="en-US" sz="1900" dirty="0"/>
          </a:p>
        </p:txBody>
      </p:sp>
      <p:sp>
        <p:nvSpPr>
          <p:cNvPr id="14" name="card Req 6"/>
          <p:cNvSpPr/>
          <p:nvPr/>
        </p:nvSpPr>
        <p:spPr>
          <a:xfrm>
            <a:off x="7955280" y="3749040"/>
            <a:ext cx="3291840" cy="2011680"/>
          </a:xfrm>
          <a:prstGeom prst="roundRect">
            <a:avLst>
              <a:gd name="adj" fmla="val 4545"/>
            </a:avLst>
          </a:prstGeom>
          <a:solidFill>
            <a:srgbClr val="FFFFFF">
              <a:alpha val="92000"/>
            </a:srgbClr>
          </a:solidFill>
          <a:ln w="19050">
            <a:solidFill>
              <a:srgbClr val="1FB5D6"/>
            </a:solidFill>
            <a:prstDash val="solid"/>
          </a:ln>
        </p:spPr>
      </p:sp>
      <p:sp>
        <p:nvSpPr>
          <p:cNvPr id="15" name="card text Req 6"/>
          <p:cNvSpPr txBox="1"/>
          <p:nvPr/>
        </p:nvSpPr>
        <p:spPr>
          <a:xfrm>
            <a:off x="8092440" y="3840480"/>
            <a:ext cx="3017520" cy="1828800"/>
          </a:xfrm>
          <a:prstGeom prst="rect">
            <a:avLst/>
          </a:prstGeom>
          <a:noFill/>
          <a:ln/>
        </p:spPr>
        <p:txBody>
          <a:bodyPr wrap="square" rtlCol="0" anchor="t"/>
          <a:lstStyle/>
          <a:p>
            <a:pPr indent="0" marL="0">
              <a:spcAft>
                <a:spcPts val="400"/>
              </a:spcAft>
              <a:buNone/>
            </a:pPr>
            <a:r>
              <a:rPr lang="en-US" sz="1900" b="1" dirty="0">
                <a:solidFill>
                  <a:srgbClr val="0B2A4A"/>
                </a:solidFill>
              </a:rPr>
              <a:t>Req 6</a:t>
            </a:r>
            <a:endParaRPr lang="en-US" sz="1900" dirty="0"/>
          </a:p>
          <a:p>
            <a:pPr indent="0" marL="0">
              <a:spcAft>
                <a:spcPts val="400"/>
              </a:spcAft>
              <a:buNone/>
            </a:pPr>
            <a:r>
              <a:rPr lang="en-US" sz="1600" dirty="0">
                <a:solidFill>
                  <a:srgbClr val="0B1F33"/>
                </a:solidFill>
              </a:rPr>
              <a:t>Verifiable auditability and security assurance</a:t>
            </a:r>
            <a:endParaRPr lang="en-US" sz="19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LIST OF THE 25 PRIMARY STUDIES</a:t>
            </a:r>
            <a:endParaRPr lang="en-US" sz="3000" dirty="0"/>
          </a:p>
        </p:txBody>
      </p:sp>
      <p:graphicFrame>
        <p:nvGraphicFramePr>
          <p:cNvPr id="10" name="table"/>
          <p:cNvGraphicFramePr>
            <a:graphicFrameLocks noGrp="1"/>
          </p:cNvGraphicFramePr>
          <p:nvPr>
            <p:extLst>
              <p:ext uri="{D42A27DB-BD31-4B8C-83A1-F6EECF244321}">
                <p14:modId xmlns:p14="http://schemas.microsoft.com/office/powerpoint/2010/main" val="1579011935"/>
              </p:ext>
            </p:extLst>
          </p:nvPr>
        </p:nvGraphicFramePr>
        <p:xfrm>
          <a:off x="457200" y="1097280"/>
          <a:ext cx="11247120" cy="914400"/>
        </p:xfrm>
        <a:graphic>
          <a:graphicData uri="http://schemas.openxmlformats.org/drawingml/2006/table">
            <a:tbl>
              <a:tblPr/>
              <a:tblGrid>
                <a:gridCol w="685800"/>
                <a:gridCol w="1920240"/>
                <a:gridCol w="640080"/>
                <a:gridCol w="5349240"/>
                <a:gridCol w="2651760"/>
              </a:tblGrid>
              <a:tr h="0">
                <a:tc>
                  <a:txBody>
                    <a:bodyPr/>
                    <a:lstStyle/>
                    <a:p>
                      <a:pPr indent="0" marL="0">
                        <a:buNone/>
                      </a:pPr>
                      <a:r>
                        <a:rPr lang="en-US" sz="1050" b="1" dirty="0">
                          <a:solidFill>
                            <a:srgbClr val="FFFFFF"/>
                          </a:solidFill>
                        </a:rPr>
                        <a:t>Study</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050" b="1" dirty="0">
                          <a:solidFill>
                            <a:srgbClr val="FFFFFF"/>
                          </a:solidFill>
                        </a:rPr>
                        <a:t>Author(s)</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050" b="1" dirty="0">
                          <a:solidFill>
                            <a:srgbClr val="FFFFFF"/>
                          </a:solidFill>
                        </a:rPr>
                        <a:t>Year</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050" b="1" dirty="0">
                          <a:solidFill>
                            <a:srgbClr val="FFFFFF"/>
                          </a:solidFill>
                        </a:rPr>
                        <a:t>Title</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050" b="1" dirty="0">
                          <a:solidFill>
                            <a:srgbClr val="FFFFFF"/>
                          </a:solidFill>
                        </a:rPr>
                        <a:t>Category</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r>
              <a:tr h="0">
                <a:tc>
                  <a:txBody>
                    <a:bodyPr/>
                    <a:lstStyle/>
                    <a:p>
                      <a:pPr indent="0" marL="0">
                        <a:buNone/>
                      </a:pPr>
                      <a:r>
                        <a:rPr lang="en-US" sz="1050" b="1" dirty="0">
                          <a:solidFill>
                            <a:srgbClr val="0B1F33"/>
                          </a:solidFill>
                        </a:rPr>
                        <a:t>S1</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Abbasi, Humeidi &amp; Wang (2026)</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2026</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Nexa: Enabling Secure, Scalable, and Decentralized Management of Electronic Health Records Using Threshold Cryptography and Public Blockchains</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Multi-party authorisation (Req 3)</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0B1F33"/>
                          </a:solidFill>
                        </a:rPr>
                        <a:t>S2</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Albalwy, Brass &amp; Davies (2021)</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2021</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A Blockchain-based dynamic consent architecture to support clinical genomic data sharing (ConsentChain): Proof-of-concept study</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Policy and context (Req 4)</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0B1F33"/>
                          </a:solidFill>
                        </a:rPr>
                        <a:t>S3</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Al Amin, Altarawneh &amp; Ray (2023)</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2023</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Informed Consent as Patient Driven Policy for Clinical Diagnosis and Treatment: A Smart Contract Based Approach</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Consent representation (Req 1)</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0B1F33"/>
                          </a:solidFill>
                        </a:rPr>
                        <a:t>S4</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Ekholm et al. (2025)</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2025</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Implementing electronic informed consent in rare disease genomics</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Multi-party authorisation (Req 3)</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0B1F33"/>
                          </a:solidFill>
                        </a:rPr>
                        <a:t>S5</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Eneh et al. (2026)</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2026</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Demo: EdgeConsent: On-Chain Attribute-Based Access Control for Data Consent Management</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Temporal and lifecycle (Req 5)</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0B1F33"/>
                          </a:solidFill>
                        </a:rPr>
                        <a:t>S6</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Hagström et al. (2024)</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2024</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Minors’ and guardian access to and use of a national patient portal: A retrospective comparative case study of Sweden and Finland</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Multi-party authorisation (Req 3)</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0B1F33"/>
                          </a:solidFill>
                        </a:rPr>
                        <a:t>S7</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Jaiman &amp; Urovi (2020)</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2020</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A Consent Model for Blockchain-Based Health Data Sharing Platforms</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Policy and context (Req 4)</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0B1F33"/>
                          </a:solidFill>
                        </a:rPr>
                        <a:t>S8</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Zhao &amp; Su (2024)</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2024</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A threshold traceable delegation authorization scheme for data sharing in healthcare</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Security assurance (Req 6)</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0B1F33"/>
                          </a:solidFill>
                        </a:rPr>
                        <a:t>S9</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Li et al. (2026a)</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2026</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Privacy-Preserving Fine-Grained EMR Access Control for IoMT: A Hybrid RBAC-Smart Contract Scheme With Attribute-Based Authorization</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Temporal and lifecycle (Req 5)</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0B1F33"/>
                          </a:solidFill>
                        </a:rPr>
                        <a:t>S10</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Madine et al. (2020)</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2020</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Fully Decentralized Multi-Party Consent Management for Secure Sharing of Patient Health Records</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Multi-party authorisation (Req 3)</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0B1F33"/>
                          </a:solidFill>
                        </a:rPr>
                        <a:t>S11</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Maruthi &amp; Singh (2025)</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2025</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Enhancing Security and Privacy of IoMT Data for Unconscious Patient With Blockchain</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Security assurance (Req 6)</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0B1F33"/>
                          </a:solidFill>
                        </a:rPr>
                        <a:t>S12</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Mei et al. (2026)</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2026</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Efficient Dual-Revocation CP-ABE for Secure and Fine-Grained Data Sharing in IoMT</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Security assurance (Req 6)</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0B1F33"/>
                          </a:solidFill>
                        </a:rPr>
                        <a:t>S13</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Panagoulias et al. (2026)</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2026</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Blockchain-Enabled Trust and Compliance for Clinical AI: Decentralized Governance Without Decentralized Data Storage</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Temporal and lifecycle (Req 5)</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LIST OF THE 25 PRIMARY STUDIES (CONT.)</a:t>
            </a:r>
            <a:endParaRPr lang="en-US" sz="3000" dirty="0"/>
          </a:p>
        </p:txBody>
      </p:sp>
      <p:graphicFrame>
        <p:nvGraphicFramePr>
          <p:cNvPr id="11" name="table"/>
          <p:cNvGraphicFramePr>
            <a:graphicFrameLocks noGrp="1"/>
          </p:cNvGraphicFramePr>
          <p:nvPr>
            <p:extLst>
              <p:ext uri="{D42A27DB-BD31-4B8C-83A1-F6EECF244321}">
                <p14:modId xmlns:p14="http://schemas.microsoft.com/office/powerpoint/2010/main" val="1579011935"/>
              </p:ext>
            </p:extLst>
          </p:nvPr>
        </p:nvGraphicFramePr>
        <p:xfrm>
          <a:off x="457200" y="1097280"/>
          <a:ext cx="11247120" cy="914400"/>
        </p:xfrm>
        <a:graphic>
          <a:graphicData uri="http://schemas.openxmlformats.org/drawingml/2006/table">
            <a:tbl>
              <a:tblPr/>
              <a:tblGrid>
                <a:gridCol w="685800"/>
                <a:gridCol w="1920240"/>
                <a:gridCol w="640080"/>
                <a:gridCol w="5349240"/>
                <a:gridCol w="2651760"/>
              </a:tblGrid>
              <a:tr h="0">
                <a:tc>
                  <a:txBody>
                    <a:bodyPr/>
                    <a:lstStyle/>
                    <a:p>
                      <a:pPr indent="0" marL="0">
                        <a:buNone/>
                      </a:pPr>
                      <a:r>
                        <a:rPr lang="en-US" sz="1050" b="1" dirty="0">
                          <a:solidFill>
                            <a:srgbClr val="FFFFFF"/>
                          </a:solidFill>
                        </a:rPr>
                        <a:t>Study</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050" b="1" dirty="0">
                          <a:solidFill>
                            <a:srgbClr val="FFFFFF"/>
                          </a:solidFill>
                        </a:rPr>
                        <a:t>Author(s)</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050" b="1" dirty="0">
                          <a:solidFill>
                            <a:srgbClr val="FFFFFF"/>
                          </a:solidFill>
                        </a:rPr>
                        <a:t>Year</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050" b="1" dirty="0">
                          <a:solidFill>
                            <a:srgbClr val="FFFFFF"/>
                          </a:solidFill>
                        </a:rPr>
                        <a:t>Title</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050" b="1" dirty="0">
                          <a:solidFill>
                            <a:srgbClr val="FFFFFF"/>
                          </a:solidFill>
                        </a:rPr>
                        <a:t>Category</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r>
              <a:tr h="0">
                <a:tc>
                  <a:txBody>
                    <a:bodyPr/>
                    <a:lstStyle/>
                    <a:p>
                      <a:pPr indent="0" marL="0">
                        <a:buNone/>
                      </a:pPr>
                      <a:r>
                        <a:rPr lang="en-US" sz="1050" b="1" dirty="0">
                          <a:solidFill>
                            <a:srgbClr val="0B1F33"/>
                          </a:solidFill>
                        </a:rPr>
                        <a:t>S14</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Phuyal et al. (2026b)</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2026</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Enabling Cross-Institution Health Data Sharing in Norway: EUDI Wallets, On-Chain Consent, and openEHR↔FHIR Translation</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Identity and authority (Req 2)</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0B1F33"/>
                          </a:solidFill>
                        </a:rPr>
                        <a:t>S15</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Phuyal et al. (2026a)</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2026</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A Blockchain-Based Architecture for Dynamic and Auditable Patient Consent in Secondary Use of Health Data</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Identity and authority (Req 2)</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0B1F33"/>
                          </a:solidFill>
                        </a:rPr>
                        <a:t>S16</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Punia et al. (2025)</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2025</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An access control system for cloud-based healthcare systems driven by blockchain</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Multi-party authorisation (Req 3)</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0B1F33"/>
                          </a:solidFill>
                        </a:rPr>
                        <a:t>S17</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Román-Martínez et al. (2023)</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2023</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Blockchain-Based Service-Oriented Architecture for Consent Management, Access Control, and Auditing</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Policy and context (Req 4)</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0B1F33"/>
                          </a:solidFill>
                        </a:rPr>
                        <a:t>S18</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Hema, Reddy &amp; Shalini (2026)</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2026</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Patient Centric Cryptographic Protection of Cloud Electronic Health Records</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Temporal and lifecycle (Req 5)</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0B1F33"/>
                          </a:solidFill>
                        </a:rPr>
                        <a:t>S19</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SooHoo et al. (2026)</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2026</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Development of the authentication and authorization processes for the iAgree portal, a platform for patient-controlled data sharing across health systems</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Consent representation (Req 1)</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0B1F33"/>
                          </a:solidFill>
                        </a:rPr>
                        <a:t>S20</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Tan, Chi &amp; Lam (2024)</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2024</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Secure and privacy-preserving sharing of personal health records with multi-party pre-authorization verification</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Multi-party authorisation (Req 3)</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0B1F33"/>
                          </a:solidFill>
                        </a:rPr>
                        <a:t>S21</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Tith et al. (2020)</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2020</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Patient consent management by a purpose-based consent model for electronic health record based on blockchain technology</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Policy and context (Req 4)</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0B1F33"/>
                          </a:solidFill>
                        </a:rPr>
                        <a:t>S22</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Tremper et al. (2026)</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2026</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Mainzelliste: Ten years of pseudonymization, record linkage, and informed consent management</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Consent representation (Req 1)</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0B1F33"/>
                          </a:solidFill>
                        </a:rPr>
                        <a:t>S23</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Tseng et al. (2025)</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2025</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EMR-Chain: Decentralized Electronic Medical Record Exchange System</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Identity and authority (Req 2)</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0B1F33"/>
                          </a:solidFill>
                        </a:rPr>
                        <a:t>S24</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Wu et al. (2022)</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2022</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Apply Trust Computing and Privacy Preserving Smart Contracts to Manage, Share, and Analyze Multi-site Clinical Trial Data</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Multi-party authorisation (Req 3)</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0B1F33"/>
                          </a:solidFill>
                        </a:rPr>
                        <a:t>S25</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Wu &amp; Zhang (2025)</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2025</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HealthDID: An efficient and authorizable multi-party privacy-preserving EMR sharing system based on DID</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Security assurance (Req 6)</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COMPARISON AGAINST THE REQUIREMENTS</a:t>
            </a:r>
            <a:endParaRPr lang="en-US" sz="3000" dirty="0"/>
          </a:p>
        </p:txBody>
      </p:sp>
      <p:graphicFrame>
        <p:nvGraphicFramePr>
          <p:cNvPr id="12" name="table"/>
          <p:cNvGraphicFramePr>
            <a:graphicFrameLocks noGrp="1"/>
          </p:cNvGraphicFramePr>
          <p:nvPr>
            <p:extLst>
              <p:ext uri="{D42A27DB-BD31-4B8C-83A1-F6EECF244321}">
                <p14:modId xmlns:p14="http://schemas.microsoft.com/office/powerpoint/2010/main" val="1579011935"/>
              </p:ext>
            </p:extLst>
          </p:nvPr>
        </p:nvGraphicFramePr>
        <p:xfrm>
          <a:off x="1097280" y="1005840"/>
          <a:ext cx="9966960" cy="914400"/>
        </p:xfrm>
        <a:graphic>
          <a:graphicData uri="http://schemas.openxmlformats.org/drawingml/2006/table">
            <a:tbl>
              <a:tblPr/>
              <a:tblGrid>
                <a:gridCol w="3383280"/>
                <a:gridCol w="1097280"/>
                <a:gridCol w="1097280"/>
                <a:gridCol w="1097280"/>
                <a:gridCol w="1097280"/>
                <a:gridCol w="1097280"/>
                <a:gridCol w="1097280"/>
              </a:tblGrid>
              <a:tr h="205740">
                <a:tc>
                  <a:txBody>
                    <a:bodyPr/>
                    <a:lstStyle/>
                    <a:p>
                      <a:pPr indent="0" marL="0">
                        <a:buNone/>
                      </a:pPr>
                      <a:r>
                        <a:rPr lang="en-US" sz="950" b="1" dirty="0">
                          <a:solidFill>
                            <a:srgbClr val="FFFFFF"/>
                          </a:solidFill>
                        </a:rPr>
                        <a:t>Study</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950" b="1" dirty="0">
                          <a:solidFill>
                            <a:srgbClr val="FFFFFF"/>
                          </a:solidFill>
                        </a:rPr>
                        <a:t>Req 1</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950" b="1" dirty="0">
                          <a:solidFill>
                            <a:srgbClr val="FFFFFF"/>
                          </a:solidFill>
                        </a:rPr>
                        <a:t>Req 2</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950" b="1" dirty="0">
                          <a:solidFill>
                            <a:srgbClr val="FFFFFF"/>
                          </a:solidFill>
                        </a:rPr>
                        <a:t>Req 3</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950" b="1" dirty="0">
                          <a:solidFill>
                            <a:srgbClr val="FFFFFF"/>
                          </a:solidFill>
                        </a:rPr>
                        <a:t>Req 4</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950" b="1" dirty="0">
                          <a:solidFill>
                            <a:srgbClr val="FFFFFF"/>
                          </a:solidFill>
                        </a:rPr>
                        <a:t>Req 5</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950" b="1" dirty="0">
                          <a:solidFill>
                            <a:srgbClr val="FFFFFF"/>
                          </a:solidFill>
                        </a:rPr>
                        <a:t>Req 6</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r>
              <a:tr h="205740">
                <a:tc>
                  <a:txBody>
                    <a:bodyPr/>
                    <a:lstStyle/>
                    <a:p>
                      <a:pPr indent="0" marL="0">
                        <a:buNone/>
                      </a:pPr>
                      <a:r>
                        <a:rPr lang="en-US" sz="950" dirty="0">
                          <a:solidFill>
                            <a:srgbClr val="0B1F33"/>
                          </a:solidFill>
                        </a:rPr>
                        <a:t>S1 Abbasi, Humeidi &amp; Wang (2026)</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205740">
                <a:tc>
                  <a:txBody>
                    <a:bodyPr/>
                    <a:lstStyle/>
                    <a:p>
                      <a:pPr indent="0" marL="0">
                        <a:buNone/>
                      </a:pPr>
                      <a:r>
                        <a:rPr lang="en-US" sz="950" dirty="0">
                          <a:solidFill>
                            <a:srgbClr val="0B1F33"/>
                          </a:solidFill>
                        </a:rPr>
                        <a:t>S2 Albalwy, Brass &amp; Davies (2021)</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62828"/>
                          </a:solidFill>
                        </a:rPr>
                        <a:t>No</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205740">
                <a:tc>
                  <a:txBody>
                    <a:bodyPr/>
                    <a:lstStyle/>
                    <a:p>
                      <a:pPr indent="0" marL="0">
                        <a:buNone/>
                      </a:pPr>
                      <a:r>
                        <a:rPr lang="en-US" sz="950" dirty="0">
                          <a:solidFill>
                            <a:srgbClr val="0B1F33"/>
                          </a:solidFill>
                        </a:rPr>
                        <a:t>S3 Al Amin, Altarawneh &amp; Ray (2023)</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205740">
                <a:tc>
                  <a:txBody>
                    <a:bodyPr/>
                    <a:lstStyle/>
                    <a:p>
                      <a:pPr indent="0" marL="0">
                        <a:buNone/>
                      </a:pPr>
                      <a:r>
                        <a:rPr lang="en-US" sz="950" dirty="0">
                          <a:solidFill>
                            <a:srgbClr val="0B1F33"/>
                          </a:solidFill>
                        </a:rPr>
                        <a:t>S4 Ekholm et al. (2025)</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62828"/>
                          </a:solidFill>
                        </a:rPr>
                        <a:t>No</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205740">
                <a:tc>
                  <a:txBody>
                    <a:bodyPr/>
                    <a:lstStyle/>
                    <a:p>
                      <a:pPr indent="0" marL="0">
                        <a:buNone/>
                      </a:pPr>
                      <a:r>
                        <a:rPr lang="en-US" sz="950" dirty="0">
                          <a:solidFill>
                            <a:srgbClr val="0B1F33"/>
                          </a:solidFill>
                        </a:rPr>
                        <a:t>S5 Eneh et al. (2026)</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62828"/>
                          </a:solidFill>
                        </a:rPr>
                        <a:t>No</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205740">
                <a:tc>
                  <a:txBody>
                    <a:bodyPr/>
                    <a:lstStyle/>
                    <a:p>
                      <a:pPr indent="0" marL="0">
                        <a:buNone/>
                      </a:pPr>
                      <a:r>
                        <a:rPr lang="en-US" sz="950" dirty="0">
                          <a:solidFill>
                            <a:srgbClr val="0B1F33"/>
                          </a:solidFill>
                        </a:rPr>
                        <a:t>S6 Hagström et al. (2024)</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205740">
                <a:tc>
                  <a:txBody>
                    <a:bodyPr/>
                    <a:lstStyle/>
                    <a:p>
                      <a:pPr indent="0" marL="0">
                        <a:buNone/>
                      </a:pPr>
                      <a:r>
                        <a:rPr lang="en-US" sz="950" dirty="0">
                          <a:solidFill>
                            <a:srgbClr val="0B1F33"/>
                          </a:solidFill>
                        </a:rPr>
                        <a:t>S7 Jaiman &amp; Urovi (2020)</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62828"/>
                          </a:solidFill>
                        </a:rPr>
                        <a:t>No</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205740">
                <a:tc>
                  <a:txBody>
                    <a:bodyPr/>
                    <a:lstStyle/>
                    <a:p>
                      <a:pPr indent="0" marL="0">
                        <a:buNone/>
                      </a:pPr>
                      <a:r>
                        <a:rPr lang="en-US" sz="950" dirty="0">
                          <a:solidFill>
                            <a:srgbClr val="0B1F33"/>
                          </a:solidFill>
                        </a:rPr>
                        <a:t>S8 Zhao &amp; Su (2024)</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62828"/>
                          </a:solidFill>
                        </a:rPr>
                        <a:t>No</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205740">
                <a:tc>
                  <a:txBody>
                    <a:bodyPr/>
                    <a:lstStyle/>
                    <a:p>
                      <a:pPr indent="0" marL="0">
                        <a:buNone/>
                      </a:pPr>
                      <a:r>
                        <a:rPr lang="en-US" sz="950" dirty="0">
                          <a:solidFill>
                            <a:srgbClr val="0B1F33"/>
                          </a:solidFill>
                        </a:rPr>
                        <a:t>S9 Li et al. (2026a)</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62828"/>
                          </a:solidFill>
                        </a:rPr>
                        <a:t>No</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205740">
                <a:tc>
                  <a:txBody>
                    <a:bodyPr/>
                    <a:lstStyle/>
                    <a:p>
                      <a:pPr indent="0" marL="0">
                        <a:buNone/>
                      </a:pPr>
                      <a:r>
                        <a:rPr lang="en-US" sz="950" dirty="0">
                          <a:solidFill>
                            <a:srgbClr val="0B1F33"/>
                          </a:solidFill>
                        </a:rPr>
                        <a:t>S10 Madine et al. (2020)</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205740">
                <a:tc>
                  <a:txBody>
                    <a:bodyPr/>
                    <a:lstStyle/>
                    <a:p>
                      <a:pPr indent="0" marL="0">
                        <a:buNone/>
                      </a:pPr>
                      <a:r>
                        <a:rPr lang="en-US" sz="950" dirty="0">
                          <a:solidFill>
                            <a:srgbClr val="0B1F33"/>
                          </a:solidFill>
                        </a:rPr>
                        <a:t>S11 Maruthi &amp; Singh (2025)</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62828"/>
                          </a:solidFill>
                        </a:rPr>
                        <a:t>No</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62828"/>
                          </a:solidFill>
                        </a:rPr>
                        <a:t>No</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205740">
                <a:tc>
                  <a:txBody>
                    <a:bodyPr/>
                    <a:lstStyle/>
                    <a:p>
                      <a:pPr indent="0" marL="0">
                        <a:buNone/>
                      </a:pPr>
                      <a:r>
                        <a:rPr lang="en-US" sz="950" dirty="0">
                          <a:solidFill>
                            <a:srgbClr val="0B1F33"/>
                          </a:solidFill>
                        </a:rPr>
                        <a:t>S12 Mei et al. (2026)</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62828"/>
                          </a:solidFill>
                        </a:rPr>
                        <a:t>No</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205740">
                <a:tc>
                  <a:txBody>
                    <a:bodyPr/>
                    <a:lstStyle/>
                    <a:p>
                      <a:pPr indent="0" marL="0">
                        <a:buNone/>
                      </a:pPr>
                      <a:r>
                        <a:rPr lang="en-US" sz="950" dirty="0">
                          <a:solidFill>
                            <a:srgbClr val="0B1F33"/>
                          </a:solidFill>
                        </a:rPr>
                        <a:t>S13 Panagoulias et al. (2026)</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62828"/>
                          </a:solidFill>
                        </a:rPr>
                        <a:t>No</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205740">
                <a:tc>
                  <a:txBody>
                    <a:bodyPr/>
                    <a:lstStyle/>
                    <a:p>
                      <a:pPr indent="0" marL="0">
                        <a:buNone/>
                      </a:pPr>
                      <a:r>
                        <a:rPr lang="en-US" sz="950" dirty="0">
                          <a:solidFill>
                            <a:srgbClr val="0B1F33"/>
                          </a:solidFill>
                        </a:rPr>
                        <a:t>S14 Phuyal et al. (2026b)</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62828"/>
                          </a:solidFill>
                        </a:rPr>
                        <a:t>No</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205740">
                <a:tc>
                  <a:txBody>
                    <a:bodyPr/>
                    <a:lstStyle/>
                    <a:p>
                      <a:pPr indent="0" marL="0">
                        <a:buNone/>
                      </a:pPr>
                      <a:r>
                        <a:rPr lang="en-US" sz="950" dirty="0">
                          <a:solidFill>
                            <a:srgbClr val="0B1F33"/>
                          </a:solidFill>
                        </a:rPr>
                        <a:t>S15 Phuyal et al. (2026a)</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62828"/>
                          </a:solidFill>
                        </a:rPr>
                        <a:t>No</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205740">
                <a:tc>
                  <a:txBody>
                    <a:bodyPr/>
                    <a:lstStyle/>
                    <a:p>
                      <a:pPr indent="0" marL="0">
                        <a:buNone/>
                      </a:pPr>
                      <a:r>
                        <a:rPr lang="en-US" sz="950" dirty="0">
                          <a:solidFill>
                            <a:srgbClr val="0B1F33"/>
                          </a:solidFill>
                        </a:rPr>
                        <a:t>S16 Punia et al. (2025)</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205740">
                <a:tc>
                  <a:txBody>
                    <a:bodyPr/>
                    <a:lstStyle/>
                    <a:p>
                      <a:pPr indent="0" marL="0">
                        <a:buNone/>
                      </a:pPr>
                      <a:r>
                        <a:rPr lang="en-US" sz="950" dirty="0">
                          <a:solidFill>
                            <a:srgbClr val="0B1F33"/>
                          </a:solidFill>
                        </a:rPr>
                        <a:t>S17 Román-Martínez et al. (2023)</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62828"/>
                          </a:solidFill>
                        </a:rPr>
                        <a:t>No</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62828"/>
                          </a:solidFill>
                        </a:rPr>
                        <a:t>No</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205740">
                <a:tc>
                  <a:txBody>
                    <a:bodyPr/>
                    <a:lstStyle/>
                    <a:p>
                      <a:pPr indent="0" marL="0">
                        <a:buNone/>
                      </a:pPr>
                      <a:r>
                        <a:rPr lang="en-US" sz="950" dirty="0">
                          <a:solidFill>
                            <a:srgbClr val="0B1F33"/>
                          </a:solidFill>
                        </a:rPr>
                        <a:t>S18 Hema, Reddy &amp; Shalini (2026)</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62828"/>
                          </a:solidFill>
                        </a:rPr>
                        <a:t>No</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205740">
                <a:tc>
                  <a:txBody>
                    <a:bodyPr/>
                    <a:lstStyle/>
                    <a:p>
                      <a:pPr indent="0" marL="0">
                        <a:buNone/>
                      </a:pPr>
                      <a:r>
                        <a:rPr lang="en-US" sz="950" dirty="0">
                          <a:solidFill>
                            <a:srgbClr val="0B1F33"/>
                          </a:solidFill>
                        </a:rPr>
                        <a:t>S19 SooHoo et al. (2026)</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62828"/>
                          </a:solidFill>
                        </a:rPr>
                        <a:t>No</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205740">
                <a:tc>
                  <a:txBody>
                    <a:bodyPr/>
                    <a:lstStyle/>
                    <a:p>
                      <a:pPr indent="0" marL="0">
                        <a:buNone/>
                      </a:pPr>
                      <a:r>
                        <a:rPr lang="en-US" sz="950" dirty="0">
                          <a:solidFill>
                            <a:srgbClr val="0B1F33"/>
                          </a:solidFill>
                        </a:rPr>
                        <a:t>S20 Tan, Chi &amp; Lam (2024)</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62828"/>
                          </a:solidFill>
                        </a:rPr>
                        <a:t>No</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205740">
                <a:tc>
                  <a:txBody>
                    <a:bodyPr/>
                    <a:lstStyle/>
                    <a:p>
                      <a:pPr indent="0" marL="0">
                        <a:buNone/>
                      </a:pPr>
                      <a:r>
                        <a:rPr lang="en-US" sz="950" dirty="0">
                          <a:solidFill>
                            <a:srgbClr val="0B1F33"/>
                          </a:solidFill>
                        </a:rPr>
                        <a:t>S21 Tith et al. (2020)</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62828"/>
                          </a:solidFill>
                        </a:rPr>
                        <a:t>No</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205740">
                <a:tc>
                  <a:txBody>
                    <a:bodyPr/>
                    <a:lstStyle/>
                    <a:p>
                      <a:pPr indent="0" marL="0">
                        <a:buNone/>
                      </a:pPr>
                      <a:r>
                        <a:rPr lang="en-US" sz="950" dirty="0">
                          <a:solidFill>
                            <a:srgbClr val="0B1F33"/>
                          </a:solidFill>
                        </a:rPr>
                        <a:t>S22 Tremper et al. (2026)</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62828"/>
                          </a:solidFill>
                        </a:rPr>
                        <a:t>No</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205740">
                <a:tc>
                  <a:txBody>
                    <a:bodyPr/>
                    <a:lstStyle/>
                    <a:p>
                      <a:pPr indent="0" marL="0">
                        <a:buNone/>
                      </a:pPr>
                      <a:r>
                        <a:rPr lang="en-US" sz="950" dirty="0">
                          <a:solidFill>
                            <a:srgbClr val="0B1F33"/>
                          </a:solidFill>
                        </a:rPr>
                        <a:t>S23 Tseng et al. (2025)</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62828"/>
                          </a:solidFill>
                        </a:rPr>
                        <a:t>No</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205740">
                <a:tc>
                  <a:txBody>
                    <a:bodyPr/>
                    <a:lstStyle/>
                    <a:p>
                      <a:pPr indent="0" marL="0">
                        <a:buNone/>
                      </a:pPr>
                      <a:r>
                        <a:rPr lang="en-US" sz="950" dirty="0">
                          <a:solidFill>
                            <a:srgbClr val="0B1F33"/>
                          </a:solidFill>
                        </a:rPr>
                        <a:t>S24 Wu et al. (2022)</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205740">
                <a:tc>
                  <a:txBody>
                    <a:bodyPr/>
                    <a:lstStyle/>
                    <a:p>
                      <a:pPr indent="0" marL="0">
                        <a:buNone/>
                      </a:pPr>
                      <a:r>
                        <a:rPr lang="en-US" sz="950" dirty="0">
                          <a:solidFill>
                            <a:srgbClr val="0B1F33"/>
                          </a:solidFill>
                        </a:rPr>
                        <a:t>S25 Wu &amp; Zhang (2025)</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62828"/>
                          </a:solidFill>
                        </a:rPr>
                        <a:t>No</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62828"/>
                          </a:solidFill>
                        </a:rPr>
                        <a:t>No</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62828"/>
                          </a:solidFill>
                        </a:rPr>
                        <a:t>No</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SYNTHESIS OF THE REVIEW</a:t>
            </a:r>
            <a:endParaRPr lang="en-US" sz="3000" dirty="0"/>
          </a:p>
        </p:txBody>
      </p:sp>
      <p:sp>
        <p:nvSpPr>
          <p:cNvPr id="4" name="F5 panel"/>
          <p:cNvSpPr/>
          <p:nvPr/>
        </p:nvSpPr>
        <p:spPr>
          <a:xfrm>
            <a:off x="822960" y="1143000"/>
            <a:ext cx="10515600" cy="5349240"/>
          </a:xfrm>
          <a:prstGeom prst="roundRect">
            <a:avLst>
              <a:gd name="adj" fmla="val 2051"/>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pic>
        <p:nvPicPr>
          <p:cNvPr id="5" name="F5" descr="/tmp/deck/img/F5.png">    </p:cNvPr>
          <p:cNvPicPr>
            <a:picLocks noChangeAspect="1"/>
          </p:cNvPicPr>
          <p:nvPr/>
        </p:nvPicPr>
        <p:blipFill>
          <a:blip r:embed="rId1"/>
          <a:stretch>
            <a:fillRect/>
          </a:stretch>
        </p:blipFill>
        <p:spPr>
          <a:xfrm>
            <a:off x="969007" y="1252728"/>
            <a:ext cx="10223506" cy="5129784"/>
          </a:xfrm>
          <a:prstGeom prst="rect">
            <a:avLst/>
          </a:prstGeom>
        </p:spPr>
      </p:pic>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a:t>
            </a:r>
            <a:r>
              <a:rPr lang="en-US" sz="3000" b="1" dirty="0">
                <a:solidFill>
                  <a:srgbClr val="0B1F33"/>
                </a:solidFill>
                <a:highlight>
                  <a:srgbClr val="FFFF00"/>
                </a:highlight>
                <a:latin typeface="Arial" pitchFamily="34" charset="0"/>
                <a:ea typeface="Arial" pitchFamily="34" charset="-122"/>
                <a:cs typeface="Arial" pitchFamily="34" charset="-120"/>
              </a:rPr>
              <a:t>RESEARCH GAP</a:t>
            </a:r>
            <a:endParaRPr lang="en-US" sz="3000" dirty="0"/>
          </a:p>
        </p:txBody>
      </p:sp>
      <p:sp>
        <p:nvSpPr>
          <p:cNvPr id="4" name="gap box"/>
          <p:cNvSpPr/>
          <p:nvPr/>
        </p:nvSpPr>
        <p:spPr>
          <a:xfrm>
            <a:off x="822960" y="1371600"/>
            <a:ext cx="10515600" cy="4572000"/>
          </a:xfrm>
          <a:prstGeom prst="roundRect">
            <a:avLst>
              <a:gd name="adj" fmla="val 2400"/>
            </a:avLst>
          </a:prstGeom>
          <a:solidFill>
            <a:srgbClr val="0B2A4A">
              <a:alpha val="85000"/>
            </a:srgbClr>
          </a:solidFill>
          <a:ln w="25400">
            <a:solidFill>
              <a:srgbClr val="1FB5D6"/>
            </a:solidFill>
            <a:prstDash val="solid"/>
          </a:ln>
        </p:spPr>
      </p:sp>
      <p:sp>
        <p:nvSpPr>
          <p:cNvPr id="5" name="gap text"/>
          <p:cNvSpPr txBox="1"/>
          <p:nvPr/>
        </p:nvSpPr>
        <p:spPr>
          <a:xfrm>
            <a:off x="1188720" y="1554480"/>
            <a:ext cx="9784080" cy="4206240"/>
          </a:xfrm>
          <a:prstGeom prst="rect">
            <a:avLst/>
          </a:prstGeom>
          <a:noFill/>
          <a:ln/>
        </p:spPr>
        <p:txBody>
          <a:bodyPr wrap="square" rtlCol="0" anchor="ctr"/>
          <a:lstStyle/>
          <a:p>
            <a:pPr algn="ctr" indent="0" marL="0">
              <a:buNone/>
            </a:pPr>
            <a:r>
              <a:rPr lang="en-US" sz="2400" i="1" dirty="0">
                <a:solidFill>
                  <a:srgbClr val="FFFFFF"/>
                </a:solidFill>
              </a:rPr>
              <a:t>​</a:t>
            </a:r>
            <a:r>
              <a:rPr lang="en-US" sz="2400" i="1" dirty="0">
                <a:solidFill>
                  <a:srgbClr val="0B1F33"/>
                </a:solidFill>
                <a:highlight>
                  <a:srgbClr val="FFFF00"/>
                </a:highlight>
              </a:rPr>
              <a:t>Existing healthcare consent and access-control research provides many of the necessary technological building blocks, but there remains a need for an integrated Trust Computing framework that treats patient consent as a security-bearing and evaluable authorisation object. Such a framework should be capable of representing the relevant trust conditions, verifying the participating entities and their authority, establishing collective authorisation where required, and enforcing the policy and data-scope constraints associated with the consent.</a:t>
            </a:r>
            <a:endParaRPr lang="en-US" sz="24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THE MAIN RESEARCH QUESTION</a:t>
            </a:r>
            <a:endParaRPr lang="en-US" sz="3000" dirty="0"/>
          </a:p>
        </p:txBody>
      </p:sp>
      <p:sp>
        <p:nvSpPr>
          <p:cNvPr id="4" name="rq box"/>
          <p:cNvSpPr/>
          <p:nvPr/>
        </p:nvSpPr>
        <p:spPr>
          <a:xfrm>
            <a:off x="1188720" y="2011680"/>
            <a:ext cx="9784080" cy="2560320"/>
          </a:xfrm>
          <a:prstGeom prst="roundRect">
            <a:avLst>
              <a:gd name="adj" fmla="val 5357"/>
            </a:avLst>
          </a:prstGeom>
          <a:solidFill>
            <a:srgbClr val="0B2A4A">
              <a:alpha val="85000"/>
            </a:srgbClr>
          </a:solidFill>
          <a:ln w="25400">
            <a:solidFill>
              <a:srgbClr val="1FB5D6"/>
            </a:solidFill>
            <a:prstDash val="solid"/>
          </a:ln>
        </p:spPr>
      </p:sp>
      <p:sp>
        <p:nvSpPr>
          <p:cNvPr id="5" name="rq text"/>
          <p:cNvSpPr txBox="1"/>
          <p:nvPr/>
        </p:nvSpPr>
        <p:spPr>
          <a:xfrm>
            <a:off x="1463040" y="2103120"/>
            <a:ext cx="9235440" cy="2377440"/>
          </a:xfrm>
          <a:prstGeom prst="rect">
            <a:avLst/>
          </a:prstGeom>
          <a:noFill/>
          <a:ln/>
        </p:spPr>
        <p:txBody>
          <a:bodyPr wrap="square" rtlCol="0" anchor="ctr"/>
          <a:lstStyle/>
          <a:p>
            <a:pPr algn="ctr" indent="0" marL="0">
              <a:buNone/>
            </a:pPr>
            <a:r>
              <a:rPr lang="en-US" sz="2600" i="1" dirty="0">
                <a:solidFill>
                  <a:srgbClr val="FFFFFF"/>
                </a:solidFill>
              </a:rPr>
              <a:t>How can a trust-oriented computing framework establish and enforce trustworthy multi-party consent for decentralised healthcare data sharing under identity, authority, and policy constraints?</a:t>
            </a:r>
            <a:endParaRPr lang="en-US" sz="26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a:t>
            </a:r>
            <a:r>
              <a:rPr lang="en-US" sz="3000" b="1" dirty="0">
                <a:solidFill>
                  <a:srgbClr val="0B1F33"/>
                </a:solidFill>
                <a:highlight>
                  <a:srgbClr val="FFFF00"/>
                </a:highlight>
                <a:latin typeface="Arial" pitchFamily="34" charset="0"/>
                <a:ea typeface="Arial" pitchFamily="34" charset="-122"/>
                <a:cs typeface="Arial" pitchFamily="34" charset="-120"/>
              </a:rPr>
              <a:t>SUB-RESEARCH QUESTIONS</a:t>
            </a:r>
            <a:endParaRPr lang="en-US" sz="3000" dirty="0"/>
          </a:p>
        </p:txBody>
      </p:sp>
      <p:sp>
        <p:nvSpPr>
          <p:cNvPr id="4" name="card RQ1"/>
          <p:cNvSpPr/>
          <p:nvPr/>
        </p:nvSpPr>
        <p:spPr>
          <a:xfrm>
            <a:off x="640080" y="1143000"/>
            <a:ext cx="5349240" cy="1645920"/>
          </a:xfrm>
          <a:prstGeom prst="roundRect">
            <a:avLst>
              <a:gd name="adj" fmla="val 5556"/>
            </a:avLst>
          </a:prstGeom>
          <a:solidFill>
            <a:srgbClr val="FFFFFF">
              <a:alpha val="92000"/>
            </a:srgbClr>
          </a:solidFill>
          <a:ln w="19050">
            <a:solidFill>
              <a:srgbClr val="1FB5D6"/>
            </a:solidFill>
            <a:prstDash val="solid"/>
          </a:ln>
        </p:spPr>
      </p:sp>
      <p:sp>
        <p:nvSpPr>
          <p:cNvPr id="5" name="card text RQ1"/>
          <p:cNvSpPr txBox="1"/>
          <p:nvPr/>
        </p:nvSpPr>
        <p:spPr>
          <a:xfrm>
            <a:off x="777240" y="1234440"/>
            <a:ext cx="5074920" cy="1463040"/>
          </a:xfrm>
          <a:prstGeom prst="rect">
            <a:avLst/>
          </a:prstGeom>
          <a:noFill/>
          <a:ln/>
        </p:spPr>
        <p:txBody>
          <a:bodyPr wrap="square" rtlCol="0" anchor="t"/>
          <a:lstStyle/>
          <a:p>
            <a:pPr indent="0" marL="0">
              <a:spcAft>
                <a:spcPts val="400"/>
              </a:spcAft>
              <a:buNone/>
            </a:pPr>
            <a:r>
              <a:rPr lang="en-US" sz="1900" b="1" dirty="0">
                <a:solidFill>
                  <a:srgbClr val="0B2A4A"/>
                </a:solidFill>
              </a:rPr>
              <a:t>RQ1</a:t>
            </a:r>
            <a:endParaRPr lang="en-US" sz="1900" dirty="0"/>
          </a:p>
          <a:p>
            <a:pPr indent="0" marL="0">
              <a:spcAft>
                <a:spcPts val="400"/>
              </a:spcAft>
              <a:buNone/>
            </a:pPr>
            <a:r>
              <a:rPr lang="en-US" sz="1250" dirty="0">
                <a:solidFill>
                  <a:srgbClr val="0B1F33"/>
                </a:solidFill>
              </a:rPr>
              <a:t>​</a:t>
            </a:r>
            <a:r>
              <a:rPr lang="en-US" sz="1250" dirty="0">
                <a:solidFill>
                  <a:srgbClr val="0B1F33"/>
                </a:solidFill>
                <a:highlight>
                  <a:srgbClr val="FFFF00"/>
                </a:highlight>
              </a:rPr>
              <a:t>How can patient consent be modelled as a trust-aware authorisation object that explicitly represents identity, authority requirements, policy constraints, and authorisation evidence?</a:t>
            </a:r>
            <a:endParaRPr lang="en-US" sz="1900" dirty="0"/>
          </a:p>
        </p:txBody>
      </p:sp>
      <p:sp>
        <p:nvSpPr>
          <p:cNvPr id="6" name="card RQ2"/>
          <p:cNvSpPr/>
          <p:nvPr/>
        </p:nvSpPr>
        <p:spPr>
          <a:xfrm>
            <a:off x="6172200" y="1143000"/>
            <a:ext cx="5349240" cy="1645920"/>
          </a:xfrm>
          <a:prstGeom prst="roundRect">
            <a:avLst>
              <a:gd name="adj" fmla="val 5556"/>
            </a:avLst>
          </a:prstGeom>
          <a:solidFill>
            <a:srgbClr val="FFFFFF">
              <a:alpha val="92000"/>
            </a:srgbClr>
          </a:solidFill>
          <a:ln w="19050">
            <a:solidFill>
              <a:srgbClr val="1FB5D6"/>
            </a:solidFill>
            <a:prstDash val="solid"/>
          </a:ln>
        </p:spPr>
      </p:sp>
      <p:sp>
        <p:nvSpPr>
          <p:cNvPr id="7" name="card text RQ2"/>
          <p:cNvSpPr txBox="1"/>
          <p:nvPr/>
        </p:nvSpPr>
        <p:spPr>
          <a:xfrm>
            <a:off x="6309360" y="1234440"/>
            <a:ext cx="5074920" cy="1463040"/>
          </a:xfrm>
          <a:prstGeom prst="rect">
            <a:avLst/>
          </a:prstGeom>
          <a:noFill/>
          <a:ln/>
        </p:spPr>
        <p:txBody>
          <a:bodyPr wrap="square" rtlCol="0" anchor="t"/>
          <a:lstStyle/>
          <a:p>
            <a:pPr indent="0" marL="0">
              <a:spcAft>
                <a:spcPts val="400"/>
              </a:spcAft>
              <a:buNone/>
            </a:pPr>
            <a:r>
              <a:rPr lang="en-US" sz="1900" b="1" dirty="0">
                <a:solidFill>
                  <a:srgbClr val="0B2A4A"/>
                </a:solidFill>
              </a:rPr>
              <a:t>RQ2</a:t>
            </a:r>
            <a:endParaRPr lang="en-US" sz="1900" dirty="0"/>
          </a:p>
          <a:p>
            <a:pPr indent="0" marL="0">
              <a:spcAft>
                <a:spcPts val="400"/>
              </a:spcAft>
              <a:buNone/>
            </a:pPr>
            <a:r>
              <a:rPr lang="en-US" sz="1250" dirty="0">
                <a:solidFill>
                  <a:srgbClr val="0B1F33"/>
                </a:solidFill>
              </a:rPr>
              <a:t>​</a:t>
            </a:r>
            <a:r>
              <a:rPr lang="en-US" sz="1250" dirty="0">
                <a:solidFill>
                  <a:srgbClr val="0B1F33"/>
                </a:solidFill>
                <a:highlight>
                  <a:srgbClr val="FFFF00"/>
                </a:highlight>
              </a:rPr>
              <a:t>How can decentralised identities and verifiable credentials establish trustworthy participants while explicitly separating identity authentication from authorisation authority?</a:t>
            </a:r>
            <a:endParaRPr lang="en-US" sz="1900" dirty="0"/>
          </a:p>
        </p:txBody>
      </p:sp>
      <p:sp>
        <p:nvSpPr>
          <p:cNvPr id="8" name="card RQ3"/>
          <p:cNvSpPr/>
          <p:nvPr/>
        </p:nvSpPr>
        <p:spPr>
          <a:xfrm>
            <a:off x="640080" y="2926080"/>
            <a:ext cx="5349240" cy="1645920"/>
          </a:xfrm>
          <a:prstGeom prst="roundRect">
            <a:avLst>
              <a:gd name="adj" fmla="val 5556"/>
            </a:avLst>
          </a:prstGeom>
          <a:solidFill>
            <a:srgbClr val="FFFFFF">
              <a:alpha val="92000"/>
            </a:srgbClr>
          </a:solidFill>
          <a:ln w="19050">
            <a:solidFill>
              <a:srgbClr val="1FB5D6"/>
            </a:solidFill>
            <a:prstDash val="solid"/>
          </a:ln>
        </p:spPr>
      </p:sp>
      <p:sp>
        <p:nvSpPr>
          <p:cNvPr id="9" name="card text RQ3"/>
          <p:cNvSpPr txBox="1"/>
          <p:nvPr/>
        </p:nvSpPr>
        <p:spPr>
          <a:xfrm>
            <a:off x="777240" y="3017520"/>
            <a:ext cx="5074920" cy="1463040"/>
          </a:xfrm>
          <a:prstGeom prst="rect">
            <a:avLst/>
          </a:prstGeom>
          <a:noFill/>
          <a:ln/>
        </p:spPr>
        <p:txBody>
          <a:bodyPr wrap="square" rtlCol="0" anchor="t"/>
          <a:lstStyle/>
          <a:p>
            <a:pPr indent="0" marL="0">
              <a:spcAft>
                <a:spcPts val="400"/>
              </a:spcAft>
              <a:buNone/>
            </a:pPr>
            <a:r>
              <a:rPr lang="en-US" sz="1900" b="1" dirty="0">
                <a:solidFill>
                  <a:srgbClr val="0B2A4A"/>
                </a:solidFill>
              </a:rPr>
              <a:t>RQ3</a:t>
            </a:r>
            <a:endParaRPr lang="en-US" sz="1900" dirty="0"/>
          </a:p>
          <a:p>
            <a:pPr indent="0" marL="0">
              <a:spcAft>
                <a:spcPts val="400"/>
              </a:spcAft>
              <a:buNone/>
            </a:pPr>
            <a:r>
              <a:rPr lang="en-US" sz="1250" dirty="0">
                <a:solidFill>
                  <a:srgbClr val="0B1F33"/>
                </a:solidFill>
              </a:rPr>
              <a:t>​</a:t>
            </a:r>
            <a:r>
              <a:rPr lang="en-US" sz="1250" dirty="0">
                <a:solidFill>
                  <a:srgbClr val="0B1F33"/>
                </a:solidFill>
                <a:highlight>
                  <a:srgbClr val="FFFF00"/>
                </a:highlight>
              </a:rPr>
              <a:t>How can multiple independently verified participants jointly establish a trustworthy consent decision without allowing a single participant to unilaterally authorise sensitive healthcare data access?</a:t>
            </a:r>
            <a:endParaRPr lang="en-US" sz="1900" dirty="0"/>
          </a:p>
        </p:txBody>
      </p:sp>
      <p:sp>
        <p:nvSpPr>
          <p:cNvPr id="10" name="card RQ4"/>
          <p:cNvSpPr/>
          <p:nvPr/>
        </p:nvSpPr>
        <p:spPr>
          <a:xfrm>
            <a:off x="6172200" y="2926080"/>
            <a:ext cx="5349240" cy="1645920"/>
          </a:xfrm>
          <a:prstGeom prst="roundRect">
            <a:avLst>
              <a:gd name="adj" fmla="val 5556"/>
            </a:avLst>
          </a:prstGeom>
          <a:solidFill>
            <a:srgbClr val="FFFFFF">
              <a:alpha val="92000"/>
            </a:srgbClr>
          </a:solidFill>
          <a:ln w="19050">
            <a:solidFill>
              <a:srgbClr val="1FB5D6"/>
            </a:solidFill>
            <a:prstDash val="solid"/>
          </a:ln>
        </p:spPr>
      </p:sp>
      <p:sp>
        <p:nvSpPr>
          <p:cNvPr id="11" name="card text RQ4"/>
          <p:cNvSpPr txBox="1"/>
          <p:nvPr/>
        </p:nvSpPr>
        <p:spPr>
          <a:xfrm>
            <a:off x="6309360" y="3017520"/>
            <a:ext cx="5074920" cy="1463040"/>
          </a:xfrm>
          <a:prstGeom prst="rect">
            <a:avLst/>
          </a:prstGeom>
          <a:noFill/>
          <a:ln/>
        </p:spPr>
        <p:txBody>
          <a:bodyPr wrap="square" rtlCol="0" anchor="t"/>
          <a:lstStyle/>
          <a:p>
            <a:pPr indent="0" marL="0">
              <a:spcAft>
                <a:spcPts val="400"/>
              </a:spcAft>
              <a:buNone/>
            </a:pPr>
            <a:r>
              <a:rPr lang="en-US" sz="1900" b="1" dirty="0">
                <a:solidFill>
                  <a:srgbClr val="0B2A4A"/>
                </a:solidFill>
              </a:rPr>
              <a:t>RQ4</a:t>
            </a:r>
            <a:endParaRPr lang="en-US" sz="1900" dirty="0"/>
          </a:p>
          <a:p>
            <a:pPr indent="0" marL="0">
              <a:spcAft>
                <a:spcPts val="400"/>
              </a:spcAft>
              <a:buNone/>
            </a:pPr>
            <a:r>
              <a:rPr lang="en-US" sz="1250" dirty="0">
                <a:solidFill>
                  <a:srgbClr val="0B1F33"/>
                </a:solidFill>
              </a:rPr>
              <a:t>​</a:t>
            </a:r>
            <a:r>
              <a:rPr lang="en-US" sz="1250" dirty="0">
                <a:solidFill>
                  <a:srgbClr val="0B1F33"/>
                </a:solidFill>
                <a:highlight>
                  <a:srgbClr val="FFFF00"/>
                </a:highlight>
              </a:rPr>
              <a:t>How can policy, purpose, and data-scope constraints be incorporated into authorisation decisions so that valid identities and sufficient approvals cannot be used to obtain unauthorised healthcare data?</a:t>
            </a:r>
            <a:endParaRPr lang="en-US" sz="1900" dirty="0"/>
          </a:p>
        </p:txBody>
      </p:sp>
      <p:sp>
        <p:nvSpPr>
          <p:cNvPr id="12" name="card RQ5"/>
          <p:cNvSpPr/>
          <p:nvPr/>
        </p:nvSpPr>
        <p:spPr>
          <a:xfrm>
            <a:off x="640080" y="4709160"/>
            <a:ext cx="5349240" cy="1645920"/>
          </a:xfrm>
          <a:prstGeom prst="roundRect">
            <a:avLst>
              <a:gd name="adj" fmla="val 5556"/>
            </a:avLst>
          </a:prstGeom>
          <a:solidFill>
            <a:srgbClr val="FFFFFF">
              <a:alpha val="92000"/>
            </a:srgbClr>
          </a:solidFill>
          <a:ln w="19050">
            <a:solidFill>
              <a:srgbClr val="1FB5D6"/>
            </a:solidFill>
            <a:prstDash val="solid"/>
          </a:ln>
        </p:spPr>
      </p:sp>
      <p:sp>
        <p:nvSpPr>
          <p:cNvPr id="13" name="card text RQ5"/>
          <p:cNvSpPr txBox="1"/>
          <p:nvPr/>
        </p:nvSpPr>
        <p:spPr>
          <a:xfrm>
            <a:off x="777240" y="4800600"/>
            <a:ext cx="5074920" cy="1463040"/>
          </a:xfrm>
          <a:prstGeom prst="rect">
            <a:avLst/>
          </a:prstGeom>
          <a:noFill/>
          <a:ln/>
        </p:spPr>
        <p:txBody>
          <a:bodyPr wrap="square" rtlCol="0" anchor="t"/>
          <a:lstStyle/>
          <a:p>
            <a:pPr indent="0" marL="0">
              <a:spcAft>
                <a:spcPts val="400"/>
              </a:spcAft>
              <a:buNone/>
            </a:pPr>
            <a:r>
              <a:rPr lang="en-US" sz="1900" b="1" dirty="0">
                <a:solidFill>
                  <a:srgbClr val="0B2A4A"/>
                </a:solidFill>
              </a:rPr>
              <a:t>RQ5</a:t>
            </a:r>
            <a:endParaRPr lang="en-US" sz="1900" dirty="0"/>
          </a:p>
          <a:p>
            <a:pPr indent="0" marL="0">
              <a:spcAft>
                <a:spcPts val="400"/>
              </a:spcAft>
              <a:buNone/>
            </a:pPr>
            <a:r>
              <a:rPr lang="en-US" sz="1250" dirty="0">
                <a:solidFill>
                  <a:srgbClr val="0B1F33"/>
                </a:solidFill>
              </a:rPr>
              <a:t>​</a:t>
            </a:r>
            <a:r>
              <a:rPr lang="en-US" sz="1250" dirty="0">
                <a:solidFill>
                  <a:srgbClr val="0B1F33"/>
                </a:solidFill>
                <a:highlight>
                  <a:srgbClr val="FFFF00"/>
                </a:highlight>
              </a:rPr>
              <a:t>How can temporal validity and consent lifecycle controls ensure that an authorisation remains valid only within its permitted time interval and lifecycle state, and is rejected after expiration, revocation, or an unauthorised state transition?</a:t>
            </a:r>
            <a:endParaRPr lang="en-US" sz="1900" dirty="0"/>
          </a:p>
        </p:txBody>
      </p:sp>
      <p:sp>
        <p:nvSpPr>
          <p:cNvPr id="14" name="card RQ6"/>
          <p:cNvSpPr/>
          <p:nvPr/>
        </p:nvSpPr>
        <p:spPr>
          <a:xfrm>
            <a:off x="6172200" y="4709160"/>
            <a:ext cx="5349240" cy="1645920"/>
          </a:xfrm>
          <a:prstGeom prst="roundRect">
            <a:avLst>
              <a:gd name="adj" fmla="val 5556"/>
            </a:avLst>
          </a:prstGeom>
          <a:solidFill>
            <a:srgbClr val="FFFFFF">
              <a:alpha val="92000"/>
            </a:srgbClr>
          </a:solidFill>
          <a:ln w="19050">
            <a:solidFill>
              <a:srgbClr val="1FB5D6"/>
            </a:solidFill>
            <a:prstDash val="solid"/>
          </a:ln>
        </p:spPr>
      </p:sp>
      <p:sp>
        <p:nvSpPr>
          <p:cNvPr id="15" name="card text RQ6"/>
          <p:cNvSpPr txBox="1"/>
          <p:nvPr/>
        </p:nvSpPr>
        <p:spPr>
          <a:xfrm>
            <a:off x="6309360" y="4800600"/>
            <a:ext cx="5074920" cy="1463040"/>
          </a:xfrm>
          <a:prstGeom prst="rect">
            <a:avLst/>
          </a:prstGeom>
          <a:noFill/>
          <a:ln/>
        </p:spPr>
        <p:txBody>
          <a:bodyPr wrap="square" rtlCol="0" anchor="t"/>
          <a:lstStyle/>
          <a:p>
            <a:pPr indent="0" marL="0">
              <a:spcAft>
                <a:spcPts val="400"/>
              </a:spcAft>
              <a:buNone/>
            </a:pPr>
            <a:r>
              <a:rPr lang="en-US" sz="1900" b="1" dirty="0">
                <a:solidFill>
                  <a:srgbClr val="0B2A4A"/>
                </a:solidFill>
              </a:rPr>
              <a:t>RQ6</a:t>
            </a:r>
            <a:endParaRPr lang="en-US" sz="1900" dirty="0"/>
          </a:p>
          <a:p>
            <a:pPr indent="0" marL="0">
              <a:spcAft>
                <a:spcPts val="400"/>
              </a:spcAft>
              <a:buNone/>
            </a:pPr>
            <a:r>
              <a:rPr lang="en-US" sz="1250" dirty="0">
                <a:solidFill>
                  <a:srgbClr val="0B1F33"/>
                </a:solidFill>
              </a:rPr>
              <a:t>​</a:t>
            </a:r>
            <a:r>
              <a:rPr lang="en-US" sz="1250" dirty="0">
                <a:solidFill>
                  <a:srgbClr val="0B1F33"/>
                </a:solidFill>
                <a:highlight>
                  <a:srgbClr val="FFFF00"/>
                </a:highlight>
              </a:rPr>
              <a:t>How can the security properties of the proposed trust-oriented authorisation mechanism be formally defined and empirically evaluated to demonstrate that the implemented framework correctly enforces authorised and unauthorised healthcare data-access decisions?</a:t>
            </a:r>
            <a:endParaRPr lang="en-US" sz="19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RESEARCH OBJECTIVES</a:t>
            </a:r>
            <a:endParaRPr lang="en-US" sz="3000" dirty="0"/>
          </a:p>
        </p:txBody>
      </p:sp>
      <p:graphicFrame>
        <p:nvGraphicFramePr>
          <p:cNvPr id="17" name="table"/>
          <p:cNvGraphicFramePr>
            <a:graphicFrameLocks noGrp="1"/>
          </p:cNvGraphicFramePr>
          <p:nvPr>
            <p:extLst>
              <p:ext uri="{D42A27DB-BD31-4B8C-83A1-F6EECF244321}">
                <p14:modId xmlns:p14="http://schemas.microsoft.com/office/powerpoint/2010/main" val="1579011935"/>
              </p:ext>
            </p:extLst>
          </p:nvPr>
        </p:nvGraphicFramePr>
        <p:xfrm>
          <a:off x="731520" y="1188720"/>
          <a:ext cx="10698480" cy="914400"/>
        </p:xfrm>
        <a:graphic>
          <a:graphicData uri="http://schemas.openxmlformats.org/drawingml/2006/table">
            <a:tbl>
              <a:tblPr/>
              <a:tblGrid>
                <a:gridCol w="3017520"/>
                <a:gridCol w="6035040"/>
                <a:gridCol w="1645920"/>
              </a:tblGrid>
              <a:tr h="731520">
                <a:tc>
                  <a:txBody>
                    <a:bodyPr/>
                    <a:lstStyle/>
                    <a:p>
                      <a:pPr indent="0" marL="0">
                        <a:buNone/>
                      </a:pPr>
                      <a:r>
                        <a:rPr lang="en-US" sz="1300" b="1" dirty="0">
                          <a:solidFill>
                            <a:srgbClr val="FFFFFF"/>
                          </a:solidFill>
                        </a:rPr>
                        <a:t>Objective</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300" b="1" dirty="0">
                          <a:solidFill>
                            <a:srgbClr val="FFFFFF"/>
                          </a:solidFill>
                        </a:rPr>
                        <a:t>Description</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300" b="1" dirty="0">
                          <a:solidFill>
                            <a:srgbClr val="FFFFFF"/>
                          </a:solidFill>
                        </a:rPr>
                        <a:t>Status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r>
              <a:tr h="731520">
                <a:tc>
                  <a:txBody>
                    <a:bodyPr/>
                    <a:lstStyle/>
                    <a:p>
                      <a:pPr indent="0" marL="0">
                        <a:buNone/>
                      </a:pPr>
                      <a:r>
                        <a:rPr lang="en-US" sz="1300" b="1" dirty="0">
                          <a:solidFill>
                            <a:srgbClr val="0B1F33"/>
                          </a:solidFill>
                        </a:rPr>
                        <a:t>​</a:t>
                      </a:r>
                      <a:r>
                        <a:rPr lang="en-US" sz="1300" b="1" dirty="0">
                          <a:solidFill>
                            <a:srgbClr val="0B1F33"/>
                          </a:solidFill>
                          <a:highlight>
                            <a:srgbClr val="FFFF00"/>
                          </a:highlight>
                        </a:rPr>
                        <a:t>RO1 – Trust-Centric Consent Model</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a:t>
                      </a:r>
                      <a:r>
                        <a:rPr lang="en-US" sz="1300" dirty="0">
                          <a:solidFill>
                            <a:srgbClr val="0B1F33"/>
                          </a:solidFill>
                          <a:highlight>
                            <a:srgbClr val="FFFF00"/>
                          </a:highlight>
                        </a:rPr>
                        <a:t>To develop a trust-aware consent model that represents patient consent as a structured and evaluable authorisation object.</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Done</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731520">
                <a:tc>
                  <a:txBody>
                    <a:bodyPr/>
                    <a:lstStyle/>
                    <a:p>
                      <a:pPr indent="0" marL="0">
                        <a:buNone/>
                      </a:pPr>
                      <a:r>
                        <a:rPr lang="en-US" sz="1300" b="1" dirty="0">
                          <a:solidFill>
                            <a:srgbClr val="0B1F33"/>
                          </a:solidFill>
                        </a:rPr>
                        <a:t>​</a:t>
                      </a:r>
                      <a:r>
                        <a:rPr lang="en-US" sz="1300" b="1" dirty="0">
                          <a:solidFill>
                            <a:srgbClr val="0B1F33"/>
                          </a:solidFill>
                          <a:highlight>
                            <a:srgbClr val="FFFF00"/>
                          </a:highlight>
                        </a:rPr>
                        <a:t>RO2 – Decentralised Identity and Authority Trust</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a:t>
                      </a:r>
                      <a:r>
                        <a:rPr lang="en-US" sz="1300" dirty="0">
                          <a:solidFill>
                            <a:srgbClr val="0B1F33"/>
                          </a:solidFill>
                          <a:highlight>
                            <a:srgbClr val="FFFF00"/>
                          </a:highlight>
                        </a:rPr>
                        <a:t>To develop a decentralised identity and authority verification mechanism using decentralised identifiers and verifiable credentials.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Done</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731520">
                <a:tc>
                  <a:txBody>
                    <a:bodyPr/>
                    <a:lstStyle/>
                    <a:p>
                      <a:pPr indent="0" marL="0">
                        <a:buNone/>
                      </a:pPr>
                      <a:r>
                        <a:rPr lang="en-US" sz="1300" b="1" dirty="0">
                          <a:solidFill>
                            <a:srgbClr val="0B1F33"/>
                          </a:solidFill>
                        </a:rPr>
                        <a:t>​</a:t>
                      </a:r>
                      <a:r>
                        <a:rPr lang="en-US" sz="1300" b="1" dirty="0">
                          <a:solidFill>
                            <a:srgbClr val="0B1F33"/>
                          </a:solidFill>
                          <a:highlight>
                            <a:srgbClr val="FFFF00"/>
                          </a:highlight>
                        </a:rPr>
                        <a:t>RO3 – Trustworthy Multi-Party Authorisation</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a:t>
                      </a:r>
                      <a:r>
                        <a:rPr lang="en-US" sz="1300" dirty="0">
                          <a:solidFill>
                            <a:srgbClr val="0B1F33"/>
                          </a:solidFill>
                          <a:highlight>
                            <a:srgbClr val="FFFF00"/>
                          </a:highlight>
                        </a:rPr>
                        <a:t>To develop a threshold-based multi-party authorisation mechanism through which multiple independently verified participants and guardians can jointly establish a trustworthy consent decision.</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Done</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731520">
                <a:tc>
                  <a:txBody>
                    <a:bodyPr/>
                    <a:lstStyle/>
                    <a:p>
                      <a:pPr indent="0" marL="0">
                        <a:buNone/>
                      </a:pPr>
                      <a:r>
                        <a:rPr lang="en-US" sz="1300" b="1" dirty="0">
                          <a:solidFill>
                            <a:srgbClr val="0B1F33"/>
                          </a:solidFill>
                        </a:rPr>
                        <a:t>​</a:t>
                      </a:r>
                      <a:r>
                        <a:rPr lang="en-US" sz="1300" b="1" dirty="0">
                          <a:solidFill>
                            <a:srgbClr val="0B1F33"/>
                          </a:solidFill>
                          <a:highlight>
                            <a:srgbClr val="FFFF00"/>
                          </a:highlight>
                        </a:rPr>
                        <a:t>RO4 – Policy- and Context-Aware Access Control</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a:t>
                      </a:r>
                      <a:r>
                        <a:rPr lang="en-US" sz="1300" dirty="0">
                          <a:solidFill>
                            <a:srgbClr val="0B1F33"/>
                          </a:solidFill>
                          <a:highlight>
                            <a:srgbClr val="FFFF00"/>
                          </a:highlight>
                        </a:rPr>
                        <a:t>To develop a policy-aware authorisation mechanism that evaluates the purpose and data scope of a requested operation against the constraints defined by the consent.</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Done</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731520">
                <a:tc>
                  <a:txBody>
                    <a:bodyPr/>
                    <a:lstStyle/>
                    <a:p>
                      <a:pPr indent="0" marL="0">
                        <a:buNone/>
                      </a:pPr>
                      <a:r>
                        <a:rPr lang="en-US" sz="1300" b="1" dirty="0">
                          <a:solidFill>
                            <a:srgbClr val="0B1F33"/>
                          </a:solidFill>
                        </a:rPr>
                        <a:t>​</a:t>
                      </a:r>
                      <a:r>
                        <a:rPr lang="en-US" sz="1300" b="1" dirty="0">
                          <a:solidFill>
                            <a:srgbClr val="0B1F33"/>
                          </a:solidFill>
                          <a:highlight>
                            <a:srgbClr val="FFFF00"/>
                          </a:highlight>
                        </a:rPr>
                        <a:t>RO5 – Temporal and Lifecycle Trust</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a:t>
                      </a:r>
                      <a:r>
                        <a:rPr lang="en-US" sz="1300" dirty="0">
                          <a:solidFill>
                            <a:srgbClr val="0B1F33"/>
                          </a:solidFill>
                          <a:highlight>
                            <a:srgbClr val="FFFF00"/>
                          </a:highlight>
                        </a:rPr>
                        <a:t>To extend the trust-oriented framework with temporal validity and consent lifecycle controls.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In Progress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731520">
                <a:tc>
                  <a:txBody>
                    <a:bodyPr/>
                    <a:lstStyle/>
                    <a:p>
                      <a:pPr indent="0" marL="0">
                        <a:buNone/>
                      </a:pPr>
                      <a:r>
                        <a:rPr lang="en-US" sz="1300" b="1" dirty="0">
                          <a:solidFill>
                            <a:srgbClr val="0B1F33"/>
                          </a:solidFill>
                        </a:rPr>
                        <a:t>​</a:t>
                      </a:r>
                      <a:r>
                        <a:rPr lang="en-US" sz="1300" b="1" dirty="0">
                          <a:solidFill>
                            <a:srgbClr val="0B1F33"/>
                          </a:solidFill>
                          <a:highlight>
                            <a:srgbClr val="FFFF00"/>
                          </a:highlight>
                        </a:rPr>
                        <a:t>RO6 – Formal Security Assurance and Empirical Validation</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a:t>
                      </a:r>
                      <a:r>
                        <a:rPr lang="en-US" sz="1300" dirty="0">
                          <a:solidFill>
                            <a:srgbClr val="0B1F33"/>
                          </a:solidFill>
                          <a:highlight>
                            <a:srgbClr val="FFFF00"/>
                          </a:highlight>
                        </a:rPr>
                        <a:t>To formally analyse and empirically evaluate whether the implemented framework satisfies its defined trust and authorisation properties under representative healthcare data-sharing scenarios.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Partially completed</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RESEARCH METHODOLOGY</a:t>
            </a:r>
            <a:endParaRPr lang="en-US" sz="3000" dirty="0"/>
          </a:p>
        </p:txBody>
      </p:sp>
      <p:sp>
        <p:nvSpPr>
          <p:cNvPr id="4" name="step number 1"/>
          <p:cNvSpPr/>
          <p:nvPr/>
        </p:nvSpPr>
        <p:spPr>
          <a:xfrm>
            <a:off x="987552" y="1554480"/>
            <a:ext cx="548640" cy="548640"/>
          </a:xfrm>
          <a:prstGeom prst="ellipse">
            <a:avLst/>
          </a:prstGeom>
          <a:solidFill>
            <a:srgbClr val="1FB5D6"/>
          </a:solidFill>
          <a:ln w="19050">
            <a:solidFill>
              <a:srgbClr val="FFFFFF"/>
            </a:solidFill>
            <a:prstDash val="solid"/>
          </a:ln>
        </p:spPr>
      </p:sp>
      <p:sp>
        <p:nvSpPr>
          <p:cNvPr id="5" name="step num text 1"/>
          <p:cNvSpPr txBox="1"/>
          <p:nvPr/>
        </p:nvSpPr>
        <p:spPr>
          <a:xfrm>
            <a:off x="987552" y="1554480"/>
            <a:ext cx="548640" cy="548640"/>
          </a:xfrm>
          <a:prstGeom prst="rect">
            <a:avLst/>
          </a:prstGeom>
          <a:noFill/>
          <a:ln/>
        </p:spPr>
        <p:txBody>
          <a:bodyPr wrap="square" rtlCol="0" anchor="ctr"/>
          <a:lstStyle/>
          <a:p>
            <a:pPr algn="ctr" indent="0" marL="0">
              <a:buNone/>
            </a:pPr>
            <a:r>
              <a:rPr lang="en-US" sz="2000" b="1" dirty="0">
                <a:solidFill>
                  <a:srgbClr val="FFFFFF"/>
                </a:solidFill>
              </a:rPr>
              <a:t>1</a:t>
            </a:r>
            <a:endParaRPr lang="en-US" sz="2000" dirty="0"/>
          </a:p>
        </p:txBody>
      </p:sp>
      <p:sp>
        <p:nvSpPr>
          <p:cNvPr id="6" name="step box 1"/>
          <p:cNvSpPr/>
          <p:nvPr/>
        </p:nvSpPr>
        <p:spPr>
          <a:xfrm>
            <a:off x="502920" y="2286000"/>
            <a:ext cx="1517904" cy="2926080"/>
          </a:xfrm>
          <a:prstGeom prst="roundRect">
            <a:avLst>
              <a:gd name="adj" fmla="val 6024"/>
            </a:avLst>
          </a:prstGeom>
          <a:solidFill>
            <a:srgbClr val="FFFFFF"/>
          </a:solidFill>
          <a:ln w="19050">
            <a:solidFill>
              <a:srgbClr val="1FB5D6"/>
            </a:solidFill>
            <a:prstDash val="solid"/>
          </a:ln>
        </p:spPr>
      </p:sp>
      <p:sp>
        <p:nvSpPr>
          <p:cNvPr id="7" name="step text 1"/>
          <p:cNvSpPr txBox="1"/>
          <p:nvPr/>
        </p:nvSpPr>
        <p:spPr>
          <a:xfrm>
            <a:off x="548640" y="2377440"/>
            <a:ext cx="1426464" cy="2743200"/>
          </a:xfrm>
          <a:prstGeom prst="rect">
            <a:avLst/>
          </a:prstGeom>
          <a:noFill/>
          <a:ln/>
        </p:spPr>
        <p:txBody>
          <a:bodyPr wrap="square" rtlCol="0" anchor="t"/>
          <a:lstStyle/>
          <a:p>
            <a:pPr algn="ctr" indent="0" marL="0">
              <a:spcAft>
                <a:spcPts val="800"/>
              </a:spcAft>
              <a:buNone/>
            </a:pPr>
            <a:r>
              <a:rPr lang="en-US" sz="1400" b="1" dirty="0">
                <a:solidFill>
                  <a:srgbClr val="0B2A4A"/>
                </a:solidFill>
              </a:rPr>
              <a:t>Problem</a:t>
            </a:r>
            <a:endParaRPr lang="en-US" sz="1400" dirty="0"/>
          </a:p>
          <a:p>
            <a:pPr algn="ctr" indent="0" marL="0">
              <a:spcAft>
                <a:spcPts val="800"/>
              </a:spcAft>
              <a:buNone/>
            </a:pPr>
            <a:r>
              <a:rPr lang="en-US" sz="1300" dirty="0">
                <a:solidFill>
                  <a:srgbClr val="0B1F33"/>
                </a:solidFill>
              </a:rPr>
              <a:t>Consent is a passive record; no integrated trusted decision</a:t>
            </a:r>
            <a:endParaRPr lang="en-US" sz="1400" dirty="0"/>
          </a:p>
        </p:txBody>
      </p:sp>
      <p:sp>
        <p:nvSpPr>
          <p:cNvPr id="8" name="step number 2"/>
          <p:cNvSpPr/>
          <p:nvPr/>
        </p:nvSpPr>
        <p:spPr>
          <a:xfrm>
            <a:off x="2615184" y="1554480"/>
            <a:ext cx="548640" cy="548640"/>
          </a:xfrm>
          <a:prstGeom prst="ellipse">
            <a:avLst/>
          </a:prstGeom>
          <a:solidFill>
            <a:srgbClr val="1FB5D6"/>
          </a:solidFill>
          <a:ln w="19050">
            <a:solidFill>
              <a:srgbClr val="FFFFFF"/>
            </a:solidFill>
            <a:prstDash val="solid"/>
          </a:ln>
        </p:spPr>
      </p:sp>
      <p:sp>
        <p:nvSpPr>
          <p:cNvPr id="9" name="step num text 2"/>
          <p:cNvSpPr txBox="1"/>
          <p:nvPr/>
        </p:nvSpPr>
        <p:spPr>
          <a:xfrm>
            <a:off x="2615184" y="1554480"/>
            <a:ext cx="548640" cy="548640"/>
          </a:xfrm>
          <a:prstGeom prst="rect">
            <a:avLst/>
          </a:prstGeom>
          <a:noFill/>
          <a:ln/>
        </p:spPr>
        <p:txBody>
          <a:bodyPr wrap="square" rtlCol="0" anchor="ctr"/>
          <a:lstStyle/>
          <a:p>
            <a:pPr algn="ctr" indent="0" marL="0">
              <a:buNone/>
            </a:pPr>
            <a:r>
              <a:rPr lang="en-US" sz="2000" b="1" dirty="0">
                <a:solidFill>
                  <a:srgbClr val="FFFFFF"/>
                </a:solidFill>
              </a:rPr>
              <a:t>2</a:t>
            </a:r>
            <a:endParaRPr lang="en-US" sz="2000" dirty="0"/>
          </a:p>
        </p:txBody>
      </p:sp>
      <p:sp>
        <p:nvSpPr>
          <p:cNvPr id="10" name="step box 2"/>
          <p:cNvSpPr/>
          <p:nvPr/>
        </p:nvSpPr>
        <p:spPr>
          <a:xfrm>
            <a:off x="2130552" y="2286000"/>
            <a:ext cx="1517904" cy="2926080"/>
          </a:xfrm>
          <a:prstGeom prst="roundRect">
            <a:avLst>
              <a:gd name="adj" fmla="val 6024"/>
            </a:avLst>
          </a:prstGeom>
          <a:solidFill>
            <a:srgbClr val="FFFFFF"/>
          </a:solidFill>
          <a:ln w="19050">
            <a:solidFill>
              <a:srgbClr val="1FB5D6"/>
            </a:solidFill>
            <a:prstDash val="solid"/>
          </a:ln>
        </p:spPr>
      </p:sp>
      <p:sp>
        <p:nvSpPr>
          <p:cNvPr id="11" name="step text 2"/>
          <p:cNvSpPr txBox="1"/>
          <p:nvPr/>
        </p:nvSpPr>
        <p:spPr>
          <a:xfrm>
            <a:off x="2176272" y="2377440"/>
            <a:ext cx="1426464" cy="2743200"/>
          </a:xfrm>
          <a:prstGeom prst="rect">
            <a:avLst/>
          </a:prstGeom>
          <a:noFill/>
          <a:ln/>
        </p:spPr>
        <p:txBody>
          <a:bodyPr wrap="square" rtlCol="0" anchor="t"/>
          <a:lstStyle/>
          <a:p>
            <a:pPr algn="ctr" indent="0" marL="0">
              <a:spcAft>
                <a:spcPts val="800"/>
              </a:spcAft>
              <a:buNone/>
            </a:pPr>
            <a:r>
              <a:rPr lang="en-US" sz="1400" b="1" dirty="0">
                <a:solidFill>
                  <a:srgbClr val="0B2A4A"/>
                </a:solidFill>
              </a:rPr>
              <a:t>Literature review</a:t>
            </a:r>
            <a:endParaRPr lang="en-US" sz="1400" dirty="0"/>
          </a:p>
          <a:p>
            <a:pPr algn="ctr" indent="0" marL="0">
              <a:spcAft>
                <a:spcPts val="800"/>
              </a:spcAft>
              <a:buNone/>
            </a:pPr>
            <a:r>
              <a:rPr lang="en-US" sz="1300" dirty="0">
                <a:solidFill>
                  <a:srgbClr val="0B1F33"/>
                </a:solidFill>
              </a:rPr>
              <a:t>PRISMA 2020; 25 primary studies</a:t>
            </a:r>
            <a:endParaRPr lang="en-US" sz="1400" dirty="0"/>
          </a:p>
        </p:txBody>
      </p:sp>
      <p:sp>
        <p:nvSpPr>
          <p:cNvPr id="12" name="step number 3"/>
          <p:cNvSpPr/>
          <p:nvPr/>
        </p:nvSpPr>
        <p:spPr>
          <a:xfrm>
            <a:off x="4242816" y="1554480"/>
            <a:ext cx="548640" cy="548640"/>
          </a:xfrm>
          <a:prstGeom prst="ellipse">
            <a:avLst/>
          </a:prstGeom>
          <a:solidFill>
            <a:srgbClr val="1FB5D6"/>
          </a:solidFill>
          <a:ln w="19050">
            <a:solidFill>
              <a:srgbClr val="FFFFFF"/>
            </a:solidFill>
            <a:prstDash val="solid"/>
          </a:ln>
        </p:spPr>
      </p:sp>
      <p:sp>
        <p:nvSpPr>
          <p:cNvPr id="13" name="step num text 3"/>
          <p:cNvSpPr txBox="1"/>
          <p:nvPr/>
        </p:nvSpPr>
        <p:spPr>
          <a:xfrm>
            <a:off x="4242816" y="1554480"/>
            <a:ext cx="548640" cy="548640"/>
          </a:xfrm>
          <a:prstGeom prst="rect">
            <a:avLst/>
          </a:prstGeom>
          <a:noFill/>
          <a:ln/>
        </p:spPr>
        <p:txBody>
          <a:bodyPr wrap="square" rtlCol="0" anchor="ctr"/>
          <a:lstStyle/>
          <a:p>
            <a:pPr algn="ctr" indent="0" marL="0">
              <a:buNone/>
            </a:pPr>
            <a:r>
              <a:rPr lang="en-US" sz="2000" b="1" dirty="0">
                <a:solidFill>
                  <a:srgbClr val="FFFFFF"/>
                </a:solidFill>
              </a:rPr>
              <a:t>3</a:t>
            </a:r>
            <a:endParaRPr lang="en-US" sz="2000" dirty="0"/>
          </a:p>
        </p:txBody>
      </p:sp>
      <p:sp>
        <p:nvSpPr>
          <p:cNvPr id="14" name="step box 3"/>
          <p:cNvSpPr/>
          <p:nvPr/>
        </p:nvSpPr>
        <p:spPr>
          <a:xfrm>
            <a:off x="3758184" y="2286000"/>
            <a:ext cx="1517904" cy="2926080"/>
          </a:xfrm>
          <a:prstGeom prst="roundRect">
            <a:avLst>
              <a:gd name="adj" fmla="val 6024"/>
            </a:avLst>
          </a:prstGeom>
          <a:solidFill>
            <a:srgbClr val="FFFFFF"/>
          </a:solidFill>
          <a:ln w="19050">
            <a:solidFill>
              <a:srgbClr val="1FB5D6"/>
            </a:solidFill>
            <a:prstDash val="solid"/>
          </a:ln>
        </p:spPr>
      </p:sp>
      <p:sp>
        <p:nvSpPr>
          <p:cNvPr id="15" name="step text 3"/>
          <p:cNvSpPr txBox="1"/>
          <p:nvPr/>
        </p:nvSpPr>
        <p:spPr>
          <a:xfrm>
            <a:off x="3803904" y="2377440"/>
            <a:ext cx="1426464" cy="2743200"/>
          </a:xfrm>
          <a:prstGeom prst="rect">
            <a:avLst/>
          </a:prstGeom>
          <a:noFill/>
          <a:ln/>
        </p:spPr>
        <p:txBody>
          <a:bodyPr wrap="square" rtlCol="0" anchor="t"/>
          <a:lstStyle/>
          <a:p>
            <a:pPr algn="ctr" indent="0" marL="0">
              <a:spcAft>
                <a:spcPts val="800"/>
              </a:spcAft>
              <a:buNone/>
            </a:pPr>
            <a:r>
              <a:rPr lang="en-US" sz="1400" b="1" dirty="0">
                <a:solidFill>
                  <a:srgbClr val="0B2A4A"/>
                </a:solidFill>
              </a:rPr>
              <a:t>​</a:t>
            </a:r>
            <a:r>
              <a:rPr lang="en-US" sz="1400" b="1" dirty="0">
                <a:solidFill>
                  <a:srgbClr val="0B1F33"/>
                </a:solidFill>
                <a:highlight>
                  <a:srgbClr val="FFFF00"/>
                </a:highlight>
              </a:rPr>
              <a:t>Gap and questions</a:t>
            </a:r>
            <a:endParaRPr lang="en-US" sz="1400" dirty="0"/>
          </a:p>
          <a:p>
            <a:pPr algn="ctr" indent="0" marL="0">
              <a:spcAft>
                <a:spcPts val="800"/>
              </a:spcAft>
              <a:buNone/>
            </a:pPr>
            <a:r>
              <a:rPr lang="en-US" sz="1300" dirty="0">
                <a:solidFill>
                  <a:srgbClr val="0B1F33"/>
                </a:solidFill>
              </a:rPr>
              <a:t>​</a:t>
            </a:r>
            <a:r>
              <a:rPr lang="en-US" sz="1300" dirty="0">
                <a:solidFill>
                  <a:srgbClr val="0B1F33"/>
                </a:solidFill>
                <a:highlight>
                  <a:srgbClr val="FFFF00"/>
                </a:highlight>
              </a:rPr>
              <a:t>Research gap; RQ1 to RQ6</a:t>
            </a:r>
            <a:endParaRPr lang="en-US" sz="1400" dirty="0"/>
          </a:p>
        </p:txBody>
      </p:sp>
      <p:sp>
        <p:nvSpPr>
          <p:cNvPr id="16" name="step number 4"/>
          <p:cNvSpPr/>
          <p:nvPr/>
        </p:nvSpPr>
        <p:spPr>
          <a:xfrm>
            <a:off x="5870448" y="1554480"/>
            <a:ext cx="548640" cy="548640"/>
          </a:xfrm>
          <a:prstGeom prst="ellipse">
            <a:avLst/>
          </a:prstGeom>
          <a:solidFill>
            <a:srgbClr val="1FB5D6"/>
          </a:solidFill>
          <a:ln w="19050">
            <a:solidFill>
              <a:srgbClr val="FFFFFF"/>
            </a:solidFill>
            <a:prstDash val="solid"/>
          </a:ln>
        </p:spPr>
      </p:sp>
      <p:sp>
        <p:nvSpPr>
          <p:cNvPr id="17" name="step num text 4"/>
          <p:cNvSpPr txBox="1"/>
          <p:nvPr/>
        </p:nvSpPr>
        <p:spPr>
          <a:xfrm>
            <a:off x="5870448" y="1554480"/>
            <a:ext cx="548640" cy="548640"/>
          </a:xfrm>
          <a:prstGeom prst="rect">
            <a:avLst/>
          </a:prstGeom>
          <a:noFill/>
          <a:ln/>
        </p:spPr>
        <p:txBody>
          <a:bodyPr wrap="square" rtlCol="0" anchor="ctr"/>
          <a:lstStyle/>
          <a:p>
            <a:pPr algn="ctr" indent="0" marL="0">
              <a:buNone/>
            </a:pPr>
            <a:r>
              <a:rPr lang="en-US" sz="2000" b="1" dirty="0">
                <a:solidFill>
                  <a:srgbClr val="FFFFFF"/>
                </a:solidFill>
              </a:rPr>
              <a:t>4</a:t>
            </a:r>
            <a:endParaRPr lang="en-US" sz="2000" dirty="0"/>
          </a:p>
        </p:txBody>
      </p:sp>
      <p:sp>
        <p:nvSpPr>
          <p:cNvPr id="18" name="step box 4"/>
          <p:cNvSpPr/>
          <p:nvPr/>
        </p:nvSpPr>
        <p:spPr>
          <a:xfrm>
            <a:off x="5385816" y="2286000"/>
            <a:ext cx="1517904" cy="2926080"/>
          </a:xfrm>
          <a:prstGeom prst="roundRect">
            <a:avLst>
              <a:gd name="adj" fmla="val 6024"/>
            </a:avLst>
          </a:prstGeom>
          <a:solidFill>
            <a:srgbClr val="FFFFFF"/>
          </a:solidFill>
          <a:ln w="19050">
            <a:solidFill>
              <a:srgbClr val="1FB5D6"/>
            </a:solidFill>
            <a:prstDash val="solid"/>
          </a:ln>
        </p:spPr>
      </p:sp>
      <p:sp>
        <p:nvSpPr>
          <p:cNvPr id="19" name="step text 4"/>
          <p:cNvSpPr txBox="1"/>
          <p:nvPr/>
        </p:nvSpPr>
        <p:spPr>
          <a:xfrm>
            <a:off x="5431536" y="2377440"/>
            <a:ext cx="1426464" cy="2743200"/>
          </a:xfrm>
          <a:prstGeom prst="rect">
            <a:avLst/>
          </a:prstGeom>
          <a:noFill/>
          <a:ln/>
        </p:spPr>
        <p:txBody>
          <a:bodyPr wrap="square" rtlCol="0" anchor="t"/>
          <a:lstStyle/>
          <a:p>
            <a:pPr algn="ctr" indent="0" marL="0">
              <a:spcAft>
                <a:spcPts val="800"/>
              </a:spcAft>
              <a:buNone/>
            </a:pPr>
            <a:r>
              <a:rPr lang="en-US" sz="1400" b="1" dirty="0">
                <a:solidFill>
                  <a:srgbClr val="0B2A4A"/>
                </a:solidFill>
              </a:rPr>
              <a:t>Objectives</a:t>
            </a:r>
            <a:endParaRPr lang="en-US" sz="1400" dirty="0"/>
          </a:p>
          <a:p>
            <a:pPr algn="ctr" indent="0" marL="0">
              <a:spcAft>
                <a:spcPts val="800"/>
              </a:spcAft>
              <a:buNone/>
            </a:pPr>
            <a:r>
              <a:rPr lang="en-US" sz="1300" dirty="0">
                <a:solidFill>
                  <a:srgbClr val="0B1F33"/>
                </a:solidFill>
              </a:rPr>
              <a:t>RO1 to RO6</a:t>
            </a:r>
            <a:endParaRPr lang="en-US" sz="1400" dirty="0"/>
          </a:p>
        </p:txBody>
      </p:sp>
      <p:sp>
        <p:nvSpPr>
          <p:cNvPr id="20" name="step number 5"/>
          <p:cNvSpPr/>
          <p:nvPr/>
        </p:nvSpPr>
        <p:spPr>
          <a:xfrm>
            <a:off x="7498080" y="1554480"/>
            <a:ext cx="548640" cy="548640"/>
          </a:xfrm>
          <a:prstGeom prst="ellipse">
            <a:avLst/>
          </a:prstGeom>
          <a:solidFill>
            <a:srgbClr val="1FB5D6"/>
          </a:solidFill>
          <a:ln w="19050">
            <a:solidFill>
              <a:srgbClr val="FFFFFF"/>
            </a:solidFill>
            <a:prstDash val="solid"/>
          </a:ln>
        </p:spPr>
      </p:sp>
      <p:sp>
        <p:nvSpPr>
          <p:cNvPr id="21" name="step num text 5"/>
          <p:cNvSpPr txBox="1"/>
          <p:nvPr/>
        </p:nvSpPr>
        <p:spPr>
          <a:xfrm>
            <a:off x="7498080" y="1554480"/>
            <a:ext cx="548640" cy="548640"/>
          </a:xfrm>
          <a:prstGeom prst="rect">
            <a:avLst/>
          </a:prstGeom>
          <a:noFill/>
          <a:ln/>
        </p:spPr>
        <p:txBody>
          <a:bodyPr wrap="square" rtlCol="0" anchor="ctr"/>
          <a:lstStyle/>
          <a:p>
            <a:pPr algn="ctr" indent="0" marL="0">
              <a:buNone/>
            </a:pPr>
            <a:r>
              <a:rPr lang="en-US" sz="2000" b="1" dirty="0">
                <a:solidFill>
                  <a:srgbClr val="FFFFFF"/>
                </a:solidFill>
              </a:rPr>
              <a:t>5</a:t>
            </a:r>
            <a:endParaRPr lang="en-US" sz="2000" dirty="0"/>
          </a:p>
        </p:txBody>
      </p:sp>
      <p:sp>
        <p:nvSpPr>
          <p:cNvPr id="22" name="step box 5"/>
          <p:cNvSpPr/>
          <p:nvPr/>
        </p:nvSpPr>
        <p:spPr>
          <a:xfrm>
            <a:off x="7013448" y="2286000"/>
            <a:ext cx="1517904" cy="2926080"/>
          </a:xfrm>
          <a:prstGeom prst="roundRect">
            <a:avLst>
              <a:gd name="adj" fmla="val 6024"/>
            </a:avLst>
          </a:prstGeom>
          <a:solidFill>
            <a:srgbClr val="FFFFFF"/>
          </a:solidFill>
          <a:ln w="19050">
            <a:solidFill>
              <a:srgbClr val="1FB5D6"/>
            </a:solidFill>
            <a:prstDash val="solid"/>
          </a:ln>
        </p:spPr>
      </p:sp>
      <p:sp>
        <p:nvSpPr>
          <p:cNvPr id="23" name="step text 5"/>
          <p:cNvSpPr txBox="1"/>
          <p:nvPr/>
        </p:nvSpPr>
        <p:spPr>
          <a:xfrm>
            <a:off x="7059168" y="2377440"/>
            <a:ext cx="1426464" cy="2743200"/>
          </a:xfrm>
          <a:prstGeom prst="rect">
            <a:avLst/>
          </a:prstGeom>
          <a:noFill/>
          <a:ln/>
        </p:spPr>
        <p:txBody>
          <a:bodyPr wrap="square" rtlCol="0" anchor="t"/>
          <a:lstStyle/>
          <a:p>
            <a:pPr algn="ctr" indent="0" marL="0">
              <a:spcAft>
                <a:spcPts val="800"/>
              </a:spcAft>
              <a:buNone/>
            </a:pPr>
            <a:r>
              <a:rPr lang="en-US" sz="1400" b="1" dirty="0">
                <a:solidFill>
                  <a:srgbClr val="0B2A4A"/>
                </a:solidFill>
              </a:rPr>
              <a:t>Design</a:t>
            </a:r>
            <a:endParaRPr lang="en-US" sz="1400" dirty="0"/>
          </a:p>
          <a:p>
            <a:pPr algn="ctr" indent="0" marL="0">
              <a:spcAft>
                <a:spcPts val="800"/>
              </a:spcAft>
              <a:buNone/>
            </a:pPr>
            <a:r>
              <a:rPr lang="en-US" sz="1300" dirty="0">
                <a:solidFill>
                  <a:srgbClr val="0B1F33"/>
                </a:solidFill>
              </a:rPr>
              <a:t>MVC architecture, consent object C, Algorithms 1 to 4</a:t>
            </a:r>
            <a:endParaRPr lang="en-US" sz="1400" dirty="0"/>
          </a:p>
        </p:txBody>
      </p:sp>
      <p:sp>
        <p:nvSpPr>
          <p:cNvPr id="24" name="step number 6"/>
          <p:cNvSpPr/>
          <p:nvPr/>
        </p:nvSpPr>
        <p:spPr>
          <a:xfrm>
            <a:off x="9125712" y="1554480"/>
            <a:ext cx="548640" cy="548640"/>
          </a:xfrm>
          <a:prstGeom prst="ellipse">
            <a:avLst/>
          </a:prstGeom>
          <a:solidFill>
            <a:srgbClr val="1FB5D6"/>
          </a:solidFill>
          <a:ln w="19050">
            <a:solidFill>
              <a:srgbClr val="FFFFFF"/>
            </a:solidFill>
            <a:prstDash val="solid"/>
          </a:ln>
        </p:spPr>
      </p:sp>
      <p:sp>
        <p:nvSpPr>
          <p:cNvPr id="25" name="step num text 6"/>
          <p:cNvSpPr txBox="1"/>
          <p:nvPr/>
        </p:nvSpPr>
        <p:spPr>
          <a:xfrm>
            <a:off x="9125712" y="1554480"/>
            <a:ext cx="548640" cy="548640"/>
          </a:xfrm>
          <a:prstGeom prst="rect">
            <a:avLst/>
          </a:prstGeom>
          <a:noFill/>
          <a:ln/>
        </p:spPr>
        <p:txBody>
          <a:bodyPr wrap="square" rtlCol="0" anchor="ctr"/>
          <a:lstStyle/>
          <a:p>
            <a:pPr algn="ctr" indent="0" marL="0">
              <a:buNone/>
            </a:pPr>
            <a:r>
              <a:rPr lang="en-US" sz="2000" b="1" dirty="0">
                <a:solidFill>
                  <a:srgbClr val="FFFFFF"/>
                </a:solidFill>
              </a:rPr>
              <a:t>6</a:t>
            </a:r>
            <a:endParaRPr lang="en-US" sz="2000" dirty="0"/>
          </a:p>
        </p:txBody>
      </p:sp>
      <p:sp>
        <p:nvSpPr>
          <p:cNvPr id="26" name="step box 6"/>
          <p:cNvSpPr/>
          <p:nvPr/>
        </p:nvSpPr>
        <p:spPr>
          <a:xfrm>
            <a:off x="8641080" y="2286000"/>
            <a:ext cx="1517904" cy="2926080"/>
          </a:xfrm>
          <a:prstGeom prst="roundRect">
            <a:avLst>
              <a:gd name="adj" fmla="val 6024"/>
            </a:avLst>
          </a:prstGeom>
          <a:solidFill>
            <a:srgbClr val="FFFFFF"/>
          </a:solidFill>
          <a:ln w="19050">
            <a:solidFill>
              <a:srgbClr val="1FB5D6"/>
            </a:solidFill>
            <a:prstDash val="solid"/>
          </a:ln>
        </p:spPr>
      </p:sp>
      <p:sp>
        <p:nvSpPr>
          <p:cNvPr id="27" name="step text 6"/>
          <p:cNvSpPr txBox="1"/>
          <p:nvPr/>
        </p:nvSpPr>
        <p:spPr>
          <a:xfrm>
            <a:off x="8686800" y="2377440"/>
            <a:ext cx="1426464" cy="2743200"/>
          </a:xfrm>
          <a:prstGeom prst="rect">
            <a:avLst/>
          </a:prstGeom>
          <a:noFill/>
          <a:ln/>
        </p:spPr>
        <p:txBody>
          <a:bodyPr wrap="square" rtlCol="0" anchor="t"/>
          <a:lstStyle/>
          <a:p>
            <a:pPr algn="ctr" indent="0" marL="0">
              <a:spcAft>
                <a:spcPts val="800"/>
              </a:spcAft>
              <a:buNone/>
            </a:pPr>
            <a:r>
              <a:rPr lang="en-US" sz="1400" b="1" dirty="0">
                <a:solidFill>
                  <a:srgbClr val="0B2A4A"/>
                </a:solidFill>
              </a:rPr>
              <a:t>Prototype</a:t>
            </a:r>
            <a:endParaRPr lang="en-US" sz="1400" dirty="0"/>
          </a:p>
          <a:p>
            <a:pPr algn="ctr" indent="0" marL="0">
              <a:spcAft>
                <a:spcPts val="800"/>
              </a:spcAft>
              <a:buNone/>
            </a:pPr>
            <a:r>
              <a:rPr lang="en-US" sz="1300" dirty="0">
                <a:solidFill>
                  <a:srgbClr val="0B1F33"/>
                </a:solidFill>
              </a:rPr>
              <a:t>HALAH prototype; ConsentSBTv3 on Sepolia</a:t>
            </a:r>
            <a:endParaRPr lang="en-US" sz="1400" dirty="0"/>
          </a:p>
        </p:txBody>
      </p:sp>
      <p:sp>
        <p:nvSpPr>
          <p:cNvPr id="28" name="step number 7"/>
          <p:cNvSpPr/>
          <p:nvPr/>
        </p:nvSpPr>
        <p:spPr>
          <a:xfrm>
            <a:off x="10753344" y="1554480"/>
            <a:ext cx="548640" cy="548640"/>
          </a:xfrm>
          <a:prstGeom prst="ellipse">
            <a:avLst/>
          </a:prstGeom>
          <a:solidFill>
            <a:srgbClr val="6D5BA8"/>
          </a:solidFill>
          <a:ln w="19050">
            <a:solidFill>
              <a:srgbClr val="FFFFFF"/>
            </a:solidFill>
            <a:prstDash val="solid"/>
          </a:ln>
        </p:spPr>
      </p:sp>
      <p:sp>
        <p:nvSpPr>
          <p:cNvPr id="29" name="step num text 7"/>
          <p:cNvSpPr txBox="1"/>
          <p:nvPr/>
        </p:nvSpPr>
        <p:spPr>
          <a:xfrm>
            <a:off x="10753344" y="1554480"/>
            <a:ext cx="548640" cy="548640"/>
          </a:xfrm>
          <a:prstGeom prst="rect">
            <a:avLst/>
          </a:prstGeom>
          <a:noFill/>
          <a:ln/>
        </p:spPr>
        <p:txBody>
          <a:bodyPr wrap="square" rtlCol="0" anchor="ctr"/>
          <a:lstStyle/>
          <a:p>
            <a:pPr algn="ctr" indent="0" marL="0">
              <a:buNone/>
            </a:pPr>
            <a:r>
              <a:rPr lang="en-US" sz="2000" b="1" dirty="0">
                <a:solidFill>
                  <a:srgbClr val="FFFFFF"/>
                </a:solidFill>
              </a:rPr>
              <a:t>7</a:t>
            </a:r>
            <a:endParaRPr lang="en-US" sz="2000" dirty="0"/>
          </a:p>
        </p:txBody>
      </p:sp>
      <p:sp>
        <p:nvSpPr>
          <p:cNvPr id="30" name="step box 7"/>
          <p:cNvSpPr/>
          <p:nvPr/>
        </p:nvSpPr>
        <p:spPr>
          <a:xfrm>
            <a:off x="10268712" y="2286000"/>
            <a:ext cx="1517904" cy="2926080"/>
          </a:xfrm>
          <a:prstGeom prst="roundRect">
            <a:avLst>
              <a:gd name="adj" fmla="val 6024"/>
            </a:avLst>
          </a:prstGeom>
          <a:solidFill>
            <a:srgbClr val="FFFFFF"/>
          </a:solidFill>
          <a:ln w="19050">
            <a:solidFill>
              <a:srgbClr val="1FB5D6"/>
            </a:solidFill>
            <a:prstDash val="solid"/>
          </a:ln>
        </p:spPr>
      </p:sp>
      <p:sp>
        <p:nvSpPr>
          <p:cNvPr id="31" name="step text 7"/>
          <p:cNvSpPr txBox="1"/>
          <p:nvPr/>
        </p:nvSpPr>
        <p:spPr>
          <a:xfrm>
            <a:off x="10314432" y="2377440"/>
            <a:ext cx="1426464" cy="2743200"/>
          </a:xfrm>
          <a:prstGeom prst="rect">
            <a:avLst/>
          </a:prstGeom>
          <a:noFill/>
          <a:ln/>
        </p:spPr>
        <p:txBody>
          <a:bodyPr wrap="square" rtlCol="0" anchor="t"/>
          <a:lstStyle/>
          <a:p>
            <a:pPr algn="ctr" indent="0" marL="0">
              <a:spcAft>
                <a:spcPts val="800"/>
              </a:spcAft>
              <a:buNone/>
            </a:pPr>
            <a:r>
              <a:rPr lang="en-US" sz="1400" b="1" dirty="0">
                <a:solidFill>
                  <a:srgbClr val="0B2A4A"/>
                </a:solidFill>
              </a:rPr>
              <a:t>Evaluation</a:t>
            </a:r>
            <a:endParaRPr lang="en-US" sz="1400" dirty="0"/>
          </a:p>
          <a:p>
            <a:pPr algn="ctr" indent="0" marL="0">
              <a:spcAft>
                <a:spcPts val="800"/>
              </a:spcAft>
              <a:buNone/>
            </a:pPr>
            <a:r>
              <a:rPr lang="en-US" sz="1300" dirty="0">
                <a:solidFill>
                  <a:srgbClr val="0B1F33"/>
                </a:solidFill>
              </a:rPr>
              <a:t>​</a:t>
            </a:r>
            <a:r>
              <a:rPr lang="en-US" sz="1300" dirty="0">
                <a:solidFill>
                  <a:srgbClr val="0B1F33"/>
                </a:solidFill>
                <a:highlight>
                  <a:srgbClr val="FFFF00"/>
                </a:highlight>
              </a:rPr>
              <a:t>Live scenarios, measurements and 13 attack scenarios; formal assurance in the next stage</a:t>
            </a:r>
            <a:endParaRPr lang="en-US" sz="1400" dirty="0"/>
          </a:p>
        </p:txBody>
      </p:sp>
      <p:sp>
        <p:nvSpPr>
          <p:cNvPr id="32" name="process arrow"/>
          <p:cNvSpPr/>
          <p:nvPr/>
        </p:nvSpPr>
        <p:spPr>
          <a:xfrm>
            <a:off x="502920" y="5486400"/>
            <a:ext cx="11247120" cy="411480"/>
          </a:xfrm>
          <a:prstGeom prst="rightArrow">
            <a:avLst/>
          </a:prstGeom>
          <a:solidFill>
            <a:srgbClr val="1FB5D6">
              <a:alpha val="75000"/>
            </a:srgbClr>
          </a:solidFill>
          <a:ln w="12700">
            <a:solidFill>
              <a:srgbClr val="1FB5D6"/>
            </a:solidFill>
            <a:prstDash val="solid"/>
          </a:ln>
        </p:spPr>
      </p:sp>
      <p:sp>
        <p:nvSpPr>
          <p:cNvPr id="33" name="arrow label"/>
          <p:cNvSpPr txBox="1"/>
          <p:nvPr/>
        </p:nvSpPr>
        <p:spPr>
          <a:xfrm>
            <a:off x="731520" y="5486400"/>
            <a:ext cx="10515600" cy="411480"/>
          </a:xfrm>
          <a:prstGeom prst="rect">
            <a:avLst/>
          </a:prstGeom>
          <a:noFill/>
          <a:ln/>
        </p:spPr>
        <p:txBody>
          <a:bodyPr wrap="square" rtlCol="0" anchor="ctr"/>
          <a:lstStyle/>
          <a:p>
            <a:pPr algn="ctr" indent="0" marL="0">
              <a:buNone/>
            </a:pPr>
            <a:r>
              <a:rPr lang="en-US" sz="1400" b="1" dirty="0">
                <a:solidFill>
                  <a:srgbClr val="FFFFFF"/>
                </a:solidFill>
              </a:rPr>
              <a:t>From the problem to the evaluated prototype</a:t>
            </a:r>
            <a:endParaRPr lang="en-US" sz="14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RESEARCH ARCHITECTURE: MVC</a:t>
            </a:r>
            <a:endParaRPr lang="en-US" sz="3000" dirty="0"/>
          </a:p>
        </p:txBody>
      </p:sp>
      <p:sp>
        <p:nvSpPr>
          <p:cNvPr id="4" name="F6 panel"/>
          <p:cNvSpPr/>
          <p:nvPr/>
        </p:nvSpPr>
        <p:spPr>
          <a:xfrm>
            <a:off x="1737360" y="1097280"/>
            <a:ext cx="8695944" cy="5440680"/>
          </a:xfrm>
          <a:prstGeom prst="roundRect">
            <a:avLst>
              <a:gd name="adj" fmla="val 2017"/>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pic>
        <p:nvPicPr>
          <p:cNvPr id="5" name="F6" descr="/tmp/deck/img/F6.png">    </p:cNvPr>
          <p:cNvPicPr>
            <a:picLocks noChangeAspect="1"/>
          </p:cNvPicPr>
          <p:nvPr/>
        </p:nvPicPr>
        <p:blipFill>
          <a:blip r:embed="rId1"/>
          <a:stretch>
            <a:fillRect/>
          </a:stretch>
        </p:blipFill>
        <p:spPr>
          <a:xfrm>
            <a:off x="1849371" y="1207008"/>
            <a:ext cx="8471922" cy="5221224"/>
          </a:xfrm>
          <a:prstGeom prst="rect">
            <a:avLst/>
          </a:prstGeom>
        </p:spPr>
      </p:pic>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SOLUTION OVERVIEW</a:t>
            </a:r>
            <a:endParaRPr lang="en-US" sz="3000" dirty="0"/>
          </a:p>
        </p:txBody>
      </p:sp>
      <p:sp>
        <p:nvSpPr>
          <p:cNvPr id="4" name="decision box"/>
          <p:cNvSpPr/>
          <p:nvPr/>
        </p:nvSpPr>
        <p:spPr>
          <a:xfrm>
            <a:off x="731520" y="1188720"/>
            <a:ext cx="10698480" cy="1097280"/>
          </a:xfrm>
          <a:prstGeom prst="roundRect">
            <a:avLst>
              <a:gd name="adj" fmla="val 8333"/>
            </a:avLst>
          </a:prstGeom>
          <a:solidFill>
            <a:srgbClr val="0B2A4A">
              <a:alpha val="85000"/>
            </a:srgbClr>
          </a:solidFill>
          <a:ln w="19050">
            <a:solidFill>
              <a:srgbClr val="1FB5D6"/>
            </a:solidFill>
            <a:prstDash val="solid"/>
          </a:ln>
        </p:spPr>
      </p:sp>
      <p:sp>
        <p:nvSpPr>
          <p:cNvPr id="5" name="decision text"/>
          <p:cNvSpPr txBox="1"/>
          <p:nvPr/>
        </p:nvSpPr>
        <p:spPr>
          <a:xfrm>
            <a:off x="822960" y="1234440"/>
            <a:ext cx="10515600" cy="100584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Decision(C, R, t) = ALLOW  ⟺  VI(u) ∧ VA(C) ∧ VP(C, R) ∧ VT(C, t) ∧ </a:t>
            </a:r>
            <a:r>
              <a:rPr lang="en-US" sz="2000" b="1" dirty="0">
                <a:solidFill>
                  <a:srgbClr val="0B1F33"/>
                </a:solidFill>
                <a:highlight>
                  <a:srgbClr val="FFFF00"/>
                </a:highlight>
                <a:latin typeface="Cambria" pitchFamily="34" charset="0"/>
                <a:ea typeface="Cambria" pitchFamily="34" charset="-122"/>
                <a:cs typeface="Cambria" pitchFamily="34" charset="-120"/>
              </a:rPr>
              <a:t>VL(C)</a:t>
            </a:r>
            <a:endParaRPr lang="en-US" sz="2000" dirty="0"/>
          </a:p>
        </p:txBody>
      </p:sp>
      <p:sp>
        <p:nvSpPr>
          <p:cNvPr id="6" name="card VI"/>
          <p:cNvSpPr/>
          <p:nvPr/>
        </p:nvSpPr>
        <p:spPr>
          <a:xfrm>
            <a:off x="731520" y="2606040"/>
            <a:ext cx="2011680" cy="1417320"/>
          </a:xfrm>
          <a:prstGeom prst="roundRect">
            <a:avLst>
              <a:gd name="adj" fmla="val 6452"/>
            </a:avLst>
          </a:prstGeom>
          <a:solidFill>
            <a:srgbClr val="FFFFFF">
              <a:alpha val="92000"/>
            </a:srgbClr>
          </a:solidFill>
          <a:ln w="19050">
            <a:solidFill>
              <a:srgbClr val="1FB5D6"/>
            </a:solidFill>
            <a:prstDash val="solid"/>
          </a:ln>
        </p:spPr>
      </p:sp>
      <p:sp>
        <p:nvSpPr>
          <p:cNvPr id="7" name="card text VI"/>
          <p:cNvSpPr txBox="1"/>
          <p:nvPr/>
        </p:nvSpPr>
        <p:spPr>
          <a:xfrm>
            <a:off x="868680" y="2697480"/>
            <a:ext cx="1737360" cy="1234440"/>
          </a:xfrm>
          <a:prstGeom prst="rect">
            <a:avLst/>
          </a:prstGeom>
          <a:noFill/>
          <a:ln/>
        </p:spPr>
        <p:txBody>
          <a:bodyPr wrap="square" rtlCol="0" anchor="t"/>
          <a:lstStyle/>
          <a:p>
            <a:pPr indent="0" marL="0">
              <a:spcAft>
                <a:spcPts val="400"/>
              </a:spcAft>
              <a:buNone/>
            </a:pPr>
            <a:r>
              <a:rPr lang="en-US" sz="1900" b="1" dirty="0">
                <a:solidFill>
                  <a:srgbClr val="0B2A4A"/>
                </a:solidFill>
              </a:rPr>
              <a:t>VI</a:t>
            </a:r>
            <a:endParaRPr lang="en-US" sz="1900" dirty="0"/>
          </a:p>
          <a:p>
            <a:pPr indent="0" marL="0">
              <a:spcAft>
                <a:spcPts val="400"/>
              </a:spcAft>
              <a:buNone/>
            </a:pPr>
            <a:r>
              <a:rPr lang="en-US" sz="1600" dirty="0">
                <a:solidFill>
                  <a:srgbClr val="0B1F33"/>
                </a:solidFill>
              </a:rPr>
              <a:t>​</a:t>
            </a:r>
            <a:r>
              <a:rPr lang="en-US" sz="1600" dirty="0">
                <a:solidFill>
                  <a:srgbClr val="0B1F33"/>
                </a:solidFill>
                <a:highlight>
                  <a:srgbClr val="FFFF00"/>
                </a:highlight>
              </a:rPr>
              <a:t>Identity and authority validity</a:t>
            </a:r>
            <a:endParaRPr lang="en-US" sz="1900" dirty="0"/>
          </a:p>
        </p:txBody>
      </p:sp>
      <p:sp>
        <p:nvSpPr>
          <p:cNvPr id="8" name="card VA"/>
          <p:cNvSpPr/>
          <p:nvPr/>
        </p:nvSpPr>
        <p:spPr>
          <a:xfrm>
            <a:off x="2898648" y="2606040"/>
            <a:ext cx="2011680" cy="1417320"/>
          </a:xfrm>
          <a:prstGeom prst="roundRect">
            <a:avLst>
              <a:gd name="adj" fmla="val 6452"/>
            </a:avLst>
          </a:prstGeom>
          <a:solidFill>
            <a:srgbClr val="FFFFFF">
              <a:alpha val="92000"/>
            </a:srgbClr>
          </a:solidFill>
          <a:ln w="19050">
            <a:solidFill>
              <a:srgbClr val="1FB5D6"/>
            </a:solidFill>
            <a:prstDash val="solid"/>
          </a:ln>
        </p:spPr>
      </p:sp>
      <p:sp>
        <p:nvSpPr>
          <p:cNvPr id="9" name="card text VA"/>
          <p:cNvSpPr txBox="1"/>
          <p:nvPr/>
        </p:nvSpPr>
        <p:spPr>
          <a:xfrm>
            <a:off x="3035808" y="2697480"/>
            <a:ext cx="1737360" cy="1234440"/>
          </a:xfrm>
          <a:prstGeom prst="rect">
            <a:avLst/>
          </a:prstGeom>
          <a:noFill/>
          <a:ln/>
        </p:spPr>
        <p:txBody>
          <a:bodyPr wrap="square" rtlCol="0" anchor="t"/>
          <a:lstStyle/>
          <a:p>
            <a:pPr indent="0" marL="0">
              <a:spcAft>
                <a:spcPts val="400"/>
              </a:spcAft>
              <a:buNone/>
            </a:pPr>
            <a:r>
              <a:rPr lang="en-US" sz="1900" b="1" dirty="0">
                <a:solidFill>
                  <a:srgbClr val="0B2A4A"/>
                </a:solidFill>
              </a:rPr>
              <a:t>VA</a:t>
            </a:r>
            <a:endParaRPr lang="en-US" sz="1900" dirty="0"/>
          </a:p>
          <a:p>
            <a:pPr indent="0" marL="0">
              <a:spcAft>
                <a:spcPts val="400"/>
              </a:spcAft>
              <a:buNone/>
            </a:pPr>
            <a:r>
              <a:rPr lang="en-US" sz="1600" dirty="0">
                <a:solidFill>
                  <a:srgbClr val="0B1F33"/>
                </a:solidFill>
              </a:rPr>
              <a:t>​</a:t>
            </a:r>
            <a:r>
              <a:rPr lang="en-US" sz="1600" dirty="0">
                <a:solidFill>
                  <a:srgbClr val="0B1F33"/>
                </a:solidFill>
                <a:highlight>
                  <a:srgbClr val="FFFF00"/>
                </a:highlight>
              </a:rPr>
              <a:t>Collective authorisation validity</a:t>
            </a:r>
            <a:endParaRPr lang="en-US" sz="1900" dirty="0"/>
          </a:p>
        </p:txBody>
      </p:sp>
      <p:sp>
        <p:nvSpPr>
          <p:cNvPr id="10" name="card VP"/>
          <p:cNvSpPr/>
          <p:nvPr/>
        </p:nvSpPr>
        <p:spPr>
          <a:xfrm>
            <a:off x="5065776" y="2606040"/>
            <a:ext cx="2011680" cy="1417320"/>
          </a:xfrm>
          <a:prstGeom prst="roundRect">
            <a:avLst>
              <a:gd name="adj" fmla="val 6452"/>
            </a:avLst>
          </a:prstGeom>
          <a:solidFill>
            <a:srgbClr val="FFFFFF">
              <a:alpha val="92000"/>
            </a:srgbClr>
          </a:solidFill>
          <a:ln w="19050">
            <a:solidFill>
              <a:srgbClr val="1FB5D6"/>
            </a:solidFill>
            <a:prstDash val="solid"/>
          </a:ln>
        </p:spPr>
      </p:sp>
      <p:sp>
        <p:nvSpPr>
          <p:cNvPr id="11" name="card text VP"/>
          <p:cNvSpPr txBox="1"/>
          <p:nvPr/>
        </p:nvSpPr>
        <p:spPr>
          <a:xfrm>
            <a:off x="5202936" y="2697480"/>
            <a:ext cx="1737360" cy="1234440"/>
          </a:xfrm>
          <a:prstGeom prst="rect">
            <a:avLst/>
          </a:prstGeom>
          <a:noFill/>
          <a:ln/>
        </p:spPr>
        <p:txBody>
          <a:bodyPr wrap="square" rtlCol="0" anchor="t"/>
          <a:lstStyle/>
          <a:p>
            <a:pPr indent="0" marL="0">
              <a:spcAft>
                <a:spcPts val="400"/>
              </a:spcAft>
              <a:buNone/>
            </a:pPr>
            <a:r>
              <a:rPr lang="en-US" sz="1900" b="1" dirty="0">
                <a:solidFill>
                  <a:srgbClr val="0B2A4A"/>
                </a:solidFill>
              </a:rPr>
              <a:t>VP</a:t>
            </a:r>
            <a:endParaRPr lang="en-US" sz="1900" dirty="0"/>
          </a:p>
          <a:p>
            <a:pPr indent="0" marL="0">
              <a:spcAft>
                <a:spcPts val="400"/>
              </a:spcAft>
              <a:buNone/>
            </a:pPr>
            <a:r>
              <a:rPr lang="en-US" sz="1600" dirty="0">
                <a:solidFill>
                  <a:srgbClr val="0B1F33"/>
                </a:solidFill>
              </a:rPr>
              <a:t>​</a:t>
            </a:r>
            <a:r>
              <a:rPr lang="en-US" sz="1600" dirty="0">
                <a:solidFill>
                  <a:srgbClr val="0B1F33"/>
                </a:solidFill>
                <a:highlight>
                  <a:srgbClr val="FFFF00"/>
                </a:highlight>
              </a:rPr>
              <a:t>Policy and contextual compliance</a:t>
            </a:r>
            <a:endParaRPr lang="en-US" sz="1900" dirty="0"/>
          </a:p>
        </p:txBody>
      </p:sp>
      <p:sp>
        <p:nvSpPr>
          <p:cNvPr id="12" name="card VT"/>
          <p:cNvSpPr/>
          <p:nvPr/>
        </p:nvSpPr>
        <p:spPr>
          <a:xfrm>
            <a:off x="7232904" y="2606040"/>
            <a:ext cx="2011680" cy="1417320"/>
          </a:xfrm>
          <a:prstGeom prst="roundRect">
            <a:avLst>
              <a:gd name="adj" fmla="val 6452"/>
            </a:avLst>
          </a:prstGeom>
          <a:solidFill>
            <a:srgbClr val="FFFFFF">
              <a:alpha val="92000"/>
            </a:srgbClr>
          </a:solidFill>
          <a:ln w="19050">
            <a:solidFill>
              <a:srgbClr val="1FB5D6"/>
            </a:solidFill>
            <a:prstDash val="solid"/>
          </a:ln>
        </p:spPr>
      </p:sp>
      <p:sp>
        <p:nvSpPr>
          <p:cNvPr id="13" name="card text VT"/>
          <p:cNvSpPr txBox="1"/>
          <p:nvPr/>
        </p:nvSpPr>
        <p:spPr>
          <a:xfrm>
            <a:off x="7370064" y="2697480"/>
            <a:ext cx="1737360" cy="1234440"/>
          </a:xfrm>
          <a:prstGeom prst="rect">
            <a:avLst/>
          </a:prstGeom>
          <a:noFill/>
          <a:ln/>
        </p:spPr>
        <p:txBody>
          <a:bodyPr wrap="square" rtlCol="0" anchor="t"/>
          <a:lstStyle/>
          <a:p>
            <a:pPr indent="0" marL="0">
              <a:spcAft>
                <a:spcPts val="400"/>
              </a:spcAft>
              <a:buNone/>
            </a:pPr>
            <a:r>
              <a:rPr lang="en-US" sz="1900" b="1" dirty="0">
                <a:solidFill>
                  <a:srgbClr val="0B2A4A"/>
                </a:solidFill>
              </a:rPr>
              <a:t>VT</a:t>
            </a:r>
            <a:endParaRPr lang="en-US" sz="1900" dirty="0"/>
          </a:p>
          <a:p>
            <a:pPr indent="0" marL="0">
              <a:spcAft>
                <a:spcPts val="400"/>
              </a:spcAft>
              <a:buNone/>
            </a:pPr>
            <a:r>
              <a:rPr lang="en-US" sz="1600" dirty="0">
                <a:solidFill>
                  <a:srgbClr val="0B1F33"/>
                </a:solidFill>
              </a:rPr>
              <a:t>​</a:t>
            </a:r>
            <a:r>
              <a:rPr lang="en-US" sz="1600" dirty="0">
                <a:solidFill>
                  <a:srgbClr val="0B1F33"/>
                </a:solidFill>
                <a:highlight>
                  <a:srgbClr val="FFFF00"/>
                </a:highlight>
              </a:rPr>
              <a:t>Temporal validity</a:t>
            </a:r>
            <a:endParaRPr lang="en-US" sz="1900" dirty="0"/>
          </a:p>
        </p:txBody>
      </p:sp>
      <p:sp>
        <p:nvSpPr>
          <p:cNvPr id="14" name="card VL"/>
          <p:cNvSpPr/>
          <p:nvPr/>
        </p:nvSpPr>
        <p:spPr>
          <a:xfrm>
            <a:off x="9400032" y="2606040"/>
            <a:ext cx="2011680" cy="1417320"/>
          </a:xfrm>
          <a:prstGeom prst="roundRect">
            <a:avLst>
              <a:gd name="adj" fmla="val 6452"/>
            </a:avLst>
          </a:prstGeom>
          <a:solidFill>
            <a:srgbClr val="FFFFFF">
              <a:alpha val="92000"/>
            </a:srgbClr>
          </a:solidFill>
          <a:ln w="19050">
            <a:solidFill>
              <a:srgbClr val="1FB5D6"/>
            </a:solidFill>
            <a:prstDash val="solid"/>
          </a:ln>
        </p:spPr>
      </p:sp>
      <p:sp>
        <p:nvSpPr>
          <p:cNvPr id="15" name="card text VL"/>
          <p:cNvSpPr txBox="1"/>
          <p:nvPr/>
        </p:nvSpPr>
        <p:spPr>
          <a:xfrm>
            <a:off x="9537192" y="2697480"/>
            <a:ext cx="1737360" cy="1234440"/>
          </a:xfrm>
          <a:prstGeom prst="rect">
            <a:avLst/>
          </a:prstGeom>
          <a:noFill/>
          <a:ln/>
        </p:spPr>
        <p:txBody>
          <a:bodyPr wrap="square" rtlCol="0" anchor="t"/>
          <a:lstStyle/>
          <a:p>
            <a:pPr indent="0" marL="0">
              <a:spcAft>
                <a:spcPts val="400"/>
              </a:spcAft>
              <a:buNone/>
            </a:pPr>
            <a:r>
              <a:rPr lang="en-US" sz="1900" b="1" dirty="0">
                <a:solidFill>
                  <a:srgbClr val="0B2A4A"/>
                </a:solidFill>
              </a:rPr>
              <a:t>VL</a:t>
            </a:r>
            <a:endParaRPr lang="en-US" sz="1900" dirty="0"/>
          </a:p>
          <a:p>
            <a:pPr indent="0" marL="0">
              <a:spcAft>
                <a:spcPts val="400"/>
              </a:spcAft>
              <a:buNone/>
            </a:pPr>
            <a:r>
              <a:rPr lang="en-US" sz="1600" dirty="0">
                <a:solidFill>
                  <a:srgbClr val="0B1F33"/>
                </a:solidFill>
              </a:rPr>
              <a:t>​</a:t>
            </a:r>
            <a:r>
              <a:rPr lang="en-US" sz="1600" dirty="0">
                <a:solidFill>
                  <a:srgbClr val="0B1F33"/>
                </a:solidFill>
                <a:highlight>
                  <a:srgbClr val="FFFF00"/>
                </a:highlight>
              </a:rPr>
              <a:t>Consent lifecycle validity</a:t>
            </a:r>
            <a:endParaRPr lang="en-US" sz="1900" dirty="0"/>
          </a:p>
        </p:txBody>
      </p:sp>
      <p:sp>
        <p:nvSpPr>
          <p:cNvPr id="16" name="bullets"/>
          <p:cNvSpPr txBox="1"/>
          <p:nvPr/>
        </p:nvSpPr>
        <p:spPr>
          <a:xfrm>
            <a:off x="822960" y="4343400"/>
            <a:ext cx="10515600" cy="1920240"/>
          </a:xfrm>
          <a:prstGeom prst="rect">
            <a:avLst/>
          </a:prstGeom>
          <a:noFill/>
          <a:ln/>
        </p:spPr>
        <p:txBody>
          <a:bodyPr wrap="square" rtlCol="0" anchor="t"/>
          <a:lstStyle/>
          <a:p>
            <a:pPr marL="342900" indent="-342900">
              <a:spcAft>
                <a:spcPts val="1000"/>
              </a:spcAft>
              <a:buSzPct val="100000"/>
              <a:buChar char="•"/>
            </a:pPr>
            <a:r>
              <a:rPr lang="en-US" sz="1800" dirty="0">
                <a:solidFill>
                  <a:srgbClr val="FFFFFF"/>
                </a:solidFill>
              </a:rPr>
              <a:t>Failure of any one condition gives DENY.</a:t>
            </a:r>
            <a:endParaRPr lang="en-US" sz="1800" dirty="0"/>
          </a:p>
          <a:p>
            <a:pPr marL="342900" indent="-342900">
              <a:spcAft>
                <a:spcPts val="1000"/>
              </a:spcAft>
              <a:buSzPct val="100000"/>
              <a:buChar char="•"/>
            </a:pPr>
            <a:r>
              <a:rPr lang="en-US" sz="1800" dirty="0">
                <a:solidFill>
                  <a:srgbClr val="FFFFFF"/>
                </a:solidFill>
              </a:rPr>
              <a:t>In the prototype, a Groth16 zero-knowledge proof must also verify before any data is released.</a:t>
            </a:r>
            <a:endParaRPr lang="en-US" sz="1800" dirty="0"/>
          </a:p>
          <a:p>
            <a:pPr marL="342900" indent="-342900">
              <a:spcAft>
                <a:spcPts val="1000"/>
              </a:spcAft>
              <a:buSzPct val="100000"/>
              <a:buChar char="•"/>
            </a:pPr>
            <a:r>
              <a:rPr lang="en-US" sz="1800" dirty="0">
                <a:solidFill>
                  <a:srgbClr val="FFFFFF"/>
                </a:solidFill>
              </a:rPr>
              <a:t>​</a:t>
            </a:r>
            <a:r>
              <a:rPr lang="en-US" sz="1800" dirty="0">
                <a:solidFill>
                  <a:srgbClr val="0B1F33"/>
                </a:solidFill>
                <a:highlight>
                  <a:srgbClr val="FFFF00"/>
                </a:highlight>
              </a:rPr>
              <a:t>Every access decision, allowed or denied, is written to the off-chain audit ledger with its decision matrix.</a:t>
            </a:r>
            <a:endParaRPr lang="en-US" sz="18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THE PROPOSED SOLUTION FOR RO1</a:t>
            </a:r>
            <a:endParaRPr lang="en-US" sz="3000" dirty="0"/>
          </a:p>
        </p:txBody>
      </p:sp>
      <p:sp>
        <p:nvSpPr>
          <p:cNvPr id="4" name="objective subtitle"/>
          <p:cNvSpPr txBox="1"/>
          <p:nvPr/>
        </p:nvSpPr>
        <p:spPr>
          <a:xfrm>
            <a:off x="548640" y="960120"/>
            <a:ext cx="5303520" cy="731520"/>
          </a:xfrm>
          <a:prstGeom prst="rect">
            <a:avLst/>
          </a:prstGeom>
          <a:noFill/>
          <a:ln/>
        </p:spPr>
        <p:txBody>
          <a:bodyPr wrap="square" rtlCol="0" anchor="t"/>
          <a:lstStyle/>
          <a:p>
            <a:pPr indent="0" marL="0">
              <a:buNone/>
            </a:pPr>
            <a:r>
              <a:rPr lang="en-US" sz="1700" b="1" i="1" dirty="0">
                <a:solidFill>
                  <a:srgbClr val="1FB5D6"/>
                </a:solidFill>
              </a:rPr>
              <a:t>​</a:t>
            </a:r>
            <a:r>
              <a:rPr lang="en-US" sz="1700" b="1" i="1" dirty="0">
                <a:solidFill>
                  <a:srgbClr val="0B1F33"/>
                </a:solidFill>
                <a:highlight>
                  <a:srgbClr val="FFFF00"/>
                </a:highlight>
              </a:rPr>
              <a:t>Trust-Centric Consent Model</a:t>
            </a:r>
            <a:endParaRPr lang="en-US" sz="1700" dirty="0"/>
          </a:p>
        </p:txBody>
      </p:sp>
      <p:sp>
        <p:nvSpPr>
          <p:cNvPr id="5" name="status chip"/>
          <p:cNvSpPr/>
          <p:nvPr/>
        </p:nvSpPr>
        <p:spPr>
          <a:xfrm>
            <a:off x="548640" y="1783080"/>
            <a:ext cx="2377440" cy="411480"/>
          </a:xfrm>
          <a:prstGeom prst="roundRect">
            <a:avLst>
              <a:gd name="adj" fmla="val 44444"/>
            </a:avLst>
          </a:prstGeom>
          <a:solidFill>
            <a:srgbClr val="2E7D32"/>
          </a:solidFill>
          <a:ln w="12700">
            <a:solidFill>
              <a:srgbClr val="2E7D32"/>
            </a:solidFill>
            <a:prstDash val="solid"/>
          </a:ln>
        </p:spPr>
      </p:sp>
      <p:sp>
        <p:nvSpPr>
          <p:cNvPr id="6" name="status text"/>
          <p:cNvSpPr txBox="1"/>
          <p:nvPr/>
        </p:nvSpPr>
        <p:spPr>
          <a:xfrm>
            <a:off x="548640" y="1783080"/>
            <a:ext cx="2377440" cy="411480"/>
          </a:xfrm>
          <a:prstGeom prst="rect">
            <a:avLst/>
          </a:prstGeom>
          <a:noFill/>
          <a:ln/>
        </p:spPr>
        <p:txBody>
          <a:bodyPr wrap="square" rtlCol="0" anchor="ctr"/>
          <a:lstStyle/>
          <a:p>
            <a:pPr algn="ctr" indent="0" marL="0">
              <a:buNone/>
            </a:pPr>
            <a:r>
              <a:rPr lang="en-US" sz="1400" b="1" dirty="0">
                <a:solidFill>
                  <a:srgbClr val="FFFFFF"/>
                </a:solidFill>
              </a:rPr>
              <a:t>Status: Done</a:t>
            </a:r>
            <a:endParaRPr lang="en-US" sz="1400" dirty="0"/>
          </a:p>
        </p:txBody>
      </p:sp>
      <p:sp>
        <p:nvSpPr>
          <p:cNvPr id="7" name="bullets"/>
          <p:cNvSpPr txBox="1"/>
          <p:nvPr/>
        </p:nvSpPr>
        <p:spPr>
          <a:xfrm>
            <a:off x="548640" y="2377440"/>
            <a:ext cx="5303520" cy="4069080"/>
          </a:xfrm>
          <a:prstGeom prst="rect">
            <a:avLst/>
          </a:prstGeom>
          <a:noFill/>
          <a:ln/>
        </p:spPr>
        <p:txBody>
          <a:bodyPr wrap="square" rtlCol="0" anchor="t"/>
          <a:lstStyle/>
          <a:p>
            <a:pPr marL="342900" indent="-342900">
              <a:spcAft>
                <a:spcPts val="1000"/>
              </a:spcAft>
              <a:buSzPct val="100000"/>
              <a:buChar char="•"/>
            </a:pPr>
            <a:r>
              <a:rPr lang="en-US" sz="1600" dirty="0">
                <a:solidFill>
                  <a:srgbClr val="FFFFFF"/>
                </a:solidFill>
              </a:rPr>
              <a:t>The patient selects the patient DID, doctor, guardians, data scope </a:t>
            </a:r>
            <a:r>
              <a:rPr lang="en-US" sz="1600" dirty="0">
                <a:solidFill>
                  <a:srgbClr val="0B1F33"/>
                </a:solidFill>
                <a:highlight>
                  <a:srgbClr val="FFFF00"/>
                </a:highlight>
              </a:rPr>
              <a:t>and</a:t>
            </a:r>
            <a:r>
              <a:rPr lang="en-US" sz="1600" dirty="0">
                <a:solidFill>
                  <a:srgbClr val="FFFFFF"/>
                </a:solidFill>
              </a:rPr>
              <a:t> validity time; the purpose is fixed to Treatment.</a:t>
            </a:r>
            <a:endParaRPr lang="en-US" sz="1600" dirty="0"/>
          </a:p>
          <a:p>
            <a:pPr marL="342900" indent="-342900">
              <a:spcAft>
                <a:spcPts val="1000"/>
              </a:spcAft>
              <a:buSzPct val="100000"/>
              <a:buChar char="•"/>
            </a:pPr>
            <a:r>
              <a:rPr lang="en-US" sz="1600" dirty="0">
                <a:solidFill>
                  <a:srgbClr val="FFFFFF"/>
                </a:solidFill>
              </a:rPr>
              <a:t>The input is validated; an empty scope or a malformed guardian DID is rejected.</a:t>
            </a:r>
            <a:endParaRPr lang="en-US" sz="1600" dirty="0"/>
          </a:p>
          <a:p>
            <a:pPr marL="342900" indent="-342900">
              <a:spcAft>
                <a:spcPts val="1000"/>
              </a:spcAft>
              <a:buSzPct val="100000"/>
              <a:buChar char="•"/>
            </a:pPr>
            <a:r>
              <a:rPr lang="en-US" sz="1600" dirty="0">
                <a:solidFill>
                  <a:srgbClr val="FFFFFF"/>
                </a:solidFill>
              </a:rPr>
              <a:t>​</a:t>
            </a:r>
            <a:r>
              <a:rPr lang="en-US" sz="1600" dirty="0">
                <a:solidFill>
                  <a:srgbClr val="0B1F33"/>
                </a:solidFill>
                <a:highlight>
                  <a:srgbClr val="FFFF00"/>
                </a:highlight>
              </a:rPr>
              <a:t>The consent object C = (I, A, P, T, L, E) is built and a consent identifier is assigned.</a:t>
            </a:r>
            <a:endParaRPr lang="en-US" sz="1600" dirty="0"/>
          </a:p>
          <a:p>
            <a:pPr marL="342900" indent="-342900">
              <a:spcAft>
                <a:spcPts val="1000"/>
              </a:spcAft>
              <a:buSzPct val="100000"/>
              <a:buChar char="•"/>
            </a:pPr>
            <a:r>
              <a:rPr lang="en-US" sz="1600" dirty="0">
                <a:solidFill>
                  <a:srgbClr val="FFFFFF"/>
                </a:solidFill>
              </a:rPr>
              <a:t>The consent is stored in the state PENDING_SIGNATURE; nothing is on-chain until all guardians approve.</a:t>
            </a:r>
            <a:endParaRPr lang="en-US" sz="1600" dirty="0"/>
          </a:p>
          <a:p>
            <a:pPr marL="342900" indent="-342900">
              <a:spcAft>
                <a:spcPts val="1000"/>
              </a:spcAft>
              <a:buSzPct val="100000"/>
              <a:buChar char="•"/>
            </a:pPr>
            <a:r>
              <a:rPr lang="en-US" sz="1600" dirty="0">
                <a:solidFill>
                  <a:srgbClr val="FFFFFF"/>
                </a:solidFill>
              </a:rPr>
              <a:t>Creation evidence is recorded in the audit ledger.</a:t>
            </a:r>
            <a:endParaRPr lang="en-US" sz="1600" dirty="0"/>
          </a:p>
        </p:txBody>
      </p:sp>
      <p:sp>
        <p:nvSpPr>
          <p:cNvPr id="8" name="ALG1 panel"/>
          <p:cNvSpPr/>
          <p:nvPr/>
        </p:nvSpPr>
        <p:spPr>
          <a:xfrm>
            <a:off x="6035040" y="1745454"/>
            <a:ext cx="5715000" cy="3961452"/>
          </a:xfrm>
          <a:prstGeom prst="roundRect">
            <a:avLst>
              <a:gd name="adj" fmla="val 2770"/>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pic>
        <p:nvPicPr>
          <p:cNvPr id="9" name="ALG1" descr="/tmp/deck/img/yellow/ALG1.png">    </p:cNvPr>
          <p:cNvPicPr>
            <a:picLocks noChangeAspect="1"/>
          </p:cNvPicPr>
          <p:nvPr/>
        </p:nvPicPr>
        <p:blipFill>
          <a:blip r:embed="rId1"/>
          <a:stretch>
            <a:fillRect/>
          </a:stretch>
        </p:blipFill>
        <p:spPr>
          <a:xfrm>
            <a:off x="6164780" y="1855182"/>
            <a:ext cx="5455520" cy="3741996"/>
          </a:xfrm>
          <a:prstGeom prst="rect">
            <a:avLst/>
          </a:prstGeom>
        </p:spPr>
      </p:pic>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a:t>
            </a:r>
            <a:r>
              <a:rPr lang="en-US" sz="3000" b="1" dirty="0">
                <a:solidFill>
                  <a:srgbClr val="0B1F33"/>
                </a:solidFill>
                <a:highlight>
                  <a:srgbClr val="FFFF00"/>
                </a:highlight>
                <a:latin typeface="Arial" pitchFamily="34" charset="0"/>
                <a:ea typeface="Arial" pitchFamily="34" charset="-122"/>
                <a:cs typeface="Arial" pitchFamily="34" charset="-120"/>
              </a:rPr>
              <a:t>RO1: ALGORITHM 1 AS A FLOWCHART</a:t>
            </a:r>
            <a:endParaRPr lang="en-US" sz="3000" dirty="0"/>
          </a:p>
        </p:txBody>
      </p:sp>
      <p:sp>
        <p:nvSpPr>
          <p:cNvPr id="3" name="objective subtitle"/>
          <p:cNvSpPr txBox="1"/>
          <p:nvPr/>
        </p:nvSpPr>
        <p:spPr>
          <a:xfrm>
            <a:off x="548640" y="960120"/>
            <a:ext cx="3291840" cy="731520"/>
          </a:xfrm>
          <a:prstGeom prst="rect">
            <a:avLst/>
          </a:prstGeom>
          <a:noFill/>
          <a:ln/>
        </p:spPr>
        <p:txBody>
          <a:bodyPr wrap="square" rtlCol="0" anchor="t"/>
          <a:lstStyle/>
          <a:p>
            <a:pPr indent="0" marL="0">
              <a:buNone/>
            </a:pPr>
            <a:r>
              <a:rPr lang="en-US" sz="1500" b="1" i="1" dirty="0">
                <a:solidFill>
                  <a:srgbClr val="1FB5D6"/>
                </a:solidFill>
              </a:rPr>
              <a:t>​</a:t>
            </a:r>
            <a:r>
              <a:rPr lang="en-US" sz="1500" b="1" i="1" dirty="0">
                <a:solidFill>
                  <a:srgbClr val="0B1F33"/>
                </a:solidFill>
                <a:highlight>
                  <a:srgbClr val="FFFF00"/>
                </a:highlight>
              </a:rPr>
              <a:t>Trust-Centric Consent Model</a:t>
            </a:r>
            <a:endParaRPr lang="en-US" sz="1500" dirty="0"/>
          </a:p>
        </p:txBody>
      </p:sp>
      <p:sp>
        <p:nvSpPr>
          <p:cNvPr id="4" name="status chip"/>
          <p:cNvSpPr/>
          <p:nvPr/>
        </p:nvSpPr>
        <p:spPr>
          <a:xfrm>
            <a:off x="548640" y="1783080"/>
            <a:ext cx="2377440" cy="411480"/>
          </a:xfrm>
          <a:prstGeom prst="roundRect">
            <a:avLst>
              <a:gd name="adj" fmla="val 44444"/>
            </a:avLst>
          </a:prstGeom>
          <a:solidFill>
            <a:srgbClr val="2E7D32"/>
          </a:solidFill>
          <a:ln w="12700">
            <a:solidFill>
              <a:srgbClr val="2E7D32"/>
            </a:solidFill>
            <a:prstDash val="solid"/>
          </a:ln>
        </p:spPr>
      </p:sp>
      <p:sp>
        <p:nvSpPr>
          <p:cNvPr id="5" name="status text"/>
          <p:cNvSpPr txBox="1"/>
          <p:nvPr/>
        </p:nvSpPr>
        <p:spPr>
          <a:xfrm>
            <a:off x="548640" y="1783080"/>
            <a:ext cx="2377440" cy="411480"/>
          </a:xfrm>
          <a:prstGeom prst="rect">
            <a:avLst/>
          </a:prstGeom>
          <a:noFill/>
          <a:ln/>
        </p:spPr>
        <p:txBody>
          <a:bodyPr wrap="square" rtlCol="0" anchor="ctr"/>
          <a:lstStyle/>
          <a:p>
            <a:pPr algn="ctr" indent="0" marL="0">
              <a:buNone/>
            </a:pPr>
            <a:r>
              <a:rPr lang="en-US" sz="1400" b="1" dirty="0">
                <a:solidFill>
                  <a:srgbClr val="FFFFFF"/>
                </a:solidFill>
              </a:rPr>
              <a:t>Status: Done</a:t>
            </a:r>
            <a:endParaRPr lang="en-US" sz="1400" dirty="0"/>
          </a:p>
        </p:txBody>
      </p:sp>
      <p:sp>
        <p:nvSpPr>
          <p:cNvPr id="6" name="F10 panel"/>
          <p:cNvSpPr/>
          <p:nvPr/>
        </p:nvSpPr>
        <p:spPr>
          <a:xfrm>
            <a:off x="4743972" y="960120"/>
            <a:ext cx="2703751" cy="5532120"/>
          </a:xfrm>
          <a:prstGeom prst="roundRect">
            <a:avLst>
              <a:gd name="adj" fmla="val 4058"/>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pic>
        <p:nvPicPr>
          <p:cNvPr id="7" name="F10" descr="/tmp/deck/img/yellow/F10.png">    </p:cNvPr>
          <p:cNvPicPr>
            <a:picLocks noChangeAspect="1"/>
          </p:cNvPicPr>
          <p:nvPr/>
        </p:nvPicPr>
        <p:blipFill>
          <a:blip r:embed="rId1"/>
          <a:stretch>
            <a:fillRect/>
          </a:stretch>
        </p:blipFill>
        <p:spPr>
          <a:xfrm>
            <a:off x="4853700" y="1069848"/>
            <a:ext cx="2484295" cy="5312664"/>
          </a:xfrm>
          <a:prstGeom prst="rect">
            <a:avLst/>
          </a:prstGeom>
        </p:spPr>
      </p:pic>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THE PROPOSED SOLUTION FOR RO2</a:t>
            </a:r>
            <a:endParaRPr lang="en-US" sz="3000" dirty="0"/>
          </a:p>
        </p:txBody>
      </p:sp>
      <p:sp>
        <p:nvSpPr>
          <p:cNvPr id="4" name="objective subtitle"/>
          <p:cNvSpPr txBox="1"/>
          <p:nvPr/>
        </p:nvSpPr>
        <p:spPr>
          <a:xfrm>
            <a:off x="548640" y="960120"/>
            <a:ext cx="5303520" cy="731520"/>
          </a:xfrm>
          <a:prstGeom prst="rect">
            <a:avLst/>
          </a:prstGeom>
          <a:noFill/>
          <a:ln/>
        </p:spPr>
        <p:txBody>
          <a:bodyPr wrap="square" rtlCol="0" anchor="t"/>
          <a:lstStyle/>
          <a:p>
            <a:pPr indent="0" marL="0">
              <a:buNone/>
            </a:pPr>
            <a:r>
              <a:rPr lang="en-US" sz="1700" b="1" i="1" dirty="0">
                <a:solidFill>
                  <a:srgbClr val="1FB5D6"/>
                </a:solidFill>
              </a:rPr>
              <a:t>​</a:t>
            </a:r>
            <a:r>
              <a:rPr lang="en-US" sz="1700" b="1" i="1" dirty="0">
                <a:solidFill>
                  <a:srgbClr val="0B1F33"/>
                </a:solidFill>
                <a:highlight>
                  <a:srgbClr val="FFFF00"/>
                </a:highlight>
              </a:rPr>
              <a:t>Decentralised Identity and Authority Trust</a:t>
            </a:r>
            <a:endParaRPr lang="en-US" sz="1700" dirty="0"/>
          </a:p>
        </p:txBody>
      </p:sp>
      <p:sp>
        <p:nvSpPr>
          <p:cNvPr id="5" name="status chip"/>
          <p:cNvSpPr/>
          <p:nvPr/>
        </p:nvSpPr>
        <p:spPr>
          <a:xfrm>
            <a:off x="548640" y="1783080"/>
            <a:ext cx="2377440" cy="411480"/>
          </a:xfrm>
          <a:prstGeom prst="roundRect">
            <a:avLst>
              <a:gd name="adj" fmla="val 44444"/>
            </a:avLst>
          </a:prstGeom>
          <a:solidFill>
            <a:srgbClr val="2E7D32"/>
          </a:solidFill>
          <a:ln w="12700">
            <a:solidFill>
              <a:srgbClr val="2E7D32"/>
            </a:solidFill>
            <a:prstDash val="solid"/>
          </a:ln>
        </p:spPr>
      </p:sp>
      <p:sp>
        <p:nvSpPr>
          <p:cNvPr id="6" name="status text"/>
          <p:cNvSpPr txBox="1"/>
          <p:nvPr/>
        </p:nvSpPr>
        <p:spPr>
          <a:xfrm>
            <a:off x="548640" y="1783080"/>
            <a:ext cx="2377440" cy="411480"/>
          </a:xfrm>
          <a:prstGeom prst="rect">
            <a:avLst/>
          </a:prstGeom>
          <a:noFill/>
          <a:ln/>
        </p:spPr>
        <p:txBody>
          <a:bodyPr wrap="square" rtlCol="0" anchor="ctr"/>
          <a:lstStyle/>
          <a:p>
            <a:pPr algn="ctr" indent="0" marL="0">
              <a:buNone/>
            </a:pPr>
            <a:r>
              <a:rPr lang="en-US" sz="1400" b="1" dirty="0">
                <a:solidFill>
                  <a:srgbClr val="FFFFFF"/>
                </a:solidFill>
              </a:rPr>
              <a:t>Status: Done</a:t>
            </a:r>
            <a:endParaRPr lang="en-US" sz="1400" dirty="0"/>
          </a:p>
        </p:txBody>
      </p:sp>
      <p:sp>
        <p:nvSpPr>
          <p:cNvPr id="7" name="bullets"/>
          <p:cNvSpPr txBox="1"/>
          <p:nvPr/>
        </p:nvSpPr>
        <p:spPr>
          <a:xfrm>
            <a:off x="548640" y="2377440"/>
            <a:ext cx="5303520" cy="4069080"/>
          </a:xfrm>
          <a:prstGeom prst="rect">
            <a:avLst/>
          </a:prstGeom>
          <a:noFill/>
          <a:ln/>
        </p:spPr>
        <p:txBody>
          <a:bodyPr wrap="square" rtlCol="0" anchor="t"/>
          <a:lstStyle/>
          <a:p>
            <a:pPr marL="342900" indent="-342900">
              <a:spcAft>
                <a:spcPts val="1000"/>
              </a:spcAft>
              <a:buSzPct val="100000"/>
              <a:buChar char="•"/>
            </a:pPr>
            <a:r>
              <a:rPr lang="en-US" sz="1500" dirty="0">
                <a:solidFill>
                  <a:srgbClr val="FFFFFF"/>
                </a:solidFill>
              </a:rPr>
              <a:t>Identity is checked through the participant's DID; authority through a verifiable credential.</a:t>
            </a:r>
            <a:endParaRPr lang="en-US" sz="1500" dirty="0"/>
          </a:p>
          <a:p>
            <a:pPr marL="342900" indent="-342900">
              <a:spcAft>
                <a:spcPts val="1000"/>
              </a:spcAft>
              <a:buSzPct val="100000"/>
              <a:buChar char="•"/>
            </a:pPr>
            <a:r>
              <a:rPr lang="en-US" sz="1500" dirty="0">
                <a:solidFill>
                  <a:srgbClr val="FFFFFF"/>
                </a:solidFill>
              </a:rPr>
              <a:t>Identity is not authority: a valid DID alone never gives access.</a:t>
            </a:r>
            <a:endParaRPr lang="en-US" sz="1500" dirty="0"/>
          </a:p>
          <a:p>
            <a:pPr marL="342900" indent="-342900">
              <a:spcAft>
                <a:spcPts val="1000"/>
              </a:spcAft>
              <a:buSzPct val="100000"/>
              <a:buChar char="•"/>
            </a:pPr>
            <a:r>
              <a:rPr lang="en-US" sz="1500" dirty="0">
                <a:solidFill>
                  <a:srgbClr val="FFFFFF"/>
                </a:solidFill>
              </a:rPr>
              <a:t>VI(u) = VerifyDID(u) ∧ VerifyVC(u) ∧ Authority(u, C).</a:t>
            </a:r>
            <a:endParaRPr lang="en-US" sz="1500" dirty="0"/>
          </a:p>
          <a:p>
            <a:pPr marL="342900" indent="-342900">
              <a:spcAft>
                <a:spcPts val="1000"/>
              </a:spcAft>
              <a:buSzPct val="100000"/>
              <a:buChar char="•"/>
            </a:pPr>
            <a:r>
              <a:rPr lang="en-US" sz="1500" dirty="0">
                <a:solidFill>
                  <a:srgbClr val="FFFFFF"/>
                </a:solidFill>
              </a:rPr>
              <a:t>​</a:t>
            </a:r>
            <a:r>
              <a:rPr lang="en-US" sz="1500" dirty="0">
                <a:solidFill>
                  <a:srgbClr val="0B1F33"/>
                </a:solidFill>
                <a:highlight>
                  <a:srgbClr val="FFFF00"/>
                </a:highlight>
              </a:rPr>
              <a:t>In the HALAH implementation, the Guardian workflow uses a selected guardian DID and invokes VC verification before adding the guardian's signature to the consent.</a:t>
            </a:r>
            <a:endParaRPr lang="en-US" sz="1500" dirty="0"/>
          </a:p>
          <a:p>
            <a:pPr marL="342900" indent="-342900">
              <a:spcAft>
                <a:spcPts val="1000"/>
              </a:spcAft>
              <a:buSzPct val="100000"/>
              <a:buChar char="•"/>
            </a:pPr>
            <a:r>
              <a:rPr lang="en-US" sz="1500" dirty="0">
                <a:solidFill>
                  <a:srgbClr val="FFFFFF"/>
                </a:solidFill>
              </a:rPr>
              <a:t>Full DID resolution </a:t>
            </a:r>
            <a:r>
              <a:rPr lang="en-US" sz="1500" dirty="0">
                <a:solidFill>
                  <a:srgbClr val="0B1F33"/>
                </a:solidFill>
                <a:highlight>
                  <a:srgbClr val="FFFF00"/>
                </a:highlight>
              </a:rPr>
              <a:t>is</a:t>
            </a:r>
            <a:r>
              <a:rPr lang="en-US" sz="1500" dirty="0">
                <a:solidFill>
                  <a:srgbClr val="FFFFFF"/>
                </a:solidFill>
              </a:rPr>
              <a:t> planned for the next stage.</a:t>
            </a:r>
            <a:endParaRPr lang="en-US" sz="1500" dirty="0"/>
          </a:p>
        </p:txBody>
      </p:sp>
      <p:sp>
        <p:nvSpPr>
          <p:cNvPr id="8" name="ALG2 panel"/>
          <p:cNvSpPr/>
          <p:nvPr/>
        </p:nvSpPr>
        <p:spPr>
          <a:xfrm>
            <a:off x="6296033" y="960120"/>
            <a:ext cx="5193014" cy="5532120"/>
          </a:xfrm>
          <a:prstGeom prst="roundRect">
            <a:avLst>
              <a:gd name="adj" fmla="val 2113"/>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pic>
        <p:nvPicPr>
          <p:cNvPr id="9" name="ALG2" descr="/tmp/deck/img/yellow/ALG2.png">    </p:cNvPr>
          <p:cNvPicPr>
            <a:picLocks noChangeAspect="1"/>
          </p:cNvPicPr>
          <p:nvPr/>
        </p:nvPicPr>
        <p:blipFill>
          <a:blip r:embed="rId1"/>
          <a:stretch>
            <a:fillRect/>
          </a:stretch>
        </p:blipFill>
        <p:spPr>
          <a:xfrm>
            <a:off x="6405761" y="1073504"/>
            <a:ext cx="4973558" cy="5305352"/>
          </a:xfrm>
          <a:prstGeom prst="rect">
            <a:avLst/>
          </a:prstGeom>
        </p:spPr>
      </p:pic>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a:t>
            </a:r>
            <a:r>
              <a:rPr lang="en-US" sz="3000" b="1" dirty="0">
                <a:solidFill>
                  <a:srgbClr val="0B1F33"/>
                </a:solidFill>
                <a:highlight>
                  <a:srgbClr val="FFFF00"/>
                </a:highlight>
                <a:latin typeface="Arial" pitchFamily="34" charset="0"/>
                <a:ea typeface="Arial" pitchFamily="34" charset="-122"/>
                <a:cs typeface="Arial" pitchFamily="34" charset="-120"/>
              </a:rPr>
              <a:t>RO2: ALGORITHM 2 AS A FLOWCHART</a:t>
            </a:r>
            <a:endParaRPr lang="en-US" sz="3000" dirty="0"/>
          </a:p>
        </p:txBody>
      </p:sp>
      <p:sp>
        <p:nvSpPr>
          <p:cNvPr id="3" name="objective subtitle"/>
          <p:cNvSpPr txBox="1"/>
          <p:nvPr/>
        </p:nvSpPr>
        <p:spPr>
          <a:xfrm>
            <a:off x="548640" y="960120"/>
            <a:ext cx="3291840" cy="731520"/>
          </a:xfrm>
          <a:prstGeom prst="rect">
            <a:avLst/>
          </a:prstGeom>
          <a:noFill/>
          <a:ln/>
        </p:spPr>
        <p:txBody>
          <a:bodyPr wrap="square" rtlCol="0" anchor="t"/>
          <a:lstStyle/>
          <a:p>
            <a:pPr indent="0" marL="0">
              <a:buNone/>
            </a:pPr>
            <a:r>
              <a:rPr lang="en-US" sz="1500" b="1" i="1" dirty="0">
                <a:solidFill>
                  <a:srgbClr val="1FB5D6"/>
                </a:solidFill>
              </a:rPr>
              <a:t>​</a:t>
            </a:r>
            <a:r>
              <a:rPr lang="en-US" sz="1500" b="1" i="1" dirty="0">
                <a:solidFill>
                  <a:srgbClr val="0B1F33"/>
                </a:solidFill>
                <a:highlight>
                  <a:srgbClr val="FFFF00"/>
                </a:highlight>
              </a:rPr>
              <a:t>Decentralised Identity and Authority Trust</a:t>
            </a:r>
            <a:endParaRPr lang="en-US" sz="1500" dirty="0"/>
          </a:p>
        </p:txBody>
      </p:sp>
      <p:sp>
        <p:nvSpPr>
          <p:cNvPr id="4" name="status chip"/>
          <p:cNvSpPr/>
          <p:nvPr/>
        </p:nvSpPr>
        <p:spPr>
          <a:xfrm>
            <a:off x="548640" y="1783080"/>
            <a:ext cx="2377440" cy="411480"/>
          </a:xfrm>
          <a:prstGeom prst="roundRect">
            <a:avLst>
              <a:gd name="adj" fmla="val 44444"/>
            </a:avLst>
          </a:prstGeom>
          <a:solidFill>
            <a:srgbClr val="2E7D32"/>
          </a:solidFill>
          <a:ln w="12700">
            <a:solidFill>
              <a:srgbClr val="2E7D32"/>
            </a:solidFill>
            <a:prstDash val="solid"/>
          </a:ln>
        </p:spPr>
      </p:sp>
      <p:sp>
        <p:nvSpPr>
          <p:cNvPr id="5" name="status text"/>
          <p:cNvSpPr txBox="1"/>
          <p:nvPr/>
        </p:nvSpPr>
        <p:spPr>
          <a:xfrm>
            <a:off x="548640" y="1783080"/>
            <a:ext cx="2377440" cy="411480"/>
          </a:xfrm>
          <a:prstGeom prst="rect">
            <a:avLst/>
          </a:prstGeom>
          <a:noFill/>
          <a:ln/>
        </p:spPr>
        <p:txBody>
          <a:bodyPr wrap="square" rtlCol="0" anchor="ctr"/>
          <a:lstStyle/>
          <a:p>
            <a:pPr algn="ctr" indent="0" marL="0">
              <a:buNone/>
            </a:pPr>
            <a:r>
              <a:rPr lang="en-US" sz="1400" b="1" dirty="0">
                <a:solidFill>
                  <a:srgbClr val="FFFFFF"/>
                </a:solidFill>
              </a:rPr>
              <a:t>Status: Done</a:t>
            </a:r>
            <a:endParaRPr lang="en-US" sz="1400" dirty="0"/>
          </a:p>
        </p:txBody>
      </p:sp>
      <p:sp>
        <p:nvSpPr>
          <p:cNvPr id="6" name="F12 panel"/>
          <p:cNvSpPr/>
          <p:nvPr/>
        </p:nvSpPr>
        <p:spPr>
          <a:xfrm>
            <a:off x="4203067" y="960120"/>
            <a:ext cx="3785562" cy="5532120"/>
          </a:xfrm>
          <a:prstGeom prst="roundRect">
            <a:avLst>
              <a:gd name="adj" fmla="val 2899"/>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pic>
        <p:nvPicPr>
          <p:cNvPr id="7" name="F12" descr="/tmp/deck/img/F12.png">    </p:cNvPr>
          <p:cNvPicPr>
            <a:picLocks noChangeAspect="1"/>
          </p:cNvPicPr>
          <p:nvPr/>
        </p:nvPicPr>
        <p:blipFill>
          <a:blip r:embed="rId1"/>
          <a:stretch>
            <a:fillRect/>
          </a:stretch>
        </p:blipFill>
        <p:spPr>
          <a:xfrm>
            <a:off x="4312795" y="1069848"/>
            <a:ext cx="3566106" cy="5312664"/>
          </a:xfrm>
          <a:prstGeom prst="rect">
            <a:avLst/>
          </a:prstGeom>
        </p:spPr>
      </p:pic>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THE PROPOSED SOLUTION FOR RO3</a:t>
            </a:r>
            <a:endParaRPr lang="en-US" sz="3000" dirty="0"/>
          </a:p>
        </p:txBody>
      </p:sp>
      <p:sp>
        <p:nvSpPr>
          <p:cNvPr id="4" name="objective subtitle"/>
          <p:cNvSpPr txBox="1"/>
          <p:nvPr/>
        </p:nvSpPr>
        <p:spPr>
          <a:xfrm>
            <a:off x="548640" y="960120"/>
            <a:ext cx="5303520" cy="731520"/>
          </a:xfrm>
          <a:prstGeom prst="rect">
            <a:avLst/>
          </a:prstGeom>
          <a:noFill/>
          <a:ln/>
        </p:spPr>
        <p:txBody>
          <a:bodyPr wrap="square" rtlCol="0" anchor="t"/>
          <a:lstStyle/>
          <a:p>
            <a:pPr indent="0" marL="0">
              <a:buNone/>
            </a:pPr>
            <a:r>
              <a:rPr lang="en-US" sz="1700" b="1" i="1" dirty="0">
                <a:solidFill>
                  <a:srgbClr val="1FB5D6"/>
                </a:solidFill>
              </a:rPr>
              <a:t>​</a:t>
            </a:r>
            <a:r>
              <a:rPr lang="en-US" sz="1700" b="1" i="1" dirty="0">
                <a:solidFill>
                  <a:srgbClr val="0B1F33"/>
                </a:solidFill>
                <a:highlight>
                  <a:srgbClr val="FFFF00"/>
                </a:highlight>
              </a:rPr>
              <a:t>Trustworthy Multi-Party Authorisation</a:t>
            </a:r>
            <a:endParaRPr lang="en-US" sz="1700" dirty="0"/>
          </a:p>
        </p:txBody>
      </p:sp>
      <p:sp>
        <p:nvSpPr>
          <p:cNvPr id="5" name="status chip"/>
          <p:cNvSpPr/>
          <p:nvPr/>
        </p:nvSpPr>
        <p:spPr>
          <a:xfrm>
            <a:off x="548640" y="1783080"/>
            <a:ext cx="2377440" cy="411480"/>
          </a:xfrm>
          <a:prstGeom prst="roundRect">
            <a:avLst>
              <a:gd name="adj" fmla="val 44444"/>
            </a:avLst>
          </a:prstGeom>
          <a:solidFill>
            <a:srgbClr val="2E7D32"/>
          </a:solidFill>
          <a:ln w="12700">
            <a:solidFill>
              <a:srgbClr val="2E7D32"/>
            </a:solidFill>
            <a:prstDash val="solid"/>
          </a:ln>
        </p:spPr>
      </p:sp>
      <p:sp>
        <p:nvSpPr>
          <p:cNvPr id="6" name="status text"/>
          <p:cNvSpPr txBox="1"/>
          <p:nvPr/>
        </p:nvSpPr>
        <p:spPr>
          <a:xfrm>
            <a:off x="548640" y="1783080"/>
            <a:ext cx="2377440" cy="411480"/>
          </a:xfrm>
          <a:prstGeom prst="rect">
            <a:avLst/>
          </a:prstGeom>
          <a:noFill/>
          <a:ln/>
        </p:spPr>
        <p:txBody>
          <a:bodyPr wrap="square" rtlCol="0" anchor="ctr"/>
          <a:lstStyle/>
          <a:p>
            <a:pPr algn="ctr" indent="0" marL="0">
              <a:buNone/>
            </a:pPr>
            <a:r>
              <a:rPr lang="en-US" sz="1400" b="1" dirty="0">
                <a:solidFill>
                  <a:srgbClr val="FFFFFF"/>
                </a:solidFill>
              </a:rPr>
              <a:t>Status: Done</a:t>
            </a:r>
            <a:endParaRPr lang="en-US" sz="1400" dirty="0"/>
          </a:p>
        </p:txBody>
      </p:sp>
      <p:sp>
        <p:nvSpPr>
          <p:cNvPr id="7" name="bullets"/>
          <p:cNvSpPr txBox="1"/>
          <p:nvPr/>
        </p:nvSpPr>
        <p:spPr>
          <a:xfrm>
            <a:off x="548640" y="2377440"/>
            <a:ext cx="5303520" cy="4069080"/>
          </a:xfrm>
          <a:prstGeom prst="rect">
            <a:avLst/>
          </a:prstGeom>
          <a:noFill/>
          <a:ln/>
        </p:spPr>
        <p:txBody>
          <a:bodyPr wrap="square" rtlCol="0" anchor="t"/>
          <a:lstStyle/>
          <a:p>
            <a:pPr marL="342900" indent="-342900">
              <a:spcAft>
                <a:spcPts val="1000"/>
              </a:spcAft>
              <a:buSzPct val="100000"/>
              <a:buChar char="•"/>
            </a:pPr>
            <a:r>
              <a:rPr lang="en-US" sz="1450" dirty="0">
                <a:solidFill>
                  <a:srgbClr val="FFFFFF"/>
                </a:solidFill>
              </a:rPr>
              <a:t>The guardian set G is fixed when the consent is created.</a:t>
            </a:r>
            <a:endParaRPr lang="en-US" sz="1450" dirty="0"/>
          </a:p>
          <a:p>
            <a:pPr marL="342900" indent="-342900">
              <a:spcAft>
                <a:spcPts val="1000"/>
              </a:spcAft>
              <a:buSzPct val="100000"/>
              <a:buChar char="•"/>
            </a:pPr>
            <a:r>
              <a:rPr lang="en-US" sz="1450" dirty="0">
                <a:solidFill>
                  <a:srgbClr val="FFFFFF"/>
                </a:solidFill>
              </a:rPr>
              <a:t>Each guardian signs an EIP-712 approval, verified by signature recovery.</a:t>
            </a:r>
            <a:endParaRPr lang="en-US" sz="1450" dirty="0"/>
          </a:p>
          <a:p>
            <a:pPr marL="342900" indent="-342900">
              <a:spcAft>
                <a:spcPts val="1000"/>
              </a:spcAft>
              <a:buSzPct val="100000"/>
              <a:buChar char="•"/>
            </a:pPr>
            <a:r>
              <a:rPr lang="en-US" sz="1450" dirty="0">
                <a:solidFill>
                  <a:srgbClr val="FFFFFF"/>
                </a:solidFill>
              </a:rPr>
              <a:t>​</a:t>
            </a:r>
            <a:r>
              <a:rPr lang="en-US" sz="1450" dirty="0">
                <a:solidFill>
                  <a:srgbClr val="0B1F33"/>
                </a:solidFill>
                <a:highlight>
                  <a:srgbClr val="FFFF00"/>
                </a:highlight>
              </a:rPr>
              <a:t>Approvals from outside G and duplicate approvals are not counted; a replayed signature fails the identity check (VI).</a:t>
            </a:r>
            <a:endParaRPr lang="en-US" sz="1450" dirty="0"/>
          </a:p>
          <a:p>
            <a:pPr marL="342900" indent="-342900">
              <a:spcAft>
                <a:spcPts val="1000"/>
              </a:spcAft>
              <a:buSzPct val="100000"/>
              <a:buChar char="•"/>
            </a:pPr>
            <a:r>
              <a:rPr lang="en-US" sz="1450" dirty="0">
                <a:solidFill>
                  <a:srgbClr val="FFFFFF"/>
                </a:solidFill>
              </a:rPr>
              <a:t>N-of-N rule: a valid signature from every listed guardian (2-of-2 in the demo).</a:t>
            </a:r>
            <a:endParaRPr lang="en-US" sz="1450" dirty="0"/>
          </a:p>
          <a:p>
            <a:pPr marL="342900" indent="-342900">
              <a:spcAft>
                <a:spcPts val="1000"/>
              </a:spcAft>
              <a:buSzPct val="100000"/>
              <a:buChar char="•"/>
            </a:pPr>
            <a:r>
              <a:rPr lang="en-US" sz="1450" dirty="0">
                <a:solidFill>
                  <a:srgbClr val="FFFFFF"/>
                </a:solidFill>
              </a:rPr>
              <a:t>When the threshold is met, a local token is recorded and the mint is anchored on Sepolia in the background.</a:t>
            </a:r>
            <a:endParaRPr lang="en-US" sz="1450" dirty="0"/>
          </a:p>
        </p:txBody>
      </p:sp>
      <p:sp>
        <p:nvSpPr>
          <p:cNvPr id="8" name="ALG3 panel"/>
          <p:cNvSpPr/>
          <p:nvPr/>
        </p:nvSpPr>
        <p:spPr>
          <a:xfrm>
            <a:off x="6632236" y="960120"/>
            <a:ext cx="4520608" cy="5532120"/>
          </a:xfrm>
          <a:prstGeom prst="roundRect">
            <a:avLst>
              <a:gd name="adj" fmla="val 2427"/>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pic>
        <p:nvPicPr>
          <p:cNvPr id="9" name="ALG3" descr="/tmp/deck/img/yellow/ALG3.png">    </p:cNvPr>
          <p:cNvPicPr>
            <a:picLocks noChangeAspect="1"/>
          </p:cNvPicPr>
          <p:nvPr/>
        </p:nvPicPr>
        <p:blipFill>
          <a:blip r:embed="rId1"/>
          <a:stretch>
            <a:fillRect/>
          </a:stretch>
        </p:blipFill>
        <p:spPr>
          <a:xfrm>
            <a:off x="6741964" y="1080769"/>
            <a:ext cx="4301152" cy="5290823"/>
          </a:xfrm>
          <a:prstGeom prst="rect">
            <a:avLst/>
          </a:prstGeom>
        </p:spPr>
      </p:pic>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a:t>
            </a:r>
            <a:r>
              <a:rPr lang="en-US" sz="3000" b="1" dirty="0">
                <a:solidFill>
                  <a:srgbClr val="0B1F33"/>
                </a:solidFill>
                <a:highlight>
                  <a:srgbClr val="FFFF00"/>
                </a:highlight>
                <a:latin typeface="Arial" pitchFamily="34" charset="0"/>
                <a:ea typeface="Arial" pitchFamily="34" charset="-122"/>
                <a:cs typeface="Arial" pitchFamily="34" charset="-120"/>
              </a:rPr>
              <a:t>RO3: ALGORITHM 3 AS A FLOWCHART</a:t>
            </a:r>
            <a:endParaRPr lang="en-US" sz="3000" dirty="0"/>
          </a:p>
        </p:txBody>
      </p:sp>
      <p:sp>
        <p:nvSpPr>
          <p:cNvPr id="3" name="objective subtitle"/>
          <p:cNvSpPr txBox="1"/>
          <p:nvPr/>
        </p:nvSpPr>
        <p:spPr>
          <a:xfrm>
            <a:off x="548640" y="960120"/>
            <a:ext cx="3291840" cy="731520"/>
          </a:xfrm>
          <a:prstGeom prst="rect">
            <a:avLst/>
          </a:prstGeom>
          <a:noFill/>
          <a:ln/>
        </p:spPr>
        <p:txBody>
          <a:bodyPr wrap="square" rtlCol="0" anchor="t"/>
          <a:lstStyle/>
          <a:p>
            <a:pPr indent="0" marL="0">
              <a:buNone/>
            </a:pPr>
            <a:r>
              <a:rPr lang="en-US" sz="1500" b="1" i="1" dirty="0">
                <a:solidFill>
                  <a:srgbClr val="1FB5D6"/>
                </a:solidFill>
              </a:rPr>
              <a:t>​</a:t>
            </a:r>
            <a:r>
              <a:rPr lang="en-US" sz="1500" b="1" i="1" dirty="0">
                <a:solidFill>
                  <a:srgbClr val="0B1F33"/>
                </a:solidFill>
                <a:highlight>
                  <a:srgbClr val="FFFF00"/>
                </a:highlight>
              </a:rPr>
              <a:t>Trustworthy Multi-Party Authorisation</a:t>
            </a:r>
            <a:endParaRPr lang="en-US" sz="1500" dirty="0"/>
          </a:p>
        </p:txBody>
      </p:sp>
      <p:sp>
        <p:nvSpPr>
          <p:cNvPr id="4" name="status chip"/>
          <p:cNvSpPr/>
          <p:nvPr/>
        </p:nvSpPr>
        <p:spPr>
          <a:xfrm>
            <a:off x="548640" y="1783080"/>
            <a:ext cx="2377440" cy="411480"/>
          </a:xfrm>
          <a:prstGeom prst="roundRect">
            <a:avLst>
              <a:gd name="adj" fmla="val 44444"/>
            </a:avLst>
          </a:prstGeom>
          <a:solidFill>
            <a:srgbClr val="2E7D32"/>
          </a:solidFill>
          <a:ln w="12700">
            <a:solidFill>
              <a:srgbClr val="2E7D32"/>
            </a:solidFill>
            <a:prstDash val="solid"/>
          </a:ln>
        </p:spPr>
      </p:sp>
      <p:sp>
        <p:nvSpPr>
          <p:cNvPr id="5" name="status text"/>
          <p:cNvSpPr txBox="1"/>
          <p:nvPr/>
        </p:nvSpPr>
        <p:spPr>
          <a:xfrm>
            <a:off x="548640" y="1783080"/>
            <a:ext cx="2377440" cy="411480"/>
          </a:xfrm>
          <a:prstGeom prst="rect">
            <a:avLst/>
          </a:prstGeom>
          <a:noFill/>
          <a:ln/>
        </p:spPr>
        <p:txBody>
          <a:bodyPr wrap="square" rtlCol="0" anchor="ctr"/>
          <a:lstStyle/>
          <a:p>
            <a:pPr algn="ctr" indent="0" marL="0">
              <a:buNone/>
            </a:pPr>
            <a:r>
              <a:rPr lang="en-US" sz="1400" b="1" dirty="0">
                <a:solidFill>
                  <a:srgbClr val="FFFFFF"/>
                </a:solidFill>
              </a:rPr>
              <a:t>Status: Done</a:t>
            </a:r>
            <a:endParaRPr lang="en-US" sz="1400" dirty="0"/>
          </a:p>
        </p:txBody>
      </p:sp>
      <p:sp>
        <p:nvSpPr>
          <p:cNvPr id="6" name="F13 panel"/>
          <p:cNvSpPr/>
          <p:nvPr/>
        </p:nvSpPr>
        <p:spPr>
          <a:xfrm>
            <a:off x="4266250" y="960120"/>
            <a:ext cx="3659194" cy="5532120"/>
          </a:xfrm>
          <a:prstGeom prst="roundRect">
            <a:avLst>
              <a:gd name="adj" fmla="val 2999"/>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pic>
        <p:nvPicPr>
          <p:cNvPr id="7" name="F13" descr="/tmp/deck/img/yellow/F13.png">    </p:cNvPr>
          <p:cNvPicPr>
            <a:picLocks noChangeAspect="1"/>
          </p:cNvPicPr>
          <p:nvPr/>
        </p:nvPicPr>
        <p:blipFill>
          <a:blip r:embed="rId1"/>
          <a:stretch>
            <a:fillRect/>
          </a:stretch>
        </p:blipFill>
        <p:spPr>
          <a:xfrm>
            <a:off x="4375978" y="1069848"/>
            <a:ext cx="3439738" cy="5312664"/>
          </a:xfrm>
          <a:prstGeom prst="rect">
            <a:avLst/>
          </a:prstGeom>
        </p:spPr>
      </p:pic>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THE PROPOSED SOLUTION FOR RO4</a:t>
            </a:r>
            <a:endParaRPr lang="en-US" sz="3000" dirty="0"/>
          </a:p>
        </p:txBody>
      </p:sp>
      <p:sp>
        <p:nvSpPr>
          <p:cNvPr id="4" name="objective subtitle"/>
          <p:cNvSpPr txBox="1"/>
          <p:nvPr/>
        </p:nvSpPr>
        <p:spPr>
          <a:xfrm>
            <a:off x="548640" y="960120"/>
            <a:ext cx="5303520" cy="731520"/>
          </a:xfrm>
          <a:prstGeom prst="rect">
            <a:avLst/>
          </a:prstGeom>
          <a:noFill/>
          <a:ln/>
        </p:spPr>
        <p:txBody>
          <a:bodyPr wrap="square" rtlCol="0" anchor="t"/>
          <a:lstStyle/>
          <a:p>
            <a:pPr indent="0" marL="0">
              <a:buNone/>
            </a:pPr>
            <a:r>
              <a:rPr lang="en-US" sz="1700" b="1" i="1" dirty="0">
                <a:solidFill>
                  <a:srgbClr val="1FB5D6"/>
                </a:solidFill>
              </a:rPr>
              <a:t>​</a:t>
            </a:r>
            <a:r>
              <a:rPr lang="en-US" sz="1700" b="1" i="1" dirty="0">
                <a:solidFill>
                  <a:srgbClr val="0B1F33"/>
                </a:solidFill>
                <a:highlight>
                  <a:srgbClr val="FFFF00"/>
                </a:highlight>
              </a:rPr>
              <a:t>Policy- and Context-Aware Access Control</a:t>
            </a:r>
            <a:endParaRPr lang="en-US" sz="1700" dirty="0"/>
          </a:p>
        </p:txBody>
      </p:sp>
      <p:sp>
        <p:nvSpPr>
          <p:cNvPr id="5" name="status chip"/>
          <p:cNvSpPr/>
          <p:nvPr/>
        </p:nvSpPr>
        <p:spPr>
          <a:xfrm>
            <a:off x="548640" y="1783080"/>
            <a:ext cx="2377440" cy="411480"/>
          </a:xfrm>
          <a:prstGeom prst="roundRect">
            <a:avLst>
              <a:gd name="adj" fmla="val 44444"/>
            </a:avLst>
          </a:prstGeom>
          <a:solidFill>
            <a:srgbClr val="2E7D32"/>
          </a:solidFill>
          <a:ln w="12700">
            <a:solidFill>
              <a:srgbClr val="2E7D32"/>
            </a:solidFill>
            <a:prstDash val="solid"/>
          </a:ln>
        </p:spPr>
      </p:sp>
      <p:sp>
        <p:nvSpPr>
          <p:cNvPr id="6" name="status text"/>
          <p:cNvSpPr txBox="1"/>
          <p:nvPr/>
        </p:nvSpPr>
        <p:spPr>
          <a:xfrm>
            <a:off x="548640" y="1783080"/>
            <a:ext cx="2377440" cy="411480"/>
          </a:xfrm>
          <a:prstGeom prst="rect">
            <a:avLst/>
          </a:prstGeom>
          <a:noFill/>
          <a:ln/>
        </p:spPr>
        <p:txBody>
          <a:bodyPr wrap="square" rtlCol="0" anchor="ctr"/>
          <a:lstStyle/>
          <a:p>
            <a:pPr algn="ctr" indent="0" marL="0">
              <a:buNone/>
            </a:pPr>
            <a:r>
              <a:rPr lang="en-US" sz="1400" b="1" dirty="0">
                <a:solidFill>
                  <a:srgbClr val="FFFFFF"/>
                </a:solidFill>
              </a:rPr>
              <a:t>Status: Done</a:t>
            </a:r>
            <a:endParaRPr lang="en-US" sz="1400" dirty="0"/>
          </a:p>
        </p:txBody>
      </p:sp>
      <p:sp>
        <p:nvSpPr>
          <p:cNvPr id="7" name="bullets"/>
          <p:cNvSpPr txBox="1"/>
          <p:nvPr/>
        </p:nvSpPr>
        <p:spPr>
          <a:xfrm>
            <a:off x="548640" y="2377440"/>
            <a:ext cx="5303520" cy="4069080"/>
          </a:xfrm>
          <a:prstGeom prst="rect">
            <a:avLst/>
          </a:prstGeom>
          <a:noFill/>
          <a:ln/>
        </p:spPr>
        <p:txBody>
          <a:bodyPr wrap="square" rtlCol="0" anchor="t"/>
          <a:lstStyle/>
          <a:p>
            <a:pPr marL="342900" indent="-342900">
              <a:spcAft>
                <a:spcPts val="1000"/>
              </a:spcAft>
              <a:buSzPct val="100000"/>
              <a:buChar char="•"/>
            </a:pPr>
            <a:r>
              <a:rPr lang="en-US" sz="1550" dirty="0">
                <a:solidFill>
                  <a:srgbClr val="FFFFFF"/>
                </a:solidFill>
              </a:rPr>
              <a:t>The request scope SR must be a non-empty subset of the authorised scope SC.</a:t>
            </a:r>
            <a:endParaRPr lang="en-US" sz="1550" dirty="0"/>
          </a:p>
          <a:p>
            <a:pPr marL="342900" indent="-342900">
              <a:spcAft>
                <a:spcPts val="1000"/>
              </a:spcAft>
              <a:buSzPct val="100000"/>
              <a:buChar char="•"/>
            </a:pPr>
            <a:r>
              <a:rPr lang="en-US" sz="1550" dirty="0">
                <a:solidFill>
                  <a:srgbClr val="FFFFFF"/>
                </a:solidFill>
              </a:rPr>
              <a:t>The purpose must be a supported healthcare purpose of the consent.</a:t>
            </a:r>
            <a:endParaRPr lang="en-US" sz="1550" dirty="0"/>
          </a:p>
          <a:p>
            <a:pPr marL="342900" indent="-342900">
              <a:spcAft>
                <a:spcPts val="1000"/>
              </a:spcAft>
              <a:buSzPct val="100000"/>
              <a:buChar char="•"/>
            </a:pPr>
            <a:r>
              <a:rPr lang="en-US" sz="1550" dirty="0">
                <a:solidFill>
                  <a:srgbClr val="FFFFFF"/>
                </a:solidFill>
              </a:rPr>
              <a:t>Time and </a:t>
            </a:r>
            <a:r>
              <a:rPr lang="en-US" sz="1550" dirty="0">
                <a:solidFill>
                  <a:srgbClr val="0B1F33"/>
                </a:solidFill>
                <a:highlight>
                  <a:srgbClr val="FFFF00"/>
                </a:highlight>
              </a:rPr>
              <a:t>the lifecycle state</a:t>
            </a:r>
            <a:r>
              <a:rPr lang="en-US" sz="1550" dirty="0">
                <a:solidFill>
                  <a:srgbClr val="FFFFFF"/>
                </a:solidFill>
              </a:rPr>
              <a:t> are checked in the same decision.</a:t>
            </a:r>
            <a:endParaRPr lang="en-US" sz="1550" dirty="0"/>
          </a:p>
          <a:p>
            <a:pPr marL="342900" indent="-342900">
              <a:spcAft>
                <a:spcPts val="1000"/>
              </a:spcAft>
              <a:buSzPct val="100000"/>
              <a:buChar char="•"/>
            </a:pPr>
            <a:r>
              <a:rPr lang="en-US" sz="1550" dirty="0">
                <a:solidFill>
                  <a:srgbClr val="FFFFFF"/>
                </a:solidFill>
              </a:rPr>
              <a:t>A Groth16 proof must verify before any data is retrieved; otherwise DENY.</a:t>
            </a:r>
            <a:endParaRPr lang="en-US" sz="1550" dirty="0"/>
          </a:p>
          <a:p>
            <a:pPr marL="342900" indent="-342900">
              <a:spcAft>
                <a:spcPts val="1000"/>
              </a:spcAft>
              <a:buSzPct val="100000"/>
              <a:buChar char="•"/>
            </a:pPr>
            <a:r>
              <a:rPr lang="en-US" sz="1550" dirty="0">
                <a:solidFill>
                  <a:srgbClr val="FFFFFF"/>
                </a:solidFill>
              </a:rPr>
              <a:t>Example: requesting Procedure when only Observation and Medication are allowed gives DENY.</a:t>
            </a:r>
            <a:endParaRPr lang="en-US" sz="1550" dirty="0"/>
          </a:p>
        </p:txBody>
      </p:sp>
      <p:sp>
        <p:nvSpPr>
          <p:cNvPr id="8" name="ALG4 panel"/>
          <p:cNvSpPr/>
          <p:nvPr/>
        </p:nvSpPr>
        <p:spPr>
          <a:xfrm>
            <a:off x="6651819" y="960120"/>
            <a:ext cx="4481441" cy="5532120"/>
          </a:xfrm>
          <a:prstGeom prst="roundRect">
            <a:avLst>
              <a:gd name="adj" fmla="val 2448"/>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pic>
        <p:nvPicPr>
          <p:cNvPr id="9" name="ALG4" descr="/tmp/deck/img/yellow/ALG4.png">    </p:cNvPr>
          <p:cNvPicPr>
            <a:picLocks noChangeAspect="1"/>
          </p:cNvPicPr>
          <p:nvPr/>
        </p:nvPicPr>
        <p:blipFill>
          <a:blip r:embed="rId1"/>
          <a:stretch>
            <a:fillRect/>
          </a:stretch>
        </p:blipFill>
        <p:spPr>
          <a:xfrm>
            <a:off x="6761547" y="1080264"/>
            <a:ext cx="4261985" cy="5291833"/>
          </a:xfrm>
          <a:prstGeom prst="rect">
            <a:avLst/>
          </a:prstGeom>
        </p:spPr>
      </p:pic>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a:t>
            </a:r>
            <a:r>
              <a:rPr lang="en-US" sz="3000" b="1" dirty="0">
                <a:solidFill>
                  <a:srgbClr val="0B1F33"/>
                </a:solidFill>
                <a:highlight>
                  <a:srgbClr val="FFFF00"/>
                </a:highlight>
                <a:latin typeface="Arial" pitchFamily="34" charset="0"/>
                <a:ea typeface="Arial" pitchFamily="34" charset="-122"/>
                <a:cs typeface="Arial" pitchFamily="34" charset="-120"/>
              </a:rPr>
              <a:t>RO4: ALGORITHM 4 AS A FLOWCHART</a:t>
            </a:r>
            <a:endParaRPr lang="en-US" sz="3000" dirty="0"/>
          </a:p>
        </p:txBody>
      </p:sp>
      <p:sp>
        <p:nvSpPr>
          <p:cNvPr id="3" name="objective subtitle"/>
          <p:cNvSpPr txBox="1"/>
          <p:nvPr/>
        </p:nvSpPr>
        <p:spPr>
          <a:xfrm>
            <a:off x="548640" y="960120"/>
            <a:ext cx="3291840" cy="731520"/>
          </a:xfrm>
          <a:prstGeom prst="rect">
            <a:avLst/>
          </a:prstGeom>
          <a:noFill/>
          <a:ln/>
        </p:spPr>
        <p:txBody>
          <a:bodyPr wrap="square" rtlCol="0" anchor="t"/>
          <a:lstStyle/>
          <a:p>
            <a:pPr indent="0" marL="0">
              <a:buNone/>
            </a:pPr>
            <a:r>
              <a:rPr lang="en-US" sz="1500" b="1" i="1" dirty="0">
                <a:solidFill>
                  <a:srgbClr val="1FB5D6"/>
                </a:solidFill>
              </a:rPr>
              <a:t>​</a:t>
            </a:r>
            <a:r>
              <a:rPr lang="en-US" sz="1500" b="1" i="1" dirty="0">
                <a:solidFill>
                  <a:srgbClr val="0B1F33"/>
                </a:solidFill>
                <a:highlight>
                  <a:srgbClr val="FFFF00"/>
                </a:highlight>
              </a:rPr>
              <a:t>Policy- and Context-Aware Access Control</a:t>
            </a:r>
            <a:endParaRPr lang="en-US" sz="1500" dirty="0"/>
          </a:p>
        </p:txBody>
      </p:sp>
      <p:sp>
        <p:nvSpPr>
          <p:cNvPr id="4" name="status chip"/>
          <p:cNvSpPr/>
          <p:nvPr/>
        </p:nvSpPr>
        <p:spPr>
          <a:xfrm>
            <a:off x="548640" y="1783080"/>
            <a:ext cx="2377440" cy="411480"/>
          </a:xfrm>
          <a:prstGeom prst="roundRect">
            <a:avLst>
              <a:gd name="adj" fmla="val 44444"/>
            </a:avLst>
          </a:prstGeom>
          <a:solidFill>
            <a:srgbClr val="2E7D32"/>
          </a:solidFill>
          <a:ln w="12700">
            <a:solidFill>
              <a:srgbClr val="2E7D32"/>
            </a:solidFill>
            <a:prstDash val="solid"/>
          </a:ln>
        </p:spPr>
      </p:sp>
      <p:sp>
        <p:nvSpPr>
          <p:cNvPr id="5" name="status text"/>
          <p:cNvSpPr txBox="1"/>
          <p:nvPr/>
        </p:nvSpPr>
        <p:spPr>
          <a:xfrm>
            <a:off x="548640" y="1783080"/>
            <a:ext cx="2377440" cy="411480"/>
          </a:xfrm>
          <a:prstGeom prst="rect">
            <a:avLst/>
          </a:prstGeom>
          <a:noFill/>
          <a:ln/>
        </p:spPr>
        <p:txBody>
          <a:bodyPr wrap="square" rtlCol="0" anchor="ctr"/>
          <a:lstStyle/>
          <a:p>
            <a:pPr algn="ctr" indent="0" marL="0">
              <a:buNone/>
            </a:pPr>
            <a:r>
              <a:rPr lang="en-US" sz="1400" b="1" dirty="0">
                <a:solidFill>
                  <a:srgbClr val="FFFFFF"/>
                </a:solidFill>
              </a:rPr>
              <a:t>Status: Done</a:t>
            </a:r>
            <a:endParaRPr lang="en-US" sz="1400" dirty="0"/>
          </a:p>
        </p:txBody>
      </p:sp>
      <p:sp>
        <p:nvSpPr>
          <p:cNvPr id="6" name="F14 panel"/>
          <p:cNvSpPr/>
          <p:nvPr/>
        </p:nvSpPr>
        <p:spPr>
          <a:xfrm>
            <a:off x="4903969" y="960120"/>
            <a:ext cx="2383757" cy="5532120"/>
          </a:xfrm>
          <a:prstGeom prst="roundRect">
            <a:avLst>
              <a:gd name="adj" fmla="val 4603"/>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pic>
        <p:nvPicPr>
          <p:cNvPr id="7" name="F14" descr="/tmp/deck/img/yellow/F14.png">    </p:cNvPr>
          <p:cNvPicPr>
            <a:picLocks noChangeAspect="1"/>
          </p:cNvPicPr>
          <p:nvPr/>
        </p:nvPicPr>
        <p:blipFill>
          <a:blip r:embed="rId1"/>
          <a:stretch>
            <a:fillRect/>
          </a:stretch>
        </p:blipFill>
        <p:spPr>
          <a:xfrm>
            <a:off x="5013697" y="1069848"/>
            <a:ext cx="2164301" cy="5312664"/>
          </a:xfrm>
          <a:prstGeom prst="rect">
            <a:avLst/>
          </a:prstGeom>
        </p:spPr>
      </p:pic>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THE PROPOSED SOLUTION FOR RO5</a:t>
            </a:r>
            <a:endParaRPr lang="en-US" sz="3000" dirty="0"/>
          </a:p>
        </p:txBody>
      </p:sp>
      <p:sp>
        <p:nvSpPr>
          <p:cNvPr id="4" name="objective subtitle"/>
          <p:cNvSpPr txBox="1"/>
          <p:nvPr/>
        </p:nvSpPr>
        <p:spPr>
          <a:xfrm>
            <a:off x="548640" y="960120"/>
            <a:ext cx="5303520" cy="731520"/>
          </a:xfrm>
          <a:prstGeom prst="rect">
            <a:avLst/>
          </a:prstGeom>
          <a:noFill/>
          <a:ln/>
        </p:spPr>
        <p:txBody>
          <a:bodyPr wrap="square" rtlCol="0" anchor="t"/>
          <a:lstStyle/>
          <a:p>
            <a:pPr indent="0" marL="0">
              <a:buNone/>
            </a:pPr>
            <a:r>
              <a:rPr lang="en-US" sz="1700" b="1" i="1" dirty="0">
                <a:solidFill>
                  <a:srgbClr val="1FB5D6"/>
                </a:solidFill>
              </a:rPr>
              <a:t>​</a:t>
            </a:r>
            <a:r>
              <a:rPr lang="en-US" sz="1700" b="1" i="1" dirty="0">
                <a:solidFill>
                  <a:srgbClr val="0B1F33"/>
                </a:solidFill>
                <a:highlight>
                  <a:srgbClr val="FFFF00"/>
                </a:highlight>
              </a:rPr>
              <a:t>Temporal and Lifecycle Trust</a:t>
            </a:r>
            <a:endParaRPr lang="en-US" sz="1700" dirty="0"/>
          </a:p>
        </p:txBody>
      </p:sp>
      <p:sp>
        <p:nvSpPr>
          <p:cNvPr id="5" name="status chip"/>
          <p:cNvSpPr/>
          <p:nvPr/>
        </p:nvSpPr>
        <p:spPr>
          <a:xfrm>
            <a:off x="548640" y="1783080"/>
            <a:ext cx="2377440" cy="411480"/>
          </a:xfrm>
          <a:prstGeom prst="roundRect">
            <a:avLst>
              <a:gd name="adj" fmla="val 44444"/>
            </a:avLst>
          </a:prstGeom>
          <a:solidFill>
            <a:srgbClr val="B7791F"/>
          </a:solidFill>
          <a:ln w="12700">
            <a:solidFill>
              <a:srgbClr val="B7791F"/>
            </a:solidFill>
            <a:prstDash val="solid"/>
          </a:ln>
        </p:spPr>
      </p:sp>
      <p:sp>
        <p:nvSpPr>
          <p:cNvPr id="6" name="status text"/>
          <p:cNvSpPr txBox="1"/>
          <p:nvPr/>
        </p:nvSpPr>
        <p:spPr>
          <a:xfrm>
            <a:off x="548640" y="1783080"/>
            <a:ext cx="2377440" cy="411480"/>
          </a:xfrm>
          <a:prstGeom prst="rect">
            <a:avLst/>
          </a:prstGeom>
          <a:noFill/>
          <a:ln/>
        </p:spPr>
        <p:txBody>
          <a:bodyPr wrap="square" rtlCol="0" anchor="ctr"/>
          <a:lstStyle/>
          <a:p>
            <a:pPr algn="ctr" indent="0" marL="0">
              <a:buNone/>
            </a:pPr>
            <a:r>
              <a:rPr lang="en-US" sz="1400" b="1" dirty="0">
                <a:solidFill>
                  <a:srgbClr val="FFFFFF"/>
                </a:solidFill>
              </a:rPr>
              <a:t>Status: In Progress</a:t>
            </a:r>
            <a:endParaRPr lang="en-US" sz="1400" dirty="0"/>
          </a:p>
        </p:txBody>
      </p:sp>
      <p:sp>
        <p:nvSpPr>
          <p:cNvPr id="7" name="bullets"/>
          <p:cNvSpPr txBox="1"/>
          <p:nvPr/>
        </p:nvSpPr>
        <p:spPr>
          <a:xfrm>
            <a:off x="548640" y="2377440"/>
            <a:ext cx="5303520" cy="4069080"/>
          </a:xfrm>
          <a:prstGeom prst="rect">
            <a:avLst/>
          </a:prstGeom>
          <a:noFill/>
          <a:ln/>
        </p:spPr>
        <p:txBody>
          <a:bodyPr wrap="square" rtlCol="0" anchor="t"/>
          <a:lstStyle/>
          <a:p>
            <a:pPr marL="342900" indent="-342900">
              <a:spcAft>
                <a:spcPts val="1000"/>
              </a:spcAft>
              <a:buSzPct val="100000"/>
              <a:buChar char="•"/>
            </a:pPr>
            <a:r>
              <a:rPr lang="en-US" sz="1350" dirty="0">
                <a:solidFill>
                  <a:srgbClr val="FFFFFF"/>
                </a:solidFill>
              </a:rPr>
              <a:t>The validity window (notBefore, expiry) is stored on-chain and checked at every request through VT.</a:t>
            </a:r>
            <a:endParaRPr lang="en-US" sz="1350" dirty="0"/>
          </a:p>
          <a:p>
            <a:pPr marL="342900" indent="-342900">
              <a:spcAft>
                <a:spcPts val="1000"/>
              </a:spcAft>
              <a:buSzPct val="100000"/>
              <a:buChar char="•"/>
            </a:pPr>
            <a:r>
              <a:rPr lang="en-US" sz="1350" dirty="0">
                <a:solidFill>
                  <a:srgbClr val="FFFFFF"/>
                </a:solidFill>
              </a:rPr>
              <a:t>Revocation is end to end, including an on-chain revoke transaction.</a:t>
            </a:r>
            <a:endParaRPr lang="en-US" sz="1350" dirty="0"/>
          </a:p>
          <a:p>
            <a:pPr marL="342900" indent="-342900">
              <a:spcAft>
                <a:spcPts val="1000"/>
              </a:spcAft>
              <a:buSzPct val="100000"/>
              <a:buChar char="•"/>
            </a:pPr>
            <a:r>
              <a:rPr lang="en-US" sz="1350" dirty="0">
                <a:solidFill>
                  <a:srgbClr val="FFFFFF"/>
                </a:solidFill>
              </a:rPr>
              <a:t>​</a:t>
            </a:r>
            <a:r>
              <a:rPr lang="en-US" sz="1350" dirty="0">
                <a:solidFill>
                  <a:srgbClr val="0B1F33"/>
                </a:solidFill>
                <a:highlight>
                  <a:srgbClr val="FFFF00"/>
                </a:highlight>
              </a:rPr>
              <a:t>Design: L is the lifecycle state (CREATED, PENDING, ACTIVE, SUSPENDED, REVOKED, EXPIRED), checked by VL(C) = ValidState(C) ∧ ValidTransition(C).</a:t>
            </a:r>
            <a:endParaRPr lang="en-US" sz="1350" dirty="0"/>
          </a:p>
          <a:p>
            <a:pPr marL="342900" indent="-342900">
              <a:spcAft>
                <a:spcPts val="1000"/>
              </a:spcAft>
              <a:buSzPct val="100000"/>
              <a:buChar char="•"/>
            </a:pPr>
            <a:r>
              <a:rPr lang="en-US" sz="1350" dirty="0">
                <a:solidFill>
                  <a:srgbClr val="FFFFFF"/>
                </a:solidFill>
              </a:rPr>
              <a:t>​</a:t>
            </a:r>
            <a:r>
              <a:rPr lang="en-US" sz="1350" dirty="0">
                <a:solidFill>
                  <a:srgbClr val="0B1F33"/>
                </a:solidFill>
                <a:highlight>
                  <a:srgbClr val="FFFF00"/>
                </a:highlight>
              </a:rPr>
              <a:t>Working now: an</a:t>
            </a:r>
            <a:r>
              <a:rPr lang="en-US" sz="1350" dirty="0">
                <a:solidFill>
                  <a:srgbClr val="FFFFFF"/>
                </a:solidFill>
              </a:rPr>
              <a:t> explicit lifecycle state machine: PENDING_SIGNATURE, PENDING_TOKEN, NOT_STARTED, ACTIVE, EXPIRED, REVOKED.</a:t>
            </a:r>
            <a:endParaRPr lang="en-US" sz="1350" dirty="0"/>
          </a:p>
          <a:p>
            <a:pPr marL="342900" indent="-342900">
              <a:spcAft>
                <a:spcPts val="1000"/>
              </a:spcAft>
              <a:buSzPct val="100000"/>
              <a:buChar char="•"/>
            </a:pPr>
            <a:r>
              <a:rPr lang="en-US" sz="1350" dirty="0">
                <a:solidFill>
                  <a:srgbClr val="FFFFFF"/>
                </a:solidFill>
              </a:rPr>
              <a:t>Next stage: </a:t>
            </a:r>
            <a:r>
              <a:rPr lang="en-US" sz="1350" dirty="0">
                <a:solidFill>
                  <a:srgbClr val="0B1F33"/>
                </a:solidFill>
                <a:highlight>
                  <a:srgbClr val="FFFF00"/>
                </a:highlight>
              </a:rPr>
              <a:t>the SUSPENDED state,</a:t>
            </a:r>
            <a:r>
              <a:rPr lang="en-US" sz="1350" dirty="0">
                <a:solidFill>
                  <a:srgbClr val="FFFFFF"/>
                </a:solidFill>
              </a:rPr>
              <a:t> lifecycle transition check, consent modification, delegation, guardian-set changes and a formal lifecycle model.</a:t>
            </a:r>
            <a:endParaRPr lang="en-US" sz="1350" dirty="0"/>
          </a:p>
        </p:txBody>
      </p:sp>
      <p:sp>
        <p:nvSpPr>
          <p:cNvPr id="8" name="ALG5 panel"/>
          <p:cNvSpPr/>
          <p:nvPr/>
        </p:nvSpPr>
        <p:spPr>
          <a:xfrm>
            <a:off x="6248079" y="960120"/>
            <a:ext cx="5288923" cy="5532120"/>
          </a:xfrm>
          <a:prstGeom prst="roundRect">
            <a:avLst>
              <a:gd name="adj" fmla="val 2075"/>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pic>
        <p:nvPicPr>
          <p:cNvPr id="9" name="ALG5" descr="/tmp/deck/img/yellow/ALG5.png">    </p:cNvPr>
          <p:cNvPicPr>
            <a:picLocks noChangeAspect="1"/>
          </p:cNvPicPr>
          <p:nvPr/>
        </p:nvPicPr>
        <p:blipFill>
          <a:blip r:embed="rId1"/>
          <a:stretch>
            <a:fillRect/>
          </a:stretch>
        </p:blipFill>
        <p:spPr>
          <a:xfrm>
            <a:off x="6357807" y="1072422"/>
            <a:ext cx="5069467" cy="5307517"/>
          </a:xfrm>
          <a:prstGeom prst="rect">
            <a:avLst/>
          </a:prstGeom>
        </p:spPr>
      </p:pic>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a:t>
            </a:r>
            <a:r>
              <a:rPr lang="en-US" sz="3000" b="1" dirty="0">
                <a:solidFill>
                  <a:srgbClr val="0B1F33"/>
                </a:solidFill>
                <a:highlight>
                  <a:srgbClr val="FFFF00"/>
                </a:highlight>
                <a:latin typeface="Arial" pitchFamily="34" charset="0"/>
                <a:ea typeface="Arial" pitchFamily="34" charset="-122"/>
                <a:cs typeface="Arial" pitchFamily="34" charset="-120"/>
              </a:rPr>
              <a:t>RO5: ALGORITHM 5 AS A FLOWCHART</a:t>
            </a:r>
            <a:endParaRPr lang="en-US" sz="3000" dirty="0"/>
          </a:p>
        </p:txBody>
      </p:sp>
      <p:sp>
        <p:nvSpPr>
          <p:cNvPr id="3" name="objective subtitle"/>
          <p:cNvSpPr txBox="1"/>
          <p:nvPr/>
        </p:nvSpPr>
        <p:spPr>
          <a:xfrm>
            <a:off x="548640" y="960120"/>
            <a:ext cx="3291840" cy="731520"/>
          </a:xfrm>
          <a:prstGeom prst="rect">
            <a:avLst/>
          </a:prstGeom>
          <a:noFill/>
          <a:ln/>
        </p:spPr>
        <p:txBody>
          <a:bodyPr wrap="square" rtlCol="0" anchor="t"/>
          <a:lstStyle/>
          <a:p>
            <a:pPr indent="0" marL="0">
              <a:buNone/>
            </a:pPr>
            <a:r>
              <a:rPr lang="en-US" sz="1500" b="1" i="1" dirty="0">
                <a:solidFill>
                  <a:srgbClr val="1FB5D6"/>
                </a:solidFill>
              </a:rPr>
              <a:t>​</a:t>
            </a:r>
            <a:r>
              <a:rPr lang="en-US" sz="1500" b="1" i="1" dirty="0">
                <a:solidFill>
                  <a:srgbClr val="0B1F33"/>
                </a:solidFill>
                <a:highlight>
                  <a:srgbClr val="FFFF00"/>
                </a:highlight>
              </a:rPr>
              <a:t>Temporal and Lifecycle Trust</a:t>
            </a:r>
            <a:endParaRPr lang="en-US" sz="1500" dirty="0"/>
          </a:p>
        </p:txBody>
      </p:sp>
      <p:sp>
        <p:nvSpPr>
          <p:cNvPr id="4" name="status chip"/>
          <p:cNvSpPr/>
          <p:nvPr/>
        </p:nvSpPr>
        <p:spPr>
          <a:xfrm>
            <a:off x="548640" y="1783080"/>
            <a:ext cx="2377440" cy="411480"/>
          </a:xfrm>
          <a:prstGeom prst="roundRect">
            <a:avLst>
              <a:gd name="adj" fmla="val 44444"/>
            </a:avLst>
          </a:prstGeom>
          <a:solidFill>
            <a:srgbClr val="B7791F"/>
          </a:solidFill>
          <a:ln w="12700">
            <a:solidFill>
              <a:srgbClr val="B7791F"/>
            </a:solidFill>
            <a:prstDash val="solid"/>
          </a:ln>
        </p:spPr>
      </p:sp>
      <p:sp>
        <p:nvSpPr>
          <p:cNvPr id="5" name="status text"/>
          <p:cNvSpPr txBox="1"/>
          <p:nvPr/>
        </p:nvSpPr>
        <p:spPr>
          <a:xfrm>
            <a:off x="548640" y="1783080"/>
            <a:ext cx="2377440" cy="411480"/>
          </a:xfrm>
          <a:prstGeom prst="rect">
            <a:avLst/>
          </a:prstGeom>
          <a:noFill/>
          <a:ln/>
        </p:spPr>
        <p:txBody>
          <a:bodyPr wrap="square" rtlCol="0" anchor="ctr"/>
          <a:lstStyle/>
          <a:p>
            <a:pPr algn="ctr" indent="0" marL="0">
              <a:buNone/>
            </a:pPr>
            <a:r>
              <a:rPr lang="en-US" sz="1400" b="1" dirty="0">
                <a:solidFill>
                  <a:srgbClr val="FFFFFF"/>
                </a:solidFill>
              </a:rPr>
              <a:t>Status: In Progress</a:t>
            </a:r>
            <a:endParaRPr lang="en-US" sz="1400" dirty="0"/>
          </a:p>
        </p:txBody>
      </p:sp>
      <p:sp>
        <p:nvSpPr>
          <p:cNvPr id="6" name="F35 panel"/>
          <p:cNvSpPr/>
          <p:nvPr/>
        </p:nvSpPr>
        <p:spPr>
          <a:xfrm>
            <a:off x="4546506" y="960120"/>
            <a:ext cx="3098683" cy="5532120"/>
          </a:xfrm>
          <a:prstGeom prst="roundRect">
            <a:avLst>
              <a:gd name="adj" fmla="val 3541"/>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pic>
        <p:nvPicPr>
          <p:cNvPr id="7" name="F35" descr="/tmp/deck/img/yellow/F35.png">    </p:cNvPr>
          <p:cNvPicPr>
            <a:picLocks noChangeAspect="1"/>
          </p:cNvPicPr>
          <p:nvPr/>
        </p:nvPicPr>
        <p:blipFill>
          <a:blip r:embed="rId1"/>
          <a:stretch>
            <a:fillRect/>
          </a:stretch>
        </p:blipFill>
        <p:spPr>
          <a:xfrm>
            <a:off x="4656234" y="1069848"/>
            <a:ext cx="2879227" cy="5312664"/>
          </a:xfrm>
          <a:prstGeom prst="rect">
            <a:avLst/>
          </a:prstGeom>
        </p:spPr>
      </p:pic>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THE PROPOSED SOLUTION FOR RO6</a:t>
            </a:r>
            <a:endParaRPr lang="en-US" sz="3000" dirty="0"/>
          </a:p>
        </p:txBody>
      </p:sp>
      <p:sp>
        <p:nvSpPr>
          <p:cNvPr id="4" name="objective subtitle"/>
          <p:cNvSpPr txBox="1"/>
          <p:nvPr/>
        </p:nvSpPr>
        <p:spPr>
          <a:xfrm>
            <a:off x="548640" y="960120"/>
            <a:ext cx="5303520" cy="731520"/>
          </a:xfrm>
          <a:prstGeom prst="rect">
            <a:avLst/>
          </a:prstGeom>
          <a:noFill/>
          <a:ln/>
        </p:spPr>
        <p:txBody>
          <a:bodyPr wrap="square" rtlCol="0" anchor="t"/>
          <a:lstStyle/>
          <a:p>
            <a:pPr indent="0" marL="0">
              <a:buNone/>
            </a:pPr>
            <a:r>
              <a:rPr lang="en-US" sz="1700" b="1" i="1" dirty="0">
                <a:solidFill>
                  <a:srgbClr val="1FB5D6"/>
                </a:solidFill>
              </a:rPr>
              <a:t>​</a:t>
            </a:r>
            <a:r>
              <a:rPr lang="en-US" sz="1700" b="1" i="1" dirty="0">
                <a:solidFill>
                  <a:srgbClr val="0B1F33"/>
                </a:solidFill>
                <a:highlight>
                  <a:srgbClr val="FFFF00"/>
                </a:highlight>
              </a:rPr>
              <a:t>Formal Security Assurance and Empirical Validation</a:t>
            </a:r>
            <a:endParaRPr lang="en-US" sz="1700" dirty="0"/>
          </a:p>
        </p:txBody>
      </p:sp>
      <p:sp>
        <p:nvSpPr>
          <p:cNvPr id="5" name="status chip"/>
          <p:cNvSpPr/>
          <p:nvPr/>
        </p:nvSpPr>
        <p:spPr>
          <a:xfrm>
            <a:off x="548640" y="1783080"/>
            <a:ext cx="3200400" cy="411480"/>
          </a:xfrm>
          <a:prstGeom prst="roundRect">
            <a:avLst>
              <a:gd name="adj" fmla="val 44444"/>
            </a:avLst>
          </a:prstGeom>
          <a:solidFill>
            <a:srgbClr val="6D5BA8"/>
          </a:solidFill>
          <a:ln w="12700">
            <a:solidFill>
              <a:srgbClr val="6D5BA8"/>
            </a:solidFill>
            <a:prstDash val="solid"/>
          </a:ln>
        </p:spPr>
      </p:sp>
      <p:sp>
        <p:nvSpPr>
          <p:cNvPr id="6" name="status text"/>
          <p:cNvSpPr txBox="1"/>
          <p:nvPr/>
        </p:nvSpPr>
        <p:spPr>
          <a:xfrm>
            <a:off x="548640" y="1783080"/>
            <a:ext cx="3200400" cy="411480"/>
          </a:xfrm>
          <a:prstGeom prst="rect">
            <a:avLst/>
          </a:prstGeom>
          <a:noFill/>
          <a:ln/>
        </p:spPr>
        <p:txBody>
          <a:bodyPr wrap="square" rtlCol="0" anchor="ctr"/>
          <a:lstStyle/>
          <a:p>
            <a:pPr algn="ctr" indent="0" marL="0">
              <a:buNone/>
            </a:pPr>
            <a:r>
              <a:rPr lang="en-US" sz="1400" b="1" dirty="0">
                <a:solidFill>
                  <a:srgbClr val="FFFFFF"/>
                </a:solidFill>
              </a:rPr>
              <a:t>Status: Partially completed</a:t>
            </a:r>
            <a:endParaRPr lang="en-US" sz="1400" dirty="0"/>
          </a:p>
        </p:txBody>
      </p:sp>
      <p:sp>
        <p:nvSpPr>
          <p:cNvPr id="7" name="bullets"/>
          <p:cNvSpPr txBox="1"/>
          <p:nvPr/>
        </p:nvSpPr>
        <p:spPr>
          <a:xfrm>
            <a:off x="548640" y="2377440"/>
            <a:ext cx="5303520" cy="4069080"/>
          </a:xfrm>
          <a:prstGeom prst="rect">
            <a:avLst/>
          </a:prstGeom>
          <a:noFill/>
          <a:ln/>
        </p:spPr>
        <p:txBody>
          <a:bodyPr wrap="square" rtlCol="0" anchor="t"/>
          <a:lstStyle/>
          <a:p>
            <a:pPr marL="342900" indent="-342900">
              <a:spcAft>
                <a:spcPts val="1000"/>
              </a:spcAft>
              <a:buSzPct val="100000"/>
              <a:buChar char="•"/>
            </a:pPr>
            <a:r>
              <a:rPr lang="en-US" sz="1600" dirty="0">
                <a:solidFill>
                  <a:srgbClr val="FFFFFF"/>
                </a:solidFill>
              </a:rPr>
              <a:t>​</a:t>
            </a:r>
            <a:r>
              <a:rPr lang="en-US" sz="1600" dirty="0">
                <a:solidFill>
                  <a:srgbClr val="0B1F33"/>
                </a:solidFill>
                <a:highlight>
                  <a:srgbClr val="FFFF00"/>
                </a:highlight>
              </a:rPr>
              <a:t>Done: 46 automated tests, including thirteen attack scenarios A1 to A13.</a:t>
            </a:r>
            <a:endParaRPr lang="en-US" sz="1600" dirty="0"/>
          </a:p>
          <a:p>
            <a:pPr marL="342900" indent="-342900">
              <a:spcAft>
                <a:spcPts val="1000"/>
              </a:spcAft>
              <a:buSzPct val="100000"/>
              <a:buChar char="•"/>
            </a:pPr>
            <a:r>
              <a:rPr lang="en-US" sz="1600" dirty="0">
                <a:solidFill>
                  <a:srgbClr val="FFFFFF"/>
                </a:solidFill>
              </a:rPr>
              <a:t>Done: on-chain cost, confirmation latency and processing time measured.</a:t>
            </a:r>
            <a:endParaRPr lang="en-US" sz="1600" dirty="0"/>
          </a:p>
          <a:p>
            <a:pPr marL="342900" indent="-342900">
              <a:spcAft>
                <a:spcPts val="1000"/>
              </a:spcAft>
              <a:buSzPct val="100000"/>
              <a:buChar char="•"/>
            </a:pPr>
            <a:r>
              <a:rPr lang="en-US" sz="1600" dirty="0">
                <a:solidFill>
                  <a:srgbClr val="FFFFFF"/>
                </a:solidFill>
              </a:rPr>
              <a:t>Next stage: formal proofs or model checking of the security properties, and a larger evaluation under load.</a:t>
            </a:r>
            <a:endParaRPr lang="en-US" sz="1600" dirty="0"/>
          </a:p>
        </p:txBody>
      </p:sp>
      <p:sp>
        <p:nvSpPr>
          <p:cNvPr id="8" name="ALG6 panel"/>
          <p:cNvSpPr/>
          <p:nvPr/>
        </p:nvSpPr>
        <p:spPr>
          <a:xfrm>
            <a:off x="6035040" y="1719388"/>
            <a:ext cx="5715000" cy="4013584"/>
          </a:xfrm>
          <a:prstGeom prst="roundRect">
            <a:avLst>
              <a:gd name="adj" fmla="val 2734"/>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pic>
        <p:nvPicPr>
          <p:cNvPr id="9" name="ALG6" descr="/tmp/deck/img/yellow/ALG6.png">    </p:cNvPr>
          <p:cNvPicPr>
            <a:picLocks noChangeAspect="1"/>
          </p:cNvPicPr>
          <p:nvPr/>
        </p:nvPicPr>
        <p:blipFill>
          <a:blip r:embed="rId1"/>
          <a:stretch>
            <a:fillRect/>
          </a:stretch>
        </p:blipFill>
        <p:spPr>
          <a:xfrm>
            <a:off x="6165068" y="1829116"/>
            <a:ext cx="5454943" cy="3794128"/>
          </a:xfrm>
          <a:prstGeom prst="rect">
            <a:avLst/>
          </a:prstGeom>
        </p:spPr>
      </p:pic>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a:t>
            </a:r>
            <a:r>
              <a:rPr lang="en-US" sz="3000" b="1" dirty="0">
                <a:solidFill>
                  <a:srgbClr val="0B1F33"/>
                </a:solidFill>
                <a:highlight>
                  <a:srgbClr val="FFFF00"/>
                </a:highlight>
                <a:latin typeface="Arial" pitchFamily="34" charset="0"/>
                <a:ea typeface="Arial" pitchFamily="34" charset="-122"/>
                <a:cs typeface="Arial" pitchFamily="34" charset="-120"/>
              </a:rPr>
              <a:t>RO6: ALGORITHM 6 AS A FLOWCHART</a:t>
            </a:r>
            <a:endParaRPr lang="en-US" sz="3000" dirty="0"/>
          </a:p>
        </p:txBody>
      </p:sp>
      <p:sp>
        <p:nvSpPr>
          <p:cNvPr id="3" name="objective subtitle"/>
          <p:cNvSpPr txBox="1"/>
          <p:nvPr/>
        </p:nvSpPr>
        <p:spPr>
          <a:xfrm>
            <a:off x="548640" y="960120"/>
            <a:ext cx="3291840" cy="731520"/>
          </a:xfrm>
          <a:prstGeom prst="rect">
            <a:avLst/>
          </a:prstGeom>
          <a:noFill/>
          <a:ln/>
        </p:spPr>
        <p:txBody>
          <a:bodyPr wrap="square" rtlCol="0" anchor="t"/>
          <a:lstStyle/>
          <a:p>
            <a:pPr indent="0" marL="0">
              <a:buNone/>
            </a:pPr>
            <a:r>
              <a:rPr lang="en-US" sz="1500" b="1" i="1" dirty="0">
                <a:solidFill>
                  <a:srgbClr val="1FB5D6"/>
                </a:solidFill>
              </a:rPr>
              <a:t>​</a:t>
            </a:r>
            <a:r>
              <a:rPr lang="en-US" sz="1500" b="1" i="1" dirty="0">
                <a:solidFill>
                  <a:srgbClr val="0B1F33"/>
                </a:solidFill>
                <a:highlight>
                  <a:srgbClr val="FFFF00"/>
                </a:highlight>
              </a:rPr>
              <a:t>Formal Security Assurance and Empirical Validation</a:t>
            </a:r>
            <a:endParaRPr lang="en-US" sz="1500" dirty="0"/>
          </a:p>
        </p:txBody>
      </p:sp>
      <p:sp>
        <p:nvSpPr>
          <p:cNvPr id="4" name="status chip"/>
          <p:cNvSpPr/>
          <p:nvPr/>
        </p:nvSpPr>
        <p:spPr>
          <a:xfrm>
            <a:off x="548640" y="1783080"/>
            <a:ext cx="3200400" cy="411480"/>
          </a:xfrm>
          <a:prstGeom prst="roundRect">
            <a:avLst>
              <a:gd name="adj" fmla="val 44444"/>
            </a:avLst>
          </a:prstGeom>
          <a:solidFill>
            <a:srgbClr val="6D5BA8"/>
          </a:solidFill>
          <a:ln w="12700">
            <a:solidFill>
              <a:srgbClr val="6D5BA8"/>
            </a:solidFill>
            <a:prstDash val="solid"/>
          </a:ln>
        </p:spPr>
      </p:sp>
      <p:sp>
        <p:nvSpPr>
          <p:cNvPr id="5" name="status text"/>
          <p:cNvSpPr txBox="1"/>
          <p:nvPr/>
        </p:nvSpPr>
        <p:spPr>
          <a:xfrm>
            <a:off x="548640" y="1783080"/>
            <a:ext cx="3200400" cy="411480"/>
          </a:xfrm>
          <a:prstGeom prst="rect">
            <a:avLst/>
          </a:prstGeom>
          <a:noFill/>
          <a:ln/>
        </p:spPr>
        <p:txBody>
          <a:bodyPr wrap="square" rtlCol="0" anchor="ctr"/>
          <a:lstStyle/>
          <a:p>
            <a:pPr algn="ctr" indent="0" marL="0">
              <a:buNone/>
            </a:pPr>
            <a:r>
              <a:rPr lang="en-US" sz="1400" b="1" dirty="0">
                <a:solidFill>
                  <a:srgbClr val="FFFFFF"/>
                </a:solidFill>
              </a:rPr>
              <a:t>Status: Partially completed</a:t>
            </a:r>
            <a:endParaRPr lang="en-US" sz="1400" dirty="0"/>
          </a:p>
        </p:txBody>
      </p:sp>
      <p:sp>
        <p:nvSpPr>
          <p:cNvPr id="6" name="F16 panel"/>
          <p:cNvSpPr/>
          <p:nvPr/>
        </p:nvSpPr>
        <p:spPr>
          <a:xfrm>
            <a:off x="4023360" y="960120"/>
            <a:ext cx="5675087" cy="5532120"/>
          </a:xfrm>
          <a:prstGeom prst="roundRect">
            <a:avLst>
              <a:gd name="adj" fmla="val 1983"/>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pic>
        <p:nvPicPr>
          <p:cNvPr id="7" name="F16" descr="/tmp/deck/img/yellow/F16.png">    </p:cNvPr>
          <p:cNvPicPr>
            <a:picLocks noChangeAspect="1"/>
          </p:cNvPicPr>
          <p:nvPr/>
        </p:nvPicPr>
        <p:blipFill>
          <a:blip r:embed="rId1"/>
          <a:stretch>
            <a:fillRect/>
          </a:stretch>
        </p:blipFill>
        <p:spPr>
          <a:xfrm>
            <a:off x="4133088" y="1069848"/>
            <a:ext cx="5455631" cy="5312664"/>
          </a:xfrm>
          <a:prstGeom prst="rect">
            <a:avLst/>
          </a:prstGeom>
        </p:spPr>
      </p:pic>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IMPLEMENTATION: THE HALAH PROTOTYPE</a:t>
            </a:r>
            <a:endParaRPr lang="en-US" sz="3000" dirty="0"/>
          </a:p>
        </p:txBody>
      </p:sp>
      <p:sp>
        <p:nvSpPr>
          <p:cNvPr id="4" name="card Interfaces"/>
          <p:cNvSpPr/>
          <p:nvPr/>
        </p:nvSpPr>
        <p:spPr>
          <a:xfrm>
            <a:off x="640080" y="1280160"/>
            <a:ext cx="3520440" cy="2240280"/>
          </a:xfrm>
          <a:prstGeom prst="roundRect">
            <a:avLst>
              <a:gd name="adj" fmla="val 4082"/>
            </a:avLst>
          </a:prstGeom>
          <a:solidFill>
            <a:srgbClr val="FFFFFF">
              <a:alpha val="92000"/>
            </a:srgbClr>
          </a:solidFill>
          <a:ln w="19050">
            <a:solidFill>
              <a:srgbClr val="1FB5D6"/>
            </a:solidFill>
            <a:prstDash val="solid"/>
          </a:ln>
        </p:spPr>
      </p:sp>
      <p:sp>
        <p:nvSpPr>
          <p:cNvPr id="5" name="card text Interfaces"/>
          <p:cNvSpPr txBox="1"/>
          <p:nvPr/>
        </p:nvSpPr>
        <p:spPr>
          <a:xfrm>
            <a:off x="777240" y="1371600"/>
            <a:ext cx="3246120" cy="2057400"/>
          </a:xfrm>
          <a:prstGeom prst="rect">
            <a:avLst/>
          </a:prstGeom>
          <a:noFill/>
          <a:ln/>
        </p:spPr>
        <p:txBody>
          <a:bodyPr wrap="square" rtlCol="0" anchor="t"/>
          <a:lstStyle/>
          <a:p>
            <a:pPr indent="0" marL="0">
              <a:spcAft>
                <a:spcPts val="400"/>
              </a:spcAft>
              <a:buNone/>
            </a:pPr>
            <a:r>
              <a:rPr lang="en-US" sz="1900" b="1" dirty="0">
                <a:solidFill>
                  <a:srgbClr val="0B2A4A"/>
                </a:solidFill>
              </a:rPr>
              <a:t>Interfaces</a:t>
            </a:r>
            <a:endParaRPr lang="en-US" sz="1900" dirty="0"/>
          </a:p>
          <a:p>
            <a:pPr indent="0" marL="0">
              <a:spcAft>
                <a:spcPts val="400"/>
              </a:spcAft>
              <a:buNone/>
            </a:pPr>
            <a:r>
              <a:rPr lang="en-US" sz="1600" dirty="0">
                <a:solidFill>
                  <a:srgbClr val="0B1F33"/>
                </a:solidFill>
              </a:rPr>
              <a:t>Patient, guardian, doctor and auditor subsystems</a:t>
            </a:r>
            <a:endParaRPr lang="en-US" sz="1900" dirty="0"/>
          </a:p>
        </p:txBody>
      </p:sp>
      <p:sp>
        <p:nvSpPr>
          <p:cNvPr id="6" name="card Smart contract"/>
          <p:cNvSpPr/>
          <p:nvPr/>
        </p:nvSpPr>
        <p:spPr>
          <a:xfrm>
            <a:off x="4343400" y="1280160"/>
            <a:ext cx="3520440" cy="2240280"/>
          </a:xfrm>
          <a:prstGeom prst="roundRect">
            <a:avLst>
              <a:gd name="adj" fmla="val 4082"/>
            </a:avLst>
          </a:prstGeom>
          <a:solidFill>
            <a:srgbClr val="FFFFFF">
              <a:alpha val="92000"/>
            </a:srgbClr>
          </a:solidFill>
          <a:ln w="19050">
            <a:solidFill>
              <a:srgbClr val="1FB5D6"/>
            </a:solidFill>
            <a:prstDash val="solid"/>
          </a:ln>
        </p:spPr>
      </p:sp>
      <p:sp>
        <p:nvSpPr>
          <p:cNvPr id="7" name="card text Smart contract"/>
          <p:cNvSpPr txBox="1"/>
          <p:nvPr/>
        </p:nvSpPr>
        <p:spPr>
          <a:xfrm>
            <a:off x="4480560" y="1371600"/>
            <a:ext cx="3246120" cy="2057400"/>
          </a:xfrm>
          <a:prstGeom prst="rect">
            <a:avLst/>
          </a:prstGeom>
          <a:noFill/>
          <a:ln/>
        </p:spPr>
        <p:txBody>
          <a:bodyPr wrap="square" rtlCol="0" anchor="t"/>
          <a:lstStyle/>
          <a:p>
            <a:pPr indent="0" marL="0">
              <a:spcAft>
                <a:spcPts val="400"/>
              </a:spcAft>
              <a:buNone/>
            </a:pPr>
            <a:r>
              <a:rPr lang="en-US" sz="1900" b="1" dirty="0">
                <a:solidFill>
                  <a:srgbClr val="0B2A4A"/>
                </a:solidFill>
              </a:rPr>
              <a:t>Smart contract</a:t>
            </a:r>
            <a:endParaRPr lang="en-US" sz="1900" dirty="0"/>
          </a:p>
          <a:p>
            <a:pPr indent="0" marL="0">
              <a:spcAft>
                <a:spcPts val="400"/>
              </a:spcAft>
              <a:buNone/>
            </a:pPr>
            <a:r>
              <a:rPr lang="en-US" sz="1600" dirty="0">
                <a:solidFill>
                  <a:srgbClr val="0B1F33"/>
                </a:solidFill>
              </a:rPr>
              <a:t>ConsentSBTv3, a soulbound ERC-721 token (ERC-5484) on the Sepolia testnet</a:t>
            </a:r>
            <a:endParaRPr lang="en-US" sz="1900" dirty="0"/>
          </a:p>
        </p:txBody>
      </p:sp>
      <p:sp>
        <p:nvSpPr>
          <p:cNvPr id="8" name="card Guardian approval"/>
          <p:cNvSpPr/>
          <p:nvPr/>
        </p:nvSpPr>
        <p:spPr>
          <a:xfrm>
            <a:off x="8046720" y="1280160"/>
            <a:ext cx="3520440" cy="2240280"/>
          </a:xfrm>
          <a:prstGeom prst="roundRect">
            <a:avLst>
              <a:gd name="adj" fmla="val 4082"/>
            </a:avLst>
          </a:prstGeom>
          <a:solidFill>
            <a:srgbClr val="FFFFFF">
              <a:alpha val="92000"/>
            </a:srgbClr>
          </a:solidFill>
          <a:ln w="19050">
            <a:solidFill>
              <a:srgbClr val="1FB5D6"/>
            </a:solidFill>
            <a:prstDash val="solid"/>
          </a:ln>
        </p:spPr>
      </p:sp>
      <p:sp>
        <p:nvSpPr>
          <p:cNvPr id="9" name="card text Guardian approval"/>
          <p:cNvSpPr txBox="1"/>
          <p:nvPr/>
        </p:nvSpPr>
        <p:spPr>
          <a:xfrm>
            <a:off x="8183880" y="1371600"/>
            <a:ext cx="3246120" cy="2057400"/>
          </a:xfrm>
          <a:prstGeom prst="rect">
            <a:avLst/>
          </a:prstGeom>
          <a:noFill/>
          <a:ln/>
        </p:spPr>
        <p:txBody>
          <a:bodyPr wrap="square" rtlCol="0" anchor="t"/>
          <a:lstStyle/>
          <a:p>
            <a:pPr indent="0" marL="0">
              <a:spcAft>
                <a:spcPts val="400"/>
              </a:spcAft>
              <a:buNone/>
            </a:pPr>
            <a:r>
              <a:rPr lang="en-US" sz="1900" b="1" dirty="0">
                <a:solidFill>
                  <a:srgbClr val="0B2A4A"/>
                </a:solidFill>
              </a:rPr>
              <a:t>Guardian approval</a:t>
            </a:r>
            <a:endParaRPr lang="en-US" sz="1900" dirty="0"/>
          </a:p>
          <a:p>
            <a:pPr indent="0" marL="0">
              <a:spcAft>
                <a:spcPts val="400"/>
              </a:spcAft>
              <a:buNone/>
            </a:pPr>
            <a:r>
              <a:rPr lang="en-US" sz="1600" dirty="0">
                <a:solidFill>
                  <a:srgbClr val="0B1F33"/>
                </a:solidFill>
              </a:rPr>
              <a:t>EIP-712 typed signatures, verified by signature recovery</a:t>
            </a:r>
            <a:endParaRPr lang="en-US" sz="1900" dirty="0"/>
          </a:p>
        </p:txBody>
      </p:sp>
      <p:sp>
        <p:nvSpPr>
          <p:cNvPr id="10" name="card Access proof"/>
          <p:cNvSpPr/>
          <p:nvPr/>
        </p:nvSpPr>
        <p:spPr>
          <a:xfrm>
            <a:off x="640080" y="3794760"/>
            <a:ext cx="3520440" cy="2240280"/>
          </a:xfrm>
          <a:prstGeom prst="roundRect">
            <a:avLst>
              <a:gd name="adj" fmla="val 4082"/>
            </a:avLst>
          </a:prstGeom>
          <a:solidFill>
            <a:srgbClr val="FFFFFF">
              <a:alpha val="92000"/>
            </a:srgbClr>
          </a:solidFill>
          <a:ln w="19050">
            <a:solidFill>
              <a:srgbClr val="1FB5D6"/>
            </a:solidFill>
            <a:prstDash val="solid"/>
          </a:ln>
        </p:spPr>
      </p:sp>
      <p:sp>
        <p:nvSpPr>
          <p:cNvPr id="11" name="card text Access proof"/>
          <p:cNvSpPr txBox="1"/>
          <p:nvPr/>
        </p:nvSpPr>
        <p:spPr>
          <a:xfrm>
            <a:off x="777240" y="3886200"/>
            <a:ext cx="3246120" cy="2057400"/>
          </a:xfrm>
          <a:prstGeom prst="rect">
            <a:avLst/>
          </a:prstGeom>
          <a:noFill/>
          <a:ln/>
        </p:spPr>
        <p:txBody>
          <a:bodyPr wrap="square" rtlCol="0" anchor="t"/>
          <a:lstStyle/>
          <a:p>
            <a:pPr indent="0" marL="0">
              <a:spcAft>
                <a:spcPts val="400"/>
              </a:spcAft>
              <a:buNone/>
            </a:pPr>
            <a:r>
              <a:rPr lang="en-US" sz="1900" b="1" dirty="0">
                <a:solidFill>
                  <a:srgbClr val="0B2A4A"/>
                </a:solidFill>
              </a:rPr>
              <a:t>Access proof</a:t>
            </a:r>
            <a:endParaRPr lang="en-US" sz="1900" dirty="0"/>
          </a:p>
          <a:p>
            <a:pPr indent="0" marL="0">
              <a:spcAft>
                <a:spcPts val="400"/>
              </a:spcAft>
              <a:buNone/>
            </a:pPr>
            <a:r>
              <a:rPr lang="en-US" sz="1600" dirty="0">
                <a:solidFill>
                  <a:srgbClr val="0B1F33"/>
                </a:solidFill>
              </a:rPr>
              <a:t>Groth16 zero-knowledge proof over a Poseidon commitment</a:t>
            </a:r>
            <a:endParaRPr lang="en-US" sz="1900" dirty="0"/>
          </a:p>
        </p:txBody>
      </p:sp>
      <p:sp>
        <p:nvSpPr>
          <p:cNvPr id="12" name="card Data"/>
          <p:cNvSpPr/>
          <p:nvPr/>
        </p:nvSpPr>
        <p:spPr>
          <a:xfrm>
            <a:off x="4343400" y="3794760"/>
            <a:ext cx="3520440" cy="2240280"/>
          </a:xfrm>
          <a:prstGeom prst="roundRect">
            <a:avLst>
              <a:gd name="adj" fmla="val 4082"/>
            </a:avLst>
          </a:prstGeom>
          <a:solidFill>
            <a:srgbClr val="FFFFFF">
              <a:alpha val="92000"/>
            </a:srgbClr>
          </a:solidFill>
          <a:ln w="19050">
            <a:solidFill>
              <a:srgbClr val="1FB5D6"/>
            </a:solidFill>
            <a:prstDash val="solid"/>
          </a:ln>
        </p:spPr>
      </p:sp>
      <p:sp>
        <p:nvSpPr>
          <p:cNvPr id="13" name="card text Data"/>
          <p:cNvSpPr txBox="1"/>
          <p:nvPr/>
        </p:nvSpPr>
        <p:spPr>
          <a:xfrm>
            <a:off x="4480560" y="3886200"/>
            <a:ext cx="3246120" cy="2057400"/>
          </a:xfrm>
          <a:prstGeom prst="rect">
            <a:avLst/>
          </a:prstGeom>
          <a:noFill/>
          <a:ln/>
        </p:spPr>
        <p:txBody>
          <a:bodyPr wrap="square" rtlCol="0" anchor="t"/>
          <a:lstStyle/>
          <a:p>
            <a:pPr indent="0" marL="0">
              <a:spcAft>
                <a:spcPts val="400"/>
              </a:spcAft>
              <a:buNone/>
            </a:pPr>
            <a:r>
              <a:rPr lang="en-US" sz="1900" b="1" dirty="0">
                <a:solidFill>
                  <a:srgbClr val="0B2A4A"/>
                </a:solidFill>
              </a:rPr>
              <a:t>Data</a:t>
            </a:r>
            <a:endParaRPr lang="en-US" sz="1900" dirty="0"/>
          </a:p>
          <a:p>
            <a:pPr indent="0" marL="0">
              <a:spcAft>
                <a:spcPts val="400"/>
              </a:spcAft>
              <a:buNone/>
            </a:pPr>
            <a:r>
              <a:rPr lang="en-US" sz="1600" dirty="0">
                <a:solidFill>
                  <a:srgbClr val="0B1F33"/>
                </a:solidFill>
              </a:rPr>
              <a:t>Synthetic Synthea records: Observation, Medication, Condition, Procedure</a:t>
            </a:r>
            <a:endParaRPr lang="en-US" sz="1900" dirty="0"/>
          </a:p>
        </p:txBody>
      </p:sp>
      <p:sp>
        <p:nvSpPr>
          <p:cNvPr id="14" name="card Evidence"/>
          <p:cNvSpPr/>
          <p:nvPr/>
        </p:nvSpPr>
        <p:spPr>
          <a:xfrm>
            <a:off x="8046720" y="3794760"/>
            <a:ext cx="3520440" cy="2240280"/>
          </a:xfrm>
          <a:prstGeom prst="roundRect">
            <a:avLst>
              <a:gd name="adj" fmla="val 4082"/>
            </a:avLst>
          </a:prstGeom>
          <a:solidFill>
            <a:srgbClr val="FFFFFF">
              <a:alpha val="92000"/>
            </a:srgbClr>
          </a:solidFill>
          <a:ln w="19050">
            <a:solidFill>
              <a:srgbClr val="1FB5D6"/>
            </a:solidFill>
            <a:prstDash val="solid"/>
          </a:ln>
        </p:spPr>
      </p:sp>
      <p:sp>
        <p:nvSpPr>
          <p:cNvPr id="15" name="card text Evidence"/>
          <p:cNvSpPr txBox="1"/>
          <p:nvPr/>
        </p:nvSpPr>
        <p:spPr>
          <a:xfrm>
            <a:off x="8183880" y="3886200"/>
            <a:ext cx="3246120" cy="2057400"/>
          </a:xfrm>
          <a:prstGeom prst="rect">
            <a:avLst/>
          </a:prstGeom>
          <a:noFill/>
          <a:ln/>
        </p:spPr>
        <p:txBody>
          <a:bodyPr wrap="square" rtlCol="0" anchor="t"/>
          <a:lstStyle/>
          <a:p>
            <a:pPr indent="0" marL="0">
              <a:spcAft>
                <a:spcPts val="400"/>
              </a:spcAft>
              <a:buNone/>
            </a:pPr>
            <a:r>
              <a:rPr lang="en-US" sz="1900" b="1" dirty="0">
                <a:solidFill>
                  <a:srgbClr val="0B2A4A"/>
                </a:solidFill>
              </a:rPr>
              <a:t>Evidence</a:t>
            </a:r>
            <a:endParaRPr lang="en-US" sz="1900" dirty="0"/>
          </a:p>
          <a:p>
            <a:pPr indent="0" marL="0">
              <a:spcAft>
                <a:spcPts val="400"/>
              </a:spcAft>
              <a:buNone/>
            </a:pPr>
            <a:r>
              <a:rPr lang="en-US" sz="1600" dirty="0">
                <a:solidFill>
                  <a:srgbClr val="0B1F33"/>
                </a:solidFill>
              </a:rPr>
              <a:t>​</a:t>
            </a:r>
            <a:r>
              <a:rPr lang="en-US" sz="1600" dirty="0">
                <a:solidFill>
                  <a:srgbClr val="0B1F33"/>
                </a:solidFill>
                <a:highlight>
                  <a:srgbClr val="FFFF00"/>
                </a:highlight>
              </a:rPr>
              <a:t>Off-chain audit ledger of every access decision; no medical content on-chain</a:t>
            </a:r>
            <a:endParaRPr lang="en-US" sz="19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a:t>
            </a:r>
            <a:r>
              <a:rPr lang="en-US" sz="3000" b="1" dirty="0">
                <a:solidFill>
                  <a:srgbClr val="0B1F33"/>
                </a:solidFill>
                <a:highlight>
                  <a:srgbClr val="FFFF00"/>
                </a:highlight>
                <a:latin typeface="Arial" pitchFamily="34" charset="0"/>
                <a:ea typeface="Arial" pitchFamily="34" charset="-122"/>
                <a:cs typeface="Arial" pitchFamily="34" charset="-120"/>
              </a:rPr>
              <a:t>IMPLEMENTATION: A REAL SCENARIO</a:t>
            </a:r>
            <a:endParaRPr lang="en-US" sz="3000" dirty="0"/>
          </a:p>
        </p:txBody>
      </p:sp>
      <p:sp>
        <p:nvSpPr>
          <p:cNvPr id="4" name="F27x panel"/>
          <p:cNvSpPr/>
          <p:nvPr/>
        </p:nvSpPr>
        <p:spPr>
          <a:xfrm>
            <a:off x="2898648" y="1188720"/>
            <a:ext cx="6400800" cy="4480560"/>
          </a:xfrm>
          <a:prstGeom prst="roundRect">
            <a:avLst>
              <a:gd name="adj" fmla="val 2449"/>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pic>
        <p:nvPicPr>
          <p:cNvPr id="5" name="F27x" descr="/tmp/deck/img/yellow/F27x.png">    </p:cNvPr>
          <p:cNvPicPr>
            <a:picLocks noChangeAspect="1"/>
          </p:cNvPicPr>
          <p:nvPr/>
        </p:nvPicPr>
        <p:blipFill>
          <a:blip r:embed="rId1"/>
          <a:stretch>
            <a:fillRect/>
          </a:stretch>
        </p:blipFill>
        <p:spPr>
          <a:xfrm>
            <a:off x="3008376" y="1354535"/>
            <a:ext cx="6181344" cy="4148929"/>
          </a:xfrm>
          <a:prstGeom prst="rect">
            <a:avLst/>
          </a:prstGeom>
        </p:spPr>
      </p:pic>
      <p:sp>
        <p:nvSpPr>
          <p:cNvPr id="6" name="caption"/>
          <p:cNvSpPr txBox="1"/>
          <p:nvPr/>
        </p:nvSpPr>
        <p:spPr>
          <a:xfrm>
            <a:off x="1984248" y="5806440"/>
            <a:ext cx="8229600" cy="320040"/>
          </a:xfrm>
          <a:prstGeom prst="rect">
            <a:avLst/>
          </a:prstGeom>
          <a:noFill/>
          <a:ln/>
        </p:spPr>
        <p:txBody>
          <a:bodyPr wrap="square" rtlCol="0" anchor="ctr"/>
          <a:lstStyle/>
          <a:p>
            <a:pPr algn="ctr" indent="0" marL="0">
              <a:buNone/>
            </a:pPr>
            <a:r>
              <a:rPr lang="en-US" sz="1200" i="1" dirty="0">
                <a:solidFill>
                  <a:srgbClr val="FFFFFF"/>
                </a:solidFill>
              </a:rPr>
              <a:t>​</a:t>
            </a:r>
            <a:r>
              <a:rPr lang="en-US" sz="1200" i="1" dirty="0">
                <a:solidFill>
                  <a:srgbClr val="0B1F33"/>
                </a:solidFill>
                <a:highlight>
                  <a:srgbClr val="FFFF00"/>
                </a:highlight>
              </a:rPr>
              <a:t>Doctor screen, consent f050c29a, 24 September 2026 (shown in two parts).</a:t>
            </a:r>
            <a:r>
              <a:rPr lang="en-US" sz="1200" i="1" dirty="0">
                <a:solidFill>
                  <a:srgbClr val="FFFFFF"/>
                </a:solidFill>
              </a:rPr>
              <a:t> All five checks pass: ALLOW</a:t>
            </a:r>
            <a:endParaRPr lang="en-US" sz="12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IMPLEMENTATION: ON-CHAIN EVIDENCE</a:t>
            </a:r>
            <a:endParaRPr lang="en-US" sz="3000" dirty="0"/>
          </a:p>
        </p:txBody>
      </p:sp>
      <p:sp>
        <p:nvSpPr>
          <p:cNvPr id="4" name="F37 panel"/>
          <p:cNvSpPr/>
          <p:nvPr/>
        </p:nvSpPr>
        <p:spPr>
          <a:xfrm>
            <a:off x="640080" y="1097280"/>
            <a:ext cx="5120640" cy="4983480"/>
          </a:xfrm>
          <a:prstGeom prst="roundRect">
            <a:avLst>
              <a:gd name="adj" fmla="val 2202"/>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pic>
        <p:nvPicPr>
          <p:cNvPr id="5" name="F37" descr="/tmp/deck/img/F37.png">    </p:cNvPr>
          <p:cNvPicPr>
            <a:picLocks noChangeAspect="1"/>
          </p:cNvPicPr>
          <p:nvPr/>
        </p:nvPicPr>
        <p:blipFill>
          <a:blip r:embed="rId1"/>
          <a:stretch>
            <a:fillRect/>
          </a:stretch>
        </p:blipFill>
        <p:spPr>
          <a:xfrm>
            <a:off x="749808" y="1377711"/>
            <a:ext cx="4901184" cy="4422617"/>
          </a:xfrm>
          <a:prstGeom prst="rect">
            <a:avLst/>
          </a:prstGeom>
        </p:spPr>
      </p:pic>
      <p:sp>
        <p:nvSpPr>
          <p:cNvPr id="6" name="caption"/>
          <p:cNvSpPr txBox="1"/>
          <p:nvPr/>
        </p:nvSpPr>
        <p:spPr>
          <a:xfrm>
            <a:off x="640080" y="6172200"/>
            <a:ext cx="5120640" cy="320040"/>
          </a:xfrm>
          <a:prstGeom prst="rect">
            <a:avLst/>
          </a:prstGeom>
          <a:noFill/>
          <a:ln/>
        </p:spPr>
        <p:txBody>
          <a:bodyPr wrap="square" rtlCol="0" anchor="ctr"/>
          <a:lstStyle/>
          <a:p>
            <a:pPr algn="ctr" indent="0" marL="0">
              <a:buNone/>
            </a:pPr>
            <a:r>
              <a:rPr lang="en-US" sz="1200" i="1" dirty="0">
                <a:solidFill>
                  <a:srgbClr val="FFFFFF"/>
                </a:solidFill>
              </a:rPr>
              <a:t>Revocation of token #1 on Sepolia Etherscan, block 11,771,307</a:t>
            </a:r>
            <a:endParaRPr lang="en-US" sz="1200" dirty="0"/>
          </a:p>
        </p:txBody>
      </p:sp>
      <p:sp>
        <p:nvSpPr>
          <p:cNvPr id="7" name="chart panel"/>
          <p:cNvSpPr/>
          <p:nvPr/>
        </p:nvSpPr>
        <p:spPr>
          <a:xfrm>
            <a:off x="6035040" y="1097280"/>
            <a:ext cx="5486400" cy="4983480"/>
          </a:xfrm>
          <a:prstGeom prst="roundRect">
            <a:avLst>
              <a:gd name="adj" fmla="val 2202"/>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graphicFrame>
        <p:nvGraphicFramePr>
          <p:cNvPr id="8" name="gas chart" descr=""/>
          <p:cNvGraphicFramePr/>
          <p:nvPr/>
        </p:nvGraphicFramePr>
        <p:xfrm>
          <a:off x="6172200" y="1234440"/>
          <a:ext cx="5212080" cy="4709160"/>
        </p:xfrm>
        <a:graphic xmlns:a="http://schemas.openxmlformats.org/drawingml/2006/main">
          <a:graphicData uri="http://schemas.openxmlformats.org/drawingml/2006/chart">
            <c:chart xmlns:c="http://schemas.openxmlformats.org/drawingml/2006/chart" r:id="rId2"/>
          </a:graphicData>
        </a:graphic>
      </p:graphicFrame>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VALIDATION</a:t>
            </a:r>
            <a:endParaRPr lang="en-US" sz="3000" dirty="0"/>
          </a:p>
        </p:txBody>
      </p:sp>
      <p:graphicFrame>
        <p:nvGraphicFramePr>
          <p:cNvPr id="36" name="table"/>
          <p:cNvGraphicFramePr>
            <a:graphicFrameLocks noGrp="1"/>
          </p:cNvGraphicFramePr>
          <p:nvPr>
            <p:extLst>
              <p:ext uri="{D42A27DB-BD31-4B8C-83A1-F6EECF244321}">
                <p14:modId xmlns:p14="http://schemas.microsoft.com/office/powerpoint/2010/main" val="1579011935"/>
              </p:ext>
            </p:extLst>
          </p:nvPr>
        </p:nvGraphicFramePr>
        <p:xfrm>
          <a:off x="640080" y="1188720"/>
          <a:ext cx="10881360" cy="914400"/>
        </p:xfrm>
        <a:graphic>
          <a:graphicData uri="http://schemas.openxmlformats.org/drawingml/2006/table">
            <a:tbl>
              <a:tblPr/>
              <a:tblGrid>
                <a:gridCol w="2103120"/>
                <a:gridCol w="3108960"/>
                <a:gridCol w="2560320"/>
                <a:gridCol w="3108960"/>
              </a:tblGrid>
              <a:tr h="502920">
                <a:tc>
                  <a:txBody>
                    <a:bodyPr/>
                    <a:lstStyle/>
                    <a:p>
                      <a:pPr indent="0" marL="0">
                        <a:buNone/>
                      </a:pPr>
                      <a:r>
                        <a:rPr lang="en-US" sz="1400" b="1" dirty="0">
                          <a:solidFill>
                            <a:srgbClr val="FFFFFF"/>
                          </a:solidFill>
                        </a:rPr>
                        <a:t>Validation</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400" b="1" dirty="0">
                          <a:solidFill>
                            <a:srgbClr val="FFFFFF"/>
                          </a:solidFill>
                        </a:rPr>
                        <a:t>Definition</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400" b="1" dirty="0">
                          <a:solidFill>
                            <a:srgbClr val="FFFFFF"/>
                          </a:solidFill>
                        </a:rPr>
                        <a:t>Criterion</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400" b="1" dirty="0">
                          <a:solidFill>
                            <a:srgbClr val="FFFFFF"/>
                          </a:solidFill>
                        </a:rPr>
                        <a:t>Result</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r>
              <a:tr h="868680">
                <a:tc>
                  <a:txBody>
                    <a:bodyPr/>
                    <a:lstStyle/>
                    <a:p>
                      <a:pPr indent="0" marL="0">
                        <a:buNone/>
                      </a:pPr>
                      <a:r>
                        <a:rPr lang="en-US" sz="1400" b="1" dirty="0">
                          <a:solidFill>
                            <a:srgbClr val="0B1F33"/>
                          </a:solidFill>
                        </a:rPr>
                        <a:t>Valid scenarios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Legitimate requests must obtain authorised access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Pass(s) ⟺ Dobs(s) = Dexp(s)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Scenarios 1 to 3: consent created, 2-of-2 approval, ALLOW (RQ1 to RQ4)</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868680">
                <a:tc>
                  <a:txBody>
                    <a:bodyPr/>
                    <a:lstStyle/>
                    <a:p>
                      <a:pPr indent="0" marL="0">
                        <a:buNone/>
                      </a:pPr>
                      <a:r>
                        <a:rPr lang="en-US" sz="1400" b="1" dirty="0">
                          <a:solidFill>
                            <a:srgbClr val="0B1F33"/>
                          </a:solidFill>
                        </a:rPr>
                        <a:t>Negative scenarios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Invalid requests must be refused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Any failed check ⇒ DENY</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a:t>
                      </a:r>
                      <a:r>
                        <a:rPr lang="en-US" sz="1400" dirty="0">
                          <a:solidFill>
                            <a:srgbClr val="0B1F33"/>
                          </a:solidFill>
                          <a:highlight>
                            <a:srgbClr val="FFFF00"/>
                          </a:highlight>
                        </a:rPr>
                        <a:t>Scenario 5: revoked consent refused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868680">
                <a:tc>
                  <a:txBody>
                    <a:bodyPr/>
                    <a:lstStyle/>
                    <a:p>
                      <a:pPr indent="0" marL="0">
                        <a:buNone/>
                      </a:pPr>
                      <a:r>
                        <a:rPr lang="en-US" sz="1400" b="1" dirty="0">
                          <a:solidFill>
                            <a:srgbClr val="0B1F33"/>
                          </a:solidFill>
                        </a:rPr>
                        <a:t>Adversarial scenarios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a:t>
                      </a:r>
                      <a:r>
                        <a:rPr lang="en-US" sz="1400" dirty="0">
                          <a:solidFill>
                            <a:srgbClr val="0B1F33"/>
                          </a:solidFill>
                          <a:highlight>
                            <a:srgbClr val="FFFF00"/>
                          </a:highlight>
                        </a:rPr>
                        <a:t>Deliberate attempts to bypass a condition, A1 to A13</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a:t>
                      </a:r>
                      <a:r>
                        <a:rPr lang="en-US" sz="1400" dirty="0">
                          <a:solidFill>
                            <a:srgbClr val="0B1F33"/>
                          </a:solidFill>
                          <a:highlight>
                            <a:srgbClr val="FFFF00"/>
                          </a:highlight>
                        </a:rPr>
                        <a:t>Refused / 13</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a:t>
                      </a:r>
                      <a:r>
                        <a:rPr lang="en-US" sz="1400" dirty="0">
                          <a:solidFill>
                            <a:srgbClr val="0B1F33"/>
                          </a:solidFill>
                          <a:highlight>
                            <a:srgbClr val="FFFF00"/>
                          </a:highlight>
                        </a:rPr>
                        <a:t>12 of 13 refused (A11 neutral: the audit digest is not yet checked)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868680">
                <a:tc>
                  <a:txBody>
                    <a:bodyPr/>
                    <a:lstStyle/>
                    <a:p>
                      <a:pPr indent="0" marL="0">
                        <a:buNone/>
                      </a:pPr>
                      <a:r>
                        <a:rPr lang="en-US" sz="1400" b="1" dirty="0">
                          <a:solidFill>
                            <a:srgbClr val="0B1F33"/>
                          </a:solidFill>
                        </a:rPr>
                        <a:t>Automated tests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a:t>
                      </a:r>
                      <a:r>
                        <a:rPr lang="en-US" sz="1400" dirty="0">
                          <a:solidFill>
                            <a:srgbClr val="0B1F33"/>
                          </a:solidFill>
                          <a:highlight>
                            <a:srgbClr val="FFFF00"/>
                          </a:highlight>
                        </a:rPr>
                        <a:t>32 functional and regression tests and 14 adversarial tests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All tests 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a:t>
                      </a:r>
                      <a:r>
                        <a:rPr lang="en-US" sz="1400" dirty="0">
                          <a:solidFill>
                            <a:srgbClr val="0B1F33"/>
                          </a:solidFill>
                          <a:highlight>
                            <a:srgbClr val="FFFF00"/>
                          </a:highlight>
                        </a:rPr>
                        <a:t>46 of 46 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868680">
                <a:tc>
                  <a:txBody>
                    <a:bodyPr/>
                    <a:lstStyle/>
                    <a:p>
                      <a:pPr indent="0" marL="0">
                        <a:buNone/>
                      </a:pPr>
                      <a:r>
                        <a:rPr lang="en-US" sz="1400" b="1" dirty="0">
                          <a:solidFill>
                            <a:srgbClr val="0B1F33"/>
                          </a:solidFill>
                        </a:rPr>
                        <a:t>Independent verification</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On-chain receipts compared with the local consent state</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Local state = on-chain state</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Scenario 6: RESULT: ALL CHECKS PASSED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VALIDATION: ADVERSARIAL TESTS</a:t>
            </a:r>
            <a:endParaRPr lang="en-US" sz="3000" dirty="0"/>
          </a:p>
        </p:txBody>
      </p:sp>
      <p:sp>
        <p:nvSpPr>
          <p:cNvPr id="4" name="F43 panel"/>
          <p:cNvSpPr/>
          <p:nvPr/>
        </p:nvSpPr>
        <p:spPr>
          <a:xfrm>
            <a:off x="640080" y="1097280"/>
            <a:ext cx="6583680" cy="5413248"/>
          </a:xfrm>
          <a:prstGeom prst="roundRect">
            <a:avLst>
              <a:gd name="adj" fmla="val 2027"/>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pic>
        <p:nvPicPr>
          <p:cNvPr id="5" name="F43" descr="/tmp/deck/img/yellow/F43.png">    </p:cNvPr>
          <p:cNvPicPr>
            <a:picLocks noChangeAspect="1"/>
          </p:cNvPicPr>
          <p:nvPr/>
        </p:nvPicPr>
        <p:blipFill>
          <a:blip r:embed="rId1"/>
          <a:stretch>
            <a:fillRect/>
          </a:stretch>
        </p:blipFill>
        <p:spPr>
          <a:xfrm>
            <a:off x="759592" y="1207008"/>
            <a:ext cx="6344655" cy="5193792"/>
          </a:xfrm>
          <a:prstGeom prst="rect">
            <a:avLst/>
          </a:prstGeom>
        </p:spPr>
      </p:pic>
      <p:sp>
        <p:nvSpPr>
          <p:cNvPr id="6" name="stat 0"/>
          <p:cNvSpPr txBox="1"/>
          <p:nvPr/>
        </p:nvSpPr>
        <p:spPr>
          <a:xfrm>
            <a:off x="7589520" y="1234440"/>
            <a:ext cx="3931920" cy="914400"/>
          </a:xfrm>
          <a:prstGeom prst="rect">
            <a:avLst/>
          </a:prstGeom>
          <a:noFill/>
          <a:ln/>
        </p:spPr>
        <p:txBody>
          <a:bodyPr wrap="square" lIns="0" tIns="0" rIns="0" bIns="0" rtlCol="0" anchor="ctr"/>
          <a:lstStyle/>
          <a:p>
            <a:pPr algn="l" indent="0" marL="0">
              <a:buNone/>
            </a:pPr>
            <a:r>
              <a:rPr lang="en-US" sz="4800" b="1" dirty="0">
                <a:solidFill>
                  <a:srgbClr val="1FB5D6"/>
                </a:solidFill>
              </a:rPr>
              <a:t>​</a:t>
            </a:r>
            <a:r>
              <a:rPr lang="en-US" sz="4800" b="1" dirty="0">
                <a:solidFill>
                  <a:srgbClr val="0B1F33"/>
                </a:solidFill>
                <a:highlight>
                  <a:srgbClr val="FFFF00"/>
                </a:highlight>
              </a:rPr>
              <a:t>13</a:t>
            </a:r>
            <a:endParaRPr lang="en-US" sz="4800" dirty="0"/>
          </a:p>
        </p:txBody>
      </p:sp>
      <p:sp>
        <p:nvSpPr>
          <p:cNvPr id="7" name="stat label 0"/>
          <p:cNvSpPr txBox="1"/>
          <p:nvPr/>
        </p:nvSpPr>
        <p:spPr>
          <a:xfrm>
            <a:off x="7589520" y="2103120"/>
            <a:ext cx="3931920" cy="457200"/>
          </a:xfrm>
          <a:prstGeom prst="rect">
            <a:avLst/>
          </a:prstGeom>
          <a:noFill/>
          <a:ln/>
        </p:spPr>
        <p:txBody>
          <a:bodyPr wrap="square" lIns="0" tIns="0" rIns="0" bIns="0" rtlCol="0" anchor="ctr"/>
          <a:lstStyle/>
          <a:p>
            <a:pPr indent="0" marL="0">
              <a:buNone/>
            </a:pPr>
            <a:r>
              <a:rPr lang="en-US" sz="1800" dirty="0">
                <a:solidFill>
                  <a:srgbClr val="FFFFFF"/>
                </a:solidFill>
              </a:rPr>
              <a:t>​</a:t>
            </a:r>
            <a:r>
              <a:rPr lang="en-US" sz="1800" dirty="0">
                <a:solidFill>
                  <a:srgbClr val="0B1F33"/>
                </a:solidFill>
                <a:highlight>
                  <a:srgbClr val="FFFF00"/>
                </a:highlight>
              </a:rPr>
              <a:t>attack scenarios, A1 to A13</a:t>
            </a:r>
            <a:endParaRPr lang="en-US" sz="1800" dirty="0"/>
          </a:p>
        </p:txBody>
      </p:sp>
      <p:sp>
        <p:nvSpPr>
          <p:cNvPr id="8" name="stat 1"/>
          <p:cNvSpPr txBox="1"/>
          <p:nvPr/>
        </p:nvSpPr>
        <p:spPr>
          <a:xfrm>
            <a:off x="7589520" y="3017520"/>
            <a:ext cx="3931920" cy="914400"/>
          </a:xfrm>
          <a:prstGeom prst="rect">
            <a:avLst/>
          </a:prstGeom>
          <a:noFill/>
          <a:ln/>
        </p:spPr>
        <p:txBody>
          <a:bodyPr wrap="square" lIns="0" tIns="0" rIns="0" bIns="0" rtlCol="0" anchor="ctr"/>
          <a:lstStyle/>
          <a:p>
            <a:pPr algn="l" indent="0" marL="0">
              <a:buNone/>
            </a:pPr>
            <a:r>
              <a:rPr lang="en-US" sz="4800" b="1" dirty="0">
                <a:solidFill>
                  <a:srgbClr val="1FB5D6"/>
                </a:solidFill>
              </a:rPr>
              <a:t>​</a:t>
            </a:r>
            <a:r>
              <a:rPr lang="en-US" sz="4800" b="1" dirty="0">
                <a:solidFill>
                  <a:srgbClr val="0B1F33"/>
                </a:solidFill>
                <a:highlight>
                  <a:srgbClr val="FFFF00"/>
                </a:highlight>
              </a:rPr>
              <a:t>12 / 13</a:t>
            </a:r>
            <a:endParaRPr lang="en-US" sz="4800" dirty="0"/>
          </a:p>
        </p:txBody>
      </p:sp>
      <p:sp>
        <p:nvSpPr>
          <p:cNvPr id="9" name="stat label 1"/>
          <p:cNvSpPr txBox="1"/>
          <p:nvPr/>
        </p:nvSpPr>
        <p:spPr>
          <a:xfrm>
            <a:off x="7589520" y="3886200"/>
            <a:ext cx="3931920" cy="457200"/>
          </a:xfrm>
          <a:prstGeom prst="rect">
            <a:avLst/>
          </a:prstGeom>
          <a:noFill/>
          <a:ln/>
        </p:spPr>
        <p:txBody>
          <a:bodyPr wrap="square" lIns="0" tIns="0" rIns="0" bIns="0" rtlCol="0" anchor="ctr"/>
          <a:lstStyle/>
          <a:p>
            <a:pPr indent="0" marL="0">
              <a:buNone/>
            </a:pPr>
            <a:r>
              <a:rPr lang="en-US" sz="1800" dirty="0">
                <a:solidFill>
                  <a:srgbClr val="FFFFFF"/>
                </a:solidFill>
              </a:rPr>
              <a:t>​</a:t>
            </a:r>
            <a:r>
              <a:rPr lang="en-US" sz="1800" dirty="0">
                <a:solidFill>
                  <a:srgbClr val="0B1F33"/>
                </a:solidFill>
                <a:highlight>
                  <a:srgbClr val="FFFF00"/>
                </a:highlight>
              </a:rPr>
              <a:t>refused today (A11 neutral)</a:t>
            </a:r>
            <a:endParaRPr lang="en-US" sz="1800" dirty="0"/>
          </a:p>
        </p:txBody>
      </p:sp>
      <p:sp>
        <p:nvSpPr>
          <p:cNvPr id="10" name="stat 2"/>
          <p:cNvSpPr txBox="1"/>
          <p:nvPr/>
        </p:nvSpPr>
        <p:spPr>
          <a:xfrm>
            <a:off x="7589520" y="4800600"/>
            <a:ext cx="3931920" cy="914400"/>
          </a:xfrm>
          <a:prstGeom prst="rect">
            <a:avLst/>
          </a:prstGeom>
          <a:noFill/>
          <a:ln/>
        </p:spPr>
        <p:txBody>
          <a:bodyPr wrap="square" lIns="0" tIns="0" rIns="0" bIns="0" rtlCol="0" anchor="ctr"/>
          <a:lstStyle/>
          <a:p>
            <a:pPr algn="l" indent="0" marL="0">
              <a:buNone/>
            </a:pPr>
            <a:r>
              <a:rPr lang="en-US" sz="4800" b="1" dirty="0">
                <a:solidFill>
                  <a:srgbClr val="1FB5D6"/>
                </a:solidFill>
              </a:rPr>
              <a:t>​</a:t>
            </a:r>
            <a:r>
              <a:rPr lang="en-US" sz="4800" b="1" dirty="0">
                <a:solidFill>
                  <a:srgbClr val="0B1F33"/>
                </a:solidFill>
                <a:highlight>
                  <a:srgbClr val="FFFF00"/>
                </a:highlight>
              </a:rPr>
              <a:t>46</a:t>
            </a:r>
            <a:endParaRPr lang="en-US" sz="4800" dirty="0"/>
          </a:p>
        </p:txBody>
      </p:sp>
      <p:sp>
        <p:nvSpPr>
          <p:cNvPr id="11" name="stat label 2"/>
          <p:cNvSpPr txBox="1"/>
          <p:nvPr/>
        </p:nvSpPr>
        <p:spPr>
          <a:xfrm>
            <a:off x="7589520" y="5669280"/>
            <a:ext cx="3931920" cy="457200"/>
          </a:xfrm>
          <a:prstGeom prst="rect">
            <a:avLst/>
          </a:prstGeom>
          <a:noFill/>
          <a:ln/>
        </p:spPr>
        <p:txBody>
          <a:bodyPr wrap="square" lIns="0" tIns="0" rIns="0" bIns="0" rtlCol="0" anchor="ctr"/>
          <a:lstStyle/>
          <a:p>
            <a:pPr indent="0" marL="0">
              <a:buNone/>
            </a:pPr>
            <a:r>
              <a:rPr lang="en-US" sz="1800" dirty="0">
                <a:solidFill>
                  <a:srgbClr val="FFFFFF"/>
                </a:solidFill>
              </a:rPr>
              <a:t>automated tests pass</a:t>
            </a:r>
            <a:endParaRPr lang="en-US" sz="18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EVALUATION</a:t>
            </a:r>
            <a:endParaRPr lang="en-US" sz="3000" dirty="0"/>
          </a:p>
        </p:txBody>
      </p:sp>
      <p:graphicFrame>
        <p:nvGraphicFramePr>
          <p:cNvPr id="38" name="table"/>
          <p:cNvGraphicFramePr>
            <a:graphicFrameLocks noGrp="1"/>
          </p:cNvGraphicFramePr>
          <p:nvPr>
            <p:extLst>
              <p:ext uri="{D42A27DB-BD31-4B8C-83A1-F6EECF244321}">
                <p14:modId xmlns:p14="http://schemas.microsoft.com/office/powerpoint/2010/main" val="1579011935"/>
              </p:ext>
            </p:extLst>
          </p:nvPr>
        </p:nvGraphicFramePr>
        <p:xfrm>
          <a:off x="640080" y="1143000"/>
          <a:ext cx="10881360" cy="914400"/>
        </p:xfrm>
        <a:graphic>
          <a:graphicData uri="http://schemas.openxmlformats.org/drawingml/2006/table">
            <a:tbl>
              <a:tblPr/>
              <a:tblGrid>
                <a:gridCol w="2377440"/>
                <a:gridCol w="2743200"/>
                <a:gridCol w="2468880"/>
                <a:gridCol w="3291840"/>
              </a:tblGrid>
              <a:tr h="457200">
                <a:tc>
                  <a:txBody>
                    <a:bodyPr/>
                    <a:lstStyle/>
                    <a:p>
                      <a:pPr indent="0" marL="0">
                        <a:buNone/>
                      </a:pPr>
                      <a:r>
                        <a:rPr lang="en-US" sz="1300" b="1" dirty="0">
                          <a:solidFill>
                            <a:srgbClr val="FFFFFF"/>
                          </a:solidFill>
                        </a:rPr>
                        <a:t>Metric</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300" b="1" dirty="0">
                          <a:solidFill>
                            <a:srgbClr val="FFFFFF"/>
                          </a:solidFill>
                        </a:rPr>
                        <a:t>Definition</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300" b="1" dirty="0">
                          <a:solidFill>
                            <a:srgbClr val="FFFFFF"/>
                          </a:solidFill>
                        </a:rPr>
                        <a:t>Formula</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300" b="1" dirty="0">
                          <a:solidFill>
                            <a:srgbClr val="FFFFFF"/>
                          </a:solidFill>
                        </a:rPr>
                        <a:t>Measured result</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r>
              <a:tr h="731520">
                <a:tc>
                  <a:txBody>
                    <a:bodyPr/>
                    <a:lstStyle/>
                    <a:p>
                      <a:pPr indent="0" marL="0">
                        <a:buNone/>
                      </a:pPr>
                      <a:r>
                        <a:rPr lang="en-US" sz="1300" b="1" dirty="0">
                          <a:solidFill>
                            <a:srgbClr val="0B1F33"/>
                          </a:solidFill>
                        </a:rPr>
                        <a:t>Gas used</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Gas consumed by each anchored transaction, from its receipt</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gasUsed</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Mint #1: 196,406; Revoke #1: 32,980</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731520">
                <a:tc>
                  <a:txBody>
                    <a:bodyPr/>
                    <a:lstStyle/>
                    <a:p>
                      <a:pPr indent="0" marL="0">
                        <a:buNone/>
                      </a:pPr>
                      <a:r>
                        <a:rPr lang="en-US" sz="1300" b="1" dirty="0">
                          <a:solidFill>
                            <a:srgbClr val="0B1F33"/>
                          </a:solidFill>
                        </a:rPr>
                        <a:t>Transaction fee</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Fee paid for each anchored transaction</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Fee = gasUsed × gasPrice</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No fee above 0.00021 ETH (Sepolia ETH has no monetary value)</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731520">
                <a:tc>
                  <a:txBody>
                    <a:bodyPr/>
                    <a:lstStyle/>
                    <a:p>
                      <a:pPr indent="0" marL="0">
                        <a:buNone/>
                      </a:pPr>
                      <a:r>
                        <a:rPr lang="en-US" sz="1300" b="1" dirty="0">
                          <a:solidFill>
                            <a:srgbClr val="0B1F33"/>
                          </a:solidFill>
                        </a:rPr>
                        <a:t>Submit-to-confirmation latency</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Time between the local event and the on-chain event</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a:t>
                      </a:r>
                      <a:r>
                        <a:rPr lang="en-US" sz="1300" dirty="0">
                          <a:solidFill>
                            <a:srgbClr val="0B1F33"/>
                          </a:solidFill>
                          <a:highlight>
                            <a:srgbClr val="FFFF00"/>
                          </a:highlight>
                        </a:rPr>
                        <a:t>Latency = t(on-chain) − t(local)</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a:t>
                      </a:r>
                      <a:r>
                        <a:rPr lang="en-US" sz="1300" dirty="0">
                          <a:solidFill>
                            <a:srgbClr val="0B1F33"/>
                          </a:solidFill>
                          <a:highlight>
                            <a:srgbClr val="FFFF00"/>
                          </a:highlight>
                        </a:rPr>
                        <a:t>Median 11.5 s (4.9 to 22.1 s, n = 5: 3 mints, 2 revokes)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1005840">
                <a:tc>
                  <a:txBody>
                    <a:bodyPr/>
                    <a:lstStyle/>
                    <a:p>
                      <a:pPr indent="0" marL="0">
                        <a:buNone/>
                      </a:pPr>
                      <a:r>
                        <a:rPr lang="en-US" sz="1300" b="1" dirty="0">
                          <a:solidFill>
                            <a:srgbClr val="0B1F33"/>
                          </a:solidFill>
                        </a:rPr>
                        <a:t>Processing time</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Time of each decision component over repeated runs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Median, minimum and maximum over n runs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a:t>
                      </a:r>
                      <a:r>
                        <a:rPr lang="en-US" sz="1300" dirty="0">
                          <a:solidFill>
                            <a:srgbClr val="0B1F33"/>
                          </a:solidFill>
                          <a:highlight>
                            <a:srgbClr val="FFFF00"/>
                          </a:highlight>
                        </a:rPr>
                        <a:t>Decision rule 5.92 µs and credential check 6.42 ms (11 Oct); EIP‑712 signature recovery 10.93 ms; Groth16 proof 1,401.1 ms to generate, 465.3 ms to verify</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685800">
                <a:tc>
                  <a:txBody>
                    <a:bodyPr/>
                    <a:lstStyle/>
                    <a:p>
                      <a:pPr indent="0" marL="0">
                        <a:buNone/>
                      </a:pPr>
                      <a:r>
                        <a:rPr lang="en-US" sz="1300" b="1" dirty="0">
                          <a:solidFill>
                            <a:srgbClr val="0B1F33"/>
                          </a:solidFill>
                        </a:rPr>
                        <a:t>On-chain read</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Time of a checkValid or checkValidAt call on Sepolia</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Median over n = 20</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573.5 ms and 574.6 ms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bl>
          </a:graphicData>
        </a:graphic>
      </p:graphicFrame>
      <p:sp>
        <p:nvSpPr>
          <p:cNvPr id="4" name="caption"/>
          <p:cNvSpPr txBox="1"/>
          <p:nvPr/>
        </p:nvSpPr>
        <p:spPr>
          <a:xfrm>
            <a:off x="640080" y="6126480"/>
            <a:ext cx="10881360" cy="320040"/>
          </a:xfrm>
          <a:prstGeom prst="rect">
            <a:avLst/>
          </a:prstGeom>
          <a:noFill/>
          <a:ln/>
        </p:spPr>
        <p:txBody>
          <a:bodyPr wrap="square" rtlCol="0" anchor="ctr"/>
          <a:lstStyle/>
          <a:p>
            <a:pPr algn="ctr" indent="0" marL="0">
              <a:buNone/>
            </a:pPr>
            <a:r>
              <a:rPr lang="en-US" sz="1200" i="1" dirty="0">
                <a:solidFill>
                  <a:srgbClr val="FFFFFF"/>
                </a:solidFill>
              </a:rPr>
              <a:t>​</a:t>
            </a:r>
            <a:r>
              <a:rPr lang="en-US" sz="1200" i="1" dirty="0">
                <a:solidFill>
                  <a:srgbClr val="0B1F33"/>
                </a:solidFill>
                <a:highlight>
                  <a:srgbClr val="FFFF00"/>
                </a:highlight>
              </a:rPr>
              <a:t>Timings measured on 1 October 2026 (decision rule and credential check on 11 October 2026); gas, fees and latency from the five Sepolia transactions of September 2026; indicative only</a:t>
            </a:r>
            <a:endParaRPr lang="en-US" sz="12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EVALUATION: PROCESSING TIME</a:t>
            </a:r>
            <a:endParaRPr lang="en-US" sz="3000" dirty="0"/>
          </a:p>
        </p:txBody>
      </p:sp>
      <p:graphicFrame>
        <p:nvGraphicFramePr>
          <p:cNvPr id="39" name="table"/>
          <p:cNvGraphicFramePr>
            <a:graphicFrameLocks noGrp="1"/>
          </p:cNvGraphicFramePr>
          <p:nvPr>
            <p:extLst>
              <p:ext uri="{D42A27DB-BD31-4B8C-83A1-F6EECF244321}">
                <p14:modId xmlns:p14="http://schemas.microsoft.com/office/powerpoint/2010/main" val="1579011935"/>
              </p:ext>
            </p:extLst>
          </p:nvPr>
        </p:nvGraphicFramePr>
        <p:xfrm>
          <a:off x="731520" y="1280160"/>
          <a:ext cx="5852160" cy="914400"/>
        </p:xfrm>
        <a:graphic>
          <a:graphicData uri="http://schemas.openxmlformats.org/drawingml/2006/table">
            <a:tbl>
              <a:tblPr/>
              <a:tblGrid>
                <a:gridCol w="1965960"/>
                <a:gridCol w="1005840"/>
                <a:gridCol w="1005840"/>
                <a:gridCol w="1188720"/>
                <a:gridCol w="685800"/>
              </a:tblGrid>
              <a:tr h="475488">
                <a:tc>
                  <a:txBody>
                    <a:bodyPr/>
                    <a:lstStyle/>
                    <a:p>
                      <a:pPr indent="0" marL="0">
                        <a:buNone/>
                      </a:pPr>
                      <a:r>
                        <a:rPr lang="en-US" sz="1100" b="1" dirty="0">
                          <a:solidFill>
                            <a:srgbClr val="FFFFFF"/>
                          </a:solidFill>
                        </a:rPr>
                        <a:t>Component</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100" b="1" dirty="0">
                          <a:solidFill>
                            <a:srgbClr val="FFFFFF"/>
                          </a:solidFill>
                        </a:rPr>
                        <a:t>Median</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100" b="1" dirty="0">
                          <a:solidFill>
                            <a:srgbClr val="FFFFFF"/>
                          </a:solidFill>
                        </a:rPr>
                        <a:t>Minimum</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100" b="1" dirty="0">
                          <a:solidFill>
                            <a:srgbClr val="FFFFFF"/>
                          </a:solidFill>
                        </a:rPr>
                        <a:t>Maximum</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100" b="1" dirty="0">
                          <a:solidFill>
                            <a:srgbClr val="FFFFFF"/>
                          </a:solidFill>
                        </a:rPr>
                        <a:t>n</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r>
              <a:tr h="475488">
                <a:tc>
                  <a:txBody>
                    <a:bodyPr/>
                    <a:lstStyle/>
                    <a:p>
                      <a:pPr indent="0" marL="0">
                        <a:buNone/>
                      </a:pPr>
                      <a:r>
                        <a:rPr lang="en-US" sz="1100" b="1" dirty="0">
                          <a:solidFill>
                            <a:srgbClr val="0B1F33"/>
                          </a:solidFill>
                        </a:rPr>
                        <a:t>​</a:t>
                      </a:r>
                      <a:r>
                        <a:rPr lang="en-US" sz="1100" b="1" dirty="0">
                          <a:solidFill>
                            <a:srgbClr val="0B1F33"/>
                          </a:solidFill>
                          <a:highlight>
                            <a:srgbClr val="FFFF00"/>
                          </a:highlight>
                        </a:rPr>
                        <a:t>Decision rule, five predicates (11 Oct)</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100" dirty="0">
                          <a:solidFill>
                            <a:srgbClr val="0B1F33"/>
                          </a:solidFill>
                        </a:rPr>
                        <a:t>​</a:t>
                      </a:r>
                      <a:r>
                        <a:rPr lang="en-US" sz="1100" dirty="0">
                          <a:solidFill>
                            <a:srgbClr val="0B1F33"/>
                          </a:solidFill>
                          <a:highlight>
                            <a:srgbClr val="FFFF00"/>
                          </a:highlight>
                        </a:rPr>
                        <a:t>5.92 µs</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100" dirty="0">
                          <a:solidFill>
                            <a:srgbClr val="0B1F33"/>
                          </a:solidFill>
                        </a:rPr>
                        <a:t>​</a:t>
                      </a:r>
                      <a:r>
                        <a:rPr lang="en-US" sz="1100" dirty="0">
                          <a:solidFill>
                            <a:srgbClr val="0B1F33"/>
                          </a:solidFill>
                          <a:highlight>
                            <a:srgbClr val="FFFF00"/>
                          </a:highlight>
                        </a:rPr>
                        <a:t>5.36 µs</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100" dirty="0">
                          <a:solidFill>
                            <a:srgbClr val="0B1F33"/>
                          </a:solidFill>
                        </a:rPr>
                        <a:t>​</a:t>
                      </a:r>
                      <a:r>
                        <a:rPr lang="en-US" sz="1100" dirty="0">
                          <a:solidFill>
                            <a:srgbClr val="0B1F33"/>
                          </a:solidFill>
                          <a:highlight>
                            <a:srgbClr val="FFFF00"/>
                          </a:highlight>
                        </a:rPr>
                        <a:t>72.07 µs</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100" dirty="0">
                          <a:solidFill>
                            <a:srgbClr val="0B1F33"/>
                          </a:solidFill>
                        </a:rPr>
                        <a:t>1,000</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475488">
                <a:tc>
                  <a:txBody>
                    <a:bodyPr/>
                    <a:lstStyle/>
                    <a:p>
                      <a:pPr indent="0" marL="0">
                        <a:buNone/>
                      </a:pPr>
                      <a:r>
                        <a:rPr lang="en-US" sz="1100" b="1" dirty="0">
                          <a:solidFill>
                            <a:srgbClr val="0B1F33"/>
                          </a:solidFill>
                        </a:rPr>
                        <a:t>EIP-712 signature recovery, one signature</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100" dirty="0">
                          <a:solidFill>
                            <a:srgbClr val="0B1F33"/>
                          </a:solidFill>
                        </a:rPr>
                        <a:t>10.93 ms</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100" dirty="0">
                          <a:solidFill>
                            <a:srgbClr val="0B1F33"/>
                          </a:solidFill>
                        </a:rPr>
                        <a:t>10.55 ms</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100" dirty="0">
                          <a:solidFill>
                            <a:srgbClr val="0B1F33"/>
                          </a:solidFill>
                        </a:rPr>
                        <a:t>15.64 ms</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100" dirty="0">
                          <a:solidFill>
                            <a:srgbClr val="0B1F33"/>
                          </a:solidFill>
                        </a:rPr>
                        <a:t>20</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475488">
                <a:tc>
                  <a:txBody>
                    <a:bodyPr/>
                    <a:lstStyle/>
                    <a:p>
                      <a:pPr indent="0" marL="0">
                        <a:buNone/>
                      </a:pPr>
                      <a:r>
                        <a:rPr lang="en-US" sz="1100" b="1" dirty="0">
                          <a:solidFill>
                            <a:srgbClr val="0B1F33"/>
                          </a:solidFill>
                        </a:rPr>
                        <a:t>​</a:t>
                      </a:r>
                      <a:r>
                        <a:rPr lang="en-US" sz="1100" b="1" dirty="0">
                          <a:solidFill>
                            <a:srgbClr val="0B1F33"/>
                          </a:solidFill>
                          <a:highlight>
                            <a:srgbClr val="FFFF00"/>
                          </a:highlight>
                        </a:rPr>
                        <a:t>Credential check, one credential (11 Oct)</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100" dirty="0">
                          <a:solidFill>
                            <a:srgbClr val="0B1F33"/>
                          </a:solidFill>
                        </a:rPr>
                        <a:t>​</a:t>
                      </a:r>
                      <a:r>
                        <a:rPr lang="en-US" sz="1100" dirty="0">
                          <a:solidFill>
                            <a:srgbClr val="0B1F33"/>
                          </a:solidFill>
                          <a:highlight>
                            <a:srgbClr val="FFFF00"/>
                          </a:highlight>
                        </a:rPr>
                        <a:t>6.42 ms</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100" dirty="0">
                          <a:solidFill>
                            <a:srgbClr val="0B1F33"/>
                          </a:solidFill>
                        </a:rPr>
                        <a:t>​</a:t>
                      </a:r>
                      <a:r>
                        <a:rPr lang="en-US" sz="1100" dirty="0">
                          <a:solidFill>
                            <a:srgbClr val="0B1F33"/>
                          </a:solidFill>
                          <a:highlight>
                            <a:srgbClr val="FFFF00"/>
                          </a:highlight>
                        </a:rPr>
                        <a:t>6.18 ms</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100" dirty="0">
                          <a:solidFill>
                            <a:srgbClr val="0B1F33"/>
                          </a:solidFill>
                        </a:rPr>
                        <a:t>​</a:t>
                      </a:r>
                      <a:r>
                        <a:rPr lang="en-US" sz="1100" dirty="0">
                          <a:solidFill>
                            <a:srgbClr val="0B1F33"/>
                          </a:solidFill>
                          <a:highlight>
                            <a:srgbClr val="FFFF00"/>
                          </a:highlight>
                        </a:rPr>
                        <a:t>8.33 ms</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100" dirty="0">
                          <a:solidFill>
                            <a:srgbClr val="0B1F33"/>
                          </a:solidFill>
                        </a:rPr>
                        <a:t>​</a:t>
                      </a:r>
                      <a:r>
                        <a:rPr lang="en-US" sz="1100" dirty="0">
                          <a:solidFill>
                            <a:srgbClr val="0B1F33"/>
                          </a:solidFill>
                          <a:highlight>
                            <a:srgbClr val="FFFF00"/>
                          </a:highlight>
                        </a:rPr>
                        <a:t>20</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475488">
                <a:tc>
                  <a:txBody>
                    <a:bodyPr/>
                    <a:lstStyle/>
                    <a:p>
                      <a:pPr indent="0" marL="0">
                        <a:buNone/>
                      </a:pPr>
                      <a:r>
                        <a:rPr lang="en-US" sz="1100" b="1" dirty="0">
                          <a:solidFill>
                            <a:srgbClr val="0B1F33"/>
                          </a:solidFill>
                        </a:rPr>
                        <a:t>Groth16 proof generation</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100" dirty="0">
                          <a:solidFill>
                            <a:srgbClr val="0B1F33"/>
                          </a:solidFill>
                        </a:rPr>
                        <a:t>1,401.1 ms</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100" dirty="0">
                          <a:solidFill>
                            <a:srgbClr val="0B1F33"/>
                          </a:solidFill>
                        </a:rPr>
                        <a:t>1,342.8 ms</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100" dirty="0">
                          <a:solidFill>
                            <a:srgbClr val="0B1F33"/>
                          </a:solidFill>
                        </a:rPr>
                        <a:t>5,349.6 ms</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100" dirty="0">
                          <a:solidFill>
                            <a:srgbClr val="0B1F33"/>
                          </a:solidFill>
                        </a:rPr>
                        <a:t>20</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475488">
                <a:tc>
                  <a:txBody>
                    <a:bodyPr/>
                    <a:lstStyle/>
                    <a:p>
                      <a:pPr indent="0" marL="0">
                        <a:buNone/>
                      </a:pPr>
                      <a:r>
                        <a:rPr lang="en-US" sz="1100" b="1" dirty="0">
                          <a:solidFill>
                            <a:srgbClr val="0B1F33"/>
                          </a:solidFill>
                        </a:rPr>
                        <a:t>Groth16 proof verification</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100" dirty="0">
                          <a:solidFill>
                            <a:srgbClr val="0B1F33"/>
                          </a:solidFill>
                        </a:rPr>
                        <a:t>465.3 ms</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100" dirty="0">
                          <a:solidFill>
                            <a:srgbClr val="0B1F33"/>
                          </a:solidFill>
                        </a:rPr>
                        <a:t>441.0 ms</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100" dirty="0">
                          <a:solidFill>
                            <a:srgbClr val="0B1F33"/>
                          </a:solidFill>
                        </a:rPr>
                        <a:t>525.1 ms</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100" dirty="0">
                          <a:solidFill>
                            <a:srgbClr val="0B1F33"/>
                          </a:solidFill>
                        </a:rPr>
                        <a:t>20</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475488">
                <a:tc>
                  <a:txBody>
                    <a:bodyPr/>
                    <a:lstStyle/>
                    <a:p>
                      <a:pPr indent="0" marL="0">
                        <a:buNone/>
                      </a:pPr>
                      <a:r>
                        <a:rPr lang="en-US" sz="1100" b="1" dirty="0">
                          <a:solidFill>
                            <a:srgbClr val="0B1F33"/>
                          </a:solidFill>
                        </a:rPr>
                        <a:t>On-chain checkValid read</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100" dirty="0">
                          <a:solidFill>
                            <a:srgbClr val="0B1F33"/>
                          </a:solidFill>
                        </a:rPr>
                        <a:t>573.5 ms</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100" dirty="0">
                          <a:solidFill>
                            <a:srgbClr val="0B1F33"/>
                          </a:solidFill>
                        </a:rPr>
                        <a:t>568.2 ms</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100" dirty="0">
                          <a:solidFill>
                            <a:srgbClr val="0B1F33"/>
                          </a:solidFill>
                        </a:rPr>
                        <a:t>715.5 ms</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100" dirty="0">
                          <a:solidFill>
                            <a:srgbClr val="0B1F33"/>
                          </a:solidFill>
                        </a:rPr>
                        <a:t>20</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475488">
                <a:tc>
                  <a:txBody>
                    <a:bodyPr/>
                    <a:lstStyle/>
                    <a:p>
                      <a:pPr indent="0" marL="0">
                        <a:buNone/>
                      </a:pPr>
                      <a:r>
                        <a:rPr lang="en-US" sz="1100" b="1" dirty="0">
                          <a:solidFill>
                            <a:srgbClr val="0B1F33"/>
                          </a:solidFill>
                        </a:rPr>
                        <a:t>On-chain checkValidAt read</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100" dirty="0">
                          <a:solidFill>
                            <a:srgbClr val="0B1F33"/>
                          </a:solidFill>
                        </a:rPr>
                        <a:t>574.6 ms</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100" dirty="0">
                          <a:solidFill>
                            <a:srgbClr val="0B1F33"/>
                          </a:solidFill>
                        </a:rPr>
                        <a:t>568.2 ms</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100" dirty="0">
                          <a:solidFill>
                            <a:srgbClr val="0B1F33"/>
                          </a:solidFill>
                        </a:rPr>
                        <a:t>745.6 ms</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100" dirty="0">
                          <a:solidFill>
                            <a:srgbClr val="0B1F33"/>
                          </a:solidFill>
                        </a:rPr>
                        <a:t>20</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475488">
                <a:tc>
                  <a:txBody>
                    <a:bodyPr/>
                    <a:lstStyle/>
                    <a:p>
                      <a:pPr indent="0" marL="0">
                        <a:buNone/>
                      </a:pPr>
                      <a:r>
                        <a:rPr lang="en-US" sz="1100" b="1" dirty="0">
                          <a:solidFill>
                            <a:srgbClr val="0B1F33"/>
                          </a:solidFill>
                        </a:rPr>
                        <a:t>Anchoring confirmation</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100" dirty="0">
                          <a:solidFill>
                            <a:srgbClr val="0B1F33"/>
                          </a:solidFill>
                        </a:rPr>
                        <a:t>11.5 s</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100" dirty="0">
                          <a:solidFill>
                            <a:srgbClr val="0B1F33"/>
                          </a:solidFill>
                        </a:rPr>
                        <a:t>4.9 s</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100" dirty="0">
                          <a:solidFill>
                            <a:srgbClr val="0B1F33"/>
                          </a:solidFill>
                        </a:rPr>
                        <a:t>22.1 s</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100" dirty="0">
                          <a:solidFill>
                            <a:srgbClr val="0B1F33"/>
                          </a:solidFill>
                        </a:rPr>
                        <a:t>5</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bl>
          </a:graphicData>
        </a:graphic>
      </p:graphicFrame>
      <p:sp>
        <p:nvSpPr>
          <p:cNvPr id="5" name="F42 panel"/>
          <p:cNvSpPr/>
          <p:nvPr/>
        </p:nvSpPr>
        <p:spPr>
          <a:xfrm>
            <a:off x="6812280" y="1280160"/>
            <a:ext cx="4709160" cy="2752344"/>
          </a:xfrm>
          <a:prstGeom prst="roundRect">
            <a:avLst>
              <a:gd name="adj" fmla="val 3987"/>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pic>
        <p:nvPicPr>
          <p:cNvPr id="6" name="F42" descr="/tmp/deck/img/yellow/F42.png">    </p:cNvPr>
          <p:cNvPicPr>
            <a:picLocks noChangeAspect="1"/>
          </p:cNvPicPr>
          <p:nvPr/>
        </p:nvPicPr>
        <p:blipFill>
          <a:blip r:embed="rId1"/>
          <a:stretch>
            <a:fillRect/>
          </a:stretch>
        </p:blipFill>
        <p:spPr>
          <a:xfrm>
            <a:off x="6944730" y="1389888"/>
            <a:ext cx="4444261" cy="2532888"/>
          </a:xfrm>
          <a:prstGeom prst="rect">
            <a:avLst/>
          </a:prstGeom>
        </p:spPr>
      </p:pic>
      <p:sp>
        <p:nvSpPr>
          <p:cNvPr id="7" name="caption"/>
          <p:cNvSpPr txBox="1"/>
          <p:nvPr/>
        </p:nvSpPr>
        <p:spPr>
          <a:xfrm>
            <a:off x="6812280" y="4160520"/>
            <a:ext cx="4709160" cy="914400"/>
          </a:xfrm>
          <a:prstGeom prst="rect">
            <a:avLst/>
          </a:prstGeom>
          <a:noFill/>
          <a:ln/>
        </p:spPr>
        <p:txBody>
          <a:bodyPr wrap="square" rtlCol="0" anchor="t"/>
          <a:lstStyle/>
          <a:p>
            <a:pPr algn="ctr" indent="0" marL="0">
              <a:buNone/>
            </a:pPr>
            <a:r>
              <a:rPr lang="en-US" sz="1200" i="1" dirty="0">
                <a:solidFill>
                  <a:srgbClr val="FFFFFF"/>
                </a:solidFill>
              </a:rPr>
              <a:t>​</a:t>
            </a:r>
            <a:r>
              <a:rPr lang="en-US" sz="1200" i="1" dirty="0">
                <a:solidFill>
                  <a:srgbClr val="0B1F33"/>
                </a:solidFill>
                <a:highlight>
                  <a:srgbClr val="FFFF00"/>
                </a:highlight>
              </a:rPr>
              <a:t>Timings measured on 1 October 2026 (decision rule and credential check on 11 October 2026); anchoring from the five Sepolia transactions of September 2026; indicative only</a:t>
            </a:r>
            <a:endParaRPr lang="en-US" sz="12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DIFFERENCES BETWEEN TRADITIONAL EHR SYSTEMS AND THE HALAH FRAMEWORK</a:t>
            </a:r>
            <a:endParaRPr lang="en-US" sz="3000" dirty="0"/>
          </a:p>
        </p:txBody>
      </p:sp>
      <p:graphicFrame>
        <p:nvGraphicFramePr>
          <p:cNvPr id="40" name="table"/>
          <p:cNvGraphicFramePr>
            <a:graphicFrameLocks noGrp="1"/>
          </p:cNvGraphicFramePr>
          <p:nvPr>
            <p:extLst>
              <p:ext uri="{D42A27DB-BD31-4B8C-83A1-F6EECF244321}">
                <p14:modId xmlns:p14="http://schemas.microsoft.com/office/powerpoint/2010/main" val="1579011935"/>
              </p:ext>
            </p:extLst>
          </p:nvPr>
        </p:nvGraphicFramePr>
        <p:xfrm>
          <a:off x="640080" y="1463040"/>
          <a:ext cx="10881360" cy="914400"/>
        </p:xfrm>
        <a:graphic>
          <a:graphicData uri="http://schemas.openxmlformats.org/drawingml/2006/table">
            <a:tbl>
              <a:tblPr/>
              <a:tblGrid>
                <a:gridCol w="1828800"/>
                <a:gridCol w="4206240"/>
                <a:gridCol w="4846320"/>
              </a:tblGrid>
              <a:tr h="502920">
                <a:tc>
                  <a:txBody>
                    <a:bodyPr/>
                    <a:lstStyle/>
                    <a:p>
                      <a:pPr indent="0" marL="0">
                        <a:buNone/>
                      </a:pPr>
                      <a:r>
                        <a:rPr lang="en-US" sz="1400" b="1" dirty="0">
                          <a:solidFill>
                            <a:srgbClr val="FFFFFF"/>
                          </a:solidFill>
                        </a:rPr>
                        <a:t>Aspect</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400" b="1" dirty="0">
                          <a:solidFill>
                            <a:srgbClr val="FFFFFF"/>
                          </a:solidFill>
                        </a:rPr>
                        <a:t>Traditional EHR access control</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400" b="1" dirty="0">
                          <a:solidFill>
                            <a:srgbClr val="FFFFFF"/>
                          </a:solidFill>
                        </a:rPr>
                        <a:t>HALAH framework</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r>
              <a:tr h="685800">
                <a:tc>
                  <a:txBody>
                    <a:bodyPr/>
                    <a:lstStyle/>
                    <a:p>
                      <a:pPr indent="0" marL="0">
                        <a:buNone/>
                      </a:pPr>
                      <a:r>
                        <a:rPr lang="en-US" sz="1400" b="1" dirty="0">
                          <a:solidFill>
                            <a:srgbClr val="0B1F33"/>
                          </a:solidFill>
                        </a:rPr>
                        <a:t>Identity</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Centralised identity providers and institution-specific authentication</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Decentralised identifiers (DIDs) for every participant; identity kept separate from authority</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685800">
                <a:tc>
                  <a:txBody>
                    <a:bodyPr/>
                    <a:lstStyle/>
                    <a:p>
                      <a:pPr indent="0" marL="0">
                        <a:buNone/>
                      </a:pPr>
                      <a:r>
                        <a:rPr lang="en-US" sz="1400" b="1" dirty="0">
                          <a:solidFill>
                            <a:srgbClr val="0B1F33"/>
                          </a:solidFill>
                        </a:rPr>
                        <a:t>Consent</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A passive record showing that a permission was created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An evaluable object C = (I, A, P, T, L, E), checked at every request</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685800">
                <a:tc>
                  <a:txBody>
                    <a:bodyPr/>
                    <a:lstStyle/>
                    <a:p>
                      <a:pPr indent="0" marL="0">
                        <a:buNone/>
                      </a:pPr>
                      <a:r>
                        <a:rPr lang="en-US" sz="1400" b="1" dirty="0">
                          <a:solidFill>
                            <a:srgbClr val="0B1F33"/>
                          </a:solidFill>
                        </a:rPr>
                        <a:t>Approval</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Relatively static permissions set by one party or institution</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N-of-N guardian approvals with EIP-712 signatures; no single party can authorise alone</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685800">
                <a:tc>
                  <a:txBody>
                    <a:bodyPr/>
                    <a:lstStyle/>
                    <a:p>
                      <a:pPr indent="0" marL="0">
                        <a:buNone/>
                      </a:pPr>
                      <a:r>
                        <a:rPr lang="en-US" sz="1400" b="1" dirty="0">
                          <a:solidFill>
                            <a:srgbClr val="0B1F33"/>
                          </a:solidFill>
                        </a:rPr>
                        <a:t>Access check</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Authenticate the user, then check a static permission</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VI ∧ VA ∧ VP ∧ VT ∧ VL, plus a Groth16 proof before data is released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685800">
                <a:tc>
                  <a:txBody>
                    <a:bodyPr/>
                    <a:lstStyle/>
                    <a:p>
                      <a:pPr indent="0" marL="0">
                        <a:buNone/>
                      </a:pPr>
                      <a:r>
                        <a:rPr lang="en-US" sz="1400" b="1" dirty="0">
                          <a:solidFill>
                            <a:srgbClr val="0B1F33"/>
                          </a:solidFill>
                        </a:rPr>
                        <a:t>Time and revocation</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Validity and withdrawal are hard to verify once the permission is stored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Validity window and revocation checked at each request; on-chain revoke transaction</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731520">
                <a:tc>
                  <a:txBody>
                    <a:bodyPr/>
                    <a:lstStyle/>
                    <a:p>
                      <a:pPr indent="0" marL="0">
                        <a:buNone/>
                      </a:pPr>
                      <a:r>
                        <a:rPr lang="en-US" sz="1400" b="1" dirty="0">
                          <a:solidFill>
                            <a:srgbClr val="0B1F33"/>
                          </a:solidFill>
                        </a:rPr>
                        <a:t>Audit</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A record shows that consent occurred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a:t>
                      </a:r>
                      <a:r>
                        <a:rPr lang="en-US" sz="1400" dirty="0">
                          <a:solidFill>
                            <a:srgbClr val="0B1F33"/>
                          </a:solidFill>
                          <a:highlight>
                            <a:srgbClr val="FFFF00"/>
                          </a:highlight>
                        </a:rPr>
                        <a:t>Every access decision, allowed or denied, logged off-chain with its decision matrix</a:t>
                      </a:r>
                      <a:r>
                        <a:rPr lang="en-US" sz="1400" dirty="0">
                          <a:solidFill>
                            <a:srgbClr val="0B1F33"/>
                          </a:solidFill>
                        </a:rPr>
                        <a:t>; consent state anchored on Sepolia</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DATA MANAGEMENT AND PRIVACY</a:t>
            </a:r>
            <a:endParaRPr lang="en-US" sz="3000" dirty="0"/>
          </a:p>
        </p:txBody>
      </p:sp>
      <p:graphicFrame>
        <p:nvGraphicFramePr>
          <p:cNvPr id="41" name="table"/>
          <p:cNvGraphicFramePr>
            <a:graphicFrameLocks noGrp="1"/>
          </p:cNvGraphicFramePr>
          <p:nvPr>
            <p:extLst>
              <p:ext uri="{D42A27DB-BD31-4B8C-83A1-F6EECF244321}">
                <p14:modId xmlns:p14="http://schemas.microsoft.com/office/powerpoint/2010/main" val="1579011935"/>
              </p:ext>
            </p:extLst>
          </p:nvPr>
        </p:nvGraphicFramePr>
        <p:xfrm>
          <a:off x="640080" y="1234440"/>
          <a:ext cx="10881360" cy="914400"/>
        </p:xfrm>
        <a:graphic>
          <a:graphicData uri="http://schemas.openxmlformats.org/drawingml/2006/table">
            <a:tbl>
              <a:tblPr/>
              <a:tblGrid>
                <a:gridCol w="2194560"/>
                <a:gridCol w="8686800"/>
              </a:tblGrid>
              <a:tr h="502920">
                <a:tc>
                  <a:txBody>
                    <a:bodyPr/>
                    <a:lstStyle/>
                    <a:p>
                      <a:pPr indent="0" marL="0">
                        <a:buNone/>
                      </a:pPr>
                      <a:r>
                        <a:rPr lang="en-US" sz="1500" b="1" dirty="0">
                          <a:solidFill>
                            <a:srgbClr val="FFFFFF"/>
                          </a:solidFill>
                        </a:rPr>
                        <a:t>Aspect</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500" b="1" dirty="0">
                          <a:solidFill>
                            <a:srgbClr val="FFFFFF"/>
                          </a:solidFill>
                        </a:rPr>
                        <a:t>Key points</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r>
              <a:tr h="731520">
                <a:tc>
                  <a:txBody>
                    <a:bodyPr/>
                    <a:lstStyle/>
                    <a:p>
                      <a:pPr indent="0" marL="0">
                        <a:buNone/>
                      </a:pPr>
                      <a:r>
                        <a:rPr lang="en-US" sz="1500" b="1" dirty="0">
                          <a:solidFill>
                            <a:srgbClr val="0B1F33"/>
                          </a:solidFill>
                        </a:rPr>
                        <a:t>Data source</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500" dirty="0">
                          <a:solidFill>
                            <a:srgbClr val="0B1F33"/>
                          </a:solidFill>
                        </a:rPr>
                        <a:t>No real patient data is used. Synthetic healthcare records are derived from the Synthea dataset (Observation, Medication, Condition, Procedure).</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685800">
                <a:tc>
                  <a:txBody>
                    <a:bodyPr/>
                    <a:lstStyle/>
                    <a:p>
                      <a:pPr indent="0" marL="0">
                        <a:buNone/>
                      </a:pPr>
                      <a:r>
                        <a:rPr lang="en-US" sz="1500" b="1" dirty="0">
                          <a:solidFill>
                            <a:srgbClr val="0B1F33"/>
                          </a:solidFill>
                        </a:rPr>
                        <a:t>Data storage</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500" dirty="0">
                          <a:solidFill>
                            <a:srgbClr val="0B1F33"/>
                          </a:solidFill>
                        </a:rPr>
                        <a:t>Medical records stay off-chain in the application; no medical content is written to the chain.</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685800">
                <a:tc>
                  <a:txBody>
                    <a:bodyPr/>
                    <a:lstStyle/>
                    <a:p>
                      <a:pPr indent="0" marL="0">
                        <a:buNone/>
                      </a:pPr>
                      <a:r>
                        <a:rPr lang="en-US" sz="1500" b="1" dirty="0">
                          <a:solidFill>
                            <a:srgbClr val="0B1F33"/>
                          </a:solidFill>
                        </a:rPr>
                        <a:t>On-chain record</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500" dirty="0">
                          <a:solidFill>
                            <a:srgbClr val="0B1F33"/>
                          </a:solidFill>
                        </a:rPr>
                        <a:t>ConsentSBTv3 stores pseudonymous patient and requester addresses, a hash of the purpose, the validity window </a:t>
                      </a:r>
                      <a:r>
                        <a:rPr lang="en-US" sz="1500" dirty="0">
                          <a:solidFill>
                            <a:srgbClr val="0B1F33"/>
                          </a:solidFill>
                          <a:highlight>
                            <a:srgbClr val="FFFF00"/>
                          </a:highlight>
                        </a:rPr>
                        <a:t>and</a:t>
                      </a:r>
                      <a:r>
                        <a:rPr lang="en-US" sz="1500" dirty="0">
                          <a:solidFill>
                            <a:srgbClr val="0B1F33"/>
                          </a:solidFill>
                        </a:rPr>
                        <a:t> a revocation flag.</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685800">
                <a:tc>
                  <a:txBody>
                    <a:bodyPr/>
                    <a:lstStyle/>
                    <a:p>
                      <a:pPr indent="0" marL="0">
                        <a:buNone/>
                      </a:pPr>
                      <a:r>
                        <a:rPr lang="en-US" sz="1500" b="1" dirty="0">
                          <a:solidFill>
                            <a:srgbClr val="0B1F33"/>
                          </a:solidFill>
                        </a:rPr>
                        <a:t>Access to data</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500" dirty="0">
                          <a:solidFill>
                            <a:srgbClr val="0B1F33"/>
                          </a:solidFill>
                        </a:rPr>
                        <a:t>Records are released only on ALLOW and only within the authorised data scope.</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685800">
                <a:tc>
                  <a:txBody>
                    <a:bodyPr/>
                    <a:lstStyle/>
                    <a:p>
                      <a:pPr indent="0" marL="0">
                        <a:buNone/>
                      </a:pPr>
                      <a:r>
                        <a:rPr lang="en-US" sz="1500" b="1" dirty="0">
                          <a:solidFill>
                            <a:srgbClr val="0B1F33"/>
                          </a:solidFill>
                        </a:rPr>
                        <a:t>Audit</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500" dirty="0">
                          <a:solidFill>
                            <a:srgbClr val="0B1F33"/>
                          </a:solidFill>
                        </a:rPr>
                        <a:t>​</a:t>
                      </a:r>
                      <a:r>
                        <a:rPr lang="en-US" sz="1500" dirty="0">
                          <a:solidFill>
                            <a:srgbClr val="0B1F33"/>
                          </a:solidFill>
                          <a:highlight>
                            <a:srgbClr val="FFFF00"/>
                          </a:highlight>
                        </a:rPr>
                        <a:t>Every access decision, allowed or denied, is recorded in the off-chain audit ledger with its decision matrix.</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685800">
                <a:tc>
                  <a:txBody>
                    <a:bodyPr/>
                    <a:lstStyle/>
                    <a:p>
                      <a:pPr indent="0" marL="0">
                        <a:buNone/>
                      </a:pPr>
                      <a:r>
                        <a:rPr lang="en-US" sz="1500" b="1" dirty="0">
                          <a:solidFill>
                            <a:srgbClr val="0B1F33"/>
                          </a:solidFill>
                        </a:rPr>
                        <a:t>Known limitation</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500" dirty="0">
                          <a:solidFill>
                            <a:srgbClr val="0B1F33"/>
                          </a:solidFill>
                        </a:rPr>
                        <a:t>The plaintext purpose is passed in the mint transaction and is visible in the public transaction input.</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SIGNIFICANCE OF THE RESEARCH</a:t>
            </a:r>
            <a:endParaRPr lang="en-US" sz="3000" dirty="0"/>
          </a:p>
        </p:txBody>
      </p:sp>
      <p:sp>
        <p:nvSpPr>
          <p:cNvPr id="4" name="sig heading"/>
          <p:cNvSpPr txBox="1"/>
          <p:nvPr/>
        </p:nvSpPr>
        <p:spPr>
          <a:xfrm>
            <a:off x="731520" y="1005840"/>
            <a:ext cx="5486400" cy="457200"/>
          </a:xfrm>
          <a:prstGeom prst="rect">
            <a:avLst/>
          </a:prstGeom>
          <a:noFill/>
          <a:ln/>
        </p:spPr>
        <p:txBody>
          <a:bodyPr wrap="square" rtlCol="0" anchor="ctr"/>
          <a:lstStyle/>
          <a:p>
            <a:pPr indent="0" marL="0">
              <a:buNone/>
            </a:pPr>
            <a:r>
              <a:rPr lang="en-US" sz="2200" b="1" i="1" dirty="0">
                <a:solidFill>
                  <a:srgbClr val="1FB5D6"/>
                </a:solidFill>
              </a:rPr>
              <a:t>Scientific Significance</a:t>
            </a:r>
            <a:endParaRPr lang="en-US" sz="2200" dirty="0"/>
          </a:p>
        </p:txBody>
      </p:sp>
      <p:sp>
        <p:nvSpPr>
          <p:cNvPr id="5" name="card Consent as an object"/>
          <p:cNvSpPr/>
          <p:nvPr/>
        </p:nvSpPr>
        <p:spPr>
          <a:xfrm>
            <a:off x="731520" y="1600200"/>
            <a:ext cx="3429000" cy="2194560"/>
          </a:xfrm>
          <a:prstGeom prst="roundRect">
            <a:avLst>
              <a:gd name="adj" fmla="val 4167"/>
            </a:avLst>
          </a:prstGeom>
          <a:solidFill>
            <a:srgbClr val="FFFFFF">
              <a:alpha val="92000"/>
            </a:srgbClr>
          </a:solidFill>
          <a:ln w="19050">
            <a:solidFill>
              <a:srgbClr val="1FB5D6"/>
            </a:solidFill>
            <a:prstDash val="solid"/>
          </a:ln>
        </p:spPr>
      </p:sp>
      <p:sp>
        <p:nvSpPr>
          <p:cNvPr id="6" name="card text Consent as an object"/>
          <p:cNvSpPr txBox="1"/>
          <p:nvPr/>
        </p:nvSpPr>
        <p:spPr>
          <a:xfrm>
            <a:off x="868680" y="1691640"/>
            <a:ext cx="3154680" cy="2011680"/>
          </a:xfrm>
          <a:prstGeom prst="rect">
            <a:avLst/>
          </a:prstGeom>
          <a:noFill/>
          <a:ln/>
        </p:spPr>
        <p:txBody>
          <a:bodyPr wrap="square" rtlCol="0" anchor="t"/>
          <a:lstStyle/>
          <a:p>
            <a:pPr indent="0" marL="0">
              <a:spcAft>
                <a:spcPts val="400"/>
              </a:spcAft>
              <a:buNone/>
            </a:pPr>
            <a:r>
              <a:rPr lang="en-US" sz="1900" b="1" dirty="0">
                <a:solidFill>
                  <a:srgbClr val="0B2A4A"/>
                </a:solidFill>
              </a:rPr>
              <a:t>Consent as an object</a:t>
            </a:r>
            <a:endParaRPr lang="en-US" sz="1900" dirty="0"/>
          </a:p>
          <a:p>
            <a:pPr indent="0" marL="0">
              <a:spcAft>
                <a:spcPts val="400"/>
              </a:spcAft>
              <a:buNone/>
            </a:pPr>
            <a:r>
              <a:rPr lang="en-US" sz="1600" dirty="0">
                <a:solidFill>
                  <a:srgbClr val="0B1F33"/>
                </a:solidFill>
              </a:rPr>
              <a:t>Patient consent is an evaluable authorisation object, C = (I, A, P, T, L, E), rather than a stored record.</a:t>
            </a:r>
            <a:endParaRPr lang="en-US" sz="1900" dirty="0"/>
          </a:p>
        </p:txBody>
      </p:sp>
      <p:sp>
        <p:nvSpPr>
          <p:cNvPr id="7" name="card Standing multi-party approval"/>
          <p:cNvSpPr/>
          <p:nvPr/>
        </p:nvSpPr>
        <p:spPr>
          <a:xfrm>
            <a:off x="4389120" y="1600200"/>
            <a:ext cx="3429000" cy="2194560"/>
          </a:xfrm>
          <a:prstGeom prst="roundRect">
            <a:avLst>
              <a:gd name="adj" fmla="val 4167"/>
            </a:avLst>
          </a:prstGeom>
          <a:solidFill>
            <a:srgbClr val="FFFFFF">
              <a:alpha val="92000"/>
            </a:srgbClr>
          </a:solidFill>
          <a:ln w="19050">
            <a:solidFill>
              <a:srgbClr val="1FB5D6"/>
            </a:solidFill>
            <a:prstDash val="solid"/>
          </a:ln>
        </p:spPr>
      </p:sp>
      <p:sp>
        <p:nvSpPr>
          <p:cNvPr id="8" name="card text Standing multi-party approval"/>
          <p:cNvSpPr txBox="1"/>
          <p:nvPr/>
        </p:nvSpPr>
        <p:spPr>
          <a:xfrm>
            <a:off x="4526280" y="1691640"/>
            <a:ext cx="3154680" cy="2011680"/>
          </a:xfrm>
          <a:prstGeom prst="rect">
            <a:avLst/>
          </a:prstGeom>
          <a:noFill/>
          <a:ln/>
        </p:spPr>
        <p:txBody>
          <a:bodyPr wrap="square" rtlCol="0" anchor="t"/>
          <a:lstStyle/>
          <a:p>
            <a:pPr indent="0" marL="0">
              <a:spcAft>
                <a:spcPts val="400"/>
              </a:spcAft>
              <a:buNone/>
            </a:pPr>
            <a:r>
              <a:rPr lang="en-US" sz="1900" b="1" dirty="0">
                <a:solidFill>
                  <a:srgbClr val="0B2A4A"/>
                </a:solidFill>
              </a:rPr>
              <a:t>Standing multi-party approval</a:t>
            </a:r>
            <a:endParaRPr lang="en-US" sz="1900" dirty="0"/>
          </a:p>
          <a:p>
            <a:pPr indent="0" marL="0">
              <a:spcAft>
                <a:spcPts val="400"/>
              </a:spcAft>
              <a:buNone/>
            </a:pPr>
            <a:r>
              <a:rPr lang="en-US" sz="1600" dirty="0">
                <a:solidFill>
                  <a:srgbClr val="0B1F33"/>
                </a:solidFill>
              </a:rPr>
              <a:t>Multi-party approval is a condition of every access decision, with the approving set defined by the patient.</a:t>
            </a:r>
            <a:endParaRPr lang="en-US" sz="1900" dirty="0"/>
          </a:p>
        </p:txBody>
      </p:sp>
      <p:sp>
        <p:nvSpPr>
          <p:cNvPr id="9" name="card One integrated decision"/>
          <p:cNvSpPr/>
          <p:nvPr/>
        </p:nvSpPr>
        <p:spPr>
          <a:xfrm>
            <a:off x="8046720" y="1600200"/>
            <a:ext cx="3429000" cy="2194560"/>
          </a:xfrm>
          <a:prstGeom prst="roundRect">
            <a:avLst>
              <a:gd name="adj" fmla="val 4167"/>
            </a:avLst>
          </a:prstGeom>
          <a:solidFill>
            <a:srgbClr val="FFFFFF">
              <a:alpha val="92000"/>
            </a:srgbClr>
          </a:solidFill>
          <a:ln w="19050">
            <a:solidFill>
              <a:srgbClr val="1FB5D6"/>
            </a:solidFill>
            <a:prstDash val="solid"/>
          </a:ln>
        </p:spPr>
      </p:sp>
      <p:sp>
        <p:nvSpPr>
          <p:cNvPr id="10" name="card text One integrated decision"/>
          <p:cNvSpPr txBox="1"/>
          <p:nvPr/>
        </p:nvSpPr>
        <p:spPr>
          <a:xfrm>
            <a:off x="8183880" y="1691640"/>
            <a:ext cx="3154680" cy="2011680"/>
          </a:xfrm>
          <a:prstGeom prst="rect">
            <a:avLst/>
          </a:prstGeom>
          <a:noFill/>
          <a:ln/>
        </p:spPr>
        <p:txBody>
          <a:bodyPr wrap="square" rtlCol="0" anchor="t"/>
          <a:lstStyle/>
          <a:p>
            <a:pPr indent="0" marL="0">
              <a:spcAft>
                <a:spcPts val="400"/>
              </a:spcAft>
              <a:buNone/>
            </a:pPr>
            <a:r>
              <a:rPr lang="en-US" sz="1900" b="1" dirty="0">
                <a:solidFill>
                  <a:srgbClr val="0B2A4A"/>
                </a:solidFill>
              </a:rPr>
              <a:t>One integrated decision</a:t>
            </a:r>
            <a:endParaRPr lang="en-US" sz="1900" dirty="0"/>
          </a:p>
          <a:p>
            <a:pPr indent="0" marL="0">
              <a:spcAft>
                <a:spcPts val="400"/>
              </a:spcAft>
              <a:buNone/>
            </a:pPr>
            <a:r>
              <a:rPr lang="en-US" sz="1600" dirty="0">
                <a:solidFill>
                  <a:srgbClr val="0B1F33"/>
                </a:solidFill>
              </a:rPr>
              <a:t>Identity is separated from authority, and identity, authority, approval, policy, time and </a:t>
            </a:r>
            <a:r>
              <a:rPr lang="en-US" sz="1600" dirty="0">
                <a:solidFill>
                  <a:srgbClr val="0B1F33"/>
                </a:solidFill>
                <a:highlight>
                  <a:srgbClr val="FFFF00"/>
                </a:highlight>
              </a:rPr>
              <a:t>lifecycle</a:t>
            </a:r>
            <a:r>
              <a:rPr lang="en-US" sz="1600" dirty="0">
                <a:solidFill>
                  <a:srgbClr val="0B1F33"/>
                </a:solidFill>
              </a:rPr>
              <a:t> are checked together.</a:t>
            </a:r>
            <a:endParaRPr lang="en-US" sz="1900" dirty="0"/>
          </a:p>
        </p:txBody>
      </p:sp>
      <p:sp>
        <p:nvSpPr>
          <p:cNvPr id="11" name="card Evidence-based review"/>
          <p:cNvSpPr/>
          <p:nvPr/>
        </p:nvSpPr>
        <p:spPr>
          <a:xfrm>
            <a:off x="731520" y="4023360"/>
            <a:ext cx="3429000" cy="2194560"/>
          </a:xfrm>
          <a:prstGeom prst="roundRect">
            <a:avLst>
              <a:gd name="adj" fmla="val 4167"/>
            </a:avLst>
          </a:prstGeom>
          <a:solidFill>
            <a:srgbClr val="FFFFFF">
              <a:alpha val="92000"/>
            </a:srgbClr>
          </a:solidFill>
          <a:ln w="19050">
            <a:solidFill>
              <a:srgbClr val="1FB5D6"/>
            </a:solidFill>
            <a:prstDash val="solid"/>
          </a:ln>
        </p:spPr>
      </p:sp>
      <p:sp>
        <p:nvSpPr>
          <p:cNvPr id="12" name="card text Evidence-based review"/>
          <p:cNvSpPr txBox="1"/>
          <p:nvPr/>
        </p:nvSpPr>
        <p:spPr>
          <a:xfrm>
            <a:off x="868680" y="4114800"/>
            <a:ext cx="3154680" cy="2011680"/>
          </a:xfrm>
          <a:prstGeom prst="rect">
            <a:avLst/>
          </a:prstGeom>
          <a:noFill/>
          <a:ln/>
        </p:spPr>
        <p:txBody>
          <a:bodyPr wrap="square" rtlCol="0" anchor="t"/>
          <a:lstStyle/>
          <a:p>
            <a:pPr indent="0" marL="0">
              <a:spcAft>
                <a:spcPts val="400"/>
              </a:spcAft>
              <a:buNone/>
            </a:pPr>
            <a:r>
              <a:rPr lang="en-US" sz="1900" b="1" dirty="0">
                <a:solidFill>
                  <a:srgbClr val="0B2A4A"/>
                </a:solidFill>
              </a:rPr>
              <a:t>Evidence-based review</a:t>
            </a:r>
            <a:endParaRPr lang="en-US" sz="1900" dirty="0"/>
          </a:p>
          <a:p>
            <a:pPr indent="0" marL="0">
              <a:spcAft>
                <a:spcPts val="400"/>
              </a:spcAft>
              <a:buNone/>
            </a:pPr>
            <a:r>
              <a:rPr lang="en-US" sz="1600" dirty="0">
                <a:solidFill>
                  <a:srgbClr val="0B1F33"/>
                </a:solidFill>
              </a:rPr>
              <a:t>A PRISMA 2020 review of 25 primary studies identifies the conjunction gap and the assurance gap.</a:t>
            </a:r>
            <a:endParaRPr lang="en-US" sz="1900" dirty="0"/>
          </a:p>
        </p:txBody>
      </p:sp>
      <p:sp>
        <p:nvSpPr>
          <p:cNvPr id="13" name="card Validated prototype"/>
          <p:cNvSpPr/>
          <p:nvPr/>
        </p:nvSpPr>
        <p:spPr>
          <a:xfrm>
            <a:off x="4389120" y="4023360"/>
            <a:ext cx="3429000" cy="2194560"/>
          </a:xfrm>
          <a:prstGeom prst="roundRect">
            <a:avLst>
              <a:gd name="adj" fmla="val 4167"/>
            </a:avLst>
          </a:prstGeom>
          <a:solidFill>
            <a:srgbClr val="FFFFFF">
              <a:alpha val="92000"/>
            </a:srgbClr>
          </a:solidFill>
          <a:ln w="19050">
            <a:solidFill>
              <a:srgbClr val="1FB5D6"/>
            </a:solidFill>
            <a:prstDash val="solid"/>
          </a:ln>
        </p:spPr>
      </p:sp>
      <p:sp>
        <p:nvSpPr>
          <p:cNvPr id="14" name="card text Validated prototype"/>
          <p:cNvSpPr txBox="1"/>
          <p:nvPr/>
        </p:nvSpPr>
        <p:spPr>
          <a:xfrm>
            <a:off x="4526280" y="4114800"/>
            <a:ext cx="3154680" cy="2011680"/>
          </a:xfrm>
          <a:prstGeom prst="rect">
            <a:avLst/>
          </a:prstGeom>
          <a:noFill/>
          <a:ln/>
        </p:spPr>
        <p:txBody>
          <a:bodyPr wrap="square" rtlCol="0" anchor="t"/>
          <a:lstStyle/>
          <a:p>
            <a:pPr indent="0" marL="0">
              <a:spcAft>
                <a:spcPts val="400"/>
              </a:spcAft>
              <a:buNone/>
            </a:pPr>
            <a:r>
              <a:rPr lang="en-US" sz="1900" b="1" dirty="0">
                <a:solidFill>
                  <a:srgbClr val="0B2A4A"/>
                </a:solidFill>
              </a:rPr>
              <a:t>Validated prototype</a:t>
            </a:r>
            <a:endParaRPr lang="en-US" sz="1900" dirty="0"/>
          </a:p>
          <a:p>
            <a:pPr indent="0" marL="0">
              <a:spcAft>
                <a:spcPts val="400"/>
              </a:spcAft>
              <a:buNone/>
            </a:pPr>
            <a:r>
              <a:rPr lang="en-US" sz="1600" dirty="0">
                <a:solidFill>
                  <a:srgbClr val="0B1F33"/>
                </a:solidFill>
              </a:rPr>
              <a:t>​</a:t>
            </a:r>
            <a:r>
              <a:rPr lang="en-US" sz="1600" dirty="0">
                <a:solidFill>
                  <a:srgbClr val="0B1F33"/>
                </a:solidFill>
                <a:highlight>
                  <a:srgbClr val="FFFF00"/>
                </a:highlight>
              </a:rPr>
              <a:t>The framework runs on Sepolia and is evaluated with measurements and thirteen attack scenarios.</a:t>
            </a:r>
            <a:endParaRPr lang="en-US" sz="19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SIGNIFICANCE OF THE RESEARCH</a:t>
            </a:r>
            <a:endParaRPr lang="en-US" sz="3000" dirty="0"/>
          </a:p>
        </p:txBody>
      </p:sp>
      <p:sp>
        <p:nvSpPr>
          <p:cNvPr id="4" name="soc heading"/>
          <p:cNvSpPr txBox="1"/>
          <p:nvPr/>
        </p:nvSpPr>
        <p:spPr>
          <a:xfrm>
            <a:off x="731520" y="1005840"/>
            <a:ext cx="5486400" cy="457200"/>
          </a:xfrm>
          <a:prstGeom prst="rect">
            <a:avLst/>
          </a:prstGeom>
          <a:noFill/>
          <a:ln/>
        </p:spPr>
        <p:txBody>
          <a:bodyPr wrap="square" rtlCol="0" anchor="ctr"/>
          <a:lstStyle/>
          <a:p>
            <a:pPr indent="0" marL="0">
              <a:buNone/>
            </a:pPr>
            <a:r>
              <a:rPr lang="en-US" sz="2200" b="1" i="1" dirty="0">
                <a:solidFill>
                  <a:srgbClr val="1FB5D6"/>
                </a:solidFill>
              </a:rPr>
              <a:t>Social Contributions</a:t>
            </a:r>
            <a:endParaRPr lang="en-US" sz="2200" dirty="0"/>
          </a:p>
        </p:txBody>
      </p:sp>
      <p:sp>
        <p:nvSpPr>
          <p:cNvPr id="5" name="bullets"/>
          <p:cNvSpPr txBox="1"/>
          <p:nvPr/>
        </p:nvSpPr>
        <p:spPr>
          <a:xfrm>
            <a:off x="822960" y="1645920"/>
            <a:ext cx="10424160" cy="4572000"/>
          </a:xfrm>
          <a:prstGeom prst="rect">
            <a:avLst/>
          </a:prstGeom>
          <a:noFill/>
          <a:ln/>
        </p:spPr>
        <p:txBody>
          <a:bodyPr wrap="square" rtlCol="0" anchor="t"/>
          <a:lstStyle/>
          <a:p>
            <a:pPr marL="342900" indent="-342900">
              <a:spcAft>
                <a:spcPts val="1000"/>
              </a:spcAft>
              <a:buSzPct val="100000"/>
              <a:buChar char="•"/>
            </a:pPr>
            <a:r>
              <a:rPr lang="en-US" sz="2000" dirty="0">
                <a:solidFill>
                  <a:srgbClr val="FFFFFF"/>
                </a:solidFill>
              </a:rPr>
              <a:t>Gives patients and their guardians a direct role in deciding who can access the patient's data.</a:t>
            </a:r>
            <a:endParaRPr lang="en-US" sz="2000" dirty="0"/>
          </a:p>
          <a:p>
            <a:pPr marL="342900" indent="-342900">
              <a:spcAft>
                <a:spcPts val="1000"/>
              </a:spcAft>
              <a:buSzPct val="100000"/>
              <a:buChar char="•"/>
            </a:pPr>
            <a:r>
              <a:rPr lang="en-US" sz="2000" dirty="0">
                <a:solidFill>
                  <a:srgbClr val="FFFFFF"/>
                </a:solidFill>
              </a:rPr>
              <a:t>Prevents a single person from unilaterally authorising access to sensitive health data.</a:t>
            </a:r>
            <a:endParaRPr lang="en-US" sz="2000" dirty="0"/>
          </a:p>
          <a:p>
            <a:pPr marL="342900" indent="-342900">
              <a:spcAft>
                <a:spcPts val="1000"/>
              </a:spcAft>
              <a:buSzPct val="100000"/>
              <a:buChar char="•"/>
            </a:pPr>
            <a:r>
              <a:rPr lang="en-US" sz="2000" dirty="0">
                <a:solidFill>
                  <a:srgbClr val="FFFFFF"/>
                </a:solidFill>
              </a:rPr>
              <a:t>Keeps every access decision explainable and auditable for auditors and healthcare organisations.</a:t>
            </a:r>
            <a:endParaRPr lang="en-US" sz="2000" dirty="0"/>
          </a:p>
          <a:p>
            <a:pPr marL="342900" indent="-342900">
              <a:spcAft>
                <a:spcPts val="1000"/>
              </a:spcAft>
              <a:buSzPct val="100000"/>
              <a:buChar char="•"/>
            </a:pPr>
            <a:r>
              <a:rPr lang="en-US" sz="2000" dirty="0">
                <a:solidFill>
                  <a:srgbClr val="FFFFFF"/>
                </a:solidFill>
              </a:rPr>
              <a:t>Keeps medical records off-chain, so only consent evidence is shared on the blockchain.</a:t>
            </a:r>
            <a:endParaRPr lang="en-US" sz="2000" dirty="0"/>
          </a:p>
          <a:p>
            <a:pPr marL="342900" indent="-342900">
              <a:spcAft>
                <a:spcPts val="1000"/>
              </a:spcAft>
              <a:buSzPct val="100000"/>
              <a:buChar char="•"/>
            </a:pPr>
            <a:r>
              <a:rPr lang="en-US" sz="2000" dirty="0">
                <a:solidFill>
                  <a:srgbClr val="FFFFFF"/>
                </a:solidFill>
              </a:rPr>
              <a:t>Supports trust when health data is shared across hospitals and other independent parties.</a:t>
            </a:r>
            <a:endParaRPr lang="en-US" sz="20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a:t>
            </a:r>
            <a:r>
              <a:rPr lang="en-US" sz="3000" b="1" dirty="0">
                <a:solidFill>
                  <a:srgbClr val="0B1F33"/>
                </a:solidFill>
                <a:highlight>
                  <a:srgbClr val="FFFF00"/>
                </a:highlight>
                <a:latin typeface="Arial" pitchFamily="34" charset="0"/>
                <a:ea typeface="Arial" pitchFamily="34" charset="-122"/>
                <a:cs typeface="Arial" pitchFamily="34" charset="-120"/>
              </a:rPr>
              <a:t>RESEARCH PUBLICATIONS</a:t>
            </a:r>
            <a:endParaRPr lang="en-US" sz="3000" dirty="0"/>
          </a:p>
        </p:txBody>
      </p:sp>
      <p:graphicFrame>
        <p:nvGraphicFramePr>
          <p:cNvPr id="44" name="publications table"/>
          <p:cNvGraphicFramePr>
            <a:graphicFrameLocks noGrp="1"/>
          </p:cNvGraphicFramePr>
          <p:nvPr>
            <p:extLst>
              <p:ext uri="{D42A27DB-BD31-4B8C-83A1-F6EECF244321}">
                <p14:modId xmlns:p14="http://schemas.microsoft.com/office/powerpoint/2010/main" val="1579011935"/>
              </p:ext>
            </p:extLst>
          </p:nvPr>
        </p:nvGraphicFramePr>
        <p:xfrm>
          <a:off x="548640" y="1234440"/>
          <a:ext cx="11064240" cy="914400"/>
        </p:xfrm>
        <a:graphic>
          <a:graphicData uri="http://schemas.openxmlformats.org/drawingml/2006/table">
            <a:tbl>
              <a:tblPr/>
              <a:tblGrid>
                <a:gridCol w="457200"/>
                <a:gridCol w="5394960"/>
                <a:gridCol w="3108960"/>
                <a:gridCol w="731520"/>
                <a:gridCol w="1371600"/>
              </a:tblGrid>
              <a:tr h="777240">
                <a:tc>
                  <a:txBody>
                    <a:bodyPr/>
                    <a:lstStyle/>
                    <a:p>
                      <a:pPr algn="ctr" indent="0" marL="0">
                        <a:buNone/>
                      </a:pPr>
                      <a:r>
                        <a:rPr lang="en-US" sz="1400" b="1" dirty="0">
                          <a:solidFill>
                            <a:srgbClr val="FFFFFF"/>
                          </a:solidFill>
                        </a:rPr>
                        <a:t>​</a:t>
                      </a:r>
                      <a:r>
                        <a:rPr lang="en-US" sz="1400" b="1" dirty="0">
                          <a:solidFill>
                            <a:srgbClr val="0B1F33"/>
                          </a:solidFill>
                          <a:highlight>
                            <a:srgbClr val="FFFF00"/>
                          </a:highlight>
                        </a:rPr>
                        <a:t>#</a:t>
                      </a:r>
                      <a:endParaRPr lang="en-US" sz="1400" dirty="0"/>
                    </a:p>
                  </a:txBody>
                  <a:tcPr marL="91440" marR="91440" marT="45720" marB="45720"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algn="l" indent="0" marL="0">
                        <a:buNone/>
                      </a:pPr>
                      <a:r>
                        <a:rPr lang="en-US" sz="1400" b="1" dirty="0">
                          <a:solidFill>
                            <a:srgbClr val="FFFFFF"/>
                          </a:solidFill>
                        </a:rPr>
                        <a:t>​</a:t>
                      </a:r>
                      <a:r>
                        <a:rPr lang="en-US" sz="1400" b="1" dirty="0">
                          <a:solidFill>
                            <a:srgbClr val="0B1F33"/>
                          </a:solidFill>
                          <a:highlight>
                            <a:srgbClr val="FFFF00"/>
                          </a:highlight>
                        </a:rPr>
                        <a:t>Title</a:t>
                      </a:r>
                      <a:endParaRPr lang="en-US" sz="1400" dirty="0"/>
                    </a:p>
                  </a:txBody>
                  <a:tcPr marL="91440" marR="91440" marT="45720" marB="45720"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algn="l" indent="0" marL="0">
                        <a:buNone/>
                      </a:pPr>
                      <a:r>
                        <a:rPr lang="en-US" sz="1400" b="1" dirty="0">
                          <a:solidFill>
                            <a:srgbClr val="FFFFFF"/>
                          </a:solidFill>
                        </a:rPr>
                        <a:t>​</a:t>
                      </a:r>
                      <a:r>
                        <a:rPr lang="en-US" sz="1400" b="1" dirty="0">
                          <a:solidFill>
                            <a:srgbClr val="0B1F33"/>
                          </a:solidFill>
                          <a:highlight>
                            <a:srgbClr val="FFFF00"/>
                          </a:highlight>
                        </a:rPr>
                        <a:t>Venue</a:t>
                      </a:r>
                      <a:endParaRPr lang="en-US" sz="1400" dirty="0"/>
                    </a:p>
                  </a:txBody>
                  <a:tcPr marL="91440" marR="91440" marT="45720" marB="45720"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algn="ctr" indent="0" marL="0">
                        <a:buNone/>
                      </a:pPr>
                      <a:r>
                        <a:rPr lang="en-US" sz="1400" b="1" dirty="0">
                          <a:solidFill>
                            <a:srgbClr val="FFFFFF"/>
                          </a:solidFill>
                        </a:rPr>
                        <a:t>​</a:t>
                      </a:r>
                      <a:r>
                        <a:rPr lang="en-US" sz="1400" b="1" dirty="0">
                          <a:solidFill>
                            <a:srgbClr val="0B1F33"/>
                          </a:solidFill>
                          <a:highlight>
                            <a:srgbClr val="FFFF00"/>
                          </a:highlight>
                        </a:rPr>
                        <a:t>Year</a:t>
                      </a:r>
                      <a:endParaRPr lang="en-US" sz="1400" dirty="0"/>
                    </a:p>
                  </a:txBody>
                  <a:tcPr marL="91440" marR="91440" marT="45720" marB="45720"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algn="ctr" indent="0" marL="0">
                        <a:buNone/>
                      </a:pPr>
                      <a:r>
                        <a:rPr lang="en-US" sz="1400" b="1" dirty="0">
                          <a:solidFill>
                            <a:srgbClr val="FFFFFF"/>
                          </a:solidFill>
                        </a:rPr>
                        <a:t>​</a:t>
                      </a:r>
                      <a:r>
                        <a:rPr lang="en-US" sz="1400" b="1" dirty="0">
                          <a:solidFill>
                            <a:srgbClr val="0B1F33"/>
                          </a:solidFill>
                          <a:highlight>
                            <a:srgbClr val="FFFF00"/>
                          </a:highlight>
                        </a:rPr>
                        <a:t>Status</a:t>
                      </a:r>
                      <a:endParaRPr lang="en-US" sz="1400" dirty="0"/>
                    </a:p>
                  </a:txBody>
                  <a:tcPr marL="91440" marR="91440" marT="45720" marB="45720"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r>
              <a:tr h="777240">
                <a:tc>
                  <a:txBody>
                    <a:bodyPr/>
                    <a:lstStyle/>
                    <a:p>
                      <a:pPr algn="ctr" indent="0" marL="0">
                        <a:buNone/>
                      </a:pPr>
                      <a:r>
                        <a:rPr lang="en-US" sz="1350" b="1" dirty="0">
                          <a:solidFill>
                            <a:srgbClr val="0B1F33"/>
                          </a:solidFill>
                        </a:rPr>
                        <a:t>​</a:t>
                      </a:r>
                      <a:r>
                        <a:rPr lang="en-US" sz="1350" b="1" dirty="0">
                          <a:solidFill>
                            <a:srgbClr val="0B1F33"/>
                          </a:solidFill>
                          <a:highlight>
                            <a:srgbClr val="FFFF00"/>
                          </a:highlight>
                        </a:rPr>
                        <a:t>1</a:t>
                      </a:r>
                      <a:endParaRPr lang="en-US" sz="1350" dirty="0"/>
                    </a:p>
                  </a:txBody>
                  <a:tcPr marL="91440" marR="91440" marT="45720" marB="45720"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l" indent="0" marL="0">
                        <a:buNone/>
                      </a:pPr>
                      <a:r>
                        <a:rPr lang="en-US" sz="1350" dirty="0">
                          <a:solidFill>
                            <a:srgbClr val="0B1F33"/>
                          </a:solidFill>
                        </a:rPr>
                        <a:t>​</a:t>
                      </a:r>
                      <a:r>
                        <a:rPr lang="en-US" sz="1350" dirty="0">
                          <a:solidFill>
                            <a:srgbClr val="0B1F33"/>
                          </a:solidFill>
                          <a:highlight>
                            <a:srgbClr val="FFFF00"/>
                          </a:highlight>
                        </a:rPr>
                        <a:t>A Blockchain-Based Framework for Evaluating User Identity Trustworthiness in Real Estate</a:t>
                      </a:r>
                      <a:endParaRPr lang="en-US" sz="1350" dirty="0"/>
                    </a:p>
                  </a:txBody>
                  <a:tcPr marL="91440" marR="91440" marT="45720" marB="45720"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l" indent="0" marL="0">
                        <a:buNone/>
                      </a:pPr>
                      <a:r>
                        <a:rPr lang="en-US" sz="1350" dirty="0">
                          <a:solidFill>
                            <a:srgbClr val="0B1F33"/>
                          </a:solidFill>
                        </a:rPr>
                        <a:t>​</a:t>
                      </a:r>
                      <a:r>
                        <a:rPr lang="en-US" sz="1350" dirty="0">
                          <a:solidFill>
                            <a:srgbClr val="0B1F33"/>
                          </a:solidFill>
                          <a:highlight>
                            <a:srgbClr val="FFFF00"/>
                          </a:highlight>
                        </a:rPr>
                        <a:t>2025 IEEE International Conference on E-Business Engineering (ICEBE)</a:t>
                      </a:r>
                      <a:endParaRPr lang="en-US" sz="1350" dirty="0"/>
                    </a:p>
                  </a:txBody>
                  <a:tcPr marL="91440" marR="91440" marT="45720" marB="45720"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0B1F33"/>
                          </a:solidFill>
                        </a:rPr>
                        <a:t>​</a:t>
                      </a:r>
                      <a:r>
                        <a:rPr lang="en-US" sz="1350" dirty="0">
                          <a:solidFill>
                            <a:srgbClr val="0B1F33"/>
                          </a:solidFill>
                          <a:highlight>
                            <a:srgbClr val="FFFF00"/>
                          </a:highlight>
                        </a:rPr>
                        <a:t>2025</a:t>
                      </a:r>
                      <a:endParaRPr lang="en-US" sz="1350" dirty="0"/>
                    </a:p>
                  </a:txBody>
                  <a:tcPr marL="91440" marR="91440" marT="45720" marB="45720"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350" b="1" dirty="0">
                          <a:solidFill>
                            <a:srgbClr val="2E7D32"/>
                          </a:solidFill>
                        </a:rPr>
                        <a:t>​</a:t>
                      </a:r>
                      <a:r>
                        <a:rPr lang="en-US" sz="1350" b="1" dirty="0">
                          <a:solidFill>
                            <a:srgbClr val="0B1F33"/>
                          </a:solidFill>
                          <a:highlight>
                            <a:srgbClr val="FFFF00"/>
                          </a:highlight>
                        </a:rPr>
                        <a:t>Published</a:t>
                      </a:r>
                      <a:endParaRPr lang="en-US" sz="1350" dirty="0"/>
                    </a:p>
                  </a:txBody>
                  <a:tcPr marL="91440" marR="91440" marT="45720" marB="45720"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777240">
                <a:tc>
                  <a:txBody>
                    <a:bodyPr/>
                    <a:lstStyle/>
                    <a:p>
                      <a:pPr algn="ctr" indent="0" marL="0">
                        <a:buNone/>
                      </a:pPr>
                      <a:r>
                        <a:rPr lang="en-US" sz="1350" b="1" dirty="0">
                          <a:solidFill>
                            <a:srgbClr val="0B1F33"/>
                          </a:solidFill>
                        </a:rPr>
                        <a:t>​</a:t>
                      </a:r>
                      <a:r>
                        <a:rPr lang="en-US" sz="1350" b="1" dirty="0">
                          <a:solidFill>
                            <a:srgbClr val="0B1F33"/>
                          </a:solidFill>
                          <a:highlight>
                            <a:srgbClr val="FFFF00"/>
                          </a:highlight>
                        </a:rPr>
                        <a:t>2</a:t>
                      </a:r>
                      <a:endParaRPr lang="en-US" sz="1350" dirty="0"/>
                    </a:p>
                  </a:txBody>
                  <a:tcPr marL="91440" marR="91440" marT="45720" marB="45720"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l" indent="0" marL="0">
                        <a:buNone/>
                      </a:pPr>
                      <a:r>
                        <a:rPr lang="en-US" sz="1350" dirty="0">
                          <a:solidFill>
                            <a:srgbClr val="0B1F33"/>
                          </a:solidFill>
                        </a:rPr>
                        <a:t>​</a:t>
                      </a:r>
                      <a:r>
                        <a:rPr lang="en-US" sz="1350" dirty="0">
                          <a:solidFill>
                            <a:srgbClr val="0B1F33"/>
                          </a:solidFill>
                          <a:highlight>
                            <a:srgbClr val="FFFF00"/>
                          </a:highlight>
                        </a:rPr>
                        <a:t>Blockchain-Based Reputation Borrowing Model to Address the Cold Start Problem for New Users in Real Estate</a:t>
                      </a:r>
                      <a:endParaRPr lang="en-US" sz="1350" dirty="0"/>
                    </a:p>
                  </a:txBody>
                  <a:tcPr marL="91440" marR="91440" marT="45720" marB="45720"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l" indent="0" marL="0">
                        <a:buNone/>
                      </a:pPr>
                      <a:r>
                        <a:rPr lang="en-US" sz="1350" dirty="0">
                          <a:solidFill>
                            <a:srgbClr val="0B1F33"/>
                          </a:solidFill>
                        </a:rPr>
                        <a:t>​</a:t>
                      </a:r>
                      <a:r>
                        <a:rPr lang="en-US" sz="1350" dirty="0">
                          <a:solidFill>
                            <a:srgbClr val="0B1F33"/>
                          </a:solidFill>
                          <a:highlight>
                            <a:srgbClr val="FFFF00"/>
                          </a:highlight>
                        </a:rPr>
                        <a:t>2025 IEEE International Conference on E-Business Engineering (ICEBE)</a:t>
                      </a:r>
                      <a:endParaRPr lang="en-US" sz="1350" dirty="0"/>
                    </a:p>
                  </a:txBody>
                  <a:tcPr marL="91440" marR="91440" marT="45720" marB="45720"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0B1F33"/>
                          </a:solidFill>
                        </a:rPr>
                        <a:t>​</a:t>
                      </a:r>
                      <a:r>
                        <a:rPr lang="en-US" sz="1350" dirty="0">
                          <a:solidFill>
                            <a:srgbClr val="0B1F33"/>
                          </a:solidFill>
                          <a:highlight>
                            <a:srgbClr val="FFFF00"/>
                          </a:highlight>
                        </a:rPr>
                        <a:t>2025</a:t>
                      </a:r>
                      <a:endParaRPr lang="en-US" sz="1350" dirty="0"/>
                    </a:p>
                  </a:txBody>
                  <a:tcPr marL="91440" marR="91440" marT="45720" marB="45720"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350" b="1" dirty="0">
                          <a:solidFill>
                            <a:srgbClr val="2E7D32"/>
                          </a:solidFill>
                        </a:rPr>
                        <a:t>​</a:t>
                      </a:r>
                      <a:r>
                        <a:rPr lang="en-US" sz="1350" b="1" dirty="0">
                          <a:solidFill>
                            <a:srgbClr val="0B1F33"/>
                          </a:solidFill>
                          <a:highlight>
                            <a:srgbClr val="FFFF00"/>
                          </a:highlight>
                        </a:rPr>
                        <a:t>Published</a:t>
                      </a:r>
                      <a:endParaRPr lang="en-US" sz="1350" dirty="0"/>
                    </a:p>
                  </a:txBody>
                  <a:tcPr marL="91440" marR="91440" marT="45720" marB="45720"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777240">
                <a:tc>
                  <a:txBody>
                    <a:bodyPr/>
                    <a:lstStyle/>
                    <a:p>
                      <a:pPr algn="ctr" indent="0" marL="0">
                        <a:buNone/>
                      </a:pPr>
                      <a:r>
                        <a:rPr lang="en-US" sz="1350" b="1" dirty="0">
                          <a:solidFill>
                            <a:srgbClr val="0B1F33"/>
                          </a:solidFill>
                        </a:rPr>
                        <a:t>​</a:t>
                      </a:r>
                      <a:r>
                        <a:rPr lang="en-US" sz="1350" b="1" dirty="0">
                          <a:solidFill>
                            <a:srgbClr val="0B1F33"/>
                          </a:solidFill>
                          <a:highlight>
                            <a:srgbClr val="FFFF00"/>
                          </a:highlight>
                        </a:rPr>
                        <a:t>3</a:t>
                      </a:r>
                      <a:endParaRPr lang="en-US" sz="1350" dirty="0"/>
                    </a:p>
                  </a:txBody>
                  <a:tcPr marL="91440" marR="91440" marT="45720" marB="45720"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l" indent="0" marL="0">
                        <a:buNone/>
                      </a:pPr>
                      <a:r>
                        <a:rPr lang="en-US" sz="1350" dirty="0">
                          <a:solidFill>
                            <a:srgbClr val="0B1F33"/>
                          </a:solidFill>
                        </a:rPr>
                        <a:t>​</a:t>
                      </a:r>
                      <a:r>
                        <a:rPr lang="en-US" sz="1350" dirty="0">
                          <a:solidFill>
                            <a:srgbClr val="0B1F33"/>
                          </a:solidFill>
                          <a:highlight>
                            <a:srgbClr val="FFFF00"/>
                          </a:highlight>
                        </a:rPr>
                        <a:t>A Smart Contract-Governed Lifecycle Protocol for Reputation Borrowing in Blockchain-Based Real Estate Platforms</a:t>
                      </a:r>
                      <a:endParaRPr lang="en-US" sz="1350" dirty="0"/>
                    </a:p>
                  </a:txBody>
                  <a:tcPr marL="91440" marR="91440" marT="45720" marB="45720"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l" indent="0" marL="0">
                        <a:buNone/>
                      </a:pPr>
                      <a:r>
                        <a:rPr lang="en-US" sz="1350" dirty="0">
                          <a:solidFill>
                            <a:srgbClr val="0B1F33"/>
                          </a:solidFill>
                        </a:rPr>
                        <a:t>​</a:t>
                      </a:r>
                      <a:r>
                        <a:rPr lang="en-US" sz="1350" dirty="0">
                          <a:solidFill>
                            <a:srgbClr val="0B1F33"/>
                          </a:solidFill>
                          <a:highlight>
                            <a:srgbClr val="FFFF00"/>
                          </a:highlight>
                        </a:rPr>
                        <a:t>ICEBE 2026</a:t>
                      </a:r>
                      <a:endParaRPr lang="en-US" sz="1350" dirty="0"/>
                    </a:p>
                  </a:txBody>
                  <a:tcPr marL="91440" marR="91440" marT="45720" marB="45720"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0B1F33"/>
                          </a:solidFill>
                        </a:rPr>
                        <a:t>​</a:t>
                      </a:r>
                      <a:r>
                        <a:rPr lang="en-US" sz="1350" dirty="0">
                          <a:solidFill>
                            <a:srgbClr val="0B1F33"/>
                          </a:solidFill>
                          <a:highlight>
                            <a:srgbClr val="FFFF00"/>
                          </a:highlight>
                        </a:rPr>
                        <a:t>2026</a:t>
                      </a:r>
                      <a:endParaRPr lang="en-US" sz="1350" dirty="0"/>
                    </a:p>
                  </a:txBody>
                  <a:tcPr marL="91440" marR="91440" marT="45720" marB="45720"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350" b="1" dirty="0">
                          <a:solidFill>
                            <a:srgbClr val="1F6FB0"/>
                          </a:solidFill>
                        </a:rPr>
                        <a:t>​</a:t>
                      </a:r>
                      <a:r>
                        <a:rPr lang="en-US" sz="1350" b="1" dirty="0">
                          <a:solidFill>
                            <a:srgbClr val="0B1F33"/>
                          </a:solidFill>
                          <a:highlight>
                            <a:srgbClr val="FFFF00"/>
                          </a:highlight>
                        </a:rPr>
                        <a:t>Accepted</a:t>
                      </a:r>
                      <a:endParaRPr lang="en-US" sz="1350" dirty="0"/>
                    </a:p>
                  </a:txBody>
                  <a:tcPr marL="91440" marR="91440" marT="45720" marB="45720"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777240">
                <a:tc>
                  <a:txBody>
                    <a:bodyPr/>
                    <a:lstStyle/>
                    <a:p>
                      <a:pPr algn="ctr" indent="0" marL="0">
                        <a:buNone/>
                      </a:pPr>
                      <a:r>
                        <a:rPr lang="en-US" sz="1350" b="1" dirty="0">
                          <a:solidFill>
                            <a:srgbClr val="0B1F33"/>
                          </a:solidFill>
                        </a:rPr>
                        <a:t>​</a:t>
                      </a:r>
                      <a:r>
                        <a:rPr lang="en-US" sz="1350" b="1" dirty="0">
                          <a:solidFill>
                            <a:srgbClr val="0B1F33"/>
                          </a:solidFill>
                          <a:highlight>
                            <a:srgbClr val="FFFF00"/>
                          </a:highlight>
                        </a:rPr>
                        <a:t>4</a:t>
                      </a:r>
                      <a:endParaRPr lang="en-US" sz="1350" dirty="0"/>
                    </a:p>
                  </a:txBody>
                  <a:tcPr marL="91440" marR="91440" marT="45720" marB="45720"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l" indent="0" marL="0">
                        <a:buNone/>
                      </a:pPr>
                      <a:r>
                        <a:rPr lang="en-US" sz="1350" dirty="0">
                          <a:solidFill>
                            <a:srgbClr val="0B1F33"/>
                          </a:solidFill>
                        </a:rPr>
                        <a:t>​</a:t>
                      </a:r>
                      <a:r>
                        <a:rPr lang="en-US" sz="1350" dirty="0">
                          <a:solidFill>
                            <a:srgbClr val="0B1F33"/>
                          </a:solidFill>
                          <a:highlight>
                            <a:srgbClr val="FFFF00"/>
                          </a:highlight>
                        </a:rPr>
                        <a:t>A Trusted Multi-Party Consent Governance Framework for Decentralized Multi-Stakeholder Data Sharing</a:t>
                      </a:r>
                      <a:endParaRPr lang="en-US" sz="1350" dirty="0"/>
                    </a:p>
                  </a:txBody>
                  <a:tcPr marL="91440" marR="91440" marT="45720" marB="45720"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l" indent="0" marL="0">
                        <a:buNone/>
                      </a:pPr>
                      <a:r>
                        <a:rPr lang="en-US" sz="1350" dirty="0">
                          <a:solidFill>
                            <a:srgbClr val="0B1F33"/>
                          </a:solidFill>
                        </a:rPr>
                        <a:t>​</a:t>
                      </a:r>
                      <a:r>
                        <a:rPr lang="en-US" sz="1350" dirty="0">
                          <a:solidFill>
                            <a:srgbClr val="0B1F33"/>
                          </a:solidFill>
                          <a:highlight>
                            <a:srgbClr val="FFFF00"/>
                          </a:highlight>
                        </a:rPr>
                        <a:t>BWCCA 2026</a:t>
                      </a:r>
                      <a:endParaRPr lang="en-US" sz="1350" dirty="0"/>
                    </a:p>
                  </a:txBody>
                  <a:tcPr marL="91440" marR="91440" marT="45720" marB="45720"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0B1F33"/>
                          </a:solidFill>
                        </a:rPr>
                        <a:t>​</a:t>
                      </a:r>
                      <a:r>
                        <a:rPr lang="en-US" sz="1350" dirty="0">
                          <a:solidFill>
                            <a:srgbClr val="0B1F33"/>
                          </a:solidFill>
                          <a:highlight>
                            <a:srgbClr val="FFFF00"/>
                          </a:highlight>
                        </a:rPr>
                        <a:t>2026</a:t>
                      </a:r>
                      <a:endParaRPr lang="en-US" sz="1350" dirty="0"/>
                    </a:p>
                  </a:txBody>
                  <a:tcPr marL="91440" marR="91440" marT="45720" marB="45720"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350" b="1" dirty="0">
                          <a:solidFill>
                            <a:srgbClr val="1F6FB0"/>
                          </a:solidFill>
                        </a:rPr>
                        <a:t>​</a:t>
                      </a:r>
                      <a:r>
                        <a:rPr lang="en-US" sz="1350" b="1" dirty="0">
                          <a:solidFill>
                            <a:srgbClr val="0B1F33"/>
                          </a:solidFill>
                          <a:highlight>
                            <a:srgbClr val="FFFF00"/>
                          </a:highlight>
                        </a:rPr>
                        <a:t>Accepted</a:t>
                      </a:r>
                      <a:endParaRPr lang="en-US" sz="1350" dirty="0"/>
                    </a:p>
                  </a:txBody>
                  <a:tcPr marL="91440" marR="91440" marT="45720" marB="45720"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777240">
                <a:tc>
                  <a:txBody>
                    <a:bodyPr/>
                    <a:lstStyle/>
                    <a:p>
                      <a:pPr algn="ctr" indent="0" marL="0">
                        <a:buNone/>
                      </a:pPr>
                      <a:r>
                        <a:rPr lang="en-US" sz="1350" b="1" dirty="0">
                          <a:solidFill>
                            <a:srgbClr val="0B1F33"/>
                          </a:solidFill>
                        </a:rPr>
                        <a:t>​</a:t>
                      </a:r>
                      <a:r>
                        <a:rPr lang="en-US" sz="1350" b="1" dirty="0">
                          <a:solidFill>
                            <a:srgbClr val="0B1F33"/>
                          </a:solidFill>
                          <a:highlight>
                            <a:srgbClr val="FFFF00"/>
                          </a:highlight>
                        </a:rPr>
                        <a:t>5</a:t>
                      </a:r>
                      <a:endParaRPr lang="en-US" sz="1350" dirty="0"/>
                    </a:p>
                  </a:txBody>
                  <a:tcPr marL="91440" marR="91440" marT="45720" marB="45720"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l" indent="0" marL="0">
                        <a:buNone/>
                      </a:pPr>
                      <a:r>
                        <a:rPr lang="en-US" sz="1350" dirty="0">
                          <a:solidFill>
                            <a:srgbClr val="0B1F33"/>
                          </a:solidFill>
                        </a:rPr>
                        <a:t>​</a:t>
                      </a:r>
                      <a:r>
                        <a:rPr lang="en-US" sz="1350" dirty="0">
                          <a:solidFill>
                            <a:srgbClr val="0B1F33"/>
                          </a:solidFill>
                          <a:highlight>
                            <a:srgbClr val="FFFF00"/>
                          </a:highlight>
                        </a:rPr>
                        <a:t>Blockchain-Based Reputation Provenance Tracing for Newcomer Bootstrapping in Real Estate</a:t>
                      </a:r>
                      <a:endParaRPr lang="en-US" sz="1350" dirty="0"/>
                    </a:p>
                  </a:txBody>
                  <a:tcPr marL="91440" marR="91440" marT="45720" marB="45720"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l" indent="0" marL="0">
                        <a:buNone/>
                      </a:pPr>
                      <a:r>
                        <a:rPr lang="en-US" sz="1350" dirty="0">
                          <a:solidFill>
                            <a:srgbClr val="0B1F33"/>
                          </a:solidFill>
                        </a:rPr>
                        <a:t>​</a:t>
                      </a:r>
                      <a:r>
                        <a:rPr lang="en-US" sz="1350" dirty="0">
                          <a:solidFill>
                            <a:srgbClr val="0B1F33"/>
                          </a:solidFill>
                          <a:highlight>
                            <a:srgbClr val="FFFF00"/>
                          </a:highlight>
                        </a:rPr>
                        <a:t>BWCCA 2026</a:t>
                      </a:r>
                      <a:endParaRPr lang="en-US" sz="1350" dirty="0"/>
                    </a:p>
                  </a:txBody>
                  <a:tcPr marL="91440" marR="91440" marT="45720" marB="45720"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0B1F33"/>
                          </a:solidFill>
                        </a:rPr>
                        <a:t>​</a:t>
                      </a:r>
                      <a:r>
                        <a:rPr lang="en-US" sz="1350" dirty="0">
                          <a:solidFill>
                            <a:srgbClr val="0B1F33"/>
                          </a:solidFill>
                          <a:highlight>
                            <a:srgbClr val="FFFF00"/>
                          </a:highlight>
                        </a:rPr>
                        <a:t>2026</a:t>
                      </a:r>
                      <a:endParaRPr lang="en-US" sz="1350" dirty="0"/>
                    </a:p>
                  </a:txBody>
                  <a:tcPr marL="91440" marR="91440" marT="45720" marB="45720"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350" b="1" dirty="0">
                          <a:solidFill>
                            <a:srgbClr val="1F6FB0"/>
                          </a:solidFill>
                        </a:rPr>
                        <a:t>​</a:t>
                      </a:r>
                      <a:r>
                        <a:rPr lang="en-US" sz="1350" b="1" dirty="0">
                          <a:solidFill>
                            <a:srgbClr val="0B1F33"/>
                          </a:solidFill>
                          <a:highlight>
                            <a:srgbClr val="FFFF00"/>
                          </a:highlight>
                        </a:rPr>
                        <a:t>Accepted</a:t>
                      </a:r>
                      <a:endParaRPr lang="en-US" sz="1350" dirty="0"/>
                    </a:p>
                  </a:txBody>
                  <a:tcPr marL="91440" marR="91440" marT="45720" marB="45720"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RESEARCH PLAN</a:t>
            </a:r>
            <a:endParaRPr lang="en-US" sz="3000" dirty="0"/>
          </a:p>
        </p:txBody>
      </p:sp>
      <p:graphicFrame>
        <p:nvGraphicFramePr>
          <p:cNvPr id="45" name="table"/>
          <p:cNvGraphicFramePr>
            <a:graphicFrameLocks noGrp="1"/>
          </p:cNvGraphicFramePr>
          <p:nvPr>
            <p:extLst>
              <p:ext uri="{D42A27DB-BD31-4B8C-83A1-F6EECF244321}">
                <p14:modId xmlns:p14="http://schemas.microsoft.com/office/powerpoint/2010/main" val="1579011935"/>
              </p:ext>
            </p:extLst>
          </p:nvPr>
        </p:nvGraphicFramePr>
        <p:xfrm>
          <a:off x="731520" y="1097280"/>
          <a:ext cx="10698480" cy="914400"/>
        </p:xfrm>
        <a:graphic>
          <a:graphicData uri="http://schemas.openxmlformats.org/drawingml/2006/table">
            <a:tbl>
              <a:tblPr/>
              <a:tblGrid>
                <a:gridCol w="1737360"/>
                <a:gridCol w="6035040"/>
                <a:gridCol w="1463040"/>
                <a:gridCol w="1463040"/>
              </a:tblGrid>
              <a:tr h="457200">
                <a:tc>
                  <a:txBody>
                    <a:bodyPr/>
                    <a:lstStyle/>
                    <a:p>
                      <a:pPr indent="0" marL="0">
                        <a:buNone/>
                      </a:pPr>
                      <a:r>
                        <a:rPr lang="en-US" sz="1300" b="1" dirty="0">
                          <a:solidFill>
                            <a:srgbClr val="FFFFFF"/>
                          </a:solidFill>
                        </a:rPr>
                        <a:t>Task</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300" b="1" dirty="0">
                          <a:solidFill>
                            <a:srgbClr val="FFFFFF"/>
                          </a:solidFill>
                        </a:rPr>
                        <a:t>Description</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300" b="1" dirty="0">
                          <a:solidFill>
                            <a:srgbClr val="FFFFFF"/>
                          </a:solidFill>
                        </a:rPr>
                        <a:t>Target date</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300" b="1" dirty="0">
                          <a:solidFill>
                            <a:srgbClr val="FFFFFF"/>
                          </a:solidFill>
                        </a:rPr>
                        <a:t>Status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r>
              <a:tr h="457200">
                <a:tc>
                  <a:txBody>
                    <a:bodyPr/>
                    <a:lstStyle/>
                    <a:p>
                      <a:pPr indent="0" marL="0">
                        <a:buNone/>
                      </a:pPr>
                      <a:r>
                        <a:rPr lang="en-US" sz="1300" b="1" dirty="0">
                          <a:solidFill>
                            <a:srgbClr val="0B1F33"/>
                          </a:solidFill>
                        </a:rPr>
                        <a:t>Chapters 1–4</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Introduction, SLR, Research Questions and Objectives, Research Methodology</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Completed</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Done</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0B1F33"/>
                          </a:solidFill>
                        </a:rPr>
                        <a:t>Chapter 5</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Research Architecture (MVC) and framework design</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May 2026</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Done</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0B1F33"/>
                          </a:solidFill>
                        </a:rPr>
                        <a:t>Chapter 6</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Proposed solution for RQ1 to RQ4 and the HALAH prototype</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Jul–Oct 2026</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Done</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0B1F33"/>
                          </a:solidFill>
                        </a:rPr>
                        <a:t>Publication 1</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Conference paper submission, BWCCA 2026</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Sep 2026</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Done</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0B1F33"/>
                          </a:solidFill>
                        </a:rPr>
                        <a:t>Publication 2</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SLR paper journal submission</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Oct 2026</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In Progress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0B1F33"/>
                          </a:solidFill>
                        </a:rPr>
                        <a:t>Chapter 7</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Complete prototype evaluation and integrated results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Nov 2026</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Planned</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0B1F33"/>
                          </a:solidFill>
                        </a:rPr>
                        <a:t>Publication 3</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Journal paper on formal security assurance, lifecycle trust and the evaluation of HALAH</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Dec 2026</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Planned</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0B1F33"/>
                          </a:solidFill>
                        </a:rPr>
                        <a:t>Chapter 8</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Conclusion and future work</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Dec 2026</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Planned</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0B1F33"/>
                          </a:solidFill>
                        </a:rPr>
                        <a:t>Final assessment</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Final candidature assessment defence</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Jan 2027</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Planned</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0B1F33"/>
                          </a:solidFill>
                        </a:rPr>
                        <a:t>Thesis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Complete thesis submission</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Mar 2027</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Planned</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RESEARCH TIMELINE</a:t>
            </a:r>
            <a:endParaRPr lang="en-US" sz="3000" dirty="0"/>
          </a:p>
        </p:txBody>
      </p:sp>
      <p:sp>
        <p:nvSpPr>
          <p:cNvPr id="4" name="Fplan panel"/>
          <p:cNvSpPr/>
          <p:nvPr/>
        </p:nvSpPr>
        <p:spPr>
          <a:xfrm>
            <a:off x="731520" y="1280160"/>
            <a:ext cx="10698480" cy="4937760"/>
          </a:xfrm>
          <a:prstGeom prst="roundRect">
            <a:avLst>
              <a:gd name="adj" fmla="val 2222"/>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pic>
        <p:nvPicPr>
          <p:cNvPr id="5" name="Fplan" descr="/tmp/deck/img/Fplan.png">    </p:cNvPr>
          <p:cNvPicPr>
            <a:picLocks noChangeAspect="1"/>
          </p:cNvPicPr>
          <p:nvPr/>
        </p:nvPicPr>
        <p:blipFill>
          <a:blip r:embed="rId1"/>
          <a:stretch>
            <a:fillRect/>
          </a:stretch>
        </p:blipFill>
        <p:spPr>
          <a:xfrm>
            <a:off x="841248" y="1440972"/>
            <a:ext cx="10479024" cy="4616136"/>
          </a:xfrm>
          <a:prstGeom prst="rect">
            <a:avLst/>
          </a:prstGeom>
        </p:spPr>
      </p:pic>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REFERENCES (1/</a:t>
            </a:r>
            <a:r>
              <a:rPr lang="en-US" sz="3000" b="1" dirty="0">
                <a:solidFill>
                  <a:srgbClr val="0B1F33"/>
                </a:solidFill>
                <a:highlight>
                  <a:srgbClr val="FFFF00"/>
                </a:highlight>
                <a:latin typeface="Arial" pitchFamily="34" charset="0"/>
                <a:ea typeface="Arial" pitchFamily="34" charset="-122"/>
                <a:cs typeface="Arial" pitchFamily="34" charset="-120"/>
              </a:rPr>
              <a:t>3</a:t>
            </a:r>
            <a:r>
              <a:rPr lang="en-US" sz="3000" b="1" dirty="0">
                <a:solidFill>
                  <a:srgbClr val="FFFFFF"/>
                </a:solidFill>
                <a:latin typeface="Arial" pitchFamily="34" charset="0"/>
                <a:ea typeface="Arial" pitchFamily="34" charset="-122"/>
                <a:cs typeface="Arial" pitchFamily="34" charset="-120"/>
              </a:rPr>
              <a:t>)</a:t>
            </a:r>
            <a:endParaRPr lang="en-US" sz="3000" dirty="0"/>
          </a:p>
        </p:txBody>
      </p:sp>
      <p:sp>
        <p:nvSpPr>
          <p:cNvPr id="4" name="references panel"/>
          <p:cNvSpPr/>
          <p:nvPr/>
        </p:nvSpPr>
        <p:spPr>
          <a:xfrm>
            <a:off x="640080" y="1051560"/>
            <a:ext cx="10881360" cy="5257800"/>
          </a:xfrm>
          <a:prstGeom prst="roundRect">
            <a:avLst>
              <a:gd name="adj" fmla="val 2087"/>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sp>
        <p:nvSpPr>
          <p:cNvPr id="5" name="reference list"/>
          <p:cNvSpPr txBox="1"/>
          <p:nvPr/>
        </p:nvSpPr>
        <p:spPr>
          <a:xfrm>
            <a:off x="822960" y="1143000"/>
            <a:ext cx="10515600" cy="5074920"/>
          </a:xfrm>
          <a:prstGeom prst="rect">
            <a:avLst/>
          </a:prstGeom>
          <a:noFill/>
          <a:ln/>
        </p:spPr>
        <p:txBody>
          <a:bodyPr wrap="square" rtlCol="0" anchor="t"/>
          <a:lstStyle/>
          <a:p>
            <a:pPr indent="0" marL="0">
              <a:spcAft>
                <a:spcPts val="400"/>
              </a:spcAft>
              <a:buNone/>
            </a:pPr>
            <a:r>
              <a:rPr lang="en-US" sz="1000" dirty="0">
                <a:solidFill>
                  <a:srgbClr val="0B1F33"/>
                </a:solidFill>
              </a:rPr>
              <a:t>Abbasi, A., Humeidi, M.N. &amp; Wang, Q. 2026, 'Nexa: Enabling secure, scalable, and decentralized management of electronic health records using threshold cryptography and public blockchains', </a:t>
            </a:r>
            <a:r>
              <a:rPr lang="en-US" sz="1000" i="1" dirty="0">
                <a:solidFill>
                  <a:srgbClr val="0B1F33"/>
                </a:solidFill>
              </a:rPr>
              <a:t>IEEE Access</a:t>
            </a:r>
            <a:r>
              <a:rPr lang="en-US" sz="1000" dirty="0">
                <a:solidFill>
                  <a:srgbClr val="0B1F33"/>
                </a:solidFill>
              </a:rPr>
              <a:t>, vol. 14, pp. 50791–50810, &lt;https://doi.org/10.1109/ACCESS.2026.3677499&gt;.</a:t>
            </a:r>
            <a:endParaRPr lang="en-US" sz="1000" dirty="0"/>
          </a:p>
          <a:p>
            <a:pPr indent="0" marL="0">
              <a:spcAft>
                <a:spcPts val="400"/>
              </a:spcAft>
              <a:buNone/>
            </a:pPr>
            <a:r>
              <a:rPr lang="en-US" sz="1000" dirty="0">
                <a:solidFill>
                  <a:srgbClr val="0B1F33"/>
                </a:solidFill>
              </a:rPr>
              <a:t>Al Amin, M., Altarawneh, A. &amp; Ray, I. 2023, 'Informed consent as patient driven policy for clinical diagnosis and treatment: A smart contract based approach', </a:t>
            </a:r>
            <a:r>
              <a:rPr lang="en-US" sz="1000" i="1" dirty="0">
                <a:solidFill>
                  <a:srgbClr val="0B1F33"/>
                </a:solidFill>
              </a:rPr>
              <a:t>Proceedings of the 20th International Conference on Security and Cryptography (SECRYPT 2023)</a:t>
            </a:r>
            <a:r>
              <a:rPr lang="en-US" sz="1000" dirty="0">
                <a:solidFill>
                  <a:srgbClr val="0B1F33"/>
                </a:solidFill>
              </a:rPr>
              <a:t>, pp. 159–170, SciTePress, &lt;https://doi.org/10.5220/0012090600003555&gt;.</a:t>
            </a:r>
            <a:endParaRPr lang="en-US" sz="1000" dirty="0"/>
          </a:p>
          <a:p>
            <a:pPr indent="0" marL="0">
              <a:spcAft>
                <a:spcPts val="400"/>
              </a:spcAft>
              <a:buNone/>
            </a:pPr>
            <a:r>
              <a:rPr lang="en-US" sz="1000" dirty="0">
                <a:solidFill>
                  <a:srgbClr val="0B1F33"/>
                </a:solidFill>
              </a:rPr>
              <a:t>Albalwy, F., Brass, A. &amp; Davies, A. 2021, 'A blockchain-based dynamic consent architecture to support clinical genomic data sharing (ConsentChain): Proof-of-concept study', </a:t>
            </a:r>
            <a:r>
              <a:rPr lang="en-US" sz="1000" i="1" dirty="0">
                <a:solidFill>
                  <a:srgbClr val="0B1F33"/>
                </a:solidFill>
              </a:rPr>
              <a:t>JMIR Medical Informatics</a:t>
            </a:r>
            <a:r>
              <a:rPr lang="en-US" sz="1000" dirty="0">
                <a:solidFill>
                  <a:srgbClr val="0B1F33"/>
                </a:solidFill>
              </a:rPr>
              <a:t>, vol. 9, no. 11, p. e27816, &lt;https://doi.org/10.2196/27816&gt;.</a:t>
            </a:r>
            <a:endParaRPr lang="en-US" sz="1000" dirty="0"/>
          </a:p>
          <a:p>
            <a:pPr indent="0" marL="0">
              <a:spcAft>
                <a:spcPts val="400"/>
              </a:spcAft>
              <a:buNone/>
            </a:pPr>
            <a:r>
              <a:rPr lang="en-US" sz="1000" dirty="0">
                <a:solidFill>
                  <a:srgbClr val="0B1F33"/>
                </a:solidFill>
              </a:rPr>
              <a:t>Bloemen, R., Logvinov, L. &amp; Evans, J. 2017, </a:t>
            </a:r>
            <a:r>
              <a:rPr lang="en-US" sz="1000" i="1" dirty="0">
                <a:solidFill>
                  <a:srgbClr val="0B1F33"/>
                </a:solidFill>
              </a:rPr>
              <a:t>EIP-712: Typed structured data hashing and signing</a:t>
            </a:r>
            <a:r>
              <a:rPr lang="en-US" sz="1000" dirty="0">
                <a:solidFill>
                  <a:srgbClr val="0B1F33"/>
                </a:solidFill>
              </a:rPr>
              <a:t>, Ethereum Improvement Proposals, no. 712, viewed 6 October 2026, &lt;https://eips.ethereum.org/EIPS/eip-712&gt;.</a:t>
            </a:r>
            <a:endParaRPr lang="en-US" sz="1000" dirty="0"/>
          </a:p>
          <a:p>
            <a:pPr indent="0" marL="0">
              <a:spcAft>
                <a:spcPts val="400"/>
              </a:spcAft>
              <a:buNone/>
            </a:pPr>
            <a:r>
              <a:rPr lang="en-US" sz="1000" dirty="0">
                <a:solidFill>
                  <a:srgbClr val="0B1F33"/>
                </a:solidFill>
              </a:rPr>
              <a:t>Cai, B. 2022, </a:t>
            </a:r>
            <a:r>
              <a:rPr lang="en-US" sz="1000" i="1" dirty="0">
                <a:solidFill>
                  <a:srgbClr val="0B1F33"/>
                </a:solidFill>
              </a:rPr>
              <a:t>ERC-5484: Consensual soulbound tokens</a:t>
            </a:r>
            <a:r>
              <a:rPr lang="en-US" sz="1000" dirty="0">
                <a:solidFill>
                  <a:srgbClr val="0B1F33"/>
                </a:solidFill>
              </a:rPr>
              <a:t>, Ethereum Improvement Proposals, no. 5484, viewed 6 October 2026, &lt;https://eips.ethereum.org/EIPS/eip-5484&gt;.</a:t>
            </a:r>
            <a:endParaRPr lang="en-US" sz="1000" dirty="0"/>
          </a:p>
          <a:p>
            <a:pPr indent="0" marL="0">
              <a:spcAft>
                <a:spcPts val="400"/>
              </a:spcAft>
              <a:buNone/>
            </a:pPr>
            <a:r>
              <a:rPr lang="en-US" sz="1000" dirty="0">
                <a:solidFill>
                  <a:srgbClr val="0B1F33"/>
                </a:solidFill>
              </a:rPr>
              <a:t>Ekholm, K., Augustinsson, A., Sundström, J., Johansen, C., Storgärds, M., Ljöstad, L. et al. 2025, 'Implementing electronic informed consent in rare disease genomics', </a:t>
            </a:r>
            <a:r>
              <a:rPr lang="en-US" sz="1000" i="1" dirty="0">
                <a:solidFill>
                  <a:srgbClr val="0B1F33"/>
                </a:solidFill>
              </a:rPr>
              <a:t>Scientific Reports</a:t>
            </a:r>
            <a:r>
              <a:rPr lang="en-US" sz="1000" dirty="0">
                <a:solidFill>
                  <a:srgbClr val="0B1F33"/>
                </a:solidFill>
              </a:rPr>
              <a:t>, vol. 15, no. 1, p. 44419, &lt;https://doi.org/10.1038/s41598-025-32740-1&gt;.</a:t>
            </a:r>
            <a:endParaRPr lang="en-US" sz="1000" dirty="0"/>
          </a:p>
          <a:p>
            <a:pPr indent="0" marL="0">
              <a:spcAft>
                <a:spcPts val="400"/>
              </a:spcAft>
              <a:buNone/>
            </a:pPr>
            <a:r>
              <a:rPr lang="en-US" sz="1000" dirty="0">
                <a:solidFill>
                  <a:srgbClr val="0B1F33"/>
                </a:solidFill>
              </a:rPr>
              <a:t>Eneh, A.U., Ahakonye, L.A.C., Lee, J.M. &amp; Kim, D.-S. 2026, 'Demo: EdgeConsent: On-chain attribute-based access control for data consent management', </a:t>
            </a:r>
            <a:r>
              <a:rPr lang="en-US" sz="1000" i="1" dirty="0">
                <a:solidFill>
                  <a:srgbClr val="0B1F33"/>
                </a:solidFill>
              </a:rPr>
              <a:t>2026 IEEE International Conference on Blockchain and Cryptocurrency (ICBC)</a:t>
            </a:r>
            <a:r>
              <a:rPr lang="en-US" sz="1000" dirty="0">
                <a:solidFill>
                  <a:srgbClr val="0B1F33"/>
                </a:solidFill>
              </a:rPr>
              <a:t>, pp. 1–2, &lt;https://doi.org/10.1109/ICBC67748.2026.11575534&gt;.</a:t>
            </a:r>
            <a:endParaRPr lang="en-US" sz="1000" dirty="0"/>
          </a:p>
          <a:p>
            <a:pPr indent="0" marL="0">
              <a:spcAft>
                <a:spcPts val="400"/>
              </a:spcAft>
              <a:buNone/>
            </a:pPr>
            <a:r>
              <a:rPr lang="en-US" sz="1000" dirty="0">
                <a:solidFill>
                  <a:srgbClr val="0B1F33"/>
                </a:solidFill>
              </a:rPr>
              <a:t>Entriken, W., Shirley, D., Evans, J. &amp; Sachs, N. 2018, </a:t>
            </a:r>
            <a:r>
              <a:rPr lang="en-US" sz="1000" i="1" dirty="0">
                <a:solidFill>
                  <a:srgbClr val="0B1F33"/>
                </a:solidFill>
              </a:rPr>
              <a:t>ERC-721: Non-fungible token standard</a:t>
            </a:r>
            <a:r>
              <a:rPr lang="en-US" sz="1000" dirty="0">
                <a:solidFill>
                  <a:srgbClr val="0B1F33"/>
                </a:solidFill>
              </a:rPr>
              <a:t>, Ethereum Improvement Proposals, no. 721, viewed 6 October 2026, &lt;https://eips.ethereum.org/EIPS/eip-721&gt;.</a:t>
            </a:r>
            <a:endParaRPr lang="en-US" sz="1000" dirty="0"/>
          </a:p>
          <a:p>
            <a:pPr indent="0" marL="0">
              <a:spcAft>
                <a:spcPts val="400"/>
              </a:spcAft>
              <a:buNone/>
            </a:pPr>
            <a:r>
              <a:rPr lang="en-US" sz="1000" dirty="0">
                <a:solidFill>
                  <a:srgbClr val="0B1F33"/>
                </a:solidFill>
              </a:rPr>
              <a:t>Ethereum Foundation 2026b, </a:t>
            </a:r>
            <a:r>
              <a:rPr lang="en-US" sz="1000" i="1" dirty="0">
                <a:solidFill>
                  <a:srgbClr val="0B1F33"/>
                </a:solidFill>
              </a:rPr>
              <a:t>Networks</a:t>
            </a:r>
            <a:r>
              <a:rPr lang="en-US" sz="1000" dirty="0">
                <a:solidFill>
                  <a:srgbClr val="0B1F33"/>
                </a:solidFill>
              </a:rPr>
              <a:t>, ethereum.org developer documentation, viewed 7 October 2026, &lt;https://ethereum.org/en/developers/docs/networks/&gt;.</a:t>
            </a:r>
            <a:endParaRPr lang="en-US" sz="1000" dirty="0"/>
          </a:p>
          <a:p>
            <a:pPr indent="0" marL="0">
              <a:spcAft>
                <a:spcPts val="400"/>
              </a:spcAft>
              <a:buNone/>
            </a:pPr>
            <a:r>
              <a:rPr lang="en-US" sz="1000" dirty="0">
                <a:solidFill>
                  <a:srgbClr val="0B1F33"/>
                </a:solidFill>
              </a:rPr>
              <a:t>Grassi, L., Khovratovich, D., Rechberger, C., Roy, A. &amp; Schofnegger, M. 2021, 'Poseidon: A new hash function for zero-knowledge proof systems', </a:t>
            </a:r>
            <a:r>
              <a:rPr lang="en-US" sz="1000" i="1" dirty="0">
                <a:solidFill>
                  <a:srgbClr val="0B1F33"/>
                </a:solidFill>
              </a:rPr>
              <a:t>Proceedings of the 30th USENIX Security Symposium</a:t>
            </a:r>
            <a:r>
              <a:rPr lang="en-US" sz="1000" dirty="0">
                <a:solidFill>
                  <a:srgbClr val="0B1F33"/>
                </a:solidFill>
              </a:rPr>
              <a:t>, pp. 519–535.</a:t>
            </a:r>
            <a:endParaRPr lang="en-US" sz="1000" dirty="0"/>
          </a:p>
          <a:p>
            <a:pPr indent="0" marL="0">
              <a:spcAft>
                <a:spcPts val="400"/>
              </a:spcAft>
              <a:buNone/>
            </a:pPr>
            <a:r>
              <a:rPr lang="en-US" sz="1000" dirty="0">
                <a:solidFill>
                  <a:srgbClr val="0B1F33"/>
                </a:solidFill>
              </a:rPr>
              <a:t>Groth, J. 2016, 'On the size of pairing-based non-interactive arguments', </a:t>
            </a:r>
            <a:r>
              <a:rPr lang="en-US" sz="1000" i="1" dirty="0">
                <a:solidFill>
                  <a:srgbClr val="0B1F33"/>
                </a:solidFill>
              </a:rPr>
              <a:t>Advances in Cryptology – EUROCRYPT 2016, LNCS</a:t>
            </a:r>
            <a:r>
              <a:rPr lang="en-US" sz="1000" dirty="0">
                <a:solidFill>
                  <a:srgbClr val="0B1F33"/>
                </a:solidFill>
              </a:rPr>
              <a:t>, vol. 9666, pp. 305–326, Springer, &lt;https://doi.org/10.1007/978-3-662-49896-5_11&gt;.</a:t>
            </a:r>
            <a:endParaRPr lang="en-US" sz="1000" dirty="0"/>
          </a:p>
          <a:p>
            <a:pPr indent="0" marL="0">
              <a:spcAft>
                <a:spcPts val="400"/>
              </a:spcAft>
              <a:buNone/>
            </a:pPr>
            <a:r>
              <a:rPr lang="en-US" sz="1000" dirty="0">
                <a:solidFill>
                  <a:srgbClr val="0B1F33"/>
                </a:solidFill>
              </a:rPr>
              <a:t>Hagström, J., Hägglund, M., Holmroos, M., Lähteenmäki, P. &amp; Hörhammer, I. 2024, 'Minors’ and guardian access to and use of a national patient portal: A retrospective comparative case study of Sweden and Finland', </a:t>
            </a:r>
            <a:r>
              <a:rPr lang="en-US" sz="1000" i="1" dirty="0">
                <a:solidFill>
                  <a:srgbClr val="0B1F33"/>
                </a:solidFill>
              </a:rPr>
              <a:t>International Journal of Medical Informatics</a:t>
            </a:r>
            <a:r>
              <a:rPr lang="en-US" sz="1000" dirty="0">
                <a:solidFill>
                  <a:srgbClr val="0B1F33"/>
                </a:solidFill>
              </a:rPr>
              <a:t>, vol. 187, p. 105465, &lt;https://doi.org/10.1016/j.ijmedinf.2024.105465&gt;.</a:t>
            </a:r>
            <a:endParaRPr lang="en-US" sz="10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REFERENCES (2/</a:t>
            </a:r>
            <a:r>
              <a:rPr lang="en-US" sz="3000" b="1" dirty="0">
                <a:solidFill>
                  <a:srgbClr val="0B1F33"/>
                </a:solidFill>
                <a:highlight>
                  <a:srgbClr val="FFFF00"/>
                </a:highlight>
                <a:latin typeface="Arial" pitchFamily="34" charset="0"/>
                <a:ea typeface="Arial" pitchFamily="34" charset="-122"/>
                <a:cs typeface="Arial" pitchFamily="34" charset="-120"/>
              </a:rPr>
              <a:t>3</a:t>
            </a:r>
            <a:r>
              <a:rPr lang="en-US" sz="3000" b="1" dirty="0">
                <a:solidFill>
                  <a:srgbClr val="FFFFFF"/>
                </a:solidFill>
                <a:latin typeface="Arial" pitchFamily="34" charset="0"/>
                <a:ea typeface="Arial" pitchFamily="34" charset="-122"/>
                <a:cs typeface="Arial" pitchFamily="34" charset="-120"/>
              </a:rPr>
              <a:t>)</a:t>
            </a:r>
            <a:endParaRPr lang="en-US" sz="3000" dirty="0"/>
          </a:p>
        </p:txBody>
      </p:sp>
      <p:sp>
        <p:nvSpPr>
          <p:cNvPr id="3" name="references panel"/>
          <p:cNvSpPr/>
          <p:nvPr/>
        </p:nvSpPr>
        <p:spPr>
          <a:xfrm>
            <a:off x="640080" y="1051560"/>
            <a:ext cx="10881360" cy="5257800"/>
          </a:xfrm>
          <a:prstGeom prst="roundRect">
            <a:avLst>
              <a:gd name="adj" fmla="val 2087"/>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sp>
        <p:nvSpPr>
          <p:cNvPr id="4" name="reference list"/>
          <p:cNvSpPr txBox="1"/>
          <p:nvPr/>
        </p:nvSpPr>
        <p:spPr>
          <a:xfrm>
            <a:off x="822960" y="1143000"/>
            <a:ext cx="10515600" cy="5074920"/>
          </a:xfrm>
          <a:prstGeom prst="rect">
            <a:avLst/>
          </a:prstGeom>
          <a:noFill/>
          <a:ln/>
        </p:spPr>
        <p:txBody>
          <a:bodyPr wrap="square" rtlCol="0" anchor="t"/>
          <a:lstStyle/>
          <a:p>
            <a:pPr indent="0" marL="0">
              <a:spcAft>
                <a:spcPts val="400"/>
              </a:spcAft>
              <a:buNone/>
            </a:pPr>
            <a:r>
              <a:rPr lang="en-US" sz="1000" dirty="0">
                <a:solidFill>
                  <a:srgbClr val="0B1F33"/>
                </a:solidFill>
              </a:rPr>
              <a:t>Hema, S., Reddy, G.B.S. &amp; Shalini, R. 2026, 'Patient centric cryptographic protection of cloud electronic health records', </a:t>
            </a:r>
            <a:r>
              <a:rPr lang="en-US" sz="1000" i="1" dirty="0">
                <a:solidFill>
                  <a:srgbClr val="0B1F33"/>
                </a:solidFill>
              </a:rPr>
              <a:t>2026 6th International Conference on Expert Clouds and Applications (ICOECA)</a:t>
            </a:r>
            <a:r>
              <a:rPr lang="en-US" sz="1000" dirty="0">
                <a:solidFill>
                  <a:srgbClr val="0B1F33"/>
                </a:solidFill>
              </a:rPr>
              <a:t>, pp. 293–300, &lt;https://doi.org/10.1109/ICOECA68095.2026.11485301&gt;.</a:t>
            </a:r>
            <a:endParaRPr lang="en-US" sz="1000" dirty="0"/>
          </a:p>
          <a:p>
            <a:pPr indent="0" marL="0">
              <a:spcAft>
                <a:spcPts val="400"/>
              </a:spcAft>
              <a:buNone/>
            </a:pPr>
            <a:r>
              <a:rPr lang="en-US" sz="1000" dirty="0">
                <a:solidFill>
                  <a:srgbClr val="0B1F33"/>
                </a:solidFill>
              </a:rPr>
              <a:t>Jaiman, V. &amp; Urovi, V. 2020, 'A consent model for blockchain-based health data sharing platforms', </a:t>
            </a:r>
            <a:r>
              <a:rPr lang="en-US" sz="1000" i="1" dirty="0">
                <a:solidFill>
                  <a:srgbClr val="0B1F33"/>
                </a:solidFill>
              </a:rPr>
              <a:t>IEEE Access</a:t>
            </a:r>
            <a:r>
              <a:rPr lang="en-US" sz="1000" dirty="0">
                <a:solidFill>
                  <a:srgbClr val="0B1F33"/>
                </a:solidFill>
              </a:rPr>
              <a:t>, vol. 8, pp. 143734–143745, &lt;https://doi.org/10.1109/ACCESS.2020.3014565&gt;.</a:t>
            </a:r>
            <a:endParaRPr lang="en-US" sz="1000" dirty="0"/>
          </a:p>
          <a:p>
            <a:pPr indent="0" marL="0">
              <a:spcAft>
                <a:spcPts val="400"/>
              </a:spcAft>
              <a:buNone/>
            </a:pPr>
            <a:r>
              <a:rPr lang="en-US" sz="1000" dirty="0">
                <a:solidFill>
                  <a:srgbClr val="0B1F33"/>
                </a:solidFill>
              </a:rPr>
              <a:t>Li, H., Li, D., Lv, G., Crespi, N., Minerva, R., Shao, W. et al. 2026a, 'Privacy-preserving fine-grained EMR access control for IoMT: A hybrid RBAC-smart contract scheme with attribute-based authorization', </a:t>
            </a:r>
            <a:r>
              <a:rPr lang="en-US" sz="1000" i="1" dirty="0">
                <a:solidFill>
                  <a:srgbClr val="0B1F33"/>
                </a:solidFill>
              </a:rPr>
              <a:t>IEEE Internet of Things Journal</a:t>
            </a:r>
            <a:r>
              <a:rPr lang="en-US" sz="1000" dirty="0">
                <a:solidFill>
                  <a:srgbClr val="0B1F33"/>
                </a:solidFill>
              </a:rPr>
              <a:t>, vol. 13, no. 2, pp. 2970–2987, &lt;https://doi.org/10.1109/JIOT.2025.3633504&gt;.</a:t>
            </a:r>
            <a:endParaRPr lang="en-US" sz="1000" dirty="0"/>
          </a:p>
          <a:p>
            <a:pPr indent="0" marL="0">
              <a:spcAft>
                <a:spcPts val="400"/>
              </a:spcAft>
              <a:buNone/>
            </a:pPr>
            <a:r>
              <a:rPr lang="en-US" sz="1000" dirty="0">
                <a:solidFill>
                  <a:srgbClr val="0B1F33"/>
                </a:solidFill>
              </a:rPr>
              <a:t>Madine, M.M., Salah, K., Jayaraman, R., Yaqoob, I., Al-Hammadi, Y., Ellahham, S. et al. 2020, 'Fully decentralized multi-party consent management for secure sharing of patient health records', </a:t>
            </a:r>
            <a:r>
              <a:rPr lang="en-US" sz="1000" i="1" dirty="0">
                <a:solidFill>
                  <a:srgbClr val="0B1F33"/>
                </a:solidFill>
              </a:rPr>
              <a:t>IEEE Access</a:t>
            </a:r>
            <a:r>
              <a:rPr lang="en-US" sz="1000" dirty="0">
                <a:solidFill>
                  <a:srgbClr val="0B1F33"/>
                </a:solidFill>
              </a:rPr>
              <a:t>, vol. 8, pp. 225777–225791, &lt;https://doi.org/10.1109/ACCESS.2020.3045048&gt;.</a:t>
            </a:r>
            <a:endParaRPr lang="en-US" sz="1000" dirty="0"/>
          </a:p>
          <a:p>
            <a:pPr indent="0" marL="0">
              <a:spcAft>
                <a:spcPts val="400"/>
              </a:spcAft>
              <a:buNone/>
            </a:pPr>
            <a:r>
              <a:rPr lang="en-US" sz="1000" dirty="0">
                <a:solidFill>
                  <a:srgbClr val="0B1F33"/>
                </a:solidFill>
              </a:rPr>
              <a:t>Maruthi, V. &amp; Singh, K. 2025, 'Enhancing security and privacy of IoMT data for unconscious patient with blockchain', </a:t>
            </a:r>
            <a:r>
              <a:rPr lang="en-US" sz="1000" i="1" dirty="0">
                <a:solidFill>
                  <a:srgbClr val="0B1F33"/>
                </a:solidFill>
              </a:rPr>
              <a:t>IEEE Transactions on Network and Service Management</a:t>
            </a:r>
            <a:r>
              <a:rPr lang="en-US" sz="1000" dirty="0">
                <a:solidFill>
                  <a:srgbClr val="0B1F33"/>
                </a:solidFill>
              </a:rPr>
              <a:t>, vol. 22, no. 6, pp. 5223–5238, &lt;https://doi.org/10.1109/TNSM.2025.3602117&gt;.</a:t>
            </a:r>
            <a:endParaRPr lang="en-US" sz="1000" dirty="0"/>
          </a:p>
          <a:p>
            <a:pPr indent="0" marL="0">
              <a:spcAft>
                <a:spcPts val="400"/>
              </a:spcAft>
              <a:buNone/>
            </a:pPr>
            <a:r>
              <a:rPr lang="en-US" sz="1000" dirty="0">
                <a:solidFill>
                  <a:srgbClr val="0B1F33"/>
                </a:solidFill>
              </a:rPr>
              <a:t>Mei, L., Huang, K., Li, X., Wang, H. &amp; Zhang, X. 2026, 'Efficient dual-revocation CP-ABE for secure and fine-grained data sharing in IoMT', </a:t>
            </a:r>
            <a:r>
              <a:rPr lang="en-US" sz="1000" i="1" dirty="0">
                <a:solidFill>
                  <a:srgbClr val="0B1F33"/>
                </a:solidFill>
              </a:rPr>
              <a:t>IEEE Internet of Things Journal</a:t>
            </a:r>
            <a:r>
              <a:rPr lang="en-US" sz="1000" dirty="0">
                <a:solidFill>
                  <a:srgbClr val="0B1F33"/>
                </a:solidFill>
              </a:rPr>
              <a:t>, vol. 13, no. 14, pp. 30933–30940, &lt;https://doi.org/10.1109/JIOT.2026.3685269&gt;.</a:t>
            </a:r>
            <a:endParaRPr lang="en-US" sz="1000" dirty="0"/>
          </a:p>
          <a:p>
            <a:pPr indent="0" marL="0">
              <a:spcAft>
                <a:spcPts val="400"/>
              </a:spcAft>
              <a:buNone/>
            </a:pPr>
            <a:r>
              <a:rPr lang="en-US" sz="1000" dirty="0">
                <a:solidFill>
                  <a:srgbClr val="0B1F33"/>
                </a:solidFill>
              </a:rPr>
              <a:t>Page, M.J., McKenzie, J.E., Bossuyt, P.M., Boutron, I., Hoffmann, T.C., Mulrow, C.D. et al. 2021, 'The PRISMA 2020 statement: An updated guideline for reporting systematic reviews', </a:t>
            </a:r>
            <a:r>
              <a:rPr lang="en-US" sz="1000" i="1" dirty="0">
                <a:solidFill>
                  <a:srgbClr val="0B1F33"/>
                </a:solidFill>
              </a:rPr>
              <a:t>BMJ</a:t>
            </a:r>
            <a:r>
              <a:rPr lang="en-US" sz="1000" dirty="0">
                <a:solidFill>
                  <a:srgbClr val="0B1F33"/>
                </a:solidFill>
              </a:rPr>
              <a:t>, vol. 372, p. n71, &lt;https://doi.org/10.1136/bmj.n71&gt;.</a:t>
            </a:r>
            <a:endParaRPr lang="en-US" sz="1000" dirty="0"/>
          </a:p>
          <a:p>
            <a:pPr indent="0" marL="0">
              <a:spcAft>
                <a:spcPts val="400"/>
              </a:spcAft>
              <a:buNone/>
            </a:pPr>
            <a:r>
              <a:rPr lang="en-US" sz="1000" dirty="0">
                <a:solidFill>
                  <a:srgbClr val="0B1F33"/>
                </a:solidFill>
              </a:rPr>
              <a:t>Panagoulias, D.P., Damian, A.I., Stamate, C., Toderian, V., Butusina, P., De Franceschi, A. et al. 2026, 'Blockchain-enabled trust and compliance for clinical AI: Decentralized governance without decentralized data storage', </a:t>
            </a:r>
            <a:r>
              <a:rPr lang="en-US" sz="1000" i="1" dirty="0">
                <a:solidFill>
                  <a:srgbClr val="0B1F33"/>
                </a:solidFill>
              </a:rPr>
              <a:t>Electronics</a:t>
            </a:r>
            <a:r>
              <a:rPr lang="en-US" sz="1000" dirty="0">
                <a:solidFill>
                  <a:srgbClr val="0B1F33"/>
                </a:solidFill>
              </a:rPr>
              <a:t>, vol. 15, no. 14, p. 3046, &lt;https://doi.org/10.3390/electronics15143046&gt;.</a:t>
            </a:r>
            <a:endParaRPr lang="en-US" sz="1000" dirty="0"/>
          </a:p>
          <a:p>
            <a:pPr indent="0" marL="0">
              <a:spcAft>
                <a:spcPts val="400"/>
              </a:spcAft>
              <a:buNone/>
            </a:pPr>
            <a:r>
              <a:rPr lang="en-US" sz="1000" dirty="0">
                <a:solidFill>
                  <a:srgbClr val="0B1F33"/>
                </a:solidFill>
              </a:rPr>
              <a:t>Phuyal, S., Bhandari, M., Bista, R. &amp; Ferreira, J.C. 2026a, 'A blockchain-based architecture for dynamic and auditable patient consent in secondary use of health data', </a:t>
            </a:r>
            <a:r>
              <a:rPr lang="en-US" sz="1000" i="1" dirty="0">
                <a:solidFill>
                  <a:srgbClr val="0B1F33"/>
                </a:solidFill>
              </a:rPr>
              <a:t>Blockchain in Healthcare Today</a:t>
            </a:r>
            <a:r>
              <a:rPr lang="en-US" sz="1000" dirty="0">
                <a:solidFill>
                  <a:srgbClr val="0B1F33"/>
                </a:solidFill>
              </a:rPr>
              <a:t>, vol. 9, no. 1, p. 491, &lt;https://doi.org/10.30953/bhty.v9.491&gt;.</a:t>
            </a:r>
            <a:endParaRPr lang="en-US" sz="1000" dirty="0"/>
          </a:p>
          <a:p>
            <a:pPr indent="0" marL="0">
              <a:spcAft>
                <a:spcPts val="400"/>
              </a:spcAft>
              <a:buNone/>
            </a:pPr>
            <a:r>
              <a:rPr lang="en-US" sz="1000" dirty="0">
                <a:solidFill>
                  <a:srgbClr val="0B1F33"/>
                </a:solidFill>
              </a:rPr>
              <a:t>Phuyal, S., Bhandari, M., Bista, R. &amp; Ferreira, J.C. 2026b, 'Enabling cross-institution health data sharing in Norway: EUDI wallets, on-chain consent, and openEHR↔FHIR translation', </a:t>
            </a:r>
            <a:r>
              <a:rPr lang="en-US" sz="1000" i="1" dirty="0">
                <a:solidFill>
                  <a:srgbClr val="0B1F33"/>
                </a:solidFill>
              </a:rPr>
              <a:t>IEEE Access</a:t>
            </a:r>
            <a:r>
              <a:rPr lang="en-US" sz="1000" dirty="0">
                <a:solidFill>
                  <a:srgbClr val="0B1F33"/>
                </a:solidFill>
              </a:rPr>
              <a:t>, vol. 14, pp. 20309–20327, &lt;https://doi.org/10.1109/ACCESS.2026.3661642&gt;.</a:t>
            </a:r>
            <a:endParaRPr lang="en-US" sz="1000" dirty="0"/>
          </a:p>
          <a:p>
            <a:pPr indent="0" marL="0">
              <a:spcAft>
                <a:spcPts val="400"/>
              </a:spcAft>
              <a:buNone/>
            </a:pPr>
            <a:r>
              <a:rPr lang="en-US" sz="1000" dirty="0">
                <a:solidFill>
                  <a:srgbClr val="0B1F33"/>
                </a:solidFill>
              </a:rPr>
              <a:t>Punia, A., Gulia, P., Gill, N.S., Kaushik, D., Alduaiji, N., Shukla, P.K. et al. 2025, 'An access control system for cloud-based healthcare systems driven by blockchain', </a:t>
            </a:r>
            <a:r>
              <a:rPr lang="en-US" sz="1000" i="1" dirty="0">
                <a:solidFill>
                  <a:srgbClr val="0B1F33"/>
                </a:solidFill>
              </a:rPr>
              <a:t>Journal of Cloud Computing</a:t>
            </a:r>
            <a:r>
              <a:rPr lang="en-US" sz="1000" dirty="0">
                <a:solidFill>
                  <a:srgbClr val="0B1F33"/>
                </a:solidFill>
              </a:rPr>
              <a:t>, vol. 14, no. 1, p. 78, &lt;https://doi.org/10.1186/s13677-025-00831-z&gt;.</a:t>
            </a:r>
            <a:endParaRPr lang="en-US" sz="1000" dirty="0"/>
          </a:p>
          <a:p>
            <a:pPr indent="0" marL="0">
              <a:spcAft>
                <a:spcPts val="400"/>
              </a:spcAft>
              <a:buNone/>
            </a:pPr>
            <a:r>
              <a:rPr lang="en-US" sz="1000" dirty="0">
                <a:solidFill>
                  <a:srgbClr val="0B1F33"/>
                </a:solidFill>
              </a:rPr>
              <a:t>Román-Martínez, I., Calvillo-Arbizu, J., Mayor-Gallego, V.J., Madinabeitia-Luque, G., Estepa-Alonso, A.J. &amp; Estepa-Alonso, R.M. 2023, 'Blockchain-based service-oriented architecture for consent management, access control, and auditing', </a:t>
            </a:r>
            <a:r>
              <a:rPr lang="en-US" sz="1000" i="1" dirty="0">
                <a:solidFill>
                  <a:srgbClr val="0B1F33"/>
                </a:solidFill>
              </a:rPr>
              <a:t>IEEE Access</a:t>
            </a:r>
            <a:r>
              <a:rPr lang="en-US" sz="1000" dirty="0">
                <a:solidFill>
                  <a:srgbClr val="0B1F33"/>
                </a:solidFill>
              </a:rPr>
              <a:t>, vol. 11, pp. 12727–12741, &lt;https://doi.org/10.1109/ACCESS.2023.3242605&gt;.</a:t>
            </a:r>
            <a:endParaRPr lang="en-US" sz="10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REFERENCES (3/</a:t>
            </a:r>
            <a:r>
              <a:rPr lang="en-US" sz="3000" b="1" dirty="0">
                <a:solidFill>
                  <a:srgbClr val="0B1F33"/>
                </a:solidFill>
                <a:highlight>
                  <a:srgbClr val="FFFF00"/>
                </a:highlight>
                <a:latin typeface="Arial" pitchFamily="34" charset="0"/>
                <a:ea typeface="Arial" pitchFamily="34" charset="-122"/>
                <a:cs typeface="Arial" pitchFamily="34" charset="-120"/>
              </a:rPr>
              <a:t>3</a:t>
            </a:r>
            <a:r>
              <a:rPr lang="en-US" sz="3000" b="1" dirty="0">
                <a:solidFill>
                  <a:srgbClr val="FFFFFF"/>
                </a:solidFill>
                <a:latin typeface="Arial" pitchFamily="34" charset="0"/>
                <a:ea typeface="Arial" pitchFamily="34" charset="-122"/>
                <a:cs typeface="Arial" pitchFamily="34" charset="-120"/>
              </a:rPr>
              <a:t>)</a:t>
            </a:r>
            <a:endParaRPr lang="en-US" sz="3000" dirty="0"/>
          </a:p>
        </p:txBody>
      </p:sp>
      <p:sp>
        <p:nvSpPr>
          <p:cNvPr id="3" name="references panel"/>
          <p:cNvSpPr/>
          <p:nvPr/>
        </p:nvSpPr>
        <p:spPr>
          <a:xfrm>
            <a:off x="640080" y="1051560"/>
            <a:ext cx="10881360" cy="5257800"/>
          </a:xfrm>
          <a:prstGeom prst="roundRect">
            <a:avLst>
              <a:gd name="adj" fmla="val 2087"/>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sp>
        <p:nvSpPr>
          <p:cNvPr id="4" name="reference list"/>
          <p:cNvSpPr txBox="1"/>
          <p:nvPr/>
        </p:nvSpPr>
        <p:spPr>
          <a:xfrm>
            <a:off x="822960" y="1143000"/>
            <a:ext cx="10515600" cy="5074920"/>
          </a:xfrm>
          <a:prstGeom prst="rect">
            <a:avLst/>
          </a:prstGeom>
          <a:noFill/>
          <a:ln/>
        </p:spPr>
        <p:txBody>
          <a:bodyPr wrap="square" rtlCol="0" anchor="t"/>
          <a:lstStyle/>
          <a:p>
            <a:pPr indent="0" marL="0">
              <a:spcAft>
                <a:spcPts val="400"/>
              </a:spcAft>
              <a:buNone/>
            </a:pPr>
            <a:r>
              <a:rPr lang="en-US" sz="1000" dirty="0">
                <a:solidFill>
                  <a:srgbClr val="0B1F33"/>
                </a:solidFill>
              </a:rPr>
              <a:t>SooHoo, S.L., Keller, M.S., Chen, Y., Hu, D., Huang, S.-C., Kuo, T.-T. et al. 2026, 'Development of the authentication and authorization processes for the iAgree portal, a platform for patient-controlled data sharing across health systems', </a:t>
            </a:r>
            <a:r>
              <a:rPr lang="en-US" sz="1000" i="1" dirty="0">
                <a:solidFill>
                  <a:srgbClr val="0B1F33"/>
                </a:solidFill>
              </a:rPr>
              <a:t>JAMIA Open</a:t>
            </a:r>
            <a:r>
              <a:rPr lang="en-US" sz="1000" dirty="0">
                <a:solidFill>
                  <a:srgbClr val="0B1F33"/>
                </a:solidFill>
              </a:rPr>
              <a:t>, vol. 9, no. 3, p. ooag111, &lt;https://doi.org/10.1093/jamiaopen/ooag111&gt;.</a:t>
            </a:r>
            <a:endParaRPr lang="en-US" sz="1000" dirty="0"/>
          </a:p>
          <a:p>
            <a:pPr indent="0" marL="0">
              <a:spcAft>
                <a:spcPts val="400"/>
              </a:spcAft>
              <a:buNone/>
            </a:pPr>
            <a:r>
              <a:rPr lang="en-US" sz="1000" dirty="0">
                <a:solidFill>
                  <a:srgbClr val="0B1F33"/>
                </a:solidFill>
              </a:rPr>
              <a:t>Tan, K.-L., Chi, C.-H. &amp; Lam, K.-Y. 2024, 'Secure and privacy-preserving sharing of personal health records with multi-party pre-authorization verification', </a:t>
            </a:r>
            <a:r>
              <a:rPr lang="en-US" sz="1000" i="1" dirty="0">
                <a:solidFill>
                  <a:srgbClr val="0B1F33"/>
                </a:solidFill>
              </a:rPr>
              <a:t>Wireless Networks</a:t>
            </a:r>
            <a:r>
              <a:rPr lang="en-US" sz="1000" dirty="0">
                <a:solidFill>
                  <a:srgbClr val="0B1F33"/>
                </a:solidFill>
              </a:rPr>
              <a:t>, vol. 30, no. 4, pp. 4773–4795, &lt;https://doi.org/10.1007/s11276-022-03114-6&gt;.</a:t>
            </a:r>
            <a:endParaRPr lang="en-US" sz="1000" dirty="0"/>
          </a:p>
          <a:p>
            <a:pPr indent="0" marL="0">
              <a:spcAft>
                <a:spcPts val="400"/>
              </a:spcAft>
              <a:buNone/>
            </a:pPr>
            <a:r>
              <a:rPr lang="en-US" sz="1000" dirty="0">
                <a:solidFill>
                  <a:srgbClr val="0B1F33"/>
                </a:solidFill>
              </a:rPr>
              <a:t>Tith, D., Lee, J.-S., Suzuki, H., Wijesundara, W.M.A.B., Taira, N., Obi, T. et al. 2020, 'Patient consent management by a purpose-based consent model for electronic health record based on blockchain technology', </a:t>
            </a:r>
            <a:r>
              <a:rPr lang="en-US" sz="1000" i="1" dirty="0">
                <a:solidFill>
                  <a:srgbClr val="0B1F33"/>
                </a:solidFill>
              </a:rPr>
              <a:t>Healthcare Informatics Research</a:t>
            </a:r>
            <a:r>
              <a:rPr lang="en-US" sz="1000" dirty="0">
                <a:solidFill>
                  <a:srgbClr val="0B1F33"/>
                </a:solidFill>
              </a:rPr>
              <a:t>, vol. 26, no. 4, pp. 265–273, &lt;https://doi.org/10.4258/hir.2020.26.4.265&gt;.</a:t>
            </a:r>
            <a:endParaRPr lang="en-US" sz="1000" dirty="0"/>
          </a:p>
          <a:p>
            <a:pPr indent="0" marL="0">
              <a:spcAft>
                <a:spcPts val="400"/>
              </a:spcAft>
              <a:buNone/>
            </a:pPr>
            <a:r>
              <a:rPr lang="en-US" sz="1000" dirty="0">
                <a:solidFill>
                  <a:srgbClr val="0B1F33"/>
                </a:solidFill>
              </a:rPr>
              <a:t>Tremper, G., Brenner, T., Ben Amor, M., Kussel, T. &amp; Lablans, M. 2026, 'Mainzelliste: Ten years of pseudonymization, record linkage, and informed consent management', </a:t>
            </a:r>
            <a:r>
              <a:rPr lang="en-US" sz="1000" i="1" dirty="0">
                <a:solidFill>
                  <a:srgbClr val="0B1F33"/>
                </a:solidFill>
              </a:rPr>
              <a:t>Patterns</a:t>
            </a:r>
            <a:r>
              <a:rPr lang="en-US" sz="1000" dirty="0">
                <a:solidFill>
                  <a:srgbClr val="0B1F33"/>
                </a:solidFill>
              </a:rPr>
              <a:t>, vol. 7, no. 1, p. 101432, &lt;https://doi.org/10.1016/j.patter.2025.101432&gt;.</a:t>
            </a:r>
            <a:endParaRPr lang="en-US" sz="1000" dirty="0"/>
          </a:p>
          <a:p>
            <a:pPr indent="0" marL="0">
              <a:spcAft>
                <a:spcPts val="400"/>
              </a:spcAft>
              <a:buNone/>
            </a:pPr>
            <a:r>
              <a:rPr lang="en-US" sz="1000" dirty="0">
                <a:solidFill>
                  <a:srgbClr val="0B1F33"/>
                </a:solidFill>
              </a:rPr>
              <a:t>Tseng, C.-H., Hsieh, Y.-H., Lin, H.-Y. &amp; Yuan, S.-M. 2025, 'EMR-Chain: Decentralized electronic medical record exchange system', </a:t>
            </a:r>
            <a:r>
              <a:rPr lang="en-US" sz="1000" i="1" dirty="0">
                <a:solidFill>
                  <a:srgbClr val="0B1F33"/>
                </a:solidFill>
              </a:rPr>
              <a:t>Technologies</a:t>
            </a:r>
            <a:r>
              <a:rPr lang="en-US" sz="1000" dirty="0">
                <a:solidFill>
                  <a:srgbClr val="0B1F33"/>
                </a:solidFill>
              </a:rPr>
              <a:t>, vol. 13, no. 10, p. 446, &lt;https://doi.org/10.3390/technologies13100446&gt;.</a:t>
            </a:r>
            <a:endParaRPr lang="en-US" sz="1000" dirty="0"/>
          </a:p>
          <a:p>
            <a:pPr indent="0" marL="0">
              <a:spcAft>
                <a:spcPts val="400"/>
              </a:spcAft>
              <a:buNone/>
            </a:pPr>
            <a:r>
              <a:rPr lang="en-US" sz="1000" dirty="0">
                <a:solidFill>
                  <a:srgbClr val="0B1F33"/>
                </a:solidFill>
              </a:rPr>
              <a:t>Walonoski, J., Kramer, M., Nichols, J., Quina, A., Moesel, C., Hall, D. et al. 2018, 'Synthea: An approach, method, and software mechanism for generating synthetic patients and the synthetic electronic health care record', </a:t>
            </a:r>
            <a:r>
              <a:rPr lang="en-US" sz="1000" i="1" dirty="0">
                <a:solidFill>
                  <a:srgbClr val="0B1F33"/>
                </a:solidFill>
              </a:rPr>
              <a:t>Journal of the American Medical Informatics Association</a:t>
            </a:r>
            <a:r>
              <a:rPr lang="en-US" sz="1000" dirty="0">
                <a:solidFill>
                  <a:srgbClr val="0B1F33"/>
                </a:solidFill>
              </a:rPr>
              <a:t>, vol. 25, no. 3, pp. 230–238, &lt;https://doi.org/10.1093/jamia/ocx079&gt;.</a:t>
            </a:r>
            <a:endParaRPr lang="en-US" sz="1000" dirty="0"/>
          </a:p>
          <a:p>
            <a:pPr indent="0" marL="0">
              <a:spcAft>
                <a:spcPts val="400"/>
              </a:spcAft>
              <a:buNone/>
            </a:pPr>
            <a:r>
              <a:rPr lang="en-US" sz="1000" dirty="0">
                <a:solidFill>
                  <a:srgbClr val="0B1F33"/>
                </a:solidFill>
              </a:rPr>
              <a:t>Wood, G. 2014, </a:t>
            </a:r>
            <a:r>
              <a:rPr lang="en-US" sz="1000" i="1" dirty="0">
                <a:solidFill>
                  <a:srgbClr val="0B1F33"/>
                </a:solidFill>
              </a:rPr>
              <a:t>Ethereum: A secure decentralised generalised transaction ledger</a:t>
            </a:r>
            <a:r>
              <a:rPr lang="en-US" sz="1000" dirty="0">
                <a:solidFill>
                  <a:srgbClr val="0B1F33"/>
                </a:solidFill>
              </a:rPr>
              <a:t>, Ethereum Project Yellow Paper.</a:t>
            </a:r>
            <a:endParaRPr lang="en-US" sz="1000" dirty="0"/>
          </a:p>
          <a:p>
            <a:pPr indent="0" marL="0">
              <a:spcAft>
                <a:spcPts val="400"/>
              </a:spcAft>
              <a:buNone/>
            </a:pPr>
            <a:r>
              <a:rPr lang="en-US" sz="1000" dirty="0">
                <a:solidFill>
                  <a:srgbClr val="0B1F33"/>
                </a:solidFill>
              </a:rPr>
              <a:t>Wu, Y., Liu, C., Sebald, L., Nguyen, P. &amp; Yesha, Y. 2022, 'Apply trust computing and privacy preserving smart contracts to manage, share, and analyze multi-site clinical trial data', </a:t>
            </a:r>
            <a:r>
              <a:rPr lang="en-US" sz="1000" i="1" dirty="0">
                <a:solidFill>
                  <a:srgbClr val="0B1F33"/>
                </a:solidFill>
              </a:rPr>
              <a:t>Proceedings of the International Conference on Deep Learning, Big Data and Blockchain (DBB 2022), LNNS</a:t>
            </a:r>
            <a:r>
              <a:rPr lang="en-US" sz="1000" dirty="0">
                <a:solidFill>
                  <a:srgbClr val="0B1F33"/>
                </a:solidFill>
              </a:rPr>
              <a:t>, vol. 541, pp. 3–14, Springer, &lt;https://doi.org/10.1007/978-3-031-16035-6_1&gt;.</a:t>
            </a:r>
            <a:endParaRPr lang="en-US" sz="1000" dirty="0"/>
          </a:p>
          <a:p>
            <a:pPr indent="0" marL="0">
              <a:spcAft>
                <a:spcPts val="400"/>
              </a:spcAft>
              <a:buNone/>
            </a:pPr>
            <a:r>
              <a:rPr lang="en-US" sz="1000" dirty="0">
                <a:solidFill>
                  <a:srgbClr val="0B1F33"/>
                </a:solidFill>
              </a:rPr>
              <a:t>Wu, Z. &amp; Zhang, D. 2025, 'HealthDID: An efficient and authorizable multi-party privacy-preserving EMR sharing system based on DID', </a:t>
            </a:r>
            <a:r>
              <a:rPr lang="en-US" sz="1000" i="1" dirty="0">
                <a:solidFill>
                  <a:srgbClr val="0B1F33"/>
                </a:solidFill>
              </a:rPr>
              <a:t>Computer Standards &amp; Interfaces</a:t>
            </a:r>
            <a:r>
              <a:rPr lang="en-US" sz="1000" dirty="0">
                <a:solidFill>
                  <a:srgbClr val="0B1F33"/>
                </a:solidFill>
              </a:rPr>
              <a:t>, vol. 93, p. 103967, &lt;https://doi.org/10.1016/j.csi.2024.103967&gt;.</a:t>
            </a:r>
            <a:endParaRPr lang="en-US" sz="1000" dirty="0"/>
          </a:p>
          <a:p>
            <a:pPr indent="0" marL="0">
              <a:spcAft>
                <a:spcPts val="400"/>
              </a:spcAft>
              <a:buNone/>
            </a:pPr>
            <a:r>
              <a:rPr lang="en-US" sz="1000" dirty="0">
                <a:solidFill>
                  <a:srgbClr val="0B1F33"/>
                </a:solidFill>
              </a:rPr>
              <a:t>Zhao, J. &amp; Su, Q. 2024, 'A threshold traceable delegation authorization scheme for data sharing in healthcare', </a:t>
            </a:r>
            <a:r>
              <a:rPr lang="en-US" sz="1000" i="1" dirty="0">
                <a:solidFill>
                  <a:srgbClr val="0B1F33"/>
                </a:solidFill>
              </a:rPr>
              <a:t>Computers &amp; Security</a:t>
            </a:r>
            <a:r>
              <a:rPr lang="en-US" sz="1000" dirty="0">
                <a:solidFill>
                  <a:srgbClr val="0B1F33"/>
                </a:solidFill>
              </a:rPr>
              <a:t>, vol. 139, p. 103686, &lt;https://doi.org/10.1016/j.cose.2023.103686&gt;.</a:t>
            </a:r>
            <a:endParaRPr lang="en-US" sz="10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hanks"/>
          <p:cNvSpPr txBox="1"/>
          <p:nvPr/>
        </p:nvSpPr>
        <p:spPr>
          <a:xfrm>
            <a:off x="2286000" y="2377440"/>
            <a:ext cx="7589520" cy="1280160"/>
          </a:xfrm>
          <a:prstGeom prst="rect">
            <a:avLst/>
          </a:prstGeom>
          <a:noFill/>
          <a:ln/>
        </p:spPr>
        <p:txBody>
          <a:bodyPr wrap="square" rtlCol="0" anchor="ctr"/>
          <a:lstStyle/>
          <a:p>
            <a:pPr algn="ctr" indent="0" marL="0">
              <a:buNone/>
            </a:pPr>
            <a:r>
              <a:rPr lang="en-US" sz="5400" b="1" dirty="0">
                <a:solidFill>
                  <a:srgbClr val="FFFFFF"/>
                </a:solidFill>
                <a:latin typeface="Arial" pitchFamily="34" charset="0"/>
                <a:ea typeface="Arial" pitchFamily="34" charset="-122"/>
                <a:cs typeface="Arial" pitchFamily="34" charset="-120"/>
              </a:rPr>
              <a:t>Thank You</a:t>
            </a:r>
            <a:endParaRPr lang="en-US" sz="5400" dirty="0"/>
          </a:p>
        </p:txBody>
      </p:sp>
      <p:sp>
        <p:nvSpPr>
          <p:cNvPr id="3" name="questions"/>
          <p:cNvSpPr txBox="1"/>
          <p:nvPr/>
        </p:nvSpPr>
        <p:spPr>
          <a:xfrm>
            <a:off x="2286000" y="3657600"/>
            <a:ext cx="7589520" cy="548640"/>
          </a:xfrm>
          <a:prstGeom prst="rect">
            <a:avLst/>
          </a:prstGeom>
          <a:noFill/>
          <a:ln/>
        </p:spPr>
        <p:txBody>
          <a:bodyPr wrap="square" rtlCol="0" anchor="ctr"/>
          <a:lstStyle/>
          <a:p>
            <a:pPr algn="ctr" indent="0" marL="0">
              <a:buNone/>
            </a:pPr>
            <a:r>
              <a:rPr lang="en-US" sz="2200" i="1" dirty="0">
                <a:solidFill>
                  <a:srgbClr val="1FB5D6"/>
                </a:solidFill>
              </a:rPr>
              <a:t>Questions and discussion</a:t>
            </a:r>
            <a:endParaRPr lang="en-US" sz="2200" dirty="0"/>
          </a:p>
        </p:txBody>
      </p:sp>
    </p:spTree>
  </p:cSld>
  <p:clrMapOvr>
    <a:masterClrMapping/>
  </p:clrMapOvr>
</p:sld>
</file>

<file path=ppt/theme/theme1.xml><?xml version="1.0" encoding="utf-8"?>
<a:theme xmlns:a="http://schemas.openxmlformats.org/drawingml/2006/main" name="Trust Consent">
  <a:themeElements>
    <a:clrScheme name="Trust Consent">
      <a:dk1>
        <a:srgbClr val="0B1F33"/>
      </a:dk1>
      <a:lt1>
        <a:srgbClr val="FFFFFF"/>
      </a:lt1>
      <a:dk2>
        <a:srgbClr val="0B2A4A"/>
      </a:dk2>
      <a:lt2>
        <a:srgbClr val="E8F4F8"/>
      </a:lt2>
      <a:accent1>
        <a:srgbClr val="1FB5D6"/>
      </a:accent1>
      <a:accent2>
        <a:srgbClr val="0B2A4A"/>
      </a:accent2>
      <a:accent3>
        <a:srgbClr val="2E7D32"/>
      </a:accent3>
      <a:accent4>
        <a:srgbClr val="F2A900"/>
      </a:accent4>
      <a:accent5>
        <a:srgbClr val="C62828"/>
      </a:accent5>
      <a:accent6>
        <a:srgbClr val="5B6B7A"/>
      </a:accent6>
      <a:hlink>
        <a:srgbClr val="1FB5D6"/>
      </a:hlink>
      <a:folHlink>
        <a:srgbClr val="5B6B7A"/>
      </a:folHlink>
    </a:clrScheme>
    <a:fontScheme name="Trust Consen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Trusted Authorisation Framework for Multi-Party Patient Consent in Healthcare Data Sharing</dc:title>
  <dc:subject>Candidature Reassessment</dc:subject>
  <dc:creator>Yasir Dhaifallah O Alyoubi</dc:creator>
  <cp:lastModifiedBy>Yasir Dhaifallah O Alyoubi</cp:lastModifiedBy>
  <cp:revision>1</cp:revision>
  <dcterms:created xsi:type="dcterms:W3CDTF">2026-10-12T13:42:39Z</dcterms:created>
  <dcterms:modified xsi:type="dcterms:W3CDTF">2026-10-12T13:42:39Z</dcterms:modified>
</cp:coreProperties>
</file>
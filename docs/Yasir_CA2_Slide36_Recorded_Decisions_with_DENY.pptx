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8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942778-0A59-C3A1-24F4-DFEFB294A139}">
          <p14:sldIdLst>
            <p14:sldId id="256"/>
            <p14:sldId id="257"/>
          </p14:sldIdLst>
        </p14:section>
        <p14:section name="The Problem" id="{96F6FDF1-3C7D-C7BC-4CB4-44E808112E56}">
          <p14:sldIdLst>
            <p14:sldId id="258"/>
            <p14:sldId id="259"/>
          </p14:sldIdLst>
        </p14:section>
        <p14:section name="Literature Review" id="{AA021B7A-1D89-DD7B-6EEA-931123681486}">
          <p14:sldIdLst>
            <p14:sldId id="415"/>
            <p14:sldId id="305"/>
            <p14:sldId id="306"/>
            <p14:sldId id="309"/>
            <p14:sldId id="414"/>
            <p14:sldId id="312"/>
            <p14:sldId id="313"/>
          </p14:sldIdLst>
        </p14:section>
        <p14:section name="Gap, Questions and Objectives" id="{ACB741F8-7344-E54E-3520-6B498F895C17}">
          <p14:sldIdLst>
            <p14:sldId id="262"/>
            <p14:sldId id="302"/>
            <p14:sldId id="263"/>
            <p14:sldId id="264"/>
            <p14:sldId id="410"/>
          </p14:sldIdLst>
        </p14:section>
        <p14:section name="The Framework" id="{4674AA55-3218-DA15-E297-A596FB9CE1A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</p14:sldIdLst>
        </p14:section>
        <p14:section name="Demo: The HALAH Prototype" id="{611104C4-4282-3E95-1D48-D00FE3F4F3EA}">
          <p14:sldIdLst>
            <p14:sldId id="413"/>
            <p14:sldId id="293"/>
            <p14:sldId id="294"/>
            <p14:sldId id="295"/>
            <p14:sldId id="296"/>
            <p14:sldId id="297"/>
          </p14:sldIdLst>
        </p14:section>
        <p14:section name="Validation and Evaluation" id="{38214D88-01AF-845D-D65A-C9A4BC2C85DF}">
          <p14:sldIdLst>
            <p14:sldId id="280"/>
            <p14:sldId id="281"/>
            <p14:sldId id="282"/>
          </p14:sldIdLst>
        </p14:section>
        <p14:section name="Contribution" id="{EB11EB97-8735-E73D-577A-B2BB861A5EB4}">
          <p14:sldIdLst>
            <p14:sldId id="284"/>
            <p14:sldId id="416"/>
            <p14:sldId id="412"/>
            <p14:sldId id="411"/>
          </p14:sldIdLst>
        </p14:section>
        <p14:section name="Research Plan" id="{1F39EFB8-3D03-66B5-86E7-768BA670C7C2}">
          <p14:sldIdLst>
            <p14:sldId id="289"/>
            <p14:sldId id="290"/>
            <p14:sldId id="291"/>
          </p14:sldIdLst>
        </p14:section>
        <p14:section name="References" id="{40AA16BB-153B-BBB1-53BB-0EB6F21829F3}">
          <p14:sldIdLst>
            <p14:sldId id="300"/>
          </p14:sldIdLst>
        </p14:section>
        <p14:section name="Thank You" id="{FD86D728-DF0D-F8E8-99EB-24A0646BFE0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8954" autoAdjust="0"/>
  </p:normalViewPr>
  <p:slideViewPr>
    <p:cSldViewPr snapToGrid="0" snapToObjects="1">
      <p:cViewPr varScale="1">
        <p:scale>
          <a:sx n="65" d="100"/>
          <a:sy n="65" d="100"/>
        </p:scale>
        <p:origin x="112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8467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7" Type="http://schemas.openxmlformats.org/officeDocument/2006/relationships/slide" Target="slides/slide1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table comes directly from the audit ledger. The first five rows are real requests from 24 September. All five passed every check, so access was granted.</a:t>
            </a:r>
          </a:p>
          <a:p>
            <a:r>
              <a:t>After the revocation of 24 September, the request was refused, but at that time the refusal was not logged. The revocation is public on Sepolia.</a:t>
            </a:r>
          </a:p>
          <a:p>
            <a:r>
              <a:t>The prototype now logs these refusals too. The last row is from a local test run on 11 October: the patient revoked the consent, the next request failed VA and VL, so the decision was DENY, and the refusal was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376-6A6A-8841-B7E4-1F35C224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F4E9-2DE5-D7EB-95B3-8E54FB2A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98B3-BB9B-B6BB-C9C0-D35E1106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13-ADD8-45A6-BA20-4C35DCF1F406}" type="datetimeFigureOut">
              <a:rPr lang="en-AU" smtClean="0"/>
              <a:t>15/10/2026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D850-541D-4EC8-9030-D6F5264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99EC-2238-CBDA-CDDF-7C2C97A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ADC8E-7141-4E37-96AF-0E1D097C06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6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THE RECORDED DECISIONS</a:t>
            </a:r>
            <a:endParaRPr lang="en-US" sz="3000" dirty="0"/>
          </a:p>
        </p:txBody>
      </p:sp>
      <p:graphicFrame>
        <p:nvGraphicFramePr>
          <p:cNvPr id="27" name="ledg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560686"/>
              </p:ext>
            </p:extLst>
          </p:nvPr>
        </p:nvGraphicFramePr>
        <p:xfrm>
          <a:off x="548640" y="1234440"/>
          <a:ext cx="11064240" cy="3520440"/>
        </p:xfrm>
        <a:graphic>
          <a:graphicData uri="http://schemas.openxmlformats.org/drawingml/2006/table">
            <a:tbl>
              <a:tblPr/>
              <a:tblGrid>
                <a:gridCol w="198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360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Date and time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Consent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VI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24 Sep 09:51:36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f050c29a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ALLOW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GRANTED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24 Sep 09:51:39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f050c29a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ALLOW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GRANTED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24 Sep 11:02:52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04da25f5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ALLOW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GRANTED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24 Sep 11:04:16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04da25f5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ALLOW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GRANTED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24 Sep 11:04:26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04da25f5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ALLOW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GRANTED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1F33"/>
                          </a:solidFill>
                        </a:rPr>
                        <a:t>11 Oct 17:42:39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B1F33"/>
                          </a:solidFill>
                        </a:rPr>
                        <a:t>18ab9b62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</a:rPr>
                        <a:t>FAIL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7D32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</a:rPr>
                        <a:t>FAIL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</a:rPr>
                        <a:t>DENY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62828"/>
                          </a:solidFill>
                        </a:rPr>
                        <a:t>DENIED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FB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bullets"/>
          <p:cNvSpPr txBox="1"/>
          <p:nvPr/>
        </p:nvSpPr>
        <p:spPr>
          <a:xfrm>
            <a:off x="640080" y="490488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Allowed requests (24 September): all five checks PASS, decision ALLOW, access GRANTED (Scenario 3).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After revocation (Scenario 5) the request was refused before any decision was logged. The revocation is public on Sepolia, block 11,771,307.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prototype now logs these refusals: in a local test run on 11 October 2026, the request after revocation fails VA and VL, so the decision is DENY.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 Consent">
  <a:themeElements>
    <a:clrScheme name="Trust Consent">
      <a:dk1>
        <a:srgbClr val="0B1F33"/>
      </a:dk1>
      <a:lt1>
        <a:srgbClr val="FFFFFF"/>
      </a:lt1>
      <a:dk2>
        <a:srgbClr val="0B2A4A"/>
      </a:dk2>
      <a:lt2>
        <a:srgbClr val="E8F4F8"/>
      </a:lt2>
      <a:accent1>
        <a:srgbClr val="1FB5D6"/>
      </a:accent1>
      <a:accent2>
        <a:srgbClr val="0B2A4A"/>
      </a:accent2>
      <a:accent3>
        <a:srgbClr val="2E7D32"/>
      </a:accent3>
      <a:accent4>
        <a:srgbClr val="F2A900"/>
      </a:accent4>
      <a:accent5>
        <a:srgbClr val="C62828"/>
      </a:accent5>
      <a:accent6>
        <a:srgbClr val="5B6B7A"/>
      </a:accent6>
      <a:hlink>
        <a:srgbClr val="1FB5D6"/>
      </a:hlink>
      <a:folHlink>
        <a:srgbClr val="5B6B7A"/>
      </a:folHlink>
    </a:clrScheme>
    <a:fontScheme name="Trust Cons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11265</Words>
  <Application>Microsoft Office PowerPoint</Application>
  <PresentationFormat>Widescreen</PresentationFormat>
  <Paragraphs>1049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Arial</vt:lpstr>
      <vt:lpstr>Calibri</vt:lpstr>
      <vt:lpstr>Cambria</vt:lpstr>
      <vt:lpstr>Trust Consent</vt:lpstr>
      <vt:lpstr>PowerPoint Presentation</vt:lpstr>
      <vt:lpstr>OUTLINE</vt:lpstr>
      <vt:lpstr>THE RESEARCH PROBLEM</vt:lpstr>
      <vt:lpstr>THE KEY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MAIN RESEARCH QUESTION</vt:lpstr>
      <vt:lpstr>SUB-RESEARCH QUESTIONS</vt:lpstr>
      <vt:lpstr>RESEARCH OBJECTIVES</vt:lpstr>
      <vt:lpstr>Research Methodology </vt:lpstr>
      <vt:lpstr>FRAMEWORK ARCHITECTURE</vt:lpstr>
      <vt:lpstr>THE DECISION RULE</vt:lpstr>
      <vt:lpstr>Proposed solution for objective 1</vt:lpstr>
      <vt:lpstr>RO1: Trust-Centric Consent Model</vt:lpstr>
      <vt:lpstr>Proposed solution for objective 2</vt:lpstr>
      <vt:lpstr>RO2: Decentralised Identity and Authority Trust</vt:lpstr>
      <vt:lpstr>Proposed solution for objective 3</vt:lpstr>
      <vt:lpstr>RO3: Trustworthy Multi-Party Authorisation</vt:lpstr>
      <vt:lpstr>Proposed solution for objective 4</vt:lpstr>
      <vt:lpstr>RO4: Policy- and Context-Aware Access Control</vt:lpstr>
      <vt:lpstr>Proposed solution for objective 5</vt:lpstr>
      <vt:lpstr>Proposed solution for objective 6</vt:lpstr>
      <vt:lpstr>THE HALAH PROTOTYPE</vt:lpstr>
      <vt:lpstr>DEMO 1: THE PATIENT CREATES THE CONSENT</vt:lpstr>
      <vt:lpstr>DEMO 2: THE FIRST GUARDIAN APPROVES</vt:lpstr>
      <vt:lpstr>DEMO 3: SECOND APPROVAL, TOKEN MINTED</vt:lpstr>
      <vt:lpstr>DEMO 4: THE DOCTOR IS ALLOWED</vt:lpstr>
      <vt:lpstr>DEMO 5: ONLY THE AUTHORISED RECORDS</vt:lpstr>
      <vt:lpstr>VALIDATION</vt:lpstr>
      <vt:lpstr>VALIDATION: THE RECORDED DECISIONS</vt:lpstr>
      <vt:lpstr>VALIDATION: ATTACK SCENARIOS</vt:lpstr>
      <vt:lpstr>Traditional EHR vs. HALAH Framework</vt:lpstr>
      <vt:lpstr>DATASET OVERVIEW</vt:lpstr>
      <vt:lpstr>RESEARCH CONTRIBUTIONS </vt:lpstr>
      <vt:lpstr>RESEARCH CONTRIBUTIONS </vt:lpstr>
      <vt:lpstr>RESEARCH PUBLICATIONS</vt:lpstr>
      <vt:lpstr>RESEARCH PLAN</vt:lpstr>
      <vt:lpstr>RESEARCH TIMELINE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Trusted Authorisation Framework for Multi-Party Patient Consent in Healthcare Data Sharing</dc:title>
  <dc:subject>Candidature Reassessment</dc:subject>
  <dc:creator>Yasir Dhaifallah O Alyoubi</dc:creator>
  <cp:lastModifiedBy>Yasir Dhaifallah O Alyoubi</cp:lastModifiedBy>
  <cp:revision>30</cp:revision>
  <dcterms:created xsi:type="dcterms:W3CDTF">2026-10-12T13:53:28Z</dcterms:created>
  <dcterms:modified xsi:type="dcterms:W3CDTF">2026-10-15T06:50:59Z</dcterms:modified>
</cp:coreProperties>
</file>
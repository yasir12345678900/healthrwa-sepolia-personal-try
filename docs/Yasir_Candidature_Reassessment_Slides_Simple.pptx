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1319b506-ce22-05c0-e921-f3ffd2c02cff}">
          <p14:sldIdLst>
            <p14:sldId id="256"/>
            <p14:sldId id="257"/>
          </p14:sldIdLst>
        </p14:section>
        <p14:section name="The Problem" id="{53871281-ca58-51e6-2e99-9a547ad2397e}">
          <p14:sldIdLst>
            <p14:sldId id="258"/>
            <p14:sldId id="259"/>
          </p14:sldIdLst>
        </p14:section>
        <p14:section name="Literature Review" id="{5230b07a-0b6a-2891-7c6a-a5b2cca1c734}">
          <p14:sldIdLst>
            <p14:sldId id="260"/>
            <p14:sldId id="261"/>
          </p14:sldIdLst>
        </p14:section>
        <p14:section name="Gap, Questions and Objectives" id="{d6c51628-e67e-48e0-94ff-dd8d169b3b7e}">
          <p14:sldIdLst>
            <p14:sldId id="262"/>
            <p14:sldId id="263"/>
            <p14:sldId id="264"/>
            <p14:sldId id="265"/>
          </p14:sldIdLst>
        </p14:section>
        <p14:section name="The Framework" id="{8ca580e5-1aa7-3ef0-b553-00242254a19a}">
          <p14:sldIdLst>
            <p14:sldId id="266"/>
            <p14:sldId id="267"/>
            <p14:sldId id="268"/>
            <p14:sldId id="269"/>
            <p14:sldId id="270"/>
            <p14:sldId id="271"/>
            <p14:sldId id="272"/>
            <p14:sldId id="273"/>
            <p14:sldId id="274"/>
            <p14:sldId id="275"/>
            <p14:sldId id="276"/>
            <p14:sldId id="277"/>
            <p14:sldId id="278"/>
            <p14:sldId id="279"/>
          </p14:sldIdLst>
        </p14:section>
        <p14:section name="Validation and Evaluation" id="{8853b3c9-b327-7433-3403-95b32028eda1}">
          <p14:sldIdLst>
            <p14:sldId id="280"/>
            <p14:sldId id="281"/>
            <p14:sldId id="282"/>
            <p14:sldId id="283"/>
          </p14:sldIdLst>
        </p14:section>
        <p14:section name="Contribution" id="{f942535c-7742-57ec-5407-19d62d03269f}">
          <p14:sldIdLst>
            <p14:sldId id="284"/>
            <p14:sldId id="285"/>
            <p14:sldId id="286"/>
            <p14:sldId id="287"/>
          </p14:sldIdLst>
        </p14:section>
        <p14:section name="What is Still Open" id="{fbaa6dd6-1312-2ce3-c6c5-8dc2dce5df6d}">
          <p14:sldIdLst>
            <p14:sldId id="288"/>
          </p14:sldIdLst>
        </p14:section>
        <p14:section name="Research Plan" id="{904b138d-44c8-62c5-cb03-3e1d493457dc}">
          <p14:sldIdLst>
            <p14:sldId id="289"/>
            <p14:sldId id="290"/>
            <p14:sldId id="291"/>
          </p14:sldIdLst>
        </p14:section>
        <p14:section name="Demo: The HALAH Prototype" id="{b11af13c-7195-e65a-59e6-3783d28397ce}">
          <p14:sldIdLst>
            <p14:sldId id="292"/>
            <p14:sldId id="293"/>
            <p14:sldId id="294"/>
            <p14:sldId id="295"/>
            <p14:sldId id="296"/>
            <p14:sldId id="297"/>
            <p14:sldId id="298"/>
            <p14:sldId id="299"/>
          </p14:sldIdLst>
        </p14:section>
        <p14:section name="References" id="{13d83455-822b-b11e-8a32-3f535deecaf3}">
          <p14:sldIdLst>
            <p14:sldId id="300"/>
          </p14:sldIdLst>
        </p14:section>
        <p14:section name="Thank You" id="{920fb24f-6845-dc89-ce22-62833dede8dc}">
          <p14:sldIdLst>
            <p14:sldId id="30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My name is Yasir Alyoubi. My principal supervisor is Professor Farookh Hussain, and my co-supervisor is Dr Firas Al-Doghman. This is my candidature reassessment. My research asks one simple question. When a doctor asks for a patient's data, how can the system be sure that this request is really allowed? Not just who is asking. Also, did the patient and the guardians agree? Is the request inside the agreed data? And is the consent still valid today? I will show you the problem, what the literature says, my framework, the working prototype, and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for my talk. First, the problem. Then the literature review. Then the gap, the questions and the objectives. After that, the framework and its six steps. Then the validation and the evaluation results, and the significance of the research. Then I talk about what is still open and the research plan. At the end, I show a short demonstration of the prototype through the slides, with real prototype screens from 24 September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start with the problem. Health data is very sensitive. One decision to share it can involve many people: the patient, one or more guardians, the doctor, and the hospital. Today, consent is usually just a record that is saved somewhere. That record says permission was given. But it does not check anything when someone asks for the data. A valid login does not mean you have the right to see this patient's data. And even with approval, a request can ask for more data than the patient allowed, or it can come after the consent has expired or has been cancelled. So the real problem is this: there is no single trusted decision that checks all of these things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my answer in simple words. Consent should not be a record that we store. It should be an object that the system checks every time. I call this object C, and it has six parts. I is identity: who is involved. A is authorisation: which guardians must approve, and how many. P is policy: the purpose and the data that was agreed. T is time: when the consent starts and when it ends. L is lifecycle: the state of the consent, from creation to expiry or revocation. And E is evidence: the signatures, the token, and whether the consent was cancelled. At every request, the system checks all six parts. If one part fails, the answer is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I did the literature review. I followed the PRISMA 2020 method. Before I started screening, I wrote a protocol that fixed the questions, the databases, one search query, the criteria and the quality items. I searched seven databases. They gave me 9,256 records. After I removed duplicates, 6,039 were screened by title. 3,129 went on to the abstract stage, and 2,541 of them were screened. Then 1,800 full texts were put in order of priority. At the reporting checkpoint, 64 full texts were assessed and 47 met the criteria. From these, I analysed 25 primary studies in depth: 23 core studies and 2 supporting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sums up the review. The good news: every requirement is covered by some study. The problem: no study puts all the conditions together in one access decision. I call this the conjunction gap. And no study proves or tests the whole decision. Formal proofs exist in only 4 of the 25 studies, and they cover only a small part. I call this the assurance gap. These two gaps are what my research fills.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research gap of my study. 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this is my main research question. How can a trust-oriented computing framework establish and enforce trustworthy multi-party consent for decentralised healthcare data sharing, under identity, authority and policy constraints? It has six sub-questions. How to model consent. How to check identity and authority. How several guardians can approve together. How purpose and scope are checked. How time and lifecycle are checked. And how to prove and test the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question has one objective. RO1 to RO4 are done, and they are validated with the prototype. RO5 is time and lifecycle. It is in progress. The validity window and the revocation already work. The suspended state, the transition check, consent changes, delegation and guardian changes are for the next stage. RO6 is partly completed. The automated tests, the attack tests and the measurements are done. The formal proofs are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steps I followed. Step one, I identified the problem. Step two, I did the systematic review. Step three, from the review I found the research gap and wrote the questions. Step four, I set the objectives. Step five, I designed the framework: the architecture, the consent object, and four algorithms. Step six, I built the prototype on the Sepolia test network. Step seven, I evaluated it with live scenarios, measurements and attack tests. The formal proofs are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framework uses the Model, View, Controller pattern. The View is the four screens: patient, guardian, doctor and auditor. The View never decides who gets access. Every security decision is made in the Controller. It checks identity and authority, collects the approvals, enforces the policy, and records the evidence. The Model keeps the consent, the approvals and the evidence. Health data is released only when the Controller says ALLOW.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framework. Access is allowed only when five checks are all true. VI is identity and authority validity. VA is collective authorisation validity: all the required guardians approved. VP is policy and contextual compliance: the purpose and the requested data are inside what was agreed. VT is temporal validity: the request is inside the validity time. VL is consent lifecycle validity: the consent is in a valid state, for example active and not revoked. If any one check fails, the answer is DENY. In the prototype, a Groth16 zero-knowledge proof must also pass before any data is released. And every access decision, allowed or denied, is written to the off-chain audit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The patient creates the consent. The patient chooses the doctor, the guardians, the data modules, and the start and end time. The system checks every field. For example, an empty data scope or a bad guardian DID is rejected. Then the system creates the consent object, assigns a consent identifier, persists the record, and records the creation event in the audit layer. Nothing goes to the blockchain yet. This is RO1, and it is done.
Algorithm 1: Trust-Aware Consent Creation
The box on the right of the slide is Algorithm 1 from my report. The next slide shows the same algorithm as a flowchart.
Inputs and Output
Require: Patient identity I_p, authorised doctor D, guardian set G, purpose P_u, data scope S_C, validity interval T
Explanation: The algorithm starts by receiving the information required to create a consent.
Ensure: Consent object C or rejection
Explanation: The algorithm either creates a valid consent or rejects the request.
Step-by-Step Explanation
Line 1: Validate I_p
First, we verify the patient’s identity.
Line 2: if I_p is invalid then
We check whether the patient’s identity is invalid.
Line 3: return REJECT
If the identity is invalid, the request is rejected.
Line 4: end if
This completes the identity validation check.
Line 5: Validate authorised doctor D, guardian set G, purpose P_u and data scope S_C
Next, we check the other parts of the consent: that the doctor is authorised, that the guardians are valid, that the purpose of using the patient’s data is valid, and that the data scope, which is the patient data that can be accessed, is valid.
Line 6: if any of them is invalid then
We check whether any of these four parts is invalid.
Line 7: return REJECT
If one of them is invalid, the request is rejected, and no consent is created.
Line 8: end if
This completes these four checks.
Line 9: Validate validity interval T = (t_s, t_e)
We check the consent’s start and end times.
Line 10: if t_e ≤ t_s then
We check whether the end time is earlier than or equal to the start time.
Line 11: return REJECT
If the time interval is invalid, the request is rejected.
Line 12: end if
This completes the time validation check.
Line 13: Define authorisation requirement A
We define the conditions that must be met later before access can be granted, such as the required guardian approvals.
Line 14: Generate consent identifier id_C
We generate a unique identifier for the consent.
Line 15: Construct C = (I, A, P, T, L, E)
We build the consent object from its six parts: identity I, authorisation requirements A, policy P (the purpose and the data scope), time T (the validity interval), the lifecycle state L, which starts as pending until the guardians approve, and evidence E.
Line 16: Persist C
We store the newly created consent object.
Line 17: Record consent creation evidence
We record evidence of the consent creation for auditing and traceability.
Line 18: return C
Finally, we return the successfully created consent object.
Note: In the prototype, the purpose is fixed to Treatment. The consent is saved off-chain in the state PENDING_SIGNATURE, and nothing goes on the blockchain until all guardians approve.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Algorithm 1 as a flowchart. It shows the main steps in a simpler form: it collects all the inputs, runs one combined validity check with a Yes and a No branch, and then creates and stores the consent and records an audit entry.
First, the patient starts to create a consent, and the system collects the patient DID.
Second, the patient specifies the authorised doctor and the guardian DIDs.
Third, the patient specifies the purpose and the data scope, and then the consent validity, which is the start and end time.
Fourth, the system checks if the consent specification is valid. If it is not valid, the No branch rejects the consent request.
Finally, if it is valid, the system creates the trust-aware consent object, generates the consent identifier, stores the consent record, and records the creation in the audit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two. I separate two questions: who are you, and what may you do? The DID answers the first question. The credential answers the second. A valid identity alone never gives access. In the HALAH implementation, the guardian workflow uses a selected guardian DID and invokes VC verification before adding the guardian's signature to the consent. Full DID resolution is planned for the next stage. So RO2 is done at the design level and in the prototype.
Algorithm 2: DID and VC Identity and Authority Verification
The box on the right of the slide is Algorithm 2 from my report. The next slide shows the same algorithm as a flowchart.
Inputs and Output
Require: Participant u, consent object C
Explanation: The algorithm starts by receiving the participant who wants to take part and the consent object that defines the required authority.
Ensure: Verification result V_I(u)
Explanation: The algorithm returns VALID if both the participant’s identity and authority are verified, or INVALID otherwise. This result is not an access decision by itself; the later stages use it.
Step-by-Step Explanation
Line 1: Resolve DID of u
First, we resolve the participant’s DID to find their DID document.
Line 2: if DID resolution fails then
We check whether the DID could not be resolved.
Line 3: return INVALID
If the DID cannot be resolved, the participant is invalid and the process stops.
Line 4: end if
This completes the DID resolution check.
Line 5: Verify DID document and associated identity information
Next, we check that the DID document is well formed and that its keys can be trusted.
Line 6: if DID verification fails then
We check whether the DID verification failed.
Line 7: return INVALID
If it failed, we return INVALID.
Line 8: end if
This completes the DID verification check.
Line 9: Retrieve VC associated with u
Then, we retrieve the participant’s verifiable credential, which holds claims such as their role.
Line 10: if VC retrieval fails then
We check whether a credential could not be found.
Line 11: return INVALID
Without a credential, the participant cannot show any authority, so we return INVALID.
Line 12: end if
This completes the credential retrieval check.
Line 13: Verify VC signature, issuer, subject, and validity
We check that the signature is correct, the issuer is trusted, the credential belongs to this participant, and it is still within its valid time period.
Line 14: if VC verification fails then
We check whether any of these four checks failed.
Line 15: return INVALID
If any check fails, we return INVALID.
Line 16: end if
This completes the credential verification check.
Line 17: Extract role and authority claims from VC
Next, we read the role and authority claims from the credential, for example doctor or guardian.
Line 18: if claims do not satisfy the authority requirements of C then
We compare these claims with the authorisation requirements of consent C.
Line 19: return INVALID
If the claims do not meet the requirements, we return INVALID. A valid identity alone never gives access.
Line 20: end if
This completes the authority check.
Line 21: Record identity and authority verification evidence
We record the evidence, such as the DID, the credential, the issuer, the claims and the time, for auditing.
Line 22: return VALID
Finally, we return VALID, which means the participant’s identity and authority are both verified.
Note: Today, the guardian workflow verifies the guardian’s credential before adding the signature to the consent. Full DID resolution, in lines 1 to 8,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Algorithm 2 as a flowchart. It follows the same order as the algorithm, but it joins the two DID checks into one “DID Valid?” decision and the two credential checks into one “VC Valid?” decision. Every “No” leads to Reject Participant, which is the INVALID result.
First, a participant asks to take part, and the system resolves the participant’s DID.
Second, it checks if the DID is valid. If not, the participant is rejected.
Third, it retrieves the verifiable credential and checks if it is valid. If not, the participant is rejected.
Fourth, it extracts the role and authority claims, and checks if they match what the consent requires. If not, the participant is rejected.
Finally, if all checks pass, it records the verification evidence and returns the verified identity and authority.
This flowchart is the target design. Full DID resolution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three. No single person can approve alone. Each guardian signs with an EIP-712 signature. The system recovers the signer and checks that this person is one of the listed guardians. Outsiders and duplicates are not counted, and a signature replayed from another consent fails the identity check. In the demo, two of two guardians must sign. When both have signed, a soulbound token is minted on the Sepolia test network in the background. One honest note: in the prototype, the guardian keys are derived from the guardian DIDs. Wallet-held keys are for the next stage. RO3 is done.
Algorithm 3: Threshold-Based Multi-Party Authorisation
The box on the right of the slide is Algorithm 3 from my report. The next slide shows the same algorithm as a flowchart.
Inputs and Output
Require: Consent object C, participant approval a, threshold N
Explanation: The algorithm receives the consent, one approval from a participant, and the number of valid approvals that are needed.
Ensure: Authorisation result
Explanation: The algorithm returns ALLOW, PENDING or DENY for this approval.
Step-by-Step Explanation
Line 1: Retrieve required participant set G
First, we retrieve the set G of participants who are allowed to approve this consent, for example the guardians.
Line 2: Verify identity and authority of participant submitting a
Next, we verify the identity and authority of the person who submitted the approval. This can use the DID and VC check from Algorithm 2.
Line 3: if verification fails then
We check whether this verification has failed.
Line 4: Record invalid approval
If it failed, we record the approval as invalid.
Line 5: return DENY
The approval is denied, and it does not count towards the threshold.
Line 6: end if
This completes the identity and authority check.
Line 7: if participant is not in G then
Then, we check whether the participant is outside the required participant set G.
Line 8: Record unauthorised approval attempt
If so, we record it as an unauthorised approval attempt.
Line 9: return DENY
The approval is denied, because only members of G can be counted.
Line 10: end if
This completes the membership check.
Line 11: if participant has already approved C then
Next, we check whether this participant has already approved this consent.
Line 12: Record duplicate approval
If so, we record a duplicate approval.
Line 13: return DENY
The extra approval is denied, so one person cannot be counted twice.
Line 14: end if
This completes the duplicate check.
Line 15: Record valid approval a
The approval has passed all three checks, so we record it as valid.
Line 16: Update valid approval set A_v
We add this approval to the set of valid approvals, A_v.
Line 17: if |A_v| ≥ N then
We check whether the number of valid approvals has reached the threshold N.
Line 18: Activate authorisation
If it has, we activate the authorisation, so the consent can move on to the access-control stage.
Line 19: Generate activation or token evidence
We generate evidence of the activation, such as a consent token. It can include the consent identifier, the threshold N and the approving participants.
Line 20: Record threshold-satisfied event
We record in the audit log that the threshold was met, for traceability.
Line 21: return ALLOW
The result is ALLOW.
Line 22: else
Otherwise, the threshold has not been reached yet.
Line 23: Keep consent in pending state
We keep the consent in the pending state, so access is not activated.
Line 24: Record threshold-pending event
We record a threshold-pending event, so we can see later how many approvals are still needed.
Line 25: return PENDING
The result is PENDING, and the consent waits for more approvals.
Line 26: end if
Finally, this completes the threshold check, and the algorithm ends.
Note: In the prototype, N is the number of guardians, so the demo needs 2-of-2. When the threshold is met, a local token is recorded, and the mint is anchored on the Sepolia test network in the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Algorithm 3 as a flowchart. It shows the same three checks in the same order, with the identity check drawn as the prototype runs it: the DID, the credential and the EIP-712 signature. It joins the three rejections into one box, and it shows activation last, after the token and the evidence.
First, the consent needs approval from several people, so the system identifies the required participants.
Second, a participant submits an approval, and the system verifies the DID, the credential and the EIP-712 signature.
Third, it asks three questions: is the participant verified, is the participant in the guardian set G, and has the participant already approved? If the participant is not verified, is not in G, or has already approved, the approval is rejected.
Fourth, a valid approval is recorded, and the approval count goes up.
Fifth, the system checks if the threshold is met. If not, the consent stays pending.
Finally, if it is met, the system issues the consent token or activation record, records the approval evidence, and activates the authorisation.
The dashed box shows that the mint on the Sepolia test network runs in the background, so it does not delay the guardians or the doctor. In the prototype, the consent becomes active once its start time is reached.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four. A valid identity and all the approvals are still not enough. The requested data must be inside the agreed data scope. For example, if the consent allows Observation and Medication, a request that also asks for Procedure is denied. The purpose, the time and the lifecycle state are checked in the same decision. And a Groth16 proof must pass before any data is released. RO4 is done.
Algorithm 4: Policy-Aware Access Decision
The box on the right of the slide is Algorithm 4 from my report. The next slide shows the same algorithm as a flowchart.
Inputs and Output
Require: Consent object C, access request R, requesting participant u
Explanation: The algorithm starts with the patient’s consent, the request for data, and the participant who makes the request, for example a doctor.
Ensure: Access decision
Explanation: The algorithm returns one decision, ALLOW or DENY, and it records that decision.
Step-by-Step Explanation
Line 1: Verify DID and VC of u
First, we verify the decentralised identifier and the verifiable credential of the requester. This uses the identity check from Algorithm 2.
Line 2: if identity or authority verification fails then
We check whether the identity or authority check for the requester has failed.
Line 3: Record denied decision
If it has failed, we record the denied decision for auditing.
Line 4: return DENY
The request is denied and stops here.
Line 5: end if
This completes the identity and authority check.
Line 6: Evaluate consent state
Next, we check the current state of the consent. It must be active, within its validity period, and not revoked.
Line 7: if consent is not active then
We check whether the consent is not active.
Line 8: Record denied decision
If the consent is not active, we record the denied decision.
Line 9: return DENY
The request is denied.
Line 10: end if
This completes the consent state check.
Line 11: Verify multi-party authorisation
Then, we verify the multi-party authorisation. We compare the number of valid approvals, |A_v|, with the required threshold N.
Line 12: if threshold is not satisfied then
We check whether there are fewer valid approvals than the threshold.
Line 13: Record denied decision
If there are not enough approvals, we record the denied decision.
Line 14: return DENY
The request is denied.
Line 15: end if
This completes the multi-party authorisation check.
Line 16: Evaluate requested purpose
Next, we compare the purpose of the request with the purpose the patient allowed in the consent.
Line 17: if purpose is incompatible with consent then
We check whether the purpose does not match the consent. This stops valid credentials from being used for a purpose the patient did not allow.
Line 18: Record denied decision
If the purpose does not match, we record the denied decision.
Line 19: return DENY
The request is denied.
Line 20: end if
This completes the purpose check.
Line 21: Evaluate requested data scope
We look at the data the request asks for, S_R, and the data the patient allowed, S_C.
Line 22: if S_R ⊈ S_C then
We check whether the request asks for data outside the allowed scope. For example, the request may ask for Procedure records when only Observation and Medication records are allowed.
Line 23: Record denied decision
If the request goes outside the scope, we record the denied decision.
Line 24: return DENY
The request is denied.
Line 25: end if
This completes the data scope check.
Line 26: Generate or verify access evidence
All checks have passed, so we generate or verify the evidence for this decision. In the flowchart on the next slide, this is the Groth16 proof, which must be valid before any data is released.
Line 27: Retrieve authorised healthcare data
Then, we retrieve only the data inside the authorised scope, and nothing more.
Line 28: Record granted decision
We record the granted decision, so an auditor can see why and when access was given.
Line 29: return ALLOW
Finally, we return ALLOW, and the requester receives the authorised data.
Note: In the prototype, the request uses the consent’s own purpose, so the purpose check confirms that it is a supported healthcare purpose. The requested scope must also be non-empty.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Algorithm 4 as a flowchart. It has the same checks, but it checks the consent state before the identity, and it shows the validity interval check and the Groth16 zero-knowledge proof as separate steps before access is granted.
First, the doctor requests patient data, and the system retrieves the consent object.
Second, it checks if the consent is ACTIVE.
Third, it verifies the identity and authority of the requester.
Fourth, it verifies the multi-party authorisation: is the threshold satisfied?
Fifth, it checks the requested purpose, and then the requested data scope, which must be inside the consent.
Sixth, it checks that the request is within the validity interval.
Seventh, it generates and verifies the Groth16 proof.
If any answer is No, access is denied, and the denied access is recorded.
Finally, if every answer is Yes, data access is granted, and the granted access is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five. Time and lifecycle. What works now: the validity window is stored on-chain and checked at every request. Revocation works end to end, with an on-chain transaction. And the consent moves through a clear lifecycle. In the design, L is the lifecycle state: created, pending, active, suspended, revoked or expired, and VL checks a valid state and a valid transition. What is still open: the suspended state, the lifecycle transition check, consent modification, delegation, changes to the guardian set, and a formal lifecycle model. That is why RO5 is in progress.
Algorithm 5: Temporal and Lifecycle Validation
The box on the right of the slide is Algorithm 5 from my report. The next slide shows the same algorithm as a flowchart.
Inputs and Output
Require: Consent object C, current time t, requested transition q
Explanation: The algorithm receives the consent, the time of the request, and the requested transition, which is the change of lifecycle state being asked for.
Ensure: Lifecycle validity result
Explanation: The algorithm returns VALID if the consent can still be used at this time and in its current state, or INVALID if it cannot.
Step-by-Step Explanation
Line 1: Retrieve consent start time t_s and expiry time t_e
First, we read the start time and the expiry time stored in the consent.
Line 2: if t &lt; t_s or t &gt; t_e then
We check whether the current time is before the start time or after the expiry time.
Line 3: Record temporal invalidity
If so, we record that the consent is not valid at this time.
Line 4: return INVALID
The request is outside the validity interval, so we return INVALID.
Line 5: end if
This completes the time check.
Line 6: Retrieve current lifecycle state of C
Next, we read the current lifecycle state of the consent, for example pending, active or revoked.
Line 7: if current state does not permit the requested operation then
We check whether this state does not allow the requested operation. For example, data access is allowed only when the consent is active.
Line 8: Record invalid lifecycle state
If the state does not allow it, we record that the consent is in an invalid lifecycle state.
Line 9: return INVALID
The operation is not allowed in this state, so we return INVALID.
Line 10: end if
This completes the lifecycle state check.
Line 11: Check whether C has been revoked
Then, we check whether the consent has been revoked.
Line 12: if C is revoked then
We test whether the consent is revoked.
Line 13: Record revocation-based invalidity
If it is revoked, we record that the consent is invalid because of revocation.
Line 14: return INVALID
A revoked consent must not be used, even if it was approved before, so we return INVALID.
Line 15: end if
This completes the revocation check.
Line 16: Validate requested transition q
Next, we check the requested transition, which is the change from the current state to a new state.
Line 17: if transition q is not permitted then
We check whether this change of state is not allowed.
Line 18: Record unauthorised state transition
If it is not allowed, we record an unauthorised state transition.
Line 19: return INVALID
The transition is rejected, so we return INVALID.
Line 20: end if
This completes the transition check.
Line 21: Record valid temporal and lifecycle evidence
All checks have passed, so we record evidence that the consent is valid in time and in state.
Line 22: return VALID
Finally, we return VALID, so the system can continue with the remaining authorisation conditions.
Note: Today, the prototype checks the validity interval, the lifecycle state and revocation for every access request. The transition check in lines 16 to 20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Algorithm 5 as a flowchart. It shows the same four checks in the same order. The transition check is drawn in dashed lines because it is planned for the next stage. INVALID leads to Deny Access, and VALID leads to Continue Authorisation Evaluation.
First, an access request comes in, and the system retrieves the consent state.
Second, it checks the consent validity interval: is the request within the valid time?
Third, it checks the lifecycle state: does the state permit access?
Fourth, it checks the revocation status: has the consent been revoked?
Fifth, in the next stage, it will also check if the requested state transition is permitted.
If any check fails, access is denied, and a lifecycle-based denial is recorded.
Finally, if all checks pass, the system records the temporal and lifecycle evidence and continues with the rest of the authorisation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six. Prove it and test it. The testing part is done. 46 automated tests pass, including thirteen attack scenarios. I also measured the cost and the timing. The proof part is the next stage: formal proofs or model checking of the security properties, and a bigger evaluation under load. That is why RO6 is partly completed.
Algorithm 6: Formal and Empirical Authorisation Validation
The box on the right of the slide is Algorithm 6 from my report. The next slide shows the same algorithm as a flowchart.
Inputs and Output
Require: Framework implementation F, validation scenarios S, security properties P
Explanation: The algorithm starts with the implemented framework, the set of test scenarios, and the security properties that the framework should satisfy.
Ensure: Validation evidence and evaluation results
Explanation: The algorithm produces evidence and results that show whether the framework really meets these properties.
Step-by-Step Explanation
Line 1: Define expected authorisation properties P
First, we define the security properties that the framework must satisfy, such as soundness, correct denial, threshold correctness, policy and scope compliance, and audit consistency. These are the criteria we use to judge the results.
Line 2: Define valid scenarios S_valid
We define legitimate requests that should be allowed, with valid identities, active consent and enough approvals. They show that the framework does not wrongly reject valid requests.
Line 3: Define negative scenarios S_negative
We define requests that break at least one condition, such as expired or revoked consent, too few approvals, or data outside the consent scope. They test that access is refused when a requirement is not met.
Line 4: Define adversarial scenarios S_adv
We define deliberate attempts to bypass the controls, such as replayed (reused) or duplicate approvals, forged credentials, or use of a revoked consent. They test whether the framework can resist attacks.
Line 5: for each scenario s in S_valid ∪ S_negative ∪ S_adv do
Next, we combine the three groups into one set and repeat the following steps for every scenario. Each scenario has an expected decision.
Line 6: Execute s using framework F
We run the scenario on the implemented framework. The framework performs its consent, identity, approval, policy, scope and lifecycle checks.
Line 7: Collect authorisation decision
We record the decision that the framework actually made, for example ALLOW, DENY or PENDING.
Line 8: Collect identity, approval, policy, and audit evidence
We also collect the evidence behind the decision, such as identity and credential results, approvals, policy checks, timestamps and audit records.
Line 9: Compare observed decision with expected decision
We compare the actual decision with the expected decision. The scenario passes only when the two are the same.
Line 10: Record pass or failure result
We record whether the scenario passed or failed. For a failure, we keep the details and the evidence for later analysis.
Line 11: end for
This completes the loop over all scenarios.
Line 12: Evaluate soundness property
Then, we check soundness. Every request that was allowed must really satisfy all the authorisation conditions.
Line 13: Evaluate denial property
We check that every invalid or unauthorised request was refused. This is most important for the negative and adversarial scenarios.
Line 14: Evaluate threshold correctness
We check that consent is authorised only when the number of verified approvals reaches the required threshold. Duplicate or unauthorised approvals must not be counted.
Line 15: Evaluate policy-scope enforcement
We check that every allowed request matches the consent’s purpose and stays inside the permitted data scope. This must be true even when the requester has a valid identity and credential.
Line 16: Evaluate audit consistency
We check that the audit records match the decisions that were actually made. Important evidence, such as the requester, the consent, the result and the time, must not be missing.
Line 17: Analyse failures and limitations
We study each failed scenario to find its cause, for example an implementation defect, a policy error, an integration problem or a limit of the test environment. The aim is to explain failures openly, not to hide them.
Line 18: return Validation results
Finally, we return the combined validation results, which bring together the scenario results and the result for each security property.
Note: Today, the testing part is done with 46 automated tests, including 13 attack scenarios. Formal proofs or model checking of these properties, and a larger evaluation under load, are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Algorithm 6 as a flowchart. It has the same main steps, but it also adds a practical performance check, and a loop that refines the framework and tests again when a property fails. The algorithm itself does not include these two parts.
First, I define the security and authorisation properties, and the threat and failure conditions.
Second, I implement the validation scenarios.
Third, I run the valid consent workflow, and also the negative and adversarial scenarios.
Fourth, I collect the decision and audit evidence.
Fifth, I evaluate the security properties, compare the observed decisions with the expected ones, and evaluate the functional and practical performance.
Then I ask: are the properties satisfied? If yes, I document the evidence and the limitations.
Finally, if not, I identify the security or functional failure, refine the framework, and run the validation scenarios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Validation asks one question: does the system do what it should? I used five kinds of evidence. Valid scenarios: the correct requests were allowed. Negative scenarios: the cancelled consent was refused. Attack scenarios: twelve of thirteen attacks are refused. Automated tests: all 46 pass. And an independent check: the state on the chain matches the local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taken directly from the audit ledger of 24 September. Each row is one real request, with the five checks and the decision. All five rows are allowed requests: all five checks PASS, the decision is ALLOW, access is GRANTED, and the proof mode is Groth16. The request after revocation is not in this table, because on 24 September a consent that was no longer active was refused before any decision was logged. The prototype now logs these refusals too. The revocation is public on Sepolia in block 11,771,307.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also attacked my own system thirteen times, A1 to A13. This table shows each attack, the part of the consent it targets, and the outcome before and after the hardening on the first of October. Before the hardening, three attacks got through when the service functions were called directly: A1, a signer outside the guardian set; A3, the same guardian signing twice; and A5, an empty data scope. The interface already refused them, but the service layer did not. The hardening moved these checks into the service layer, so now they are refused on every path. After the hardening, eleven of the first twelve are refused. A13, an invalid or forged credential, came with the credential check on 11 October 2026 and is refused too; before that change, a requester without a valid credential was accepted. A11 rewrites the result of a recorded audit event, so the event's digest changes. Nothing in the prototype checks that digest yet, so it is marked as differs: neutral, not refused. It is on the list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asks: how fast is it, and what does it cost? The five checks of the decision rule take about 6 microseconds, and checking one credential about 6 milliseconds. Checking one guardian signature takes about 11 milliseconds. The Groth16 proof is the slowest part of an access request: about 1.4 seconds to generate and about half a second to verify. Anchoring on Sepolia takes about 11.5 seconds. The mint runs in the background, so the guardians and the doctor do not wait for it; only a revoke makes the patient wait for the block. For token 1, the revoke used about one sixth of the gas of its mint. The timings were measured on the first of October 2026; the decision rule and the credential check on the eleventh of October, after the credential check was added. The gas and the anchoring times come from the five Sepolia transactions in September. These numbers are indicative.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difference in plain words. Today, a central identity provider logs you in, and a fixed permission decides. Consent is a saved record. In HALAH, every person has a DID, and identity is separate from authority. Consent is an object that is checked at every request. All the guardians must approve. Five checks and a proof run before any data is released. Time and revocation are checked every time. And every access decision, allowed or denied, is logged off-chain with the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important points about the data. I use synthetic patient records from the Synthea 1K sample, in its CSV export. The prototype loads a subset of patients with their observations, conditions, medications and procedures. No real patient data is involved. The medical records stay off-chain. The token on Sepolia stores pseudonymous addresses, a hash of the purpose, the validity window and a revocation flag. Data is released only on ALLOW, and only inside the agreed scope. One known limitation: the plain-text purpose is visible in the mint transaction. I will fix this in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does this research matter? On the scientific side, it shifts the focus from whether consent has merely been recorded to whether a data-access decision was made under sufficient and independently verifiable trust conditions. It brings identity, authority, multi-party approval, policy, time and lifecycle together in one decision at every request. Every listed guardian must sign, so no single party can authorise alone. And the work rests on a PRISMA 2020 review of 25 studies and a working prototype on Sepolia, measured and tested with thirteen attack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social side, patients and their guardians decide together who can see the patient's data. No single person can approve access alone. Every access decision can be explained to an auditor: which check passed and which failed. Medical records never go on the blockchain; only consent evidence is shared. And this can support trust between hospitals and other independent parties.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clear about what is not done yet, because this is what the next stage is for. First, full DID resolution, proof that the person controls the DID they enter, and wallet-held guardian keys. Today the credentials come from one demo issuer, and the guardian keys are derived from the guardian DIDs. Second, the plain-text purpose in the mint transaction. Third, the rest of the lifecycle: the suspended state, the lifecycle transition check, consent modification, delegation and guardian changes. Fourth, the formal proofs. The properties are tested, but not yet proved with a formal model. Fifth, the one open attack, A11: nothing checks the audit digest yet. Sixth, a bigger evaluation under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lists my research publications. Two papers were published in 2025 at the IEEE International Conference on E-Business Engineering, ICEBE. Three more papers have been accepted in 2026: one at ICEBE 2026 and two at BWCCA 2026. Paper 4, on trusted multi-party consent governance, comes from this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plan. Chapters one to six are done. The conference paper was submitted to BWCCA 2026 in September. The SLR journal paper is in progress. Next comes the complete evaluation, the paper on formal assurance and lifecycle trust, and the conclusion. The final assessment is planned for January 2027, and the thesis submission for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plan as a timeline. What is completed, what is in progress, and the planned steps up to the thesis submission in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demo. I show it through real screens from the prototype. All the prototype screens were taken on 24 September 2026.
HALAH means History Access Link for Authorised Healthcare. The boxes show its parts: four screens, a smart contract on the Sepolia test network, guardian signatures, an access proof, synthetic data, and an audit ledger.
The demo follows the steps of a consent.
First, the patient creates the consent. This is RO1.
Second, the two guardians sign it, and the consent goes on Sepolia. This is RO2 and RO3.
Third, the doctor asks for the data. The system runs five checks, and then it shows only the agreed records. This is RO2 and RO4.
Fourth, the auditor follows the recorded steps in the ledger. This is part of RO6.
The last demo slide is about revocation, RO5. It is optional. I show it if there is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patient screen. The picture is shown in two parts.
First, the patient chooses a patient DID from the list. Then the patient types the doctor's DID, did:hospital:001.
Second, the patient adds two guardians: parent A and parent B.
Third, the patient chooses the data that the doctor may see. Here there are four modules: Observation, Medication, Condition and Procedure. The patient also sets the end date, 31 October 2026.
Fourth, the patient presses the Initial Consent button. The system saves the consent off-chain and gives it an ID, 04da25f5.
At the bottom, you can see the state: PENDING_SIGNATURE, with zero of two signatures. Nothing is on the blockchain yet. The consent goes on the chain only after both guardians sign.
This is RO1: the consent is an object that the system can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guardian screen.
First, the guardian types the consent ID, 04da25f5. The system finds the consent and shows the patient's DID.
Second, the guardian chooses a guardian DID from the list, did:parent:A.
Third, the guardian presses the Sign button and signs with an EIP-712 signature. The system checks the signature and finds the address that signed it. You can see the start of that address in the green box.
Fourth, the counter shows one of two. One signature is not enough, so the consent is still waiting for the second guardian.
This is RO2, because the system checks which guardian key signed, and RO3, because more than one guardian must agree.
Possible question: The button says via VC. Was a credential checked? Not in this September version. It checked only the form of the DID. The credential check was added on 11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guardian screen two times.
First, on the left, the second guardian, did:parent:B, signs. The system checks the signature. Now the counter shows two of two, so both guardians have agreed.
Second, the system records the soulbound token for this consent. Then it mints the token on the Sepolia test network in the background, so the guardian does not have to wait.
Third, on the right is the same screen, a little later. It says: already anchored on Sepolia, token number 2.
Now the consent is approved by both guardians, and it is on the blockchain. This completes RO3.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doctor screen, for the same consent, 04da25f5. The picture is shown in two parts.
First, the doctor opens the consent. At the top, you can see the patient, the consent ID and the purpose, which is Treatment.
Second, the screen shows the five checks: VI, VA, VP, VT and VL. VI checks the identity data in the consent: the doctor's and the patient's DIDs, and the guardian signatures. VA checks that both guardians signed and that the token exists. VP is the policy check, as in my report: the purpose must be allowed, and the doctor may ask only for data inside the agreed scope. On this screen, the purpose is checked. The scope is checked when the doctor asks for the data, on the next slide. VT checks the dates.
Third, all five checks show PASS, so ALLOW is also PASS. The consent state is ACTIVE.
The Groth16 proof is not on this screen. It is checked when the doctor asks for the data, and the ledger records that it was verified.
This is RO2 and RO4 together, in one decision.
Possible question: Is this the same code as today? No. These screens are from the 24 September version. Since 11 October 2026, the doctor also types their own DID and must have a valid credential. VL is now the lifecycle check from my report: the consent must be ACTIVE. On this screen, VL was an earlier, different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doctor screen after the decision.
First, after ALLOW, the doctor asks for the four modules. The system checks the Groth16 proof and the requested scope. You cannot see this on the screen, but the ledger rows for these requests say: proof verified, scope valid. Then the screen shows Authorised Medical Records. There is one table for each data module.
Second, on the left, you can see Observation and Medication. On the right, you can see Condition and Procedure. All the rows belong to the same patient.
Third, these are exactly the four modules in the consent. The doctor gets nothing outside them. If the doctor asked for a module outside the consent, the request would be refused. Attack test A4 checks this.
The records are synthetic Synthea data, so no real patient is shown. This is RO4.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auditor screen. It shows the audit ledger as a table. Each row is one event, with its time.
This table is for another consent from the same day, f050c29a. It has token number 1. It went through the same steps as the consent you just saw. I use it here because this is the consent that the patient later revoked. The optional next slide shows that.
First, row 36: the patient creates the consent.
Second, rows 37 and 38: guardian A and guardian B sign.
Third, rows 39 and 40: the token is recorded, and then it is anchored on Sepolia. You can see the start of the transaction hash and the block number, 11,771,243.
Fourth, rows 41 to 44: the system checks the consent. It is ACTIVE and all five checks pass, so the doctor gets access. This happens two times.
Rows 45 and 46 are not in this picture. They record one more request from the doctor, and the system refused it.
So the auditor can follow the recorded steps, in order. This is the working part of RO6: evidence that can be 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optional. I show it if there is time. It is about RO5: revocation. It is the same consent as on the previous slide, f050c29a.
First, at the top is the audit ledger. In row 47, the patient revokes the consent. In row 48, the revoke transaction is sent to Sepolia. It is in block 11,771,307.
Second, at the bottom left is the same transaction on Sepolia Etherscan. This is a public page. I opened it some days later, so it says 9 days ago. The action is Revoke, the status is Success, and the block is 11,771,307, on 24 September 2026.
Third, at the bottom right, the doctor opens the consent again. The screen says: Consent is not active. Current state: REVOKED. The doctor cannot see the data. On 24 September, this refusal was not yet written to the ledger. Now, when the doctor presses Request Data Access, the prototype writes this refusal to the ledger.
So after the patient revokes, the consent cannot be used any more, and anyone can check the revoke transaction on Sepolia.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I used in this talk. They follow the UTS Harvard style, so they are listed by author name, not by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I am happy to take your questions.
Likely questions and short answers:
1. Why blockchain, if the data stays off-chain? Because it gives a shared record that cannot be changed quietly: the consent state and the revocation. No medical data is on the chain.
2. What is new? The consent object carries all the conditions. Multi-party approval is a condition of every access. And the whole decision is tested against attacks.
3. Why is RO6 only partly done? The testing is done. The formal proofs are the next stage.
4. Why Groth16? The prototype proves that it knows the secret and the expiry behind a Poseidon commitment, and that the consent has not expired, without showing them. Today the prover and the verifier run on the same server, so this shows that the zero-knowledge step works; it is not yet an extra privacy guarantee. It is the slowest part of an access request, about 1.4 seconds, and that is fine for a consent decision.
5. Why did three attacks pass before the hardening? They passed only when the service functions were called directly, not through the screens. The hardening moved the checks into the service layer, so now they are refused on every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2.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2.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slideLayout" Target="../slideLayouts/slideLayout2.xml"/><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200" b="1" i="1" dirty="0">
                <a:solidFill>
                  <a:srgbClr val="FFFFFF"/>
                </a:solidFill>
                <a:latin typeface="Arial" pitchFamily="34" charset="0"/>
                <a:ea typeface="Arial" pitchFamily="34" charset="-122"/>
                <a:cs typeface="Arial" pitchFamily="34" charset="-120"/>
              </a:rPr>
              <a:t>A Trusted Authorisation Framework for Multi-Party Patient Consent in Healthcare Data Sharing</a:t>
            </a:r>
            <a:endParaRPr lang="en-US" sz="32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Candidature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number 01"/>
          <p:cNvSpPr/>
          <p:nvPr/>
        </p:nvSpPr>
        <p:spPr>
          <a:xfrm>
            <a:off x="1463040" y="1234440"/>
            <a:ext cx="731520" cy="640080"/>
          </a:xfrm>
          <a:prstGeom prst="roundRect">
            <a:avLst>
              <a:gd name="adj" fmla="val 11429"/>
            </a:avLst>
          </a:prstGeom>
          <a:solidFill>
            <a:srgbClr val="2F6FB0"/>
          </a:solidFill>
          <a:ln w="12700">
            <a:solidFill>
              <a:srgbClr val="FFFFFF"/>
            </a:solidFill>
            <a:prstDash val="solid"/>
          </a:ln>
        </p:spPr>
      </p:sp>
      <p:sp>
        <p:nvSpPr>
          <p:cNvPr id="5" name="number text 01"/>
          <p:cNvSpPr txBox="1"/>
          <p:nvPr/>
        </p:nvSpPr>
        <p:spPr>
          <a:xfrm>
            <a:off x="1463040" y="1234440"/>
            <a:ext cx="731520" cy="640080"/>
          </a:xfrm>
          <a:prstGeom prst="rect">
            <a:avLst/>
          </a:prstGeom>
          <a:noFill/>
          <a:ln/>
        </p:spPr>
        <p:txBody>
          <a:bodyPr wrap="square" rtlCol="0" anchor="ctr"/>
          <a:lstStyle/>
          <a:p>
            <a:pPr algn="ctr" indent="0" marL="0">
              <a:buNone/>
            </a:pPr>
            <a:r>
              <a:rPr lang="en-US" sz="2000" b="1" dirty="0">
                <a:solidFill>
                  <a:srgbClr val="FFFFFF"/>
                </a:solidFill>
              </a:rPr>
              <a:t>01</a:t>
            </a:r>
            <a:endParaRPr lang="en-US" sz="2000" dirty="0"/>
          </a:p>
        </p:txBody>
      </p:sp>
      <p:sp>
        <p:nvSpPr>
          <p:cNvPr id="6" name="item 01"/>
          <p:cNvSpPr txBox="1"/>
          <p:nvPr/>
        </p:nvSpPr>
        <p:spPr>
          <a:xfrm>
            <a:off x="2377440" y="1234440"/>
            <a:ext cx="4206240" cy="640080"/>
          </a:xfrm>
          <a:prstGeom prst="rect">
            <a:avLst/>
          </a:prstGeom>
          <a:noFill/>
          <a:ln/>
        </p:spPr>
        <p:txBody>
          <a:bodyPr wrap="square" rtlCol="0" anchor="ctr"/>
          <a:lstStyle/>
          <a:p>
            <a:pPr indent="0" marL="0">
              <a:buNone/>
            </a:pPr>
            <a:r>
              <a:rPr lang="en-US" sz="1800" b="1" dirty="0">
                <a:solidFill>
                  <a:srgbClr val="FFFFFF"/>
                </a:solidFill>
              </a:rPr>
              <a:t>THE PROBLEM</a:t>
            </a:r>
            <a:endParaRPr lang="en-US" sz="1800" dirty="0"/>
          </a:p>
        </p:txBody>
      </p:sp>
      <p:sp>
        <p:nvSpPr>
          <p:cNvPr id="7" name="number 02"/>
          <p:cNvSpPr/>
          <p:nvPr/>
        </p:nvSpPr>
        <p:spPr>
          <a:xfrm>
            <a:off x="1463040" y="2103120"/>
            <a:ext cx="731520" cy="640080"/>
          </a:xfrm>
          <a:prstGeom prst="roundRect">
            <a:avLst>
              <a:gd name="adj" fmla="val 11429"/>
            </a:avLst>
          </a:prstGeom>
          <a:solidFill>
            <a:srgbClr val="2F6FB0"/>
          </a:solidFill>
          <a:ln w="12700">
            <a:solidFill>
              <a:srgbClr val="FFFFFF"/>
            </a:solidFill>
            <a:prstDash val="solid"/>
          </a:ln>
        </p:spPr>
      </p:sp>
      <p:sp>
        <p:nvSpPr>
          <p:cNvPr id="8" name="number text 02"/>
          <p:cNvSpPr txBox="1"/>
          <p:nvPr/>
        </p:nvSpPr>
        <p:spPr>
          <a:xfrm>
            <a:off x="1463040" y="2103120"/>
            <a:ext cx="731520" cy="640080"/>
          </a:xfrm>
          <a:prstGeom prst="rect">
            <a:avLst/>
          </a:prstGeom>
          <a:noFill/>
          <a:ln/>
        </p:spPr>
        <p:txBody>
          <a:bodyPr wrap="square" rtlCol="0" anchor="ctr"/>
          <a:lstStyle/>
          <a:p>
            <a:pPr algn="ctr" indent="0" marL="0">
              <a:buNone/>
            </a:pPr>
            <a:r>
              <a:rPr lang="en-US" sz="2000" b="1" dirty="0">
                <a:solidFill>
                  <a:srgbClr val="FFFFFF"/>
                </a:solidFill>
              </a:rPr>
              <a:t>02</a:t>
            </a:r>
            <a:endParaRPr lang="en-US" sz="2000" dirty="0"/>
          </a:p>
        </p:txBody>
      </p:sp>
      <p:sp>
        <p:nvSpPr>
          <p:cNvPr id="9" name="item 02"/>
          <p:cNvSpPr txBox="1"/>
          <p:nvPr/>
        </p:nvSpPr>
        <p:spPr>
          <a:xfrm>
            <a:off x="2377440" y="2103120"/>
            <a:ext cx="4206240" cy="640080"/>
          </a:xfrm>
          <a:prstGeom prst="rect">
            <a:avLst/>
          </a:prstGeom>
          <a:noFill/>
          <a:ln/>
        </p:spPr>
        <p:txBody>
          <a:bodyPr wrap="square" rtlCol="0" anchor="ctr"/>
          <a:lstStyle/>
          <a:p>
            <a:pPr indent="0" marL="0">
              <a:buNone/>
            </a:pPr>
            <a:r>
              <a:rPr lang="en-US" sz="1800" b="1" dirty="0">
                <a:solidFill>
                  <a:srgbClr val="FFFFFF"/>
                </a:solidFill>
              </a:rPr>
              <a:t>LITERATURE REVIEW</a:t>
            </a:r>
            <a:endParaRPr lang="en-US" sz="1800" dirty="0"/>
          </a:p>
        </p:txBody>
      </p:sp>
      <p:sp>
        <p:nvSpPr>
          <p:cNvPr id="10" name="number 03"/>
          <p:cNvSpPr/>
          <p:nvPr/>
        </p:nvSpPr>
        <p:spPr>
          <a:xfrm>
            <a:off x="1463040" y="2971800"/>
            <a:ext cx="731520" cy="640080"/>
          </a:xfrm>
          <a:prstGeom prst="roundRect">
            <a:avLst>
              <a:gd name="adj" fmla="val 11429"/>
            </a:avLst>
          </a:prstGeom>
          <a:solidFill>
            <a:srgbClr val="2F6FB0"/>
          </a:solidFill>
          <a:ln w="12700">
            <a:solidFill>
              <a:srgbClr val="FFFFFF"/>
            </a:solidFill>
            <a:prstDash val="solid"/>
          </a:ln>
        </p:spPr>
      </p:sp>
      <p:sp>
        <p:nvSpPr>
          <p:cNvPr id="11" name="number text 03"/>
          <p:cNvSpPr txBox="1"/>
          <p:nvPr/>
        </p:nvSpPr>
        <p:spPr>
          <a:xfrm>
            <a:off x="1463040" y="2971800"/>
            <a:ext cx="731520" cy="640080"/>
          </a:xfrm>
          <a:prstGeom prst="rect">
            <a:avLst/>
          </a:prstGeom>
          <a:noFill/>
          <a:ln/>
        </p:spPr>
        <p:txBody>
          <a:bodyPr wrap="square" rtlCol="0" anchor="ctr"/>
          <a:lstStyle/>
          <a:p>
            <a:pPr algn="ctr" indent="0" marL="0">
              <a:buNone/>
            </a:pPr>
            <a:r>
              <a:rPr lang="en-US" sz="2000" b="1" dirty="0">
                <a:solidFill>
                  <a:srgbClr val="FFFFFF"/>
                </a:solidFill>
              </a:rPr>
              <a:t>03</a:t>
            </a:r>
            <a:endParaRPr lang="en-US" sz="2000" dirty="0"/>
          </a:p>
        </p:txBody>
      </p:sp>
      <p:sp>
        <p:nvSpPr>
          <p:cNvPr id="12" name="item 03"/>
          <p:cNvSpPr txBox="1"/>
          <p:nvPr/>
        </p:nvSpPr>
        <p:spPr>
          <a:xfrm>
            <a:off x="2377440" y="2971800"/>
            <a:ext cx="4206240" cy="640080"/>
          </a:xfrm>
          <a:prstGeom prst="rect">
            <a:avLst/>
          </a:prstGeom>
          <a:noFill/>
          <a:ln/>
        </p:spPr>
        <p:txBody>
          <a:bodyPr wrap="square" rtlCol="0" anchor="ctr"/>
          <a:lstStyle/>
          <a:p>
            <a:pPr indent="0" marL="0">
              <a:buNone/>
            </a:pPr>
            <a:r>
              <a:rPr lang="en-US" sz="1800" b="1" dirty="0">
                <a:solidFill>
                  <a:srgbClr val="FFFFFF"/>
                </a:solidFill>
              </a:rPr>
              <a:t>GAP, QUESTIONS AND OBJECTIVES</a:t>
            </a:r>
            <a:endParaRPr lang="en-US" sz="1800" dirty="0"/>
          </a:p>
        </p:txBody>
      </p:sp>
      <p:sp>
        <p:nvSpPr>
          <p:cNvPr id="13" name="number 04"/>
          <p:cNvSpPr/>
          <p:nvPr/>
        </p:nvSpPr>
        <p:spPr>
          <a:xfrm>
            <a:off x="1463040" y="3840480"/>
            <a:ext cx="731520" cy="640080"/>
          </a:xfrm>
          <a:prstGeom prst="roundRect">
            <a:avLst>
              <a:gd name="adj" fmla="val 11429"/>
            </a:avLst>
          </a:prstGeom>
          <a:solidFill>
            <a:srgbClr val="2F6FB0"/>
          </a:solidFill>
          <a:ln w="12700">
            <a:solidFill>
              <a:srgbClr val="FFFFFF"/>
            </a:solidFill>
            <a:prstDash val="solid"/>
          </a:ln>
        </p:spPr>
      </p:sp>
      <p:sp>
        <p:nvSpPr>
          <p:cNvPr id="14" name="number text 04"/>
          <p:cNvSpPr txBox="1"/>
          <p:nvPr/>
        </p:nvSpPr>
        <p:spPr>
          <a:xfrm>
            <a:off x="1463040" y="3840480"/>
            <a:ext cx="731520" cy="640080"/>
          </a:xfrm>
          <a:prstGeom prst="rect">
            <a:avLst/>
          </a:prstGeom>
          <a:noFill/>
          <a:ln/>
        </p:spPr>
        <p:txBody>
          <a:bodyPr wrap="square" rtlCol="0" anchor="ctr"/>
          <a:lstStyle/>
          <a:p>
            <a:pPr algn="ctr" indent="0" marL="0">
              <a:buNone/>
            </a:pPr>
            <a:r>
              <a:rPr lang="en-US" sz="2000" b="1" dirty="0">
                <a:solidFill>
                  <a:srgbClr val="FFFFFF"/>
                </a:solidFill>
              </a:rPr>
              <a:t>04</a:t>
            </a:r>
            <a:endParaRPr lang="en-US" sz="2000" dirty="0"/>
          </a:p>
        </p:txBody>
      </p:sp>
      <p:sp>
        <p:nvSpPr>
          <p:cNvPr id="15" name="item 04"/>
          <p:cNvSpPr txBox="1"/>
          <p:nvPr/>
        </p:nvSpPr>
        <p:spPr>
          <a:xfrm>
            <a:off x="2377440" y="3840480"/>
            <a:ext cx="4206240" cy="640080"/>
          </a:xfrm>
          <a:prstGeom prst="rect">
            <a:avLst/>
          </a:prstGeom>
          <a:noFill/>
          <a:ln/>
        </p:spPr>
        <p:txBody>
          <a:bodyPr wrap="square" rtlCol="0" anchor="ctr"/>
          <a:lstStyle/>
          <a:p>
            <a:pPr indent="0" marL="0">
              <a:buNone/>
            </a:pPr>
            <a:r>
              <a:rPr lang="en-US" sz="1800" b="1" dirty="0">
                <a:solidFill>
                  <a:srgbClr val="FFFFFF"/>
                </a:solidFill>
              </a:rPr>
              <a:t>THE FRAMEWORK</a:t>
            </a:r>
            <a:endParaRPr lang="en-US" sz="1800" dirty="0"/>
          </a:p>
        </p:txBody>
      </p:sp>
      <p:sp>
        <p:nvSpPr>
          <p:cNvPr id="16" name="number 05"/>
          <p:cNvSpPr/>
          <p:nvPr/>
        </p:nvSpPr>
        <p:spPr>
          <a:xfrm>
            <a:off x="1463040" y="4709160"/>
            <a:ext cx="731520" cy="640080"/>
          </a:xfrm>
          <a:prstGeom prst="roundRect">
            <a:avLst>
              <a:gd name="adj" fmla="val 11429"/>
            </a:avLst>
          </a:prstGeom>
          <a:solidFill>
            <a:srgbClr val="2F6FB0"/>
          </a:solidFill>
          <a:ln w="12700">
            <a:solidFill>
              <a:srgbClr val="FFFFFF"/>
            </a:solidFill>
            <a:prstDash val="solid"/>
          </a:ln>
        </p:spPr>
      </p:sp>
      <p:sp>
        <p:nvSpPr>
          <p:cNvPr id="17" name="number text 05"/>
          <p:cNvSpPr txBox="1"/>
          <p:nvPr/>
        </p:nvSpPr>
        <p:spPr>
          <a:xfrm>
            <a:off x="1463040" y="4709160"/>
            <a:ext cx="731520" cy="640080"/>
          </a:xfrm>
          <a:prstGeom prst="rect">
            <a:avLst/>
          </a:prstGeom>
          <a:noFill/>
          <a:ln/>
        </p:spPr>
        <p:txBody>
          <a:bodyPr wrap="square" rtlCol="0" anchor="ctr"/>
          <a:lstStyle/>
          <a:p>
            <a:pPr algn="ctr" indent="0" marL="0">
              <a:buNone/>
            </a:pPr>
            <a:r>
              <a:rPr lang="en-US" sz="2000" b="1" dirty="0">
                <a:solidFill>
                  <a:srgbClr val="FFFFFF"/>
                </a:solidFill>
              </a:rPr>
              <a:t>05</a:t>
            </a:r>
            <a:endParaRPr lang="en-US" sz="2000" dirty="0"/>
          </a:p>
        </p:txBody>
      </p:sp>
      <p:sp>
        <p:nvSpPr>
          <p:cNvPr id="18" name="item 05"/>
          <p:cNvSpPr txBox="1"/>
          <p:nvPr/>
        </p:nvSpPr>
        <p:spPr>
          <a:xfrm>
            <a:off x="2377440" y="4709160"/>
            <a:ext cx="4206240" cy="640080"/>
          </a:xfrm>
          <a:prstGeom prst="rect">
            <a:avLst/>
          </a:prstGeom>
          <a:noFill/>
          <a:ln/>
        </p:spPr>
        <p:txBody>
          <a:bodyPr wrap="square" rtlCol="0" anchor="ctr"/>
          <a:lstStyle/>
          <a:p>
            <a:pPr indent="0" marL="0">
              <a:buNone/>
            </a:pPr>
            <a:r>
              <a:rPr lang="en-US" sz="1800" b="1" dirty="0">
                <a:solidFill>
                  <a:srgbClr val="FFFFFF"/>
                </a:solidFill>
              </a:rPr>
              <a:t>VALIDATION AND EVALUATION</a:t>
            </a:r>
            <a:endParaRPr lang="en-US" sz="1800" dirty="0"/>
          </a:p>
        </p:txBody>
      </p:sp>
      <p:sp>
        <p:nvSpPr>
          <p:cNvPr id="19" name="number 06"/>
          <p:cNvSpPr/>
          <p:nvPr/>
        </p:nvSpPr>
        <p:spPr>
          <a:xfrm>
            <a:off x="1463040" y="5577840"/>
            <a:ext cx="731520" cy="640080"/>
          </a:xfrm>
          <a:prstGeom prst="roundRect">
            <a:avLst>
              <a:gd name="adj" fmla="val 11429"/>
            </a:avLst>
          </a:prstGeom>
          <a:solidFill>
            <a:srgbClr val="2F6FB0"/>
          </a:solidFill>
          <a:ln w="12700">
            <a:solidFill>
              <a:srgbClr val="FFFFFF"/>
            </a:solidFill>
            <a:prstDash val="solid"/>
          </a:ln>
        </p:spPr>
      </p:sp>
      <p:sp>
        <p:nvSpPr>
          <p:cNvPr id="20" name="number text 06"/>
          <p:cNvSpPr txBox="1"/>
          <p:nvPr/>
        </p:nvSpPr>
        <p:spPr>
          <a:xfrm>
            <a:off x="1463040" y="5577840"/>
            <a:ext cx="731520" cy="640080"/>
          </a:xfrm>
          <a:prstGeom prst="rect">
            <a:avLst/>
          </a:prstGeom>
          <a:noFill/>
          <a:ln/>
        </p:spPr>
        <p:txBody>
          <a:bodyPr wrap="square" rtlCol="0" anchor="ctr"/>
          <a:lstStyle/>
          <a:p>
            <a:pPr algn="ctr" indent="0" marL="0">
              <a:buNone/>
            </a:pPr>
            <a:r>
              <a:rPr lang="en-US" sz="2000" b="1" dirty="0">
                <a:solidFill>
                  <a:srgbClr val="FFFFFF"/>
                </a:solidFill>
              </a:rPr>
              <a:t>06</a:t>
            </a:r>
            <a:endParaRPr lang="en-US" sz="2000" dirty="0"/>
          </a:p>
        </p:txBody>
      </p:sp>
      <p:sp>
        <p:nvSpPr>
          <p:cNvPr id="21" name="item 06"/>
          <p:cNvSpPr txBox="1"/>
          <p:nvPr/>
        </p:nvSpPr>
        <p:spPr>
          <a:xfrm>
            <a:off x="2377440" y="5577840"/>
            <a:ext cx="4206240" cy="640080"/>
          </a:xfrm>
          <a:prstGeom prst="rect">
            <a:avLst/>
          </a:prstGeom>
          <a:noFill/>
          <a:ln/>
        </p:spPr>
        <p:txBody>
          <a:bodyPr wrap="square" rtlCol="0" anchor="ctr"/>
          <a:lstStyle/>
          <a:p>
            <a:pPr indent="0" marL="0">
              <a:buNone/>
            </a:pPr>
            <a:r>
              <a:rPr lang="en-US" sz="1800" b="1" dirty="0">
                <a:solidFill>
                  <a:srgbClr val="FFFFFF"/>
                </a:solidFill>
              </a:rPr>
              <a:t>SIGNIFICANCE OF THE RESEARCH</a:t>
            </a:r>
            <a:endParaRPr lang="en-US" sz="1800" dirty="0"/>
          </a:p>
        </p:txBody>
      </p:sp>
      <p:sp>
        <p:nvSpPr>
          <p:cNvPr id="22" name="number 07"/>
          <p:cNvSpPr/>
          <p:nvPr/>
        </p:nvSpPr>
        <p:spPr>
          <a:xfrm>
            <a:off x="6492240" y="1234440"/>
            <a:ext cx="731520" cy="640080"/>
          </a:xfrm>
          <a:prstGeom prst="roundRect">
            <a:avLst>
              <a:gd name="adj" fmla="val 11429"/>
            </a:avLst>
          </a:prstGeom>
          <a:solidFill>
            <a:srgbClr val="1FB5D6"/>
          </a:solidFill>
          <a:ln w="12700">
            <a:solidFill>
              <a:srgbClr val="FFFFFF"/>
            </a:solidFill>
            <a:prstDash val="solid"/>
          </a:ln>
        </p:spPr>
      </p:sp>
      <p:sp>
        <p:nvSpPr>
          <p:cNvPr id="23" name="number text 07"/>
          <p:cNvSpPr txBox="1"/>
          <p:nvPr/>
        </p:nvSpPr>
        <p:spPr>
          <a:xfrm>
            <a:off x="6492240" y="1234440"/>
            <a:ext cx="731520" cy="640080"/>
          </a:xfrm>
          <a:prstGeom prst="rect">
            <a:avLst/>
          </a:prstGeom>
          <a:noFill/>
          <a:ln/>
        </p:spPr>
        <p:txBody>
          <a:bodyPr wrap="square" rtlCol="0" anchor="ctr"/>
          <a:lstStyle/>
          <a:p>
            <a:pPr algn="ctr" indent="0" marL="0">
              <a:buNone/>
            </a:pPr>
            <a:r>
              <a:rPr lang="en-US" sz="2000" b="1" dirty="0">
                <a:solidFill>
                  <a:srgbClr val="FFFFFF"/>
                </a:solidFill>
              </a:rPr>
              <a:t>07</a:t>
            </a:r>
            <a:endParaRPr lang="en-US" sz="2000" dirty="0"/>
          </a:p>
        </p:txBody>
      </p:sp>
      <p:sp>
        <p:nvSpPr>
          <p:cNvPr id="24" name="item 07"/>
          <p:cNvSpPr txBox="1"/>
          <p:nvPr/>
        </p:nvSpPr>
        <p:spPr>
          <a:xfrm>
            <a:off x="7406640" y="1234440"/>
            <a:ext cx="4206240" cy="640080"/>
          </a:xfrm>
          <a:prstGeom prst="rect">
            <a:avLst/>
          </a:prstGeom>
          <a:noFill/>
          <a:ln/>
        </p:spPr>
        <p:txBody>
          <a:bodyPr wrap="square" rtlCol="0" anchor="ctr"/>
          <a:lstStyle/>
          <a:p>
            <a:pPr indent="0" marL="0">
              <a:buNone/>
            </a:pPr>
            <a:r>
              <a:rPr lang="en-US" sz="1800" b="1" dirty="0">
                <a:solidFill>
                  <a:srgbClr val="FFFFFF"/>
                </a:solidFill>
              </a:rPr>
              <a:t>WHAT IS STILL OPEN</a:t>
            </a:r>
            <a:endParaRPr lang="en-US" sz="1800" dirty="0"/>
          </a:p>
        </p:txBody>
      </p:sp>
      <p:sp>
        <p:nvSpPr>
          <p:cNvPr id="25" name="number 08"/>
          <p:cNvSpPr/>
          <p:nvPr/>
        </p:nvSpPr>
        <p:spPr>
          <a:xfrm>
            <a:off x="6492240" y="2103120"/>
            <a:ext cx="731520" cy="640080"/>
          </a:xfrm>
          <a:prstGeom prst="roundRect">
            <a:avLst>
              <a:gd name="adj" fmla="val 11429"/>
            </a:avLst>
          </a:prstGeom>
          <a:solidFill>
            <a:srgbClr val="1FB5D6"/>
          </a:solidFill>
          <a:ln w="12700">
            <a:solidFill>
              <a:srgbClr val="FFFFFF"/>
            </a:solidFill>
            <a:prstDash val="solid"/>
          </a:ln>
        </p:spPr>
      </p:sp>
      <p:sp>
        <p:nvSpPr>
          <p:cNvPr id="26" name="number text 08"/>
          <p:cNvSpPr txBox="1"/>
          <p:nvPr/>
        </p:nvSpPr>
        <p:spPr>
          <a:xfrm>
            <a:off x="6492240" y="2103120"/>
            <a:ext cx="731520" cy="640080"/>
          </a:xfrm>
          <a:prstGeom prst="rect">
            <a:avLst/>
          </a:prstGeom>
          <a:noFill/>
          <a:ln/>
        </p:spPr>
        <p:txBody>
          <a:bodyPr wrap="square" rtlCol="0" anchor="ctr"/>
          <a:lstStyle/>
          <a:p>
            <a:pPr algn="ctr" indent="0" marL="0">
              <a:buNone/>
            </a:pPr>
            <a:r>
              <a:rPr lang="en-US" sz="2000" b="1" dirty="0">
                <a:solidFill>
                  <a:srgbClr val="FFFFFF"/>
                </a:solidFill>
              </a:rPr>
              <a:t>08</a:t>
            </a:r>
            <a:endParaRPr lang="en-US" sz="2000" dirty="0"/>
          </a:p>
        </p:txBody>
      </p:sp>
      <p:sp>
        <p:nvSpPr>
          <p:cNvPr id="27" name="item 08"/>
          <p:cNvSpPr txBox="1"/>
          <p:nvPr/>
        </p:nvSpPr>
        <p:spPr>
          <a:xfrm>
            <a:off x="7406640" y="2103120"/>
            <a:ext cx="4206240" cy="640080"/>
          </a:xfrm>
          <a:prstGeom prst="rect">
            <a:avLst/>
          </a:prstGeom>
          <a:noFill/>
          <a:ln/>
        </p:spPr>
        <p:txBody>
          <a:bodyPr wrap="square" rtlCol="0" anchor="ctr"/>
          <a:lstStyle/>
          <a:p>
            <a:pPr indent="0" marL="0">
              <a:buNone/>
            </a:pPr>
            <a:r>
              <a:rPr lang="en-US" sz="1800" b="1" dirty="0">
                <a:solidFill>
                  <a:srgbClr val="FFFFFF"/>
                </a:solidFill>
              </a:rPr>
              <a:t>RESEARCH PLAN</a:t>
            </a:r>
            <a:endParaRPr lang="en-US" sz="1800" dirty="0"/>
          </a:p>
        </p:txBody>
      </p:sp>
      <p:sp>
        <p:nvSpPr>
          <p:cNvPr id="28" name="number 09"/>
          <p:cNvSpPr/>
          <p:nvPr/>
        </p:nvSpPr>
        <p:spPr>
          <a:xfrm>
            <a:off x="6492240" y="2971800"/>
            <a:ext cx="731520" cy="640080"/>
          </a:xfrm>
          <a:prstGeom prst="roundRect">
            <a:avLst>
              <a:gd name="adj" fmla="val 11429"/>
            </a:avLst>
          </a:prstGeom>
          <a:solidFill>
            <a:srgbClr val="1FB5D6"/>
          </a:solidFill>
          <a:ln w="12700">
            <a:solidFill>
              <a:srgbClr val="FFFFFF"/>
            </a:solidFill>
            <a:prstDash val="solid"/>
          </a:ln>
        </p:spPr>
      </p:sp>
      <p:sp>
        <p:nvSpPr>
          <p:cNvPr id="29" name="number text 09"/>
          <p:cNvSpPr txBox="1"/>
          <p:nvPr/>
        </p:nvSpPr>
        <p:spPr>
          <a:xfrm>
            <a:off x="6492240" y="2971800"/>
            <a:ext cx="731520" cy="640080"/>
          </a:xfrm>
          <a:prstGeom prst="rect">
            <a:avLst/>
          </a:prstGeom>
          <a:noFill/>
          <a:ln/>
        </p:spPr>
        <p:txBody>
          <a:bodyPr wrap="square" rtlCol="0" anchor="ctr"/>
          <a:lstStyle/>
          <a:p>
            <a:pPr algn="ctr" indent="0" marL="0">
              <a:buNone/>
            </a:pPr>
            <a:r>
              <a:rPr lang="en-US" sz="2000" b="1" dirty="0">
                <a:solidFill>
                  <a:srgbClr val="FFFFFF"/>
                </a:solidFill>
              </a:rPr>
              <a:t>09</a:t>
            </a:r>
            <a:endParaRPr lang="en-US" sz="2000" dirty="0"/>
          </a:p>
        </p:txBody>
      </p:sp>
      <p:sp>
        <p:nvSpPr>
          <p:cNvPr id="30" name="item 09"/>
          <p:cNvSpPr txBox="1"/>
          <p:nvPr/>
        </p:nvSpPr>
        <p:spPr>
          <a:xfrm>
            <a:off x="7406640" y="2971800"/>
            <a:ext cx="4206240" cy="640080"/>
          </a:xfrm>
          <a:prstGeom prst="rect">
            <a:avLst/>
          </a:prstGeom>
          <a:noFill/>
          <a:ln/>
        </p:spPr>
        <p:txBody>
          <a:bodyPr wrap="square" rtlCol="0" anchor="ctr"/>
          <a:lstStyle/>
          <a:p>
            <a:pPr indent="0" marL="0">
              <a:buNone/>
            </a:pPr>
            <a:r>
              <a:rPr lang="en-US" sz="1800" b="1" dirty="0">
                <a:solidFill>
                  <a:srgbClr val="FFFFFF"/>
                </a:solidFill>
              </a:rPr>
              <a:t>DEMO: THE HALAH PROTOTYPE</a:t>
            </a:r>
            <a:endParaRPr lang="en-US" sz="1800" dirty="0"/>
          </a:p>
        </p:txBody>
      </p:sp>
      <p:sp>
        <p:nvSpPr>
          <p:cNvPr id="31" name="number 10"/>
          <p:cNvSpPr/>
          <p:nvPr/>
        </p:nvSpPr>
        <p:spPr>
          <a:xfrm>
            <a:off x="6492240" y="3840480"/>
            <a:ext cx="731520" cy="640080"/>
          </a:xfrm>
          <a:prstGeom prst="roundRect">
            <a:avLst>
              <a:gd name="adj" fmla="val 11429"/>
            </a:avLst>
          </a:prstGeom>
          <a:solidFill>
            <a:srgbClr val="1FB5D6"/>
          </a:solidFill>
          <a:ln w="12700">
            <a:solidFill>
              <a:srgbClr val="FFFFFF"/>
            </a:solidFill>
            <a:prstDash val="solid"/>
          </a:ln>
        </p:spPr>
      </p:sp>
      <p:sp>
        <p:nvSpPr>
          <p:cNvPr id="32" name="number text 10"/>
          <p:cNvSpPr txBox="1"/>
          <p:nvPr/>
        </p:nvSpPr>
        <p:spPr>
          <a:xfrm>
            <a:off x="6492240" y="3840480"/>
            <a:ext cx="731520" cy="640080"/>
          </a:xfrm>
          <a:prstGeom prst="rect">
            <a:avLst/>
          </a:prstGeom>
          <a:noFill/>
          <a:ln/>
        </p:spPr>
        <p:txBody>
          <a:bodyPr wrap="square" rtlCol="0" anchor="ctr"/>
          <a:lstStyle/>
          <a:p>
            <a:pPr algn="ctr" indent="0" marL="0">
              <a:buNone/>
            </a:pPr>
            <a:r>
              <a:rPr lang="en-US" sz="2000" b="1" dirty="0">
                <a:solidFill>
                  <a:srgbClr val="FFFFFF"/>
                </a:solidFill>
              </a:rPr>
              <a:t>10</a:t>
            </a:r>
            <a:endParaRPr lang="en-US" sz="2000" dirty="0"/>
          </a:p>
        </p:txBody>
      </p:sp>
      <p:sp>
        <p:nvSpPr>
          <p:cNvPr id="33" name="item 10"/>
          <p:cNvSpPr txBox="1"/>
          <p:nvPr/>
        </p:nvSpPr>
        <p:spPr>
          <a:xfrm>
            <a:off x="7406640" y="3840480"/>
            <a:ext cx="4206240" cy="64008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PROBLEM</a:t>
            </a:r>
            <a:endParaRPr lang="en-US" sz="3000" dirty="0"/>
          </a:p>
        </p:txBody>
      </p:sp>
      <p:sp>
        <p:nvSpPr>
          <p:cNvPr id="4" name="bullets"/>
          <p:cNvSpPr txBox="1"/>
          <p:nvPr/>
        </p:nvSpPr>
        <p:spPr>
          <a:xfrm>
            <a:off x="822960" y="1280160"/>
            <a:ext cx="621792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shared between many independent parties: patient, guardians, doctor, hospital.</a:t>
            </a:r>
            <a:endParaRPr lang="en-US" sz="1900" dirty="0"/>
          </a:p>
          <a:p>
            <a:pPr marL="342900" indent="-342900">
              <a:spcAft>
                <a:spcPts val="1000"/>
              </a:spcAft>
              <a:buSzPct val="100000"/>
              <a:buChar char="•"/>
            </a:pPr>
            <a:r>
              <a:rPr lang="en-US" sz="1900" dirty="0">
                <a:solidFill>
                  <a:srgbClr val="FFFFFF"/>
                </a:solidFill>
              </a:rPr>
              <a:t>Today, consent is a stored record. It shows that permission was given, but it checks nothing at access time.</a:t>
            </a:r>
            <a:endParaRPr lang="en-US" sz="1900" dirty="0"/>
          </a:p>
          <a:p>
            <a:pPr marL="342900" indent="-342900">
              <a:spcAft>
                <a:spcPts val="1000"/>
              </a:spcAft>
              <a:buSzPct val="100000"/>
              <a:buChar char="•"/>
            </a:pPr>
            <a:r>
              <a:rPr lang="en-US" sz="1900" dirty="0">
                <a:solidFill>
                  <a:srgbClr val="FFFFFF"/>
                </a:solidFill>
              </a:rPr>
              <a:t>A valid identity does not prove the right to see this patient's data.</a:t>
            </a:r>
            <a:endParaRPr lang="en-US" sz="1900" dirty="0"/>
          </a:p>
          <a:p>
            <a:pPr marL="342900" indent="-342900">
              <a:spcAft>
                <a:spcPts val="1000"/>
              </a:spcAft>
              <a:buSzPct val="100000"/>
              <a:buChar char="•"/>
            </a:pPr>
            <a:r>
              <a:rPr lang="en-US" sz="1900" dirty="0">
                <a:solidFill>
                  <a:srgbClr val="FFFFFF"/>
                </a:solidFill>
              </a:rPr>
              <a:t>A request can ask for more data than allowed, or arrive after the consent expired or was revoked.</a:t>
            </a:r>
            <a:endParaRPr lang="en-US" sz="1900" dirty="0"/>
          </a:p>
          <a:p>
            <a:pPr marL="342900" indent="-342900">
              <a:spcAft>
                <a:spcPts val="1000"/>
              </a:spcAft>
              <a:buSzPct val="100000"/>
              <a:buChar char="•"/>
            </a:pPr>
            <a:r>
              <a:rPr lang="en-US" sz="1900" dirty="0">
                <a:solidFill>
                  <a:srgbClr val="FFFFFF"/>
                </a:solidFill>
              </a:rPr>
              <a:t>None of the reviewed studies proves or tests the whole decision.</a:t>
            </a:r>
            <a:endParaRPr lang="en-US" sz="1900" dirty="0"/>
          </a:p>
        </p:txBody>
      </p:sp>
      <p:sp>
        <p:nvSpPr>
          <p:cNvPr id="5" name="card In one sentence"/>
          <p:cNvSpPr/>
          <p:nvPr/>
        </p:nvSpPr>
        <p:spPr>
          <a:xfrm>
            <a:off x="7406640" y="1463040"/>
            <a:ext cx="3931920" cy="4114800"/>
          </a:xfrm>
          <a:prstGeom prst="roundRect">
            <a:avLst>
              <a:gd name="adj" fmla="val 2326"/>
            </a:avLst>
          </a:prstGeom>
          <a:solidFill>
            <a:srgbClr val="FFFFFF">
              <a:alpha val="92000"/>
            </a:srgbClr>
          </a:solidFill>
          <a:ln w="19050">
            <a:solidFill>
              <a:srgbClr val="1FB5D6"/>
            </a:solidFill>
            <a:prstDash val="solid"/>
          </a:ln>
        </p:spPr>
      </p:sp>
      <p:sp>
        <p:nvSpPr>
          <p:cNvPr id="6" name="card text In one sentence"/>
          <p:cNvSpPr txBox="1"/>
          <p:nvPr/>
        </p:nvSpPr>
        <p:spPr>
          <a:xfrm>
            <a:off x="7543800" y="1554480"/>
            <a:ext cx="3657600" cy="3931920"/>
          </a:xfrm>
          <a:prstGeom prst="rect">
            <a:avLst/>
          </a:prstGeom>
          <a:noFill/>
          <a:ln/>
        </p:spPr>
        <p:txBody>
          <a:bodyPr wrap="square" rtlCol="0" anchor="t"/>
          <a:lstStyle/>
          <a:p>
            <a:pPr indent="0" marL="0">
              <a:spcAft>
                <a:spcPts val="400"/>
              </a:spcAft>
              <a:buNone/>
            </a:pPr>
            <a:r>
              <a:rPr lang="en-US" sz="1900" b="1" dirty="0">
                <a:solidFill>
                  <a:srgbClr val="0B2A4A"/>
                </a:solidFill>
              </a:rPr>
              <a:t>In one sentence</a:t>
            </a:r>
            <a:endParaRPr lang="en-US" sz="1900" dirty="0"/>
          </a:p>
          <a:p>
            <a:pPr indent="0" marL="0">
              <a:spcAft>
                <a:spcPts val="400"/>
              </a:spcAft>
              <a:buNone/>
            </a:pPr>
            <a:r>
              <a:rPr lang="en-US" sz="1600" dirty="0">
                <a:solidFill>
                  <a:srgbClr val="0B1F33"/>
                </a:solidFill>
              </a:rPr>
              <a:t>There is no trusted mechanism that checks identity, authority, multi-party approval, policy, time and lifecycle together in one access decision, with evidence that it is secure.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KEY IDEA</a:t>
            </a:r>
            <a:endParaRPr lang="en-US" sz="3000" dirty="0"/>
          </a:p>
        </p:txBody>
      </p:sp>
      <p:sp>
        <p:nvSpPr>
          <p:cNvPr id="4" name="idea box"/>
          <p:cNvSpPr/>
          <p:nvPr/>
        </p:nvSpPr>
        <p:spPr>
          <a:xfrm>
            <a:off x="822960" y="1188720"/>
            <a:ext cx="10424160" cy="1371600"/>
          </a:xfrm>
          <a:prstGeom prst="roundRect">
            <a:avLst>
              <a:gd name="adj" fmla="val 6667"/>
            </a:avLst>
          </a:prstGeom>
          <a:solidFill>
            <a:srgbClr val="0B2A4A">
              <a:alpha val="85000"/>
            </a:srgbClr>
          </a:solidFill>
          <a:ln w="19050">
            <a:solidFill>
              <a:srgbClr val="1FB5D6"/>
            </a:solidFill>
            <a:prstDash val="solid"/>
          </a:ln>
        </p:spPr>
      </p:sp>
      <p:sp>
        <p:nvSpPr>
          <p:cNvPr id="5" name="idea text"/>
          <p:cNvSpPr txBox="1"/>
          <p:nvPr/>
        </p:nvSpPr>
        <p:spPr>
          <a:xfrm>
            <a:off x="1005840" y="1234440"/>
            <a:ext cx="10058400" cy="1280160"/>
          </a:xfrm>
          <a:prstGeom prst="rect">
            <a:avLst/>
          </a:prstGeom>
          <a:noFill/>
          <a:ln/>
        </p:spPr>
        <p:txBody>
          <a:bodyPr wrap="square" rtlCol="0" anchor="ctr"/>
          <a:lstStyle/>
          <a:p>
            <a:pPr algn="ctr" indent="0" marL="0">
              <a:buNone/>
            </a:pPr>
            <a:r>
              <a:rPr lang="en-US" sz="2000" b="1" dirty="0">
                <a:solidFill>
                  <a:srgbClr val="FFFFFF"/>
                </a:solidFill>
              </a:rPr>
              <a:t>Consent is not a stored record. It is an object checked at every request.</a:t>
            </a:r>
            <a:endParaRPr lang="en-US" sz="2000" dirty="0"/>
          </a:p>
          <a:p>
            <a:pPr algn="ctr" indent="0" marL="0">
              <a:buNone/>
            </a:pPr>
            <a:r>
              <a:rPr lang="en-US" sz="2800" b="1" dirty="0">
                <a:solidFill>
                  <a:srgbClr val="1FB5D6"/>
                </a:solidFill>
              </a:rPr>
              <a:t>C = (I, A, P, T, L, E)</a:t>
            </a:r>
            <a:endParaRPr lang="en-US" sz="2000" dirty="0"/>
          </a:p>
        </p:txBody>
      </p:sp>
      <p:sp>
        <p:nvSpPr>
          <p:cNvPr id="6" name="card I  Identity"/>
          <p:cNvSpPr/>
          <p:nvPr/>
        </p:nvSpPr>
        <p:spPr>
          <a:xfrm>
            <a:off x="82296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7" name="card text I  Identity"/>
          <p:cNvSpPr txBox="1"/>
          <p:nvPr/>
        </p:nvSpPr>
        <p:spPr>
          <a:xfrm>
            <a:off x="96012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I  Identity</a:t>
            </a:r>
            <a:endParaRPr lang="en-US" sz="1900" dirty="0"/>
          </a:p>
          <a:p>
            <a:pPr indent="0" marL="0">
              <a:spcAft>
                <a:spcPts val="400"/>
              </a:spcAft>
              <a:buNone/>
            </a:pPr>
            <a:r>
              <a:rPr lang="en-US" sz="1600" dirty="0">
                <a:solidFill>
                  <a:srgbClr val="0B1F33"/>
                </a:solidFill>
              </a:rPr>
              <a:t>Who is the patient, the doctor and each guardian (DID).</a:t>
            </a:r>
            <a:endParaRPr lang="en-US" sz="1900" dirty="0"/>
          </a:p>
        </p:txBody>
      </p:sp>
      <p:sp>
        <p:nvSpPr>
          <p:cNvPr id="8" name="card A  Authorisation"/>
          <p:cNvSpPr/>
          <p:nvPr/>
        </p:nvSpPr>
        <p:spPr>
          <a:xfrm>
            <a:off x="438912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9" name="card text A  Authorisation"/>
          <p:cNvSpPr txBox="1"/>
          <p:nvPr/>
        </p:nvSpPr>
        <p:spPr>
          <a:xfrm>
            <a:off x="452628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A  Authorisation</a:t>
            </a:r>
            <a:endParaRPr lang="en-US" sz="1900" dirty="0"/>
          </a:p>
          <a:p>
            <a:pPr indent="0" marL="0">
              <a:spcAft>
                <a:spcPts val="400"/>
              </a:spcAft>
              <a:buNone/>
            </a:pPr>
            <a:r>
              <a:rPr lang="en-US" sz="1600" dirty="0">
                <a:solidFill>
                  <a:srgbClr val="0B1F33"/>
                </a:solidFill>
              </a:rPr>
              <a:t>The guardian set G and how many approvals are needed (N).</a:t>
            </a:r>
            <a:endParaRPr lang="en-US" sz="1900" dirty="0"/>
          </a:p>
        </p:txBody>
      </p:sp>
      <p:sp>
        <p:nvSpPr>
          <p:cNvPr id="10" name="card P  Policy"/>
          <p:cNvSpPr/>
          <p:nvPr/>
        </p:nvSpPr>
        <p:spPr>
          <a:xfrm>
            <a:off x="795528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11" name="card text P  Policy"/>
          <p:cNvSpPr txBox="1"/>
          <p:nvPr/>
        </p:nvSpPr>
        <p:spPr>
          <a:xfrm>
            <a:off x="809244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P  Policy</a:t>
            </a:r>
            <a:endParaRPr lang="en-US" sz="1900" dirty="0"/>
          </a:p>
          <a:p>
            <a:pPr indent="0" marL="0">
              <a:spcAft>
                <a:spcPts val="400"/>
              </a:spcAft>
              <a:buNone/>
            </a:pPr>
            <a:r>
              <a:rPr lang="en-US" sz="1600" dirty="0">
                <a:solidFill>
                  <a:srgbClr val="0B1F33"/>
                </a:solidFill>
              </a:rPr>
              <a:t>The purpose and the data scope that were agreed.</a:t>
            </a:r>
            <a:endParaRPr lang="en-US" sz="1900" dirty="0"/>
          </a:p>
        </p:txBody>
      </p:sp>
      <p:sp>
        <p:nvSpPr>
          <p:cNvPr id="12" name="card T  Time"/>
          <p:cNvSpPr/>
          <p:nvPr/>
        </p:nvSpPr>
        <p:spPr>
          <a:xfrm>
            <a:off x="82296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3" name="card text T  Time"/>
          <p:cNvSpPr txBox="1"/>
          <p:nvPr/>
        </p:nvSpPr>
        <p:spPr>
          <a:xfrm>
            <a:off x="96012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T  Time</a:t>
            </a:r>
            <a:endParaRPr lang="en-US" sz="1900" dirty="0"/>
          </a:p>
          <a:p>
            <a:pPr indent="0" marL="0">
              <a:spcAft>
                <a:spcPts val="400"/>
              </a:spcAft>
              <a:buNone/>
            </a:pPr>
            <a:r>
              <a:rPr lang="en-US" sz="1600" dirty="0">
                <a:solidFill>
                  <a:srgbClr val="0B1F33"/>
                </a:solidFill>
              </a:rPr>
              <a:t>When the consent starts and when it expires.</a:t>
            </a:r>
            <a:endParaRPr lang="en-US" sz="1900" dirty="0"/>
          </a:p>
        </p:txBody>
      </p:sp>
      <p:sp>
        <p:nvSpPr>
          <p:cNvPr id="14" name="card L  Lifecycle"/>
          <p:cNvSpPr/>
          <p:nvPr/>
        </p:nvSpPr>
        <p:spPr>
          <a:xfrm>
            <a:off x="438912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5" name="card text L  Lifecycle"/>
          <p:cNvSpPr txBox="1"/>
          <p:nvPr/>
        </p:nvSpPr>
        <p:spPr>
          <a:xfrm>
            <a:off x="452628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L  Lifecycle</a:t>
            </a:r>
            <a:endParaRPr lang="en-US" sz="1900" dirty="0"/>
          </a:p>
          <a:p>
            <a:pPr indent="0" marL="0">
              <a:spcAft>
                <a:spcPts val="400"/>
              </a:spcAft>
              <a:buNone/>
            </a:pPr>
            <a:r>
              <a:rPr lang="en-US" sz="1600" dirty="0">
                <a:solidFill>
                  <a:srgbClr val="0B1F33"/>
                </a:solidFill>
              </a:rPr>
              <a:t>The state of the consent, from creation to expiry or revocation.</a:t>
            </a:r>
            <a:endParaRPr lang="en-US" sz="1900" dirty="0"/>
          </a:p>
        </p:txBody>
      </p:sp>
      <p:sp>
        <p:nvSpPr>
          <p:cNvPr id="16" name="card E  Evidence"/>
          <p:cNvSpPr/>
          <p:nvPr/>
        </p:nvSpPr>
        <p:spPr>
          <a:xfrm>
            <a:off x="795528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7" name="card text E  Evidence"/>
          <p:cNvSpPr txBox="1"/>
          <p:nvPr/>
        </p:nvSpPr>
        <p:spPr>
          <a:xfrm>
            <a:off x="809244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E  Evidence</a:t>
            </a:r>
            <a:endParaRPr lang="en-US" sz="1900" dirty="0"/>
          </a:p>
          <a:p>
            <a:pPr indent="0" marL="0">
              <a:spcAft>
                <a:spcPts val="400"/>
              </a:spcAft>
              <a:buNone/>
            </a:pPr>
            <a:r>
              <a:rPr lang="en-US" sz="1600" dirty="0">
                <a:solidFill>
                  <a:srgbClr val="0B1F33"/>
                </a:solidFill>
              </a:rPr>
              <a:t>Signatures, the token, and whether it is revoked.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HOW I DID IT</a:t>
            </a:r>
            <a:endParaRPr lang="en-US" sz="3000" dirty="0"/>
          </a:p>
        </p:txBody>
      </p:sp>
      <p:sp>
        <p:nvSpPr>
          <p:cNvPr id="4" name="F2 panel"/>
          <p:cNvSpPr/>
          <p:nvPr/>
        </p:nvSpPr>
        <p:spPr>
          <a:xfrm>
            <a:off x="640080" y="1097280"/>
            <a:ext cx="576072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749808" y="1288146"/>
            <a:ext cx="5541264" cy="5058949"/>
          </a:xfrm>
          <a:prstGeom prst="rect">
            <a:avLst/>
          </a:prstGeom>
        </p:spPr>
      </p:pic>
      <p:sp>
        <p:nvSpPr>
          <p:cNvPr id="6" name="stat records from seven databases"/>
          <p:cNvSpPr txBox="1"/>
          <p:nvPr/>
        </p:nvSpPr>
        <p:spPr>
          <a:xfrm>
            <a:off x="6949440" y="128016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9,256</a:t>
            </a:r>
            <a:endParaRPr lang="en-US" sz="4400" dirty="0"/>
          </a:p>
        </p:txBody>
      </p:sp>
      <p:sp>
        <p:nvSpPr>
          <p:cNvPr id="7" name="stat label records from seven databases"/>
          <p:cNvSpPr txBox="1"/>
          <p:nvPr/>
        </p:nvSpPr>
        <p:spPr>
          <a:xfrm>
            <a:off x="6949440" y="2148840"/>
            <a:ext cx="3291840" cy="640080"/>
          </a:xfrm>
          <a:prstGeom prst="rect">
            <a:avLst/>
          </a:prstGeom>
          <a:noFill/>
          <a:ln/>
        </p:spPr>
        <p:txBody>
          <a:bodyPr wrap="square" lIns="0" tIns="0" rIns="0" bIns="0" rtlCol="0" anchor="ctr"/>
          <a:lstStyle/>
          <a:p>
            <a:pPr indent="0" marL="0">
              <a:buNone/>
            </a:pPr>
            <a:r>
              <a:rPr lang="en-US" sz="1600" dirty="0">
                <a:solidFill>
                  <a:srgbClr val="FFFFFF"/>
                </a:solidFill>
              </a:rPr>
              <a:t>records from seven databases</a:t>
            </a:r>
            <a:endParaRPr lang="en-US" sz="1600" dirty="0"/>
          </a:p>
        </p:txBody>
      </p:sp>
      <p:sp>
        <p:nvSpPr>
          <p:cNvPr id="8" name="stat studies met the criteria at the checkpoint"/>
          <p:cNvSpPr txBox="1"/>
          <p:nvPr/>
        </p:nvSpPr>
        <p:spPr>
          <a:xfrm>
            <a:off x="6949440" y="292608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47</a:t>
            </a:r>
            <a:endParaRPr lang="en-US" sz="4400" dirty="0"/>
          </a:p>
        </p:txBody>
      </p:sp>
      <p:sp>
        <p:nvSpPr>
          <p:cNvPr id="9" name="stat label studies met the criteria at the checkpoint"/>
          <p:cNvSpPr txBox="1"/>
          <p:nvPr/>
        </p:nvSpPr>
        <p:spPr>
          <a:xfrm>
            <a:off x="6949440" y="3794760"/>
            <a:ext cx="3291840" cy="640080"/>
          </a:xfrm>
          <a:prstGeom prst="rect">
            <a:avLst/>
          </a:prstGeom>
          <a:noFill/>
          <a:ln/>
        </p:spPr>
        <p:txBody>
          <a:bodyPr wrap="square" lIns="0" tIns="0" rIns="0" bIns="0" rtlCol="0" anchor="ctr"/>
          <a:lstStyle/>
          <a:p>
            <a:pPr indent="0" marL="0">
              <a:buNone/>
            </a:pPr>
            <a:r>
              <a:rPr lang="en-US" sz="1600" dirty="0">
                <a:solidFill>
                  <a:srgbClr val="FFFFFF"/>
                </a:solidFill>
              </a:rPr>
              <a:t>studies met the criteria at the checkpoint</a:t>
            </a:r>
            <a:endParaRPr lang="en-US" sz="1600" dirty="0"/>
          </a:p>
        </p:txBody>
      </p:sp>
      <p:sp>
        <p:nvSpPr>
          <p:cNvPr id="10" name="stat primary studies analysed (23 core + 2)"/>
          <p:cNvSpPr txBox="1"/>
          <p:nvPr/>
        </p:nvSpPr>
        <p:spPr>
          <a:xfrm>
            <a:off x="6949440" y="457200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25</a:t>
            </a:r>
            <a:endParaRPr lang="en-US" sz="4400" dirty="0"/>
          </a:p>
        </p:txBody>
      </p:sp>
      <p:sp>
        <p:nvSpPr>
          <p:cNvPr id="11" name="stat label primary studies analysed (23 core + 2)"/>
          <p:cNvSpPr txBox="1"/>
          <p:nvPr/>
        </p:nvSpPr>
        <p:spPr>
          <a:xfrm>
            <a:off x="6949440" y="5440680"/>
            <a:ext cx="3291840" cy="640080"/>
          </a:xfrm>
          <a:prstGeom prst="rect">
            <a:avLst/>
          </a:prstGeom>
          <a:noFill/>
          <a:ln/>
        </p:spPr>
        <p:txBody>
          <a:bodyPr wrap="square" lIns="0" tIns="0" rIns="0" bIns="0" rtlCol="0" anchor="ctr"/>
          <a:lstStyle/>
          <a:p>
            <a:pPr indent="0" marL="0">
              <a:buNone/>
            </a:pPr>
            <a:r>
              <a:rPr lang="en-US" sz="1600" dirty="0">
                <a:solidFill>
                  <a:srgbClr val="FFFFFF"/>
                </a:solidFill>
              </a:rPr>
              <a:t>primary studies analysed (23 core + 2)</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WHAT I FOUND</a:t>
            </a:r>
            <a:endParaRPr lang="en-US" sz="3000" dirty="0"/>
          </a:p>
        </p:txBody>
      </p:sp>
      <p:sp>
        <p:nvSpPr>
          <p:cNvPr id="4" name="F5 panel"/>
          <p:cNvSpPr/>
          <p:nvPr/>
        </p:nvSpPr>
        <p:spPr>
          <a:xfrm>
            <a:off x="640080" y="1097280"/>
            <a:ext cx="694944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749808" y="2129189"/>
            <a:ext cx="6729984" cy="3376861"/>
          </a:xfrm>
          <a:prstGeom prst="rect">
            <a:avLst/>
          </a:prstGeom>
        </p:spPr>
      </p:pic>
      <p:sp>
        <p:nvSpPr>
          <p:cNvPr id="6" name="card Conjunction gap"/>
          <p:cNvSpPr/>
          <p:nvPr/>
        </p:nvSpPr>
        <p:spPr>
          <a:xfrm>
            <a:off x="7863840" y="1280160"/>
            <a:ext cx="3657600" cy="2377440"/>
          </a:xfrm>
          <a:prstGeom prst="roundRect">
            <a:avLst>
              <a:gd name="adj" fmla="val 3846"/>
            </a:avLst>
          </a:prstGeom>
          <a:solidFill>
            <a:srgbClr val="FFFFFF">
              <a:alpha val="92000"/>
            </a:srgbClr>
          </a:solidFill>
          <a:ln w="19050">
            <a:solidFill>
              <a:srgbClr val="1FB5D6"/>
            </a:solidFill>
            <a:prstDash val="solid"/>
          </a:ln>
        </p:spPr>
      </p:sp>
      <p:sp>
        <p:nvSpPr>
          <p:cNvPr id="7" name="card text Conjunction gap"/>
          <p:cNvSpPr txBox="1"/>
          <p:nvPr/>
        </p:nvSpPr>
        <p:spPr>
          <a:xfrm>
            <a:off x="8001000" y="1371600"/>
            <a:ext cx="3383280" cy="2194560"/>
          </a:xfrm>
          <a:prstGeom prst="rect">
            <a:avLst/>
          </a:prstGeom>
          <a:noFill/>
          <a:ln/>
        </p:spPr>
        <p:txBody>
          <a:bodyPr wrap="square" rtlCol="0" anchor="t"/>
          <a:lstStyle/>
          <a:p>
            <a:pPr indent="0" marL="0">
              <a:spcAft>
                <a:spcPts val="400"/>
              </a:spcAft>
              <a:buNone/>
            </a:pPr>
            <a:r>
              <a:rPr lang="en-US" sz="1900" b="1" dirty="0">
                <a:solidFill>
                  <a:srgbClr val="0B2A4A"/>
                </a:solidFill>
              </a:rPr>
              <a:t>Conjunction gap</a:t>
            </a:r>
            <a:endParaRPr lang="en-US" sz="1900" dirty="0"/>
          </a:p>
          <a:p>
            <a:pPr indent="0" marL="0">
              <a:spcAft>
                <a:spcPts val="400"/>
              </a:spcAft>
              <a:buNone/>
            </a:pPr>
            <a:r>
              <a:rPr lang="en-US" sz="1600" dirty="0">
                <a:solidFill>
                  <a:srgbClr val="0B1F33"/>
                </a:solidFill>
              </a:rPr>
              <a:t>Each condition exists somewhere, but no study joins identity, authority, approval, policy and time in one decision.</a:t>
            </a:r>
            <a:endParaRPr lang="en-US" sz="1900" dirty="0"/>
          </a:p>
        </p:txBody>
      </p:sp>
      <p:sp>
        <p:nvSpPr>
          <p:cNvPr id="8" name="card Assurance gap"/>
          <p:cNvSpPr/>
          <p:nvPr/>
        </p:nvSpPr>
        <p:spPr>
          <a:xfrm>
            <a:off x="7863840" y="3931920"/>
            <a:ext cx="3657600" cy="2377440"/>
          </a:xfrm>
          <a:prstGeom prst="roundRect">
            <a:avLst>
              <a:gd name="adj" fmla="val 3846"/>
            </a:avLst>
          </a:prstGeom>
          <a:solidFill>
            <a:srgbClr val="FFFFFF">
              <a:alpha val="92000"/>
            </a:srgbClr>
          </a:solidFill>
          <a:ln w="19050">
            <a:solidFill>
              <a:srgbClr val="F2A900"/>
            </a:solidFill>
            <a:prstDash val="solid"/>
          </a:ln>
        </p:spPr>
      </p:sp>
      <p:sp>
        <p:nvSpPr>
          <p:cNvPr id="9" name="card text Assurance gap"/>
          <p:cNvSpPr txBox="1"/>
          <p:nvPr/>
        </p:nvSpPr>
        <p:spPr>
          <a:xfrm>
            <a:off x="8001000" y="4023360"/>
            <a:ext cx="3383280" cy="2194560"/>
          </a:xfrm>
          <a:prstGeom prst="rect">
            <a:avLst/>
          </a:prstGeom>
          <a:noFill/>
          <a:ln/>
        </p:spPr>
        <p:txBody>
          <a:bodyPr wrap="square" rtlCol="0" anchor="t"/>
          <a:lstStyle/>
          <a:p>
            <a:pPr indent="0" marL="0">
              <a:spcAft>
                <a:spcPts val="400"/>
              </a:spcAft>
              <a:buNone/>
            </a:pPr>
            <a:r>
              <a:rPr lang="en-US" sz="1900" b="1" dirty="0">
                <a:solidFill>
                  <a:srgbClr val="0B2A4A"/>
                </a:solidFill>
              </a:rPr>
              <a:t>Assurance gap</a:t>
            </a:r>
            <a:endParaRPr lang="en-US" sz="1900" dirty="0"/>
          </a:p>
          <a:p>
            <a:pPr indent="0" marL="0">
              <a:spcAft>
                <a:spcPts val="400"/>
              </a:spcAft>
              <a:buNone/>
            </a:pPr>
            <a:r>
              <a:rPr lang="en-US" sz="1600" dirty="0">
                <a:solidFill>
                  <a:srgbClr val="0B1F33"/>
                </a:solidFill>
              </a:rPr>
              <a:t>The whole decision is neither formally proved nor systematically tested. Proofs exist in only 4 of 25 studies.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GAP</a:t>
            </a:r>
            <a:endParaRPr lang="en-US" sz="3000" dirty="0"/>
          </a:p>
        </p:txBody>
      </p:sp>
      <p:sp>
        <p:nvSpPr>
          <p:cNvPr id="4" name="gap box"/>
          <p:cNvSpPr/>
          <p:nvPr/>
        </p:nvSpPr>
        <p:spPr>
          <a:xfrm>
            <a:off x="822960" y="1371600"/>
            <a:ext cx="10515600" cy="4572000"/>
          </a:xfrm>
          <a:prstGeom prst="roundRect">
            <a:avLst>
              <a:gd name="adj" fmla="val 2400"/>
            </a:avLst>
          </a:prstGeom>
          <a:solidFill>
            <a:srgbClr val="0B2A4A">
              <a:alpha val="85000"/>
            </a:srgbClr>
          </a:solidFill>
          <a:ln w="25400">
            <a:solidFill>
              <a:srgbClr val="1FB5D6"/>
            </a:solidFill>
            <a:prstDash val="solid"/>
          </a:ln>
        </p:spPr>
      </p:sp>
      <p:sp>
        <p:nvSpPr>
          <p:cNvPr id="5" name="gap text"/>
          <p:cNvSpPr txBox="1"/>
          <p:nvPr/>
        </p:nvSpPr>
        <p:spPr>
          <a:xfrm>
            <a:off x="1188720" y="1554480"/>
            <a:ext cx="9784080" cy="4206240"/>
          </a:xfrm>
          <a:prstGeom prst="rect">
            <a:avLst/>
          </a:prstGeom>
          <a:noFill/>
          <a:ln/>
        </p:spPr>
        <p:txBody>
          <a:bodyPr wrap="square" rtlCol="0" anchor="ctr"/>
          <a:lstStyle/>
          <a:p>
            <a:pPr algn="ctr" indent="0" marL="0">
              <a:buNone/>
            </a:pPr>
            <a:r>
              <a:rPr lang="en-US" sz="2400" i="1" dirty="0">
                <a:solidFill>
                  <a:srgbClr val="FFFFFF"/>
                </a:solidFill>
              </a:rPr>
              <a:t>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sz="2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QUESTIONS</a:t>
            </a:r>
            <a:endParaRPr lang="en-US" sz="3000" dirty="0"/>
          </a:p>
        </p:txBody>
      </p:sp>
      <p:sp>
        <p:nvSpPr>
          <p:cNvPr id="4" name="rq box"/>
          <p:cNvSpPr/>
          <p:nvPr/>
        </p:nvSpPr>
        <p:spPr>
          <a:xfrm>
            <a:off x="731520" y="1143000"/>
            <a:ext cx="10698480" cy="1325880"/>
          </a:xfrm>
          <a:prstGeom prst="roundRect">
            <a:avLst>
              <a:gd name="adj" fmla="val 8276"/>
            </a:avLst>
          </a:prstGeom>
          <a:solidFill>
            <a:srgbClr val="0B2A4A">
              <a:alpha val="85000"/>
            </a:srgbClr>
          </a:solidFill>
          <a:ln w="25400">
            <a:solidFill>
              <a:srgbClr val="1FB5D6"/>
            </a:solidFill>
            <a:prstDash val="solid"/>
          </a:ln>
        </p:spPr>
      </p:sp>
      <p:sp>
        <p:nvSpPr>
          <p:cNvPr id="5" name="rq text"/>
          <p:cNvSpPr txBox="1"/>
          <p:nvPr/>
        </p:nvSpPr>
        <p:spPr>
          <a:xfrm>
            <a:off x="914400" y="1188720"/>
            <a:ext cx="10332720" cy="1234440"/>
          </a:xfrm>
          <a:prstGeom prst="rect">
            <a:avLst/>
          </a:prstGeom>
          <a:noFill/>
          <a:ln/>
        </p:spPr>
        <p:txBody>
          <a:bodyPr wrap="square" rtlCol="0" anchor="ctr"/>
          <a:lstStyle/>
          <a:p>
            <a:pPr algn="ctr" indent="0" marL="0">
              <a:buNone/>
            </a:pPr>
            <a:r>
              <a:rPr lang="en-US" sz="1800" i="1" dirty="0">
                <a:solidFill>
                  <a:srgbClr val="FFFFFF"/>
                </a:solidFill>
              </a:rPr>
              <a:t>How can a trust-oriented computing framework establish and enforce trustworthy multi-party consent for decentralised healthcare data sharing under identity, authority, and policy constraints?</a:t>
            </a:r>
            <a:endParaRPr lang="en-US" sz="1800" dirty="0"/>
          </a:p>
        </p:txBody>
      </p:sp>
      <p:sp>
        <p:nvSpPr>
          <p:cNvPr id="6" name="card RQ1"/>
          <p:cNvSpPr/>
          <p:nvPr/>
        </p:nvSpPr>
        <p:spPr>
          <a:xfrm>
            <a:off x="731520" y="2606040"/>
            <a:ext cx="3429000" cy="1828800"/>
          </a:xfrm>
          <a:prstGeom prst="roundRect">
            <a:avLst>
              <a:gd name="adj" fmla="val 5000"/>
            </a:avLst>
          </a:prstGeom>
          <a:solidFill>
            <a:srgbClr val="FFFFFF">
              <a:alpha val="92000"/>
            </a:srgbClr>
          </a:solidFill>
          <a:ln w="19050">
            <a:solidFill>
              <a:srgbClr val="1FB5D6"/>
            </a:solidFill>
            <a:prstDash val="solid"/>
          </a:ln>
        </p:spPr>
      </p:sp>
      <p:sp>
        <p:nvSpPr>
          <p:cNvPr id="7" name="card text RQ1"/>
          <p:cNvSpPr txBox="1"/>
          <p:nvPr/>
        </p:nvSpPr>
        <p:spPr>
          <a:xfrm>
            <a:off x="868680" y="269748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100" dirty="0">
                <a:solidFill>
                  <a:srgbClr val="0B1F33"/>
                </a:solidFill>
              </a:rPr>
              <a:t>How can patient consent be modelled as a trust-aware authorisation object that explicitly represents identity, authority requirements, policy constraints, and authorisation evidence?</a:t>
            </a:r>
            <a:endParaRPr lang="en-US" sz="1900" dirty="0"/>
          </a:p>
        </p:txBody>
      </p:sp>
      <p:sp>
        <p:nvSpPr>
          <p:cNvPr id="8" name="card RQ2"/>
          <p:cNvSpPr/>
          <p:nvPr/>
        </p:nvSpPr>
        <p:spPr>
          <a:xfrm>
            <a:off x="4343400" y="2606040"/>
            <a:ext cx="3429000" cy="1828800"/>
          </a:xfrm>
          <a:prstGeom prst="roundRect">
            <a:avLst>
              <a:gd name="adj" fmla="val 5000"/>
            </a:avLst>
          </a:prstGeom>
          <a:solidFill>
            <a:srgbClr val="FFFFFF">
              <a:alpha val="92000"/>
            </a:srgbClr>
          </a:solidFill>
          <a:ln w="19050">
            <a:solidFill>
              <a:srgbClr val="1FB5D6"/>
            </a:solidFill>
            <a:prstDash val="solid"/>
          </a:ln>
        </p:spPr>
      </p:sp>
      <p:sp>
        <p:nvSpPr>
          <p:cNvPr id="9" name="card text RQ2"/>
          <p:cNvSpPr txBox="1"/>
          <p:nvPr/>
        </p:nvSpPr>
        <p:spPr>
          <a:xfrm>
            <a:off x="4480560" y="269748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100" dirty="0">
                <a:solidFill>
                  <a:srgbClr val="0B1F33"/>
                </a:solidFill>
              </a:rPr>
              <a:t>How can decentralised identities and verifiable credentials establish trustworthy participants while explicitly separating identity authentication from authorisation authority?</a:t>
            </a:r>
            <a:endParaRPr lang="en-US" sz="1900" dirty="0"/>
          </a:p>
        </p:txBody>
      </p:sp>
      <p:sp>
        <p:nvSpPr>
          <p:cNvPr id="10" name="card RQ3"/>
          <p:cNvSpPr/>
          <p:nvPr/>
        </p:nvSpPr>
        <p:spPr>
          <a:xfrm>
            <a:off x="7955280" y="2606040"/>
            <a:ext cx="3429000" cy="1828800"/>
          </a:xfrm>
          <a:prstGeom prst="roundRect">
            <a:avLst>
              <a:gd name="adj" fmla="val 5000"/>
            </a:avLst>
          </a:prstGeom>
          <a:solidFill>
            <a:srgbClr val="FFFFFF">
              <a:alpha val="92000"/>
            </a:srgbClr>
          </a:solidFill>
          <a:ln w="19050">
            <a:solidFill>
              <a:srgbClr val="1FB5D6"/>
            </a:solidFill>
            <a:prstDash val="solid"/>
          </a:ln>
        </p:spPr>
      </p:sp>
      <p:sp>
        <p:nvSpPr>
          <p:cNvPr id="11" name="card text RQ3"/>
          <p:cNvSpPr txBox="1"/>
          <p:nvPr/>
        </p:nvSpPr>
        <p:spPr>
          <a:xfrm>
            <a:off x="8092440" y="269748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100" dirty="0">
                <a:solidFill>
                  <a:srgbClr val="0B1F33"/>
                </a:solidFill>
              </a:rPr>
              <a:t>How can multiple independently verified participants jointly establish a trustworthy consent decision without allowing a single participant to unilaterally authorise sensitive healthcare data access?</a:t>
            </a:r>
            <a:endParaRPr lang="en-US" sz="1900" dirty="0"/>
          </a:p>
        </p:txBody>
      </p:sp>
      <p:sp>
        <p:nvSpPr>
          <p:cNvPr id="12" name="card RQ4"/>
          <p:cNvSpPr/>
          <p:nvPr/>
        </p:nvSpPr>
        <p:spPr>
          <a:xfrm>
            <a:off x="731520" y="4526280"/>
            <a:ext cx="3429000" cy="1828800"/>
          </a:xfrm>
          <a:prstGeom prst="roundRect">
            <a:avLst>
              <a:gd name="adj" fmla="val 5000"/>
            </a:avLst>
          </a:prstGeom>
          <a:solidFill>
            <a:srgbClr val="FFFFFF">
              <a:alpha val="92000"/>
            </a:srgbClr>
          </a:solidFill>
          <a:ln w="19050">
            <a:solidFill>
              <a:srgbClr val="1FB5D6"/>
            </a:solidFill>
            <a:prstDash val="solid"/>
          </a:ln>
        </p:spPr>
      </p:sp>
      <p:sp>
        <p:nvSpPr>
          <p:cNvPr id="13" name="card text RQ4"/>
          <p:cNvSpPr txBox="1"/>
          <p:nvPr/>
        </p:nvSpPr>
        <p:spPr>
          <a:xfrm>
            <a:off x="868680" y="461772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100" dirty="0">
                <a:solidFill>
                  <a:srgbClr val="0B1F33"/>
                </a:solidFill>
              </a:rPr>
              <a:t>How can policy, purpose, and data-scope constraints be incorporated into authorisation decisions so that valid identities and sufficient approvals cannot be used to obtain unauthorised healthcare data?</a:t>
            </a:r>
            <a:endParaRPr lang="en-US" sz="1900" dirty="0"/>
          </a:p>
        </p:txBody>
      </p:sp>
      <p:sp>
        <p:nvSpPr>
          <p:cNvPr id="14" name="card RQ5"/>
          <p:cNvSpPr/>
          <p:nvPr/>
        </p:nvSpPr>
        <p:spPr>
          <a:xfrm>
            <a:off x="4343400" y="4526280"/>
            <a:ext cx="3429000" cy="1828800"/>
          </a:xfrm>
          <a:prstGeom prst="roundRect">
            <a:avLst>
              <a:gd name="adj" fmla="val 5000"/>
            </a:avLst>
          </a:prstGeom>
          <a:solidFill>
            <a:srgbClr val="FFFFFF">
              <a:alpha val="92000"/>
            </a:srgbClr>
          </a:solidFill>
          <a:ln w="19050">
            <a:solidFill>
              <a:srgbClr val="1FB5D6"/>
            </a:solidFill>
            <a:prstDash val="solid"/>
          </a:ln>
        </p:spPr>
      </p:sp>
      <p:sp>
        <p:nvSpPr>
          <p:cNvPr id="15" name="card text RQ5"/>
          <p:cNvSpPr txBox="1"/>
          <p:nvPr/>
        </p:nvSpPr>
        <p:spPr>
          <a:xfrm>
            <a:off x="4480560" y="461772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100" dirty="0">
                <a:solidFill>
                  <a:srgbClr val="0B1F33"/>
                </a:solidFill>
              </a:rPr>
              <a:t>How can temporal validity and consent lifecycle controls ensure that an authorisation remains valid only within its permitted time interval and lifecycle state, and is rejected after expiration, revocation, or an unauthorised state transition?</a:t>
            </a:r>
            <a:endParaRPr lang="en-US" sz="1900" dirty="0"/>
          </a:p>
        </p:txBody>
      </p:sp>
      <p:sp>
        <p:nvSpPr>
          <p:cNvPr id="16" name="card RQ6"/>
          <p:cNvSpPr/>
          <p:nvPr/>
        </p:nvSpPr>
        <p:spPr>
          <a:xfrm>
            <a:off x="7955280" y="4526280"/>
            <a:ext cx="3429000" cy="1828800"/>
          </a:xfrm>
          <a:prstGeom prst="roundRect">
            <a:avLst>
              <a:gd name="adj" fmla="val 5000"/>
            </a:avLst>
          </a:prstGeom>
          <a:solidFill>
            <a:srgbClr val="FFFFFF">
              <a:alpha val="92000"/>
            </a:srgbClr>
          </a:solidFill>
          <a:ln w="19050">
            <a:solidFill>
              <a:srgbClr val="1FB5D6"/>
            </a:solidFill>
            <a:prstDash val="solid"/>
          </a:ln>
        </p:spPr>
      </p:sp>
      <p:sp>
        <p:nvSpPr>
          <p:cNvPr id="17" name="card text RQ6"/>
          <p:cNvSpPr txBox="1"/>
          <p:nvPr/>
        </p:nvSpPr>
        <p:spPr>
          <a:xfrm>
            <a:off x="8092440" y="461772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100" dirty="0">
                <a:solidFill>
                  <a:srgbClr val="0B1F33"/>
                </a:solidFill>
              </a:rPr>
              <a:t>How can the security properties of the proposed trust-oriented authorisation mechanism be formally defined and empirically evaluated to demonstrate that the implemented framework correctly enforces authorised and unauthorised healthcare data-access decisions?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 AND STATUS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 y="1188720"/>
          <a:ext cx="10698480" cy="914400"/>
        </p:xfrm>
        <a:graphic>
          <a:graphicData uri="http://schemas.openxmlformats.org/drawingml/2006/table">
            <a:tbl>
              <a:tblPr/>
              <a:tblGrid>
                <a:gridCol w="3017520"/>
                <a:gridCol w="6035040"/>
                <a:gridCol w="1645920"/>
              </a:tblGrid>
              <a:tr h="731520">
                <a:tc>
                  <a:txBody>
                    <a:bodyPr/>
                    <a:lstStyle/>
                    <a:p>
                      <a:pPr indent="0" marL="0">
                        <a:buNone/>
                      </a:pPr>
                      <a:r>
                        <a:rPr lang="en-US" sz="1300" b="1" dirty="0">
                          <a:solidFill>
                            <a:srgbClr val="FFFFFF"/>
                          </a:solidFill>
                        </a:rPr>
                        <a:t>Objective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300" b="1" dirty="0">
                          <a:solidFill>
                            <a:srgbClr val="0B1F33"/>
                          </a:solidFill>
                        </a:rPr>
                        <a:t>RO1 – Trust-Centric Consent Model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trust-aware consent model that represents patient consent as a structured and evaluable authorisation object.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RO2 – Decentralised Identity and Authority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decentralised identity and authority verification mechanism using decentralised identifiers and verifiable credentials.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RO3 – Trustworthy Multi-Party Authorisation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threshold-based multi-party authorisation mechanism through which multiple independently verified participants and guardians can jointly establish a trustworthy consent 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RO4 – Policy- and Context-Aware Access Control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policy-aware authorisation mechanism that evaluates the purpose and data scope of a requested operation against the constraints defined by the 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RO5 – Temporal and Lifecycle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extend the trust-oriented framework with temporal validity and consent lifecycle controls.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RO6 – Formal Security Assurance and Empirical Validation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formally analyse and empirically evaluate whether the implemented framework satisfies its defined trust and authorisation properties under representative healthcare data-sharing scenarios.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Partially 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METHODOLOGY</a:t>
            </a:r>
            <a:endParaRPr lang="en-US" sz="3000" dirty="0"/>
          </a:p>
        </p:txBody>
      </p:sp>
      <p:sp>
        <p:nvSpPr>
          <p:cNvPr id="4" name="step number 1"/>
          <p:cNvSpPr/>
          <p:nvPr/>
        </p:nvSpPr>
        <p:spPr>
          <a:xfrm>
            <a:off x="987552" y="1554480"/>
            <a:ext cx="548640" cy="548640"/>
          </a:xfrm>
          <a:prstGeom prst="ellipse">
            <a:avLst/>
          </a:prstGeom>
          <a:solidFill>
            <a:srgbClr val="1FB5D6"/>
          </a:solidFill>
          <a:ln w="19050">
            <a:solidFill>
              <a:srgbClr val="FFFFFF"/>
            </a:solidFill>
            <a:prstDash val="solid"/>
          </a:ln>
        </p:spPr>
      </p:sp>
      <p:sp>
        <p:nvSpPr>
          <p:cNvPr id="5" name="step num text 1"/>
          <p:cNvSpPr txBox="1"/>
          <p:nvPr/>
        </p:nvSpPr>
        <p:spPr>
          <a:xfrm>
            <a:off x="987552" y="1554480"/>
            <a:ext cx="548640" cy="54864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step box 1"/>
          <p:cNvSpPr/>
          <p:nvPr/>
        </p:nvSpPr>
        <p:spPr>
          <a:xfrm>
            <a:off x="502920" y="2286000"/>
            <a:ext cx="1517904" cy="2926080"/>
          </a:xfrm>
          <a:prstGeom prst="roundRect">
            <a:avLst>
              <a:gd name="adj" fmla="val 6024"/>
            </a:avLst>
          </a:prstGeom>
          <a:solidFill>
            <a:srgbClr val="FFFFFF"/>
          </a:solidFill>
          <a:ln w="19050">
            <a:solidFill>
              <a:srgbClr val="1FB5D6"/>
            </a:solidFill>
            <a:prstDash val="solid"/>
          </a:ln>
        </p:spPr>
      </p:sp>
      <p:sp>
        <p:nvSpPr>
          <p:cNvPr id="7" name="step text 1"/>
          <p:cNvSpPr txBox="1"/>
          <p:nvPr/>
        </p:nvSpPr>
        <p:spPr>
          <a:xfrm>
            <a:off x="54864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Problem</a:t>
            </a:r>
            <a:endParaRPr lang="en-US" sz="1400" dirty="0"/>
          </a:p>
          <a:p>
            <a:pPr algn="ctr" indent="0" marL="0">
              <a:spcAft>
                <a:spcPts val="800"/>
              </a:spcAft>
              <a:buNone/>
            </a:pPr>
            <a:r>
              <a:rPr lang="en-US" sz="1300" dirty="0">
                <a:solidFill>
                  <a:srgbClr val="0B1F33"/>
                </a:solidFill>
              </a:rPr>
              <a:t>Consent is a passive record; no single trusted decision</a:t>
            </a:r>
            <a:endParaRPr lang="en-US" sz="1400" dirty="0"/>
          </a:p>
        </p:txBody>
      </p:sp>
      <p:sp>
        <p:nvSpPr>
          <p:cNvPr id="8" name="step number 2"/>
          <p:cNvSpPr/>
          <p:nvPr/>
        </p:nvSpPr>
        <p:spPr>
          <a:xfrm>
            <a:off x="2615184" y="1554480"/>
            <a:ext cx="548640" cy="548640"/>
          </a:xfrm>
          <a:prstGeom prst="ellipse">
            <a:avLst/>
          </a:prstGeom>
          <a:solidFill>
            <a:srgbClr val="1FB5D6"/>
          </a:solidFill>
          <a:ln w="19050">
            <a:solidFill>
              <a:srgbClr val="FFFFFF"/>
            </a:solidFill>
            <a:prstDash val="solid"/>
          </a:ln>
        </p:spPr>
      </p:sp>
      <p:sp>
        <p:nvSpPr>
          <p:cNvPr id="9" name="step num text 2"/>
          <p:cNvSpPr txBox="1"/>
          <p:nvPr/>
        </p:nvSpPr>
        <p:spPr>
          <a:xfrm>
            <a:off x="2615184" y="1554480"/>
            <a:ext cx="548640" cy="54864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step box 2"/>
          <p:cNvSpPr/>
          <p:nvPr/>
        </p:nvSpPr>
        <p:spPr>
          <a:xfrm>
            <a:off x="2130552" y="2286000"/>
            <a:ext cx="1517904" cy="2926080"/>
          </a:xfrm>
          <a:prstGeom prst="roundRect">
            <a:avLst>
              <a:gd name="adj" fmla="val 6024"/>
            </a:avLst>
          </a:prstGeom>
          <a:solidFill>
            <a:srgbClr val="FFFFFF"/>
          </a:solidFill>
          <a:ln w="19050">
            <a:solidFill>
              <a:srgbClr val="1FB5D6"/>
            </a:solidFill>
            <a:prstDash val="solid"/>
          </a:ln>
        </p:spPr>
      </p:sp>
      <p:sp>
        <p:nvSpPr>
          <p:cNvPr id="11" name="step text 2"/>
          <p:cNvSpPr txBox="1"/>
          <p:nvPr/>
        </p:nvSpPr>
        <p:spPr>
          <a:xfrm>
            <a:off x="217627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Literature review</a:t>
            </a:r>
            <a:endParaRPr lang="en-US" sz="1400" dirty="0"/>
          </a:p>
          <a:p>
            <a:pPr algn="ctr" indent="0" marL="0">
              <a:spcAft>
                <a:spcPts val="800"/>
              </a:spcAft>
              <a:buNone/>
            </a:pPr>
            <a:r>
              <a:rPr lang="en-US" sz="1300" dirty="0">
                <a:solidFill>
                  <a:srgbClr val="0B1F33"/>
                </a:solidFill>
              </a:rPr>
              <a:t>PRISMA 2020; 25 primary studies</a:t>
            </a:r>
            <a:endParaRPr lang="en-US" sz="1400" dirty="0"/>
          </a:p>
        </p:txBody>
      </p:sp>
      <p:sp>
        <p:nvSpPr>
          <p:cNvPr id="12" name="step number 3"/>
          <p:cNvSpPr/>
          <p:nvPr/>
        </p:nvSpPr>
        <p:spPr>
          <a:xfrm>
            <a:off x="4242816" y="1554480"/>
            <a:ext cx="548640" cy="548640"/>
          </a:xfrm>
          <a:prstGeom prst="ellipse">
            <a:avLst/>
          </a:prstGeom>
          <a:solidFill>
            <a:srgbClr val="1FB5D6"/>
          </a:solidFill>
          <a:ln w="19050">
            <a:solidFill>
              <a:srgbClr val="FFFFFF"/>
            </a:solidFill>
            <a:prstDash val="solid"/>
          </a:ln>
        </p:spPr>
      </p:sp>
      <p:sp>
        <p:nvSpPr>
          <p:cNvPr id="13" name="step num text 3"/>
          <p:cNvSpPr txBox="1"/>
          <p:nvPr/>
        </p:nvSpPr>
        <p:spPr>
          <a:xfrm>
            <a:off x="4242816" y="1554480"/>
            <a:ext cx="548640" cy="54864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step box 3"/>
          <p:cNvSpPr/>
          <p:nvPr/>
        </p:nvSpPr>
        <p:spPr>
          <a:xfrm>
            <a:off x="3758184" y="2286000"/>
            <a:ext cx="1517904" cy="2926080"/>
          </a:xfrm>
          <a:prstGeom prst="roundRect">
            <a:avLst>
              <a:gd name="adj" fmla="val 6024"/>
            </a:avLst>
          </a:prstGeom>
          <a:solidFill>
            <a:srgbClr val="FFFFFF"/>
          </a:solidFill>
          <a:ln w="19050">
            <a:solidFill>
              <a:srgbClr val="1FB5D6"/>
            </a:solidFill>
            <a:prstDash val="solid"/>
          </a:ln>
        </p:spPr>
      </p:sp>
      <p:sp>
        <p:nvSpPr>
          <p:cNvPr id="15" name="step text 3"/>
          <p:cNvSpPr txBox="1"/>
          <p:nvPr/>
        </p:nvSpPr>
        <p:spPr>
          <a:xfrm>
            <a:off x="3803904"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Gap and questions</a:t>
            </a:r>
            <a:endParaRPr lang="en-US" sz="1400" dirty="0"/>
          </a:p>
          <a:p>
            <a:pPr algn="ctr" indent="0" marL="0">
              <a:spcAft>
                <a:spcPts val="800"/>
              </a:spcAft>
              <a:buNone/>
            </a:pPr>
            <a:r>
              <a:rPr lang="en-US" sz="1300" dirty="0">
                <a:solidFill>
                  <a:srgbClr val="0B1F33"/>
                </a:solidFill>
              </a:rPr>
              <a:t>Research gap; RQ1 to RQ6</a:t>
            </a:r>
            <a:endParaRPr lang="en-US" sz="1400" dirty="0"/>
          </a:p>
        </p:txBody>
      </p:sp>
      <p:sp>
        <p:nvSpPr>
          <p:cNvPr id="16" name="step number 4"/>
          <p:cNvSpPr/>
          <p:nvPr/>
        </p:nvSpPr>
        <p:spPr>
          <a:xfrm>
            <a:off x="5870448" y="1554480"/>
            <a:ext cx="548640" cy="548640"/>
          </a:xfrm>
          <a:prstGeom prst="ellipse">
            <a:avLst/>
          </a:prstGeom>
          <a:solidFill>
            <a:srgbClr val="1FB5D6"/>
          </a:solidFill>
          <a:ln w="19050">
            <a:solidFill>
              <a:srgbClr val="FFFFFF"/>
            </a:solidFill>
            <a:prstDash val="solid"/>
          </a:ln>
        </p:spPr>
      </p:sp>
      <p:sp>
        <p:nvSpPr>
          <p:cNvPr id="17" name="step num text 4"/>
          <p:cNvSpPr txBox="1"/>
          <p:nvPr/>
        </p:nvSpPr>
        <p:spPr>
          <a:xfrm>
            <a:off x="5870448" y="1554480"/>
            <a:ext cx="548640" cy="54864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step box 4"/>
          <p:cNvSpPr/>
          <p:nvPr/>
        </p:nvSpPr>
        <p:spPr>
          <a:xfrm>
            <a:off x="5385816" y="2286000"/>
            <a:ext cx="1517904" cy="2926080"/>
          </a:xfrm>
          <a:prstGeom prst="roundRect">
            <a:avLst>
              <a:gd name="adj" fmla="val 6024"/>
            </a:avLst>
          </a:prstGeom>
          <a:solidFill>
            <a:srgbClr val="FFFFFF"/>
          </a:solidFill>
          <a:ln w="19050">
            <a:solidFill>
              <a:srgbClr val="1FB5D6"/>
            </a:solidFill>
            <a:prstDash val="solid"/>
          </a:ln>
        </p:spPr>
      </p:sp>
      <p:sp>
        <p:nvSpPr>
          <p:cNvPr id="19" name="step text 4"/>
          <p:cNvSpPr txBox="1"/>
          <p:nvPr/>
        </p:nvSpPr>
        <p:spPr>
          <a:xfrm>
            <a:off x="5431536"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Objectives</a:t>
            </a:r>
            <a:endParaRPr lang="en-US" sz="1400" dirty="0"/>
          </a:p>
          <a:p>
            <a:pPr algn="ctr" indent="0" marL="0">
              <a:spcAft>
                <a:spcPts val="800"/>
              </a:spcAft>
              <a:buNone/>
            </a:pPr>
            <a:r>
              <a:rPr lang="en-US" sz="1300" dirty="0">
                <a:solidFill>
                  <a:srgbClr val="0B1F33"/>
                </a:solidFill>
              </a:rPr>
              <a:t>RO1 to RO6</a:t>
            </a:r>
            <a:endParaRPr lang="en-US" sz="1400" dirty="0"/>
          </a:p>
        </p:txBody>
      </p:sp>
      <p:sp>
        <p:nvSpPr>
          <p:cNvPr id="20" name="step number 5"/>
          <p:cNvSpPr/>
          <p:nvPr/>
        </p:nvSpPr>
        <p:spPr>
          <a:xfrm>
            <a:off x="7498080" y="1554480"/>
            <a:ext cx="548640" cy="548640"/>
          </a:xfrm>
          <a:prstGeom prst="ellipse">
            <a:avLst/>
          </a:prstGeom>
          <a:solidFill>
            <a:srgbClr val="1FB5D6"/>
          </a:solidFill>
          <a:ln w="19050">
            <a:solidFill>
              <a:srgbClr val="FFFFFF"/>
            </a:solidFill>
            <a:prstDash val="solid"/>
          </a:ln>
        </p:spPr>
      </p:sp>
      <p:sp>
        <p:nvSpPr>
          <p:cNvPr id="21" name="step num text 5"/>
          <p:cNvSpPr txBox="1"/>
          <p:nvPr/>
        </p:nvSpPr>
        <p:spPr>
          <a:xfrm>
            <a:off x="7498080" y="1554480"/>
            <a:ext cx="548640" cy="54864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step box 5"/>
          <p:cNvSpPr/>
          <p:nvPr/>
        </p:nvSpPr>
        <p:spPr>
          <a:xfrm>
            <a:off x="7013448" y="2286000"/>
            <a:ext cx="1517904" cy="2926080"/>
          </a:xfrm>
          <a:prstGeom prst="roundRect">
            <a:avLst>
              <a:gd name="adj" fmla="val 6024"/>
            </a:avLst>
          </a:prstGeom>
          <a:solidFill>
            <a:srgbClr val="FFFFFF"/>
          </a:solidFill>
          <a:ln w="19050">
            <a:solidFill>
              <a:srgbClr val="1FB5D6"/>
            </a:solidFill>
            <a:prstDash val="solid"/>
          </a:ln>
        </p:spPr>
      </p:sp>
      <p:sp>
        <p:nvSpPr>
          <p:cNvPr id="23" name="step text 5"/>
          <p:cNvSpPr txBox="1"/>
          <p:nvPr/>
        </p:nvSpPr>
        <p:spPr>
          <a:xfrm>
            <a:off x="7059168"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Design</a:t>
            </a:r>
            <a:endParaRPr lang="en-US" sz="1400" dirty="0"/>
          </a:p>
          <a:p>
            <a:pPr algn="ctr" indent="0" marL="0">
              <a:spcAft>
                <a:spcPts val="800"/>
              </a:spcAft>
              <a:buNone/>
            </a:pPr>
            <a:r>
              <a:rPr lang="en-US" sz="1300" dirty="0">
                <a:solidFill>
                  <a:srgbClr val="0B1F33"/>
                </a:solidFill>
              </a:rPr>
              <a:t>MVC architecture, consent object C, Algorithms 1 to 4</a:t>
            </a:r>
            <a:endParaRPr lang="en-US" sz="1400" dirty="0"/>
          </a:p>
        </p:txBody>
      </p:sp>
      <p:sp>
        <p:nvSpPr>
          <p:cNvPr id="24" name="step number 6"/>
          <p:cNvSpPr/>
          <p:nvPr/>
        </p:nvSpPr>
        <p:spPr>
          <a:xfrm>
            <a:off x="9125712" y="1554480"/>
            <a:ext cx="548640" cy="548640"/>
          </a:xfrm>
          <a:prstGeom prst="ellipse">
            <a:avLst/>
          </a:prstGeom>
          <a:solidFill>
            <a:srgbClr val="1FB5D6"/>
          </a:solidFill>
          <a:ln w="19050">
            <a:solidFill>
              <a:srgbClr val="FFFFFF"/>
            </a:solidFill>
            <a:prstDash val="solid"/>
          </a:ln>
        </p:spPr>
      </p:sp>
      <p:sp>
        <p:nvSpPr>
          <p:cNvPr id="25" name="step num text 6"/>
          <p:cNvSpPr txBox="1"/>
          <p:nvPr/>
        </p:nvSpPr>
        <p:spPr>
          <a:xfrm>
            <a:off x="9125712" y="1554480"/>
            <a:ext cx="548640" cy="548640"/>
          </a:xfrm>
          <a:prstGeom prst="rect">
            <a:avLst/>
          </a:prstGeom>
          <a:noFill/>
          <a:ln/>
        </p:spPr>
        <p:txBody>
          <a:bodyPr wrap="square" rtlCol="0" anchor="ctr"/>
          <a:lstStyle/>
          <a:p>
            <a:pPr algn="ctr" indent="0" marL="0">
              <a:buNone/>
            </a:pPr>
            <a:r>
              <a:rPr lang="en-US" sz="2000" b="1" dirty="0">
                <a:solidFill>
                  <a:srgbClr val="FFFFFF"/>
                </a:solidFill>
              </a:rPr>
              <a:t>6</a:t>
            </a:r>
            <a:endParaRPr lang="en-US" sz="2000" dirty="0"/>
          </a:p>
        </p:txBody>
      </p:sp>
      <p:sp>
        <p:nvSpPr>
          <p:cNvPr id="26" name="step box 6"/>
          <p:cNvSpPr/>
          <p:nvPr/>
        </p:nvSpPr>
        <p:spPr>
          <a:xfrm>
            <a:off x="8641080" y="2286000"/>
            <a:ext cx="1517904" cy="2926080"/>
          </a:xfrm>
          <a:prstGeom prst="roundRect">
            <a:avLst>
              <a:gd name="adj" fmla="val 6024"/>
            </a:avLst>
          </a:prstGeom>
          <a:solidFill>
            <a:srgbClr val="FFFFFF"/>
          </a:solidFill>
          <a:ln w="19050">
            <a:solidFill>
              <a:srgbClr val="1FB5D6"/>
            </a:solidFill>
            <a:prstDash val="solid"/>
          </a:ln>
        </p:spPr>
      </p:sp>
      <p:sp>
        <p:nvSpPr>
          <p:cNvPr id="27" name="step text 6"/>
          <p:cNvSpPr txBox="1"/>
          <p:nvPr/>
        </p:nvSpPr>
        <p:spPr>
          <a:xfrm>
            <a:off x="868680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Prototype</a:t>
            </a:r>
            <a:endParaRPr lang="en-US" sz="1400" dirty="0"/>
          </a:p>
          <a:p>
            <a:pPr algn="ctr" indent="0" marL="0">
              <a:spcAft>
                <a:spcPts val="800"/>
              </a:spcAft>
              <a:buNone/>
            </a:pPr>
            <a:r>
              <a:rPr lang="en-US" sz="1300" dirty="0">
                <a:solidFill>
                  <a:srgbClr val="0B1F33"/>
                </a:solidFill>
              </a:rPr>
              <a:t>HALAH; ConsentSBTv3 on Sepolia</a:t>
            </a:r>
            <a:endParaRPr lang="en-US" sz="1400" dirty="0"/>
          </a:p>
        </p:txBody>
      </p:sp>
      <p:sp>
        <p:nvSpPr>
          <p:cNvPr id="28" name="step number 7"/>
          <p:cNvSpPr/>
          <p:nvPr/>
        </p:nvSpPr>
        <p:spPr>
          <a:xfrm>
            <a:off x="10753344" y="1554480"/>
            <a:ext cx="548640" cy="548640"/>
          </a:xfrm>
          <a:prstGeom prst="ellipse">
            <a:avLst/>
          </a:prstGeom>
          <a:solidFill>
            <a:srgbClr val="6D5BA8"/>
          </a:solidFill>
          <a:ln w="19050">
            <a:solidFill>
              <a:srgbClr val="FFFFFF"/>
            </a:solidFill>
            <a:prstDash val="solid"/>
          </a:ln>
        </p:spPr>
      </p:sp>
      <p:sp>
        <p:nvSpPr>
          <p:cNvPr id="29" name="step num text 7"/>
          <p:cNvSpPr txBox="1"/>
          <p:nvPr/>
        </p:nvSpPr>
        <p:spPr>
          <a:xfrm>
            <a:off x="10753344" y="1554480"/>
            <a:ext cx="548640" cy="548640"/>
          </a:xfrm>
          <a:prstGeom prst="rect">
            <a:avLst/>
          </a:prstGeom>
          <a:noFill/>
          <a:ln/>
        </p:spPr>
        <p:txBody>
          <a:bodyPr wrap="square" rtlCol="0" anchor="ctr"/>
          <a:lstStyle/>
          <a:p>
            <a:pPr algn="ctr" indent="0" marL="0">
              <a:buNone/>
            </a:pPr>
            <a:r>
              <a:rPr lang="en-US" sz="2000" b="1" dirty="0">
                <a:solidFill>
                  <a:srgbClr val="FFFFFF"/>
                </a:solidFill>
              </a:rPr>
              <a:t>7</a:t>
            </a:r>
            <a:endParaRPr lang="en-US" sz="2000" dirty="0"/>
          </a:p>
        </p:txBody>
      </p:sp>
      <p:sp>
        <p:nvSpPr>
          <p:cNvPr id="30" name="step box 7"/>
          <p:cNvSpPr/>
          <p:nvPr/>
        </p:nvSpPr>
        <p:spPr>
          <a:xfrm>
            <a:off x="10268712" y="2286000"/>
            <a:ext cx="1517904" cy="2926080"/>
          </a:xfrm>
          <a:prstGeom prst="roundRect">
            <a:avLst>
              <a:gd name="adj" fmla="val 6024"/>
            </a:avLst>
          </a:prstGeom>
          <a:solidFill>
            <a:srgbClr val="FFFFFF"/>
          </a:solidFill>
          <a:ln w="19050">
            <a:solidFill>
              <a:srgbClr val="1FB5D6"/>
            </a:solidFill>
            <a:prstDash val="solid"/>
          </a:ln>
        </p:spPr>
      </p:sp>
      <p:sp>
        <p:nvSpPr>
          <p:cNvPr id="31" name="step text 7"/>
          <p:cNvSpPr txBox="1"/>
          <p:nvPr/>
        </p:nvSpPr>
        <p:spPr>
          <a:xfrm>
            <a:off x="1031443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Evaluation</a:t>
            </a:r>
            <a:endParaRPr lang="en-US" sz="1400" dirty="0"/>
          </a:p>
          <a:p>
            <a:pPr algn="ctr" indent="0" marL="0">
              <a:spcAft>
                <a:spcPts val="800"/>
              </a:spcAft>
              <a:buNone/>
            </a:pPr>
            <a:r>
              <a:rPr lang="en-US" sz="1300" dirty="0">
                <a:solidFill>
                  <a:srgbClr val="0B1F33"/>
                </a:solidFill>
              </a:rPr>
              <a:t>Live scenarios, measurements and 13 attack tests; formal proofs next</a:t>
            </a:r>
            <a:endParaRPr lang="en-US" sz="1400" dirty="0"/>
          </a:p>
        </p:txBody>
      </p:sp>
      <p:sp>
        <p:nvSpPr>
          <p:cNvPr id="32" name="process arrow"/>
          <p:cNvSpPr/>
          <p:nvPr/>
        </p:nvSpPr>
        <p:spPr>
          <a:xfrm>
            <a:off x="502920" y="5486400"/>
            <a:ext cx="11247120" cy="411480"/>
          </a:xfrm>
          <a:prstGeom prst="rightArrow">
            <a:avLst/>
          </a:prstGeom>
          <a:solidFill>
            <a:srgbClr val="1FB5D6">
              <a:alpha val="75000"/>
            </a:srgbClr>
          </a:solidFill>
          <a:ln w="12700">
            <a:solidFill>
              <a:srgbClr val="1FB5D6"/>
            </a:solidFill>
            <a:prstDash val="solid"/>
          </a:ln>
        </p:spPr>
      </p:sp>
      <p:sp>
        <p:nvSpPr>
          <p:cNvPr id="33" name="arrow label"/>
          <p:cNvSpPr txBox="1"/>
          <p:nvPr/>
        </p:nvSpPr>
        <p:spPr>
          <a:xfrm>
            <a:off x="731520" y="5486400"/>
            <a:ext cx="10515600" cy="411480"/>
          </a:xfrm>
          <a:prstGeom prst="rect">
            <a:avLst/>
          </a:prstGeom>
          <a:noFill/>
          <a:ln/>
        </p:spPr>
        <p:txBody>
          <a:bodyPr wrap="square" rtlCol="0" anchor="ctr"/>
          <a:lstStyle/>
          <a:p>
            <a:pPr algn="ctr" indent="0" marL="0">
              <a:buNone/>
            </a:pPr>
            <a:r>
              <a:rPr lang="en-US" sz="1400" b="1" dirty="0">
                <a:solidFill>
                  <a:srgbClr val="FFFFFF"/>
                </a:solidFill>
              </a:rPr>
              <a:t>From the problem to the evaluated prototype</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ARCHITECTURE</a:t>
            </a:r>
            <a:endParaRPr lang="en-US" sz="3000" dirty="0"/>
          </a:p>
        </p:txBody>
      </p:sp>
      <p:sp>
        <p:nvSpPr>
          <p:cNvPr id="4" name="F6 panel"/>
          <p:cNvSpPr/>
          <p:nvPr/>
        </p:nvSpPr>
        <p:spPr>
          <a:xfrm>
            <a:off x="1737360" y="1097280"/>
            <a:ext cx="8695944"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9371"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THE DECISION RULE</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Decision(C, R, t) = ALLOW  ⟺  VI(u) ∧ VA(C) ∧ VP(C, R) ∧ VT(C, t) ∧ </a:t>
            </a:r>
            <a:r>
              <a:rPr lang="en-US" sz="2000" b="1" dirty="0">
                <a:solidFill>
                  <a:srgbClr val="FFFFFF"/>
                </a:solidFill>
                <a:latin typeface="Cambria" pitchFamily="34" charset="0"/>
                <a:ea typeface="Cambria" pitchFamily="34" charset="-122"/>
                <a:cs typeface="Cambria" pitchFamily="34" charset="-120"/>
              </a:rPr>
              <a:t>VL(C)</a:t>
            </a:r>
            <a:endParaRPr lang="en-US" sz="2000" dirty="0"/>
          </a:p>
        </p:txBody>
      </p:sp>
      <p:sp>
        <p:nvSpPr>
          <p:cNvPr id="6" name="card VI"/>
          <p:cNvSpPr/>
          <p:nvPr/>
        </p:nvSpPr>
        <p:spPr>
          <a:xfrm>
            <a:off x="731520"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Identity and authority validity</a:t>
            </a:r>
            <a:endParaRPr lang="en-US" sz="1900" dirty="0"/>
          </a:p>
        </p:txBody>
      </p:sp>
      <p:sp>
        <p:nvSpPr>
          <p:cNvPr id="8" name="card VA"/>
          <p:cNvSpPr/>
          <p:nvPr/>
        </p:nvSpPr>
        <p:spPr>
          <a:xfrm>
            <a:off x="2898648"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Collective authorisation validity</a:t>
            </a:r>
            <a:endParaRPr lang="en-US" sz="1900" dirty="0"/>
          </a:p>
        </p:txBody>
      </p:sp>
      <p:sp>
        <p:nvSpPr>
          <p:cNvPr id="10" name="card VP"/>
          <p:cNvSpPr/>
          <p:nvPr/>
        </p:nvSpPr>
        <p:spPr>
          <a:xfrm>
            <a:off x="5065776"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Policy and contextual compliance</a:t>
            </a:r>
            <a:endParaRPr lang="en-US" sz="1900" dirty="0"/>
          </a:p>
        </p:txBody>
      </p:sp>
      <p:sp>
        <p:nvSpPr>
          <p:cNvPr id="12" name="card VT"/>
          <p:cNvSpPr/>
          <p:nvPr/>
        </p:nvSpPr>
        <p:spPr>
          <a:xfrm>
            <a:off x="7232904"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Temporal validity</a:t>
            </a:r>
            <a:endParaRPr lang="en-US" sz="1900" dirty="0"/>
          </a:p>
        </p:txBody>
      </p:sp>
      <p:sp>
        <p:nvSpPr>
          <p:cNvPr id="14" name="card VL"/>
          <p:cNvSpPr/>
          <p:nvPr/>
        </p:nvSpPr>
        <p:spPr>
          <a:xfrm>
            <a:off x="9400032"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Consent lifecycle validity</a:t>
            </a:r>
            <a:endParaRPr lang="en-US" sz="1900" dirty="0"/>
          </a:p>
        </p:txBody>
      </p:sp>
      <p:sp>
        <p:nvSpPr>
          <p:cNvPr id="16" name="bullets"/>
          <p:cNvSpPr txBox="1"/>
          <p:nvPr/>
        </p:nvSpPr>
        <p:spPr>
          <a:xfrm>
            <a:off x="822960" y="4480560"/>
            <a:ext cx="10515600" cy="1828800"/>
          </a:xfrm>
          <a:prstGeom prst="rect">
            <a:avLst/>
          </a:prstGeom>
          <a:noFill/>
          <a:ln/>
        </p:spPr>
        <p:txBody>
          <a:bodyPr wrap="square" rtlCol="0" anchor="t"/>
          <a:lstStyle/>
          <a:p>
            <a:pPr marL="342900" indent="-342900">
              <a:spcAft>
                <a:spcPts val="1000"/>
              </a:spcAft>
              <a:buSzPct val="100000"/>
              <a:buChar char="•"/>
            </a:pPr>
            <a:r>
              <a:rPr lang="en-US" sz="1800" dirty="0">
                <a:solidFill>
                  <a:srgbClr val="FFFFFF"/>
                </a:solidFill>
              </a:rPr>
              <a:t>One failed check is enough to say DENY.</a:t>
            </a:r>
            <a:endParaRPr lang="en-US" sz="1800" dirty="0"/>
          </a:p>
          <a:p>
            <a:pPr marL="342900" indent="-342900">
              <a:spcAft>
                <a:spcPts val="1000"/>
              </a:spcAft>
              <a:buSzPct val="100000"/>
              <a:buChar char="•"/>
            </a:pPr>
            <a:r>
              <a:rPr lang="en-US" sz="1800" dirty="0">
                <a:solidFill>
                  <a:srgbClr val="FFFFFF"/>
                </a:solidFill>
              </a:rPr>
              <a:t>A Groth16 zero-knowledge proof must also verify before any data is released.</a:t>
            </a:r>
            <a:endParaRPr lang="en-US" sz="1800" dirty="0"/>
          </a:p>
          <a:p>
            <a:pPr marL="342900" indent="-342900">
              <a:spcAft>
                <a:spcPts val="1000"/>
              </a:spcAft>
              <a:buSzPct val="100000"/>
              <a:buChar char="•"/>
            </a:pPr>
            <a:r>
              <a:rPr lang="en-US" sz="1800" dirty="0">
                <a:solidFill>
                  <a:srgbClr val="FFFFFF"/>
                </a:solidFill>
              </a:rPr>
              <a:t>Every access decision, allowed or denied, is written to the off-chain audit ledger with its decision matrix.</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1: THE PATIENT CREATES THE CONSENT</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RO1: </a:t>
            </a:r>
            <a:r>
              <a:rPr lang="en-US" sz="1700" b="1" i="1" dirty="0">
                <a:solidFill>
                  <a:srgbClr val="1FB5D6"/>
                </a:solidFill>
              </a:rPr>
              <a:t>Trust-Centric Consent Model</a:t>
            </a:r>
            <a:endParaRPr lang="en-US" sz="1700" dirty="0"/>
          </a:p>
        </p:txBody>
      </p:sp>
      <p:sp>
        <p:nvSpPr>
          <p:cNvPr id="5"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chooses the doctor, the guardians, the data modules, </a:t>
            </a:r>
            <a:r>
              <a:rPr lang="en-US" sz="1600" dirty="0">
                <a:solidFill>
                  <a:srgbClr val="FFFFFF"/>
                </a:solidFill>
              </a:rPr>
              <a:t>and</a:t>
            </a:r>
            <a:r>
              <a:rPr lang="en-US" sz="1600" dirty="0">
                <a:solidFill>
                  <a:srgbClr val="FFFFFF"/>
                </a:solidFill>
              </a:rPr>
              <a:t> the start and expiry time.</a:t>
            </a:r>
            <a:endParaRPr lang="en-US" sz="1600" dirty="0"/>
          </a:p>
          <a:p>
            <a:pPr marL="342900" indent="-342900">
              <a:spcAft>
                <a:spcPts val="1000"/>
              </a:spcAft>
              <a:buSzPct val="100000"/>
              <a:buChar char="•"/>
            </a:pPr>
            <a:r>
              <a:rPr lang="en-US" sz="1600" dirty="0">
                <a:solidFill>
                  <a:srgbClr val="FFFFFF"/>
                </a:solidFill>
              </a:rPr>
              <a:t>In this prototype the purpose is fixed to Treatment.</a:t>
            </a:r>
            <a:endParaRPr lang="en-US" sz="1600" dirty="0"/>
          </a:p>
          <a:p>
            <a:pPr marL="342900" indent="-342900">
              <a:spcAft>
                <a:spcPts val="1000"/>
              </a:spcAft>
              <a:buSzPct val="100000"/>
              <a:buChar char="•"/>
            </a:pPr>
            <a:r>
              <a:rPr lang="en-US" sz="1600" dirty="0">
                <a:solidFill>
                  <a:srgbClr val="FFFFFF"/>
                </a:solidFill>
              </a:rPr>
              <a:t>Bad input is rejected, for example an empty data scope or a malformed guardian DID.</a:t>
            </a:r>
            <a:endParaRPr lang="en-US" sz="1600" dirty="0"/>
          </a:p>
          <a:p>
            <a:pPr marL="342900" indent="-342900">
              <a:spcAft>
                <a:spcPts val="1000"/>
              </a:spcAft>
              <a:buSzPct val="100000"/>
              <a:buChar char="•"/>
            </a:pPr>
            <a:r>
              <a:rPr lang="en-US" sz="1600" dirty="0">
                <a:solidFill>
                  <a:srgbClr val="FFFFFF"/>
                </a:solidFill>
              </a:rPr>
              <a:t>The system creates the consent object, assigns a consent identifier, persists the record, and records the creation event in the audit layer.</a:t>
            </a:r>
            <a:endParaRPr lang="en-US" sz="1600" dirty="0"/>
          </a:p>
          <a:p>
            <a:pPr marL="342900" indent="-342900">
              <a:spcAft>
                <a:spcPts val="1000"/>
              </a:spcAft>
              <a:buSzPct val="100000"/>
              <a:buChar char="•"/>
            </a:pPr>
            <a:r>
              <a:rPr lang="en-US" sz="1600" dirty="0">
                <a:solidFill>
                  <a:srgbClr val="FFFFFF"/>
                </a:solidFill>
              </a:rPr>
              <a:t>Nothing goes on the blockchain until all guardians approve.</a:t>
            </a:r>
            <a:endParaRPr lang="en-US" sz="1600" dirty="0"/>
          </a:p>
        </p:txBody>
      </p:sp>
      <p:sp>
        <p:nvSpPr>
          <p:cNvPr id="8" name="ALG1 panel"/>
          <p:cNvSpPr/>
          <p:nvPr/>
        </p:nvSpPr>
        <p:spPr>
          <a:xfrm>
            <a:off x="6035040" y="1745454"/>
            <a:ext cx="5715000" cy="3961452"/>
          </a:xfrm>
          <a:prstGeom prst="roundRect">
            <a:avLst>
              <a:gd name="adj" fmla="val 277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1" descr="/tmp/deck/img/ALG1.png">    </p:cNvPr>
          <p:cNvPicPr>
            <a:picLocks noChangeAspect="1"/>
          </p:cNvPicPr>
          <p:nvPr/>
        </p:nvPicPr>
        <p:blipFill>
          <a:blip r:embed="rId1"/>
          <a:stretch>
            <a:fillRect/>
          </a:stretch>
        </p:blipFill>
        <p:spPr>
          <a:xfrm>
            <a:off x="6144768" y="1855182"/>
            <a:ext cx="5495544" cy="374199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1: ALGORITHM 1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RO1: </a:t>
            </a:r>
            <a:r>
              <a:rPr lang="en-US" sz="1500" b="1" i="1" dirty="0">
                <a:solidFill>
                  <a:srgbClr val="1FB5D6"/>
                </a:solidFill>
              </a:rPr>
              <a:t>Trust-Centric Consent Model</a:t>
            </a:r>
            <a:endParaRPr lang="en-US" sz="1500" dirty="0"/>
          </a:p>
        </p:txBody>
      </p:sp>
      <p:sp>
        <p:nvSpPr>
          <p:cNvPr id="4"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6" name="F10 panel"/>
          <p:cNvSpPr/>
          <p:nvPr/>
        </p:nvSpPr>
        <p:spPr>
          <a:xfrm>
            <a:off x="4743972" y="960120"/>
            <a:ext cx="2703751" cy="5532120"/>
          </a:xfrm>
          <a:prstGeom prst="roundRect">
            <a:avLst>
              <a:gd name="adj" fmla="val 4058"/>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0" descr="/tmp/deck/img/F10.png">    </p:cNvPr>
          <p:cNvPicPr>
            <a:picLocks noChangeAspect="1"/>
          </p:cNvPicPr>
          <p:nvPr/>
        </p:nvPicPr>
        <p:blipFill>
          <a:blip r:embed="rId1"/>
          <a:stretch>
            <a:fillRect/>
          </a:stretch>
        </p:blipFill>
        <p:spPr>
          <a:xfrm>
            <a:off x="4853700" y="1069848"/>
            <a:ext cx="248429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2: WHO ARE YOU, AND WHAT MAY YOU DO?</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RO2: </a:t>
            </a:r>
            <a:r>
              <a:rPr lang="en-US" sz="1700" b="1" i="1" dirty="0">
                <a:solidFill>
                  <a:srgbClr val="1FB5D6"/>
                </a:solidFill>
              </a:rPr>
              <a:t>Decentralised Identity and Authority Trust</a:t>
            </a:r>
            <a:endParaRPr lang="en-US" sz="1700" dirty="0"/>
          </a:p>
        </p:txBody>
      </p:sp>
      <p:sp>
        <p:nvSpPr>
          <p:cNvPr id="5"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500" dirty="0">
                <a:solidFill>
                  <a:srgbClr val="FFFFFF"/>
                </a:solidFill>
              </a:rPr>
              <a:t>Identity is checked through the DID; authority through a verifiable credential.</a:t>
            </a:r>
            <a:endParaRPr lang="en-US" sz="1500" dirty="0"/>
          </a:p>
          <a:p>
            <a:pPr marL="342900" indent="-342900">
              <a:spcAft>
                <a:spcPts val="1000"/>
              </a:spcAft>
              <a:buSzPct val="100000"/>
              <a:buChar char="•"/>
            </a:pPr>
            <a:r>
              <a:rPr lang="en-US" sz="1500" dirty="0">
                <a:solidFill>
                  <a:srgbClr val="FFFFFF"/>
                </a:solidFill>
              </a:rPr>
              <a:t>Identity is not authority: a valid DID alone never gives access.</a:t>
            </a:r>
            <a:endParaRPr lang="en-US" sz="1500" dirty="0"/>
          </a:p>
          <a:p>
            <a:pPr marL="342900" indent="-342900">
              <a:spcAft>
                <a:spcPts val="1000"/>
              </a:spcAft>
              <a:buSzPct val="100000"/>
              <a:buChar char="•"/>
            </a:pPr>
            <a:r>
              <a:rPr lang="en-US" sz="1500" dirty="0">
                <a:solidFill>
                  <a:srgbClr val="FFFFFF"/>
                </a:solidFill>
              </a:rPr>
              <a:t>In the HALAH implementation, the Guardian workflow uses a selected guardian DID and invokes VC verification before adding the guardian's signature to the consent.</a:t>
            </a:r>
            <a:endParaRPr lang="en-US" sz="1500" dirty="0"/>
          </a:p>
          <a:p>
            <a:pPr marL="342900" indent="-342900">
              <a:spcAft>
                <a:spcPts val="1000"/>
              </a:spcAft>
              <a:buSzPct val="100000"/>
              <a:buChar char="•"/>
            </a:pPr>
            <a:r>
              <a:rPr lang="en-US" sz="1500" dirty="0">
                <a:solidFill>
                  <a:srgbClr val="FFFFFF"/>
                </a:solidFill>
              </a:rPr>
              <a:t>Full DID resolution </a:t>
            </a:r>
            <a:r>
              <a:rPr lang="en-US" sz="1500" dirty="0">
                <a:solidFill>
                  <a:srgbClr val="FFFFFF"/>
                </a:solidFill>
              </a:rPr>
              <a:t>is</a:t>
            </a:r>
            <a:r>
              <a:rPr lang="en-US" sz="1500" dirty="0">
                <a:solidFill>
                  <a:srgbClr val="FFFFFF"/>
                </a:solidFill>
              </a:rPr>
              <a:t> planned for the next stage.</a:t>
            </a:r>
            <a:endParaRPr lang="en-US" sz="1500" dirty="0"/>
          </a:p>
        </p:txBody>
      </p:sp>
      <p:sp>
        <p:nvSpPr>
          <p:cNvPr id="8" name="ALG2 panel"/>
          <p:cNvSpPr/>
          <p:nvPr/>
        </p:nvSpPr>
        <p:spPr>
          <a:xfrm>
            <a:off x="6296033" y="960120"/>
            <a:ext cx="5193014" cy="5532120"/>
          </a:xfrm>
          <a:prstGeom prst="roundRect">
            <a:avLst>
              <a:gd name="adj" fmla="val 211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2" descr="/tmp/deck/img/ALG2.png">    </p:cNvPr>
          <p:cNvPicPr>
            <a:picLocks noChangeAspect="1"/>
          </p:cNvPicPr>
          <p:nvPr/>
        </p:nvPicPr>
        <p:blipFill>
          <a:blip r:embed="rId1"/>
          <a:stretch>
            <a:fillRect/>
          </a:stretch>
        </p:blipFill>
        <p:spPr>
          <a:xfrm>
            <a:off x="6405761" y="1069848"/>
            <a:ext cx="4973558"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2: ALGORITHM 2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RO2: </a:t>
            </a:r>
            <a:r>
              <a:rPr lang="en-US" sz="1500" b="1" i="1" dirty="0">
                <a:solidFill>
                  <a:srgbClr val="1FB5D6"/>
                </a:solidFill>
              </a:rPr>
              <a:t>Decentralised Identity and Authority Trust</a:t>
            </a:r>
            <a:endParaRPr lang="en-US" sz="1500" dirty="0"/>
          </a:p>
        </p:txBody>
      </p:sp>
      <p:sp>
        <p:nvSpPr>
          <p:cNvPr id="4"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6" name="F12 panel"/>
          <p:cNvSpPr/>
          <p:nvPr/>
        </p:nvSpPr>
        <p:spPr>
          <a:xfrm>
            <a:off x="4203067" y="960120"/>
            <a:ext cx="3785562" cy="5532120"/>
          </a:xfrm>
          <a:prstGeom prst="roundRect">
            <a:avLst>
              <a:gd name="adj" fmla="val 289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2" descr="/tmp/deck/img/F12.png">    </p:cNvPr>
          <p:cNvPicPr>
            <a:picLocks noChangeAspect="1"/>
          </p:cNvPicPr>
          <p:nvPr/>
        </p:nvPicPr>
        <p:blipFill>
          <a:blip r:embed="rId1"/>
          <a:stretch>
            <a:fillRect/>
          </a:stretch>
        </p:blipFill>
        <p:spPr>
          <a:xfrm>
            <a:off x="4312795" y="1069848"/>
            <a:ext cx="3566106"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3: THE GUARDIANS APPROVE TOGETHER</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RO3: </a:t>
            </a:r>
            <a:r>
              <a:rPr lang="en-US" sz="1700" b="1" i="1" dirty="0">
                <a:solidFill>
                  <a:srgbClr val="1FB5D6"/>
                </a:solidFill>
              </a:rPr>
              <a:t>Trustworthy Multi-Party Authorisation</a:t>
            </a:r>
            <a:endParaRPr lang="en-US" sz="1700" dirty="0"/>
          </a:p>
        </p:txBody>
      </p:sp>
      <p:sp>
        <p:nvSpPr>
          <p:cNvPr id="5"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450" dirty="0">
                <a:solidFill>
                  <a:srgbClr val="FFFFFF"/>
                </a:solidFill>
              </a:rPr>
              <a:t>The guardian set G is fixed when the consent is created.</a:t>
            </a:r>
            <a:endParaRPr lang="en-US" sz="1450" dirty="0"/>
          </a:p>
          <a:p>
            <a:pPr marL="342900" indent="-342900">
              <a:spcAft>
                <a:spcPts val="1000"/>
              </a:spcAft>
              <a:buSzPct val="100000"/>
              <a:buChar char="•"/>
            </a:pPr>
            <a:r>
              <a:rPr lang="en-US" sz="1450" dirty="0">
                <a:solidFill>
                  <a:srgbClr val="FFFFFF"/>
                </a:solidFill>
              </a:rPr>
              <a:t>Each guardian signs an EIP-712 approval; the system recovers the signer and checks it is in G.</a:t>
            </a:r>
            <a:endParaRPr lang="en-US" sz="1450" dirty="0"/>
          </a:p>
          <a:p>
            <a:pPr marL="342900" indent="-342900">
              <a:spcAft>
                <a:spcPts val="1000"/>
              </a:spcAft>
              <a:buSzPct val="100000"/>
              <a:buChar char="•"/>
            </a:pPr>
            <a:r>
              <a:rPr lang="en-US" sz="1450" dirty="0">
                <a:solidFill>
                  <a:srgbClr val="FFFFFF"/>
                </a:solidFill>
              </a:rPr>
              <a:t>Approvals from outsiders and duplicates are not counted; a signature replayed from another consent fails the identity check.</a:t>
            </a:r>
            <a:endParaRPr lang="en-US" sz="1450" dirty="0"/>
          </a:p>
          <a:p>
            <a:pPr marL="342900" indent="-342900">
              <a:spcAft>
                <a:spcPts val="1000"/>
              </a:spcAft>
              <a:buSzPct val="100000"/>
              <a:buChar char="•"/>
            </a:pPr>
            <a:r>
              <a:rPr lang="en-US" sz="1450" dirty="0">
                <a:solidFill>
                  <a:srgbClr val="FFFFFF"/>
                </a:solidFill>
              </a:rPr>
              <a:t>N-of-N rule: every listed guardian must sign (2-of-2 in the demo).</a:t>
            </a:r>
            <a:endParaRPr lang="en-US" sz="1450" dirty="0"/>
          </a:p>
          <a:p>
            <a:pPr marL="342900" indent="-342900">
              <a:spcAft>
                <a:spcPts val="1000"/>
              </a:spcAft>
              <a:buSzPct val="100000"/>
              <a:buChar char="•"/>
            </a:pPr>
            <a:r>
              <a:rPr lang="en-US" sz="1450" dirty="0">
                <a:solidFill>
                  <a:srgbClr val="FFFFFF"/>
                </a:solidFill>
              </a:rPr>
              <a:t>When all have signed, a soulbound token is minted on Sepolia in the background.</a:t>
            </a:r>
            <a:endParaRPr lang="en-US" sz="1450" dirty="0"/>
          </a:p>
          <a:p>
            <a:pPr marL="342900" indent="-342900">
              <a:spcAft>
                <a:spcPts val="1000"/>
              </a:spcAft>
              <a:buSzPct val="100000"/>
              <a:buChar char="•"/>
            </a:pPr>
            <a:r>
              <a:rPr lang="en-US" sz="1450" dirty="0">
                <a:solidFill>
                  <a:srgbClr val="FFFFFF"/>
                </a:solidFill>
              </a:rPr>
              <a:t>In the prototype the guardian keys are derived from the guardian DIDs; wallet-held keys are for the next stage.</a:t>
            </a:r>
            <a:endParaRPr lang="en-US" sz="1450" dirty="0"/>
          </a:p>
        </p:txBody>
      </p:sp>
      <p:sp>
        <p:nvSpPr>
          <p:cNvPr id="8" name="ALG3 panel"/>
          <p:cNvSpPr/>
          <p:nvPr/>
        </p:nvSpPr>
        <p:spPr>
          <a:xfrm>
            <a:off x="6632236" y="960120"/>
            <a:ext cx="4520608" cy="5532120"/>
          </a:xfrm>
          <a:prstGeom prst="roundRect">
            <a:avLst>
              <a:gd name="adj" fmla="val 24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3" descr="/tmp/deck/img/ALG3.png">    </p:cNvPr>
          <p:cNvPicPr>
            <a:picLocks noChangeAspect="1"/>
          </p:cNvPicPr>
          <p:nvPr/>
        </p:nvPicPr>
        <p:blipFill>
          <a:blip r:embed="rId1"/>
          <a:stretch>
            <a:fillRect/>
          </a:stretch>
        </p:blipFill>
        <p:spPr>
          <a:xfrm>
            <a:off x="6741964" y="1069848"/>
            <a:ext cx="4301152"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3: ALGORITHM 3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RO3: </a:t>
            </a:r>
            <a:r>
              <a:rPr lang="en-US" sz="1500" b="1" i="1" dirty="0">
                <a:solidFill>
                  <a:srgbClr val="1FB5D6"/>
                </a:solidFill>
              </a:rPr>
              <a:t>Trustworthy Multi-Party Authorisation</a:t>
            </a:r>
            <a:endParaRPr lang="en-US" sz="1500" dirty="0"/>
          </a:p>
        </p:txBody>
      </p:sp>
      <p:sp>
        <p:nvSpPr>
          <p:cNvPr id="4"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6" name="F13 panel"/>
          <p:cNvSpPr/>
          <p:nvPr/>
        </p:nvSpPr>
        <p:spPr>
          <a:xfrm>
            <a:off x="4266250" y="960120"/>
            <a:ext cx="3659194" cy="5532120"/>
          </a:xfrm>
          <a:prstGeom prst="roundRect">
            <a:avLst>
              <a:gd name="adj" fmla="val 299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3" descr="/tmp/deck/img/F13.png">    </p:cNvPr>
          <p:cNvPicPr>
            <a:picLocks noChangeAspect="1"/>
          </p:cNvPicPr>
          <p:nvPr/>
        </p:nvPicPr>
        <p:blipFill>
          <a:blip r:embed="rId1"/>
          <a:stretch>
            <a:fillRect/>
          </a:stretch>
        </p:blipFill>
        <p:spPr>
          <a:xfrm>
            <a:off x="4375978" y="1069848"/>
            <a:ext cx="3439738"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4: ONLY THE AGREED DATA AND PURPOSE</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RO4: </a:t>
            </a:r>
            <a:r>
              <a:rPr lang="en-US" sz="1700" b="1" i="1" dirty="0">
                <a:solidFill>
                  <a:srgbClr val="1FB5D6"/>
                </a:solidFill>
              </a:rPr>
              <a:t>Policy- and Context-Aware Access Control</a:t>
            </a:r>
            <a:endParaRPr lang="en-US" sz="1700" dirty="0"/>
          </a:p>
        </p:txBody>
      </p:sp>
      <p:sp>
        <p:nvSpPr>
          <p:cNvPr id="5"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550" dirty="0">
                <a:solidFill>
                  <a:srgbClr val="FFFFFF"/>
                </a:solidFill>
              </a:rPr>
              <a:t>The requested data must be a non-empty subset of the agreed data scope.</a:t>
            </a:r>
            <a:endParaRPr lang="en-US" sz="1550" dirty="0"/>
          </a:p>
          <a:p>
            <a:pPr marL="342900" indent="-342900">
              <a:spcAft>
                <a:spcPts val="1000"/>
              </a:spcAft>
              <a:buSzPct val="100000"/>
              <a:buChar char="•"/>
            </a:pPr>
            <a:r>
              <a:rPr lang="en-US" sz="1550" dirty="0">
                <a:solidFill>
                  <a:srgbClr val="FFFFFF"/>
                </a:solidFill>
              </a:rPr>
              <a:t>The purpose must be a supported purpose of the consent.</a:t>
            </a:r>
            <a:endParaRPr lang="en-US" sz="1550" dirty="0"/>
          </a:p>
          <a:p>
            <a:pPr marL="342900" indent="-342900">
              <a:spcAft>
                <a:spcPts val="1000"/>
              </a:spcAft>
              <a:buSzPct val="100000"/>
              <a:buChar char="•"/>
            </a:pPr>
            <a:r>
              <a:rPr lang="en-US" sz="1550" dirty="0">
                <a:solidFill>
                  <a:srgbClr val="FFFFFF"/>
                </a:solidFill>
              </a:rPr>
              <a:t>Time and </a:t>
            </a:r>
            <a:r>
              <a:rPr lang="en-US" sz="1550" dirty="0">
                <a:solidFill>
                  <a:srgbClr val="FFFFFF"/>
                </a:solidFill>
              </a:rPr>
              <a:t>the lifecycle state</a:t>
            </a:r>
            <a:r>
              <a:rPr lang="en-US" sz="1550" dirty="0">
                <a:solidFill>
                  <a:srgbClr val="FFFFFF"/>
                </a:solidFill>
              </a:rPr>
              <a:t> are checked in the same decision.</a:t>
            </a:r>
            <a:endParaRPr lang="en-US" sz="1550" dirty="0"/>
          </a:p>
          <a:p>
            <a:pPr marL="342900" indent="-342900">
              <a:spcAft>
                <a:spcPts val="1000"/>
              </a:spcAft>
              <a:buSzPct val="100000"/>
              <a:buChar char="•"/>
            </a:pPr>
            <a:r>
              <a:rPr lang="en-US" sz="1550" dirty="0">
                <a:solidFill>
                  <a:srgbClr val="FFFFFF"/>
                </a:solidFill>
              </a:rPr>
              <a:t>A Groth16 proof must verify before any data is retrieved.</a:t>
            </a:r>
            <a:endParaRPr lang="en-US" sz="1550" dirty="0"/>
          </a:p>
          <a:p>
            <a:pPr marL="342900" indent="-342900">
              <a:spcAft>
                <a:spcPts val="1000"/>
              </a:spcAft>
              <a:buSzPct val="100000"/>
              <a:buChar char="•"/>
            </a:pPr>
            <a:r>
              <a:rPr lang="en-US" sz="1550" dirty="0">
                <a:solidFill>
                  <a:srgbClr val="FFFFFF"/>
                </a:solidFill>
              </a:rPr>
              <a:t>Example: asking for Procedure when only Observation and Medication were agreed gives DENY.</a:t>
            </a:r>
            <a:endParaRPr lang="en-US" sz="1550" dirty="0"/>
          </a:p>
        </p:txBody>
      </p:sp>
      <p:sp>
        <p:nvSpPr>
          <p:cNvPr id="8" name="ALG4 panel"/>
          <p:cNvSpPr/>
          <p:nvPr/>
        </p:nvSpPr>
        <p:spPr>
          <a:xfrm>
            <a:off x="6651819" y="960120"/>
            <a:ext cx="4481441" cy="5532120"/>
          </a:xfrm>
          <a:prstGeom prst="roundRect">
            <a:avLst>
              <a:gd name="adj" fmla="val 2448"/>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4" descr="/tmp/deck/img/ALG4.png">    </p:cNvPr>
          <p:cNvPicPr>
            <a:picLocks noChangeAspect="1"/>
          </p:cNvPicPr>
          <p:nvPr/>
        </p:nvPicPr>
        <p:blipFill>
          <a:blip r:embed="rId1"/>
          <a:stretch>
            <a:fillRect/>
          </a:stretch>
        </p:blipFill>
        <p:spPr>
          <a:xfrm>
            <a:off x="6761547" y="1069848"/>
            <a:ext cx="426198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4: ALGORITHM 4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RO4: </a:t>
            </a:r>
            <a:r>
              <a:rPr lang="en-US" sz="1500" b="1" i="1" dirty="0">
                <a:solidFill>
                  <a:srgbClr val="1FB5D6"/>
                </a:solidFill>
              </a:rPr>
              <a:t>Policy- and Context-Aware Access Control</a:t>
            </a:r>
            <a:endParaRPr lang="en-US" sz="1500" dirty="0"/>
          </a:p>
        </p:txBody>
      </p:sp>
      <p:sp>
        <p:nvSpPr>
          <p:cNvPr id="4"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6" name="F14 panel"/>
          <p:cNvSpPr/>
          <p:nvPr/>
        </p:nvSpPr>
        <p:spPr>
          <a:xfrm>
            <a:off x="4903969" y="960120"/>
            <a:ext cx="2383757" cy="5532120"/>
          </a:xfrm>
          <a:prstGeom prst="roundRect">
            <a:avLst>
              <a:gd name="adj" fmla="val 460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4" descr="/tmp/deck/img/F14.png">    </p:cNvPr>
          <p:cNvPicPr>
            <a:picLocks noChangeAspect="1"/>
          </p:cNvPicPr>
          <p:nvPr/>
        </p:nvPicPr>
        <p:blipFill>
          <a:blip r:embed="rId1"/>
          <a:stretch>
            <a:fillRect/>
          </a:stretch>
        </p:blipFill>
        <p:spPr>
          <a:xfrm>
            <a:off x="5013697" y="1069848"/>
            <a:ext cx="2164301"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5: TIME AND LIFECYCLE</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RO5: </a:t>
            </a:r>
            <a:r>
              <a:rPr lang="en-US" sz="1700" b="1" i="1" dirty="0">
                <a:solidFill>
                  <a:srgbClr val="1FB5D6"/>
                </a:solidFill>
              </a:rPr>
              <a:t>Temporal and Lifecycle Trust</a:t>
            </a:r>
            <a:endParaRPr lang="en-US" sz="1700" dirty="0"/>
          </a:p>
        </p:txBody>
      </p:sp>
      <p:sp>
        <p:nvSpPr>
          <p:cNvPr id="5" name="status chip"/>
          <p:cNvSpPr/>
          <p:nvPr/>
        </p:nvSpPr>
        <p:spPr>
          <a:xfrm>
            <a:off x="548640" y="178308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350" dirty="0">
                <a:solidFill>
                  <a:srgbClr val="FFFFFF"/>
                </a:solidFill>
              </a:rPr>
              <a:t>Working now: the validity window is stored on-chain and checked at every request.</a:t>
            </a:r>
            <a:endParaRPr lang="en-US" sz="1350" dirty="0"/>
          </a:p>
          <a:p>
            <a:pPr marL="342900" indent="-342900">
              <a:spcAft>
                <a:spcPts val="1000"/>
              </a:spcAft>
              <a:buSzPct val="100000"/>
              <a:buChar char="•"/>
            </a:pPr>
            <a:r>
              <a:rPr lang="en-US" sz="1350" dirty="0">
                <a:solidFill>
                  <a:srgbClr val="FFFFFF"/>
                </a:solidFill>
              </a:rPr>
              <a:t>Working now: revocation end to end, including an on-chain revoke transaction.</a:t>
            </a:r>
            <a:endParaRPr lang="en-US" sz="1350" dirty="0"/>
          </a:p>
          <a:p>
            <a:pPr marL="342900" indent="-342900">
              <a:spcAft>
                <a:spcPts val="1000"/>
              </a:spcAft>
              <a:buSzPct val="100000"/>
              <a:buChar char="•"/>
            </a:pPr>
            <a:r>
              <a:rPr lang="en-US" sz="1350" dirty="0">
                <a:solidFill>
                  <a:srgbClr val="FFFFFF"/>
                </a:solidFill>
              </a:rPr>
              <a:t>Design: L is the lifecycle state (CREATED, PENDING, ACTIVE, SUSPENDED, REVOKED, EXPIRED), checked by VL(C) = ValidState(C) ∧ ValidTransition(C).</a:t>
            </a:r>
            <a:endParaRPr lang="en-US" sz="1350" dirty="0"/>
          </a:p>
          <a:p>
            <a:pPr marL="342900" indent="-342900">
              <a:spcAft>
                <a:spcPts val="1000"/>
              </a:spcAft>
              <a:buSzPct val="100000"/>
              <a:buChar char="•"/>
            </a:pPr>
            <a:r>
              <a:rPr lang="en-US" sz="1350" dirty="0">
                <a:solidFill>
                  <a:srgbClr val="FFFFFF"/>
                </a:solidFill>
              </a:rPr>
              <a:t>Working now: a clear lifecycle: PENDING_SIGNATURE, PENDING_TOKEN, NOT_STARTED, ACTIVE, EXPIRED, REVOKED.</a:t>
            </a:r>
            <a:endParaRPr lang="en-US" sz="1350" dirty="0"/>
          </a:p>
          <a:p>
            <a:pPr marL="342900" indent="-342900">
              <a:spcAft>
                <a:spcPts val="1000"/>
              </a:spcAft>
              <a:buSzPct val="100000"/>
              <a:buChar char="•"/>
            </a:pPr>
            <a:r>
              <a:rPr lang="en-US" sz="1350" dirty="0">
                <a:solidFill>
                  <a:srgbClr val="FFFFFF"/>
                </a:solidFill>
              </a:rPr>
              <a:t>Next stage: </a:t>
            </a:r>
            <a:r>
              <a:rPr lang="en-US" sz="1350" dirty="0">
                <a:solidFill>
                  <a:srgbClr val="FFFFFF"/>
                </a:solidFill>
              </a:rPr>
              <a:t>the SUSPENDED state,</a:t>
            </a:r>
            <a:r>
              <a:rPr lang="en-US" sz="1350" dirty="0">
                <a:solidFill>
                  <a:srgbClr val="FFFFFF"/>
                </a:solidFill>
              </a:rPr>
              <a:t> the lifecycle transition check, consent modification, delegation, guardian-set changes and a formal lifecycle model.</a:t>
            </a:r>
            <a:endParaRPr lang="en-US" sz="1350" dirty="0"/>
          </a:p>
        </p:txBody>
      </p:sp>
      <p:sp>
        <p:nvSpPr>
          <p:cNvPr id="8" name="ALG5 panel"/>
          <p:cNvSpPr/>
          <p:nvPr/>
        </p:nvSpPr>
        <p:spPr>
          <a:xfrm>
            <a:off x="6248079" y="960120"/>
            <a:ext cx="5288923" cy="5532120"/>
          </a:xfrm>
          <a:prstGeom prst="roundRect">
            <a:avLst>
              <a:gd name="adj" fmla="val 2075"/>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5" descr="/tmp/deck/img/ALG5.png">    </p:cNvPr>
          <p:cNvPicPr>
            <a:picLocks noChangeAspect="1"/>
          </p:cNvPicPr>
          <p:nvPr/>
        </p:nvPicPr>
        <p:blipFill>
          <a:blip r:embed="rId1"/>
          <a:stretch>
            <a:fillRect/>
          </a:stretch>
        </p:blipFill>
        <p:spPr>
          <a:xfrm>
            <a:off x="6357807" y="1069848"/>
            <a:ext cx="506946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5: ALGORITHM 5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RO5: </a:t>
            </a:r>
            <a:r>
              <a:rPr lang="en-US" sz="1500" b="1" i="1" dirty="0">
                <a:solidFill>
                  <a:srgbClr val="1FB5D6"/>
                </a:solidFill>
              </a:rPr>
              <a:t>Temporal and Lifecycle Trust</a:t>
            </a:r>
            <a:endParaRPr lang="en-US" sz="1500" dirty="0"/>
          </a:p>
        </p:txBody>
      </p:sp>
      <p:sp>
        <p:nvSpPr>
          <p:cNvPr id="4" name="status chip"/>
          <p:cNvSpPr/>
          <p:nvPr/>
        </p:nvSpPr>
        <p:spPr>
          <a:xfrm>
            <a:off x="548640" y="1783080"/>
            <a:ext cx="2377440" cy="411480"/>
          </a:xfrm>
          <a:prstGeom prst="roundRect">
            <a:avLst>
              <a:gd name="adj" fmla="val 44444"/>
            </a:avLst>
          </a:prstGeom>
          <a:solidFill>
            <a:srgbClr val="B7791F"/>
          </a:solidFill>
          <a:ln w="12700">
            <a:solidFill>
              <a:srgbClr val="B7791F"/>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6" name="F35 panel"/>
          <p:cNvSpPr/>
          <p:nvPr/>
        </p:nvSpPr>
        <p:spPr>
          <a:xfrm>
            <a:off x="4546506" y="960120"/>
            <a:ext cx="3098683" cy="5532120"/>
          </a:xfrm>
          <a:prstGeom prst="roundRect">
            <a:avLst>
              <a:gd name="adj" fmla="val 354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35" descr="/tmp/deck/img/F35.png">    </p:cNvPr>
          <p:cNvPicPr>
            <a:picLocks noChangeAspect="1"/>
          </p:cNvPicPr>
          <p:nvPr/>
        </p:nvPicPr>
        <p:blipFill>
          <a:blip r:embed="rId1"/>
          <a:stretch>
            <a:fillRect/>
          </a:stretch>
        </p:blipFill>
        <p:spPr>
          <a:xfrm>
            <a:off x="4656234" y="1069848"/>
            <a:ext cx="287922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6: PROVE IT AND TEST IT</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RO6: </a:t>
            </a:r>
            <a:r>
              <a:rPr lang="en-US" sz="1700" b="1" i="1" dirty="0">
                <a:solidFill>
                  <a:srgbClr val="1FB5D6"/>
                </a:solidFill>
              </a:rPr>
              <a:t>Formal Security Assurance and Empirical Validation</a:t>
            </a:r>
            <a:endParaRPr lang="en-US" sz="1700" dirty="0"/>
          </a:p>
        </p:txBody>
      </p:sp>
      <p:sp>
        <p:nvSpPr>
          <p:cNvPr id="5" name="status chip"/>
          <p:cNvSpPr/>
          <p:nvPr/>
        </p:nvSpPr>
        <p:spPr>
          <a:xfrm>
            <a:off x="548640" y="1783080"/>
            <a:ext cx="320040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548640" y="178308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Done: 46 automated tests pass, including 13 attack scenarios A1 to A13.</a:t>
            </a:r>
            <a:endParaRPr lang="en-US" sz="1600" dirty="0"/>
          </a:p>
          <a:p>
            <a:pPr marL="342900" indent="-342900">
              <a:spcAft>
                <a:spcPts val="1000"/>
              </a:spcAft>
              <a:buSzPct val="100000"/>
              <a:buChar char="•"/>
            </a:pPr>
            <a:r>
              <a:rPr lang="en-US" sz="1600" dirty="0">
                <a:solidFill>
                  <a:srgbClr val="FFFFFF"/>
                </a:solidFill>
              </a:rPr>
              <a:t>Done: gas, confirmation latency and processing time measured.</a:t>
            </a:r>
            <a:endParaRPr lang="en-US" sz="1600" dirty="0"/>
          </a:p>
          <a:p>
            <a:pPr marL="342900" indent="-342900">
              <a:spcAft>
                <a:spcPts val="1000"/>
              </a:spcAft>
              <a:buSzPct val="100000"/>
              <a:buChar char="•"/>
            </a:pPr>
            <a:r>
              <a:rPr lang="en-US" sz="1600" dirty="0">
                <a:solidFill>
                  <a:srgbClr val="FFFFFF"/>
                </a:solidFill>
              </a:rPr>
              <a:t>Next stage: formal proofs or model checking of the security properties, and a larger evaluation under load.</a:t>
            </a:r>
            <a:endParaRPr lang="en-US" sz="1600" dirty="0"/>
          </a:p>
        </p:txBody>
      </p:sp>
      <p:sp>
        <p:nvSpPr>
          <p:cNvPr id="8" name="ALG6 panel"/>
          <p:cNvSpPr/>
          <p:nvPr/>
        </p:nvSpPr>
        <p:spPr>
          <a:xfrm>
            <a:off x="6035040" y="1719388"/>
            <a:ext cx="5715000" cy="4013584"/>
          </a:xfrm>
          <a:prstGeom prst="roundRect">
            <a:avLst>
              <a:gd name="adj" fmla="val 2734"/>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6" descr="/tmp/deck/img/ALG6.png">    </p:cNvPr>
          <p:cNvPicPr>
            <a:picLocks noChangeAspect="1"/>
          </p:cNvPicPr>
          <p:nvPr/>
        </p:nvPicPr>
        <p:blipFill>
          <a:blip r:embed="rId1"/>
          <a:stretch>
            <a:fillRect/>
          </a:stretch>
        </p:blipFill>
        <p:spPr>
          <a:xfrm>
            <a:off x="6144768" y="1829116"/>
            <a:ext cx="5495544" cy="3794128"/>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6: ALGORITHM 6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RO6: </a:t>
            </a:r>
            <a:r>
              <a:rPr lang="en-US" sz="1500" b="1" i="1" dirty="0">
                <a:solidFill>
                  <a:srgbClr val="1FB5D6"/>
                </a:solidFill>
              </a:rPr>
              <a:t>Formal Security Assurance and Empirical Validation</a:t>
            </a:r>
            <a:endParaRPr lang="en-US" sz="1500" dirty="0"/>
          </a:p>
        </p:txBody>
      </p:sp>
      <p:sp>
        <p:nvSpPr>
          <p:cNvPr id="4" name="status chip"/>
          <p:cNvSpPr/>
          <p:nvPr/>
        </p:nvSpPr>
        <p:spPr>
          <a:xfrm>
            <a:off x="548640" y="1783080"/>
            <a:ext cx="3200400" cy="411480"/>
          </a:xfrm>
          <a:prstGeom prst="roundRect">
            <a:avLst>
              <a:gd name="adj" fmla="val 44444"/>
            </a:avLst>
          </a:prstGeom>
          <a:solidFill>
            <a:srgbClr val="6D5BA8"/>
          </a:solidFill>
          <a:ln w="12700">
            <a:solidFill>
              <a:srgbClr val="6D5BA8"/>
            </a:solidFill>
            <a:prstDash val="solid"/>
          </a:ln>
        </p:spPr>
      </p:sp>
      <p:sp>
        <p:nvSpPr>
          <p:cNvPr id="5" name="status text"/>
          <p:cNvSpPr txBox="1"/>
          <p:nvPr/>
        </p:nvSpPr>
        <p:spPr>
          <a:xfrm>
            <a:off x="548640" y="178308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6" name="F16 panel"/>
          <p:cNvSpPr/>
          <p:nvPr/>
        </p:nvSpPr>
        <p:spPr>
          <a:xfrm>
            <a:off x="4023360" y="960120"/>
            <a:ext cx="5675087"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6" descr="/tmp/deck/img/F16.png">    </p:cNvPr>
          <p:cNvPicPr>
            <a:picLocks noChangeAspect="1"/>
          </p:cNvPicPr>
          <p:nvPr/>
        </p:nvPicPr>
        <p:blipFill>
          <a:blip r:embed="rId1"/>
          <a:stretch>
            <a:fillRect/>
          </a:stretch>
        </p:blipFill>
        <p:spPr>
          <a:xfrm>
            <a:off x="4133088" y="1069848"/>
            <a:ext cx="5455631"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DOES IT DO WHAT IT SHOULD?</a:t>
            </a:r>
            <a:endParaRPr lang="en-US" sz="30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103120"/>
                <a:gridCol w="3108960"/>
                <a:gridCol w="2560320"/>
                <a:gridCol w="3108960"/>
              </a:tblGrid>
              <a:tr h="502920">
                <a:tc>
                  <a:txBody>
                    <a:bodyPr/>
                    <a:lstStyle/>
                    <a:p>
                      <a:pPr indent="0" marL="0">
                        <a:buNone/>
                      </a:pPr>
                      <a:r>
                        <a:rPr lang="en-US" sz="1400" b="1" dirty="0">
                          <a:solidFill>
                            <a:srgbClr val="FFFFFF"/>
                          </a:solidFill>
                        </a:rPr>
                        <a:t>Evidence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What it checks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Pass rule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868680">
                <a:tc>
                  <a:txBody>
                    <a:bodyPr/>
                    <a:lstStyle/>
                    <a:p>
                      <a:pPr indent="0" marL="0">
                        <a:buNone/>
                      </a:pPr>
                      <a:r>
                        <a:rPr lang="en-US" sz="1400" b="1" dirty="0">
                          <a:solidFill>
                            <a:srgbClr val="0B1F33"/>
                          </a:solidFill>
                        </a:rPr>
                        <a:t>Valid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Legitimate requests get access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Observed = expected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Scenarios 1 to 3: consent created, 2-of-2 approval, ALLOW</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Negative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Wrong requests are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Any failed check gives DENY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5: revoked consent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Attack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Deliberate attempts to bypass a check, A1 to A13</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Every attack is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12 of 13 refused (A11 neutral: the audit digest is not yet checked)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Automated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32 functional tests and 14 adversarial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46 of 46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Independent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On-chain receipts against the local consent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Local state = on-chain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6: all checks passed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THE RECORDED DECISIONS</a:t>
            </a:r>
            <a:endParaRPr lang="en-US" sz="3000" dirty="0"/>
          </a:p>
        </p:txBody>
      </p:sp>
      <p:graphicFrame>
        <p:nvGraphicFramePr>
          <p:cNvPr id="27" name="ledger table"/>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1280160"/>
                <a:gridCol w="2286000"/>
                <a:gridCol w="777240"/>
                <a:gridCol w="777240"/>
                <a:gridCol w="777240"/>
                <a:gridCol w="777240"/>
                <a:gridCol w="777240"/>
                <a:gridCol w="1097280"/>
                <a:gridCol w="1188720"/>
                <a:gridCol w="1325880"/>
              </a:tblGrid>
              <a:tr h="502920">
                <a:tc>
                  <a:txBody>
                    <a:bodyPr/>
                    <a:lstStyle/>
                    <a:p>
                      <a:pPr algn="ctr" indent="0" marL="0">
                        <a:buNone/>
                      </a:pPr>
                      <a:r>
                        <a:rPr lang="en-US" sz="1300" b="1" dirty="0">
                          <a:solidFill>
                            <a:srgbClr val="FFFFFF"/>
                          </a:solidFill>
                        </a:rPr>
                        <a:t>Time (24 Sep)</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VI</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VP</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Access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Proof</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02920">
                <a:tc>
                  <a:txBody>
                    <a:bodyPr/>
                    <a:lstStyle/>
                    <a:p>
                      <a:pPr indent="0" marL="0">
                        <a:buNone/>
                      </a:pPr>
                      <a:r>
                        <a:rPr lang="en-US" sz="1300" b="1" dirty="0">
                          <a:solidFill>
                            <a:srgbClr val="0B1F33"/>
                          </a:solidFill>
                        </a:rPr>
                        <a:t>09:51:36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f050c29a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09:51:39</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f050c29a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11:02:52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11:04:16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11:04:26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bullets"/>
          <p:cNvSpPr txBox="1"/>
          <p:nvPr/>
        </p:nvSpPr>
        <p:spPr>
          <a:xfrm>
            <a:off x="640080" y="4892040"/>
            <a:ext cx="10881360" cy="1554480"/>
          </a:xfrm>
          <a:prstGeom prst="rect">
            <a:avLst/>
          </a:prstGeom>
          <a:noFill/>
          <a:ln/>
        </p:spPr>
        <p:txBody>
          <a:bodyPr wrap="square" rtlCol="0" anchor="t"/>
          <a:lstStyle/>
          <a:p>
            <a:pPr marL="342900" indent="-342900">
              <a:spcAft>
                <a:spcPts val="1000"/>
              </a:spcAft>
              <a:buSzPct val="100000"/>
              <a:buChar char="•"/>
            </a:pPr>
            <a:r>
              <a:rPr lang="en-US" sz="1400" dirty="0">
                <a:solidFill>
                  <a:srgbClr val="FFFFFF"/>
                </a:solidFill>
              </a:rPr>
              <a:t>Allowed requests: all five checks PASS, decision ALLOW, access GRANTED, proof mode Groth16 (Scenario 3).</a:t>
            </a:r>
            <a:endParaRPr lang="en-US" sz="1400" dirty="0"/>
          </a:p>
          <a:p>
            <a:pPr marL="342900" indent="-342900">
              <a:spcAft>
                <a:spcPts val="1000"/>
              </a:spcAft>
              <a:buSzPct val="100000"/>
              <a:buChar char="•"/>
            </a:pPr>
            <a:r>
              <a:rPr lang="en-US" sz="1400" dirty="0">
                <a:solidFill>
                  <a:srgbClr val="FFFFFF"/>
                </a:solidFill>
              </a:rPr>
              <a:t>After revocation (Scenario 5) the request was refused before any decision was logged; the prototype now logs these refusals too. The revocation is public on Sepolia, block 11,771,307.</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THIRTEEN ATTACK SCENARIOS</a:t>
            </a:r>
            <a:endParaRPr lang="en-US" sz="3000" dirty="0"/>
          </a:p>
        </p:txBody>
      </p:sp>
      <p:graphicFrame>
        <p:nvGraphicFramePr>
          <p:cNvPr id="28" name="attack table"/>
          <p:cNvGraphicFramePr>
            <a:graphicFrameLocks noGrp="1"/>
          </p:cNvGraphicFramePr>
          <p:nvPr>
            <p:extLst>
              <p:ext uri="{D42A27DB-BD31-4B8C-83A1-F6EECF244321}">
                <p14:modId xmlns:p14="http://schemas.microsoft.com/office/powerpoint/2010/main" val="1579011935"/>
              </p:ext>
            </p:extLst>
          </p:nvPr>
        </p:nvGraphicFramePr>
        <p:xfrm>
          <a:off x="548640" y="1097280"/>
          <a:ext cx="7315200" cy="914400"/>
        </p:xfrm>
        <a:graphic>
          <a:graphicData uri="http://schemas.openxmlformats.org/drawingml/2006/table">
            <a:tbl>
              <a:tblPr/>
              <a:tblGrid>
                <a:gridCol w="548640"/>
                <a:gridCol w="3931920"/>
                <a:gridCol w="822960"/>
                <a:gridCol w="1005840"/>
                <a:gridCol w="1005840"/>
              </a:tblGrid>
              <a:tr h="320040">
                <a:tc>
                  <a:txBody>
                    <a:bodyPr/>
                    <a:lstStyle/>
                    <a:p>
                      <a:pPr algn="l" indent="0" marL="0">
                        <a:buNone/>
                      </a:pPr>
                      <a:r>
                        <a:rPr lang="en-US" sz="1200" b="1" dirty="0">
                          <a:solidFill>
                            <a:srgbClr val="FFFFFF"/>
                          </a:solidFill>
                        </a:rPr>
                        <a:t>ID</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l" indent="0" marL="0">
                        <a:buNone/>
                      </a:pPr>
                      <a:r>
                        <a:rPr lang="en-US" sz="1200" b="1" dirty="0">
                          <a:solidFill>
                            <a:srgbClr val="FFFFFF"/>
                          </a:solidFill>
                        </a:rPr>
                        <a:t>Attack</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200" b="1" dirty="0">
                          <a:solidFill>
                            <a:srgbClr val="FFFFFF"/>
                          </a:solidFill>
                        </a:rPr>
                        <a:t>Target</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200" b="1" dirty="0">
                          <a:solidFill>
                            <a:srgbClr val="FFFFFF"/>
                          </a:solidFill>
                        </a:rPr>
                        <a:t>Before hardening</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200" b="1" dirty="0">
                          <a:solidFill>
                            <a:srgbClr val="FFFFFF"/>
                          </a:solidFill>
                        </a:rPr>
                        <a:t>After hardening</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320040">
                <a:tc>
                  <a:txBody>
                    <a:bodyPr/>
                    <a:lstStyle/>
                    <a:p>
                      <a:pPr algn="l" indent="0" marL="0">
                        <a:buNone/>
                      </a:pPr>
                      <a:r>
                        <a:rPr lang="en-US" sz="1150" b="1" dirty="0">
                          <a:solidFill>
                            <a:srgbClr val="0B1F33"/>
                          </a:solidFill>
                        </a:rPr>
                        <a:t>A1</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Approval signed by a signer outside G</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A2</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Guardian signature replayed from another consent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I</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A3</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Same guardian approves twice to reach 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A4</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Requested scope exceeds the authorised scope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A5</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 with an empty scope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A6</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 before notBefore or after expiry</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A7</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Requester declares a different jurisdiction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A8</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Access after revocation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A9</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Tampered Groth16 proof or public signal</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A10</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Honest proof for an expired consent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A11</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Result of a recorded audit event rewritten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8A6D00"/>
                          </a:solidFill>
                        </a:rPr>
                        <a:t>Differs†</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8A6D00"/>
                          </a:solidFill>
                        </a:rPr>
                        <a:t>Differs†</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A12</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Mint or revoke by a non-owner, or token transfer</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Contract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A13</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Invalid or forged credential</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I</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attack notes"/>
          <p:cNvSpPr txBox="1"/>
          <p:nvPr/>
        </p:nvSpPr>
        <p:spPr>
          <a:xfrm>
            <a:off x="548640" y="5715000"/>
            <a:ext cx="7315200" cy="914400"/>
          </a:xfrm>
          <a:prstGeom prst="rect">
            <a:avLst/>
          </a:prstGeom>
          <a:noFill/>
          <a:ln/>
        </p:spPr>
        <p:txBody>
          <a:bodyPr wrap="square" rtlCol="0" anchor="t"/>
          <a:lstStyle/>
          <a:p>
            <a:pPr indent="0" marL="0">
              <a:buNone/>
            </a:pPr>
            <a:r>
              <a:rPr lang="en-US" sz="950" i="1" dirty="0">
                <a:solidFill>
                  <a:srgbClr val="FFFFFF"/>
                </a:solidFill>
              </a:rPr>
              <a:t>* Accepted at unit level only, when the service function was called directly; the interface already refused it.</a:t>
            </a:r>
            <a:endParaRPr lang="en-US" sz="950" dirty="0"/>
          </a:p>
          <a:p>
            <a:pPr indent="0" marL="0">
              <a:buNone/>
            </a:pPr>
            <a:r>
              <a:rPr lang="en-US" sz="950" i="1" dirty="0">
                <a:solidFill>
                  <a:srgbClr val="FFFFFF"/>
                </a:solidFill>
              </a:rPr>
              <a:t>† The rewritten event's digest differs from the stored digest, but no component compares the two yet, so the result is neutral.</a:t>
            </a:r>
            <a:endParaRPr lang="en-US" sz="950" dirty="0"/>
          </a:p>
          <a:p>
            <a:pPr indent="0" marL="0">
              <a:buNone/>
            </a:pPr>
            <a:pPr indent="0" marL="0">
              <a:buNone/>
            </a:pPr>
            <a:r>
              <a:rPr lang="en-US" sz="950" i="1" dirty="0">
                <a:solidFill>
                  <a:srgbClr val="FFFFFF"/>
                </a:solidFill>
              </a:rPr>
              <a:t>‡ Before the credential check was added on 11 October 2026, a requester without a valid credential was accepted.</a:t>
            </a:r>
            <a:endParaRPr lang="en-US" sz="950" dirty="0"/>
          </a:p>
          <a:p>
            <a:pPr indent="0" marL="0">
              <a:buNone/>
            </a:pPr>
            <a:r>
              <a:rPr lang="en-US" sz="950" i="1" dirty="0">
                <a:solidFill>
                  <a:srgbClr val="FFFFFF"/>
                </a:solidFill>
              </a:rPr>
              <a:t>Target: I identity, </a:t>
            </a:r>
            <a:r>
              <a:rPr lang="en-US" sz="950" i="1" dirty="0">
                <a:solidFill>
                  <a:srgbClr val="FFFFFF"/>
                </a:solidFill>
              </a:rPr>
              <a:t>A authorisation</a:t>
            </a:r>
            <a:r>
              <a:rPr lang="en-US" sz="950" i="1" dirty="0">
                <a:solidFill>
                  <a:srgbClr val="FFFFFF"/>
                </a:solidFill>
              </a:rPr>
              <a:t>, P policy and scope, T time, </a:t>
            </a:r>
            <a:r>
              <a:rPr lang="en-US" sz="950" i="1" dirty="0">
                <a:solidFill>
                  <a:srgbClr val="FFFFFF"/>
                </a:solidFill>
              </a:rPr>
              <a:t>L lifecycle</a:t>
            </a:r>
            <a:r>
              <a:rPr lang="en-US" sz="950" i="1" dirty="0">
                <a:solidFill>
                  <a:srgbClr val="FFFFFF"/>
                </a:solidFill>
              </a:rPr>
              <a:t>, E evidence, Contract = ConsentSBTv3 on an in-memory EVM.</a:t>
            </a:r>
            <a:endParaRPr lang="en-US" sz="950" dirty="0"/>
          </a:p>
        </p:txBody>
      </p:sp>
      <p:sp>
        <p:nvSpPr>
          <p:cNvPr id="6" name="stat attack scenarios, A1 to A13"/>
          <p:cNvSpPr txBox="1"/>
          <p:nvPr/>
        </p:nvSpPr>
        <p:spPr>
          <a:xfrm>
            <a:off x="8229600" y="118872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13</a:t>
            </a:r>
            <a:endParaRPr lang="en-US" sz="4400" dirty="0"/>
          </a:p>
        </p:txBody>
      </p:sp>
      <p:sp>
        <p:nvSpPr>
          <p:cNvPr id="7" name="stat label attack scenarios, A1 to A13"/>
          <p:cNvSpPr txBox="1"/>
          <p:nvPr/>
        </p:nvSpPr>
        <p:spPr>
          <a:xfrm>
            <a:off x="8229600" y="2057400"/>
            <a:ext cx="3383280" cy="640080"/>
          </a:xfrm>
          <a:prstGeom prst="rect">
            <a:avLst/>
          </a:prstGeom>
          <a:noFill/>
          <a:ln/>
        </p:spPr>
        <p:txBody>
          <a:bodyPr wrap="square" lIns="0" tIns="0" rIns="0" bIns="0" rtlCol="0" anchor="ctr"/>
          <a:lstStyle/>
          <a:p>
            <a:pPr indent="0" marL="0">
              <a:buNone/>
            </a:pPr>
            <a:r>
              <a:rPr lang="en-US" sz="1600" dirty="0">
                <a:solidFill>
                  <a:srgbClr val="FFFFFF"/>
                </a:solidFill>
              </a:rPr>
              <a:t>attack scenarios, A1 to A13</a:t>
            </a:r>
            <a:endParaRPr lang="en-US" sz="1600" dirty="0"/>
          </a:p>
        </p:txBody>
      </p:sp>
      <p:sp>
        <p:nvSpPr>
          <p:cNvPr id="8" name="stat refused today (A11 neutral)"/>
          <p:cNvSpPr txBox="1"/>
          <p:nvPr/>
        </p:nvSpPr>
        <p:spPr>
          <a:xfrm>
            <a:off x="8229600" y="292608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12 / 13</a:t>
            </a:r>
            <a:endParaRPr lang="en-US" sz="4400" dirty="0"/>
          </a:p>
        </p:txBody>
      </p:sp>
      <p:sp>
        <p:nvSpPr>
          <p:cNvPr id="9" name="stat label refused today (A11 neutral)"/>
          <p:cNvSpPr txBox="1"/>
          <p:nvPr/>
        </p:nvSpPr>
        <p:spPr>
          <a:xfrm>
            <a:off x="8229600" y="3794760"/>
            <a:ext cx="3383280" cy="640080"/>
          </a:xfrm>
          <a:prstGeom prst="rect">
            <a:avLst/>
          </a:prstGeom>
          <a:noFill/>
          <a:ln/>
        </p:spPr>
        <p:txBody>
          <a:bodyPr wrap="square" lIns="0" tIns="0" rIns="0" bIns="0" rtlCol="0" anchor="ctr"/>
          <a:lstStyle/>
          <a:p>
            <a:pPr indent="0" marL="0">
              <a:buNone/>
            </a:pPr>
            <a:r>
              <a:rPr lang="en-US" sz="1600" dirty="0">
                <a:solidFill>
                  <a:srgbClr val="FFFFFF"/>
                </a:solidFill>
              </a:rPr>
              <a:t>refused today (A11 neutral)</a:t>
            </a:r>
            <a:endParaRPr lang="en-US" sz="1600" dirty="0"/>
          </a:p>
        </p:txBody>
      </p:sp>
      <p:sp>
        <p:nvSpPr>
          <p:cNvPr id="10" name="stat automated tests pass"/>
          <p:cNvSpPr txBox="1"/>
          <p:nvPr/>
        </p:nvSpPr>
        <p:spPr>
          <a:xfrm>
            <a:off x="8229600" y="466344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46</a:t>
            </a:r>
            <a:endParaRPr lang="en-US" sz="4400" dirty="0"/>
          </a:p>
        </p:txBody>
      </p:sp>
      <p:sp>
        <p:nvSpPr>
          <p:cNvPr id="11" name="stat label automated tests pass"/>
          <p:cNvSpPr txBox="1"/>
          <p:nvPr/>
        </p:nvSpPr>
        <p:spPr>
          <a:xfrm>
            <a:off x="8229600" y="5532120"/>
            <a:ext cx="3383280" cy="640080"/>
          </a:xfrm>
          <a:prstGeom prst="rect">
            <a:avLst/>
          </a:prstGeom>
          <a:noFill/>
          <a:ln/>
        </p:spPr>
        <p:txBody>
          <a:bodyPr wrap="square" lIns="0" tIns="0" rIns="0" bIns="0" rtlCol="0" anchor="ctr"/>
          <a:lstStyle/>
          <a:p>
            <a:pPr indent="0" marL="0">
              <a:buNone/>
            </a:pPr>
            <a:r>
              <a:rPr lang="en-US" sz="1600" dirty="0">
                <a:solidFill>
                  <a:srgbClr val="FFFFFF"/>
                </a:solidFill>
              </a:rPr>
              <a:t>automated tests pass</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HOW FAST AND HOW MUCH?</a:t>
            </a:r>
            <a:endParaRPr lang="en-US" sz="3000" dirty="0"/>
          </a:p>
        </p:txBody>
      </p:sp>
      <p:graphicFrame>
        <p:nvGraphicFramePr>
          <p:cNvPr id="29"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2011680"/>
                <a:gridCol w="1188720"/>
                <a:gridCol w="1005840"/>
                <a:gridCol w="1005840"/>
                <a:gridCol w="640080"/>
              </a:tblGrid>
              <a:tr h="475488">
                <a:tc>
                  <a:txBody>
                    <a:bodyPr/>
                    <a:lstStyle/>
                    <a:p>
                      <a:pPr indent="0" marL="0">
                        <a:buNone/>
                      </a:pPr>
                      <a:r>
                        <a:rPr lang="en-US" sz="1100" b="1" dirty="0">
                          <a:solidFill>
                            <a:srgbClr val="FFFFFF"/>
                          </a:solidFill>
                        </a:rPr>
                        <a:t>Component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Median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Min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Max</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75488">
                <a:tc>
                  <a:txBody>
                    <a:bodyPr/>
                    <a:lstStyle/>
                    <a:p>
                      <a:pPr indent="0" marL="0">
                        <a:buNone/>
                      </a:pPr>
                      <a:r>
                        <a:rPr lang="en-US" sz="1100" b="1" dirty="0">
                          <a:solidFill>
                            <a:srgbClr val="0B1F33"/>
                          </a:solidFill>
                        </a:rPr>
                        <a:t>Decision rule, five predicates (11 Oct)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5.92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5.36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72.07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1,000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EIP-712 signature recovery, one signature</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10.93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10.55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15.64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Credential check, one credential (11 Oct)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6.42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6.18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8.33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Groth16 proof generation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1,401.1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1,342.8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5,349.6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Groth16 proof verification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465.3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441.0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525.1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On-chain checkValid read</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573.5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568.2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715.5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On-chain checkValidAt read</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574.6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568.2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745.6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Anchoring confirmation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11.5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4.9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22.1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gas line"/>
          <p:cNvSpPr txBox="1"/>
          <p:nvPr/>
        </p:nvSpPr>
        <p:spPr>
          <a:xfrm>
            <a:off x="731520" y="5760720"/>
            <a:ext cx="5852160" cy="457200"/>
          </a:xfrm>
          <a:prstGeom prst="rect">
            <a:avLst/>
          </a:prstGeom>
          <a:noFill/>
          <a:ln/>
        </p:spPr>
        <p:txBody>
          <a:bodyPr wrap="square" rtlCol="0" anchor="ctr"/>
          <a:lstStyle/>
          <a:p>
            <a:pPr indent="0" marL="0">
              <a:buNone/>
            </a:pPr>
            <a:r>
              <a:rPr lang="en-US" sz="1400" b="1" dirty="0">
                <a:solidFill>
                  <a:srgbClr val="FFFFFF"/>
                </a:solidFill>
              </a:rPr>
              <a:t>Gas used: mint #1 196,406; revoke #1 32,980. No fee above 0.00021 ETH.</a:t>
            </a:r>
            <a:endParaRPr lang="en-US" sz="1400" dirty="0"/>
          </a:p>
        </p:txBody>
      </p:sp>
      <p:sp>
        <p:nvSpPr>
          <p:cNvPr id="6" name="F42 panel"/>
          <p:cNvSpPr/>
          <p:nvPr/>
        </p:nvSpPr>
        <p:spPr>
          <a:xfrm>
            <a:off x="6812280" y="1280160"/>
            <a:ext cx="4709160" cy="2752344"/>
          </a:xfrm>
          <a:prstGeom prst="roundRect">
            <a:avLst>
              <a:gd name="adj" fmla="val 39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42" descr="/tmp/deck/img/F42.png">    </p:cNvPr>
          <p:cNvPicPr>
            <a:picLocks noChangeAspect="1"/>
          </p:cNvPicPr>
          <p:nvPr/>
        </p:nvPicPr>
        <p:blipFill>
          <a:blip r:embed="rId1"/>
          <a:stretch>
            <a:fillRect/>
          </a:stretch>
        </p:blipFill>
        <p:spPr>
          <a:xfrm>
            <a:off x="6922008" y="1391965"/>
            <a:ext cx="4489704" cy="2528734"/>
          </a:xfrm>
          <a:prstGeom prst="rect">
            <a:avLst/>
          </a:prstGeom>
        </p:spPr>
      </p:pic>
      <p:sp>
        <p:nvSpPr>
          <p:cNvPr id="8" name="caption"/>
          <p:cNvSpPr txBox="1"/>
          <p:nvPr/>
        </p:nvSpPr>
        <p:spPr>
          <a:xfrm>
            <a:off x="6812280" y="4160520"/>
            <a:ext cx="4709160" cy="914400"/>
          </a:xfrm>
          <a:prstGeom prst="rect">
            <a:avLst/>
          </a:prstGeom>
          <a:noFill/>
          <a:ln/>
        </p:spPr>
        <p:txBody>
          <a:bodyPr wrap="square" rtlCol="0" anchor="t"/>
          <a:lstStyle/>
          <a:p>
            <a:pPr algn="ctr" indent="0" marL="0">
              <a:buNone/>
            </a:pPr>
            <a:r>
              <a:rPr lang="en-US" sz="1200" i="1" dirty="0">
                <a:solidFill>
                  <a:srgbClr val="FFFFFF"/>
                </a:solidFill>
              </a:rPr>
              <a:t>Timings measured on 1 October 2026 (decision rule and credential check on 11 October 2026); gas and anchoring from the five Sepolia transactions of September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DIFFERENT FROM TODAY'S SYSTEMS</a:t>
            </a:r>
            <a:endParaRPr lang="en-US" sz="3000" dirty="0"/>
          </a:p>
        </p:txBody>
      </p:sp>
      <p:graphicFrame>
        <p:nvGraphicFramePr>
          <p:cNvPr id="30"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881360" cy="914400"/>
        </p:xfrm>
        <a:graphic>
          <a:graphicData uri="http://schemas.openxmlformats.org/drawingml/2006/table">
            <a:tbl>
              <a:tblPr/>
              <a:tblGrid>
                <a:gridCol w="1828800"/>
                <a:gridCol w="4023360"/>
                <a:gridCol w="5029200"/>
              </a:tblGrid>
              <a:tr h="731520">
                <a:tc>
                  <a:txBody>
                    <a:bodyPr/>
                    <a:lstStyle/>
                    <a:p>
                      <a:pPr indent="0" marL="0">
                        <a:buNone/>
                      </a:pPr>
                      <a:r>
                        <a:rPr lang="en-US" sz="1400" b="1" dirty="0">
                          <a:solidFill>
                            <a:srgbClr val="FFFFFF"/>
                          </a:solidFill>
                        </a:rPr>
                        <a:t>Aspect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Traditional EHR access control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HALAH framework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400" b="1" dirty="0">
                          <a:solidFill>
                            <a:srgbClr val="0B1F33"/>
                          </a:solidFill>
                        </a:rPr>
                        <a:t>Identity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Central identity provider; institution login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DID for every participant; identity kept separate from authority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Consent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stored record that permission was given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 object C = (I, A, P, T, L, E), checked at every request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Approval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static permission set by one party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listed guardians sign (EIP-712); no single party can approve alone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Access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Log in, then check a static permission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VI ∧ VA ∧ VP ∧ VT ∧ VL, plus a Groth16 proof before data is released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Time and revocation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Hard to verify once the permission is stored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window and revocation checked each time; on-chain revoke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Audit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record that consent occurred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Every access decision, allowed or denied, logged off-chain with its decision matrix; consent state</a:t>
                      </a:r>
                      <a:r>
                        <a:rPr lang="en-US" sz="1400" dirty="0">
                          <a:solidFill>
                            <a:srgbClr val="0B1F33"/>
                          </a:solidFill>
                        </a:rPr>
                        <a:t> anchored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DATA AND PRIVACY</a:t>
            </a:r>
            <a:endParaRPr lang="en-US" sz="3000" dirty="0"/>
          </a:p>
        </p:txBody>
      </p:sp>
      <p:graphicFrame>
        <p:nvGraphicFramePr>
          <p:cNvPr id="31"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8686800"/>
              </a:tblGrid>
              <a:tr h="713232">
                <a:tc>
                  <a:txBody>
                    <a:bodyPr/>
                    <a:lstStyle/>
                    <a:p>
                      <a:pPr indent="0" marL="0">
                        <a:buNone/>
                      </a:pPr>
                      <a:r>
                        <a:rPr lang="en-US" sz="1500" b="1" dirty="0">
                          <a:solidFill>
                            <a:srgbClr val="FFFFFF"/>
                          </a:solidFill>
                        </a:rPr>
                        <a:t>Aspect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Key points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Data source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Synthea 1K sample of synthetic patient records (synthea.mitre.org), CSV export; a subset of patients with their observations, conditions, medications and procedures. No real patient data is involved.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Data storage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Medical records stay off-chain in the application. No medical content is written to the chain.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On-chain record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Pseudonymous patient and requester addresses, a hash of the purpose, the validity window </a:t>
                      </a:r>
                      <a:r>
                        <a:rPr lang="en-US" sz="1500" dirty="0">
                          <a:solidFill>
                            <a:srgbClr val="0B1F33"/>
                          </a:solidFill>
                        </a:rPr>
                        <a:t>and</a:t>
                      </a:r>
                      <a:r>
                        <a:rPr lang="en-US" sz="1500" dirty="0">
                          <a:solidFill>
                            <a:srgbClr val="0B1F33"/>
                          </a:solidFill>
                        </a:rPr>
                        <a:t> a revocation flag.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Access to data</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Records are released only on ALLOW and only within the agreed data scope.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Audit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Every access decision, allowed or denied, is recorded in the off-chain audit ledger with its decision matrix.</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Known limitation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The plaintext purpose is passed in the mint transaction and is visible in the public transaction input.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ci heading"/>
          <p:cNvSpPr txBox="1"/>
          <p:nvPr/>
        </p:nvSpPr>
        <p:spPr>
          <a:xfrm>
            <a:off x="822960" y="1051560"/>
            <a:ext cx="10515600" cy="457200"/>
          </a:xfrm>
          <a:prstGeom prst="rect">
            <a:avLst/>
          </a:prstGeom>
          <a:noFill/>
          <a:ln/>
        </p:spPr>
        <p:txBody>
          <a:bodyPr wrap="square" rtlCol="0" anchor="ctr"/>
          <a:lstStyle/>
          <a:p>
            <a:pPr indent="0" marL="0">
              <a:buNone/>
            </a:pPr>
            <a:r>
              <a:rPr lang="en-US" sz="2200" b="1" i="1" dirty="0">
                <a:solidFill>
                  <a:srgbClr val="1FB5D6"/>
                </a:solidFill>
              </a:rPr>
              <a:t>Scientific Significance</a:t>
            </a:r>
            <a:endParaRPr lang="en-US" sz="2200" dirty="0"/>
          </a:p>
        </p:txBody>
      </p:sp>
      <p:sp>
        <p:nvSpPr>
          <p:cNvPr id="5" name="numbered points"/>
          <p:cNvSpPr txBox="1"/>
          <p:nvPr/>
        </p:nvSpPr>
        <p:spPr>
          <a:xfrm>
            <a:off x="822960" y="1691640"/>
            <a:ext cx="10515600" cy="4754880"/>
          </a:xfrm>
          <a:prstGeom prst="rect">
            <a:avLst/>
          </a:prstGeom>
          <a:noFill/>
          <a:ln/>
        </p:spPr>
        <p:txBody>
          <a:bodyPr wrap="square" rtlCol="0" anchor="t"/>
          <a:lstStyle/>
          <a:p>
            <a:pPr marL="342900" indent="-342900">
              <a:spcAft>
                <a:spcPts val="2000"/>
              </a:spcAft>
              <a:buSzPct val="100000"/>
              <a:buFont typeface="+mj-lt"/>
              <a:buAutoNum type="arabicPeriod" startAt="1"/>
            </a:pPr>
            <a:r>
              <a:rPr lang="en-US" sz="2000" dirty="0">
                <a:solidFill>
                  <a:srgbClr val="FFFFFF"/>
                </a:solidFill>
              </a:rPr>
              <a:t>This research </a:t>
            </a:r>
            <a:r>
              <a:rPr lang="en-US" sz="2000" b="1" dirty="0">
                <a:solidFill>
                  <a:srgbClr val="FFFFFF"/>
                </a:solidFill>
              </a:rPr>
              <a:t>shifts the focus</a:t>
            </a:r>
            <a:r>
              <a:rPr lang="en-US" sz="2000" dirty="0">
                <a:solidFill>
                  <a:srgbClr val="FFFFFF"/>
                </a:solidFill>
              </a:rPr>
              <a:t> from determining </a:t>
            </a:r>
            <a:r>
              <a:rPr lang="en-US" sz="2000" b="1" dirty="0">
                <a:solidFill>
                  <a:srgbClr val="FFFFFF"/>
                </a:solidFill>
              </a:rPr>
              <a:t>whether consent has merely been recorded</a:t>
            </a:r>
            <a:r>
              <a:rPr lang="en-US" sz="2000" dirty="0">
                <a:solidFill>
                  <a:srgbClr val="FFFFFF"/>
                </a:solidFill>
              </a:rPr>
              <a:t> towards determining whether a data-access decision has been generated under </a:t>
            </a:r>
            <a:r>
              <a:rPr lang="en-US" sz="2000" b="1" dirty="0">
                <a:solidFill>
                  <a:srgbClr val="FFFFFF"/>
                </a:solidFill>
              </a:rPr>
              <a:t>sufficient and independently verifiable trust conditions</a:t>
            </a:r>
            <a:r>
              <a:rPr lang="en-US" sz="2000" dirty="0">
                <a:solidFill>
                  <a:srgbClr val="FFFFFF"/>
                </a:solidFill>
              </a:rPr>
              <a:t>.</a:t>
            </a:r>
            <a:endParaRPr lang="en-US" sz="2000" dirty="0"/>
          </a:p>
          <a:p>
            <a:pPr marL="342900" indent="-342900">
              <a:spcAft>
                <a:spcPts val="2000"/>
              </a:spcAft>
              <a:buSzPct val="100000"/>
              <a:buFont typeface="+mj-lt"/>
              <a:buAutoNum type="arabicPeriod" startAt="1"/>
            </a:pPr>
            <a:r>
              <a:rPr lang="en-US" sz="2000" dirty="0">
                <a:solidFill>
                  <a:srgbClr val="FFFFFF"/>
                </a:solidFill>
              </a:rPr>
              <a:t>It brings </a:t>
            </a:r>
            <a:r>
              <a:rPr lang="en-US" sz="2000" b="1" dirty="0">
                <a:solidFill>
                  <a:srgbClr val="FFFFFF"/>
                </a:solidFill>
              </a:rPr>
              <a:t>identity, authority, multi-party approval, policy, time and lifecycle</a:t>
            </a:r>
            <a:r>
              <a:rPr lang="en-US" sz="2000" dirty="0">
                <a:solidFill>
                  <a:srgbClr val="FFFFFF"/>
                </a:solidFill>
              </a:rPr>
              <a:t> together in </a:t>
            </a:r>
            <a:r>
              <a:rPr lang="en-US" sz="2000" b="1" dirty="0">
                <a:solidFill>
                  <a:srgbClr val="FFFFFF"/>
                </a:solidFill>
              </a:rPr>
              <a:t>one access decision</a:t>
            </a:r>
            <a:r>
              <a:rPr lang="en-US" sz="2000" dirty="0">
                <a:solidFill>
                  <a:srgbClr val="FFFFFF"/>
                </a:solidFill>
              </a:rPr>
              <a:t> that is checked at </a:t>
            </a:r>
            <a:r>
              <a:rPr lang="en-US" sz="2000" b="1" dirty="0">
                <a:solidFill>
                  <a:srgbClr val="FFFFFF"/>
                </a:solidFill>
              </a:rPr>
              <a:t>every request</a:t>
            </a:r>
            <a:r>
              <a:rPr lang="en-US" sz="2000" dirty="0">
                <a:solidFill>
                  <a:srgbClr val="FFFFFF"/>
                </a:solidFill>
              </a:rPr>
              <a:t>.</a:t>
            </a:r>
            <a:endParaRPr lang="en-US" sz="2000" dirty="0"/>
          </a:p>
          <a:p>
            <a:pPr marL="342900" indent="-342900">
              <a:spcAft>
                <a:spcPts val="2000"/>
              </a:spcAft>
              <a:buSzPct val="100000"/>
              <a:buFont typeface="+mj-lt"/>
              <a:buAutoNum type="arabicPeriod" startAt="1"/>
            </a:pPr>
            <a:r>
              <a:rPr lang="en-US" sz="2000" dirty="0">
                <a:solidFill>
                  <a:srgbClr val="FFFFFF"/>
                </a:solidFill>
              </a:rPr>
              <a:t>It makes </a:t>
            </a:r>
            <a:r>
              <a:rPr lang="en-US" sz="2000" b="1" dirty="0">
                <a:solidFill>
                  <a:srgbClr val="FFFFFF"/>
                </a:solidFill>
              </a:rPr>
              <a:t>multi-party approval</a:t>
            </a:r>
            <a:r>
              <a:rPr lang="en-US" sz="2000" dirty="0">
                <a:solidFill>
                  <a:srgbClr val="FFFFFF"/>
                </a:solidFill>
              </a:rPr>
              <a:t> a standing condition of access: </a:t>
            </a:r>
            <a:r>
              <a:rPr lang="en-US" sz="2000" b="1" dirty="0">
                <a:solidFill>
                  <a:srgbClr val="FFFFFF"/>
                </a:solidFill>
              </a:rPr>
              <a:t>every listed guardian</a:t>
            </a:r>
            <a:r>
              <a:rPr lang="en-US" sz="2000" dirty="0">
                <a:solidFill>
                  <a:srgbClr val="FFFFFF"/>
                </a:solidFill>
              </a:rPr>
              <a:t> must sign with </a:t>
            </a:r>
            <a:r>
              <a:rPr lang="en-US" sz="2000" b="1" dirty="0">
                <a:solidFill>
                  <a:srgbClr val="FFFFFF"/>
                </a:solidFill>
              </a:rPr>
              <a:t>EIP-712</a:t>
            </a:r>
            <a:r>
              <a:rPr lang="en-US" sz="2000" dirty="0">
                <a:solidFill>
                  <a:srgbClr val="FFFFFF"/>
                </a:solidFill>
              </a:rPr>
              <a:t>, and </a:t>
            </a:r>
            <a:r>
              <a:rPr lang="en-US" sz="2000" b="1" dirty="0">
                <a:solidFill>
                  <a:srgbClr val="FFFFFF"/>
                </a:solidFill>
              </a:rPr>
              <a:t>no single party</a:t>
            </a:r>
            <a:r>
              <a:rPr lang="en-US" sz="2000" dirty="0">
                <a:solidFill>
                  <a:srgbClr val="FFFFFF"/>
                </a:solidFill>
              </a:rPr>
              <a:t> can authorise alone.</a:t>
            </a:r>
            <a:endParaRPr lang="en-US" sz="2000" dirty="0"/>
          </a:p>
          <a:p>
            <a:pPr marL="342900" indent="-342900">
              <a:spcAft>
                <a:spcPts val="2000"/>
              </a:spcAft>
              <a:buSzPct val="100000"/>
              <a:buFont typeface="+mj-lt"/>
              <a:buAutoNum type="arabicPeriod" startAt="1"/>
            </a:pPr>
            <a:r>
              <a:rPr lang="en-US" sz="2000" dirty="0">
                <a:solidFill>
                  <a:srgbClr val="FFFFFF"/>
                </a:solidFill>
              </a:rPr>
              <a:t>It is built on a </a:t>
            </a:r>
            <a:r>
              <a:rPr lang="en-US" sz="2000" b="1" dirty="0">
                <a:solidFill>
                  <a:srgbClr val="FFFFFF"/>
                </a:solidFill>
              </a:rPr>
              <a:t>PRISMA 2020 review of 25 studies</a:t>
            </a:r>
            <a:r>
              <a:rPr lang="en-US" sz="2000" dirty="0">
                <a:solidFill>
                  <a:srgbClr val="FFFFFF"/>
                </a:solidFill>
              </a:rPr>
              <a:t> and tested in a </a:t>
            </a:r>
            <a:r>
              <a:rPr lang="en-US" sz="2000" b="1" dirty="0">
                <a:solidFill>
                  <a:srgbClr val="FFFFFF"/>
                </a:solidFill>
              </a:rPr>
              <a:t>working prototype on Sepolia</a:t>
            </a:r>
            <a:r>
              <a:rPr lang="en-US" sz="2000" dirty="0">
                <a:solidFill>
                  <a:srgbClr val="FFFFFF"/>
                </a:solidFill>
              </a:rPr>
              <a:t>, with </a:t>
            </a:r>
            <a:r>
              <a:rPr lang="en-US" sz="2000" b="1" dirty="0">
                <a:solidFill>
                  <a:srgbClr val="FFFFFF"/>
                </a:solidFill>
              </a:rPr>
              <a:t>measurements</a:t>
            </a:r>
            <a:r>
              <a:rPr lang="en-US" sz="2000" dirty="0">
                <a:solidFill>
                  <a:srgbClr val="FFFFFF"/>
                </a:solidFill>
              </a:rPr>
              <a:t> and </a:t>
            </a:r>
            <a:r>
              <a:rPr lang="en-US" sz="2000" b="1" dirty="0">
                <a:solidFill>
                  <a:srgbClr val="FFFFFF"/>
                </a:solidFill>
              </a:rPr>
              <a:t>thirteen attack scenarios</a:t>
            </a:r>
            <a:r>
              <a:rPr lang="en-US" sz="2000" dirty="0">
                <a:solidFill>
                  <a:srgbClr val="FFFFFF"/>
                </a:solidFill>
              </a:rPr>
              <a:t>.</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oc heading"/>
          <p:cNvSpPr txBox="1"/>
          <p:nvPr/>
        </p:nvSpPr>
        <p:spPr>
          <a:xfrm>
            <a:off x="822960" y="1051560"/>
            <a:ext cx="10515600" cy="457200"/>
          </a:xfrm>
          <a:prstGeom prst="rect">
            <a:avLst/>
          </a:prstGeom>
          <a:noFill/>
          <a:ln/>
        </p:spPr>
        <p:txBody>
          <a:bodyPr wrap="square" rtlCol="0" anchor="ctr"/>
          <a:lstStyle/>
          <a:p>
            <a:pPr indent="0" marL="0">
              <a:buNone/>
            </a:pPr>
            <a:r>
              <a:rPr lang="en-US" sz="2200" b="1" i="1" dirty="0">
                <a:solidFill>
                  <a:srgbClr val="1FB5D6"/>
                </a:solidFill>
              </a:rPr>
              <a:t>Social Contributions</a:t>
            </a:r>
            <a:endParaRPr lang="en-US" sz="2200" dirty="0"/>
          </a:p>
        </p:txBody>
      </p:sp>
      <p:sp>
        <p:nvSpPr>
          <p:cNvPr id="5" name="numbered points"/>
          <p:cNvSpPr txBox="1"/>
          <p:nvPr/>
        </p:nvSpPr>
        <p:spPr>
          <a:xfrm>
            <a:off x="822960" y="1691640"/>
            <a:ext cx="10515600" cy="4754880"/>
          </a:xfrm>
          <a:prstGeom prst="rect">
            <a:avLst/>
          </a:prstGeom>
          <a:noFill/>
          <a:ln/>
        </p:spPr>
        <p:txBody>
          <a:bodyPr wrap="square" rtlCol="0" anchor="t"/>
          <a:lstStyle/>
          <a:p>
            <a:pPr marL="342900" indent="-342900">
              <a:spcAft>
                <a:spcPts val="2000"/>
              </a:spcAft>
              <a:buSzPct val="100000"/>
              <a:buFont typeface="+mj-lt"/>
              <a:buAutoNum type="arabicPeriod" startAt="1"/>
            </a:pPr>
            <a:r>
              <a:rPr lang="en-US" sz="2000" dirty="0">
                <a:solidFill>
                  <a:srgbClr val="FFFFFF"/>
                </a:solidFill>
              </a:rPr>
              <a:t>This research gives </a:t>
            </a:r>
            <a:r>
              <a:rPr lang="en-US" sz="2000" b="1" dirty="0">
                <a:solidFill>
                  <a:srgbClr val="FFFFFF"/>
                </a:solidFill>
              </a:rPr>
              <a:t>patients and their guardians</a:t>
            </a:r>
            <a:r>
              <a:rPr lang="en-US" sz="2000" dirty="0">
                <a:solidFill>
                  <a:srgbClr val="FFFFFF"/>
                </a:solidFill>
              </a:rPr>
              <a:t> a direct role in deciding </a:t>
            </a:r>
            <a:r>
              <a:rPr lang="en-US" sz="2000" b="1" dirty="0">
                <a:solidFill>
                  <a:srgbClr val="FFFFFF"/>
                </a:solidFill>
              </a:rPr>
              <a:t>who can see the patient's data</a:t>
            </a:r>
            <a:r>
              <a:rPr lang="en-US" sz="2000" dirty="0">
                <a:solidFill>
                  <a:srgbClr val="FFFFFF"/>
                </a:solidFill>
              </a:rPr>
              <a:t>.</a:t>
            </a:r>
            <a:endParaRPr lang="en-US" sz="2000" dirty="0"/>
          </a:p>
          <a:p>
            <a:pPr marL="342900" indent="-342900">
              <a:spcAft>
                <a:spcPts val="2000"/>
              </a:spcAft>
              <a:buSzPct val="100000"/>
              <a:buFont typeface="+mj-lt"/>
              <a:buAutoNum type="arabicPeriod" startAt="1"/>
            </a:pPr>
            <a:r>
              <a:rPr lang="en-US" sz="2000" dirty="0">
                <a:solidFill>
                  <a:srgbClr val="FFFFFF"/>
                </a:solidFill>
              </a:rPr>
              <a:t>It prevents </a:t>
            </a:r>
            <a:r>
              <a:rPr lang="en-US" sz="2000" b="1" dirty="0">
                <a:solidFill>
                  <a:srgbClr val="FFFFFF"/>
                </a:solidFill>
              </a:rPr>
              <a:t>a single person</a:t>
            </a:r>
            <a:r>
              <a:rPr lang="en-US" sz="2000" dirty="0">
                <a:solidFill>
                  <a:srgbClr val="FFFFFF"/>
                </a:solidFill>
              </a:rPr>
              <a:t> from authorising access to </a:t>
            </a:r>
            <a:r>
              <a:rPr lang="en-US" sz="2000" b="1" dirty="0">
                <a:solidFill>
                  <a:srgbClr val="FFFFFF"/>
                </a:solidFill>
              </a:rPr>
              <a:t>sensitive health data alone</a:t>
            </a:r>
            <a:r>
              <a:rPr lang="en-US" sz="2000" dirty="0">
                <a:solidFill>
                  <a:srgbClr val="FFFFFF"/>
                </a:solidFill>
              </a:rPr>
              <a:t>.</a:t>
            </a:r>
            <a:endParaRPr lang="en-US" sz="2000" dirty="0"/>
          </a:p>
          <a:p>
            <a:pPr marL="342900" indent="-342900">
              <a:spcAft>
                <a:spcPts val="2000"/>
              </a:spcAft>
              <a:buSzPct val="100000"/>
              <a:buFont typeface="+mj-lt"/>
              <a:buAutoNum type="arabicPeriod" startAt="1"/>
            </a:pPr>
            <a:r>
              <a:rPr lang="en-US" sz="2000" dirty="0">
                <a:solidFill>
                  <a:srgbClr val="FFFFFF"/>
                </a:solidFill>
              </a:rPr>
              <a:t>It makes every access decision </a:t>
            </a:r>
            <a:r>
              <a:rPr lang="en-US" sz="2000" b="1" dirty="0">
                <a:solidFill>
                  <a:srgbClr val="FFFFFF"/>
                </a:solidFill>
              </a:rPr>
              <a:t>explainable to auditors</a:t>
            </a:r>
            <a:r>
              <a:rPr lang="en-US" sz="2000" dirty="0">
                <a:solidFill>
                  <a:srgbClr val="FFFFFF"/>
                </a:solidFill>
              </a:rPr>
              <a:t>: which check </a:t>
            </a:r>
            <a:r>
              <a:rPr lang="en-US" sz="2000" b="1" dirty="0">
                <a:solidFill>
                  <a:srgbClr val="FFFFFF"/>
                </a:solidFill>
              </a:rPr>
              <a:t>passed</a:t>
            </a:r>
            <a:r>
              <a:rPr lang="en-US" sz="2000" dirty="0">
                <a:solidFill>
                  <a:srgbClr val="FFFFFF"/>
                </a:solidFill>
              </a:rPr>
              <a:t> and which </a:t>
            </a:r>
            <a:r>
              <a:rPr lang="en-US" sz="2000" b="1" dirty="0">
                <a:solidFill>
                  <a:srgbClr val="FFFFFF"/>
                </a:solidFill>
              </a:rPr>
              <a:t>failed</a:t>
            </a:r>
            <a:r>
              <a:rPr lang="en-US" sz="2000" dirty="0">
                <a:solidFill>
                  <a:srgbClr val="FFFFFF"/>
                </a:solidFill>
              </a:rPr>
              <a:t>.</a:t>
            </a:r>
            <a:endParaRPr lang="en-US" sz="2000" dirty="0"/>
          </a:p>
          <a:p>
            <a:pPr marL="342900" indent="-342900">
              <a:spcAft>
                <a:spcPts val="2000"/>
              </a:spcAft>
              <a:buSzPct val="100000"/>
              <a:buFont typeface="+mj-lt"/>
              <a:buAutoNum type="arabicPeriod" startAt="1"/>
            </a:pPr>
            <a:r>
              <a:rPr lang="en-US" sz="2000" dirty="0">
                <a:solidFill>
                  <a:srgbClr val="FFFFFF"/>
                </a:solidFill>
              </a:rPr>
              <a:t>It keeps </a:t>
            </a:r>
            <a:r>
              <a:rPr lang="en-US" sz="2000" b="1" dirty="0">
                <a:solidFill>
                  <a:srgbClr val="FFFFFF"/>
                </a:solidFill>
              </a:rPr>
              <a:t>medical records off-chain</a:t>
            </a:r>
            <a:r>
              <a:rPr lang="en-US" sz="2000" dirty="0">
                <a:solidFill>
                  <a:srgbClr val="FFFFFF"/>
                </a:solidFill>
              </a:rPr>
              <a:t>, so only </a:t>
            </a:r>
            <a:r>
              <a:rPr lang="en-US" sz="2000" b="1" dirty="0">
                <a:solidFill>
                  <a:srgbClr val="FFFFFF"/>
                </a:solidFill>
              </a:rPr>
              <a:t>consent evidence</a:t>
            </a:r>
            <a:r>
              <a:rPr lang="en-US" sz="2000" dirty="0">
                <a:solidFill>
                  <a:srgbClr val="FFFFFF"/>
                </a:solidFill>
              </a:rPr>
              <a:t> is shared on the blockchain.</a:t>
            </a:r>
            <a:endParaRPr lang="en-US" sz="2000" dirty="0"/>
          </a:p>
          <a:p>
            <a:pPr marL="342900" indent="-342900">
              <a:spcAft>
                <a:spcPts val="2000"/>
              </a:spcAft>
              <a:buSzPct val="100000"/>
              <a:buFont typeface="+mj-lt"/>
              <a:buAutoNum type="arabicPeriod" startAt="1"/>
            </a:pPr>
            <a:r>
              <a:rPr lang="en-US" sz="2000" dirty="0">
                <a:solidFill>
                  <a:srgbClr val="FFFFFF"/>
                </a:solidFill>
              </a:rPr>
              <a:t>It can support </a:t>
            </a:r>
            <a:r>
              <a:rPr lang="en-US" sz="2000" b="1" dirty="0">
                <a:solidFill>
                  <a:srgbClr val="FFFFFF"/>
                </a:solidFill>
              </a:rPr>
              <a:t>trust between hospitals</a:t>
            </a:r>
            <a:r>
              <a:rPr lang="en-US" sz="2000" dirty="0">
                <a:solidFill>
                  <a:srgbClr val="FFFFFF"/>
                </a:solidFill>
              </a:rPr>
              <a:t> and other </a:t>
            </a:r>
            <a:r>
              <a:rPr lang="en-US" sz="2000" b="1" dirty="0">
                <a:solidFill>
                  <a:srgbClr val="FFFFFF"/>
                </a:solidFill>
              </a:rPr>
              <a:t>independent parties</a:t>
            </a:r>
            <a:r>
              <a:rPr lang="en-US" sz="2000" dirty="0">
                <a:solidFill>
                  <a:srgbClr val="FFFFFF"/>
                </a:solidFill>
              </a:rPr>
              <a:t> when health data are shared.</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STILL OPEN</a:t>
            </a:r>
            <a:endParaRPr lang="en-US" sz="3000" dirty="0"/>
          </a:p>
        </p:txBody>
      </p:sp>
      <p:sp>
        <p:nvSpPr>
          <p:cNvPr id="4" name="card Identity and keys"/>
          <p:cNvSpPr/>
          <p:nvPr/>
        </p:nvSpPr>
        <p:spPr>
          <a:xfrm>
            <a:off x="64008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5" name="card text Identity and key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Identity and keys</a:t>
            </a:r>
            <a:endParaRPr lang="en-US" sz="1900" dirty="0"/>
          </a:p>
          <a:p>
            <a:pPr indent="0" marL="0">
              <a:spcAft>
                <a:spcPts val="400"/>
              </a:spcAft>
              <a:buNone/>
            </a:pPr>
            <a:r>
              <a:rPr lang="en-US" sz="1600" dirty="0">
                <a:solidFill>
                  <a:srgbClr val="0B1F33"/>
                </a:solidFill>
              </a:rPr>
              <a:t>Full DID resolution, proof that the user controls the DID, and wallet-held keys. Today: demo-issuer credentials, signature recovery, keys made from the DIDs (RO2, RO3).</a:t>
            </a:r>
            <a:endParaRPr lang="en-US" sz="1900" dirty="0"/>
          </a:p>
        </p:txBody>
      </p:sp>
      <p:sp>
        <p:nvSpPr>
          <p:cNvPr id="6" name="card Purpose on-chain"/>
          <p:cNvSpPr/>
          <p:nvPr/>
        </p:nvSpPr>
        <p:spPr>
          <a:xfrm>
            <a:off x="434340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7" name="card text Purpose on-chain"/>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Purpose on-chain</a:t>
            </a:r>
            <a:endParaRPr lang="en-US" sz="1900" dirty="0"/>
          </a:p>
          <a:p>
            <a:pPr indent="0" marL="0">
              <a:spcAft>
                <a:spcPts val="400"/>
              </a:spcAft>
              <a:buNone/>
            </a:pPr>
            <a:r>
              <a:rPr lang="en-US" sz="1600" dirty="0">
                <a:solidFill>
                  <a:srgbClr val="0B1F33"/>
                </a:solidFill>
              </a:rPr>
              <a:t>The plaintext purpose is visible in the mint transaction input.</a:t>
            </a:r>
            <a:endParaRPr lang="en-US" sz="1900" dirty="0"/>
          </a:p>
        </p:txBody>
      </p:sp>
      <p:sp>
        <p:nvSpPr>
          <p:cNvPr id="8" name="card Lifecycle"/>
          <p:cNvSpPr/>
          <p:nvPr/>
        </p:nvSpPr>
        <p:spPr>
          <a:xfrm>
            <a:off x="8046720" y="1280160"/>
            <a:ext cx="3520440" cy="2240280"/>
          </a:xfrm>
          <a:prstGeom prst="roundRect">
            <a:avLst>
              <a:gd name="adj" fmla="val 4082"/>
            </a:avLst>
          </a:prstGeom>
          <a:solidFill>
            <a:srgbClr val="FFFFFF">
              <a:alpha val="92000"/>
            </a:srgbClr>
          </a:solidFill>
          <a:ln w="19050">
            <a:solidFill>
              <a:srgbClr val="F2A900"/>
            </a:solidFill>
            <a:prstDash val="solid"/>
          </a:ln>
        </p:spPr>
      </p:sp>
      <p:sp>
        <p:nvSpPr>
          <p:cNvPr id="9" name="card text Lifecycle"/>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Lifecycle</a:t>
            </a:r>
            <a:endParaRPr lang="en-US" sz="1900" dirty="0"/>
          </a:p>
          <a:p>
            <a:pPr indent="0" marL="0">
              <a:spcAft>
                <a:spcPts val="400"/>
              </a:spcAft>
              <a:buNone/>
            </a:pPr>
            <a:r>
              <a:rPr lang="en-US" sz="1600" dirty="0">
                <a:solidFill>
                  <a:srgbClr val="0B1F33"/>
                </a:solidFill>
              </a:rPr>
              <a:t>The SUSPENDED state, the lifecycle transition check, consent modification, delegation and guardian-set changes, with a formal lifecycle model (RO5).</a:t>
            </a:r>
            <a:endParaRPr lang="en-US" sz="1900" dirty="0"/>
          </a:p>
        </p:txBody>
      </p:sp>
      <p:sp>
        <p:nvSpPr>
          <p:cNvPr id="10" name="card Formal proofs"/>
          <p:cNvSpPr/>
          <p:nvPr/>
        </p:nvSpPr>
        <p:spPr>
          <a:xfrm>
            <a:off x="640080" y="3794760"/>
            <a:ext cx="3520440" cy="2240280"/>
          </a:xfrm>
          <a:prstGeom prst="roundRect">
            <a:avLst>
              <a:gd name="adj" fmla="val 4082"/>
            </a:avLst>
          </a:prstGeom>
          <a:solidFill>
            <a:srgbClr val="FFFFFF">
              <a:alpha val="92000"/>
            </a:srgbClr>
          </a:solidFill>
          <a:ln w="19050">
            <a:solidFill>
              <a:srgbClr val="F2A900"/>
            </a:solidFill>
            <a:prstDash val="solid"/>
          </a:ln>
        </p:spPr>
      </p:sp>
      <p:sp>
        <p:nvSpPr>
          <p:cNvPr id="11" name="card text Formal proofs"/>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Formal proofs</a:t>
            </a:r>
            <a:endParaRPr lang="en-US" sz="1900" dirty="0"/>
          </a:p>
          <a:p>
            <a:pPr indent="0" marL="0">
              <a:spcAft>
                <a:spcPts val="400"/>
              </a:spcAft>
              <a:buNone/>
            </a:pPr>
            <a:r>
              <a:rPr lang="en-US" sz="1600" dirty="0">
                <a:solidFill>
                  <a:srgbClr val="0B1F33"/>
                </a:solidFill>
              </a:rPr>
              <a:t>The security properties are tested, not yet proved. Next: a formal model and model checking or proofs (RO6).</a:t>
            </a:r>
            <a:endParaRPr lang="en-US" sz="1900" dirty="0"/>
          </a:p>
        </p:txBody>
      </p:sp>
      <p:sp>
        <p:nvSpPr>
          <p:cNvPr id="12" name="card Attack A11"/>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Attack A11"/>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Attack A11</a:t>
            </a:r>
            <a:endParaRPr lang="en-US" sz="1900" dirty="0"/>
          </a:p>
          <a:p>
            <a:pPr indent="0" marL="0">
              <a:spcAft>
                <a:spcPts val="400"/>
              </a:spcAft>
              <a:buNone/>
            </a:pPr>
            <a:r>
              <a:rPr lang="en-US" sz="1600" dirty="0">
                <a:solidFill>
                  <a:srgbClr val="0B1F33"/>
                </a:solidFill>
              </a:rPr>
              <a:t>Rewriting the result of an audit event changes its digest, but nothing checks the digest yet. It is marked neutral, not refused.</a:t>
            </a:r>
            <a:endParaRPr lang="en-US" sz="1900" dirty="0"/>
          </a:p>
        </p:txBody>
      </p:sp>
      <p:sp>
        <p:nvSpPr>
          <p:cNvPr id="14" name="card Scale"/>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Scale"/>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Scale</a:t>
            </a:r>
            <a:endParaRPr lang="en-US" sz="1900" dirty="0"/>
          </a:p>
          <a:p>
            <a:pPr indent="0" marL="0">
              <a:spcAft>
                <a:spcPts val="400"/>
              </a:spcAft>
              <a:buNone/>
            </a:pPr>
            <a:r>
              <a:rPr lang="en-US" sz="1600" dirty="0">
                <a:solidFill>
                  <a:srgbClr val="0B1F33"/>
                </a:solidFill>
              </a:rPr>
              <a:t>A larger evaluation under load, with more users, consents and concurrent requests.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PUBLICATIONS</a:t>
            </a:r>
            <a:endParaRPr lang="en-US" sz="3000" dirty="0"/>
          </a:p>
        </p:txBody>
      </p:sp>
      <p:graphicFrame>
        <p:nvGraphicFramePr>
          <p:cNvPr id="35" name="publications table"/>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457200"/>
                <a:gridCol w="5394960"/>
                <a:gridCol w="3108960"/>
                <a:gridCol w="731520"/>
                <a:gridCol w="1371600"/>
              </a:tblGrid>
              <a:tr h="777240">
                <a:tc>
                  <a:txBody>
                    <a:bodyPr/>
                    <a:lstStyle/>
                    <a:p>
                      <a:pPr algn="ctr" indent="0" marL="0">
                        <a:buNone/>
                      </a:pPr>
                      <a:r>
                        <a:rPr lang="en-US" sz="1400" b="1" dirty="0">
                          <a:solidFill>
                            <a:srgbClr val="FFFFFF"/>
                          </a:solidFill>
                        </a:rPr>
                        <a:t>#</a:t>
                      </a:r>
                      <a:endParaRPr lang="en-US" sz="140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l" indent="0" marL="0">
                        <a:buNone/>
                      </a:pPr>
                      <a:r>
                        <a:rPr lang="en-US" sz="1400" b="1" dirty="0">
                          <a:solidFill>
                            <a:srgbClr val="FFFFFF"/>
                          </a:solidFill>
                        </a:rPr>
                        <a:t>Title</a:t>
                      </a:r>
                      <a:endParaRPr lang="en-US" sz="140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l" indent="0" marL="0">
                        <a:buNone/>
                      </a:pPr>
                      <a:r>
                        <a:rPr lang="en-US" sz="1400" b="1" dirty="0">
                          <a:solidFill>
                            <a:srgbClr val="FFFFFF"/>
                          </a:solidFill>
                        </a:rPr>
                        <a:t>Venue</a:t>
                      </a:r>
                      <a:endParaRPr lang="en-US" sz="140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400" b="1" dirty="0">
                          <a:solidFill>
                            <a:srgbClr val="FFFFFF"/>
                          </a:solidFill>
                        </a:rPr>
                        <a:t>Year</a:t>
                      </a:r>
                      <a:endParaRPr lang="en-US" sz="140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400" b="1" dirty="0">
                          <a:solidFill>
                            <a:srgbClr val="FFFFFF"/>
                          </a:solidFill>
                        </a:rPr>
                        <a:t>Status</a:t>
                      </a:r>
                      <a:endParaRPr lang="en-US" sz="140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algn="ctr" indent="0" marL="0">
                        <a:buNone/>
                      </a:pPr>
                      <a:r>
                        <a:rPr lang="en-US" sz="1350" b="1" dirty="0">
                          <a:solidFill>
                            <a:srgbClr val="0B1F33"/>
                          </a:solidFill>
                        </a:rPr>
                        <a:t>1</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A Blockchain-Based Framework for Evaluating User Identity Trustworthiness in Real Estate</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2025 IEEE International Conference on E-Business Engineering (ICEBE)</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0B1F33"/>
                          </a:solidFill>
                        </a:rPr>
                        <a:t>2025</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b="1" dirty="0">
                          <a:solidFill>
                            <a:srgbClr val="2E7D32"/>
                          </a:solidFill>
                        </a:rPr>
                        <a:t>Published</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algn="ctr" indent="0" marL="0">
                        <a:buNone/>
                      </a:pPr>
                      <a:r>
                        <a:rPr lang="en-US" sz="1350" b="1" dirty="0">
                          <a:solidFill>
                            <a:srgbClr val="0B1F33"/>
                          </a:solidFill>
                        </a:rPr>
                        <a:t>2</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Blockchain-Based Reputation Borrowing Model to Address the Cold Start Problem for New Users in Real Estate</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2025 IEEE International Conference on E-Business Engineering (ICEBE)</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0B1F33"/>
                          </a:solidFill>
                        </a:rPr>
                        <a:t>2025</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b="1" dirty="0">
                          <a:solidFill>
                            <a:srgbClr val="2E7D32"/>
                          </a:solidFill>
                        </a:rPr>
                        <a:t>Published</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algn="ctr" indent="0" marL="0">
                        <a:buNone/>
                      </a:pPr>
                      <a:r>
                        <a:rPr lang="en-US" sz="1350" b="1" dirty="0">
                          <a:solidFill>
                            <a:srgbClr val="0B1F33"/>
                          </a:solidFill>
                        </a:rPr>
                        <a:t>3</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A Smart Contract-Governed Lifecycle Protocol for Reputation Borrowing in Blockchain-Based Real Estate Platforms</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ICEBE 2026</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0B1F33"/>
                          </a:solidFill>
                        </a:rPr>
                        <a:t>2026</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b="1" dirty="0">
                          <a:solidFill>
                            <a:srgbClr val="1F6FB0"/>
                          </a:solidFill>
                        </a:rPr>
                        <a:t>Accepted</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algn="ctr" indent="0" marL="0">
                        <a:buNone/>
                      </a:pPr>
                      <a:r>
                        <a:rPr lang="en-US" sz="1350" b="1" dirty="0">
                          <a:solidFill>
                            <a:srgbClr val="0B1F33"/>
                          </a:solidFill>
                        </a:rPr>
                        <a:t>4</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A Trusted Multi-Party Consent Governance Framework for Decentralized Multi-Stakeholder Data Sharing</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BWCCA 2026</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0B1F33"/>
                          </a:solidFill>
                        </a:rPr>
                        <a:t>2026</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b="1" dirty="0">
                          <a:solidFill>
                            <a:srgbClr val="1F6FB0"/>
                          </a:solidFill>
                        </a:rPr>
                        <a:t>Accepted</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algn="ctr" indent="0" marL="0">
                        <a:buNone/>
                      </a:pPr>
                      <a:r>
                        <a:rPr lang="en-US" sz="1350" b="1" dirty="0">
                          <a:solidFill>
                            <a:srgbClr val="0B1F33"/>
                          </a:solidFill>
                        </a:rPr>
                        <a:t>5</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Blockchain-Based Reputation Provenance Tracing for Newcomer Bootstrapping in Real Estate</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BWCCA 2026</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0B1F33"/>
                          </a:solidFill>
                        </a:rPr>
                        <a:t>2026</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b="1" dirty="0">
                          <a:solidFill>
                            <a:srgbClr val="1F6FB0"/>
                          </a:solidFill>
                        </a:rPr>
                        <a:t>Accepted</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36"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Final assessment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THE HALAH PROTOTYPE</a:t>
            </a:r>
            <a:endParaRPr lang="en-US" sz="3000" dirty="0"/>
          </a:p>
        </p:txBody>
      </p:sp>
      <p:sp>
        <p:nvSpPr>
          <p:cNvPr id="4" name="demo subtitle"/>
          <p:cNvSpPr txBox="1"/>
          <p:nvPr/>
        </p:nvSpPr>
        <p:spPr>
          <a:xfrm>
            <a:off x="731520" y="960120"/>
            <a:ext cx="10698480" cy="411480"/>
          </a:xfrm>
          <a:prstGeom prst="rect">
            <a:avLst/>
          </a:prstGeom>
          <a:noFill/>
          <a:ln/>
        </p:spPr>
        <p:txBody>
          <a:bodyPr wrap="square" rtlCol="0" anchor="ctr"/>
          <a:lstStyle/>
          <a:p>
            <a:pPr indent="0" marL="0">
              <a:buNone/>
            </a:pPr>
            <a:r>
              <a:rPr lang="en-US" sz="1500" i="1" dirty="0">
                <a:solidFill>
                  <a:srgbClr val="1FB5D6"/>
                </a:solidFill>
              </a:rPr>
              <a:t>Real prototype screens, 24 September 2026: RO1 to RO4 and part of RO6; revocation (RO5) is optional.</a:t>
            </a:r>
            <a:endParaRPr lang="en-US" sz="1500" dirty="0"/>
          </a:p>
        </p:txBody>
      </p:sp>
      <p:sp>
        <p:nvSpPr>
          <p:cNvPr id="5" name="card Four interfaces"/>
          <p:cNvSpPr/>
          <p:nvPr/>
        </p:nvSpPr>
        <p:spPr>
          <a:xfrm>
            <a:off x="64008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6" name="card text Four interfaces"/>
          <p:cNvSpPr txBox="1"/>
          <p:nvPr/>
        </p:nvSpPr>
        <p:spPr>
          <a:xfrm>
            <a:off x="77724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Four interfaces</a:t>
            </a:r>
            <a:endParaRPr lang="en-US" sz="1900" dirty="0"/>
          </a:p>
          <a:p>
            <a:pPr indent="0" marL="0">
              <a:spcAft>
                <a:spcPts val="400"/>
              </a:spcAft>
              <a:buNone/>
            </a:pPr>
            <a:r>
              <a:rPr lang="en-US" sz="1600" dirty="0">
                <a:solidFill>
                  <a:srgbClr val="0B1F33"/>
                </a:solidFill>
              </a:rPr>
              <a:t>Patient, guardian, doctor and auditor</a:t>
            </a:r>
            <a:endParaRPr lang="en-US" sz="1900" dirty="0"/>
          </a:p>
        </p:txBody>
      </p:sp>
      <p:sp>
        <p:nvSpPr>
          <p:cNvPr id="7" name="card Smart contract"/>
          <p:cNvSpPr/>
          <p:nvPr/>
        </p:nvSpPr>
        <p:spPr>
          <a:xfrm>
            <a:off x="434340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8" name="card text Smart contract"/>
          <p:cNvSpPr txBox="1"/>
          <p:nvPr/>
        </p:nvSpPr>
        <p:spPr>
          <a:xfrm>
            <a:off x="448056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9" name="card Guardian approval"/>
          <p:cNvSpPr/>
          <p:nvPr/>
        </p:nvSpPr>
        <p:spPr>
          <a:xfrm>
            <a:off x="804672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10" name="card text Guardian approval"/>
          <p:cNvSpPr txBox="1"/>
          <p:nvPr/>
        </p:nvSpPr>
        <p:spPr>
          <a:xfrm>
            <a:off x="818388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1" name="card Access proof"/>
          <p:cNvSpPr/>
          <p:nvPr/>
        </p:nvSpPr>
        <p:spPr>
          <a:xfrm>
            <a:off x="64008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2" name="card text Access proof"/>
          <p:cNvSpPr txBox="1"/>
          <p:nvPr/>
        </p:nvSpPr>
        <p:spPr>
          <a:xfrm>
            <a:off x="77724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3" name="card Data"/>
          <p:cNvSpPr/>
          <p:nvPr/>
        </p:nvSpPr>
        <p:spPr>
          <a:xfrm>
            <a:off x="434340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4" name="card text Data"/>
          <p:cNvSpPr txBox="1"/>
          <p:nvPr/>
        </p:nvSpPr>
        <p:spPr>
          <a:xfrm>
            <a:off x="448056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5" name="card Evidence"/>
          <p:cNvSpPr/>
          <p:nvPr/>
        </p:nvSpPr>
        <p:spPr>
          <a:xfrm>
            <a:off x="804672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6" name="card text Evidence"/>
          <p:cNvSpPr txBox="1"/>
          <p:nvPr/>
        </p:nvSpPr>
        <p:spPr>
          <a:xfrm>
            <a:off x="818388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Off-chain audit ledger of consent events and access decisions</a:t>
            </a:r>
            <a:r>
              <a:rPr lang="en-US" sz="1600" dirty="0">
                <a:solidFill>
                  <a:srgbClr val="0B1F33"/>
                </a:solidFill>
              </a:rPr>
              <a:t>;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1: THE PATIENT CREATES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RO1</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Consent as an evaluable object</a:t>
            </a:r>
            <a:endParaRPr lang="en-US" sz="1600" dirty="0"/>
          </a:p>
        </p:txBody>
      </p:sp>
      <p:sp>
        <p:nvSpPr>
          <p:cNvPr id="7" name="F21x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1x" descr="/tmp/deck/img/F21x.png">    </p:cNvPr>
          <p:cNvPicPr>
            <a:picLocks noChangeAspect="1"/>
          </p:cNvPicPr>
          <p:nvPr/>
        </p:nvPicPr>
        <p:blipFill>
          <a:blip r:embed="rId1"/>
          <a:stretch>
            <a:fillRect/>
          </a:stretch>
        </p:blipFill>
        <p:spPr>
          <a:xfrm>
            <a:off x="846698" y="1709928"/>
            <a:ext cx="6536203"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Patient screen, consent 04da25f5 (shown in two parts)</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enters the doctor's DID, two guardians, the data modules and the end date.</a:t>
            </a:r>
            <a:endParaRPr lang="en-US" sz="1600" dirty="0"/>
          </a:p>
          <a:p>
            <a:pPr marL="342900" indent="-342900">
              <a:spcAft>
                <a:spcPts val="1000"/>
              </a:spcAft>
              <a:buSzPct val="100000"/>
              <a:buChar char="•"/>
            </a:pPr>
            <a:r>
              <a:rPr lang="en-US" sz="1600" dirty="0">
                <a:solidFill>
                  <a:srgbClr val="FFFFFF"/>
                </a:solidFill>
              </a:rPr>
              <a:t>The system saves the consent off-chain and gives it an ID.</a:t>
            </a:r>
            <a:endParaRPr lang="en-US" sz="1600" dirty="0"/>
          </a:p>
          <a:p>
            <a:pPr marL="342900" indent="-342900">
              <a:spcAft>
                <a:spcPts val="1000"/>
              </a:spcAft>
              <a:buSzPct val="100000"/>
              <a:buChar char="•"/>
            </a:pPr>
            <a:r>
              <a:rPr lang="en-US" sz="1600" dirty="0">
                <a:solidFill>
                  <a:srgbClr val="FFFFFF"/>
                </a:solidFill>
              </a:rPr>
              <a:t>The state is PENDING_SIGNATURE, with 0 of 2 signatures.</a:t>
            </a:r>
            <a:endParaRPr lang="en-US" sz="1600" dirty="0"/>
          </a:p>
          <a:p>
            <a:pPr marL="342900" indent="-342900">
              <a:spcAft>
                <a:spcPts val="1000"/>
              </a:spcAft>
              <a:buSzPct val="100000"/>
              <a:buChar char="•"/>
            </a:pPr>
            <a:r>
              <a:rPr lang="en-US" sz="1600" dirty="0">
                <a:solidFill>
                  <a:srgbClr val="FFFFFF"/>
                </a:solidFill>
              </a:rPr>
              <a:t>Nothing is on the blockchain yet.</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2: THE FIRST GUARDIAN APPROVES</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RO2 + RO3</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Multi-party approval: one signature is not enough</a:t>
            </a:r>
            <a:endParaRPr lang="en-US" sz="1600" dirty="0"/>
          </a:p>
        </p:txBody>
      </p:sp>
      <p:sp>
        <p:nvSpPr>
          <p:cNvPr id="7" name="bullets"/>
          <p:cNvSpPr txBox="1"/>
          <p:nvPr/>
        </p:nvSpPr>
        <p:spPr>
          <a:xfrm>
            <a:off x="731520" y="1463040"/>
            <a:ext cx="10789920" cy="914400"/>
          </a:xfrm>
          <a:prstGeom prst="rect">
            <a:avLst/>
          </a:prstGeom>
          <a:noFill/>
          <a:ln/>
        </p:spPr>
        <p:txBody>
          <a:bodyPr wrap="square" rtlCol="0" anchor="t"/>
          <a:lstStyle/>
          <a:p>
            <a:pPr marL="342900" indent="-342900">
              <a:buSzPct val="100000"/>
              <a:buChar char="•"/>
            </a:pPr>
            <a:r>
              <a:rPr lang="en-US" sz="1400" dirty="0">
                <a:solidFill>
                  <a:srgbClr val="FFFFFF"/>
                </a:solidFill>
              </a:rPr>
              <a:t>Guardian A enters the consent ID and chooses their DID.</a:t>
            </a:r>
            <a:endParaRPr lang="en-US" sz="1400" dirty="0"/>
          </a:p>
          <a:p>
            <a:pPr marL="342900" indent="-342900">
              <a:buSzPct val="100000"/>
              <a:buChar char="•"/>
            </a:pPr>
            <a:r>
              <a:rPr lang="en-US" sz="1400" dirty="0">
                <a:solidFill>
                  <a:srgbClr val="FFFFFF"/>
                </a:solidFill>
              </a:rPr>
              <a:t>The first guardian signs an EIP-712 approval. </a:t>
            </a:r>
            <a:r>
              <a:rPr lang="en-US" sz="1400" dirty="0">
                <a:solidFill>
                  <a:srgbClr val="FFFFFF"/>
                </a:solidFill>
              </a:rPr>
              <a:t>The system checks the signature and finds the signer's address.</a:t>
            </a:r>
            <a:endParaRPr lang="en-US" sz="1400" dirty="0"/>
          </a:p>
          <a:p>
            <a:pPr marL="342900" indent="-342900">
              <a:buSzPct val="100000"/>
              <a:buChar char="•"/>
            </a:pPr>
            <a:r>
              <a:rPr lang="en-US" sz="1400" dirty="0">
                <a:solidFill>
                  <a:srgbClr val="FFFFFF"/>
                </a:solidFill>
              </a:rPr>
              <a:t>The counter shows 1 of 2. The consent stays pending.</a:t>
            </a:r>
            <a:endParaRPr lang="en-US" sz="1400" dirty="0"/>
          </a:p>
        </p:txBody>
      </p:sp>
      <p:sp>
        <p:nvSpPr>
          <p:cNvPr id="8" name="F22 panel"/>
          <p:cNvSpPr/>
          <p:nvPr/>
        </p:nvSpPr>
        <p:spPr>
          <a:xfrm>
            <a:off x="1197572" y="2514600"/>
            <a:ext cx="9796551"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2" descr="/tmp/deck/img/F22.png">    </p:cNvPr>
          <p:cNvPicPr>
            <a:picLocks noChangeAspect="1"/>
          </p:cNvPicPr>
          <p:nvPr/>
        </p:nvPicPr>
        <p:blipFill>
          <a:blip r:embed="rId1"/>
          <a:stretch>
            <a:fillRect/>
          </a:stretch>
        </p:blipFill>
        <p:spPr>
          <a:xfrm>
            <a:off x="1307300" y="2624328"/>
            <a:ext cx="9577095" cy="3438144"/>
          </a:xfrm>
          <a:prstGeom prst="rect">
            <a:avLst/>
          </a:prstGeom>
        </p:spPr>
      </p:pic>
      <p:sp>
        <p:nvSpPr>
          <p:cNvPr id="10" name="caption"/>
          <p:cNvSpPr txBox="1"/>
          <p:nvPr/>
        </p:nvSpPr>
        <p:spPr>
          <a:xfrm>
            <a:off x="1197572" y="6217920"/>
            <a:ext cx="9796551" cy="320040"/>
          </a:xfrm>
          <a:prstGeom prst="rect">
            <a:avLst/>
          </a:prstGeom>
          <a:noFill/>
          <a:ln/>
        </p:spPr>
        <p:txBody>
          <a:bodyPr wrap="square" rtlCol="0" anchor="ctr"/>
          <a:lstStyle/>
          <a:p>
            <a:pPr algn="ctr" indent="0" marL="0">
              <a:buNone/>
            </a:pPr>
            <a:r>
              <a:rPr lang="en-US" sz="1200" i="1" dirty="0">
                <a:solidFill>
                  <a:srgbClr val="FFFFFF"/>
                </a:solidFill>
              </a:rPr>
              <a:t>Guardian screen at the first approval: signature verified, 1 of 2 signatures</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3: SECOND APPROVAL, TOKEN MINTED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RO3</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Threshold reached: 2 of 2, then anchoring in the background</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The second signature is verified. Now 2 of 2 guardians have signed.</a:t>
            </a:r>
            <a:endParaRPr lang="en-US" sz="1400" dirty="0"/>
          </a:p>
          <a:p>
            <a:pPr marL="342900" indent="-342900">
              <a:buSzPct val="100000"/>
              <a:buChar char="•"/>
            </a:pPr>
            <a:r>
              <a:rPr lang="en-US" sz="1400" dirty="0">
                <a:solidFill>
                  <a:srgbClr val="FFFFFF"/>
                </a:solidFill>
              </a:rPr>
              <a:t>A soulbound token is minted on Sepolia in the background</a:t>
            </a:r>
            <a:r>
              <a:rPr lang="en-US" sz="1400" dirty="0">
                <a:solidFill>
                  <a:srgbClr val="FFFFFF"/>
                </a:solidFill>
              </a:rPr>
              <a:t>. The guardian does not wait.</a:t>
            </a:r>
            <a:endParaRPr lang="en-US" sz="1400" dirty="0"/>
          </a:p>
          <a:p>
            <a:pPr marL="342900" indent="-342900">
              <a:buSzPct val="100000"/>
              <a:buChar char="•"/>
            </a:pPr>
            <a:r>
              <a:rPr lang="en-US" sz="1400" dirty="0">
                <a:solidFill>
                  <a:srgbClr val="FFFFFF"/>
                </a:solidFill>
              </a:rPr>
              <a:t>Later, the same screen says: already anchored on Sepolia, token #2.</a:t>
            </a:r>
            <a:endParaRPr lang="en-US" sz="1400" dirty="0"/>
          </a:p>
        </p:txBody>
      </p:sp>
      <p:sp>
        <p:nvSpPr>
          <p:cNvPr id="8" name="F23 panel"/>
          <p:cNvSpPr/>
          <p:nvPr/>
        </p:nvSpPr>
        <p:spPr>
          <a:xfrm>
            <a:off x="640080" y="2377440"/>
            <a:ext cx="539496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3" descr="/tmp/deck/img/F23.png">    </p:cNvPr>
          <p:cNvPicPr>
            <a:picLocks noChangeAspect="1"/>
          </p:cNvPicPr>
          <p:nvPr/>
        </p:nvPicPr>
        <p:blipFill>
          <a:blip r:embed="rId1"/>
          <a:stretch>
            <a:fillRect/>
          </a:stretch>
        </p:blipFill>
        <p:spPr>
          <a:xfrm>
            <a:off x="749808" y="2562614"/>
            <a:ext cx="5175504" cy="2372852"/>
          </a:xfrm>
          <a:prstGeom prst="rect">
            <a:avLst/>
          </a:prstGeom>
        </p:spPr>
      </p:pic>
      <p:sp>
        <p:nvSpPr>
          <p:cNvPr id="10" name="caption"/>
          <p:cNvSpPr txBox="1"/>
          <p:nvPr/>
        </p:nvSpPr>
        <p:spPr>
          <a:xfrm>
            <a:off x="640080" y="5166360"/>
            <a:ext cx="5394960" cy="320040"/>
          </a:xfrm>
          <a:prstGeom prst="rect">
            <a:avLst/>
          </a:prstGeom>
          <a:noFill/>
          <a:ln/>
        </p:spPr>
        <p:txBody>
          <a:bodyPr wrap="square" rtlCol="0" anchor="ctr"/>
          <a:lstStyle/>
          <a:p>
            <a:pPr algn="ctr" indent="0" marL="0">
              <a:buNone/>
            </a:pPr>
            <a:r>
              <a:rPr lang="en-US" sz="1200" i="1" dirty="0">
                <a:solidFill>
                  <a:srgbClr val="FFFFFF"/>
                </a:solidFill>
              </a:rPr>
              <a:t>Second approval: 2 of 2, token recorded, anchoring starts</a:t>
            </a:r>
            <a:endParaRPr lang="en-US" sz="1200" dirty="0"/>
          </a:p>
        </p:txBody>
      </p:sp>
      <p:sp>
        <p:nvSpPr>
          <p:cNvPr id="11" name="F25c panel"/>
          <p:cNvSpPr/>
          <p:nvPr/>
        </p:nvSpPr>
        <p:spPr>
          <a:xfrm>
            <a:off x="6172200" y="2377440"/>
            <a:ext cx="539496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25c" descr="/tmp/deck/img/F25c.png">    </p:cNvPr>
          <p:cNvPicPr>
            <a:picLocks noChangeAspect="1"/>
          </p:cNvPicPr>
          <p:nvPr/>
        </p:nvPicPr>
        <p:blipFill>
          <a:blip r:embed="rId2"/>
          <a:stretch>
            <a:fillRect/>
          </a:stretch>
        </p:blipFill>
        <p:spPr>
          <a:xfrm>
            <a:off x="6281928" y="2980123"/>
            <a:ext cx="5175504" cy="1537835"/>
          </a:xfrm>
          <a:prstGeom prst="rect">
            <a:avLst/>
          </a:prstGeom>
        </p:spPr>
      </p:pic>
      <p:sp>
        <p:nvSpPr>
          <p:cNvPr id="13" name="caption"/>
          <p:cNvSpPr txBox="1"/>
          <p:nvPr/>
        </p:nvSpPr>
        <p:spPr>
          <a:xfrm>
            <a:off x="6172200" y="5166360"/>
            <a:ext cx="5394960" cy="320040"/>
          </a:xfrm>
          <a:prstGeom prst="rect">
            <a:avLst/>
          </a:prstGeom>
          <a:noFill/>
          <a:ln/>
        </p:spPr>
        <p:txBody>
          <a:bodyPr wrap="square" rtlCol="0" anchor="ctr"/>
          <a:lstStyle/>
          <a:p>
            <a:pPr algn="ctr" indent="0" marL="0">
              <a:buNone/>
            </a:pPr>
            <a:r>
              <a:rPr lang="en-US" sz="1200" i="1" dirty="0">
                <a:solidFill>
                  <a:srgbClr val="FFFFFF"/>
                </a:solidFill>
              </a:rPr>
              <a:t>Same screen later: already anchored on Sepolia, token #2</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4: THE DOCTOR IS ALLOWED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RO2 + 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Five checks and a proof before any data is released</a:t>
            </a:r>
            <a:endParaRPr lang="en-US" sz="1600" dirty="0"/>
          </a:p>
        </p:txBody>
      </p:sp>
      <p:sp>
        <p:nvSpPr>
          <p:cNvPr id="7" name="bullets"/>
          <p:cNvSpPr txBox="1"/>
          <p:nvPr/>
        </p:nvSpPr>
        <p:spPr>
          <a:xfrm>
            <a:off x="731520" y="1463040"/>
            <a:ext cx="10789920" cy="914400"/>
          </a:xfrm>
          <a:prstGeom prst="rect">
            <a:avLst/>
          </a:prstGeom>
          <a:noFill/>
          <a:ln/>
        </p:spPr>
        <p:txBody>
          <a:bodyPr wrap="square" rtlCol="0" anchor="t"/>
          <a:lstStyle/>
          <a:p>
            <a:pPr marL="342900" indent="-342900">
              <a:buSzPct val="100000"/>
              <a:buChar char="•"/>
            </a:pPr>
            <a:r>
              <a:rPr lang="en-US" sz="1400" dirty="0">
                <a:solidFill>
                  <a:srgbClr val="FFFFFF"/>
                </a:solidFill>
              </a:rPr>
              <a:t>The doctor opens the consent: patient, consent ID and purpose, Treatment. The state is ACTIVE.</a:t>
            </a:r>
            <a:endParaRPr lang="en-US" sz="1400" dirty="0"/>
          </a:p>
          <a:p>
            <a:pPr marL="342900" indent="-342900">
              <a:buSzPct val="100000"/>
              <a:buChar char="•"/>
            </a:pPr>
            <a:r>
              <a:rPr lang="en-US" sz="1400" dirty="0">
                <a:solidFill>
                  <a:srgbClr val="FFFFFF"/>
                </a:solidFill>
              </a:rPr>
              <a:t>The decision matrix shows VI, VA, VP, VT, VL all PASS, so ALLOW.</a:t>
            </a:r>
            <a:endParaRPr lang="en-US" sz="1400" dirty="0"/>
          </a:p>
          <a:p>
            <a:pPr marL="342900" indent="-342900">
              <a:buSzPct val="100000"/>
              <a:buChar char="•"/>
            </a:pPr>
            <a:r>
              <a:rPr lang="en-US" sz="1400" dirty="0">
                <a:solidFill>
                  <a:srgbClr val="FFFFFF"/>
                </a:solidFill>
              </a:rPr>
              <a:t>VP is the policy check: the purpose is checked here, and the scope when the doctor asks for the data.</a:t>
            </a:r>
            <a:endParaRPr lang="en-US" sz="1400" dirty="0"/>
          </a:p>
        </p:txBody>
      </p:sp>
      <p:sp>
        <p:nvSpPr>
          <p:cNvPr id="8" name="F29m panel"/>
          <p:cNvSpPr/>
          <p:nvPr/>
        </p:nvSpPr>
        <p:spPr>
          <a:xfrm>
            <a:off x="655168" y="2514600"/>
            <a:ext cx="10881360" cy="2955976"/>
          </a:xfrm>
          <a:prstGeom prst="roundRect">
            <a:avLst>
              <a:gd name="adj" fmla="val 371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9m" descr="/tmp/deck/img/F29m.png">    </p:cNvPr>
          <p:cNvPicPr>
            <a:picLocks noChangeAspect="1"/>
          </p:cNvPicPr>
          <p:nvPr/>
        </p:nvPicPr>
        <p:blipFill>
          <a:blip r:embed="rId1"/>
          <a:stretch>
            <a:fillRect/>
          </a:stretch>
        </p:blipFill>
        <p:spPr>
          <a:xfrm>
            <a:off x="764896" y="2624328"/>
            <a:ext cx="10661904" cy="2736520"/>
          </a:xfrm>
          <a:prstGeom prst="rect">
            <a:avLst/>
          </a:prstGeom>
        </p:spPr>
      </p:pic>
      <p:sp>
        <p:nvSpPr>
          <p:cNvPr id="10" name="caption"/>
          <p:cNvSpPr txBox="1"/>
          <p:nvPr/>
        </p:nvSpPr>
        <p:spPr>
          <a:xfrm>
            <a:off x="655168" y="5516296"/>
            <a:ext cx="10881360" cy="320040"/>
          </a:xfrm>
          <a:prstGeom prst="rect">
            <a:avLst/>
          </a:prstGeom>
          <a:noFill/>
          <a:ln/>
        </p:spPr>
        <p:txBody>
          <a:bodyPr wrap="square" rtlCol="0" anchor="ctr"/>
          <a:lstStyle/>
          <a:p>
            <a:pPr algn="ctr" indent="0" marL="0">
              <a:buNone/>
            </a:pPr>
            <a:r>
              <a:rPr lang="en-US" sz="1200" i="1" dirty="0">
                <a:solidFill>
                  <a:srgbClr val="FFFFFF"/>
                </a:solidFill>
              </a:rPr>
              <a:t>Doctor screen, consent 04da25f5 (shown in two parts)</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5: ONLY THE AUTHORISED RECORDS</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Data scope enforced: nothing outside the consent</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After ALLOW and the proof check, the screen shows the records, one table per module.</a:t>
            </a:r>
            <a:endParaRPr lang="en-US" sz="1400" dirty="0"/>
          </a:p>
          <a:p>
            <a:pPr marL="342900" indent="-342900">
              <a:buSzPct val="100000"/>
              <a:buChar char="•"/>
            </a:pPr>
            <a:r>
              <a:rPr lang="en-US" sz="1400" dirty="0">
                <a:solidFill>
                  <a:srgbClr val="FFFFFF"/>
                </a:solidFill>
              </a:rPr>
              <a:t>Only the four modules in the consent are shown. A request outside the scope is refused (attack test A4).</a:t>
            </a:r>
            <a:endParaRPr lang="en-US" sz="1400" dirty="0"/>
          </a:p>
          <a:p>
            <a:pPr marL="342900" indent="-342900">
              <a:buSzPct val="100000"/>
              <a:buChar char="•"/>
            </a:pPr>
            <a:r>
              <a:rPr lang="en-US" sz="1400" dirty="0">
                <a:solidFill>
                  <a:srgbClr val="FFFFFF"/>
                </a:solidFill>
              </a:rPr>
              <a:t>The data are synthetic Synthea records, not real patients.</a:t>
            </a:r>
            <a:endParaRPr lang="en-US" sz="1400" dirty="0"/>
          </a:p>
        </p:txBody>
      </p:sp>
      <p:sp>
        <p:nvSpPr>
          <p:cNvPr id="8" name="F29r panel"/>
          <p:cNvSpPr/>
          <p:nvPr/>
        </p:nvSpPr>
        <p:spPr>
          <a:xfrm>
            <a:off x="64008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9r" descr="/tmp/deck/img/F29r.png">    </p:cNvPr>
          <p:cNvPicPr>
            <a:picLocks noChangeAspect="1"/>
          </p:cNvPicPr>
          <p:nvPr/>
        </p:nvPicPr>
        <p:blipFill>
          <a:blip r:embed="rId1"/>
          <a:stretch>
            <a:fillRect/>
          </a:stretch>
        </p:blipFill>
        <p:spPr>
          <a:xfrm>
            <a:off x="1216464" y="2487168"/>
            <a:ext cx="4242192" cy="3438144"/>
          </a:xfrm>
          <a:prstGeom prst="rect">
            <a:avLst/>
          </a:prstGeom>
        </p:spPr>
      </p:pic>
      <p:sp>
        <p:nvSpPr>
          <p:cNvPr id="10" name="caption"/>
          <p:cNvSpPr txBox="1"/>
          <p:nvPr/>
        </p:nvSpPr>
        <p:spPr>
          <a:xfrm>
            <a:off x="640080" y="6080760"/>
            <a:ext cx="5394960" cy="320040"/>
          </a:xfrm>
          <a:prstGeom prst="rect">
            <a:avLst/>
          </a:prstGeom>
          <a:noFill/>
          <a:ln/>
        </p:spPr>
        <p:txBody>
          <a:bodyPr wrap="square" rtlCol="0" anchor="ctr"/>
          <a:lstStyle/>
          <a:p>
            <a:pPr algn="ctr" indent="0" marL="0">
              <a:buNone/>
            </a:pPr>
            <a:r>
              <a:rPr lang="en-US" sz="1200" i="1" dirty="0">
                <a:solidFill>
                  <a:srgbClr val="FFFFFF"/>
                </a:solidFill>
              </a:rPr>
              <a:t>Authorised records: Observation and Medication</a:t>
            </a:r>
            <a:endParaRPr lang="en-US" sz="1200" dirty="0"/>
          </a:p>
        </p:txBody>
      </p:sp>
      <p:sp>
        <p:nvSpPr>
          <p:cNvPr id="11" name="F30 panel"/>
          <p:cNvSpPr/>
          <p:nvPr/>
        </p:nvSpPr>
        <p:spPr>
          <a:xfrm>
            <a:off x="617220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0" descr="/tmp/deck/img/F30.png">    </p:cNvPr>
          <p:cNvPicPr>
            <a:picLocks noChangeAspect="1"/>
          </p:cNvPicPr>
          <p:nvPr/>
        </p:nvPicPr>
        <p:blipFill>
          <a:blip r:embed="rId2"/>
          <a:stretch>
            <a:fillRect/>
          </a:stretch>
        </p:blipFill>
        <p:spPr>
          <a:xfrm>
            <a:off x="6784147" y="2487168"/>
            <a:ext cx="4171066" cy="3438144"/>
          </a:xfrm>
          <a:prstGeom prst="rect">
            <a:avLst/>
          </a:prstGeom>
        </p:spPr>
      </p:pic>
      <p:sp>
        <p:nvSpPr>
          <p:cNvPr id="13" name="caption"/>
          <p:cNvSpPr txBox="1"/>
          <p:nvPr/>
        </p:nvSpPr>
        <p:spPr>
          <a:xfrm>
            <a:off x="6172200" y="6080760"/>
            <a:ext cx="5394960" cy="320040"/>
          </a:xfrm>
          <a:prstGeom prst="rect">
            <a:avLst/>
          </a:prstGeom>
          <a:noFill/>
          <a:ln/>
        </p:spPr>
        <p:txBody>
          <a:bodyPr wrap="square" rtlCol="0" anchor="ctr"/>
          <a:lstStyle/>
          <a:p>
            <a:pPr algn="ctr" indent="0" marL="0">
              <a:buNone/>
            </a:pPr>
            <a:r>
              <a:rPr lang="en-US" sz="1200" i="1" dirty="0">
                <a:solidFill>
                  <a:srgbClr val="FFFFFF"/>
                </a:solidFill>
              </a:rPr>
              <a:t>Authorised records: Condition and Procedure</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6: THE AUDITOR FOLLOWS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RO6 (part)</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The recorded steps, in order, with the on-chain anchor</a:t>
            </a:r>
            <a:endParaRPr lang="en-US" sz="1600" dirty="0"/>
          </a:p>
        </p:txBody>
      </p:sp>
      <p:sp>
        <p:nvSpPr>
          <p:cNvPr id="7" name="bullets"/>
          <p:cNvSpPr txBox="1"/>
          <p:nvPr/>
        </p:nvSpPr>
        <p:spPr>
          <a:xfrm>
            <a:off x="731520" y="1463040"/>
            <a:ext cx="10789920" cy="914400"/>
          </a:xfrm>
          <a:prstGeom prst="rect">
            <a:avLst/>
          </a:prstGeom>
          <a:noFill/>
          <a:ln/>
        </p:spPr>
        <p:txBody>
          <a:bodyPr wrap="square" rtlCol="0" anchor="t"/>
          <a:lstStyle/>
          <a:p>
            <a:pPr marL="342900" indent="-342900">
              <a:buSzPct val="100000"/>
              <a:buChar char="•"/>
            </a:pPr>
            <a:r>
              <a:rPr lang="en-US" sz="1400" dirty="0">
                <a:solidFill>
                  <a:srgbClr val="FFFFFF"/>
                </a:solidFill>
              </a:rPr>
              <a:t>The auditor sees the recorded steps of the consent, in order, with the time of each step.</a:t>
            </a:r>
            <a:endParaRPr lang="en-US" sz="1400" dirty="0"/>
          </a:p>
          <a:p>
            <a:pPr marL="342900" indent="-342900">
              <a:buSzPct val="100000"/>
              <a:buChar char="•"/>
            </a:pPr>
            <a:r>
              <a:rPr lang="en-US" sz="1400" dirty="0">
                <a:solidFill>
                  <a:srgbClr val="FFFFFF"/>
                </a:solidFill>
              </a:rPr>
              <a:t>Row 40 is the anchor on Sepolia: block 11,771,243.</a:t>
            </a:r>
            <a:endParaRPr lang="en-US" sz="1400" dirty="0"/>
          </a:p>
          <a:p>
            <a:pPr marL="342900" indent="-342900">
              <a:buSzPct val="100000"/>
              <a:buChar char="•"/>
            </a:pPr>
            <a:r>
              <a:rPr lang="en-US" sz="1400" dirty="0">
                <a:solidFill>
                  <a:srgbClr val="FFFFFF"/>
                </a:solidFill>
              </a:rPr>
              <a:t>This is consent f050c29a, token #1: the one the patient later revoked.</a:t>
            </a:r>
            <a:endParaRPr lang="en-US" sz="1400" dirty="0"/>
          </a:p>
        </p:txBody>
      </p:sp>
      <p:sp>
        <p:nvSpPr>
          <p:cNvPr id="8" name="F39a panel"/>
          <p:cNvSpPr/>
          <p:nvPr/>
        </p:nvSpPr>
        <p:spPr>
          <a:xfrm>
            <a:off x="1192795" y="2514600"/>
            <a:ext cx="9806106"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9a" descr="/tmp/deck/img/F39a.png">    </p:cNvPr>
          <p:cNvPicPr>
            <a:picLocks noChangeAspect="1"/>
          </p:cNvPicPr>
          <p:nvPr/>
        </p:nvPicPr>
        <p:blipFill>
          <a:blip r:embed="rId1"/>
          <a:stretch>
            <a:fillRect/>
          </a:stretch>
        </p:blipFill>
        <p:spPr>
          <a:xfrm>
            <a:off x="1302523" y="2624328"/>
            <a:ext cx="9586650" cy="3438144"/>
          </a:xfrm>
          <a:prstGeom prst="rect">
            <a:avLst/>
          </a:prstGeom>
        </p:spPr>
      </p:pic>
      <p:sp>
        <p:nvSpPr>
          <p:cNvPr id="10" name="caption"/>
          <p:cNvSpPr txBox="1"/>
          <p:nvPr/>
        </p:nvSpPr>
        <p:spPr>
          <a:xfrm>
            <a:off x="1192795" y="6217920"/>
            <a:ext cx="9806106" cy="320040"/>
          </a:xfrm>
          <a:prstGeom prst="rect">
            <a:avLst/>
          </a:prstGeom>
          <a:noFill/>
          <a:ln/>
        </p:spPr>
        <p:txBody>
          <a:bodyPr wrap="square" rtlCol="0" anchor="ctr"/>
          <a:lstStyle/>
          <a:p>
            <a:pPr algn="ctr" indent="0" marL="0">
              <a:buNone/>
            </a:pPr>
            <a:r>
              <a:rPr lang="en-US" sz="1200" i="1" dirty="0">
                <a:solidFill>
                  <a:srgbClr val="FFFFFF"/>
                </a:solidFill>
              </a:rPr>
              <a:t>Auditor screen, 24 September 2026: ledger rows 36 to 44 of consent f050c29a</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7 (OPTIONAL): REVOKING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Revocation on Sepolia, then access is refused</a:t>
            </a:r>
            <a:endParaRPr lang="en-US" sz="1600" dirty="0"/>
          </a:p>
        </p:txBody>
      </p:sp>
      <p:sp>
        <p:nvSpPr>
          <p:cNvPr id="7" name="F39b panel"/>
          <p:cNvSpPr/>
          <p:nvPr/>
        </p:nvSpPr>
        <p:spPr>
          <a:xfrm>
            <a:off x="640080" y="1554480"/>
            <a:ext cx="10881360" cy="1664208"/>
          </a:xfrm>
          <a:prstGeom prst="roundRect">
            <a:avLst>
              <a:gd name="adj" fmla="val 659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39b" descr="/tmp/deck/img/F39b.png">    </p:cNvPr>
          <p:cNvPicPr>
            <a:picLocks noChangeAspect="1"/>
          </p:cNvPicPr>
          <p:nvPr/>
        </p:nvPicPr>
        <p:blipFill>
          <a:blip r:embed="rId1"/>
          <a:stretch>
            <a:fillRect/>
          </a:stretch>
        </p:blipFill>
        <p:spPr>
          <a:xfrm>
            <a:off x="749808" y="1665556"/>
            <a:ext cx="10661904" cy="1442055"/>
          </a:xfrm>
          <a:prstGeom prst="rect">
            <a:avLst/>
          </a:prstGeom>
        </p:spPr>
      </p:pic>
      <p:sp>
        <p:nvSpPr>
          <p:cNvPr id="9" name="caption"/>
          <p:cNvSpPr txBox="1"/>
          <p:nvPr/>
        </p:nvSpPr>
        <p:spPr>
          <a:xfrm>
            <a:off x="640080" y="3255264"/>
            <a:ext cx="10881360" cy="320040"/>
          </a:xfrm>
          <a:prstGeom prst="rect">
            <a:avLst/>
          </a:prstGeom>
          <a:noFill/>
          <a:ln/>
        </p:spPr>
        <p:txBody>
          <a:bodyPr wrap="square" rtlCol="0" anchor="ctr"/>
          <a:lstStyle/>
          <a:p>
            <a:pPr algn="ctr" indent="0" marL="0">
              <a:buNone/>
            </a:pPr>
            <a:r>
              <a:rPr lang="en-US" sz="1200" i="1" dirty="0">
                <a:solidFill>
                  <a:srgbClr val="FFFFFF"/>
                </a:solidFill>
              </a:rPr>
              <a:t>Audit ledger, rows 47 and 48: the patient revokes, then the revoke transaction goes on Sepolia</a:t>
            </a:r>
            <a:endParaRPr lang="en-US" sz="1200" dirty="0"/>
          </a:p>
        </p:txBody>
      </p:sp>
      <p:sp>
        <p:nvSpPr>
          <p:cNvPr id="10" name="F37t panel"/>
          <p:cNvSpPr/>
          <p:nvPr/>
        </p:nvSpPr>
        <p:spPr>
          <a:xfrm>
            <a:off x="640080" y="3657600"/>
            <a:ext cx="6035040" cy="2551176"/>
          </a:xfrm>
          <a:prstGeom prst="roundRect">
            <a:avLst>
              <a:gd name="adj" fmla="val 430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1" name="F37t" descr="/tmp/deck/img/F37t.png">    </p:cNvPr>
          <p:cNvPicPr>
            <a:picLocks noChangeAspect="1"/>
          </p:cNvPicPr>
          <p:nvPr/>
        </p:nvPicPr>
        <p:blipFill>
          <a:blip r:embed="rId2"/>
          <a:stretch>
            <a:fillRect/>
          </a:stretch>
        </p:blipFill>
        <p:spPr>
          <a:xfrm>
            <a:off x="749808" y="3767763"/>
            <a:ext cx="5815584" cy="2330849"/>
          </a:xfrm>
          <a:prstGeom prst="rect">
            <a:avLst/>
          </a:prstGeom>
        </p:spPr>
      </p:pic>
      <p:sp>
        <p:nvSpPr>
          <p:cNvPr id="12" name="caption"/>
          <p:cNvSpPr txBox="1"/>
          <p:nvPr/>
        </p:nvSpPr>
        <p:spPr>
          <a:xfrm>
            <a:off x="640080" y="6245352"/>
            <a:ext cx="6035040" cy="320040"/>
          </a:xfrm>
          <a:prstGeom prst="rect">
            <a:avLst/>
          </a:prstGeom>
          <a:noFill/>
          <a:ln/>
        </p:spPr>
        <p:txBody>
          <a:bodyPr wrap="square" rtlCol="0" anchor="ctr"/>
          <a:lstStyle/>
          <a:p>
            <a:pPr algn="ctr" indent="0" marL="0">
              <a:buNone/>
            </a:pPr>
            <a:r>
              <a:rPr lang="en-US" sz="1200" i="1" dirty="0">
                <a:solidFill>
                  <a:srgbClr val="FFFFFF"/>
                </a:solidFill>
              </a:rPr>
              <a:t>Sepolia Etherscan: Revoke, Success, block 11,771,307</a:t>
            </a:r>
            <a:endParaRPr lang="en-US" sz="1200" dirty="0"/>
          </a:p>
        </p:txBody>
      </p:sp>
      <p:sp>
        <p:nvSpPr>
          <p:cNvPr id="13" name="F36m panel"/>
          <p:cNvSpPr/>
          <p:nvPr/>
        </p:nvSpPr>
        <p:spPr>
          <a:xfrm>
            <a:off x="6858000" y="3657600"/>
            <a:ext cx="4663440" cy="1271016"/>
          </a:xfrm>
          <a:prstGeom prst="roundRect">
            <a:avLst>
              <a:gd name="adj" fmla="val 863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4" name="F36m" descr="/tmp/deck/img/F36m.png">    </p:cNvPr>
          <p:cNvPicPr>
            <a:picLocks noChangeAspect="1"/>
          </p:cNvPicPr>
          <p:nvPr/>
        </p:nvPicPr>
        <p:blipFill>
          <a:blip r:embed="rId3"/>
          <a:stretch>
            <a:fillRect/>
          </a:stretch>
        </p:blipFill>
        <p:spPr>
          <a:xfrm>
            <a:off x="6967728" y="3769622"/>
            <a:ext cx="4443984" cy="1046973"/>
          </a:xfrm>
          <a:prstGeom prst="rect">
            <a:avLst/>
          </a:prstGeom>
        </p:spPr>
      </p:pic>
      <p:sp>
        <p:nvSpPr>
          <p:cNvPr id="15" name="caption"/>
          <p:cNvSpPr txBox="1"/>
          <p:nvPr/>
        </p:nvSpPr>
        <p:spPr>
          <a:xfrm>
            <a:off x="6858000" y="4965192"/>
            <a:ext cx="4663440" cy="320040"/>
          </a:xfrm>
          <a:prstGeom prst="rect">
            <a:avLst/>
          </a:prstGeom>
          <a:noFill/>
          <a:ln/>
        </p:spPr>
        <p:txBody>
          <a:bodyPr wrap="square" rtlCol="0" anchor="ctr"/>
          <a:lstStyle/>
          <a:p>
            <a:pPr algn="ctr" indent="0" marL="0">
              <a:buNone/>
            </a:pPr>
            <a:r>
              <a:rPr lang="en-US" sz="1200" i="1" dirty="0">
                <a:solidFill>
                  <a:srgbClr val="FFFFFF"/>
                </a:solidFill>
              </a:rPr>
              <a:t>Doctor screen after the revocation: access refused</a:t>
            </a:r>
            <a:endParaRPr lang="en-US" sz="1200" dirty="0"/>
          </a:p>
        </p:txBody>
      </p:sp>
      <p:sp>
        <p:nvSpPr>
          <p:cNvPr id="16" name="bullets"/>
          <p:cNvSpPr txBox="1"/>
          <p:nvPr/>
        </p:nvSpPr>
        <p:spPr>
          <a:xfrm>
            <a:off x="6858000" y="5440680"/>
            <a:ext cx="4663440" cy="1097280"/>
          </a:xfrm>
          <a:prstGeom prst="rect">
            <a:avLst/>
          </a:prstGeom>
          <a:noFill/>
          <a:ln/>
        </p:spPr>
        <p:txBody>
          <a:bodyPr wrap="square" rtlCol="0" anchor="t"/>
          <a:lstStyle/>
          <a:p>
            <a:pPr marL="342900" indent="-342900">
              <a:spcAft>
                <a:spcPts val="1000"/>
              </a:spcAft>
              <a:buSzPct val="100000"/>
              <a:buChar char="•"/>
            </a:pPr>
            <a:r>
              <a:rPr lang="en-US" sz="1300" dirty="0">
                <a:solidFill>
                  <a:srgbClr val="FFFFFF"/>
                </a:solidFill>
              </a:rPr>
              <a:t>The revoke transaction is public on Sepolia, in block 11,771,307.</a:t>
            </a:r>
            <a:endParaRPr lang="en-US" sz="1300" dirty="0"/>
          </a:p>
          <a:p>
            <a:pPr marL="342900" indent="-342900">
              <a:spcAft>
                <a:spcPts val="1000"/>
              </a:spcAft>
              <a:buSzPct val="100000"/>
              <a:buChar char="•"/>
            </a:pPr>
            <a:r>
              <a:rPr lang="en-US" sz="1300" dirty="0">
                <a:solidFill>
                  <a:srgbClr val="FFFFFF"/>
                </a:solidFill>
              </a:rPr>
              <a:t>The doctor opens the consent again and is refused: the state is REVOKED.</a:t>
            </a:r>
            <a:endParaRPr lang="en-US" sz="13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a:t>
            </a:r>
            <a:endParaRPr lang="en-US" sz="3000" dirty="0"/>
          </a:p>
        </p:txBody>
      </p:sp>
      <p:sp>
        <p:nvSpPr>
          <p:cNvPr id="4"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Bloemen, R., Logvinov, L. &amp; Evans, J. 2017, </a:t>
            </a:r>
            <a:r>
              <a:rPr lang="en-US" sz="1000" i="1" dirty="0">
                <a:solidFill>
                  <a:srgbClr val="0B1F33"/>
                </a:solidFill>
              </a:rPr>
              <a:t>EIP-712: Typed structured data hashing and signing</a:t>
            </a:r>
            <a:r>
              <a:rPr lang="en-US" sz="1000" dirty="0">
                <a:solidFill>
                  <a:srgbClr val="0B1F33"/>
                </a:solidFill>
              </a:rPr>
              <a:t>, Ethereum Improvement Proposals, no. 712, viewed 6 October 2026, &lt;https://eips.ethereum.org/EIPS/eip-712&gt;.</a:t>
            </a:r>
            <a:endParaRPr lang="en-US" sz="1000" dirty="0"/>
          </a:p>
          <a:p>
            <a:pPr indent="0" marL="0">
              <a:spcAft>
                <a:spcPts val="400"/>
              </a:spcAft>
              <a:buNone/>
            </a:pPr>
            <a:r>
              <a:rPr lang="en-US" sz="1000" dirty="0">
                <a:solidFill>
                  <a:srgbClr val="0B1F33"/>
                </a:solidFill>
              </a:rPr>
              <a:t>Cai, B. 2022, </a:t>
            </a:r>
            <a:r>
              <a:rPr lang="en-US" sz="1000" i="1" dirty="0">
                <a:solidFill>
                  <a:srgbClr val="0B1F33"/>
                </a:solidFill>
              </a:rPr>
              <a:t>ERC-5484: Consensual soulbound tokens</a:t>
            </a:r>
            <a:r>
              <a:rPr lang="en-US" sz="1000" dirty="0">
                <a:solidFill>
                  <a:srgbClr val="0B1F33"/>
                </a:solidFill>
              </a:rPr>
              <a:t>, Ethereum Improvement Proposals, no. 5484, viewed 6 October 2026, &lt;https://eips.ethereum.org/EIPS/eip-5484&gt;.</a:t>
            </a:r>
            <a:endParaRPr lang="en-US" sz="1000" dirty="0"/>
          </a:p>
          <a:p>
            <a:pPr indent="0" marL="0">
              <a:spcAft>
                <a:spcPts val="400"/>
              </a:spcAft>
              <a:buNone/>
            </a:pPr>
            <a:r>
              <a:rPr lang="en-US" sz="1000" dirty="0">
                <a:solidFill>
                  <a:srgbClr val="0B1F33"/>
                </a:solidFill>
              </a:rPr>
              <a:t>Entriken, W., Shirley, D., Evans, J. &amp; Sachs, N. 2018, </a:t>
            </a:r>
            <a:r>
              <a:rPr lang="en-US" sz="1000" i="1" dirty="0">
                <a:solidFill>
                  <a:srgbClr val="0B1F33"/>
                </a:solidFill>
              </a:rPr>
              <a:t>ERC-721: Non-fungible token standard</a:t>
            </a:r>
            <a:r>
              <a:rPr lang="en-US" sz="1000" dirty="0">
                <a:solidFill>
                  <a:srgbClr val="0B1F33"/>
                </a:solidFill>
              </a:rPr>
              <a:t>, Ethereum Improvement Proposals, no. 721, viewed 6 October 2026, &lt;https://eips.ethereum.org/EIPS/eip-721&gt;.</a:t>
            </a:r>
            <a:endParaRPr lang="en-US" sz="1000" dirty="0"/>
          </a:p>
          <a:p>
            <a:pPr indent="0" marL="0">
              <a:spcAft>
                <a:spcPts val="400"/>
              </a:spcAft>
              <a:buNone/>
            </a:pPr>
            <a:r>
              <a:rPr lang="en-US" sz="1000" dirty="0">
                <a:solidFill>
                  <a:srgbClr val="0B1F33"/>
                </a:solidFill>
              </a:rPr>
              <a:t>Ethereum Foundation 2026b, </a:t>
            </a:r>
            <a:r>
              <a:rPr lang="en-US" sz="1000" i="1" dirty="0">
                <a:solidFill>
                  <a:srgbClr val="0B1F33"/>
                </a:solidFill>
              </a:rPr>
              <a:t>Networks</a:t>
            </a:r>
            <a:r>
              <a:rPr lang="en-US" sz="1000" dirty="0">
                <a:solidFill>
                  <a:srgbClr val="0B1F33"/>
                </a:solidFill>
              </a:rPr>
              <a:t>, ethereum.org developer documentation, viewed 7 October 2026, &lt;https://ethereum.org/en/developers/docs/networks/&gt;.</a:t>
            </a:r>
            <a:endParaRPr lang="en-US" sz="1000" dirty="0"/>
          </a:p>
          <a:p>
            <a:pPr indent="0" marL="0">
              <a:spcAft>
                <a:spcPts val="400"/>
              </a:spcAft>
              <a:buNone/>
            </a:pPr>
            <a:r>
              <a:rPr lang="en-US" sz="1000" dirty="0">
                <a:solidFill>
                  <a:srgbClr val="0B1F33"/>
                </a:solidFill>
              </a:rPr>
              <a:t>Grassi, L., Khovratovich, D., Rechberger, C., Roy, A. &amp; Schofnegger, M. 2021, 'Poseidon: A new hash function for zero-knowledge proof systems', </a:t>
            </a:r>
            <a:r>
              <a:rPr lang="en-US" sz="1000" i="1" dirty="0">
                <a:solidFill>
                  <a:srgbClr val="0B1F33"/>
                </a:solidFill>
              </a:rPr>
              <a:t>Proceedings of the 30th USENIX Security Symposium</a:t>
            </a:r>
            <a:r>
              <a:rPr lang="en-US" sz="1000" dirty="0">
                <a:solidFill>
                  <a:srgbClr val="0B1F33"/>
                </a:solidFill>
              </a:rPr>
              <a:t>, pp. 519–535.</a:t>
            </a:r>
            <a:endParaRPr lang="en-US" sz="1000" dirty="0"/>
          </a:p>
          <a:p>
            <a:pPr indent="0" marL="0">
              <a:spcAft>
                <a:spcPts val="400"/>
              </a:spcAft>
              <a:buNone/>
            </a:pPr>
            <a:r>
              <a:rPr lang="en-US" sz="1000" dirty="0">
                <a:solidFill>
                  <a:srgbClr val="0B1F33"/>
                </a:solidFill>
              </a:rPr>
              <a:t>Groth, J. 2016, 'On the size of pairing-based non-interactive arguments', </a:t>
            </a:r>
            <a:r>
              <a:rPr lang="en-US" sz="1000" i="1" dirty="0">
                <a:solidFill>
                  <a:srgbClr val="0B1F33"/>
                </a:solidFill>
              </a:rPr>
              <a:t>Advances in Cryptology – EUROCRYPT 2016, LNCS</a:t>
            </a:r>
            <a:r>
              <a:rPr lang="en-US" sz="1000" dirty="0">
                <a:solidFill>
                  <a:srgbClr val="0B1F33"/>
                </a:solidFill>
              </a:rPr>
              <a:t>, vol. 9666, pp. 305–326, Springer, &lt;https://doi.org/10.1007/978-3-662-49896-5_11&gt;.</a:t>
            </a:r>
            <a:endParaRPr lang="en-US" sz="1000" dirty="0"/>
          </a:p>
          <a:p>
            <a:pPr indent="0" marL="0">
              <a:spcAft>
                <a:spcPts val="400"/>
              </a:spcAft>
              <a:buNone/>
            </a:pPr>
            <a:r>
              <a:rPr lang="en-US" sz="1000" dirty="0">
                <a:solidFill>
                  <a:srgbClr val="0B1F33"/>
                </a:solidFill>
              </a:rPr>
              <a:t>Page, M.J., McKenzie, J.E., Bossuyt, P.M., Boutron, I., Hoffmann, T.C., Mulrow, C.D. et al. 2021, 'The PRISMA 2020 statement: An updated guideline for reporting systematic reviews', </a:t>
            </a:r>
            <a:r>
              <a:rPr lang="en-US" sz="1000" i="1" dirty="0">
                <a:solidFill>
                  <a:srgbClr val="0B1F33"/>
                </a:solidFill>
              </a:rPr>
              <a:t>BMJ</a:t>
            </a:r>
            <a:r>
              <a:rPr lang="en-US" sz="1000" dirty="0">
                <a:solidFill>
                  <a:srgbClr val="0B1F33"/>
                </a:solidFill>
              </a:rPr>
              <a:t>, vol. 372, p. n71, &lt;https://doi.org/10.1136/bmj.n71&gt;.</a:t>
            </a:r>
            <a:endParaRPr lang="en-US" sz="1000" dirty="0"/>
          </a:p>
          <a:p>
            <a:pPr indent="0" marL="0">
              <a:spcAft>
                <a:spcPts val="400"/>
              </a:spcAft>
              <a:buNone/>
            </a:pPr>
            <a:r>
              <a:rPr lang="en-US" sz="1000" dirty="0">
                <a:solidFill>
                  <a:srgbClr val="0B1F33"/>
                </a:solidFill>
              </a:rPr>
              <a:t>Walonoski, J., Kramer, M., Nichols, J., Quina, A., Moesel, C., Hall, D. et al. 2018, 'Synthea: An approach, method, and software mechanism for generating synthetic patients and the synthetic electronic health care record', </a:t>
            </a:r>
            <a:r>
              <a:rPr lang="en-US" sz="1000" i="1" dirty="0">
                <a:solidFill>
                  <a:srgbClr val="0B1F33"/>
                </a:solidFill>
              </a:rPr>
              <a:t>Journal of the American Medical Informatics Association</a:t>
            </a:r>
            <a:r>
              <a:rPr lang="en-US" sz="1000" dirty="0">
                <a:solidFill>
                  <a:srgbClr val="0B1F33"/>
                </a:solidFill>
              </a:rPr>
              <a:t>, vol. 25, no. 3, pp. 230–238, &lt;https://doi.org/10.1093/jamia/ocx079&gt;.</a:t>
            </a:r>
            <a:endParaRPr lang="en-US" sz="1000" dirty="0"/>
          </a:p>
          <a:p>
            <a:pPr indent="0" marL="0">
              <a:spcAft>
                <a:spcPts val="400"/>
              </a:spcAft>
              <a:buNone/>
            </a:pPr>
            <a:r>
              <a:rPr lang="en-US" sz="1000" dirty="0">
                <a:solidFill>
                  <a:srgbClr val="0B1F33"/>
                </a:solidFill>
              </a:rPr>
              <a:t>Wood, G. 2014, </a:t>
            </a:r>
            <a:r>
              <a:rPr lang="en-US" sz="1000" i="1" dirty="0">
                <a:solidFill>
                  <a:srgbClr val="0B1F33"/>
                </a:solidFill>
              </a:rPr>
              <a:t>Ethereum: A secure decentralised generalised transaction ledger</a:t>
            </a:r>
            <a:r>
              <a:rPr lang="en-US" sz="1000" dirty="0">
                <a:solidFill>
                  <a:srgbClr val="0B1F33"/>
                </a:solidFill>
              </a:rPr>
              <a:t>, Ethereum Project Yellow Paper.</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latin typeface="Arial" pitchFamily="34" charset="0"/>
                <a:ea typeface="Arial" pitchFamily="34" charset="-122"/>
                <a:cs typeface="Arial" pitchFamily="34" charset="-120"/>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Trust Consent">
  <a:themeElements>
    <a:clrScheme name="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Authorisation Framework for Multi-Party Patient Consent in Healthcare Data Sharing</dc:title>
  <dc:subject>Candidature Reassessment</dc:subject>
  <dc:creator>Yasir Dhaifallah O Alyoubi</dc:creator>
  <cp:lastModifiedBy>Yasir Dhaifallah O Alyoubi</cp:lastModifiedBy>
  <cp:revision>1</cp:revision>
  <dcterms:created xsi:type="dcterms:W3CDTF">2026-10-12T13:15:19Z</dcterms:created>
  <dcterms:modified xsi:type="dcterms:W3CDTF">2026-10-12T13:15:19Z</dcterms:modified>
</cp:coreProperties>
</file>
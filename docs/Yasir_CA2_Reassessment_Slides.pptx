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54024202-cb9b-9b32-094b-723637c72b56}">
          <p14:sldIdLst>
            <p14:sldId id="256"/>
          </p14:sldIdLst>
        </p14:section>
        <p14:section name="Outline" id="{da16e44c-598f-9b62-da22-b8aba19c2ca2}">
          <p14:sldIdLst>
            <p14:sldId id="257"/>
          </p14:sldIdLst>
        </p14:section>
        <p14:section name="Introduction" id="{fb34a887-2ca4-a537-dfad-64de08dbb9b6}">
          <p14:sldIdLst>
            <p14:sldId id="258"/>
            <p14:sldId id="259"/>
          </p14:sldIdLst>
        </p14:section>
        <p14:section name="Systematic Literature Review" id="{a99f7392-735d-ce1d-1e0f-433de407559f}">
          <p14:sldIdLst>
            <p14:sldId id="260"/>
            <p14:sldId id="261"/>
            <p14:sldId id="262"/>
            <p14:sldId id="263"/>
            <p14:sldId id="264"/>
            <p14:sldId id="265"/>
            <p14:sldId id="266"/>
            <p14:sldId id="267"/>
          </p14:sldIdLst>
        </p14:section>
        <p14:section name="Research Gap" id="{a8eb2136-22fc-a8e9-e4de-fd6727c79c11}">
          <p14:sldIdLst>
            <p14:sldId id="268"/>
          </p14:sldIdLst>
        </p14:section>
        <p14:section name="Research Questions" id="{dfa2af69-cd70-9642-44d8-496b589ccb99}">
          <p14:sldIdLst>
            <p14:sldId id="269"/>
            <p14:sldId id="270"/>
          </p14:sldIdLst>
        </p14:section>
        <p14:section name="Research Objectives" id="{a884e55a-11de-c760-3825-0631fde6f5c9}">
          <p14:sldIdLst>
            <p14:sldId id="271"/>
          </p14:sldIdLst>
        </p14:section>
        <p14:section name="Research Methodology" id="{44db70e2-0b75-51df-078b-d8a1febea31c}">
          <p14:sldIdLst>
            <p14:sldId id="272"/>
          </p14:sldIdLst>
        </p14:section>
        <p14:section name="Research Architecture" id="{32e60923-87d8-b272-d5d2-4b4584551383}">
          <p14:sldIdLst>
            <p14:sldId id="273"/>
          </p14:sldIdLst>
        </p14:section>
        <p14:section name="The Proposed Solutions" id="{6214bf2d-4f47-3648-e267-264230603f7c}">
          <p14:sldIdLst>
            <p14:sldId id="274"/>
            <p14:sldId id="275"/>
            <p14:sldId id="276"/>
            <p14:sldId id="277"/>
            <p14:sldId id="278"/>
            <p14:sldId id="279"/>
            <p14:sldId id="280"/>
          </p14:sldIdLst>
        </p14:section>
        <p14:section name="Implementation and Evaluation" id="{71f788d3-dff0-ee6c-87ab-3080b1e364dc}">
          <p14:sldIdLst>
            <p14:sldId id="281"/>
            <p14:sldId id="282"/>
            <p14:sldId id="283"/>
            <p14:sldId id="284"/>
            <p14:sldId id="285"/>
            <p14:sldId id="286"/>
            <p14:sldId id="287"/>
          </p14:sldIdLst>
        </p14:section>
        <p14:section name="Significance of the Research" id="{196d44b9-a532-5322-6d6d-99b4b04c7e75}">
          <p14:sldIdLst>
            <p14:sldId id="288"/>
            <p14:sldId id="289"/>
            <p14:sldId id="290"/>
            <p14:sldId id="291"/>
          </p14:sldIdLst>
        </p14:section>
        <p14:section name="Research Plan" id="{9efd2554-743d-210d-68ba-2d3ae22336be}">
          <p14:sldIdLst>
            <p14:sldId id="292"/>
            <p14:sldId id="293"/>
          </p14:sldIdLst>
        </p14:section>
        <p14:section name="References" id="{7c2108f3-0581-b005-242a-40a650a40c3f}">
          <p14:sldIdLst>
            <p14:sldId id="294"/>
            <p14:sldId id="295"/>
            <p14:sldId id="296"/>
          </p14:sldIdLst>
        </p14:section>
        <p14:section name="Thank You" id="{97cfa264-f518-bb3a-47a0-205b25f29836}">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Authorisation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One full text could not be retrieved, and the other 1,735 are not assessed yet.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add the suspended state and the lifecycle transition check, and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thirteen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access decision, allowed or denied, is written to the off-chain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builds the consent object C and assigns a consent identifier. C has six parts: identity, authorisation, policy and data scope, time, lifecycle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and a duplicate approval is not counted either. A signature replayed from another consent fails the identity check, so the answer is DENY.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
The next stage adds the SUSPENDED state,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46 automated tests. They include thirteen attack scenarios, A1 to A13.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off-chain audit ledger keeps evidence of every access decision, allowed or denied,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of the HALAH prototype, for the evaluated consent, f050c29a.
The doctor enters the consent ID. Below that is the decision matrix. VI is identity and authority. VA is collective approval, and revocation is also checked inside VA. VP is policy and context. VT is time. All five checks show PASS, so the decision is ALLOW and the consent state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was refused.
The third row is the thirteen attack scenarios, A1 to A13. Twelve of them are refused. A11 is different. A rewritten audit event changes its digest, but nothing in the prototype compares the digest yet.
The next slide shows these thirteen attacks in detail.
The fourth row is the automated tests. There are 32 functional and regression tests and 14 adversarial tests. All 46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thirteen attack scenarios, A1 to A13.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first twelve are refused, and all 46 automated tests pass. A13, an invalid or forged credential, came with the credential check on 11 October 2026 and is refused too; before that change, a requester without a valid credential was accepted.
A11 is different. A rewritten audit event changes its digest, but no part of the prototype compares the digest yet. 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The mint runs in the background, so the guardians and the doctor do not wait for it; a revoke makes the patient wait for the block.
Processing time is the time of each part of a decision. The five checks of the decision rule take about 6 microseconds, and checking one credential about 6 milliseconds. Checking one guardian signature takes about 11 milliseconds. The Groth16 proof is the slow part, about 1.4 seconds to generate and 0.47 seconds to verify.
The last row is the on-chain read. Reading the contract on Sepolia takes a little over half a second.
I measured the timings on 1 October 2026, in one container, and the decision rule and the credential check again on 11 October 2026. The gas, the fees and the latency come from the five Sepolia transactions of September 2026.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
In the table, the median is the middle value. The column n is how many times I measured each step. The symbol µs means microseconds, and ms means milliseconds.
The decision rule with its five checks takes about 6 microseconds, so the checks themselves cost almost nothing. Checking one credential takes about 6 milliseconds.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the mint runs in the background, so the guardians and the doctor do not wait for it; a revoke makes the patient wait for the block.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every access decision, allowed or denied, is logged off-chain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pseudonymous patient and requester addresses, a hash of the purpose, the validity window and a revocation flag. Pseudonymous means the address does not show a real name.
Access to data: records are released only when the decision is ALLOW, and only inside the authorised scope.
Audit: every access decision, allowed or denied, is saved in the off-chain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ran from July to October 2026 and is done.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ran from July to October 2026 and is done.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pseudonymous addresses, a hash of the purpose, the validity window and a revocation flag, and no medical content.
Possible question: What is new in this work? Multi-party approval is a standing condition of every access decision, and the patient defines who must approve. I tested the prototype against thirteen attack scenarios. Twelve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FFFFFF"/>
                </a:solidFill>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and duplicate approvals are not counted; a replayed signature fails the identity check (VI).</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an</a:t>
            </a:r>
            <a:r>
              <a:rPr lang="en-US" sz="1600" dirty="0">
                <a:solidFill>
                  <a:srgbClr val="FFFFFF"/>
                </a:solidFill>
              </a:rPr>
              <a:t>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3355848"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3465576" y="1353204"/>
            <a:ext cx="5266944" cy="4151591"/>
          </a:xfrm>
          <a:prstGeom prst="rect">
            <a:avLst/>
          </a:prstGeom>
        </p:spPr>
      </p:pic>
      <p:sp>
        <p:nvSpPr>
          <p:cNvPr id="6" name="caption"/>
          <p:cNvSpPr txBox="1"/>
          <p:nvPr/>
        </p:nvSpPr>
        <p:spPr>
          <a:xfrm>
            <a:off x="3355848"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207811"/>
            <a:ext cx="6364224" cy="5192187"/>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Decision rule 5.92 µs and credential check 6.42 ms (11 Oct); EIP‑712 signature recovery 10.93 ms;</a:t>
                      </a:r>
                      <a:r>
                        <a:rPr lang="en-US" sz="1300" dirty="0">
                          <a:solidFill>
                            <a:srgbClr val="0B1F33"/>
                          </a:solidFill>
                        </a:rPr>
                        <a:t>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2026-10-11T18:20:52Z</dcterms:created>
  <dcterms:modified xsi:type="dcterms:W3CDTF">2026-10-11T18:20:52Z</dcterms:modified>
</cp:coreProperties>
</file>
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81a56647-b34b-8b8c-c767-2b2a7f090006}">
          <p14:sldIdLst>
            <p14:sldId id="256"/>
            <p14:sldId id="257"/>
          </p14:sldIdLst>
        </p14:section>
        <p14:section name="The Problem" id="{ab053633-f996-eabe-e237-42ccc51ab0fe}">
          <p14:sldIdLst>
            <p14:sldId id="258"/>
            <p14:sldId id="259"/>
          </p14:sldIdLst>
        </p14:section>
        <p14:section name="Literature Review" id="{2463a8e7-0d7a-5eb5-4dff-24e6f955b3bb}">
          <p14:sldIdLst>
            <p14:sldId id="260"/>
            <p14:sldId id="261"/>
          </p14:sldIdLst>
        </p14:section>
        <p14:section name="Gaps, Questions and Objectives" id="{fb4250b0-2f33-ea64-65ab-5dced5bd66f3}">
          <p14:sldIdLst>
            <p14:sldId id="262"/>
            <p14:sldId id="263"/>
            <p14:sldId id="264"/>
            <p14:sldId id="265"/>
          </p14:sldIdLst>
        </p14:section>
        <p14:section name="The Framework" id="{2bd056b6-526c-e695-b1ce-f812471e6704}">
          <p14:sldIdLst>
            <p14:sldId id="266"/>
            <p14:sldId id="267"/>
            <p14:sldId id="268"/>
            <p14:sldId id="269"/>
            <p14:sldId id="270"/>
            <p14:sldId id="271"/>
            <p14:sldId id="272"/>
            <p14:sldId id="273"/>
          </p14:sldIdLst>
        </p14:section>
        <p14:section name="Validation and Evaluation" id="{f20b5f10-b454-1b71-c238-62681e632c5b}">
          <p14:sldIdLst>
            <p14:sldId id="274"/>
            <p14:sldId id="275"/>
            <p14:sldId id="276"/>
            <p14:sldId id="277"/>
          </p14:sldIdLst>
        </p14:section>
        <p14:section name="Contribution" id="{f6085ad3-b0e7-c448-f498-034720a1f855}">
          <p14:sldIdLst>
            <p14:sldId id="278"/>
            <p14:sldId id="279"/>
            <p14:sldId id="280"/>
          </p14:sldIdLst>
        </p14:section>
        <p14:section name="What is Still Open" id="{f9434305-7e01-eb8e-61c5-c5c86a597f46}">
          <p14:sldIdLst>
            <p14:sldId id="281"/>
          </p14:sldIdLst>
        </p14:section>
        <p14:section name="Research Plan" id="{604c3bae-429a-4fe6-5474-eeae590668b6}">
          <p14:sldIdLst>
            <p14:sldId id="282"/>
            <p14:sldId id="283"/>
          </p14:sldIdLst>
        </p14:section>
        <p14:section name="Demo: The HALAH Prototype" id="{c1e6f23b-c527-5b47-28c8-838448906ee3}">
          <p14:sldIdLst>
            <p14:sldId id="284"/>
            <p14:sldId id="285"/>
            <p14:sldId id="286"/>
            <p14:sldId id="287"/>
            <p14:sldId id="288"/>
            <p14:sldId id="289"/>
            <p14:sldId id="290"/>
            <p14:sldId id="291"/>
            <p14:sldId id="292"/>
            <p14:sldId id="293"/>
            <p14:sldId id="294"/>
          </p14:sldIdLst>
        </p14:section>
        <p14:section name="References" id="{6dfa2c3a-f29f-93fd-6048-0f2f63c1d5e7}">
          <p14:sldIdLst>
            <p14:sldId id="295"/>
            <p14:sldId id="296"/>
            <p14:sldId id="297"/>
            <p14:sldId id="298"/>
            <p14:sldId id="299"/>
            <p14:sldId id="300"/>
          </p14:sldIdLst>
        </p14:section>
        <p14:section name="Thank You" id="{a7df59d6-e03d-ba15-6367-2d5c323840ac}">
          <p14:sldIdLst>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gaps, the questions and the objectives. After that, the framework and its six steps. Then the validation and the evaluation results. Then I talk about what is still open and the research plan. At the end, I show a demonstration of the prototype through the slides: one real consent, from the day it is created to the day it is revoked.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was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authority: which guardians must approve, and how many. P is policy: the purpose and the data that was agreed. T is time: when the consent starts and when it ends. L is jurisdiction: where the request may come from.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by abstract, and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25 studies, I found six gaps. One gap for each requirement. Gap one: consent is only a record. Gap two: identity does not prove authority. Gap three: multi-party approval is not a condition of every access. Gap four: purpose and scope are rarely checked together with identity and approval. Gap five: time and revocation are often checked only once, at registration, not at each request. Gap six: nobody proves or tests the whole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one for each gap.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gaps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the identity and the authority are valid. VA: all the required guardians approved, the token exists, and the consent is not cancelled. VP: the purpose and the requested data are inside what was agreed. VT: the request is inside the validity time. VL: the jurisdiction matches. If any one check fails, the answer is DENY. In the prototype, a Groth16 zero-knowledge proof must also pass before any data is released. And every decision on an active consent is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the start and end time, and the jurisdiction. The system checks every field. For example, an empty data scope or a bad guardian DID is rejected. Then the consent object C is built and saved as pending. Nothing goes to the blockchain yet. This is RO1, and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To be clear about the current state: today the prototype checks the DID format and recovers each guardian's signature. Full DID resolution and credential validation are planned for the next stage. So RO2 is done at the design level and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Outsiders, replays and duplicates are not counted. In the demo, two of two guardians must sign. When both have signed, a soulbound token is minted on the Sepolia test network in the background. One honest note: in the prototype, the guardian keys are derived from the guardian DIDs. Wallet-held keys are for the next stage. RO3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the jurisdiction are checked in the same decision. And a Groth16 proof must pass before any data is released. RO4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What is still open: the lifecycle transition check, consent modification, delegation, changes to the guardian set, and a formal lifecycle model. That is why RO5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36 automated tests pass, including twelve attack scenarios. I also measured the cost and the timing. The proof part is the next stage: formal proofs or model checking of the security properties, and a bigger evaluation under load. That is why RO6 is partly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wrong jurisdiction and the cancelled consent were refused. Attack scenarios: eleven of twelve attacks are refused after the hardening. Automated tests: all 36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The first two rows and the last three rows are allowed requests: all five checks PASS, the decision is ALLOW, access is GRANTED, and the proof mode is Groth16. The row in the middle is the request from the wrong jurisdiction: VI, VA, VP and VT pass, VL fails, so the decision is DENY. One failed check is enough. The request after revocation is not in this table, because a consent that is no longer active is refused before any decision is logged; its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twelve times, A1 to A12.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After the hardening, eleven of twelve are refused. The last one, A11, changes a stored digest. The prototype does not compare that digest yet, so it is marked as differs, which is neutral, not passed.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decision rule itself takes about 2 microseconds. One guardian signature takes about 11 milliseconds. The Groth16 proof is the slowest part: about 1.4 seconds to generate and about half a second to verify. Anchoring on Sepolia takes about 11.5 seconds, but it runs in the background, so nobody waits for it. A revoke uses about one sixth of the gas of a mint. The timings were measured on the first of October 2026.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every decision on an active consent is logged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The token on Sepolia stores only pseudonymous addresses, a hash of the purpose, the validity window, a jurisdiction code and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matter? On the scientific side: consent becomes an object that is checked, not stored. Multi-party approval is a condition of every access. Identity is separated from authority. And the whole decision is checked in one place and tested. On the social side: patients and guardians decide together who sees the data. No single person can approve alone. Every decision can be explained to an auditor. And medical records never go on the blockchain.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the formal proofs. The properties are tested, but not yet proved with a formal model. Second, the rest of the lifecycle: consent modification, delegation and guardian changes. Third, full DID resolution, credential validation and wallet-held guardian keys. Today it is a format check, a signature, and keys derived from the guardian DIDs. Fourth, the one open attack, A11. Fifth, a bigger evaluation under load. Sixth, the plain-text purpose in the mint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demonstration, through the slides. HALAH means History Access Link for Authorised Healthcare. These are its parts: four screens, a soulbound token contract on the Sepolia test network, EIP-712 guardian signatures, a Groth16 proof at access time, synthetic data, and an audit ledger. In the next slides, I walk you through one real consent, from creation to revocation. What you will see covers RO1 to RO4 in full, and the parts of RO5 and RO6 that already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one. The patient creates the consent. On this screen you can see the four data modules, the two guardians, the jurisdiction AU, and the state PENDING_SIGNATURE. The system checked every field before saving. Nothing has gone to the blockchain yet. This is RO1: consent as an object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two. The first guardian signs. The system takes the EIP-712 signature, finds who signed it, and confirms that this address is one of the two listed guardians. The counter shows one of two. The consent is still pending, because one approval is never enough. This is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three. The second guardian signs. Now the threshold, two of two, is reached. The system records the token locally and starts the mint on Sepolia in the background. The guardian does not wait for the blockchain. On the right, the same screen a bit later: already anchored on Sepolia, with the token number. RO3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four. The doctor asks for the patient's data. First the proof is generated and verified. Then the five checks run. Identity and authority, VI. Approvals and token, VA. Purpose and scope, VP. Time, VT. Jurisdiction, VL. All five pass, so the answer is ALLOW. This is RO2 and RO4 together,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five. After ALLOW, the records are shown per module. Only the modules inside the consent scope are returned. If the doctor asked for a module that was not agreed, the request would be refused. That case is covered by attack test A4. The decision and its matrix are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six. The same doctor repeats the request, but this time declares the jurisdiction as SA. The consent was issued for AU. Everything else passes, but VL fails. One failed check is enough: access is denied. The message tells the auditor exactly which check failed. This is the rule of RO4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seven. The patient cancels the consent. On the left, the system is sending the revoke transaction to Sepolia and waiting for the block confirmation. On the right, the consent is now REVOKED, with its token number. This is the working part of RO5.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eight. The doctor tries again. Now VA fails, because the consent is not active any more: its state is REVOKED. Access is refused. An expired consent is refused in the same way, through the time check VT. So a consent that was valid yesterday does not stay usable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nine. Both the mint and the revoke are public transactions on Sepolia. On the left, the anchoring transaction of the consent, in block 11,771,243. On the right, the revocation, in block 11,771,307, with the decoded function revoke and token id 1. Anyone can check them. No medical data is on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ten, the last one. The auditor can rebuild the full life of the consent: thirteen events in order, from creation to revocation, each with its decision matrix. The dashboard shows the exported ledger: 60 events, 9 access requests and 5 on-chain anchors. And a separate tool re-checked Sepolia and found every anchored transaction in its recorded block. All checks passed. This is the working part of RO6: evidence that can be audited.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I used in the report and in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doctor proves that they know the secret and the expiry behind the commitment stored in the consent, and that the consent has not expired, without showing them. It is the slowest part,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GAPS,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WHY THIS MATTERS</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ty"/>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ty"/>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Authority</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Jurisdiction"/>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Jurisdiction"/>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Jurisdiction</a:t>
            </a:r>
            <a:endParaRPr lang="en-US" sz="1900" dirty="0"/>
          </a:p>
          <a:p>
            <a:pPr indent="0" marL="0">
              <a:spcAft>
                <a:spcPts val="400"/>
              </a:spcAft>
              <a:buNone/>
            </a:pPr>
            <a:r>
              <a:rPr lang="en-US" sz="1600" dirty="0">
                <a:solidFill>
                  <a:srgbClr val="0B1F33"/>
                </a:solidFill>
              </a:rPr>
              <a:t>Where the request may come from.</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1FB5D6"/>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F2A900"/>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SIX 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not as something the system evaluates.</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person is, not what they may do. Only 10 of 25 studies check authority separately.</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backup path or a one-time step, not a condition of every access.</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checked in the same decision as identity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once, at registration, not at each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7" name="card text RQ1"/>
          <p:cNvSpPr txBox="1"/>
          <p:nvPr/>
        </p:nvSpPr>
        <p:spPr>
          <a:xfrm>
            <a:off x="86868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consent be modelled as an object that carries identity, authority, policy and evidence?</a:t>
            </a:r>
            <a:endParaRPr lang="en-US" sz="1900" dirty="0"/>
          </a:p>
        </p:txBody>
      </p:sp>
      <p:sp>
        <p:nvSpPr>
          <p:cNvPr id="8" name="card RQ2"/>
          <p:cNvSpPr/>
          <p:nvPr/>
        </p:nvSpPr>
        <p:spPr>
          <a:xfrm>
            <a:off x="434340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9" name="card text RQ2"/>
          <p:cNvSpPr txBox="1"/>
          <p:nvPr/>
        </p:nvSpPr>
        <p:spPr>
          <a:xfrm>
            <a:off x="448056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credentials prove who a person is and, separately, what they may do?</a:t>
            </a:r>
            <a:endParaRPr lang="en-US" sz="1900" dirty="0"/>
          </a:p>
        </p:txBody>
      </p:sp>
      <p:sp>
        <p:nvSpPr>
          <p:cNvPr id="10" name="card RQ3"/>
          <p:cNvSpPr/>
          <p:nvPr/>
        </p:nvSpPr>
        <p:spPr>
          <a:xfrm>
            <a:off x="795528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11" name="card text RQ3"/>
          <p:cNvSpPr txBox="1"/>
          <p:nvPr/>
        </p:nvSpPr>
        <p:spPr>
          <a:xfrm>
            <a:off x="809244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several guardians approve together, so that no single person can approve alone?</a:t>
            </a:r>
            <a:endParaRPr lang="en-US" sz="1900" dirty="0"/>
          </a:p>
        </p:txBody>
      </p:sp>
      <p:sp>
        <p:nvSpPr>
          <p:cNvPr id="12" name="card RQ4"/>
          <p:cNvSpPr/>
          <p:nvPr/>
        </p:nvSpPr>
        <p:spPr>
          <a:xfrm>
            <a:off x="73152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3" name="card text RQ4"/>
          <p:cNvSpPr txBox="1"/>
          <p:nvPr/>
        </p:nvSpPr>
        <p:spPr>
          <a:xfrm>
            <a:off x="86868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 scope stop valid identities from reaching data they were not given?</a:t>
            </a:r>
            <a:endParaRPr lang="en-US" sz="1900" dirty="0"/>
          </a:p>
        </p:txBody>
      </p:sp>
      <p:sp>
        <p:nvSpPr>
          <p:cNvPr id="14" name="card RQ5"/>
          <p:cNvSpPr/>
          <p:nvPr/>
        </p:nvSpPr>
        <p:spPr>
          <a:xfrm>
            <a:off x="434340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5" name="card text RQ5"/>
          <p:cNvSpPr txBox="1"/>
          <p:nvPr/>
        </p:nvSpPr>
        <p:spPr>
          <a:xfrm>
            <a:off x="448056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or revocation?</a:t>
            </a:r>
            <a:endParaRPr lang="en-US" sz="1900" dirty="0"/>
          </a:p>
        </p:txBody>
      </p:sp>
      <p:sp>
        <p:nvSpPr>
          <p:cNvPr id="16" name="card RQ6"/>
          <p:cNvSpPr/>
          <p:nvPr/>
        </p:nvSpPr>
        <p:spPr>
          <a:xfrm>
            <a:off x="795528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7" name="card text RQ6"/>
          <p:cNvSpPr txBox="1"/>
          <p:nvPr/>
        </p:nvSpPr>
        <p:spPr>
          <a:xfrm>
            <a:off x="809244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698480" cy="914400"/>
        </p:xfrm>
        <a:graphic>
          <a:graphicData uri="http://schemas.openxmlformats.org/drawingml/2006/table">
            <a:tbl>
              <a:tblPr/>
              <a:tblGrid>
                <a:gridCol w="1371600"/>
                <a:gridCol w="6949440"/>
                <a:gridCol w="2377440"/>
              </a:tblGrid>
              <a:tr h="749808">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In simple words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49808">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Make consent an object the system can check: C = (I, A, P, T, L, 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Check who a person is (DID) separately from what they may do (credential)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Require approval from all listed guardians, each with a verified signature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Allow only requests inside the agreed purpose, data scope and jurisdiction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Reject access after expiry or revocation, and control the consent lifecycle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Define the security properties, prove them formally and test them empirically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questions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are valid</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guardians approved; token exists; not revoked</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 are inside the consent</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RO1: 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the start and expiry time, and the jurisdiction.</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consent object C is built and stored as PENDING_SIGNATURE.</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RO2: Decentralised identity and authority</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credential validation are planned for the next stage.</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RO3: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Approvals from outsiders, replays and duplicates are not counted.</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a:p>
            <a:pPr marL="342900" indent="-342900">
              <a:spcAft>
                <a:spcPts val="1000"/>
              </a:spcAft>
              <a:buSzPct val="100000"/>
              <a:buChar char="•"/>
            </a:pPr>
            <a:r>
              <a:rPr lang="en-US" sz="1600" dirty="0">
                <a:solidFill>
                  <a:srgbClr val="FFFFFF"/>
                </a:solidFill>
              </a:rPr>
              <a:t>In the prototype the guardian keys are derived from the guardian DIDs; wallet-held keys are for the next stage.</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RO4: Policy- and context-aware access</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RO5: Time and lifecycle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Working now: a clear lifecycle: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the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RO6: Formal assurance and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pass, including 12 attack scenarios A1 to A12.</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request from the wrong jurisdiction was refused against a Sepolia-anchored consent.</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wrong jurisdiction refused. 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1"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10:02:50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 (jurisdiction SA)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62828"/>
                          </a:solidFill>
                        </a:rPr>
                        <a:t>FAIL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62828"/>
                          </a:solidFill>
                        </a:rPr>
                        <a:t>DENY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62828"/>
                          </a:solidFill>
                        </a:rPr>
                        <a:t>DENIED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Wrong jurisdiction: only VL fails, decision DENY, access DENIED (Scenario 4). One failed check is enough.</a:t>
            </a:r>
            <a:endParaRPr lang="en-US" sz="1400" dirty="0"/>
          </a:p>
          <a:p>
            <a:pPr marL="342900" indent="-342900">
              <a:spcAft>
                <a:spcPts val="1000"/>
              </a:spcAft>
              <a:buSzPct val="100000"/>
              <a:buChar char="•"/>
            </a:pPr>
            <a:r>
              <a:rPr lang="en-US" sz="1400" dirty="0">
                <a:solidFill>
                  <a:srgbClr val="FFFFFF"/>
                </a:solidFill>
              </a:rPr>
              <a:t>After revocation (Scenario 5) the request is refused before any decision is logged (n/l = not logged);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TWELVE ATTACK SCENARIOS</a:t>
            </a:r>
            <a:endParaRPr lang="en-US" sz="3000" dirty="0"/>
          </a:p>
        </p:txBody>
      </p:sp>
      <p:graphicFrame>
        <p:nvGraphicFramePr>
          <p:cNvPr id="22"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65760">
                <a:tc>
                  <a:txBody>
                    <a:bodyPr/>
                    <a:lstStyle/>
                    <a:p>
                      <a:pPr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65760">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73152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r>
              <a:rPr lang="en-US" sz="950" i="1" dirty="0">
                <a:solidFill>
                  <a:srgbClr val="FFFFFF"/>
                </a:solidFill>
              </a:rPr>
              <a:t>Target: I identity, A authority, P policy and scope, T time, L jurisdiction, E evidence, Contract = ConsentSBTv3 on an in-memory EVM.</a:t>
            </a:r>
            <a:endParaRPr lang="en-US" sz="950" dirty="0"/>
          </a:p>
        </p:txBody>
      </p:sp>
      <p:sp>
        <p:nvSpPr>
          <p:cNvPr id="6" name="stat attack scenarios, A1 to A12"/>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12</a:t>
            </a:r>
            <a:endParaRPr lang="en-US" sz="4400" dirty="0"/>
          </a:p>
        </p:txBody>
      </p:sp>
      <p:sp>
        <p:nvSpPr>
          <p:cNvPr id="7" name="stat label attack scenarios, A1 to A12"/>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A12</a:t>
            </a:r>
            <a:endParaRPr lang="en-US" sz="1600" dirty="0"/>
          </a:p>
        </p:txBody>
      </p:sp>
      <p:sp>
        <p:nvSpPr>
          <p:cNvPr id="8" name="stat refused after the hardening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11 / 12</a:t>
            </a:r>
            <a:endParaRPr lang="en-US" sz="4400" dirty="0"/>
          </a:p>
        </p:txBody>
      </p:sp>
      <p:sp>
        <p:nvSpPr>
          <p:cNvPr id="9" name="stat label refused after the hardening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refused after the hardening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36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103120"/>
                <a:gridCol w="1188720"/>
                <a:gridCol w="914400"/>
                <a:gridCol w="1005840"/>
                <a:gridCol w="64008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checks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One EIP-712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8" name="caption"/>
          <p:cNvSpPr txBox="1"/>
          <p:nvPr/>
        </p:nvSpPr>
        <p:spPr>
          <a:xfrm>
            <a:off x="6812280" y="5303520"/>
            <a:ext cx="47091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WHY THIS MATTERS</a:t>
            </a:r>
            <a:endParaRPr lang="en-US" sz="3000" dirty="0"/>
          </a:p>
        </p:txBody>
      </p:sp>
      <p:sp>
        <p:nvSpPr>
          <p:cNvPr id="4" name="sci heading"/>
          <p:cNvSpPr txBox="1"/>
          <p:nvPr/>
        </p:nvSpPr>
        <p:spPr>
          <a:xfrm>
            <a:off x="731520" y="1051560"/>
            <a:ext cx="5120640" cy="411480"/>
          </a:xfrm>
          <a:prstGeom prst="rect">
            <a:avLst/>
          </a:prstGeom>
          <a:noFill/>
          <a:ln/>
        </p:spPr>
        <p:txBody>
          <a:bodyPr wrap="square" rtlCol="0" anchor="ctr"/>
          <a:lstStyle/>
          <a:p>
            <a:pPr indent="0" marL="0">
              <a:buNone/>
            </a:pPr>
            <a:r>
              <a:rPr lang="en-US" sz="2000" b="1" i="1" dirty="0">
                <a:solidFill>
                  <a:srgbClr val="1FB5D6"/>
                </a:solidFill>
              </a:rPr>
              <a:t>Scientific</a:t>
            </a:r>
            <a:endParaRPr lang="en-US" sz="2000" dirty="0"/>
          </a:p>
        </p:txBody>
      </p:sp>
      <p:sp>
        <p:nvSpPr>
          <p:cNvPr id="5" name="soc heading"/>
          <p:cNvSpPr txBox="1"/>
          <p:nvPr/>
        </p:nvSpPr>
        <p:spPr>
          <a:xfrm>
            <a:off x="6309360" y="1051560"/>
            <a:ext cx="5120640" cy="411480"/>
          </a:xfrm>
          <a:prstGeom prst="rect">
            <a:avLst/>
          </a:prstGeom>
          <a:noFill/>
          <a:ln/>
        </p:spPr>
        <p:txBody>
          <a:bodyPr wrap="square" rtlCol="0" anchor="ctr"/>
          <a:lstStyle/>
          <a:p>
            <a:pPr indent="0" marL="0">
              <a:buNone/>
            </a:pPr>
            <a:r>
              <a:rPr lang="en-US" sz="2000" b="1" i="1" dirty="0">
                <a:solidFill>
                  <a:srgbClr val="1FB5D6"/>
                </a:solidFill>
              </a:rPr>
              <a:t>Social</a:t>
            </a:r>
            <a:endParaRPr lang="en-US" sz="2000" dirty="0"/>
          </a:p>
        </p:txBody>
      </p:sp>
      <p:sp>
        <p:nvSpPr>
          <p:cNvPr id="6" name="bullets"/>
          <p:cNvSpPr txBox="1"/>
          <p:nvPr/>
        </p:nvSpPr>
        <p:spPr>
          <a:xfrm>
            <a:off x="73152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Consent is an evaluable object, C = (I, A, P, T, L, E), not a stored record.</a:t>
            </a:r>
            <a:endParaRPr lang="en-US" sz="1600" dirty="0"/>
          </a:p>
          <a:p>
            <a:pPr marL="342900" indent="-342900">
              <a:spcAft>
                <a:spcPts val="1000"/>
              </a:spcAft>
              <a:buSzPct val="100000"/>
              <a:buChar char="•"/>
            </a:pPr>
            <a:r>
              <a:rPr lang="en-US" sz="1600" dirty="0">
                <a:solidFill>
                  <a:srgbClr val="FFFFFF"/>
                </a:solidFill>
              </a:rPr>
              <a:t>Multi-party approval is a standing condition of every access decision, and the patient defines who must approve.</a:t>
            </a:r>
            <a:endParaRPr lang="en-US" sz="1600" dirty="0"/>
          </a:p>
          <a:p>
            <a:pPr marL="342900" indent="-342900">
              <a:spcAft>
                <a:spcPts val="1000"/>
              </a:spcAft>
              <a:buSzPct val="100000"/>
              <a:buChar char="•"/>
            </a:pPr>
            <a:r>
              <a:rPr lang="en-US" sz="1600" dirty="0">
                <a:solidFill>
                  <a:srgbClr val="FFFFFF"/>
                </a:solidFill>
              </a:rPr>
              <a:t>Identity is separated from authority, and all conditions are checked in one decision.</a:t>
            </a:r>
            <a:endParaRPr lang="en-US" sz="1600" dirty="0"/>
          </a:p>
          <a:p>
            <a:pPr marL="342900" indent="-342900">
              <a:spcAft>
                <a:spcPts val="1000"/>
              </a:spcAft>
              <a:buSzPct val="100000"/>
              <a:buChar char="•"/>
            </a:pPr>
            <a:r>
              <a:rPr lang="en-US" sz="1600" dirty="0">
                <a:solidFill>
                  <a:srgbClr val="FFFFFF"/>
                </a:solidFill>
              </a:rPr>
              <a:t>A PRISMA 2020 review of 25 studies names the conjunction gap and the assurance gap.</a:t>
            </a:r>
            <a:endParaRPr lang="en-US" sz="1600" dirty="0"/>
          </a:p>
          <a:p>
            <a:pPr marL="342900" indent="-342900">
              <a:spcAft>
                <a:spcPts val="1000"/>
              </a:spcAft>
              <a:buSzPct val="100000"/>
              <a:buChar char="•"/>
            </a:pPr>
            <a:r>
              <a:rPr lang="en-US" sz="1600" dirty="0">
                <a:solidFill>
                  <a:srgbClr val="FFFFFF"/>
                </a:solidFill>
              </a:rPr>
              <a:t>A working prototype on Sepolia, measured and attacked twelve times.</a:t>
            </a:r>
            <a:endParaRPr lang="en-US" sz="1600" dirty="0"/>
          </a:p>
        </p:txBody>
      </p:sp>
      <p:sp>
        <p:nvSpPr>
          <p:cNvPr id="7" name="bullets"/>
          <p:cNvSpPr txBox="1"/>
          <p:nvPr/>
        </p:nvSpPr>
        <p:spPr>
          <a:xfrm>
            <a:off x="630936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Patients and their guardians decide together who may see the patient's data.</a:t>
            </a:r>
            <a:endParaRPr lang="en-US" sz="1600" dirty="0"/>
          </a:p>
          <a:p>
            <a:pPr marL="342900" indent="-342900">
              <a:spcAft>
                <a:spcPts val="1000"/>
              </a:spcAft>
              <a:buSzPct val="100000"/>
              <a:buChar char="•"/>
            </a:pPr>
            <a:r>
              <a:rPr lang="en-US" sz="1600" dirty="0">
                <a:solidFill>
                  <a:srgbClr val="FFFFFF"/>
                </a:solidFill>
              </a:rPr>
              <a:t>No single person can approve access to sensitive health data alone.</a:t>
            </a:r>
            <a:endParaRPr lang="en-US" sz="1600" dirty="0"/>
          </a:p>
          <a:p>
            <a:pPr marL="342900" indent="-342900">
              <a:spcAft>
                <a:spcPts val="1000"/>
              </a:spcAft>
              <a:buSzPct val="100000"/>
              <a:buChar char="•"/>
            </a:pPr>
            <a:r>
              <a:rPr lang="en-US" sz="1600" dirty="0">
                <a:solidFill>
                  <a:srgbClr val="FFFFFF"/>
                </a:solidFill>
              </a:rPr>
              <a:t>Every decision can be explained to an auditor: which check passed, which failed.</a:t>
            </a:r>
            <a:endParaRPr lang="en-US" sz="1600" dirty="0"/>
          </a:p>
          <a:p>
            <a:pPr marL="342900" indent="-342900">
              <a:spcAft>
                <a:spcPts val="1000"/>
              </a:spcAft>
              <a:buSzPct val="100000"/>
              <a:buChar char="•"/>
            </a:pPr>
            <a:r>
              <a:rPr lang="en-US" sz="1600" dirty="0">
                <a:solidFill>
                  <a:srgbClr val="FFFFFF"/>
                </a:solidFill>
              </a:rPr>
              <a:t>Medical records stay off-chain; only consent evidence is shared.</a:t>
            </a:r>
            <a:endParaRPr lang="en-US" sz="1600" dirty="0"/>
          </a:p>
          <a:p>
            <a:pPr marL="342900" indent="-342900">
              <a:spcAft>
                <a:spcPts val="1000"/>
              </a:spcAft>
              <a:buSzPct val="100000"/>
              <a:buChar char="•"/>
            </a:pPr>
            <a:r>
              <a:rPr lang="en-US" sz="1600" dirty="0">
                <a:solidFill>
                  <a:srgbClr val="FFFFFF"/>
                </a:solidFill>
              </a:rPr>
              <a:t>Supports trust when data move between hospitals and other independent parties.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Formal proofs"/>
          <p:cNvSpPr/>
          <p:nvPr/>
        </p:nvSpPr>
        <p:spPr>
          <a:xfrm>
            <a:off x="64008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5" name="card text Formal proof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6" name="card Lifecycle"/>
          <p:cNvSpPr/>
          <p:nvPr/>
        </p:nvSpPr>
        <p:spPr>
          <a:xfrm>
            <a:off x="434340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7" name="card text Lifecycle"/>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Lifecycle</a:t>
            </a:r>
            <a:endParaRPr lang="en-US" sz="1900" dirty="0"/>
          </a:p>
          <a:p>
            <a:pPr indent="0" marL="0">
              <a:spcAft>
                <a:spcPts val="400"/>
              </a:spcAft>
              <a:buNone/>
            </a:pPr>
            <a:r>
              <a:rPr lang="en-US" sz="1600" dirty="0">
                <a:solidFill>
                  <a:srgbClr val="0B1F33"/>
                </a:solidFill>
              </a:rPr>
              <a:t>Consent modification, delegation and guardian-set changes, with a formal lifecycle model (RO5).</a:t>
            </a:r>
            <a:endParaRPr lang="en-US" sz="1900" dirty="0"/>
          </a:p>
        </p:txBody>
      </p:sp>
      <p:sp>
        <p:nvSpPr>
          <p:cNvPr id="8" name="card Identity and keys"/>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Identity and keys"/>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Identity and keys</a:t>
            </a:r>
            <a:endParaRPr lang="en-US" sz="1900" dirty="0"/>
          </a:p>
          <a:p>
            <a:pPr indent="0" marL="0">
              <a:spcAft>
                <a:spcPts val="400"/>
              </a:spcAft>
              <a:buNone/>
            </a:pPr>
            <a:r>
              <a:rPr lang="en-US" sz="1600" dirty="0">
                <a:solidFill>
                  <a:srgbClr val="0B1F33"/>
                </a:solidFill>
              </a:rPr>
              <a:t>Full DID resolution, credential validation and wallet-held guardian keys. Today: a DID-format check, signature recovery and keys derived from the guardian DIDs (RO2, RO3).</a:t>
            </a:r>
            <a:endParaRPr lang="en-US" sz="1900" dirty="0"/>
          </a:p>
        </p:txBody>
      </p:sp>
      <p:sp>
        <p:nvSpPr>
          <p:cNvPr id="10" name="card Attack A11"/>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ttack A11"/>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Attack A11</a:t>
            </a:r>
            <a:endParaRPr lang="en-US" sz="1900" dirty="0"/>
          </a:p>
          <a:p>
            <a:pPr indent="0" marL="0">
              <a:spcAft>
                <a:spcPts val="400"/>
              </a:spcAft>
              <a:buNone/>
            </a:pPr>
            <a:r>
              <a:rPr lang="en-US" sz="1600" dirty="0">
                <a:solidFill>
                  <a:srgbClr val="0B1F33"/>
                </a:solidFill>
              </a:rPr>
              <a:t>A changed audit digest is not yet compared by any component. It is marked neutral, not refused.</a:t>
            </a:r>
            <a:endParaRPr lang="en-US" sz="1900" dirty="0"/>
          </a:p>
        </p:txBody>
      </p:sp>
      <p:sp>
        <p:nvSpPr>
          <p:cNvPr id="12" name="card Scale"/>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Scale"/>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14" name="card Purpose on-chain"/>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Purpose on-chain"/>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700" i="1" dirty="0">
                <a:solidFill>
                  <a:srgbClr val="1FB5D6"/>
                </a:solidFill>
              </a:rPr>
              <a:t>One real consent, from creation to revocation: RO1 to RO4 in full, and the working parts of RO5 and RO6.</a:t>
            </a:r>
            <a:endParaRPr lang="en-US" sz="17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on an active consent;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 descr="/tmp/deck/img/F21.png">    </p:cNvPr>
          <p:cNvPicPr>
            <a:picLocks noChangeAspect="1"/>
          </p:cNvPicPr>
          <p:nvPr/>
        </p:nvPicPr>
        <p:blipFill>
          <a:blip r:embed="rId1"/>
          <a:stretch>
            <a:fillRect/>
          </a:stretch>
        </p:blipFill>
        <p:spPr>
          <a:xfrm>
            <a:off x="1079655" y="1709928"/>
            <a:ext cx="607029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subsystem after creation: four modules, two guardians, jurisdiction AU, state PENDING_SIGNATURE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two guardians, the data modules, the validity time and the jurisdiction AU.</a:t>
            </a:r>
            <a:endParaRPr lang="en-US" sz="1600" dirty="0"/>
          </a:p>
          <a:p>
            <a:pPr marL="342900" indent="-342900">
              <a:spcAft>
                <a:spcPts val="1000"/>
              </a:spcAft>
              <a:buSzPct val="100000"/>
              <a:buChar char="•"/>
            </a:pPr>
            <a:r>
              <a:rPr lang="en-US" sz="1600" dirty="0">
                <a:solidFill>
                  <a:srgbClr val="FFFFFF"/>
                </a:solidFill>
              </a:rPr>
              <a:t>The purpose is fixed to Treatment in this prototype.</a:t>
            </a:r>
            <a:endParaRPr lang="en-US" sz="1600" dirty="0"/>
          </a:p>
          <a:p>
            <a:pPr marL="342900" indent="-342900">
              <a:spcAft>
                <a:spcPts val="1000"/>
              </a:spcAft>
              <a:buSzPct val="100000"/>
              <a:buChar char="•"/>
            </a:pPr>
            <a:r>
              <a:rPr lang="en-US" sz="1600" dirty="0">
                <a:solidFill>
                  <a:srgbClr val="FFFFFF"/>
                </a:solidFill>
              </a:rPr>
              <a:t>An empty data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is stored as PENDING_SIGNATURE. 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F22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2" descr="/tmp/deck/img/F22.png">    </p:cNvPr>
          <p:cNvPicPr>
            <a:picLocks noChangeAspect="1"/>
          </p:cNvPicPr>
          <p:nvPr/>
        </p:nvPicPr>
        <p:blipFill>
          <a:blip r:embed="rId1"/>
          <a:stretch>
            <a:fillRect/>
          </a:stretch>
        </p:blipFill>
        <p:spPr>
          <a:xfrm>
            <a:off x="749808" y="2746760"/>
            <a:ext cx="6729984" cy="241604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Guardian subsystem at the first approval: signature verified, multi-signature count 1/2</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first guardian signs an EIP-712 approval.</a:t>
            </a:r>
            <a:endParaRPr lang="en-US" sz="1600" dirty="0"/>
          </a:p>
          <a:p>
            <a:pPr marL="342900" indent="-342900">
              <a:spcAft>
                <a:spcPts val="1000"/>
              </a:spcAft>
              <a:buSzPct val="100000"/>
              <a:buChar char="•"/>
            </a:pPr>
            <a:r>
              <a:rPr lang="en-US" sz="1600" dirty="0">
                <a:solidFill>
                  <a:srgbClr val="FFFFFF"/>
                </a:solidFill>
              </a:rPr>
              <a:t>The system recovers the signer and confirms it is a listed guardian.</a:t>
            </a:r>
            <a:endParaRPr lang="en-US" sz="1600" dirty="0"/>
          </a:p>
          <a:p>
            <a:pPr marL="342900" indent="-342900">
              <a:spcAft>
                <a:spcPts val="1000"/>
              </a:spcAft>
              <a:buSzPct val="100000"/>
              <a:buChar char="•"/>
            </a:pPr>
            <a:r>
              <a:rPr lang="en-US" sz="1600" dirty="0">
                <a:solidFill>
                  <a:srgbClr val="FFFFFF"/>
                </a:solidFill>
              </a:rPr>
              <a:t>The counter shows 1 of 2. The consent stays pending.</a:t>
            </a:r>
            <a:endParaRPr lang="en-US" sz="1600" dirty="0"/>
          </a:p>
          <a:p>
            <a:pPr marL="342900" indent="-342900">
              <a:spcAft>
                <a:spcPts val="1000"/>
              </a:spcAft>
              <a:buSzPct val="100000"/>
              <a:buChar char="•"/>
            </a:pPr>
            <a:r>
              <a:rPr lang="en-US" sz="1600" dirty="0">
                <a:solidFill>
                  <a:srgbClr val="FFFFFF"/>
                </a:solidFill>
              </a:rPr>
              <a:t>Approvals from outsiders, replays and duplicates would not be counted.</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Second signature verified; threshold 2 of 2 reached</a:t>
            </a:r>
            <a:endParaRPr lang="en-US" sz="1400" dirty="0"/>
          </a:p>
          <a:p>
            <a:pPr marL="342900" indent="-342900">
              <a:buSzPct val="100000"/>
              <a:buChar char="•"/>
            </a:pPr>
            <a:r>
              <a:rPr lang="en-US" sz="1400" dirty="0">
                <a:solidFill>
                  <a:srgbClr val="FFFFFF"/>
                </a:solidFill>
              </a:rPr>
              <a:t>A soulbound token is minted on Sepolia in the background; the user does not wait</a:t>
            </a:r>
            <a:endParaRPr lang="en-US" sz="1400" dirty="0"/>
          </a:p>
          <a:p>
            <a:pPr marL="342900" indent="-342900">
              <a:buSzPct val="100000"/>
              <a:buChar char="•"/>
            </a:pPr>
            <a:r>
              <a:rPr lang="en-US" sz="1400" dirty="0">
                <a:solidFill>
                  <a:srgbClr val="FFFFFF"/>
                </a:solidFill>
              </a:rPr>
              <a:t>Later the same screen reads: already anchored on Sepolia</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2/2 reached, SBT minted in the background</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Revisited after the background job: already anchored on Sepolia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F27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7" descr="/tmp/deck/img/F27.png">    </p:cNvPr>
          <p:cNvPicPr>
            <a:picLocks noChangeAspect="1"/>
          </p:cNvPicPr>
          <p:nvPr/>
        </p:nvPicPr>
        <p:blipFill>
          <a:blip r:embed="rId1"/>
          <a:stretch>
            <a:fillRect/>
          </a:stretch>
        </p:blipFill>
        <p:spPr>
          <a:xfrm>
            <a:off x="1266853" y="1709928"/>
            <a:ext cx="569589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requester jurisdiction AU: all five checks PASS, ALLOW</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doctor selects the consent and a scope inside the agreed modules.</a:t>
            </a:r>
            <a:endParaRPr lang="en-US" sz="1600" dirty="0"/>
          </a:p>
          <a:p>
            <a:pPr marL="342900" indent="-342900">
              <a:spcAft>
                <a:spcPts val="1000"/>
              </a:spcAft>
              <a:buSzPct val="100000"/>
              <a:buChar char="•"/>
            </a:pPr>
            <a:r>
              <a:rPr lang="en-US" sz="1600" dirty="0">
                <a:solidFill>
                  <a:srgbClr val="FFFFFF"/>
                </a:solidFill>
              </a:rPr>
              <a:t>A Groth16 proof is generated and verified.</a:t>
            </a:r>
            <a:endParaRPr lang="en-US" sz="1600" dirty="0"/>
          </a:p>
          <a:p>
            <a:pPr marL="342900" indent="-342900">
              <a:spcAft>
                <a:spcPts val="1000"/>
              </a:spcAft>
              <a:buSzPct val="100000"/>
              <a:buChar char="•"/>
            </a:pPr>
            <a:r>
              <a:rPr lang="en-US" sz="1600" dirty="0">
                <a:solidFill>
                  <a:srgbClr val="FFFFFF"/>
                </a:solidFill>
              </a:rPr>
              <a:t>The decision matrix shows VI, VA, VP, VT, VL all PASS, so ALLOW.</a:t>
            </a:r>
            <a:endParaRPr lang="en-US" sz="1600" dirty="0"/>
          </a:p>
          <a:p>
            <a:pPr marL="342900" indent="-342900">
              <a:spcAft>
                <a:spcPts val="1000"/>
              </a:spcAft>
              <a:buSzPct val="100000"/>
              <a:buChar char="•"/>
            </a:pPr>
            <a:r>
              <a:rPr lang="en-US" sz="1600" dirty="0">
                <a:solidFill>
                  <a:srgbClr val="FFFFFF"/>
                </a:solidFill>
              </a:rPr>
              <a:t>Identity, authority, approvals, scope, time and jurisdiction are checked in one decision.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F29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9" descr="/tmp/deck/img/F29.png">    </p:cNvPr>
          <p:cNvPicPr>
            <a:picLocks noChangeAspect="1"/>
          </p:cNvPicPr>
          <p:nvPr/>
        </p:nvPicPr>
        <p:blipFill>
          <a:blip r:embed="rId1"/>
          <a:stretch>
            <a:fillRect/>
          </a:stretch>
        </p:blipFill>
        <p:spPr>
          <a:xfrm>
            <a:off x="2137378" y="1709928"/>
            <a:ext cx="3954844"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verification: access granted, records displayed per module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Records are displayed per module: Observation, Medication, Condition, Procedure.</a:t>
            </a:r>
            <a:endParaRPr lang="en-US" sz="1600" dirty="0"/>
          </a:p>
          <a:p>
            <a:pPr marL="342900" indent="-342900">
              <a:spcAft>
                <a:spcPts val="1000"/>
              </a:spcAft>
              <a:buSzPct val="100000"/>
              <a:buChar char="•"/>
            </a:pPr>
            <a:r>
              <a:rPr lang="en-US" sz="1600" dirty="0">
                <a:solidFill>
                  <a:srgbClr val="FFFFFF"/>
                </a:solidFill>
              </a:rPr>
              <a:t>Only the modules inside the consent scope are returned.</a:t>
            </a:r>
            <a:endParaRPr lang="en-US" sz="1600" dirty="0"/>
          </a:p>
          <a:p>
            <a:pPr marL="342900" indent="-342900">
              <a:spcAft>
                <a:spcPts val="1000"/>
              </a:spcAft>
              <a:buSzPct val="100000"/>
              <a:buChar char="•"/>
            </a:pPr>
            <a:r>
              <a:rPr lang="en-US" sz="1600" dirty="0">
                <a:solidFill>
                  <a:srgbClr val="FFFFFF"/>
                </a:solidFill>
              </a:rPr>
              <a:t>A request for a module outside the scope is refused (attack test A4).</a:t>
            </a:r>
            <a:endParaRPr lang="en-US" sz="1600" dirty="0"/>
          </a:p>
          <a:p>
            <a:pPr marL="342900" indent="-342900">
              <a:spcAft>
                <a:spcPts val="1000"/>
              </a:spcAft>
              <a:buSzPct val="100000"/>
              <a:buChar char="•"/>
            </a:pPr>
            <a:r>
              <a:rPr lang="en-US" sz="1600" dirty="0">
                <a:solidFill>
                  <a:srgbClr val="FFFFFF"/>
                </a:solidFill>
              </a:rPr>
              <a:t>The decision is written to the audit ledger with its matrix.</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6: THE WRONG JURISDICTION</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One failed check is enough to deny</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Same doctor, same active consent, jurisdiction declared as SA instead of AU</a:t>
            </a:r>
            <a:endParaRPr lang="en-US" sz="1400" dirty="0"/>
          </a:p>
          <a:p>
            <a:pPr marL="342900" indent="-342900">
              <a:buSzPct val="100000"/>
              <a:buChar char="•"/>
            </a:pPr>
            <a:r>
              <a:rPr lang="en-US" sz="1400" dirty="0">
                <a:solidFill>
                  <a:srgbClr val="FFFFFF"/>
                </a:solidFill>
              </a:rPr>
              <a:t>VL = FAIL, so ALLOW = FAIL</a:t>
            </a:r>
            <a:endParaRPr lang="en-US" sz="1400" dirty="0"/>
          </a:p>
          <a:p>
            <a:pPr marL="342900" indent="-342900">
              <a:buSzPct val="100000"/>
              <a:buChar char="•"/>
            </a:pPr>
            <a:r>
              <a:rPr lang="en-US" sz="1400" dirty="0">
                <a:solidFill>
                  <a:srgbClr val="FFFFFF"/>
                </a:solidFill>
              </a:rPr>
              <a:t>The refusal names the failed check: Security Exception, failed checks: VL</a:t>
            </a:r>
            <a:endParaRPr lang="en-US" sz="1400" dirty="0"/>
          </a:p>
        </p:txBody>
      </p:sp>
      <p:sp>
        <p:nvSpPr>
          <p:cNvPr id="8" name="F31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1" descr="/tmp/deck/img/F31.png">    </p:cNvPr>
          <p:cNvPicPr>
            <a:picLocks noChangeAspect="1"/>
          </p:cNvPicPr>
          <p:nvPr/>
        </p:nvPicPr>
        <p:blipFill>
          <a:blip r:embed="rId1"/>
          <a:stretch>
            <a:fillRect/>
          </a:stretch>
        </p:blipFill>
        <p:spPr>
          <a:xfrm>
            <a:off x="1156648" y="2487168"/>
            <a:ext cx="4361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Requester jurisdiction SA: VL reports FAIL, ALLOW = FAIL</a:t>
            </a:r>
            <a:endParaRPr lang="en-US" sz="1200" dirty="0"/>
          </a:p>
        </p:txBody>
      </p:sp>
      <p:sp>
        <p:nvSpPr>
          <p:cNvPr id="11" name="F32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2" descr="/tmp/deck/img/F32.png">    </p:cNvPr>
          <p:cNvPicPr>
            <a:picLocks noChangeAspect="1"/>
          </p:cNvPicPr>
          <p:nvPr/>
        </p:nvPicPr>
        <p:blipFill>
          <a:blip r:embed="rId2"/>
          <a:stretch>
            <a:fillRect/>
          </a:stretch>
        </p:blipFill>
        <p:spPr>
          <a:xfrm>
            <a:off x="6281928" y="2927586"/>
            <a:ext cx="5175504" cy="2557308"/>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The refused request names the failed check: VL</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7: THE PATIENT REVOKES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end to end, with an on-chain transaction</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patient revokes the consent</a:t>
            </a:r>
            <a:endParaRPr lang="en-US" sz="1400" dirty="0"/>
          </a:p>
          <a:p>
            <a:pPr marL="342900" indent="-342900">
              <a:buSzPct val="100000"/>
              <a:buChar char="•"/>
            </a:pPr>
            <a:r>
              <a:rPr lang="en-US" sz="1400" dirty="0">
                <a:solidFill>
                  <a:srgbClr val="FFFFFF"/>
                </a:solidFill>
              </a:rPr>
              <a:t>The revoke transaction is sent to Sepolia and waits for block confirmation</a:t>
            </a:r>
            <a:endParaRPr lang="en-US" sz="1400" dirty="0"/>
          </a:p>
          <a:p>
            <a:pPr marL="342900" indent="-342900">
              <a:buSzPct val="100000"/>
              <a:buChar char="•"/>
            </a:pPr>
            <a:r>
              <a:rPr lang="en-US" sz="1400" dirty="0">
                <a:solidFill>
                  <a:srgbClr val="FFFFFF"/>
                </a:solidFill>
              </a:rPr>
              <a:t>The consent becomes REVOKED, token #1</a:t>
            </a:r>
            <a:endParaRPr lang="en-US" sz="1400" dirty="0"/>
          </a:p>
        </p:txBody>
      </p:sp>
      <p:sp>
        <p:nvSpPr>
          <p:cNvPr id="8" name="F33 panel"/>
          <p:cNvSpPr/>
          <p:nvPr/>
        </p:nvSpPr>
        <p:spPr>
          <a:xfrm>
            <a:off x="64008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3" descr="/tmp/deck/img/F33.png">    </p:cNvPr>
          <p:cNvPicPr>
            <a:picLocks noChangeAspect="1"/>
          </p:cNvPicPr>
          <p:nvPr/>
        </p:nvPicPr>
        <p:blipFill>
          <a:blip r:embed="rId1"/>
          <a:stretch>
            <a:fillRect/>
          </a:stretch>
        </p:blipFill>
        <p:spPr>
          <a:xfrm>
            <a:off x="1022756" y="2487168"/>
            <a:ext cx="4629607" cy="3346704"/>
          </a:xfrm>
          <a:prstGeom prst="rect">
            <a:avLst/>
          </a:prstGeom>
        </p:spPr>
      </p:pic>
      <p:sp>
        <p:nvSpPr>
          <p:cNvPr id="10" name="caption"/>
          <p:cNvSpPr txBox="1"/>
          <p:nvPr/>
        </p:nvSpPr>
        <p:spPr>
          <a:xfrm>
            <a:off x="640080" y="5989320"/>
            <a:ext cx="5394960" cy="320040"/>
          </a:xfrm>
          <a:prstGeom prst="rect">
            <a:avLst/>
          </a:prstGeom>
          <a:noFill/>
          <a:ln/>
        </p:spPr>
        <p:txBody>
          <a:bodyPr wrap="square" rtlCol="0" anchor="ctr"/>
          <a:lstStyle/>
          <a:p>
            <a:pPr algn="ctr" indent="0" marL="0">
              <a:buNone/>
            </a:pPr>
            <a:r>
              <a:rPr lang="en-US" sz="1200" i="1" dirty="0">
                <a:solidFill>
                  <a:srgbClr val="FFFFFF"/>
                </a:solidFill>
              </a:rPr>
              <a:t>During revocation: waiting for block confirmation</a:t>
            </a:r>
            <a:endParaRPr lang="en-US" sz="1200" dirty="0"/>
          </a:p>
        </p:txBody>
      </p:sp>
      <p:sp>
        <p:nvSpPr>
          <p:cNvPr id="11" name="F34 panel"/>
          <p:cNvSpPr/>
          <p:nvPr/>
        </p:nvSpPr>
        <p:spPr>
          <a:xfrm>
            <a:off x="617220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4" descr="/tmp/deck/img/F34.png">    </p:cNvPr>
          <p:cNvPicPr>
            <a:picLocks noChangeAspect="1"/>
          </p:cNvPicPr>
          <p:nvPr/>
        </p:nvPicPr>
        <p:blipFill>
          <a:blip r:embed="rId2"/>
          <a:stretch>
            <a:fillRect/>
          </a:stretch>
        </p:blipFill>
        <p:spPr>
          <a:xfrm>
            <a:off x="6344440" y="2487168"/>
            <a:ext cx="5050481" cy="3346704"/>
          </a:xfrm>
          <a:prstGeom prst="rect">
            <a:avLst/>
          </a:prstGeom>
        </p:spPr>
      </p:pic>
      <p:sp>
        <p:nvSpPr>
          <p:cNvPr id="13" name="caption"/>
          <p:cNvSpPr txBox="1"/>
          <p:nvPr/>
        </p:nvSpPr>
        <p:spPr>
          <a:xfrm>
            <a:off x="6172200" y="5989320"/>
            <a:ext cx="5394960" cy="320040"/>
          </a:xfrm>
          <a:prstGeom prst="rect">
            <a:avLst/>
          </a:prstGeom>
          <a:noFill/>
          <a:ln/>
        </p:spPr>
        <p:txBody>
          <a:bodyPr wrap="square" rtlCol="0" anchor="ctr"/>
          <a:lstStyle/>
          <a:p>
            <a:pPr algn="ctr" indent="0" marL="0">
              <a:buNone/>
            </a:pPr>
            <a:r>
              <a:rPr lang="en-US" sz="1200" i="1" dirty="0">
                <a:solidFill>
                  <a:srgbClr val="FFFFFF"/>
                </a:solidFill>
              </a:rPr>
              <a:t>After revocation: the consent is REVOKED, token #1</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8: AFTER REVOCATION, REFUSED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 revoked consent cannot be used</a:t>
            </a:r>
            <a:endParaRPr lang="en-US" sz="1600" dirty="0"/>
          </a:p>
        </p:txBody>
      </p:sp>
      <p:sp>
        <p:nvSpPr>
          <p:cNvPr id="7" name="F36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6" descr="/tmp/deck/img/F36.png">    </p:cNvPr>
          <p:cNvPicPr>
            <a:picLocks noChangeAspect="1"/>
          </p:cNvPicPr>
          <p:nvPr/>
        </p:nvPicPr>
        <p:blipFill>
          <a:blip r:embed="rId1"/>
          <a:stretch>
            <a:fillRect/>
          </a:stretch>
        </p:blipFill>
        <p:spPr>
          <a:xfrm>
            <a:off x="749808" y="2246920"/>
            <a:ext cx="6729984" cy="341572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revocation: VA FAIL, state REVOKED</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same doctor repeats the request.</a:t>
            </a:r>
            <a:endParaRPr lang="en-US" sz="1600" dirty="0"/>
          </a:p>
          <a:p>
            <a:pPr marL="342900" indent="-342900">
              <a:spcAft>
                <a:spcPts val="1000"/>
              </a:spcAft>
              <a:buSzPct val="100000"/>
              <a:buChar char="•"/>
            </a:pPr>
            <a:r>
              <a:rPr lang="en-US" sz="1600" dirty="0">
                <a:solidFill>
                  <a:srgbClr val="FFFFFF"/>
                </a:solidFill>
              </a:rPr>
              <a:t>VA reports FAIL: the consent is not active, current state REVOKED.</a:t>
            </a:r>
            <a:endParaRPr lang="en-US" sz="1600" dirty="0"/>
          </a:p>
          <a:p>
            <a:pPr marL="342900" indent="-342900">
              <a:spcAft>
                <a:spcPts val="1000"/>
              </a:spcAft>
              <a:buSzPct val="100000"/>
              <a:buChar char="•"/>
            </a:pPr>
            <a:r>
              <a:rPr lang="en-US" sz="1600" dirty="0">
                <a:solidFill>
                  <a:srgbClr val="FFFFFF"/>
                </a:solidFill>
              </a:rPr>
              <a:t>Access is refused.</a:t>
            </a:r>
            <a:endParaRPr lang="en-US" sz="1600" dirty="0"/>
          </a:p>
          <a:p>
            <a:pPr marL="342900" indent="-342900">
              <a:spcAft>
                <a:spcPts val="1000"/>
              </a:spcAft>
              <a:buSzPct val="100000"/>
              <a:buChar char="•"/>
            </a:pPr>
            <a:r>
              <a:rPr lang="en-US" sz="1600" dirty="0">
                <a:solidFill>
                  <a:srgbClr val="FFFFFF"/>
                </a:solidFill>
              </a:rPr>
              <a:t>Expired consents are refused the same way through VT.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9: PUBLIC EVIDENCE ON SEPOLIA</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 + 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mint and the revoke are public, verifiable transactions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Mint of the evaluated consent: block 11,771,243</a:t>
            </a:r>
            <a:endParaRPr lang="en-US" sz="1400" dirty="0"/>
          </a:p>
          <a:p>
            <a:pPr marL="342900" indent="-342900">
              <a:buSzPct val="100000"/>
              <a:buChar char="•"/>
            </a:pPr>
            <a:r>
              <a:rPr lang="en-US" sz="1400" dirty="0">
                <a:solidFill>
                  <a:srgbClr val="FFFFFF"/>
                </a:solidFill>
              </a:rPr>
              <a:t>Revoke of token #1: block 11,771,307, decoded input revoke(uint256 tokenId)</a:t>
            </a:r>
            <a:endParaRPr lang="en-US" sz="1400" dirty="0"/>
          </a:p>
          <a:p>
            <a:pPr marL="342900" indent="-342900">
              <a:buSzPct val="100000"/>
              <a:buChar char="•"/>
            </a:pPr>
            <a:r>
              <a:rPr lang="en-US" sz="1400" dirty="0">
                <a:solidFill>
                  <a:srgbClr val="FFFFFF"/>
                </a:solidFill>
              </a:rPr>
              <a:t>No medical data is on the chain, only the consent state</a:t>
            </a:r>
            <a:endParaRPr lang="en-US" sz="1400" dirty="0"/>
          </a:p>
        </p:txBody>
      </p:sp>
      <p:sp>
        <p:nvSpPr>
          <p:cNvPr id="8" name="F26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6" descr="/tmp/deck/img/F26.png">    </p:cNvPr>
          <p:cNvPicPr>
            <a:picLocks noChangeAspect="1"/>
          </p:cNvPicPr>
          <p:nvPr/>
        </p:nvPicPr>
        <p:blipFill>
          <a:blip r:embed="rId1"/>
          <a:stretch>
            <a:fillRect/>
          </a:stretch>
        </p:blipFill>
        <p:spPr>
          <a:xfrm>
            <a:off x="749808" y="2705041"/>
            <a:ext cx="5175504" cy="3002398"/>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Anchoring transaction: status Success, block 11,771,243</a:t>
            </a:r>
            <a:endParaRPr lang="en-US" sz="1200" dirty="0"/>
          </a:p>
        </p:txBody>
      </p:sp>
      <p:sp>
        <p:nvSpPr>
          <p:cNvPr id="11" name="F37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7" descr="/tmp/deck/img/F37.png">    </p:cNvPr>
          <p:cNvPicPr>
            <a:picLocks noChangeAspect="1"/>
          </p:cNvPicPr>
          <p:nvPr/>
        </p:nvPicPr>
        <p:blipFill>
          <a:blip r:embed="rId2"/>
          <a:stretch>
            <a:fillRect/>
          </a:stretch>
        </p:blipFill>
        <p:spPr>
          <a:xfrm>
            <a:off x="6964589" y="2487168"/>
            <a:ext cx="3810182"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Revocation transaction: status Success, block 11,771,307</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10: THE AUDITOR SEES EVERYTHING</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Every event in order, and the chain agrees with the local records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lifecycle of the consent: thirteen recorded events in order, from creation to revocation</a:t>
            </a:r>
            <a:endParaRPr lang="en-US" sz="1400" dirty="0"/>
          </a:p>
          <a:p>
            <a:pPr marL="342900" indent="-342900">
              <a:buSzPct val="100000"/>
              <a:buChar char="•"/>
            </a:pPr>
            <a:r>
              <a:rPr lang="en-US" sz="1400" dirty="0">
                <a:solidFill>
                  <a:srgbClr val="FFFFFF"/>
                </a:solidFill>
              </a:rPr>
              <a:t>Aggregate indicators of the exported ledger: 60 events, 9 access requests, 5 on-chain anchors</a:t>
            </a:r>
            <a:endParaRPr lang="en-US" sz="1400" dirty="0"/>
          </a:p>
          <a:p>
            <a:pPr marL="342900" indent="-342900">
              <a:buSzPct val="100000"/>
              <a:buChar char="•"/>
            </a:pPr>
            <a:r>
              <a:rPr lang="en-US" sz="1400" dirty="0">
                <a:solidFill>
                  <a:srgbClr val="FFFFFF"/>
                </a:solidFill>
              </a:rPr>
              <a:t>An independent tool re-checked Sepolia: all anchored transactions found in their recorded blocks</a:t>
            </a:r>
            <a:endParaRPr lang="en-US" sz="1400" dirty="0"/>
          </a:p>
        </p:txBody>
      </p:sp>
      <p:sp>
        <p:nvSpPr>
          <p:cNvPr id="8" name="F38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8" descr="/tmp/deck/img/F38.png">    </p:cNvPr>
          <p:cNvPicPr>
            <a:picLocks noChangeAspect="1"/>
          </p:cNvPicPr>
          <p:nvPr/>
        </p:nvPicPr>
        <p:blipFill>
          <a:blip r:embed="rId1"/>
          <a:stretch>
            <a:fillRect/>
          </a:stretch>
        </p:blipFill>
        <p:spPr>
          <a:xfrm>
            <a:off x="1959148" y="2487168"/>
            <a:ext cx="2756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subsystem: lifecycle of the evaluated consent, thirteen events in order</a:t>
            </a:r>
            <a:endParaRPr lang="en-US" sz="1200" dirty="0"/>
          </a:p>
        </p:txBody>
      </p:sp>
      <p:sp>
        <p:nvSpPr>
          <p:cNvPr id="11" name="F39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9" descr="/tmp/deck/img/F39.png">    </p:cNvPr>
          <p:cNvPicPr>
            <a:picLocks noChangeAspect="1"/>
          </p:cNvPicPr>
          <p:nvPr/>
        </p:nvPicPr>
        <p:blipFill>
          <a:blip r:embed="rId2"/>
          <a:stretch>
            <a:fillRect/>
          </a:stretch>
        </p:blipFill>
        <p:spPr>
          <a:xfrm>
            <a:off x="6281928" y="2819493"/>
            <a:ext cx="5175504" cy="2773493"/>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dashboard: 60 events, 9 access requests, 5 on-chain anchors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(1/6)</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Akter, S. &amp; Sanam, T.F. 2025, 'A blockchain framework for secure healthcare data management using role-based access control and smart contracts', 2025 International Conference on Electrical, Computer and Communication Engineering (ECCE), pp. 1–6, &lt;https://doi.org/10.1109/ECCE64574.2025.11013162&gt;.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 Mamun, A., Azam, S. &amp; Gritti, C. 2022, 'Blockchain-based electronic health records management: A comprehensive review and future research direction', IEEE Access, vol. 10, pp. 5768–5789, &lt;https://doi.org/10.1109/ACCESS.2022.3141079&gt;.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Andrew, J., Isravel, D.P., Sagayam, K.M., Bhushan, B., Sei, Y. &amp; Eunice, J. 2023, 'Blockchain for healthcare systems: Architecture, security challenges, trends and future directions', Journal of Network and Computer Applications, vol. 215, p. 103633, &lt;https://doi.org/10.1016/j.jnca.2023.103633&gt;.</a:t>
            </a:r>
            <a:endParaRPr lang="en-US" sz="1000" dirty="0"/>
          </a:p>
          <a:p>
            <a:pPr indent="0" marL="0">
              <a:spcAft>
                <a:spcPts val="400"/>
              </a:spcAft>
              <a:buNone/>
            </a:pPr>
            <a:r>
              <a:rPr lang="en-US" sz="1000" dirty="0">
                <a:solidFill>
                  <a:srgbClr val="0B1F33"/>
                </a:solidFill>
              </a:rPr>
              <a:t>Arbabi, M.S., Lal, C., Veeraragavan, N.R., Marijan, D., Nygård, J.F. &amp; Vitenberg, R. 2023, 'A survey on blockchain for healthcare: Challenges, benefits, and future directions', IEEE Communications Surveys &amp; Tutorials, vol. 25, no. 1, pp. 386–424, &lt;https://doi.org/10.1109/COMST.2022.3224644&gt;.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Deng, H., Liang, J., Zhang, C., Liu, X., Zhu, L. &amp; Guo, S. 2024, 'FutureDID: A fully decentralized identity system with multi-party verification', IEEE Transactions on Computers, vol. 73, no. 8, pp. 2051–2065, &lt;https://doi.org/10.1109/TC.2024.3398509&gt;.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Ferreira, J.C., Correia, R., Rosário, L. &amp; Vila, A. 2025, 'Blockchain integration for trust and consent management in MCP-enabled FHIR systems', 2025 IEEE International Conference on Distributed Ledger Technologies (ICDLT), pp. 1–10, &lt;https://doi.org/10.1109/ICDLT66400.2025.11466653&gt;.</a:t>
            </a:r>
            <a:endParaRPr lang="en-US" sz="1000" dirty="0"/>
          </a:p>
          <a:p>
            <a:pPr indent="0" marL="0">
              <a:spcAft>
                <a:spcPts val="400"/>
              </a:spcAft>
              <a:buNone/>
            </a:pPr>
            <a:r>
              <a:rPr lang="en-US" sz="1000" dirty="0">
                <a:solidFill>
                  <a:srgbClr val="0B1F33"/>
                </a:solidFill>
              </a:rPr>
              <a:t>Flamini, A., Sciarretta, G., Scuro, M., Sharif, A., Tomasi, A. &amp; Ranise, S. 2024, 'On cryptographic mechanisms for the selective disclosure of verifiable credentials', Journal of Information Security and Applications, vol. 83, p. 103789, &lt;https://doi.org/10.1016/j.jisa.2024.103789&gt;.</a:t>
            </a:r>
            <a:endParaRPr lang="en-US" sz="1000" dirty="0"/>
          </a:p>
          <a:p>
            <a:pPr indent="0" marL="0">
              <a:spcAft>
                <a:spcPts val="400"/>
              </a:spcAft>
              <a:buNone/>
            </a:pPr>
            <a:r>
              <a:rPr lang="en-US" sz="1000" dirty="0">
                <a:solidFill>
                  <a:srgbClr val="0B1F33"/>
                </a:solidFill>
              </a:rPr>
              <a:t>Ghafoor, A., Symeonidis, I., Rydberg, A., Lindahl, C. &amp; Abbasi, A.Q. 2025, 'Towards empowering stakeholders through decentralized trust and secure livestock data sharing', Cryptography, vol. 9, no. 3, p. 52, &lt;https://doi.org/10.3390/cryptography9030052&gt;.</a:t>
            </a:r>
            <a:endParaRPr lang="en-US" sz="1000" dirty="0"/>
          </a:p>
          <a:p>
            <a:pPr indent="0" marL="0">
              <a:spcAft>
                <a:spcPts val="400"/>
              </a:spcAft>
              <a:buNone/>
            </a:pPr>
            <a:r>
              <a:rPr lang="en-US" sz="1000" dirty="0">
                <a:solidFill>
                  <a:srgbClr val="0B1F33"/>
                </a:solidFill>
              </a:rPr>
              <a:t>Ghosh, P.K., Chakraborty, A., Hasan, M., Rashid, K. &amp; Siddique, A.H. 2023, 'Blockchain application in healthcare systems: A review', Systems, vol. 11, no. 1, p. 38, &lt;https://doi.org/10.3390/systems11010038&gt;.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a:p>
            <a:pPr indent="0" marL="0">
              <a:spcAft>
                <a:spcPts val="400"/>
              </a:spcAft>
              <a:buNone/>
            </a:pPr>
            <a:r>
              <a:rPr lang="en-US" sz="1000" dirty="0">
                <a:solidFill>
                  <a:srgbClr val="0B1F33"/>
                </a:solidFill>
              </a:rPr>
              <a:t>Hellstern, R., Park, D.C., Lemieux, V. &amp; Salimjan, G. 2022, 'Leveraging blockchain-based archival solutions for sensitive documentation: A Xinjiang case study', Digital Society, vol. 1, no. 1, p. 4, &lt;https://doi.org/10.1007/s44206-022-00007-1&gt;.</a:t>
            </a:r>
            <a:endParaRPr lang="en-US" sz="1000" dirty="0"/>
          </a:p>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Ibrahim, A.M., Abdel-Aziz, H.R., Mohamed, H.A.H., Zaghamir, D.E.F., Wahba, N.M.I., Hassan, G.A. et al. 2024, 'Balancing confidentiality and care coordination: Challenges in patient privacy', BMC Nursing, vol. 23, no. 1, p. 564, &lt;https://doi.org/10.1186/s12912-024-02231-1&gt;.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Jesus, V. &amp; Pandit, H.J. 2022, 'Consent receipts for a usable and auditable web of personal data', IEEE Access, vol. 10, pp. 28545–28563, &lt;https://doi.org/10.1109/ACCESS.2022.3157850&gt;.</a:t>
            </a:r>
            <a:endParaRPr lang="en-US" sz="1000" dirty="0"/>
          </a:p>
          <a:p>
            <a:pPr indent="0" marL="0">
              <a:spcAft>
                <a:spcPts val="400"/>
              </a:spcAft>
              <a:buNone/>
            </a:pPr>
            <a:r>
              <a:rPr lang="en-US" sz="1000" dirty="0">
                <a:solidFill>
                  <a:srgbClr val="0B1F33"/>
                </a:solidFill>
              </a:rPr>
              <a:t>Jiang, R., Chen, X., Yu, Y., Zhang, Y. &amp; Ding, W. 2023, 'Risk and UCON-based access control model for healthcare big data', Journal of Big Data, vol. 10, no. 1, p. 104, &lt;https://doi.org/10.1186/s40537-023-00783-8&gt;.</a:t>
            </a:r>
            <a:endParaRPr lang="en-US" sz="1000" dirty="0"/>
          </a:p>
          <a:p>
            <a:pPr indent="0" marL="0">
              <a:spcAft>
                <a:spcPts val="400"/>
              </a:spcAft>
              <a:buNone/>
            </a:pPr>
            <a:r>
              <a:rPr lang="en-US" sz="1000" dirty="0">
                <a:solidFill>
                  <a:srgbClr val="0B1F33"/>
                </a:solidFill>
              </a:rPr>
              <a:t>Kaplow, K., Downey, M., Stewart, D., Massie, A.B., Motter, J.D., Taylor, L. et al. 2024, 'Data professionals’ attitudes on data privacy, sharing, and consent in healthcare and research', Digital Health, vol. 10, p. 20552076241290964, &lt;https://doi.org/10.1177/20552076241290964&gt;.</a:t>
            </a:r>
            <a:endParaRPr lang="en-US" sz="1000" dirty="0"/>
          </a:p>
          <a:p>
            <a:pPr indent="0" marL="0">
              <a:spcAft>
                <a:spcPts val="400"/>
              </a:spcAft>
              <a:buNone/>
            </a:pPr>
            <a:r>
              <a:rPr lang="en-US" sz="1000" dirty="0">
                <a:solidFill>
                  <a:srgbClr val="0B1F33"/>
                </a:solidFill>
              </a:rPr>
              <a:t>Khalid, M.I., Ahmed, M., Helfert, M. &amp; Kim, J. 2023, 'Privacy-first paradigm for dynamic consent management systems: Empowering data subjects through decentralized data controllers and privacy-preserving techniques', Electronics, vol. 12, no. 24, p. 4973, &lt;https://doi.org/10.3390/electronics12244973&gt;.</a:t>
            </a:r>
            <a:endParaRPr lang="en-US" sz="1000" dirty="0"/>
          </a:p>
          <a:p>
            <a:pPr indent="0" marL="0">
              <a:spcAft>
                <a:spcPts val="400"/>
              </a:spcAft>
              <a:buNone/>
            </a:pPr>
            <a:r>
              <a:rPr lang="en-US" sz="1000" dirty="0">
                <a:solidFill>
                  <a:srgbClr val="0B1F33"/>
                </a:solidFill>
              </a:rPr>
              <a:t>Kharlamov, A., Hohmann, R. &amp; Parry, G. 2023, 'Data sharing decisions: Perceptions and intentions in healthcare', Strategic Change, vol. 32, no. 6, pp. 223–237, &lt;https://doi.org/10.1002/jsc.2558&gt;.</a:t>
            </a:r>
            <a:endParaRPr lang="en-US" sz="1000" dirty="0"/>
          </a:p>
          <a:p>
            <a:pPr indent="0" marL="0">
              <a:spcAft>
                <a:spcPts val="400"/>
              </a:spcAft>
              <a:buNone/>
            </a:pPr>
            <a:r>
              <a:rPr lang="en-US" sz="1000" dirty="0">
                <a:solidFill>
                  <a:srgbClr val="0B1F33"/>
                </a:solidFill>
              </a:rPr>
              <a:t>Khayer, B., Mirzaei, S., Alavizadeh, H. &amp; Salehi Shahraki, A. 2025, 'Blockchain for secure IoT: A review of identity management, access control, and trust mechanisms', IoT, vol. 6, no. 4, p. 65, &lt;https://doi.org/10.3390/iot6040065&gt;.</a:t>
            </a:r>
            <a:endParaRPr lang="en-US" sz="1000" dirty="0"/>
          </a:p>
          <a:p>
            <a:pPr indent="0" marL="0">
              <a:spcAft>
                <a:spcPts val="400"/>
              </a:spcAft>
              <a:buNone/>
            </a:pPr>
            <a:r>
              <a:rPr lang="en-US" sz="1000" dirty="0">
                <a:solidFill>
                  <a:srgbClr val="0B1F33"/>
                </a:solidFill>
              </a:rPr>
              <a:t>Li, L., Liu, C.Z. &amp; Shrestha, S. 2026, 'Analytical entropy approach for measuring blockchain immutability and tamper-resilient trust', Entropy, vol. 28, no. 6, p. 690, &lt;https://doi.org/10.3390/e28060690&gt;.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Li, L., Liu, C.Z., Huang, K., Deng, R., Alrowaily, M.A., Alghamdi, M. et al. 2026b, 'Trust-aware environmental state consensus for smart agriculture with TEE-enabled sensing and Byzantine-resilient blockchain coordination', Sensors, vol. 26, no. 14, p. 4577, &lt;https://doi.org/10.3390/s26144577&gt;.</a:t>
            </a:r>
            <a:endParaRPr lang="en-US" sz="1000" dirty="0"/>
          </a:p>
          <a:p>
            <a:pPr indent="0" marL="0">
              <a:spcAft>
                <a:spcPts val="400"/>
              </a:spcAft>
              <a:buNone/>
            </a:pPr>
            <a:r>
              <a:rPr lang="en-US" sz="1000" dirty="0">
                <a:solidFill>
                  <a:srgbClr val="0B1F33"/>
                </a:solidFill>
              </a:rPr>
              <a:t>Lomotey, R.K., Kumi, S. &amp; Deters, R. 2022, 'Data trusts as a service: Providing a platform for multi-party data sharing', International Journal of Information Management Data Insights, vol. 2, no. 1, p. 100075, &lt;https://doi.org/10.1016/j.jjimei.2022.100075&gt;.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Mazzocca, C., Acar, A., Uluagac, A.S., Montanari, R., Bellavista, P. &amp; Conti, M. 2025, 'A survey on decentralized identifiers and verifiable credentials', IEEE Communications Surveys &amp; Tutorials, vol. 27, no. 6, pp. 3641–3671, &lt;https://doi.org/10.1109/COMST.2025.3543197&gt;.</a:t>
            </a:r>
            <a:endParaRPr lang="en-US" sz="1000" dirty="0"/>
          </a:p>
          <a:p>
            <a:pPr indent="0" marL="0">
              <a:spcAft>
                <a:spcPts val="400"/>
              </a:spcAft>
              <a:buNone/>
            </a:pPr>
            <a:r>
              <a:rPr lang="en-US" sz="1000" dirty="0">
                <a:solidFill>
                  <a:srgbClr val="0B1F33"/>
                </a:solidFill>
              </a:rPr>
              <a:t>McClelland, R. &amp; Harper, C.M. 2023, 'Information privacy in healthcare — the vital role of informed consent', European Journal of Health Law, vol. 30, no. 4, pp. 469–480, &lt;https://doi.org/10.1163/15718093-bja10097&gt;.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Ménétrey, J., Göttel, C., Khurshid, A., Pasin, M., Felber, P., Schiavoni, V. et al. 2022, 'Attestation mechanisms for trusted execution environments demystified', IFIP International Conference on Distributed Applications and Interoperable Systems (DAIS 2022), LNCS, vol. 13272, pp. 95–113, Springer, &lt;https://doi.org/10.1007/978-3-031-16092-9_7&gt;.</a:t>
            </a:r>
            <a:endParaRPr lang="en-US" sz="1000" dirty="0"/>
          </a:p>
          <a:p>
            <a:pPr indent="0" marL="0">
              <a:spcAft>
                <a:spcPts val="400"/>
              </a:spcAft>
              <a:buNone/>
            </a:pPr>
            <a:r>
              <a:rPr lang="en-US" sz="1000" dirty="0">
                <a:solidFill>
                  <a:srgbClr val="0B1F33"/>
                </a:solidFill>
              </a:rPr>
              <a:t>Narkhede, M.R., Wankhede, N.I. &amp; Kamble, A.M. 2025, 'Enhancing patient autonomy in data ownership: Privacy models and consent frameworks for healthcare', Journal of Digital Health, vol. 4, no. 1, pp. 1–23, &lt;https://doi.org/10.55976/jdh.4202513361-23&gt;.</a:t>
            </a:r>
            <a:endParaRPr lang="en-US" sz="1000" dirty="0"/>
          </a:p>
          <a:p>
            <a:pPr indent="0" marL="0">
              <a:spcAft>
                <a:spcPts val="400"/>
              </a:spcAft>
              <a:buNone/>
            </a:pPr>
            <a:r>
              <a:rPr lang="en-US" sz="1000" dirty="0">
                <a:solidFill>
                  <a:srgbClr val="0B1F33"/>
                </a:solidFill>
              </a:rPr>
              <a:t>Nassar Kyriakidou, C.D., Papathanasiou, A.M. &amp; Polyzos, G.C. 2023, 'Decentralized identity with applications to security and privacy for the internet of things', Computer Networks and Communications, vol. 1, no. 2, pp. 244–271, &lt;https://doi.org/10.37256/cnc.1220233048&gt;.</a:t>
            </a:r>
            <a:endParaRPr lang="en-US" sz="1000" dirty="0"/>
          </a:p>
          <a:p>
            <a:pPr indent="0" marL="0">
              <a:spcAft>
                <a:spcPts val="400"/>
              </a:spcAft>
              <a:buNone/>
            </a:pPr>
            <a:r>
              <a:rPr lang="en-US" sz="1000" dirty="0">
                <a:solidFill>
                  <a:srgbClr val="0B1F33"/>
                </a:solidFill>
              </a:rPr>
              <a:t>Nazir, A., Rehmani, M.H., Butler, B. &amp; O’Shea, D. 2026, 'Access control in healthcare IoT: A comprehensive survey', Engineering Reports, vol. 8, no. 4, p. e70766, &lt;https://doi.org/10.1002/eng2.70766&gt;.</a:t>
            </a:r>
            <a:endParaRPr lang="en-US" sz="1000" dirty="0"/>
          </a:p>
          <a:p>
            <a:pPr indent="0" marL="0">
              <a:spcAft>
                <a:spcPts val="400"/>
              </a:spcAft>
              <a:buNone/>
            </a:pPr>
            <a:r>
              <a:rPr lang="en-US" sz="1000" dirty="0">
                <a:solidFill>
                  <a:srgbClr val="0B1F33"/>
                </a:solidFill>
              </a:rPr>
              <a:t>Nguyen, T.L., Nguyen, L., Hoang, T., Bandara, D., Wang, Q., Lu, Q. et al. 2025, 'Blockchain-empowered trustworthy data sharing: Fundamentals, applications, and challenges', ACM Computing Surveys, vol. 57, no. 8, p. 195, &lt;https://doi.org/10.1145/3718082&gt;.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Parameswarath, R.P., Gope, P. &amp; Sikdar, B. 2022, 'User-empowered privacy-preserving authentication protocol for electric vehicle charging based on decentralized identity and verifiable credential', ACM Transactions on Management Information Systems, vol. 13, no. 4, p. 44, &lt;https://doi.org/10.1145/3532869&gt;.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Prashanth, M.S., Karnati, R., Velpuru, M.S. &amp; Venkateshwara Reddy, H. 2024, 'Enhancing health record security and privacy with blockchain-based access management', Pervasive Knowledge and Collective Intelligence on Web and Social Media (PerSOM 2023), LNICST, vol. 517, pp. 182–202, Springer, &lt;https://doi.org/10.1007/978-3-031-66044-3_13&gt;.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Sawant, N.M. &amp; Gomes, J. 2026, 'A decentralized solution for smarter and safer healthcare systems with FabricMedChain', Iranian Journal of Science and Technology, Transactions of Electrical Engineering, vol. 50, pp. 2843–2869, &lt;https://doi.org/10.1007/s40998-025-00994-0&gt;.</a:t>
            </a:r>
            <a:endParaRPr lang="en-US" sz="1000" dirty="0"/>
          </a:p>
          <a:p>
            <a:pPr indent="0" marL="0">
              <a:spcAft>
                <a:spcPts val="400"/>
              </a:spcAft>
              <a:buNone/>
            </a:pPr>
            <a:r>
              <a:rPr lang="en-US" sz="1000" dirty="0">
                <a:solidFill>
                  <a:srgbClr val="0B1F33"/>
                </a:solidFill>
              </a:rPr>
              <a:t>Shanmugham, M. &amp; Senthilkumar, C. 2026, 'Blockchain enabled self-sovereign identity and consent framework for secure healthcare data access', 2026 3rd International Conference on Emerging Trends in Engineering and Medical Sciences (ICETEMS), pp. 1–6, &lt;https://doi.org/10.1109/ICETEMS66917.2026.11469586&gt;.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Tawfik, A.M., Al-Ahwal, A., Tag Eldien, A.S. &amp; Zayed, H.H. 2025, 'Blockchain-based access control and privacy preservation in healthcare: A comprehensive survey', Cluster Computing, vol. 28, p. 529, &lt;https://doi.org/10.1007/s10586-025-05308-x&gt;.</a:t>
            </a:r>
            <a:endParaRPr lang="en-US" sz="1000" dirty="0"/>
          </a:p>
          <a:p>
            <a:pPr indent="0" marL="0">
              <a:spcAft>
                <a:spcPts val="400"/>
              </a:spcAft>
              <a:buNone/>
            </a:pPr>
            <a:r>
              <a:rPr lang="en-US" sz="1000" dirty="0">
                <a:solidFill>
                  <a:srgbClr val="0B1F33"/>
                </a:solidFill>
              </a:rPr>
              <a:t>Teeda, A. &amp; Subba Rao, Y.V. 2026, 'A patient-centric blockchain based electronic health records for data privacy and confidentiality', International Conference on Smart Computing and Informatics, LNNS, vol. 1684, pp. 179–192, Springer, &lt;https://doi.org/10.1007/978-3-032-08246-6_15&gt;.</a:t>
            </a:r>
            <a:endParaRPr lang="en-US" sz="1000" dirty="0"/>
          </a:p>
          <a:p>
            <a:pPr indent="0" marL="0">
              <a:spcAft>
                <a:spcPts val="400"/>
              </a:spcAft>
              <a:buNone/>
            </a:pPr>
            <a:r>
              <a:rPr lang="en-US" sz="1000" dirty="0">
                <a:solidFill>
                  <a:srgbClr val="0B1F33"/>
                </a:solidFill>
              </a:rPr>
              <a:t>Theodorakopoulos, L., Theodoropoulou, A. &amp; Halkiopoulos, C. 2024, 'Enhancing decentralized decision-making with big data and blockchain technology: A comprehensive review', Applied Sciences, vol. 14, no. 16, p. 7007, &lt;https://doi.org/10.3390/app14167007&gt;.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Turan, M.N., Hashimzai, I.A. &amp; Qiam, M.Q. 2025, 'A blockchain-based framework for secure and transparent environmental data sharing in smart cities: Enhancing trust, integrity, and interoperability in urban sustainability systems', Nata Palemahan: Journal of Environmental Engineering Innovations, vol. 2, no. 2, pp. 70–79, &lt;https://doi.org/10.38043/natapalemahan.v2i2.6996&gt;.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Webber, E.C., Brick, D., Scibilia, J.P., Dehnel, P., Council on Clinical Information Technology et al. 2019, 'Electronic communication of the health record and information with pediatric patients and their guardians', Pediatrics, vol. 144, no. 1, p. e20191359, &lt;https://doi.org/10.1542/peds.2019-1359&gt;.</a:t>
            </a:r>
            <a:endParaRPr lang="en-US" sz="1000" dirty="0"/>
          </a:p>
          <a:p>
            <a:pPr indent="0" marL="0">
              <a:spcAft>
                <a:spcPts val="400"/>
              </a:spcAft>
              <a:buNone/>
            </a:pPr>
            <a:r>
              <a:rPr lang="en-US" sz="1000" dirty="0">
                <a:solidFill>
                  <a:srgbClr val="0B1F33"/>
                </a:solidFill>
              </a:rPr>
              <a:t>Welzel, C., Ostermann, M., Smith, H.L., Minssen, T., Kirsten, T. &amp; Gilbert, S. 2025, 'Enabling secure and self determined health data sharing and consent management', npj Digital Medicine, vol. 8, no. 1, p. 560, &lt;https://doi.org/10.1038/s41746-025-01945-z&gt;.</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Yin, H., Zhao, Y., Zhang, L., Qiao, B., Chen, W. &amp; Wang, H. 2024, 'Attribute-based searchable encryption with decentralized key management for healthcare data sharing', Journal of Systems Architecture, vol. 148, p. 103081, &lt;https://doi.org/10.1016/j.sysarc.2024.103081&gt;.</a:t>
            </a:r>
            <a:endParaRPr lang="en-US" sz="1000" dirty="0"/>
          </a:p>
          <a:p>
            <a:pPr indent="0" marL="0">
              <a:spcAft>
                <a:spcPts val="400"/>
              </a:spcAft>
              <a:buNone/>
            </a:pPr>
            <a:r>
              <a:rPr lang="en-US" sz="1000" dirty="0">
                <a:solidFill>
                  <a:srgbClr val="0B1F33"/>
                </a:solidFill>
              </a:rPr>
              <a:t>Yin, J., Xiao, Y., Chen, Q., Lim, Y.Z., Liu, X., Pei, Q. et al. 2025, 'DP-DID: A dynamic and proactive decentralized identity system', IEEE Transactions on Information Forensics and Security, vol. 20, pp. 4999–5014, &lt;https://doi.org/10.1109/TIFS.2025.3561662&gt;.</a:t>
            </a:r>
            <a:endParaRPr lang="en-US" sz="1000" dirty="0"/>
          </a:p>
          <a:p>
            <a:pPr indent="0" marL="0">
              <a:spcAft>
                <a:spcPts val="400"/>
              </a:spcAft>
              <a:buNone/>
            </a:pPr>
            <a:r>
              <a:rPr lang="en-US" sz="1000" dirty="0">
                <a:solidFill>
                  <a:srgbClr val="0B1F33"/>
                </a:solidFill>
              </a:rPr>
              <a:t>Zhang, L., Kan, H. &amp; Huang, H. 2022, 'Patient-centered cross-enterprise document sharing and dynamic consent framework using consortium blockchain and ciphertext-policy attribute-based encryption', Proceedings of the 19th ACM International Conference on Computing Frontiers (CF ’22), pp. 58–66, &lt;https://doi.org/10.1145/3528416.3530228&gt;.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2026-10-06T16:42:43Z</dcterms:created>
  <dcterms:modified xsi:type="dcterms:W3CDTF">2026-10-06T16:42:43Z</dcterms:modified>
</cp:coreProperties>
</file>
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4542dc2-29ba-98e4-a900-3a53e4fc39a2}">
          <p14:sldIdLst>
            <p14:sldId id="256"/>
          </p14:sldIdLst>
        </p14:section>
        <p14:section name="Outline" id="{7849a440-c255-9c33-0d4a-cc0e5f2dadc8}">
          <p14:sldIdLst>
            <p14:sldId id="257"/>
          </p14:sldIdLst>
        </p14:section>
        <p14:section name="Introduction" id="{1e2e3a94-f814-e3de-c3a9-e839a446707a}">
          <p14:sldIdLst>
            <p14:sldId id="258"/>
            <p14:sldId id="259"/>
          </p14:sldIdLst>
        </p14:section>
        <p14:section name="Systematic Literature Review" id="{ad9a584b-bcf4-3058-bde5-35743005b360}">
          <p14:sldIdLst>
            <p14:sldId id="260"/>
            <p14:sldId id="261"/>
            <p14:sldId id="262"/>
            <p14:sldId id="263"/>
            <p14:sldId id="264"/>
            <p14:sldId id="265"/>
            <p14:sldId id="266"/>
            <p14:sldId id="267"/>
          </p14:sldIdLst>
        </p14:section>
        <p14:section name="Research Gap" id="{f55a7af6-1b49-d009-eb88-b347bdc745bb}">
          <p14:sldIdLst>
            <p14:sldId id="268"/>
          </p14:sldIdLst>
        </p14:section>
        <p14:section name="Research Questions" id="{aa14d58d-b8a9-c4a3-0c5b-4b361f664f00}">
          <p14:sldIdLst>
            <p14:sldId id="269"/>
            <p14:sldId id="270"/>
          </p14:sldIdLst>
        </p14:section>
        <p14:section name="Research Objectives" id="{8da2e0cb-fcf8-934a-b77b-2d7497761bb4}">
          <p14:sldIdLst>
            <p14:sldId id="271"/>
          </p14:sldIdLst>
        </p14:section>
        <p14:section name="Research Methodology" id="{43389232-69ab-483d-9c84-3667df3057f4}">
          <p14:sldIdLst>
            <p14:sldId id="272"/>
          </p14:sldIdLst>
        </p14:section>
        <p14:section name="Research Architecture" id="{ec53d11a-af65-e1cb-ae80-b4b7d32729c4}">
          <p14:sldIdLst>
            <p14:sldId id="273"/>
          </p14:sldIdLst>
        </p14:section>
        <p14:section name="The Proposed Solutions" id="{3b403252-4cda-10a0-89b3-cd44ce78b58c}">
          <p14:sldIdLst>
            <p14:sldId id="274"/>
            <p14:sldId id="275"/>
            <p14:sldId id="276"/>
            <p14:sldId id="277"/>
            <p14:sldId id="278"/>
            <p14:sldId id="279"/>
            <p14:sldId id="280"/>
            <p14:sldId id="281"/>
            <p14:sldId id="282"/>
            <p14:sldId id="283"/>
            <p14:sldId id="284"/>
            <p14:sldId id="285"/>
            <p14:sldId id="286"/>
          </p14:sldIdLst>
        </p14:section>
        <p14:section name="Implementation and Evaluation" id="{0f7ed121-8ba3-4161-b9f2-ab63aff55e18}">
          <p14:sldIdLst>
            <p14:sldId id="287"/>
            <p14:sldId id="288"/>
            <p14:sldId id="289"/>
            <p14:sldId id="290"/>
            <p14:sldId id="291"/>
            <p14:sldId id="292"/>
            <p14:sldId id="293"/>
          </p14:sldIdLst>
        </p14:section>
        <p14:section name="Significance of the Research" id="{27b4f651-484e-c564-706a-1805f7994c07}">
          <p14:sldIdLst>
            <p14:sldId id="294"/>
            <p14:sldId id="295"/>
            <p14:sldId id="296"/>
            <p14:sldId id="297"/>
          </p14:sldIdLst>
        </p14:section>
        <p14:section name="Research Plan" id="{ac6f47cf-cf31-5202-b141-0106d86759b4}">
          <p14:sldIdLst>
            <p14:sldId id="298"/>
            <p14:sldId id="299"/>
            <p14:sldId id="300"/>
          </p14:sldIdLst>
        </p14:section>
        <p14:section name="References" id="{62bb3118-cfe0-31de-cfd3-4e67d4cc5fe2}">
          <p14:sldIdLst>
            <p14:sldId id="301"/>
            <p14:sldId id="302"/>
            <p14:sldId id="303"/>
          </p14:sldIdLst>
        </p14:section>
        <p14:section name="Thank You" id="{d624c370-1903-f415-c037-f1bb7ee87ddd}">
          <p14:sldIdLst>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a:t>
            </a:r>
            <a:r>
              <a:rPr lang="en-US" dirty="0">
                <a:highlight>
                  <a:srgbClr val="FFFF00"/>
                </a:highlight>
              </a:rPr>
              <a:t>My research title is A Trusted Authorisation Framework for Multi-Party Patient Consent in Healthcare Data Sharing.</a:t>
            </a:r>
            <a:r>
              <a:rPr lang="en-US" dirty="0"/>
              <a:t>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a:t>
            </a:r>
            <a:r>
              <a:rPr lang="en-US" dirty="0">
                <a:highlight>
                  <a:srgbClr val="FFFF00"/>
                </a:highlight>
              </a:rPr>
              <a:t>17 were excluded. One full text could not be retrieved, and the other 1,735 are not assessed yet. That work continues.</a:t>
            </a:r>
            <a:r>
              <a:rPr lang="en-US" dirty="0"/>
              <a:t>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a:t>
            </a:r>
            <a:r>
              <a:rPr lang="en-US" dirty="0">
                <a:highlight>
                  <a:srgbClr val="FFFF00"/>
                </a:highlight>
              </a:rPr>
              <a:t>For each study you see the code, the authors, the year, the title and the category.</a:t>
            </a:r>
            <a:r>
              <a:rPr lang="en-US" dirty="0"/>
              <a:t>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a:t>
            </a:r>
            <a:r>
              <a:rPr lang="en-US" dirty="0">
                <a:highlight>
                  <a:srgbClr val="FFFF00"/>
                </a:highlight>
              </a:rPr>
              <a:t>Each row gives the study number, the authors, the year, the title and the category.</a:t>
            </a:r>
            <a:r>
              <a:rPr lang="en-US" dirty="0"/>
              <a:t>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a:t>
            </a:r>
            <a:r>
              <a:rPr lang="en-US" dirty="0">
                <a:highlight>
                  <a:srgbClr val="FFFF00"/>
                </a:highlight>
              </a:rPr>
              <a:t>Next I will add the suspended state and the lifecycle transition check, and extend them to consent changes, delegation and guardian-set changes.</a:t>
            </a:r>
            <a:r>
              <a:rPr lang="en-US" dirty="0"/>
              <a:t>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a:t>
            </a:r>
            <a:r>
              <a:rPr lang="en-US" dirty="0">
                <a:highlight>
                  <a:srgbClr val="FFFF00"/>
                </a:highlight>
              </a:rPr>
              <a:t>I used live scenarios, measurements and thirteen attack scenarios.</a:t>
            </a:r>
            <a:r>
              <a:rPr lang="en-US" dirty="0"/>
              <a:t>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a:t>
            </a:r>
            <a:r>
              <a:rPr lang="en-US" dirty="0">
                <a:highlight>
                  <a:srgbClr val="FFFF00"/>
                </a:highlight>
              </a:rPr>
              <a:t>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a:t>
            </a:r>
            <a:r>
              <a:rPr lang="en-US" dirty="0">
                <a:highlight>
                  <a:srgbClr val="FFFF00"/>
                </a:highlight>
              </a:rPr>
              <a:t>Every access decision, allowed or denied, is written to the off-chain audit ledger with its decision matrix.</a:t>
            </a:r>
            <a:r>
              <a:rPr lang="en-US" dirty="0"/>
              <a:t>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a:t>
            </a:r>
            <a:r>
              <a:rPr lang="en-US" dirty="0">
                <a:highlight>
                  <a:srgbClr val="FFFF00"/>
                </a:highlight>
              </a:rPr>
              <a:t>If the input is valid, the system builds the consent object C and assigns a consent identifier.</a:t>
            </a:r>
            <a:r>
              <a:rPr lang="en-US" dirty="0"/>
              <a:t>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a:t>
            </a:r>
            <a:r>
              <a:rPr lang="en-US" dirty="0">
                <a:highlight>
                  <a:srgbClr val="FFFF00"/>
                </a:highlight>
              </a:rPr>
              <a:t>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
</a:t>
            </a:r>
            <a:r>
              <a:rPr lang="en-US" dirty="0">
                <a:highlight>
                  <a:srgbClr val="FFFF00"/>
                </a:highlight>
              </a:rPr>
              <a:t>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t>
            </a:r>
            <a:r>
              <a:rPr lang="en-US" dirty="0">
                <a:highlight>
                  <a:srgbClr val="FFFF00"/>
                </a:highlight>
              </a:rPr>
              <a:t>An approval from someone outside G is not counted, and a duplicate approval is not counted either. A signature replayed from another consent fails the identity check, so the answer is DENY.</a:t>
            </a:r>
            <a:r>
              <a:rPr lang="en-US" dirty="0"/>
              <a:t>
The rule is N-of-N. This means every listed guardian must give a valid signature. In the demo there are two guardians, so it is 2-of-2. One approval is not enough.
</a:t>
            </a:r>
            <a:r>
              <a:rPr lang="en-US" dirty="0">
                <a:highlight>
                  <a:srgbClr val="FFFF00"/>
                </a:highlight>
              </a:rPr>
              <a:t>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
</a:t>
            </a:r>
            <a:r>
              <a:rPr lang="en-US" dirty="0">
                <a:highlight>
                  <a:srgbClr val="FFFF00"/>
                </a:highlight>
              </a:rPr>
              <a:t>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a:t>
            </a:r>
            <a:r>
              <a:rPr lang="en-US" dirty="0">
                <a:highlight>
                  <a:srgbClr val="FFFF00"/>
                </a:highlight>
              </a:rPr>
              <a:t>First, I have 46 automated tests. They include thirteen attack scenarios, A1 to A13.</a:t>
            </a:r>
            <a:r>
              <a:rPr lang="en-US" dirty="0"/>
              <a:t>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a:t>
            </a:r>
            <a:r>
              <a:rPr lang="en-US" dirty="0">
                <a:highlight>
                  <a:srgbClr val="FFFF00"/>
                </a:highlight>
              </a:rPr>
              <a:t>Last, the off-chain audit ledger keeps evidence of every access decision, allowed or denied, and no medical content goes on-chain.</a:t>
            </a:r>
            <a:r>
              <a:rPr lang="en-US" dirty="0"/>
              <a:t>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a:t>
            </a:r>
            <a:r>
              <a:rPr lang="en-US" dirty="0">
                <a:highlight>
                  <a:srgbClr val="FFFF00"/>
                </a:highlight>
              </a:rPr>
              <a:t>First,</a:t>
            </a:r>
            <a:r>
              <a:rPr lang="en-US" dirty="0"/>
              <a: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a:t>
            </a:r>
            <a:r>
              <a:rPr lang="en-US" dirty="0">
                <a:highlight>
                  <a:srgbClr val="FFFF00"/>
                </a:highlight>
              </a:rPr>
              <a:t>Second,</a:t>
            </a:r>
            <a:r>
              <a:rPr lang="en-US" dirty="0"/>
              <a:t> on the right is the gas used by the five anchored transactions. Gas is the unit of computing work on Ethereum. The first two bars are </a:t>
            </a:r>
            <a:r>
              <a:rPr lang="en-US" dirty="0">
                <a:highlight>
                  <a:srgbClr val="FFFF00"/>
                </a:highlight>
              </a:rPr>
              <a:t>for</a:t>
            </a:r>
            <a:r>
              <a:rPr lang="en-US" dirty="0"/>
              <a:t> token 8</a:t>
            </a:r>
            <a:r>
              <a:rPr lang="en-US" dirty="0">
                <a:highlight>
                  <a:srgbClr val="FFFF00"/>
                </a:highlight>
              </a:rPr>
              <a:t>,</a:t>
            </a:r>
            <a:r>
              <a:rPr lang="en-US" dirty="0"/>
              <a:t> from the earlier deployment. The other three are on the current contract, ConsentSBTv3.
</a:t>
            </a:r>
            <a:r>
              <a:rPr lang="en-US" dirty="0">
                <a:highlight>
                  <a:srgbClr val="FFFF00"/>
                </a:highlight>
              </a:rPr>
              <a:t>Third, compare the bars.</a:t>
            </a:r>
            <a:r>
              <a:rPr lang="en-US" dirty="0"/>
              <a:t>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a:t>
            </a:r>
            <a:r>
              <a:rPr lang="en-US" dirty="0">
                <a:highlight>
                  <a:srgbClr val="FFFF00"/>
                </a:highlight>
              </a:rPr>
              <a:t>In scenario 5, the consent was revoked, so the request was refused.</a:t>
            </a:r>
            <a:r>
              <a:rPr lang="en-US" dirty="0"/>
              <a:t>
</a:t>
            </a:r>
            <a:r>
              <a:rPr lang="en-US" dirty="0">
                <a:highlight>
                  <a:srgbClr val="FFFF00"/>
                </a:highlight>
              </a:rPr>
              <a:t>The third row is the thirteen attack scenarios, A1 to A13. Twelve of them are refused.</a:t>
            </a:r>
            <a:r>
              <a:rPr lang="en-US" dirty="0"/>
              <a:t> A11 is different. A rewritten audit event changes its digest, but nothing in the prototype compares the digest yet.
</a:t>
            </a:r>
            <a:r>
              <a:rPr lang="en-US" dirty="0">
                <a:highlight>
                  <a:srgbClr val="FFFF00"/>
                </a:highlight>
              </a:rPr>
              <a:t>The next slide shows these thirteen attacks in detail.</a:t>
            </a:r>
            <a:r>
              <a:rPr lang="en-US" dirty="0"/>
              <a:t>
The fourth row is the automated tests. </a:t>
            </a:r>
            <a:r>
              <a:rPr lang="en-US" dirty="0">
                <a:highlight>
                  <a:srgbClr val="FFFF00"/>
                </a:highlight>
              </a:rPr>
              <a:t>There are 32 functional and regression tests and 14 adversarial tests. All 46 pass.</a:t>
            </a:r>
            <a:r>
              <a:rPr lang="en-US" dirty="0"/>
              <a:t>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a:t>
            </a:r>
            <a:r>
              <a:rPr lang="en-US" dirty="0">
                <a:highlight>
                  <a:srgbClr val="FFFF00"/>
                </a:highlight>
              </a:rPr>
              <a:t>The table lists thirteen attack scenarios, A1 to A13.</a:t>
            </a:r>
            <a:r>
              <a:rPr lang="en-US" dirty="0"/>
              <a:t>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t>
            </a:r>
            <a:r>
              <a:rPr lang="en-US" dirty="0">
                <a:highlight>
                  <a:srgbClr val="FFFF00"/>
                </a:highlight>
              </a:rPr>
              <a:t>After the hardening, eleven of the first twelve are refused, and all 46 automated tests pass. A13, an invalid or forged credential, came with the credential check on 11 October 2026 and is refused too; before that change, a requester without a valid credential was accepted.</a:t>
            </a:r>
            <a:r>
              <a:rPr lang="en-US" dirty="0"/>
              <a:t>
A11 is different. A rewritten audit event changes its digest, but no part of the prototype compares the digest yet. </a:t>
            </a:r>
            <a:r>
              <a:rPr lang="en-US" dirty="0">
                <a:highlight>
                  <a:srgbClr val="FFFF00"/>
                </a:highlight>
              </a:rPr>
              <a:t>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a:t>
            </a:r>
            <a:r>
              <a:rPr lang="en-US" dirty="0">
                <a:highlight>
                  <a:srgbClr val="FFFF00"/>
                </a:highlight>
              </a:rPr>
              <a:t>The mint runs in the background, so the guardians and the doctor do not wait for it; a revoke makes the patient wait for the block.</a:t>
            </a:r>
            <a:r>
              <a:rPr lang="en-US" dirty="0"/>
              <a:t>
Processing time is the time of each part of a decision.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a:t>
            </a:r>
            <a:r>
              <a:rPr lang="en-US" dirty="0"/>
              <a:t> The Groth16 proof is the slow part, about 1.4 seconds to generate and 0.47 seconds to verify.
The last row is the on-chain read. Reading the contract on Sepolia takes a little over half a second.
</a:t>
            </a:r>
            <a:r>
              <a:rPr lang="en-US" dirty="0">
                <a:highlight>
                  <a:srgbClr val="FFFF00"/>
                </a:highlight>
              </a:rPr>
              <a:t>I measured the timings on 1 October 2026, in one container, and the decision rule and the credential check again on 11 October 2026. The gas, the fees and the latency come from the five Sepolia transactions of September 2026. The results are indicative only.</a:t>
            </a:r>
            <a:r>
              <a:rPr lang="en-US" dirty="0"/>
              <a:t>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a:t>
            </a:r>
            <a:r>
              <a:rPr lang="en-US" dirty="0">
                <a:highlight>
                  <a:srgbClr val="FFFF00"/>
                </a:highlight>
              </a:rPr>
              <a:t>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a:t>
            </a:r>
            <a:r>
              <a:rPr lang="en-US" dirty="0"/>
              <a:t>
In the table, the median is the middle value. The column n is how many times I measured each step. The symbol µs means microseconds, and ms means milliseconds.
</a:t>
            </a:r>
            <a:r>
              <a:rPr lang="en-US" dirty="0">
                <a:highlight>
                  <a:srgbClr val="FFFF00"/>
                </a:highlight>
              </a:rPr>
              <a:t>The decision rule with its five checks takes about 6 microseconds, so the checks themselves cost almost nothing. Checking one credential takes about 6 milliseconds.</a:t>
            </a:r>
            <a:r>
              <a:rPr lang="en-US" dirty="0"/>
              <a:t>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a:t>
            </a:r>
            <a:r>
              <a:rPr lang="en-US" dirty="0">
                <a:highlight>
                  <a:srgbClr val="FFFF00"/>
                </a:highlight>
              </a:rPr>
              <a:t>But the mint runs in the background, so the guardians and the doctor do not wait for it; a revoke makes the patient wait for the block.</a:t>
            </a:r>
            <a:r>
              <a:rPr lang="en-US" dirty="0"/>
              <a: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a:t>
            </a:r>
            <a:r>
              <a:rPr lang="en-US" dirty="0">
                <a:highlight>
                  <a:srgbClr val="FFFF00"/>
                </a:highlight>
              </a:rPr>
              <a:t>every access decision, allowed or denied, is logged off-chain</a:t>
            </a:r>
            <a:r>
              <a:rPr lang="en-US" dirty="0"/>
              <a:t>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a:t>
            </a:r>
            <a:r>
              <a:rPr lang="en-US" dirty="0">
                <a:highlight>
                  <a:srgbClr val="FFFF00"/>
                </a:highlight>
              </a:rPr>
              <a:t>On-chain record: the ConsentSBTv3 token stores pseudonymous patient and requester addresses, a hash of the purpose, the validity window and a revocation flag.</a:t>
            </a:r>
            <a:r>
              <a:rPr lang="en-US" dirty="0"/>
              <a:t> Pseudonymous means the address does not show a real name.
Access to data: records are released only when the decision is ALLOW, and only inside the authorised scope.
Audit: </a:t>
            </a:r>
            <a:r>
              <a:rPr lang="en-US" dirty="0">
                <a:highlight>
                  <a:srgbClr val="FFFF00"/>
                </a:highlight>
              </a:rPr>
              <a:t>every access decision, allowed or denied, is saved in the off-chain audit ledger</a:t>
            </a:r>
            <a:r>
              <a:rPr lang="en-US" dirty="0"/>
              <a:t>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t>
            </a:r>
            <a:r>
              <a:rPr lang="en-US" dirty="0">
                <a:highlight>
                  <a:srgbClr val="FFFF00"/>
                </a:highlight>
              </a:rPr>
              <a:t>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lists my research publications. Two papers were published in 2025 at the IEEE International Conference on E-Business Engineering, ICEBE. Three more papers have been accepted in 2026: one at ICEBE 2026 and two at BWCCA 2026. Paper 4, on trusted multi-party consent governance, comes from this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a:t>
            </a:r>
            <a:r>
              <a:rPr lang="en-US" dirty="0">
                <a:highlight>
                  <a:srgbClr val="FFFF00"/>
                </a:highlight>
              </a:rPr>
              <a:t>Chapter 6, the solution for RQ1 to RQ4 and the HALAH prototype, ran from July to October 2026 and is done.</a:t>
            </a:r>
            <a:r>
              <a:rPr lang="en-US" dirty="0"/>
              <a:t>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a:t>
            </a:r>
            <a:r>
              <a:rPr lang="en-US" dirty="0">
                <a:highlight>
                  <a:srgbClr val="FFFF00"/>
                </a:highlight>
              </a:rPr>
              <a:t>Chapter 6, the proposed solution for RQ1 to RQ4 and the HALAH prototype, ran from July to October 2026 and is done.</a:t>
            </a:r>
            <a:r>
              <a:rPr lang="en-US" dirty="0"/>
              <a:t>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a:t>
            </a:r>
            <a:r>
              <a:rPr lang="en-US" dirty="0">
                <a:highlight>
                  <a:srgbClr val="FFFF00"/>
                </a:highlight>
              </a:rPr>
              <a:t>The token stores pseudonymous addresses, a hash of the purpose, the validity window and a revocation flag, and no medical content.</a:t>
            </a:r>
            <a:r>
              <a:rPr lang="en-US" dirty="0"/>
              <a:t>
Possible question: What is new in this work? Multi-party approval is a standing condition of every access decision, and the patient defines who must approve. </a:t>
            </a:r>
            <a:r>
              <a:rPr lang="en-US" dirty="0">
                <a:highlight>
                  <a:srgbClr val="FFFF00"/>
                </a:highlight>
              </a:rPr>
              <a:t>I tested the prototype against thirteen attack scenarios. Twelve of them are refused.</a:t>
            </a:r>
            <a:r>
              <a:rPr lang="en-US" dirty="0"/>
              <a:t>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yellow/ALG1.png">    </p:cNvPr>
          <p:cNvPicPr>
            <a:picLocks noChangeAspect="1"/>
          </p:cNvPicPr>
          <p:nvPr/>
        </p:nvPicPr>
        <p:blipFill>
          <a:blip r:embed="rId1"/>
          <a:stretch>
            <a:fillRect/>
          </a:stretch>
        </p:blipFill>
        <p:spPr>
          <a:xfrm>
            <a:off x="6164780" y="1855182"/>
            <a:ext cx="5455520"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yellow/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participant's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VI(u) = VerifyDID(u) ∧ VerifyVC(u) ∧ Authority(u, C).</a:t>
            </a:r>
            <a:endParaRPr lang="en-US" sz="1500" dirty="0"/>
          </a:p>
          <a:p>
            <a:pPr marL="342900" indent="-342900">
              <a:spcAft>
                <a:spcPts val="1000"/>
              </a:spcAft>
              <a:buSzPct val="100000"/>
              <a:buChar char="•"/>
            </a:pPr>
            <a:r>
              <a:rPr lang="en-US" sz="1500" dirty="0">
                <a:solidFill>
                  <a:srgbClr val="FFFFFF"/>
                </a:solidFill>
              </a:rPr>
              <a:t>​</a:t>
            </a:r>
            <a:r>
              <a:rPr lang="en-US" sz="15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0B1F33"/>
                </a:solidFill>
                <a:highlight>
                  <a:srgbClr val="FFFF00"/>
                </a:highlight>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yellow/ALG2.png">    </p:cNvPr>
          <p:cNvPicPr>
            <a:picLocks noChangeAspect="1"/>
          </p:cNvPicPr>
          <p:nvPr/>
        </p:nvPicPr>
        <p:blipFill>
          <a:blip r:embed="rId1"/>
          <a:stretch>
            <a:fillRect/>
          </a:stretch>
        </p:blipFill>
        <p:spPr>
          <a:xfrm>
            <a:off x="6405761" y="1073504"/>
            <a:ext cx="4973558" cy="530535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verified by signature recovery.</a:t>
            </a:r>
            <a:endParaRPr lang="en-US" sz="1450" dirty="0"/>
          </a:p>
          <a:p>
            <a:pPr marL="342900" indent="-342900">
              <a:spcAft>
                <a:spcPts val="1000"/>
              </a:spcAft>
              <a:buSzPct val="100000"/>
              <a:buChar char="•"/>
            </a:pPr>
            <a:r>
              <a:rPr lang="en-US" sz="1450" dirty="0">
                <a:solidFill>
                  <a:srgbClr val="FFFFFF"/>
                </a:solidFill>
              </a:rPr>
              <a:t>​</a:t>
            </a:r>
            <a:r>
              <a:rPr lang="en-US" sz="1450" dirty="0">
                <a:solidFill>
                  <a:srgbClr val="0B1F33"/>
                </a:solidFill>
                <a:highlight>
                  <a:srgbClr val="FFFF00"/>
                </a:highlight>
              </a:rPr>
              <a:t>Approvals from outside G and duplicate approvals are not counted; a replayed signature fails the identity check (VI).</a:t>
            </a:r>
            <a:endParaRPr lang="en-US" sz="1450" dirty="0"/>
          </a:p>
          <a:p>
            <a:pPr marL="342900" indent="-342900">
              <a:spcAft>
                <a:spcPts val="1000"/>
              </a:spcAft>
              <a:buSzPct val="100000"/>
              <a:buChar char="•"/>
            </a:pPr>
            <a:r>
              <a:rPr lang="en-US" sz="1450" dirty="0">
                <a:solidFill>
                  <a:srgbClr val="FFFFFF"/>
                </a:solidFill>
              </a:rPr>
              <a:t>N-of-N rule: a valid signature from every listed guardian (2-of-2 in the demo).</a:t>
            </a:r>
            <a:endParaRPr lang="en-US" sz="1450" dirty="0"/>
          </a:p>
          <a:p>
            <a:pPr marL="342900" indent="-342900">
              <a:spcAft>
                <a:spcPts val="1000"/>
              </a:spcAft>
              <a:buSzPct val="100000"/>
              <a:buChar char="•"/>
            </a:pPr>
            <a:r>
              <a:rPr lang="en-US" sz="1450" dirty="0">
                <a:solidFill>
                  <a:srgbClr val="FFFFFF"/>
                </a:solidFill>
              </a:rPr>
              <a:t>When the threshold is met, a local token is recorded and the mint is anchored on Sepolia in the background.</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yellow/ALG3.png">    </p:cNvPr>
          <p:cNvPicPr>
            <a:picLocks noChangeAspect="1"/>
          </p:cNvPicPr>
          <p:nvPr/>
        </p:nvPicPr>
        <p:blipFill>
          <a:blip r:embed="rId1"/>
          <a:stretch>
            <a:fillRect/>
          </a:stretch>
        </p:blipFill>
        <p:spPr>
          <a:xfrm>
            <a:off x="6741964" y="1080769"/>
            <a:ext cx="4301152" cy="529082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yellow/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 scope SR must be a non-empty subset of the authorised scope SC.</a:t>
            </a:r>
            <a:endParaRPr lang="en-US" sz="1550" dirty="0"/>
          </a:p>
          <a:p>
            <a:pPr marL="342900" indent="-342900">
              <a:spcAft>
                <a:spcPts val="1000"/>
              </a:spcAft>
              <a:buSzPct val="100000"/>
              <a:buChar char="•"/>
            </a:pPr>
            <a:r>
              <a:rPr lang="en-US" sz="1550" dirty="0">
                <a:solidFill>
                  <a:srgbClr val="FFFFFF"/>
                </a:solidFill>
              </a:rPr>
              <a:t>The purpose must be a supported healthcare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0B1F33"/>
                </a:solidFill>
                <a:highlight>
                  <a:srgbClr val="FFFF00"/>
                </a:highlight>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 otherwise DENY.</a:t>
            </a:r>
            <a:endParaRPr lang="en-US" sz="1550" dirty="0"/>
          </a:p>
          <a:p>
            <a:pPr marL="342900" indent="-342900">
              <a:spcAft>
                <a:spcPts val="1000"/>
              </a:spcAft>
              <a:buSzPct val="100000"/>
              <a:buChar char="•"/>
            </a:pPr>
            <a:r>
              <a:rPr lang="en-US" sz="1550" dirty="0">
                <a:solidFill>
                  <a:srgbClr val="FFFFFF"/>
                </a:solidFill>
              </a:rPr>
              <a:t>Example: requesting Procedure when only Observation and Medication are allowed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yellow/ALG4.png">    </p:cNvPr>
          <p:cNvPicPr>
            <a:picLocks noChangeAspect="1"/>
          </p:cNvPicPr>
          <p:nvPr/>
        </p:nvPicPr>
        <p:blipFill>
          <a:blip r:embed="rId1"/>
          <a:stretch>
            <a:fillRect/>
          </a:stretch>
        </p:blipFill>
        <p:spPr>
          <a:xfrm>
            <a:off x="6761547" y="1080264"/>
            <a:ext cx="4261985" cy="529183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yellow/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The validity window (notBefore, expiry) is stored on-chain and checked at every request through VT.</a:t>
            </a:r>
            <a:endParaRPr lang="en-US" sz="1350" dirty="0"/>
          </a:p>
          <a:p>
            <a:pPr marL="342900" indent="-342900">
              <a:spcAft>
                <a:spcPts val="1000"/>
              </a:spcAft>
              <a:buSzPct val="100000"/>
              <a:buChar char="•"/>
            </a:pPr>
            <a:r>
              <a:rPr lang="en-US" sz="1350" dirty="0">
                <a:solidFill>
                  <a:srgbClr val="FFFFFF"/>
                </a:solidFill>
              </a:rPr>
              <a:t>Revocation is end to end, including an on-chain revoke transaction.</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Working now: an</a:t>
            </a:r>
            <a:r>
              <a:rPr lang="en-US" sz="1350" dirty="0">
                <a:solidFill>
                  <a:srgbClr val="FFFFFF"/>
                </a:solidFill>
              </a:rPr>
              <a:t> explicit lifecycle state machine: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0B1F33"/>
                </a:solidFill>
                <a:highlight>
                  <a:srgbClr val="FFFF00"/>
                </a:highlight>
              </a:rPr>
              <a:t>the SUSPENDED state,</a:t>
            </a:r>
            <a:r>
              <a:rPr lang="en-US" sz="1350" dirty="0">
                <a:solidFill>
                  <a:srgbClr val="FFFFFF"/>
                </a:solidFill>
              </a:rPr>
              <a:t>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yellow/ALG5.png">    </p:cNvPr>
          <p:cNvPicPr>
            <a:picLocks noChangeAspect="1"/>
          </p:cNvPicPr>
          <p:nvPr/>
        </p:nvPicPr>
        <p:blipFill>
          <a:blip r:embed="rId1"/>
          <a:stretch>
            <a:fillRect/>
          </a:stretch>
        </p:blipFill>
        <p:spPr>
          <a:xfrm>
            <a:off x="6357807" y="1072422"/>
            <a:ext cx="5069467" cy="5307517"/>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yellow/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6165068" y="1829116"/>
            <a:ext cx="5454943"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RO6: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yellow/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yellow/F27x.png">    </p:cNvPr>
          <p:cNvPicPr>
            <a:picLocks noChangeAspect="1"/>
          </p:cNvPicPr>
          <p:nvPr/>
        </p:nvPicPr>
        <p:blipFill>
          <a:blip r:embed="rId1"/>
          <a:stretch>
            <a:fillRect/>
          </a:stretch>
        </p:blipFill>
        <p:spPr>
          <a:xfrm>
            <a:off x="3008376" y="1354535"/>
            <a:ext cx="6181344" cy="4148929"/>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59592" y="1207008"/>
            <a:ext cx="6344655" cy="5193792"/>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PUBLICATIONS</a:t>
            </a:r>
            <a:endParaRPr lang="en-US" sz="3000" dirty="0"/>
          </a:p>
        </p:txBody>
      </p:sp>
      <p:graphicFrame>
        <p:nvGraphicFramePr>
          <p:cNvPr id="44"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5394960"/>
                <a:gridCol w="3108960"/>
                <a:gridCol w="731520"/>
                <a:gridCol w="1371600"/>
              </a:tblGrid>
              <a:tr h="777240">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a:t>
                      </a:r>
                      <a:r>
                        <a:rPr lang="en-US" sz="1400" b="1" dirty="0">
                          <a:solidFill>
                            <a:srgbClr val="0B1F33"/>
                          </a:solidFill>
                          <a:highlight>
                            <a:srgbClr val="FFFF00"/>
                          </a:highlight>
                        </a:rPr>
                        <a:t>Title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a:t>
                      </a:r>
                      <a:r>
                        <a:rPr lang="en-US" sz="1400" b="1" dirty="0">
                          <a:solidFill>
                            <a:srgbClr val="0B1F33"/>
                          </a:solidFill>
                          <a:highlight>
                            <a:srgbClr val="FFFF00"/>
                          </a:highlight>
                        </a:rPr>
                        <a:t>Venue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Year</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Status</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1</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Blockchain-Based Framework for Evaluating User Identity Trustworthiness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a:t>
                      </a:r>
                      <a:r>
                        <a:rPr lang="en-US" sz="1350" b="1" dirty="0">
                          <a:solidFill>
                            <a:srgbClr val="0B1F33"/>
                          </a:solidFill>
                          <a:highlight>
                            <a:srgbClr val="FFFF00"/>
                          </a:highlight>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2</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Blockchain-Based Reputation Borrowing Model to Address the Cold Start Problem for New Users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a:t>
                      </a:r>
                      <a:r>
                        <a:rPr lang="en-US" sz="1350" b="1" dirty="0">
                          <a:solidFill>
                            <a:srgbClr val="0B1F33"/>
                          </a:solidFill>
                          <a:highlight>
                            <a:srgbClr val="FFFF00"/>
                          </a:highlight>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3</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Smart Contract-Governed Lifecycle Protocol for Reputation Borrowing in Blockchain-Based Real Estate Platforms</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ICEBE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4</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Trusted Multi-Party Consent Governance Framework for Decentralized Multi-Stakeholder Data Sharing</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Blockchain-Based Reputation Provenance Tracing for Newcomer Bootstrapping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a:t>
            </a:r>
            <a:r>
              <a:rPr lang="en-US" sz="1000" i="1" dirty="0">
                <a:solidFill>
                  <a:srgbClr val="0B1F33"/>
                </a:solidFill>
              </a:rPr>
              <a:t>IEEE Access</a:t>
            </a:r>
            <a:r>
              <a:rPr lang="en-US" sz="1000" dirty="0">
                <a:solidFill>
                  <a:srgbClr val="0B1F33"/>
                </a:solidFill>
              </a:rPr>
              <a:t>,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a:t>
            </a:r>
            <a:r>
              <a:rPr lang="en-US" sz="1000" i="1" dirty="0">
                <a:solidFill>
                  <a:srgbClr val="0B1F33"/>
                </a:solidFill>
              </a:rPr>
              <a:t>Proceedings of the 20th International Conference on Security and Cryptography (SECRYPT 2023)</a:t>
            </a:r>
            <a:r>
              <a:rPr lang="en-US" sz="1000" dirty="0">
                <a:solidFill>
                  <a:srgbClr val="0B1F33"/>
                </a:solidFill>
              </a:rPr>
              <a:t>,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a:t>
            </a:r>
            <a:r>
              <a:rPr lang="en-US" sz="1000" i="1" dirty="0">
                <a:solidFill>
                  <a:srgbClr val="0B1F33"/>
                </a:solidFill>
              </a:rPr>
              <a:t>JMIR Medical Informatics</a:t>
            </a:r>
            <a:r>
              <a:rPr lang="en-US" sz="1000" dirty="0">
                <a:solidFill>
                  <a:srgbClr val="0B1F33"/>
                </a:solidFill>
              </a:rPr>
              <a:t>, vol. 9, no. 11, p. e27816, &lt;https://doi.org/10.2196/27816&gt;.</a:t>
            </a:r>
            <a:endParaRPr lang="en-US" sz="1000" dirty="0"/>
          </a:p>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a:t>
            </a:r>
            <a:r>
              <a:rPr lang="en-US" sz="1000" i="1" dirty="0">
                <a:solidFill>
                  <a:srgbClr val="0B1F33"/>
                </a:solidFill>
              </a:rPr>
              <a:t>Scientific Reports</a:t>
            </a:r>
            <a:r>
              <a:rPr lang="en-US" sz="1000" dirty="0">
                <a:solidFill>
                  <a:srgbClr val="0B1F33"/>
                </a:solidFill>
              </a:rPr>
              <a:t>,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a:t>
            </a:r>
            <a:r>
              <a:rPr lang="en-US" sz="1000" i="1" dirty="0">
                <a:solidFill>
                  <a:srgbClr val="0B1F33"/>
                </a:solidFill>
              </a:rPr>
              <a:t>2026 IEEE International Conference on Blockchain and Cryptocurrency (ICBC)</a:t>
            </a:r>
            <a:r>
              <a:rPr lang="en-US" sz="1000" dirty="0">
                <a:solidFill>
                  <a:srgbClr val="0B1F33"/>
                </a:solidFill>
              </a:rPr>
              <a:t>,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a:t>
            </a:r>
            <a:r>
              <a:rPr lang="en-US" sz="1000" i="1" dirty="0">
                <a:solidFill>
                  <a:srgbClr val="0B1F33"/>
                </a:solidFill>
              </a:rPr>
              <a:t>International Journal of Medical Informatics</a:t>
            </a:r>
            <a:r>
              <a:rPr lang="en-US" sz="1000" dirty="0">
                <a:solidFill>
                  <a:srgbClr val="0B1F33"/>
                </a:solidFill>
              </a:rPr>
              <a:t>,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a:t>
            </a:r>
            <a:r>
              <a:rPr lang="en-US" sz="1000" i="1" dirty="0">
                <a:solidFill>
                  <a:srgbClr val="0B1F33"/>
                </a:solidFill>
              </a:rPr>
              <a:t>2026 6th International Conference on Expert Clouds and Applications (ICOECA)</a:t>
            </a:r>
            <a:r>
              <a:rPr lang="en-US" sz="1000" dirty="0">
                <a:solidFill>
                  <a:srgbClr val="0B1F33"/>
                </a:solidFill>
              </a:rPr>
              <a:t>, pp. 293–300, &lt;https://doi.org/10.1109/ICOECA68095.2026.11485301&gt;.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a:t>
            </a:r>
            <a:r>
              <a:rPr lang="en-US" sz="1000" i="1" dirty="0">
                <a:solidFill>
                  <a:srgbClr val="0B1F33"/>
                </a:solidFill>
              </a:rPr>
              <a:t>IEEE Access</a:t>
            </a:r>
            <a:r>
              <a:rPr lang="en-US" sz="1000" dirty="0">
                <a:solidFill>
                  <a:srgbClr val="0B1F33"/>
                </a:solidFill>
              </a:rPr>
              <a:t>,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a:t>
            </a:r>
            <a:r>
              <a:rPr lang="en-US" sz="1000" i="1" dirty="0">
                <a:solidFill>
                  <a:srgbClr val="0B1F33"/>
                </a:solidFill>
              </a:rPr>
              <a:t>IEEE Internet of Things Journal</a:t>
            </a:r>
            <a:r>
              <a:rPr lang="en-US" sz="1000" dirty="0">
                <a:solidFill>
                  <a:srgbClr val="0B1F33"/>
                </a:solidFill>
              </a:rPr>
              <a:t>,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a:t>
            </a:r>
            <a:r>
              <a:rPr lang="en-US" sz="1000" i="1" dirty="0">
                <a:solidFill>
                  <a:srgbClr val="0B1F33"/>
                </a:solidFill>
              </a:rPr>
              <a:t>IEEE Access</a:t>
            </a:r>
            <a:r>
              <a:rPr lang="en-US" sz="1000" dirty="0">
                <a:solidFill>
                  <a:srgbClr val="0B1F33"/>
                </a:solidFill>
              </a:rPr>
              <a:t>,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a:t>
            </a:r>
            <a:r>
              <a:rPr lang="en-US" sz="1000" i="1" dirty="0">
                <a:solidFill>
                  <a:srgbClr val="0B1F33"/>
                </a:solidFill>
              </a:rPr>
              <a:t>IEEE Transactions on Network and Service Management</a:t>
            </a:r>
            <a:r>
              <a:rPr lang="en-US" sz="1000" dirty="0">
                <a:solidFill>
                  <a:srgbClr val="0B1F33"/>
                </a:solidFill>
              </a:rPr>
              <a: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a:t>
            </a:r>
            <a:r>
              <a:rPr lang="en-US" sz="1000" i="1" dirty="0">
                <a:solidFill>
                  <a:srgbClr val="0B1F33"/>
                </a:solidFill>
              </a:rPr>
              <a:t>IEEE Internet of Things Journal</a:t>
            </a:r>
            <a:r>
              <a:rPr lang="en-US" sz="1000" dirty="0">
                <a:solidFill>
                  <a:srgbClr val="0B1F33"/>
                </a:solidFill>
              </a:rPr>
              <a:t>,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a:t>
            </a:r>
            <a:r>
              <a:rPr lang="en-US" sz="1000" i="1" dirty="0">
                <a:solidFill>
                  <a:srgbClr val="0B1F33"/>
                </a:solidFill>
              </a:rPr>
              <a:t>Electronics</a:t>
            </a:r>
            <a:r>
              <a:rPr lang="en-US" sz="1000" dirty="0">
                <a:solidFill>
                  <a:srgbClr val="0B1F33"/>
                </a:solidFill>
              </a:rPr>
              <a:t>,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a:t>
            </a:r>
            <a:r>
              <a:rPr lang="en-US" sz="1000" i="1" dirty="0">
                <a:solidFill>
                  <a:srgbClr val="0B1F33"/>
                </a:solidFill>
              </a:rPr>
              <a:t>Blockchain in Healthcare Today</a:t>
            </a:r>
            <a:r>
              <a:rPr lang="en-US" sz="1000" dirty="0">
                <a:solidFill>
                  <a:srgbClr val="0B1F33"/>
                </a:solidFill>
              </a:rPr>
              <a:t>,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a:t>
            </a:r>
            <a:r>
              <a:rPr lang="en-US" sz="1000" i="1" dirty="0">
                <a:solidFill>
                  <a:srgbClr val="0B1F33"/>
                </a:solidFill>
              </a:rPr>
              <a:t>IEEE Access</a:t>
            </a:r>
            <a:r>
              <a:rPr lang="en-US" sz="1000" dirty="0">
                <a:solidFill>
                  <a:srgbClr val="0B1F33"/>
                </a:solidFill>
              </a:rPr>
              <a:t>,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a:t>
            </a:r>
            <a:r>
              <a:rPr lang="en-US" sz="1000" i="1" dirty="0">
                <a:solidFill>
                  <a:srgbClr val="0B1F33"/>
                </a:solidFill>
              </a:rPr>
              <a:t>Journal of Cloud Computing</a:t>
            </a:r>
            <a:r>
              <a:rPr lang="en-US" sz="1000" dirty="0">
                <a:solidFill>
                  <a:srgbClr val="0B1F33"/>
                </a:solidFill>
              </a:rPr>
              <a:t>,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a:t>
            </a:r>
            <a:r>
              <a:rPr lang="en-US" sz="1000" i="1" dirty="0">
                <a:solidFill>
                  <a:srgbClr val="0B1F33"/>
                </a:solidFill>
              </a:rPr>
              <a:t>IEEE Access</a:t>
            </a:r>
            <a:r>
              <a:rPr lang="en-US" sz="1000" dirty="0">
                <a:solidFill>
                  <a:srgbClr val="0B1F33"/>
                </a:solidFill>
              </a:rPr>
              <a:t>, vol. 11, pp. 12727–12741, &lt;https://doi.org/10.1109/ACCESS.2023.3242605&gt;.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a:t>
            </a:r>
            <a:r>
              <a:rPr lang="en-US" sz="1000" i="1" dirty="0">
                <a:solidFill>
                  <a:srgbClr val="0B1F33"/>
                </a:solidFill>
              </a:rPr>
              <a:t>JAMIA Open</a:t>
            </a:r>
            <a:r>
              <a:rPr lang="en-US" sz="1000" dirty="0">
                <a:solidFill>
                  <a:srgbClr val="0B1F33"/>
                </a:solidFill>
              </a:rPr>
              <a:t>,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a:t>
            </a:r>
            <a:r>
              <a:rPr lang="en-US" sz="1000" i="1" dirty="0">
                <a:solidFill>
                  <a:srgbClr val="0B1F33"/>
                </a:solidFill>
              </a:rPr>
              <a:t>Wireless Networks</a:t>
            </a:r>
            <a:r>
              <a:rPr lang="en-US" sz="1000" dirty="0">
                <a:solidFill>
                  <a:srgbClr val="0B1F33"/>
                </a:solidFill>
              </a:rPr>
              <a:t>,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a:t>
            </a:r>
            <a:r>
              <a:rPr lang="en-US" sz="1000" i="1" dirty="0">
                <a:solidFill>
                  <a:srgbClr val="0B1F33"/>
                </a:solidFill>
              </a:rPr>
              <a:t>Healthcare Informatics Research</a:t>
            </a:r>
            <a:r>
              <a:rPr lang="en-US" sz="1000" dirty="0">
                <a:solidFill>
                  <a:srgbClr val="0B1F33"/>
                </a:solidFill>
              </a:rPr>
              <a:t>,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a:t>
            </a:r>
            <a:r>
              <a:rPr lang="en-US" sz="1000" i="1" dirty="0">
                <a:solidFill>
                  <a:srgbClr val="0B1F33"/>
                </a:solidFill>
              </a:rPr>
              <a:t>Patterns</a:t>
            </a:r>
            <a:r>
              <a:rPr lang="en-US" sz="1000" dirty="0">
                <a:solidFill>
                  <a:srgbClr val="0B1F33"/>
                </a:solidFill>
              </a:rPr>
              <a:t>,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a:t>
            </a:r>
            <a:r>
              <a:rPr lang="en-US" sz="1000" i="1" dirty="0">
                <a:solidFill>
                  <a:srgbClr val="0B1F33"/>
                </a:solidFill>
              </a:rPr>
              <a:t>Technologies</a:t>
            </a:r>
            <a:r>
              <a:rPr lang="en-US" sz="1000" dirty="0">
                <a:solidFill>
                  <a:srgbClr val="0B1F33"/>
                </a:solidFill>
              </a:rPr>
              <a:t>,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a:t>
            </a:r>
            <a:r>
              <a:rPr lang="en-US" sz="1000" i="1" dirty="0">
                <a:solidFill>
                  <a:srgbClr val="0B1F33"/>
                </a:solidFill>
              </a:rPr>
              <a:t>Proceedings of the International Conference on Deep Learning, Big Data and Blockchain (DBB 2022), LNNS</a:t>
            </a:r>
            <a:r>
              <a:rPr lang="en-US" sz="1000" dirty="0">
                <a:solidFill>
                  <a:srgbClr val="0B1F33"/>
                </a:solidFill>
              </a:rPr>
              <a:t>,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a:t>
            </a:r>
            <a:r>
              <a:rPr lang="en-US" sz="1000" i="1" dirty="0">
                <a:solidFill>
                  <a:srgbClr val="0B1F33"/>
                </a:solidFill>
              </a:rPr>
              <a:t>Computer Standards &amp; Interfaces</a:t>
            </a:r>
            <a:r>
              <a:rPr lang="en-US" sz="1000" dirty="0">
                <a:solidFill>
                  <a:srgbClr val="0B1F33"/>
                </a:solidFill>
              </a:rPr>
              <a:t>,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a:t>
            </a:r>
            <a:r>
              <a:rPr lang="en-US" sz="1000" i="1" dirty="0">
                <a:solidFill>
                  <a:srgbClr val="0B1F33"/>
                </a:solidFill>
              </a:rPr>
              <a:t>Computers &amp; Security</a:t>
            </a:r>
            <a:r>
              <a:rPr lang="en-US" sz="1000" dirty="0">
                <a:solidFill>
                  <a:srgbClr val="0B1F33"/>
                </a:solidFill>
              </a:rPr>
              <a:t>,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2026-10-12T13:15:26Z</dcterms:created>
  <dcterms:modified xsi:type="dcterms:W3CDTF">2026-10-12T13:15:26Z</dcterms:modified>
</cp:coreProperties>
</file>
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8c846405-2201-e4b0-19c5-ab00c1a98e1b}">
          <p14:sldIdLst>
            <p14:sldId id="256"/>
          </p14:sldIdLst>
        </p14:section>
        <p14:section name="Outline" id="{2c7bda62-766c-dc7f-0bec-8ed681896c74}">
          <p14:sldIdLst>
            <p14:sldId id="257"/>
          </p14:sldIdLst>
        </p14:section>
        <p14:section name="Introduction" id="{362c2201-fe3c-e2b5-0ad8-49071b26fbae}">
          <p14:sldIdLst>
            <p14:sldId id="258"/>
            <p14:sldId id="259"/>
          </p14:sldIdLst>
        </p14:section>
        <p14:section name="Systematic Literature Review" id="{2cbfa38f-c5d2-499a-42d9-b274690792d7}">
          <p14:sldIdLst>
            <p14:sldId id="260"/>
            <p14:sldId id="261"/>
            <p14:sldId id="262"/>
            <p14:sldId id="263"/>
            <p14:sldId id="264"/>
            <p14:sldId id="265"/>
            <p14:sldId id="266"/>
            <p14:sldId id="267"/>
          </p14:sldIdLst>
        </p14:section>
        <p14:section name="Research Gap" id="{4155d858-cb83-5f56-0870-1610a4735730}">
          <p14:sldIdLst>
            <p14:sldId id="268"/>
          </p14:sldIdLst>
        </p14:section>
        <p14:section name="Research Questions" id="{202f840e-90ca-8fdc-fb36-c4e9eeeed8fb}">
          <p14:sldIdLst>
            <p14:sldId id="269"/>
            <p14:sldId id="270"/>
          </p14:sldIdLst>
        </p14:section>
        <p14:section name="Research Objectives" id="{85475e85-b0d5-8849-c190-0c0abd4c85b4}">
          <p14:sldIdLst>
            <p14:sldId id="271"/>
          </p14:sldIdLst>
        </p14:section>
        <p14:section name="Research Methodology" id="{19330bee-bb3b-5f5f-2d0f-481253fa5b52}">
          <p14:sldIdLst>
            <p14:sldId id="272"/>
          </p14:sldIdLst>
        </p14:section>
        <p14:section name="Research Architecture" id="{bcb6097c-b641-0837-8e8e-9416d8bfacd2}">
          <p14:sldIdLst>
            <p14:sldId id="273"/>
          </p14:sldIdLst>
        </p14:section>
        <p14:section name="The Proposed Solutions" id="{fa48bd39-51cc-a103-53c1-6886b1eef4c6}">
          <p14:sldIdLst>
            <p14:sldId id="274"/>
            <p14:sldId id="275"/>
            <p14:sldId id="276"/>
            <p14:sldId id="277"/>
            <p14:sldId id="278"/>
            <p14:sldId id="279"/>
            <p14:sldId id="280"/>
          </p14:sldIdLst>
        </p14:section>
        <p14:section name="Implementation and Evaluation" id="{1b4275b2-e221-e2e0-bccf-0806e6b526ee}">
          <p14:sldIdLst>
            <p14:sldId id="281"/>
            <p14:sldId id="282"/>
            <p14:sldId id="283"/>
            <p14:sldId id="284"/>
            <p14:sldId id="285"/>
            <p14:sldId id="286"/>
            <p14:sldId id="287"/>
          </p14:sldIdLst>
        </p14:section>
        <p14:section name="Significance of the Research" id="{d4d0e0a9-6c62-ce43-0cbc-d3e7e2175d12}">
          <p14:sldIdLst>
            <p14:sldId id="288"/>
            <p14:sldId id="289"/>
            <p14:sldId id="290"/>
            <p14:sldId id="291"/>
          </p14:sldIdLst>
        </p14:section>
        <p14:section name="Research Plan" id="{27e9dc8f-883d-4dd2-2a12-ba9e262052e3}">
          <p14:sldIdLst>
            <p14:sldId id="292"/>
            <p14:sldId id="293"/>
          </p14:sldIdLst>
        </p14:section>
        <p14:section name="References" id="{5d8ae2d3-92d3-ae85-85fc-aa52a280275d}">
          <p14:sldIdLst>
            <p14:sldId id="294"/>
            <p14:sldId id="295"/>
            <p14:sldId id="296"/>
          </p14:sldIdLst>
        </p14:section>
        <p14:section name="Thank You" id="{4c9e9ae5-c521-2cc7-bf05-e4f4f466fd3f}">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authorisation, policy, time, lifecycle and evidence. Authorisation holds the guardian set G and the threshold N, which is the number of approvals needed. L means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gap leads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research gap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and invokes VC verification.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authorisation, policy and data scope, time, lifecycle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HALAH implementation, the guardian workflow uses a selected guardian DID and invokes VC verification before adding the guardian's signature to the consent. Each guardian's EIP-712 signature is also recovered. EIP-712 is a typed signature format on Ethereum, so we can see who signed.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
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
The next stage adds the SUSPENDED state,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real screen from the doctor subsystem of the HALAH prototype, for the evaluated consent, f050c29a.
The doctor enters the consent ID. Below that is the decision matrix. VI is identity and authority. VA is collective approval, and revocation is also checked inside VA. VP is policy and context. VT is time. All five checks show PASS, so the decision is ALLOW and the consent state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authorisation, P is policy and scope, T is time, L is lifecycle,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authorisation,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three pages and holds the sources used in these slides: the 25 primary studies of my review and the standards and tools used in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FFFFFF"/>
                </a:solidFill>
              </a:rPr>
              <a:t>Authorisation</a:t>
            </a:r>
            <a:r>
              <a:rPr lang="en-US" sz="1500" dirty="0">
                <a:solidFill>
                  <a:srgbClr val="FFFFFF"/>
                </a:solidFill>
              </a:rPr>
              <a:t> (A: guardian set G, threshold N) · Policy (P: purpose, scope) · Time (T) · </a:t>
            </a:r>
            <a:r>
              <a:rPr lang="en-US" sz="1500" dirty="0">
                <a:solidFill>
                  <a:srgbClr val="FFFFFF"/>
                </a:solidFill>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How can multiple independently verified participants and guardians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RQs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a:t>
            </a:r>
            <a:r>
              <a:rPr lang="en-US" sz="2400" b="1" dirty="0">
                <a:solidFill>
                  <a:srgbClr val="FFFFFF"/>
                </a:solidFill>
                <a:latin typeface="Cambria" pitchFamily="34" charset="0"/>
                <a:ea typeface="Cambria" pitchFamily="34" charset="-122"/>
                <a:cs typeface="Cambria" pitchFamily="34" charset="-120"/>
              </a:rPr>
              <a:t>VL(C)</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FFFFFF"/>
                </a:solidFill>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FFFFFF"/>
                </a:solidFill>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427609"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a:t>
            </a:r>
            <a:r>
              <a:rPr lang="en-US" sz="1600" dirty="0">
                <a:solidFill>
                  <a:srgbClr val="FFFFFF"/>
                </a:solidFill>
              </a:rPr>
              <a:t> 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070147"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919790"/>
            <a:ext cx="3803904" cy="370422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3355848"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3465576" y="1353204"/>
            <a:ext cx="5266944" cy="4151591"/>
          </a:xfrm>
          <a:prstGeom prst="rect">
            <a:avLst/>
          </a:prstGeom>
        </p:spPr>
      </p:pic>
      <p:sp>
        <p:nvSpPr>
          <p:cNvPr id="6" name="caption"/>
          <p:cNvSpPr txBox="1"/>
          <p:nvPr/>
        </p:nvSpPr>
        <p:spPr>
          <a:xfrm>
            <a:off x="3355848"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(1/3)</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(2/3)</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(3/3)</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2026-10-10T15:45:08Z</dcterms:created>
  <dcterms:modified xsi:type="dcterms:W3CDTF">2026-10-10T15:45:08Z</dcterms:modified>
</cp:coreProperties>
</file>
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15b40777-9d2e-d88e-9c78-b474661ad348}">
          <p14:sldIdLst>
            <p14:sldId id="256"/>
            <p14:sldId id="257"/>
          </p14:sldIdLst>
        </p14:section>
        <p14:section name="The Problem" id="{97f27f9b-1800-e664-2694-665caad945d6}">
          <p14:sldIdLst>
            <p14:sldId id="258"/>
            <p14:sldId id="259"/>
          </p14:sldIdLst>
        </p14:section>
        <p14:section name="Literature Review" id="{d7d158dd-054d-5f35-b2cd-af0fa7791ad8}">
          <p14:sldIdLst>
            <p14:sldId id="260"/>
            <p14:sldId id="261"/>
          </p14:sldIdLst>
        </p14:section>
        <p14:section name="Gap, Questions and Objectives" id="{3e130739-7f27-16cf-413f-4504512dff99}">
          <p14:sldIdLst>
            <p14:sldId id="262"/>
            <p14:sldId id="263"/>
            <p14:sldId id="264"/>
            <p14:sldId id="265"/>
          </p14:sldIdLst>
        </p14:section>
        <p14:section name="The Framework" id="{9f9715cd-51b5-f928-a825-f9fadfce5c21}">
          <p14:sldIdLst>
            <p14:sldId id="266"/>
            <p14:sldId id="267"/>
            <p14:sldId id="268"/>
            <p14:sldId id="269"/>
            <p14:sldId id="270"/>
            <p14:sldId id="271"/>
            <p14:sldId id="272"/>
            <p14:sldId id="273"/>
            <p14:sldId id="274"/>
            <p14:sldId id="275"/>
            <p14:sldId id="276"/>
            <p14:sldId id="277"/>
            <p14:sldId id="278"/>
            <p14:sldId id="279"/>
          </p14:sldIdLst>
        </p14:section>
        <p14:section name="Validation and Evaluation" id="{05267437-4ed3-c029-a99f-3b517ecf8594}">
          <p14:sldIdLst>
            <p14:sldId id="280"/>
            <p14:sldId id="281"/>
            <p14:sldId id="282"/>
            <p14:sldId id="283"/>
          </p14:sldIdLst>
        </p14:section>
        <p14:section name="Contribution" id="{26297e7b-68d7-bca1-f5eb-553a112a7f48}">
          <p14:sldIdLst>
            <p14:sldId id="284"/>
            <p14:sldId id="285"/>
            <p14:sldId id="286"/>
            <p14:sldId id="287"/>
          </p14:sldIdLst>
        </p14:section>
        <p14:section name="What is Still Open" id="{b4e592e0-cd2d-fcc9-4bc1-9e36930f54c4}">
          <p14:sldIdLst>
            <p14:sldId id="288"/>
          </p14:sldIdLst>
        </p14:section>
        <p14:section name="Research Plan" id="{cef8cd98-bd70-08d9-df22-011dc7ba3703}">
          <p14:sldIdLst>
            <p14:sldId id="289"/>
            <p14:sldId id="290"/>
            <p14:sldId id="291"/>
          </p14:sldIdLst>
        </p14:section>
        <p14:section name="Demo: The HALAH Prototype" id="{a0bc58a5-7389-91a6-d57e-c0650ec24578}">
          <p14:sldIdLst>
            <p14:sldId id="292"/>
            <p14:sldId id="293"/>
            <p14:sldId id="294"/>
            <p14:sldId id="295"/>
            <p14:sldId id="296"/>
            <p14:sldId id="297"/>
            <p14:sldId id="298"/>
            <p14:sldId id="299"/>
          </p14:sldIdLst>
        </p14:section>
        <p14:section name="References" id="{ce840d19-be9a-e831-d263-50bbe7e4c19c}">
          <p14:sldIdLst>
            <p14:sldId id="300"/>
          </p14:sldIdLst>
        </p14:section>
        <p14:section name="Thank You" id="{f06dc071-34bd-82be-611e-000aaf59888c}">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a:t>
            </a:r>
            <a:r>
              <a:rPr lang="en-US" dirty="0">
                <a:highlight>
                  <a:srgbClr val="FFFF00"/>
                </a:highlight>
              </a:rPr>
              <a:t>research</a:t>
            </a:r>
            <a:r>
              <a:rPr lang="en-US" dirty="0"/>
              <a:t> problem </a:t>
            </a:r>
            <a:r>
              <a:rPr lang="en-US" dirty="0">
                <a:highlight>
                  <a:srgbClr val="FFFF00"/>
                </a:highlight>
              </a:rPr>
              <a:t>and the key idea</a:t>
            </a:r>
            <a:r>
              <a:rPr lang="en-US" dirty="0"/>
              <a:t>. Then the literature review. Then the </a:t>
            </a:r>
            <a:r>
              <a:rPr lang="en-US" dirty="0">
                <a:highlight>
                  <a:srgbClr val="FFFF00"/>
                </a:highlight>
              </a:rPr>
              <a:t>gap</a:t>
            </a:r>
            <a:r>
              <a:rPr lang="en-US" dirty="0"/>
              <a:t>, the questions and the objectives. After that, </a:t>
            </a:r>
            <a:r>
              <a:rPr lang="en-US" dirty="0">
                <a:highlight>
                  <a:srgbClr val="FFFF00"/>
                </a:highlight>
              </a:rPr>
              <a:t>the methodology,</a:t>
            </a:r>
            <a:r>
              <a:rPr lang="en-US" dirty="0"/>
              <a:t> the framework and its six steps. </a:t>
            </a:r>
            <a:r>
              <a:rPr lang="en-US" dirty="0">
                <a:highlight>
                  <a:srgbClr val="FFFF00"/>
                </a:highlight>
              </a:rPr>
              <a:t>Then the validation and the evaluation results, and the contribution and the significance of the research. Then I talk about the limitations, the next steps, my publications and the research plan. Then I show a short demonstration of the prototype through the slides, with real prototype screens from 24 September 2026, and I finish with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t>
            </a:r>
            <a:r>
              <a:rPr lang="en-US" dirty="0">
                <a:highlight>
                  <a:srgbClr val="FFFF00"/>
                </a:highlight>
              </a:rPr>
              <a:t>And even with approval, a request can ask for more data than the patient allowed, or it can come after the consent has expired or has been cancelled.</a:t>
            </a:r>
            <a:r>
              <a:rPr lang="en-US" dirty="0"/>
              <a:t>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t>
            </a:r>
            <a:r>
              <a:rPr lang="en-US" dirty="0">
                <a:highlight>
                  <a:srgbClr val="FFFF00"/>
                </a:highlight>
              </a:rPr>
              <a:t>authorisation</a:t>
            </a:r>
            <a:r>
              <a:rPr lang="en-US" dirty="0"/>
              <a:t>: which guardians must approve, and how many. P is policy: the purpose and the data that was agreed. T is time: when the consent starts and when it ends. </a:t>
            </a:r>
            <a:r>
              <a:rPr lang="en-US" dirty="0">
                <a:highlight>
                  <a:srgbClr val="FFFF00"/>
                </a:highlight>
              </a:rPr>
              <a:t>L is lifecycle: the state of the consent, from creation to expiry or revocation.</a:t>
            </a:r>
            <a:r>
              <a:rPr lang="en-US" dirty="0"/>
              <a:t>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t>
            </a:r>
            <a:r>
              <a:rPr lang="en-US" dirty="0">
                <a:highlight>
                  <a:srgbClr val="FFFF00"/>
                </a:highlight>
              </a:rPr>
              <a:t>After I removed duplicates, 6,039 were screened by title. 3,129 went on to the abstract stage, and 2,541 of them were screened. Then 1,800 full texts were put in order of priority.</a:t>
            </a:r>
            <a:r>
              <a:rPr lang="en-US" dirty="0"/>
              <a:t>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a:t>
            </a:r>
            <a:r>
              <a:rPr lang="en-US" dirty="0">
                <a:highlight>
                  <a:srgbClr val="FFFF00"/>
                </a:highlight>
              </a:rPr>
              <a:t>The suspended state, the transition check, consent changes, delegation and guardian changes are for the next stage.</a:t>
            </a:r>
            <a:r>
              <a:rPr lang="en-US" dirty="0"/>
              <a:t>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a:t>
            </a:r>
            <a:r>
              <a:rPr lang="en-US" dirty="0">
                <a:highlight>
                  <a:srgbClr val="FFFF00"/>
                </a:highlight>
              </a:rPr>
              <a:t>research gap</a:t>
            </a:r>
            <a:r>
              <a:rPr lang="en-US" dirty="0"/>
              <a:t>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a:t>
            </a:r>
            <a:r>
              <a:rPr lang="en-US" dirty="0">
                <a:highlight>
                  <a:srgbClr val="FFFF00"/>
                </a:highlight>
              </a:rPr>
              <a:t>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a:t>
            </a:r>
            <a:r>
              <a:rPr lang="en-US" dirty="0"/>
              <a:t> If any one check fails, the answer is DENY. In the prototype, a Groth16 zero-knowledge proof must also pass before any data is released. And </a:t>
            </a:r>
            <a:r>
              <a:rPr lang="en-US" dirty="0">
                <a:highlight>
                  <a:srgbClr val="FFFF00"/>
                </a:highlight>
              </a:rPr>
              <a:t>every access decision, allowed or denied, is written to the off-chain audit ledger</a:t>
            </a:r>
            <a:r>
              <a:rPr lang="en-US"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t>
            </a:r>
            <a:r>
              <a:rPr lang="en-US" dirty="0">
                <a:highlight>
                  <a:srgbClr val="FFFF00"/>
                </a:highlight>
              </a:rPr>
              <a:t>and</a:t>
            </a:r>
            <a:r>
              <a:rPr lang="en-US" dirty="0"/>
              <a:t> the start and end time. The system checks every field. For example, an empty data scope or a bad guardian DID is rejected. </a:t>
            </a:r>
            <a:r>
              <a:rPr lang="en-US" dirty="0">
                <a:highlight>
                  <a:srgbClr val="FFFF00"/>
                </a:highlight>
              </a:rPr>
              <a:t>Then the system creates the consent object, assigns a consent identifier, persists the record, and records the creation event in the audit layer.</a:t>
            </a:r>
            <a:r>
              <a:rPr lang="en-US" dirty="0"/>
              <a:t> Nothing goes to the blockchain yet. This is RO1, and it is done.
</a:t>
            </a:r>
            <a:r>
              <a:rPr lang="en-US" dirty="0">
                <a:highlight>
                  <a:srgbClr val="FFFF00"/>
                </a:highlight>
              </a:rPr>
              <a:t>Algorithm 1: Trust-Aware Consent Creation
The box on the right of the slide is Algorithm 1 from my report. The next slide shows the same algorithm as a flowchart.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guardian set G, purpose P_u and data scope S_C
Next, we check the other parts of the consent: that the doctor is authorised, that the guardians are valid, that the purpose of using the patient’s data is valid, and that the data scope, which is the patient data that can be accessed, is valid.
Line 6: if any of them is invalid then
We check whether any of these four parts is invalid.
Line 7: return REJECT
If one of them is invalid, the request is rejected, and no consent is created.
Line 8: end if
This completes these four checks.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T, L, E)
We build the consent object from its six parts: identity I, authorisation requirements A, policy P (the purpose and the data scope), time T (the validity interval), the lifecycle state L, which starts as pending until the guardians approve,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1 as a flowchart. It shows the main steps in a simpler form: it collects all the inputs, runs one combined validity check with a Yes and a No branch, and then creates and stores the consent and records an audit entry.
First, the patient starts to create a consent, and the system collects the patient DID.
Second, the patient specifies the authorised doctor and the guardian DIDs.
Third, the patient specifies the purpose and the data scope, and then the consent validity, which is the start and end time.
Fourth, the system checks if the consent specification is valid. If it is not valid, the No branch rejects the consent request.
Finally, if it is valid, the system creates the trust-aware consent object, generates the consent identifier, stores the consent record, and records the creation in the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a:t>
            </a:r>
            <a:r>
              <a:rPr lang="en-US" dirty="0">
                <a:highlight>
                  <a:srgbClr val="FFFF00"/>
                </a:highlight>
              </a:rPr>
              <a:t>In the HALAH implementation, the guardian workflow uses a selected guardian DID and invokes VC verification before adding the guardian's signature to the consent. Full DID resolution is planned for the next stage.</a:t>
            </a:r>
            <a:r>
              <a:rPr lang="en-US" dirty="0"/>
              <a:t> So RO2 is done at the design level and in the prototype.
</a:t>
            </a:r>
            <a:r>
              <a:rPr lang="en-US" dirty="0">
                <a:highlight>
                  <a:srgbClr val="FFFF00"/>
                </a:highlight>
              </a:rPr>
              <a:t>Algorithm 2: DID and VC Identity and Authority Verification
The box on the right of the slide is Algorithm 2 from my report. The next slide shows the same algorithm as a flowchart.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2 as a flowchart. It follows the same order as the algorithm, but it joins the two DID checks into one “DID Valid?” decision and the two credential checks into one “VC Valid?” decision. Every “No” leads to Reject Participant, which is the INVALID result.
First, a participant asks to take part, and the system resolves the participant’s DID.
Second, it checks if the DID is valid. If not, the participant is rejected.
Third, it retrieves the verifiable credential and checks if it is valid. If not, the participant is rejected.
Fourth, it extracts the role and authority claims, and checks if they match what the consent requires. If not, the participant is rejected.
Finally, if all checks pass, it records the verification evidence and returns the verified identity and authority.
This flowchart is the target design.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a:t>
            </a:r>
            <a:r>
              <a:rPr lang="en-US" dirty="0">
                <a:highlight>
                  <a:srgbClr val="FFFF00"/>
                </a:highlight>
              </a:rPr>
              <a:t>Outsiders and duplicates are not counted, and a signature replayed from another consent fails the identity check.</a:t>
            </a:r>
            <a:r>
              <a:rPr lang="en-US" dirty="0"/>
              <a:t> In the demo, two of two guardians must sign. When both have signed, a soulbound token is minted on the Sepolia test network in the background. One honest note: in the prototype, the guardian keys are derived from the guardian DIDs. Wallet-held keys are for the next stage. RO3 is done.
</a:t>
            </a:r>
            <a:r>
              <a:rPr lang="en-US" dirty="0">
                <a:highlight>
                  <a:srgbClr val="FFFF00"/>
                </a:highlight>
              </a:rPr>
              <a:t>Algorithm 3: Threshold-Based Multi-Party Authorisation
The box on the right of the slide is Algorithm 3 from my report. The next slide shows the same algorithm as a flowchart.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3 as a flowchart. It shows the same three checks in the same order, with the identity check drawn as the prototype runs it: the DID, the credential and the EIP-712 signature. It joins the three rejections into one box, and it shows activation last, after the token and the evidence.
First, the consent needs approval from several people, so the system identifies the required participants.
Second, a participant submits an approval, and the system verifies the DID, the credential and the EIP-712 signature.
Third, it asks three questions: is the participant verified, is the participant in the guardian set G, and has the participant already approved? If the participant is not verified, is not in G, or has already approved, the approval is rejected.
Fourth, a valid approval is recorded, and the approval count goes up.
Fifth, the system checks if the threshold is met. If not, the consent stays pending.
Finally, if it is met, the system issues the consent token or activation record, records the approval evidence, and activates the authorisation.
The dashed box shows that the mint on the Sepolia test network runs in the background, so it does not delay the guardians or the doctor. In the prototype, the consent becomes active once its start time is reached.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a:t>
            </a:r>
            <a:r>
              <a:rPr lang="en-US" dirty="0">
                <a:highlight>
                  <a:srgbClr val="FFFF00"/>
                </a:highlight>
              </a:rPr>
              <a:t>the lifecycle state</a:t>
            </a:r>
            <a:r>
              <a:rPr lang="en-US" dirty="0"/>
              <a:t> are checked in the same decision. And a Groth16 proof must pass before any data is released. RO4 is done.
</a:t>
            </a:r>
            <a:r>
              <a:rPr lang="en-US" dirty="0">
                <a:highlight>
                  <a:srgbClr val="FFFF00"/>
                </a:highlight>
              </a:rPr>
              <a:t>Algorithm 4: Policy-Aware Access Decision
The box on the right of the slide is Algorithm 4 from my report. The next slide shows the same algorithm as a flowchart.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on the next slide,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4 as a flowchart. It has the same checks, but it checks the consent state before the identity, and it shows the validity interval check and the Groth16 zero-knowledge proof as separate steps before access is granted.
First, the doctor requests patient data, and the system retrieves the consent object.
Second, it checks if the consent is ACTIVE.
Third, it verifies the identity and authority of the requester.
Fourth, it verifies the multi-party authorisation: is the threshold satisfied?
Fifth, it checks the requested purpose, and then the requested data scope, which must be inside the consent.
Sixth, it checks that the request is within the validity interval.
Seventh, it generates and verifies the Groth16 proof.
If any answer is No, access is denied, and the denied access is recorded.
Finally, if every answer is Yes, data access is granted, and the granted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a:t>
            </a:r>
            <a:r>
              <a:rPr lang="en-US" dirty="0">
                <a:highlight>
                  <a:srgbClr val="FFFF00"/>
                </a:highlight>
              </a:rPr>
              <a:t>In the design, L is the lifecycle state: created, pending, active, suspended, revoked or expired, and VL checks a valid state and a valid transition.</a:t>
            </a:r>
            <a:r>
              <a:rPr lang="en-US" dirty="0"/>
              <a:t> What is still open: </a:t>
            </a:r>
            <a:r>
              <a:rPr lang="en-US" dirty="0">
                <a:highlight>
                  <a:srgbClr val="FFFF00"/>
                </a:highlight>
              </a:rPr>
              <a:t>the suspended state,</a:t>
            </a:r>
            <a:r>
              <a:rPr lang="en-US" dirty="0"/>
              <a:t> the lifecycle transition check, consent modification, delegation, changes to the guardian set, and a formal lifecycle model. That is why RO5 is in progress.
</a:t>
            </a:r>
            <a:r>
              <a:rPr lang="en-US" dirty="0">
                <a:highlight>
                  <a:srgbClr val="FFFF00"/>
                </a:highlight>
              </a:rPr>
              <a:t>Algorithm 5: Temporal and Lifecycle Validation
The box on the right of the slide is Algorithm 5 from my report. The next slide shows the same algorithm as a flowchart.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5 as a flowchart. It shows the same four checks in the same order. The transition check is drawn in dashed lines because it is planned for the next stage. INVALID leads to Deny Access, and VALID leads to Continue Authorisation Evaluation.
First, an access request comes in, and the system retrieves the consent state.
Second, it checks the consent validity interval: is the request within the valid time?
Third, it checks the lifecycle state: does the state permit access?
Fourth, it checks the revocation status: has the consent been revoked?
Fifth, in the next stage, it will also check if the requested state transition is permitted.
If any check fails, access is denied, and a lifecycle-based denial is recorded.
Finally, if all checks pass, the system records the temporal and lifecycle evidence and continues with the rest of the authorisation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a:t>
            </a:r>
            <a:r>
              <a:rPr lang="en-US" dirty="0">
                <a:highlight>
                  <a:srgbClr val="FFFF00"/>
                </a:highlight>
              </a:rPr>
              <a:t>46 automated tests pass, including thirteen attack scenarios.</a:t>
            </a:r>
            <a:r>
              <a:rPr lang="en-US" dirty="0"/>
              <a:t> I also measured the cost and the timing. The proof part is the next stage: formal proofs or model checking of the security properties, and a bigger evaluation under load. That is why RO6 is partly completed.
</a:t>
            </a:r>
            <a:r>
              <a:rPr lang="en-US" dirty="0">
                <a:highlight>
                  <a:srgbClr val="FFFF00"/>
                </a:highlight>
              </a:rPr>
              <a:t>Algorithm 6: Formal and Empirical Authorisation Validation
The box on the right of the slide is Algorithm 6 from my report. The next slide shows the same algorithm as a flowchart.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Algorithm 6 as a flowchart. It has the same main steps, but it also adds a practical performance check, and a loop that refines the framework and tests again when a property fails. The algorithm itself does not include these two parts.
First, I define the security and authorisation properties, and the threat and failure conditions.
Second, I implement the validation scenarios.
Third, I run the valid consent workflow, and also the negative and adversarial scenarios.
Fourth, I collect the decision and audit evidence.
Fifth, I evaluate the security properties, compare the observed decisions with the expected ones, and evaluate the functional and practical performance.
Then I ask: are the properties satisfied? If yes, I document the evidence and the limitations.
Finally, if not, I identify the security or functional failure, refine the framework, and run the validation scenarios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a:t>
            </a:r>
            <a:r>
              <a:rPr lang="en-US" dirty="0">
                <a:highlight>
                  <a:srgbClr val="FFFF00"/>
                </a:highlight>
              </a:rPr>
              <a:t>was</a:t>
            </a:r>
            <a:r>
              <a:rPr lang="en-US" dirty="0"/>
              <a:t> refused. </a:t>
            </a:r>
            <a:r>
              <a:rPr lang="en-US" dirty="0">
                <a:highlight>
                  <a:srgbClr val="FFFF00"/>
                </a:highlight>
              </a:rPr>
              <a:t>Attack scenarios: twelve of thirteen attacks are refused. Automated tests: all 46 pass.</a:t>
            </a:r>
            <a:r>
              <a:rPr lang="en-US" dirty="0"/>
              <a:t>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t>
            </a:r>
            <a:r>
              <a:rPr lang="en-US" dirty="0">
                <a:highlight>
                  <a:srgbClr val="FFFF00"/>
                </a:highlight>
              </a:rPr>
              <a:t>All five rows</a:t>
            </a:r>
            <a:r>
              <a:rPr lang="en-US" dirty="0"/>
              <a:t> are allowed requests: all five checks PASS, the decision is ALLOW, access is GRANTED, and the proof mode is Groth16. </a:t>
            </a:r>
            <a:r>
              <a:rPr lang="en-US" dirty="0">
                <a:highlight>
                  <a:srgbClr val="FFFF00"/>
                </a:highlight>
              </a:rPr>
              <a:t>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also attacked my own system thirteen times, A1 to A13.</a:t>
            </a:r>
            <a:r>
              <a:rPr lang="en-US" dirty="0"/>
              <a:t>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t>
            </a:r>
            <a:r>
              <a:rPr lang="en-US" dirty="0">
                <a:highlight>
                  <a:srgbClr val="FFFF00"/>
                </a:highlight>
              </a:rPr>
              <a:t>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a:t>
            </a:r>
            <a:r>
              <a:rPr lang="en-US" dirty="0">
                <a:highlight>
                  <a:srgbClr val="FFFF00"/>
                </a:highlight>
              </a:rPr>
              <a:t>The five checks of the decision rule take about 6 microseconds, and checking one credential about 6 milliseconds.</a:t>
            </a:r>
            <a:r>
              <a:rPr lang="en-US" dirty="0"/>
              <a:t> </a:t>
            </a:r>
            <a:r>
              <a:rPr lang="en-US" dirty="0">
                <a:highlight>
                  <a:srgbClr val="FFFF00"/>
                </a:highlight>
              </a:rPr>
              <a:t>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a:t>
            </a:r>
            <a:r>
              <a:rPr lang="en-US" dirty="0"/>
              <a:t> </a:t>
            </a:r>
            <a:r>
              <a:rPr lang="en-US" dirty="0">
                <a:highlight>
                  <a:srgbClr val="FFFF00"/>
                </a:highlight>
              </a:rPr>
              <a:t>The timings were measured on the first of October 2026; the decision rule and the credential check on the eleventh of October, after the credential check was added.</a:t>
            </a:r>
            <a:r>
              <a:rPr lang="en-US" dirty="0"/>
              <a:t>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a:t>
            </a:r>
            <a:r>
              <a:rPr lang="en-US" dirty="0">
                <a:highlight>
                  <a:srgbClr val="FFFF00"/>
                </a:highlight>
              </a:rPr>
              <a:t>every access decision, allowed or denied, is logged off-chain</a:t>
            </a:r>
            <a:r>
              <a:rPr lang="en-US" dirty="0"/>
              <a:t>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a:t>
            </a:r>
            <a:r>
              <a:rPr lang="en-US" dirty="0">
                <a:highlight>
                  <a:srgbClr val="FFFF00"/>
                </a:highlight>
              </a:rPr>
              <a:t>The token on Sepolia stores pseudonymous addresses, a hash of the purpose, the validity window and a revocation flag.</a:t>
            </a:r>
            <a:r>
              <a:rPr lang="en-US" dirty="0"/>
              <a:t>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lists my research publications. Two papers were published in 2025 at the IEEE International Conference on E-Business Engineering, ICEBE. Three more papers have been accepted in 2026: one at ICEBE 2026 and two at BWCCA 2026. Paper 4, on trusted multi-party consent governance, comes from this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a:t>
            </a:r>
            <a:r>
              <a:rPr lang="en-US" dirty="0">
                <a:highlight>
                  <a:srgbClr val="FFFF00"/>
                </a:highlight>
              </a:rPr>
              <a:t>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a:t>
            </a:r>
            <a:r>
              <a:rPr lang="en-US" dirty="0"/>
              <a:t>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2.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cube 01"/>
          <p:cNvSpPr/>
          <p:nvPr/>
        </p:nvSpPr>
        <p:spPr>
          <a:xfrm>
            <a:off x="1060704" y="1965960"/>
            <a:ext cx="1097280" cy="731520"/>
          </a:xfrm>
          <a:prstGeom prst="cube">
            <a:avLst/>
          </a:prstGeom>
          <a:solidFill>
            <a:srgbClr val="285A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5" name="number 01"/>
          <p:cNvSpPr txBox="1"/>
          <p:nvPr/>
        </p:nvSpPr>
        <p:spPr>
          <a:xfrm>
            <a:off x="1060704" y="2148840"/>
            <a:ext cx="914400" cy="548640"/>
          </a:xfrm>
          <a:prstGeom prst="rect">
            <a:avLst/>
          </a:prstGeom>
          <a:noFill/>
          <a:ln/>
        </p:spPr>
        <p:txBody>
          <a:bodyPr wrap="square" rtlCol="0" anchor="ctr"/>
          <a:lstStyle/>
          <a:p>
            <a:pPr algn="ctr" indent="0" marL="0">
              <a:buNone/>
            </a:pPr>
            <a:r>
              <a:rPr lang="en-US" sz="1600" b="1" dirty="0">
                <a:solidFill>
                  <a:srgbClr val="FFFFFF"/>
                </a:solidFill>
              </a:rPr>
              <a:t>01</a:t>
            </a:r>
            <a:endParaRPr lang="en-US" sz="1600" dirty="0"/>
          </a:p>
        </p:txBody>
      </p:sp>
      <p:sp>
        <p:nvSpPr>
          <p:cNvPr id="6" name="item 01"/>
          <p:cNvSpPr txBox="1"/>
          <p:nvPr/>
        </p:nvSpPr>
        <p:spPr>
          <a:xfrm>
            <a:off x="2340864" y="2148840"/>
            <a:ext cx="4114800" cy="54864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RESEARCH PROBLEM &amp; KEY IDEA</a:t>
            </a:r>
            <a:endParaRPr lang="en-US" sz="1800" dirty="0"/>
          </a:p>
        </p:txBody>
      </p:sp>
      <p:sp>
        <p:nvSpPr>
          <p:cNvPr id="7" name="cube 02"/>
          <p:cNvSpPr/>
          <p:nvPr/>
        </p:nvSpPr>
        <p:spPr>
          <a:xfrm>
            <a:off x="1060704" y="2743200"/>
            <a:ext cx="1097280" cy="731520"/>
          </a:xfrm>
          <a:prstGeom prst="cube">
            <a:avLst/>
          </a:prstGeom>
          <a:solidFill>
            <a:srgbClr val="2864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8" name="number 02"/>
          <p:cNvSpPr txBox="1"/>
          <p:nvPr/>
        </p:nvSpPr>
        <p:spPr>
          <a:xfrm>
            <a:off x="1060704" y="2926080"/>
            <a:ext cx="914400" cy="548640"/>
          </a:xfrm>
          <a:prstGeom prst="rect">
            <a:avLst/>
          </a:prstGeom>
          <a:noFill/>
          <a:ln/>
        </p:spPr>
        <p:txBody>
          <a:bodyPr wrap="square" rtlCol="0" anchor="ctr"/>
          <a:lstStyle/>
          <a:p>
            <a:pPr algn="ctr" indent="0" marL="0">
              <a:buNone/>
            </a:pPr>
            <a:r>
              <a:rPr lang="en-US" sz="1600" b="1" dirty="0">
                <a:solidFill>
                  <a:srgbClr val="FFFFFF"/>
                </a:solidFill>
              </a:rPr>
              <a:t>02</a:t>
            </a:r>
            <a:endParaRPr lang="en-US" sz="1600" dirty="0"/>
          </a:p>
        </p:txBody>
      </p:sp>
      <p:sp>
        <p:nvSpPr>
          <p:cNvPr id="9" name="item 02"/>
          <p:cNvSpPr txBox="1"/>
          <p:nvPr/>
        </p:nvSpPr>
        <p:spPr>
          <a:xfrm>
            <a:off x="2340864" y="2926080"/>
            <a:ext cx="4114800" cy="54864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cube 03"/>
          <p:cNvSpPr/>
          <p:nvPr/>
        </p:nvSpPr>
        <p:spPr>
          <a:xfrm>
            <a:off x="1060704" y="3520440"/>
            <a:ext cx="1097280" cy="731520"/>
          </a:xfrm>
          <a:prstGeom prst="cube">
            <a:avLst/>
          </a:prstGeom>
          <a:solidFill>
            <a:srgbClr val="286E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11" name="number 03"/>
          <p:cNvSpPr txBox="1"/>
          <p:nvPr/>
        </p:nvSpPr>
        <p:spPr>
          <a:xfrm>
            <a:off x="1060704" y="3703320"/>
            <a:ext cx="914400" cy="548640"/>
          </a:xfrm>
          <a:prstGeom prst="rect">
            <a:avLst/>
          </a:prstGeom>
          <a:noFill/>
          <a:ln/>
        </p:spPr>
        <p:txBody>
          <a:bodyPr wrap="square" rtlCol="0" anchor="ctr"/>
          <a:lstStyle/>
          <a:p>
            <a:pPr algn="ctr" indent="0" marL="0">
              <a:buNone/>
            </a:pPr>
            <a:r>
              <a:rPr lang="en-US" sz="1600" b="1" dirty="0">
                <a:solidFill>
                  <a:srgbClr val="FFFFFF"/>
                </a:solidFill>
              </a:rPr>
              <a:t>03</a:t>
            </a:r>
            <a:endParaRPr lang="en-US" sz="1600" dirty="0"/>
          </a:p>
        </p:txBody>
      </p:sp>
      <p:sp>
        <p:nvSpPr>
          <p:cNvPr id="12" name="item 03"/>
          <p:cNvSpPr txBox="1"/>
          <p:nvPr/>
        </p:nvSpPr>
        <p:spPr>
          <a:xfrm>
            <a:off x="2340864" y="3703320"/>
            <a:ext cx="4114800" cy="54864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GAP, QUESTIONS &amp; OBJECTIVES</a:t>
            </a:r>
            <a:endParaRPr lang="en-US" sz="1800" dirty="0"/>
          </a:p>
        </p:txBody>
      </p:sp>
      <p:sp>
        <p:nvSpPr>
          <p:cNvPr id="13" name="cube 04"/>
          <p:cNvSpPr/>
          <p:nvPr/>
        </p:nvSpPr>
        <p:spPr>
          <a:xfrm>
            <a:off x="1060704" y="4297680"/>
            <a:ext cx="1097280" cy="731520"/>
          </a:xfrm>
          <a:prstGeom prst="cube">
            <a:avLst/>
          </a:prstGeom>
          <a:solidFill>
            <a:srgbClr val="2878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14" name="number 04"/>
          <p:cNvSpPr txBox="1"/>
          <p:nvPr/>
        </p:nvSpPr>
        <p:spPr>
          <a:xfrm>
            <a:off x="1060704" y="4480560"/>
            <a:ext cx="914400" cy="548640"/>
          </a:xfrm>
          <a:prstGeom prst="rect">
            <a:avLst/>
          </a:prstGeom>
          <a:noFill/>
          <a:ln/>
        </p:spPr>
        <p:txBody>
          <a:bodyPr wrap="square" rtlCol="0" anchor="ctr"/>
          <a:lstStyle/>
          <a:p>
            <a:pPr algn="ctr" indent="0" marL="0">
              <a:buNone/>
            </a:pPr>
            <a:r>
              <a:rPr lang="en-US" sz="1600" b="1" dirty="0">
                <a:solidFill>
                  <a:srgbClr val="FFFFFF"/>
                </a:solidFill>
              </a:rPr>
              <a:t>04</a:t>
            </a:r>
            <a:endParaRPr lang="en-US" sz="1600" dirty="0"/>
          </a:p>
        </p:txBody>
      </p:sp>
      <p:sp>
        <p:nvSpPr>
          <p:cNvPr id="15" name="item 04"/>
          <p:cNvSpPr txBox="1"/>
          <p:nvPr/>
        </p:nvSpPr>
        <p:spPr>
          <a:xfrm>
            <a:off x="2340864" y="4480560"/>
            <a:ext cx="4114800" cy="54864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METHODOLOGY &amp; FRAMEWORK</a:t>
            </a:r>
            <a:endParaRPr lang="en-US" sz="1800" dirty="0"/>
          </a:p>
        </p:txBody>
      </p:sp>
      <p:sp>
        <p:nvSpPr>
          <p:cNvPr id="16" name="cube 05"/>
          <p:cNvSpPr/>
          <p:nvPr/>
        </p:nvSpPr>
        <p:spPr>
          <a:xfrm>
            <a:off x="1060704" y="5074920"/>
            <a:ext cx="1097280" cy="731520"/>
          </a:xfrm>
          <a:prstGeom prst="cube">
            <a:avLst/>
          </a:prstGeom>
          <a:solidFill>
            <a:srgbClr val="2882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17" name="number 05"/>
          <p:cNvSpPr txBox="1"/>
          <p:nvPr/>
        </p:nvSpPr>
        <p:spPr>
          <a:xfrm>
            <a:off x="1060704" y="5257800"/>
            <a:ext cx="914400" cy="548640"/>
          </a:xfrm>
          <a:prstGeom prst="rect">
            <a:avLst/>
          </a:prstGeom>
          <a:noFill/>
          <a:ln/>
        </p:spPr>
        <p:txBody>
          <a:bodyPr wrap="square" rtlCol="0" anchor="ctr"/>
          <a:lstStyle/>
          <a:p>
            <a:pPr algn="ctr" indent="0" marL="0">
              <a:buNone/>
            </a:pPr>
            <a:r>
              <a:rPr lang="en-US" sz="1600" b="1" dirty="0">
                <a:solidFill>
                  <a:srgbClr val="FFFFFF"/>
                </a:solidFill>
              </a:rPr>
              <a:t>05</a:t>
            </a:r>
            <a:endParaRPr lang="en-US" sz="1600" dirty="0"/>
          </a:p>
        </p:txBody>
      </p:sp>
      <p:sp>
        <p:nvSpPr>
          <p:cNvPr id="18" name="item 05"/>
          <p:cNvSpPr txBox="1"/>
          <p:nvPr/>
        </p:nvSpPr>
        <p:spPr>
          <a:xfrm>
            <a:off x="2340864" y="5257800"/>
            <a:ext cx="4114800" cy="54864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VALIDATION &amp; EVALUATION</a:t>
            </a:r>
            <a:endParaRPr lang="en-US" sz="1800" dirty="0"/>
          </a:p>
        </p:txBody>
      </p:sp>
      <p:sp>
        <p:nvSpPr>
          <p:cNvPr id="19" name="cube 06"/>
          <p:cNvSpPr/>
          <p:nvPr/>
        </p:nvSpPr>
        <p:spPr>
          <a:xfrm>
            <a:off x="6547104" y="1965960"/>
            <a:ext cx="1097280" cy="731520"/>
          </a:xfrm>
          <a:prstGeom prst="cube">
            <a:avLst/>
          </a:prstGeom>
          <a:solidFill>
            <a:srgbClr val="288C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20" name="number 06"/>
          <p:cNvSpPr txBox="1"/>
          <p:nvPr/>
        </p:nvSpPr>
        <p:spPr>
          <a:xfrm>
            <a:off x="6547104" y="2148840"/>
            <a:ext cx="914400" cy="548640"/>
          </a:xfrm>
          <a:prstGeom prst="rect">
            <a:avLst/>
          </a:prstGeom>
          <a:noFill/>
          <a:ln/>
        </p:spPr>
        <p:txBody>
          <a:bodyPr wrap="square" rtlCol="0" anchor="ctr"/>
          <a:lstStyle/>
          <a:p>
            <a:pPr algn="ctr" indent="0" marL="0">
              <a:buNone/>
            </a:pPr>
            <a:r>
              <a:rPr lang="en-US" sz="1600" b="1" dirty="0">
                <a:solidFill>
                  <a:srgbClr val="FFFFFF"/>
                </a:solidFill>
              </a:rPr>
              <a:t>06</a:t>
            </a:r>
            <a:endParaRPr lang="en-US" sz="1600" dirty="0"/>
          </a:p>
        </p:txBody>
      </p:sp>
      <p:sp>
        <p:nvSpPr>
          <p:cNvPr id="21" name="item 06"/>
          <p:cNvSpPr txBox="1"/>
          <p:nvPr/>
        </p:nvSpPr>
        <p:spPr>
          <a:xfrm>
            <a:off x="7827264" y="2148840"/>
            <a:ext cx="4206240" cy="54864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CONTRIBUTION &amp; SIGNIFICANCE</a:t>
            </a:r>
            <a:endParaRPr lang="en-US" sz="1800" dirty="0"/>
          </a:p>
        </p:txBody>
      </p:sp>
      <p:sp>
        <p:nvSpPr>
          <p:cNvPr id="22" name="cube 07"/>
          <p:cNvSpPr/>
          <p:nvPr/>
        </p:nvSpPr>
        <p:spPr>
          <a:xfrm>
            <a:off x="6547104" y="2743200"/>
            <a:ext cx="1097280" cy="731520"/>
          </a:xfrm>
          <a:prstGeom prst="cube">
            <a:avLst/>
          </a:prstGeom>
          <a:solidFill>
            <a:srgbClr val="2896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23" name="number 07"/>
          <p:cNvSpPr txBox="1"/>
          <p:nvPr/>
        </p:nvSpPr>
        <p:spPr>
          <a:xfrm>
            <a:off x="6547104" y="2926080"/>
            <a:ext cx="914400" cy="548640"/>
          </a:xfrm>
          <a:prstGeom prst="rect">
            <a:avLst/>
          </a:prstGeom>
          <a:noFill/>
          <a:ln/>
        </p:spPr>
        <p:txBody>
          <a:bodyPr wrap="square" rtlCol="0" anchor="ctr"/>
          <a:lstStyle/>
          <a:p>
            <a:pPr algn="ctr" indent="0" marL="0">
              <a:buNone/>
            </a:pPr>
            <a:r>
              <a:rPr lang="en-US" sz="1600" b="1" dirty="0">
                <a:solidFill>
                  <a:srgbClr val="FFFFFF"/>
                </a:solidFill>
              </a:rPr>
              <a:t>07</a:t>
            </a:r>
            <a:endParaRPr lang="en-US" sz="1600" dirty="0"/>
          </a:p>
        </p:txBody>
      </p:sp>
      <p:sp>
        <p:nvSpPr>
          <p:cNvPr id="24" name="item 07"/>
          <p:cNvSpPr txBox="1"/>
          <p:nvPr/>
        </p:nvSpPr>
        <p:spPr>
          <a:xfrm>
            <a:off x="7827264" y="2926080"/>
            <a:ext cx="4206240" cy="54864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LIMITATIONS &amp; NEXT STEPS</a:t>
            </a:r>
            <a:endParaRPr lang="en-US" sz="1800" dirty="0"/>
          </a:p>
        </p:txBody>
      </p:sp>
      <p:sp>
        <p:nvSpPr>
          <p:cNvPr id="25" name="cube 08"/>
          <p:cNvSpPr/>
          <p:nvPr/>
        </p:nvSpPr>
        <p:spPr>
          <a:xfrm>
            <a:off x="6547104" y="3520440"/>
            <a:ext cx="1097280" cy="731520"/>
          </a:xfrm>
          <a:prstGeom prst="cube">
            <a:avLst/>
          </a:prstGeom>
          <a:solidFill>
            <a:srgbClr val="28A0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26" name="number 08"/>
          <p:cNvSpPr txBox="1"/>
          <p:nvPr/>
        </p:nvSpPr>
        <p:spPr>
          <a:xfrm>
            <a:off x="6547104" y="3703320"/>
            <a:ext cx="914400" cy="548640"/>
          </a:xfrm>
          <a:prstGeom prst="rect">
            <a:avLst/>
          </a:prstGeom>
          <a:noFill/>
          <a:ln/>
        </p:spPr>
        <p:txBody>
          <a:bodyPr wrap="square" rtlCol="0" anchor="ctr"/>
          <a:lstStyle/>
          <a:p>
            <a:pPr algn="ctr" indent="0" marL="0">
              <a:buNone/>
            </a:pPr>
            <a:r>
              <a:rPr lang="en-US" sz="1600" b="1" dirty="0">
                <a:solidFill>
                  <a:srgbClr val="FFFFFF"/>
                </a:solidFill>
              </a:rPr>
              <a:t>08</a:t>
            </a:r>
            <a:endParaRPr lang="en-US" sz="1600" dirty="0"/>
          </a:p>
        </p:txBody>
      </p:sp>
      <p:sp>
        <p:nvSpPr>
          <p:cNvPr id="27" name="item 08"/>
          <p:cNvSpPr txBox="1"/>
          <p:nvPr/>
        </p:nvSpPr>
        <p:spPr>
          <a:xfrm>
            <a:off x="7827264" y="3703320"/>
            <a:ext cx="4206240" cy="54864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PUBLICATIONS &amp; RESEARCH PLAN</a:t>
            </a:r>
            <a:endParaRPr lang="en-US" sz="1800" dirty="0"/>
          </a:p>
        </p:txBody>
      </p:sp>
      <p:sp>
        <p:nvSpPr>
          <p:cNvPr id="28" name="cube 09"/>
          <p:cNvSpPr/>
          <p:nvPr/>
        </p:nvSpPr>
        <p:spPr>
          <a:xfrm>
            <a:off x="6547104" y="4297680"/>
            <a:ext cx="1097280" cy="731520"/>
          </a:xfrm>
          <a:prstGeom prst="cube">
            <a:avLst/>
          </a:prstGeom>
          <a:solidFill>
            <a:srgbClr val="28AA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29" name="number 09"/>
          <p:cNvSpPr txBox="1"/>
          <p:nvPr/>
        </p:nvSpPr>
        <p:spPr>
          <a:xfrm>
            <a:off x="6547104" y="4480560"/>
            <a:ext cx="914400" cy="548640"/>
          </a:xfrm>
          <a:prstGeom prst="rect">
            <a:avLst/>
          </a:prstGeom>
          <a:noFill/>
          <a:ln/>
        </p:spPr>
        <p:txBody>
          <a:bodyPr wrap="square" rtlCol="0" anchor="ctr"/>
          <a:lstStyle/>
          <a:p>
            <a:pPr algn="ctr" indent="0" marL="0">
              <a:buNone/>
            </a:pPr>
            <a:r>
              <a:rPr lang="en-US" sz="1600" b="1" dirty="0">
                <a:solidFill>
                  <a:srgbClr val="FFFFFF"/>
                </a:solidFill>
              </a:rPr>
              <a:t>09</a:t>
            </a:r>
            <a:endParaRPr lang="en-US" sz="1600" dirty="0"/>
          </a:p>
        </p:txBody>
      </p:sp>
      <p:sp>
        <p:nvSpPr>
          <p:cNvPr id="30" name="item 09"/>
          <p:cNvSpPr txBox="1"/>
          <p:nvPr/>
        </p:nvSpPr>
        <p:spPr>
          <a:xfrm>
            <a:off x="7827264" y="4480560"/>
            <a:ext cx="4206240" cy="54864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cube 10"/>
          <p:cNvSpPr/>
          <p:nvPr/>
        </p:nvSpPr>
        <p:spPr>
          <a:xfrm>
            <a:off x="6547104" y="5074920"/>
            <a:ext cx="1097280" cy="731520"/>
          </a:xfrm>
          <a:prstGeom prst="cube">
            <a:avLst/>
          </a:prstGeom>
          <a:solidFill>
            <a:srgbClr val="28B4A0"/>
          </a:solidFill>
          <a:ln w="12700">
            <a:solidFill>
              <a:srgbClr val="FFFFFF"/>
            </a:solidFill>
            <a:prstDash val="solid"/>
          </a:ln>
          <a:effectLst>
            <a:outerShdw sx="100000" sy="100000" kx="0" ky="0" algn="bl" rotWithShape="0" blurRad="50800" dist="25400" dir="5400000">
              <a:srgbClr val="000000">
                <a:alpha val="30000"/>
              </a:srgbClr>
            </a:outerShdw>
          </a:effectLst>
        </p:spPr>
      </p:sp>
      <p:sp>
        <p:nvSpPr>
          <p:cNvPr id="32" name="number 10"/>
          <p:cNvSpPr txBox="1"/>
          <p:nvPr/>
        </p:nvSpPr>
        <p:spPr>
          <a:xfrm>
            <a:off x="6547104" y="5257800"/>
            <a:ext cx="914400" cy="548640"/>
          </a:xfrm>
          <a:prstGeom prst="rect">
            <a:avLst/>
          </a:prstGeom>
          <a:noFill/>
          <a:ln/>
        </p:spPr>
        <p:txBody>
          <a:bodyPr wrap="square" rtlCol="0" anchor="ctr"/>
          <a:lstStyle/>
          <a:p>
            <a:pPr algn="ctr" indent="0" marL="0">
              <a:buNone/>
            </a:pPr>
            <a:r>
              <a:rPr lang="en-US" sz="1600" b="1" dirty="0">
                <a:solidFill>
                  <a:srgbClr val="FFFFFF"/>
                </a:solidFill>
              </a:rPr>
              <a:t>10</a:t>
            </a:r>
            <a:endParaRPr lang="en-US" sz="1600" dirty="0"/>
          </a:p>
        </p:txBody>
      </p:sp>
      <p:sp>
        <p:nvSpPr>
          <p:cNvPr id="33" name="item 10"/>
          <p:cNvSpPr txBox="1"/>
          <p:nvPr/>
        </p:nvSpPr>
        <p:spPr>
          <a:xfrm>
            <a:off x="7827264" y="5257800"/>
            <a:ext cx="4206240" cy="54864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  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a:t>
                      </a:r>
                      <a:r>
                        <a:rPr lang="en-US" sz="1300" b="1" dirty="0">
                          <a:solidFill>
                            <a:srgbClr val="0B1F33"/>
                          </a:solidFill>
                          <a:highlight>
                            <a:srgbClr val="FFFF00"/>
                          </a:highlight>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RO1: </a:t>
            </a:r>
            <a:r>
              <a:rPr lang="en-US" sz="1700" b="1" i="1" dirty="0">
                <a:solidFill>
                  <a:srgbClr val="0B1F33"/>
                </a:solidFill>
                <a:highlight>
                  <a:srgbClr val="FFFF00"/>
                </a:highlight>
              </a:rPr>
              <a:t>Trust-Centric Consent Model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0B1F33"/>
                </a:solidFill>
                <a:highlight>
                  <a:srgbClr val="FFFF00"/>
                </a:highlight>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ALG1 panel"/>
          <p:cNvSpPr/>
          <p:nvPr/>
        </p:nvSpPr>
        <p:spPr>
          <a:xfrm>
            <a:off x="6035040" y="1745454"/>
            <a:ext cx="5715000" cy="3961452"/>
          </a:xfrm>
          <a:prstGeom prst="roundRect">
            <a:avLst>
              <a:gd name="adj" fmla="val 277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1" descr="/tmp/deck/img/yellow/ALG1.png">    </p:cNvPr>
          <p:cNvPicPr>
            <a:picLocks noChangeAspect="1"/>
          </p:cNvPicPr>
          <p:nvPr/>
        </p:nvPicPr>
        <p:blipFill>
          <a:blip r:embed="rId1"/>
          <a:stretch>
            <a:fillRect/>
          </a:stretch>
        </p:blipFill>
        <p:spPr>
          <a:xfrm>
            <a:off x="6164780" y="1855182"/>
            <a:ext cx="5455520" cy="374199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1: ALGORITHM 1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RO1: </a:t>
            </a:r>
            <a:r>
              <a:rPr lang="en-US" sz="1500" b="1" i="1" dirty="0">
                <a:solidFill>
                  <a:srgbClr val="0B1F33"/>
                </a:solidFill>
                <a:highlight>
                  <a:srgbClr val="FFFF00"/>
                </a:highlight>
              </a:rPr>
              <a:t>Trust-Centric Consent Model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0 panel"/>
          <p:cNvSpPr/>
          <p:nvPr/>
        </p:nvSpPr>
        <p:spPr>
          <a:xfrm>
            <a:off x="4743972" y="960120"/>
            <a:ext cx="2703751" cy="5532120"/>
          </a:xfrm>
          <a:prstGeom prst="roundRect">
            <a:avLst>
              <a:gd name="adj" fmla="val 405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0" descr="/tmp/deck/img/yellow/F10.png">    </p:cNvPr>
          <p:cNvPicPr>
            <a:picLocks noChangeAspect="1"/>
          </p:cNvPicPr>
          <p:nvPr/>
        </p:nvPicPr>
        <p:blipFill>
          <a:blip r:embed="rId1"/>
          <a:stretch>
            <a:fillRect/>
          </a:stretch>
        </p:blipFill>
        <p:spPr>
          <a:xfrm>
            <a:off x="4853700" y="106984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RO2: </a:t>
            </a:r>
            <a:r>
              <a:rPr lang="en-US" sz="1700" b="1" i="1" dirty="0">
                <a:solidFill>
                  <a:srgbClr val="0B1F33"/>
                </a:solidFill>
                <a:highlight>
                  <a:srgbClr val="FFFF00"/>
                </a:highlight>
              </a:rPr>
              <a:t>Decentralised Identity and Authority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00" dirty="0">
                <a:solidFill>
                  <a:srgbClr val="FFFFFF"/>
                </a:solidFill>
              </a:rPr>
              <a:t>Identity is checked through the DID; authority through a verifiable credential.</a:t>
            </a:r>
            <a:endParaRPr lang="en-US" sz="1500" dirty="0"/>
          </a:p>
          <a:p>
            <a:pPr marL="342900" indent="-342900">
              <a:spcAft>
                <a:spcPts val="1000"/>
              </a:spcAft>
              <a:buSzPct val="100000"/>
              <a:buChar char="•"/>
            </a:pPr>
            <a:r>
              <a:rPr lang="en-US" sz="1500" dirty="0">
                <a:solidFill>
                  <a:srgbClr val="FFFFFF"/>
                </a:solidFill>
              </a:rPr>
              <a:t>Identity is not authority: a valid DID alone never gives access.</a:t>
            </a:r>
            <a:endParaRPr lang="en-US" sz="1500" dirty="0"/>
          </a:p>
          <a:p>
            <a:pPr marL="342900" indent="-342900">
              <a:spcAft>
                <a:spcPts val="1000"/>
              </a:spcAft>
              <a:buSzPct val="100000"/>
              <a:buChar char="•"/>
            </a:pPr>
            <a:r>
              <a:rPr lang="en-US" sz="1500" dirty="0">
                <a:solidFill>
                  <a:srgbClr val="FFFFFF"/>
                </a:solidFill>
              </a:rPr>
              <a:t>​</a:t>
            </a:r>
            <a:r>
              <a:rPr lang="en-US" sz="15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500" dirty="0"/>
          </a:p>
          <a:p>
            <a:pPr marL="342900" indent="-342900">
              <a:spcAft>
                <a:spcPts val="1000"/>
              </a:spcAft>
              <a:buSzPct val="100000"/>
              <a:buChar char="•"/>
            </a:pPr>
            <a:r>
              <a:rPr lang="en-US" sz="1500" dirty="0">
                <a:solidFill>
                  <a:srgbClr val="FFFFFF"/>
                </a:solidFill>
              </a:rPr>
              <a:t>Full DID resolution </a:t>
            </a:r>
            <a:r>
              <a:rPr lang="en-US" sz="1500" dirty="0">
                <a:solidFill>
                  <a:srgbClr val="0B1F33"/>
                </a:solidFill>
                <a:highlight>
                  <a:srgbClr val="FFFF00"/>
                </a:highlight>
              </a:rPr>
              <a:t>is</a:t>
            </a:r>
            <a:r>
              <a:rPr lang="en-US" sz="1500" dirty="0">
                <a:solidFill>
                  <a:srgbClr val="FFFFFF"/>
                </a:solidFill>
              </a:rPr>
              <a:t> planned for the next stage.</a:t>
            </a:r>
            <a:endParaRPr lang="en-US" sz="1500" dirty="0"/>
          </a:p>
        </p:txBody>
      </p:sp>
      <p:sp>
        <p:nvSpPr>
          <p:cNvPr id="8" name="ALG2 panel"/>
          <p:cNvSpPr/>
          <p:nvPr/>
        </p:nvSpPr>
        <p:spPr>
          <a:xfrm>
            <a:off x="6296033" y="960120"/>
            <a:ext cx="5193014" cy="5532120"/>
          </a:xfrm>
          <a:prstGeom prst="roundRect">
            <a:avLst>
              <a:gd name="adj" fmla="val 211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2" descr="/tmp/deck/img/yellow/ALG2.png">    </p:cNvPr>
          <p:cNvPicPr>
            <a:picLocks noChangeAspect="1"/>
          </p:cNvPicPr>
          <p:nvPr/>
        </p:nvPicPr>
        <p:blipFill>
          <a:blip r:embed="rId1"/>
          <a:stretch>
            <a:fillRect/>
          </a:stretch>
        </p:blipFill>
        <p:spPr>
          <a:xfrm>
            <a:off x="6405761" y="1073504"/>
            <a:ext cx="4973558" cy="5305352"/>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2: ALGORITHM 2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RO2: </a:t>
            </a:r>
            <a:r>
              <a:rPr lang="en-US" sz="1500" b="1" i="1" dirty="0">
                <a:solidFill>
                  <a:srgbClr val="0B1F33"/>
                </a:solidFill>
                <a:highlight>
                  <a:srgbClr val="FFFF00"/>
                </a:highlight>
              </a:rPr>
              <a:t>Decentralised Identity and Authority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2 panel"/>
          <p:cNvSpPr/>
          <p:nvPr/>
        </p:nvSpPr>
        <p:spPr>
          <a:xfrm>
            <a:off x="4203067" y="960120"/>
            <a:ext cx="3785562" cy="5532120"/>
          </a:xfrm>
          <a:prstGeom prst="roundRect">
            <a:avLst>
              <a:gd name="adj" fmla="val 28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2" descr="/tmp/deck/img/F12.png">    </p:cNvPr>
          <p:cNvPicPr>
            <a:picLocks noChangeAspect="1"/>
          </p:cNvPicPr>
          <p:nvPr/>
        </p:nvPicPr>
        <p:blipFill>
          <a:blip r:embed="rId1"/>
          <a:stretch>
            <a:fillRect/>
          </a:stretch>
        </p:blipFill>
        <p:spPr>
          <a:xfrm>
            <a:off x="4312795" y="106984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RO3: </a:t>
            </a:r>
            <a:r>
              <a:rPr lang="en-US" sz="1700" b="1" i="1" dirty="0">
                <a:solidFill>
                  <a:srgbClr val="0B1F33"/>
                </a:solidFill>
                <a:highlight>
                  <a:srgbClr val="FFFF00"/>
                </a:highlight>
              </a:rPr>
              <a:t>Trustworthy Multi-Party Authorisation</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450" dirty="0">
                <a:solidFill>
                  <a:srgbClr val="FFFFFF"/>
                </a:solidFill>
              </a:rPr>
              <a:t>The guardian set G is fixed when the consent is created.</a:t>
            </a:r>
            <a:endParaRPr lang="en-US" sz="1450" dirty="0"/>
          </a:p>
          <a:p>
            <a:pPr marL="342900" indent="-342900">
              <a:spcAft>
                <a:spcPts val="1000"/>
              </a:spcAft>
              <a:buSzPct val="100000"/>
              <a:buChar char="•"/>
            </a:pPr>
            <a:r>
              <a:rPr lang="en-US" sz="1450" dirty="0">
                <a:solidFill>
                  <a:srgbClr val="FFFFFF"/>
                </a:solidFill>
              </a:rPr>
              <a:t>Each guardian signs an EIP-712 approval; the system recovers the signer and checks it is in G.</a:t>
            </a:r>
            <a:endParaRPr lang="en-US" sz="1450" dirty="0"/>
          </a:p>
          <a:p>
            <a:pPr marL="342900" indent="-342900">
              <a:spcAft>
                <a:spcPts val="1000"/>
              </a:spcAft>
              <a:buSzPct val="100000"/>
              <a:buChar char="•"/>
            </a:pPr>
            <a:r>
              <a:rPr lang="en-US" sz="1450" dirty="0">
                <a:solidFill>
                  <a:srgbClr val="FFFFFF"/>
                </a:solidFill>
              </a:rPr>
              <a:t>​</a:t>
            </a:r>
            <a:r>
              <a:rPr lang="en-US" sz="1450" dirty="0">
                <a:solidFill>
                  <a:srgbClr val="0B1F33"/>
                </a:solidFill>
                <a:highlight>
                  <a:srgbClr val="FFFF00"/>
                </a:highlight>
              </a:rPr>
              <a:t>Approvals from outsiders and duplicates are not counted; a signature replayed from another consent fails the identity check.</a:t>
            </a:r>
            <a:endParaRPr lang="en-US" sz="1450" dirty="0"/>
          </a:p>
          <a:p>
            <a:pPr marL="342900" indent="-342900">
              <a:spcAft>
                <a:spcPts val="1000"/>
              </a:spcAft>
              <a:buSzPct val="100000"/>
              <a:buChar char="•"/>
            </a:pPr>
            <a:r>
              <a:rPr lang="en-US" sz="1450" dirty="0">
                <a:solidFill>
                  <a:srgbClr val="FFFFFF"/>
                </a:solidFill>
              </a:rPr>
              <a:t>N-of-N rule: every listed guardian must sign (2-of-2 in the demo).</a:t>
            </a:r>
            <a:endParaRPr lang="en-US" sz="1450" dirty="0"/>
          </a:p>
          <a:p>
            <a:pPr marL="342900" indent="-342900">
              <a:spcAft>
                <a:spcPts val="1000"/>
              </a:spcAft>
              <a:buSzPct val="100000"/>
              <a:buChar char="•"/>
            </a:pPr>
            <a:r>
              <a:rPr lang="en-US" sz="1450" dirty="0">
                <a:solidFill>
                  <a:srgbClr val="FFFFFF"/>
                </a:solidFill>
              </a:rPr>
              <a:t>When all have signed, a soulbound token is minted on Sepolia in the background.</a:t>
            </a:r>
            <a:endParaRPr lang="en-US" sz="1450" dirty="0"/>
          </a:p>
          <a:p>
            <a:pPr marL="342900" indent="-342900">
              <a:spcAft>
                <a:spcPts val="1000"/>
              </a:spcAft>
              <a:buSzPct val="100000"/>
              <a:buChar char="•"/>
            </a:pPr>
            <a:r>
              <a:rPr lang="en-US" sz="1450" dirty="0">
                <a:solidFill>
                  <a:srgbClr val="FFFFFF"/>
                </a:solidFill>
              </a:rPr>
              <a:t>In the prototype the guardian keys are derived from the guardian DIDs; wallet-held keys are for the next stage.</a:t>
            </a:r>
            <a:endParaRPr lang="en-US" sz="1450" dirty="0"/>
          </a:p>
        </p:txBody>
      </p:sp>
      <p:sp>
        <p:nvSpPr>
          <p:cNvPr id="8" name="ALG3 panel"/>
          <p:cNvSpPr/>
          <p:nvPr/>
        </p:nvSpPr>
        <p:spPr>
          <a:xfrm>
            <a:off x="6632236" y="960120"/>
            <a:ext cx="4520608" cy="5532120"/>
          </a:xfrm>
          <a:prstGeom prst="roundRect">
            <a:avLst>
              <a:gd name="adj" fmla="val 24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3" descr="/tmp/deck/img/yellow/ALG3.png">    </p:cNvPr>
          <p:cNvPicPr>
            <a:picLocks noChangeAspect="1"/>
          </p:cNvPicPr>
          <p:nvPr/>
        </p:nvPicPr>
        <p:blipFill>
          <a:blip r:embed="rId1"/>
          <a:stretch>
            <a:fillRect/>
          </a:stretch>
        </p:blipFill>
        <p:spPr>
          <a:xfrm>
            <a:off x="6741964" y="1080769"/>
            <a:ext cx="4301152" cy="529082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3: ALGORITHM 3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RO3: </a:t>
            </a:r>
            <a:r>
              <a:rPr lang="en-US" sz="1500" b="1" i="1" dirty="0">
                <a:solidFill>
                  <a:srgbClr val="0B1F33"/>
                </a:solidFill>
                <a:highlight>
                  <a:srgbClr val="FFFF00"/>
                </a:highlight>
              </a:rPr>
              <a:t>Trustworthy Multi-Party Authorisation</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3 panel"/>
          <p:cNvSpPr/>
          <p:nvPr/>
        </p:nvSpPr>
        <p:spPr>
          <a:xfrm>
            <a:off x="4266250" y="960120"/>
            <a:ext cx="3659194" cy="5532120"/>
          </a:xfrm>
          <a:prstGeom prst="roundRect">
            <a:avLst>
              <a:gd name="adj" fmla="val 29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3" descr="/tmp/deck/img/yellow/F13.png">    </p:cNvPr>
          <p:cNvPicPr>
            <a:picLocks noChangeAspect="1"/>
          </p:cNvPicPr>
          <p:nvPr/>
        </p:nvPicPr>
        <p:blipFill>
          <a:blip r:embed="rId1"/>
          <a:stretch>
            <a:fillRect/>
          </a:stretch>
        </p:blipFill>
        <p:spPr>
          <a:xfrm>
            <a:off x="4375978" y="106984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RO4: </a:t>
            </a:r>
            <a:r>
              <a:rPr lang="en-US" sz="1700" b="1" i="1" dirty="0">
                <a:solidFill>
                  <a:srgbClr val="0B1F33"/>
                </a:solidFill>
                <a:highlight>
                  <a:srgbClr val="FFFF00"/>
                </a:highlight>
              </a:rPr>
              <a:t>Policy- and Context-Aware Access Control</a:t>
            </a:r>
            <a:endParaRPr lang="en-US" sz="1700" dirty="0"/>
          </a:p>
        </p:txBody>
      </p:sp>
      <p:sp>
        <p:nvSpPr>
          <p:cNvPr id="5"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550" dirty="0">
                <a:solidFill>
                  <a:srgbClr val="FFFFFF"/>
                </a:solidFill>
              </a:rPr>
              <a:t>The requested data must be a non-empty subset of the agreed data scope.</a:t>
            </a:r>
            <a:endParaRPr lang="en-US" sz="1550" dirty="0"/>
          </a:p>
          <a:p>
            <a:pPr marL="342900" indent="-342900">
              <a:spcAft>
                <a:spcPts val="1000"/>
              </a:spcAft>
              <a:buSzPct val="100000"/>
              <a:buChar char="•"/>
            </a:pPr>
            <a:r>
              <a:rPr lang="en-US" sz="1550" dirty="0">
                <a:solidFill>
                  <a:srgbClr val="FFFFFF"/>
                </a:solidFill>
              </a:rPr>
              <a:t>The purpose must be a supported purpose of the consent.</a:t>
            </a:r>
            <a:endParaRPr lang="en-US" sz="1550" dirty="0"/>
          </a:p>
          <a:p>
            <a:pPr marL="342900" indent="-342900">
              <a:spcAft>
                <a:spcPts val="1000"/>
              </a:spcAft>
              <a:buSzPct val="100000"/>
              <a:buChar char="•"/>
            </a:pPr>
            <a:r>
              <a:rPr lang="en-US" sz="1550" dirty="0">
                <a:solidFill>
                  <a:srgbClr val="FFFFFF"/>
                </a:solidFill>
              </a:rPr>
              <a:t>Time and </a:t>
            </a:r>
            <a:r>
              <a:rPr lang="en-US" sz="1550" dirty="0">
                <a:solidFill>
                  <a:srgbClr val="0B1F33"/>
                </a:solidFill>
                <a:highlight>
                  <a:srgbClr val="FFFF00"/>
                </a:highlight>
              </a:rPr>
              <a:t>the lifecycle state</a:t>
            </a:r>
            <a:r>
              <a:rPr lang="en-US" sz="1550" dirty="0">
                <a:solidFill>
                  <a:srgbClr val="FFFFFF"/>
                </a:solidFill>
              </a:rPr>
              <a:t> are checked in the same decision.</a:t>
            </a:r>
            <a:endParaRPr lang="en-US" sz="1550" dirty="0"/>
          </a:p>
          <a:p>
            <a:pPr marL="342900" indent="-342900">
              <a:spcAft>
                <a:spcPts val="1000"/>
              </a:spcAft>
              <a:buSzPct val="100000"/>
              <a:buChar char="•"/>
            </a:pPr>
            <a:r>
              <a:rPr lang="en-US" sz="1550" dirty="0">
                <a:solidFill>
                  <a:srgbClr val="FFFFFF"/>
                </a:solidFill>
              </a:rPr>
              <a:t>A Groth16 proof must verify before any data is retrieved.</a:t>
            </a:r>
            <a:endParaRPr lang="en-US" sz="1550" dirty="0"/>
          </a:p>
          <a:p>
            <a:pPr marL="342900" indent="-342900">
              <a:spcAft>
                <a:spcPts val="1000"/>
              </a:spcAft>
              <a:buSzPct val="100000"/>
              <a:buChar char="•"/>
            </a:pPr>
            <a:r>
              <a:rPr lang="en-US" sz="1550" dirty="0">
                <a:solidFill>
                  <a:srgbClr val="FFFFFF"/>
                </a:solidFill>
              </a:rPr>
              <a:t>Example: asking for Procedure when only Observation and Medication were agreed gives DENY.</a:t>
            </a:r>
            <a:endParaRPr lang="en-US" sz="1550" dirty="0"/>
          </a:p>
        </p:txBody>
      </p:sp>
      <p:sp>
        <p:nvSpPr>
          <p:cNvPr id="8" name="ALG4 panel"/>
          <p:cNvSpPr/>
          <p:nvPr/>
        </p:nvSpPr>
        <p:spPr>
          <a:xfrm>
            <a:off x="6651819" y="960120"/>
            <a:ext cx="4481441" cy="5532120"/>
          </a:xfrm>
          <a:prstGeom prst="roundRect">
            <a:avLst>
              <a:gd name="adj" fmla="val 244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4" descr="/tmp/deck/img/yellow/ALG4.png">    </p:cNvPr>
          <p:cNvPicPr>
            <a:picLocks noChangeAspect="1"/>
          </p:cNvPicPr>
          <p:nvPr/>
        </p:nvPicPr>
        <p:blipFill>
          <a:blip r:embed="rId1"/>
          <a:stretch>
            <a:fillRect/>
          </a:stretch>
        </p:blipFill>
        <p:spPr>
          <a:xfrm>
            <a:off x="6761547" y="1080264"/>
            <a:ext cx="4261985" cy="529183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4: ALGORITHM 4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RO4: </a:t>
            </a:r>
            <a:r>
              <a:rPr lang="en-US" sz="1500" b="1" i="1" dirty="0">
                <a:solidFill>
                  <a:srgbClr val="0B1F33"/>
                </a:solidFill>
                <a:highlight>
                  <a:srgbClr val="FFFF00"/>
                </a:highlight>
              </a:rPr>
              <a:t>Policy- and Context-Aware Access Control</a:t>
            </a:r>
            <a:endParaRPr lang="en-US" sz="1500" dirty="0"/>
          </a:p>
        </p:txBody>
      </p:sp>
      <p:sp>
        <p:nvSpPr>
          <p:cNvPr id="4" name="status chip"/>
          <p:cNvSpPr/>
          <p:nvPr/>
        </p:nvSpPr>
        <p:spPr>
          <a:xfrm>
            <a:off x="548640" y="1783080"/>
            <a:ext cx="2377440" cy="411480"/>
          </a:xfrm>
          <a:prstGeom prst="roundRect">
            <a:avLst>
              <a:gd name="adj" fmla="val 44444"/>
            </a:avLst>
          </a:prstGeom>
          <a:solidFill>
            <a:srgbClr val="2E7D32"/>
          </a:solidFill>
          <a:ln w="12700">
            <a:solidFill>
              <a:srgbClr val="2E7D32"/>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6" name="F14 panel"/>
          <p:cNvSpPr/>
          <p:nvPr/>
        </p:nvSpPr>
        <p:spPr>
          <a:xfrm>
            <a:off x="4903969" y="960120"/>
            <a:ext cx="2383757" cy="5532120"/>
          </a:xfrm>
          <a:prstGeom prst="roundRect">
            <a:avLst>
              <a:gd name="adj" fmla="val 460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4" descr="/tmp/deck/img/yellow/F14.png">    </p:cNvPr>
          <p:cNvPicPr>
            <a:picLocks noChangeAspect="1"/>
          </p:cNvPicPr>
          <p:nvPr/>
        </p:nvPicPr>
        <p:blipFill>
          <a:blip r:embed="rId1"/>
          <a:stretch>
            <a:fillRect/>
          </a:stretch>
        </p:blipFill>
        <p:spPr>
          <a:xfrm>
            <a:off x="5013697" y="106984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RO5: </a:t>
            </a:r>
            <a:r>
              <a:rPr lang="en-US" sz="1700" b="1" i="1" dirty="0">
                <a:solidFill>
                  <a:srgbClr val="0B1F33"/>
                </a:solidFill>
                <a:highlight>
                  <a:srgbClr val="FFFF00"/>
                </a:highlight>
              </a:rPr>
              <a:t>Temporal and Lifecycle Trust</a:t>
            </a:r>
            <a:endParaRPr lang="en-US" sz="1700" dirty="0"/>
          </a:p>
        </p:txBody>
      </p:sp>
      <p:sp>
        <p:nvSpPr>
          <p:cNvPr id="5"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350" dirty="0">
                <a:solidFill>
                  <a:srgbClr val="FFFFFF"/>
                </a:solidFill>
              </a:rPr>
              <a:t>Working now: the validity window is stored on-chain and checked at every request.</a:t>
            </a:r>
            <a:endParaRPr lang="en-US" sz="1350" dirty="0"/>
          </a:p>
          <a:p>
            <a:pPr marL="342900" indent="-342900">
              <a:spcAft>
                <a:spcPts val="1000"/>
              </a:spcAft>
              <a:buSzPct val="100000"/>
              <a:buChar char="•"/>
            </a:pPr>
            <a:r>
              <a:rPr lang="en-US" sz="1350" dirty="0">
                <a:solidFill>
                  <a:srgbClr val="FFFFFF"/>
                </a:solidFill>
              </a:rPr>
              <a:t>Working now: revocation end to end, including an on-chain revoke transaction.</a:t>
            </a:r>
            <a:endParaRPr lang="en-US" sz="1350" dirty="0"/>
          </a:p>
          <a:p>
            <a:pPr marL="342900" indent="-342900">
              <a:spcAft>
                <a:spcPts val="1000"/>
              </a:spcAft>
              <a:buSzPct val="100000"/>
              <a:buChar char="•"/>
            </a:pPr>
            <a:r>
              <a:rPr lang="en-US" sz="1350" dirty="0">
                <a:solidFill>
                  <a:srgbClr val="FFFFFF"/>
                </a:solidFill>
              </a:rPr>
              <a:t>​</a:t>
            </a:r>
            <a:r>
              <a:rPr lang="en-US" sz="1350" dirty="0">
                <a:solidFill>
                  <a:srgbClr val="0B1F33"/>
                </a:solidFill>
                <a:highlight>
                  <a:srgbClr val="FFFF00"/>
                </a:highlight>
              </a:rPr>
              <a:t>Design: L is the lifecycle state (CREATED, PENDING, ACTIVE, SUSPENDED, REVOKED, EXPIRED), checked by VL(C) = ValidState(C) ∧ ValidTransition(C).</a:t>
            </a:r>
            <a:endParaRPr lang="en-US" sz="1350" dirty="0"/>
          </a:p>
          <a:p>
            <a:pPr marL="342900" indent="-342900">
              <a:spcAft>
                <a:spcPts val="1000"/>
              </a:spcAft>
              <a:buSzPct val="100000"/>
              <a:buChar char="•"/>
            </a:pPr>
            <a:r>
              <a:rPr lang="en-US" sz="1350" dirty="0">
                <a:solidFill>
                  <a:srgbClr val="FFFFFF"/>
                </a:solidFill>
              </a:rPr>
              <a:t>Working now: a clear lifecycle: PENDING_SIGNATURE, PENDING_TOKEN, NOT_STARTED, ACTIVE, EXPIRED, REVOKED.</a:t>
            </a:r>
            <a:endParaRPr lang="en-US" sz="1350" dirty="0"/>
          </a:p>
          <a:p>
            <a:pPr marL="342900" indent="-342900">
              <a:spcAft>
                <a:spcPts val="1000"/>
              </a:spcAft>
              <a:buSzPct val="100000"/>
              <a:buChar char="•"/>
            </a:pPr>
            <a:r>
              <a:rPr lang="en-US" sz="1350" dirty="0">
                <a:solidFill>
                  <a:srgbClr val="FFFFFF"/>
                </a:solidFill>
              </a:rPr>
              <a:t>Next stage: </a:t>
            </a:r>
            <a:r>
              <a:rPr lang="en-US" sz="1350" dirty="0">
                <a:solidFill>
                  <a:srgbClr val="0B1F33"/>
                </a:solidFill>
                <a:highlight>
                  <a:srgbClr val="FFFF00"/>
                </a:highlight>
              </a:rPr>
              <a:t>the SUSPENDED state,</a:t>
            </a:r>
            <a:r>
              <a:rPr lang="en-US" sz="1350" dirty="0">
                <a:solidFill>
                  <a:srgbClr val="FFFFFF"/>
                </a:solidFill>
              </a:rPr>
              <a:t> the lifecycle transition check, consent modification, delegation, guardian-set changes and a formal lifecycle model.</a:t>
            </a:r>
            <a:endParaRPr lang="en-US" sz="1350" dirty="0"/>
          </a:p>
        </p:txBody>
      </p:sp>
      <p:sp>
        <p:nvSpPr>
          <p:cNvPr id="8" name="ALG5 panel"/>
          <p:cNvSpPr/>
          <p:nvPr/>
        </p:nvSpPr>
        <p:spPr>
          <a:xfrm>
            <a:off x="6248079" y="960120"/>
            <a:ext cx="5288923" cy="5532120"/>
          </a:xfrm>
          <a:prstGeom prst="roundRect">
            <a:avLst>
              <a:gd name="adj" fmla="val 2075"/>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5" descr="/tmp/deck/img/yellow/ALG5.png">    </p:cNvPr>
          <p:cNvPicPr>
            <a:picLocks noChangeAspect="1"/>
          </p:cNvPicPr>
          <p:nvPr/>
        </p:nvPicPr>
        <p:blipFill>
          <a:blip r:embed="rId1"/>
          <a:stretch>
            <a:fillRect/>
          </a:stretch>
        </p:blipFill>
        <p:spPr>
          <a:xfrm>
            <a:off x="6357807" y="1072422"/>
            <a:ext cx="5069467" cy="5307517"/>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5: ALGORITHM 5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RO5: </a:t>
            </a:r>
            <a:r>
              <a:rPr lang="en-US" sz="1500" b="1" i="1" dirty="0">
                <a:solidFill>
                  <a:srgbClr val="0B1F33"/>
                </a:solidFill>
                <a:highlight>
                  <a:srgbClr val="FFFF00"/>
                </a:highlight>
              </a:rPr>
              <a:t>Temporal and Lifecycle Trust</a:t>
            </a:r>
            <a:endParaRPr lang="en-US" sz="1500" dirty="0"/>
          </a:p>
        </p:txBody>
      </p:sp>
      <p:sp>
        <p:nvSpPr>
          <p:cNvPr id="4" name="status chip"/>
          <p:cNvSpPr/>
          <p:nvPr/>
        </p:nvSpPr>
        <p:spPr>
          <a:xfrm>
            <a:off x="548640" y="1783080"/>
            <a:ext cx="2377440" cy="411480"/>
          </a:xfrm>
          <a:prstGeom prst="roundRect">
            <a:avLst>
              <a:gd name="adj" fmla="val 44444"/>
            </a:avLst>
          </a:prstGeom>
          <a:solidFill>
            <a:srgbClr val="B7791F"/>
          </a:solidFill>
          <a:ln w="12700">
            <a:solidFill>
              <a:srgbClr val="B7791F"/>
            </a:solidFill>
            <a:prstDash val="solid"/>
          </a:ln>
        </p:spPr>
      </p:sp>
      <p:sp>
        <p:nvSpPr>
          <p:cNvPr id="5" name="status text"/>
          <p:cNvSpPr txBox="1"/>
          <p:nvPr/>
        </p:nvSpPr>
        <p:spPr>
          <a:xfrm>
            <a:off x="548640" y="178308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6" name="F35 panel"/>
          <p:cNvSpPr/>
          <p:nvPr/>
        </p:nvSpPr>
        <p:spPr>
          <a:xfrm>
            <a:off x="4546506" y="960120"/>
            <a:ext cx="3098683" cy="5532120"/>
          </a:xfrm>
          <a:prstGeom prst="roundRect">
            <a:avLst>
              <a:gd name="adj" fmla="val 35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5" descr="/tmp/deck/img/yellow/F35.png">    </p:cNvPr>
          <p:cNvPicPr>
            <a:picLocks noChangeAspect="1"/>
          </p:cNvPicPr>
          <p:nvPr/>
        </p:nvPicPr>
        <p:blipFill>
          <a:blip r:embed="rId1"/>
          <a:stretch>
            <a:fillRect/>
          </a:stretch>
        </p:blipFill>
        <p:spPr>
          <a:xfrm>
            <a:off x="4656234" y="106984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548640" y="960120"/>
            <a:ext cx="5303520" cy="731520"/>
          </a:xfrm>
          <a:prstGeom prst="rect">
            <a:avLst/>
          </a:prstGeom>
          <a:noFill/>
          <a:ln/>
        </p:spPr>
        <p:txBody>
          <a:bodyPr wrap="square" rtlCol="0" anchor="t"/>
          <a:lstStyle/>
          <a:p>
            <a:pPr indent="0" marL="0">
              <a:buNone/>
            </a:pPr>
            <a:r>
              <a:rPr lang="en-US" sz="1700" b="1" i="1" dirty="0">
                <a:solidFill>
                  <a:srgbClr val="1FB5D6"/>
                </a:solidFill>
              </a:rPr>
              <a:t>RO6: </a:t>
            </a:r>
            <a:r>
              <a:rPr lang="en-US" sz="1700" b="1" i="1" dirty="0">
                <a:solidFill>
                  <a:srgbClr val="0B1F33"/>
                </a:solidFill>
                <a:highlight>
                  <a:srgbClr val="FFFF00"/>
                </a:highlight>
              </a:rPr>
              <a:t>Formal Security Assurance and Empirical Validation</a:t>
            </a:r>
            <a:endParaRPr lang="en-US" sz="1700" dirty="0"/>
          </a:p>
        </p:txBody>
      </p:sp>
      <p:sp>
        <p:nvSpPr>
          <p:cNvPr id="5"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548640" y="2377440"/>
            <a:ext cx="5303520" cy="40690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Done: 46 automated tests pass, including 13 attack scenarios A1 to A13.</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ALG6 panel"/>
          <p:cNvSpPr/>
          <p:nvPr/>
        </p:nvSpPr>
        <p:spPr>
          <a:xfrm>
            <a:off x="6035040" y="1719388"/>
            <a:ext cx="5715000" cy="4013584"/>
          </a:xfrm>
          <a:prstGeom prst="roundRect">
            <a:avLst>
              <a:gd name="adj" fmla="val 273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yellow/ALG6.png">    </p:cNvPr>
          <p:cNvPicPr>
            <a:picLocks noChangeAspect="1"/>
          </p:cNvPicPr>
          <p:nvPr/>
        </p:nvPicPr>
        <p:blipFill>
          <a:blip r:embed="rId1"/>
          <a:stretch>
            <a:fillRect/>
          </a:stretch>
        </p:blipFill>
        <p:spPr>
          <a:xfrm>
            <a:off x="6165068" y="1829116"/>
            <a:ext cx="5454943" cy="3794128"/>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STEP 6: ALGORITHM 6 AS A FLOWCHART</a:t>
            </a:r>
            <a:endParaRPr lang="en-US" sz="3000" dirty="0"/>
          </a:p>
        </p:txBody>
      </p:sp>
      <p:sp>
        <p:nvSpPr>
          <p:cNvPr id="3" name="objective subtitle"/>
          <p:cNvSpPr txBox="1"/>
          <p:nvPr/>
        </p:nvSpPr>
        <p:spPr>
          <a:xfrm>
            <a:off x="548640" y="960120"/>
            <a:ext cx="3291840" cy="731520"/>
          </a:xfrm>
          <a:prstGeom prst="rect">
            <a:avLst/>
          </a:prstGeom>
          <a:noFill/>
          <a:ln/>
        </p:spPr>
        <p:txBody>
          <a:bodyPr wrap="square" rtlCol="0" anchor="t"/>
          <a:lstStyle/>
          <a:p>
            <a:pPr indent="0" marL="0">
              <a:buNone/>
            </a:pPr>
            <a:r>
              <a:rPr lang="en-US" sz="1500" b="1" i="1" dirty="0">
                <a:solidFill>
                  <a:srgbClr val="1FB5D6"/>
                </a:solidFill>
              </a:rPr>
              <a:t>RO6: </a:t>
            </a:r>
            <a:r>
              <a:rPr lang="en-US" sz="1500" b="1" i="1" dirty="0">
                <a:solidFill>
                  <a:srgbClr val="0B1F33"/>
                </a:solidFill>
                <a:highlight>
                  <a:srgbClr val="FFFF00"/>
                </a:highlight>
              </a:rPr>
              <a:t>Formal Security Assurance and Empirical Validation</a:t>
            </a:r>
            <a:endParaRPr lang="en-US" sz="1500" dirty="0"/>
          </a:p>
        </p:txBody>
      </p:sp>
      <p:sp>
        <p:nvSpPr>
          <p:cNvPr id="4" name="status chip"/>
          <p:cNvSpPr/>
          <p:nvPr/>
        </p:nvSpPr>
        <p:spPr>
          <a:xfrm>
            <a:off x="548640" y="1783080"/>
            <a:ext cx="3200400" cy="411480"/>
          </a:xfrm>
          <a:prstGeom prst="roundRect">
            <a:avLst>
              <a:gd name="adj" fmla="val 44444"/>
            </a:avLst>
          </a:prstGeom>
          <a:solidFill>
            <a:srgbClr val="6D5BA8"/>
          </a:solidFill>
          <a:ln w="12700">
            <a:solidFill>
              <a:srgbClr val="6D5BA8"/>
            </a:solidFill>
            <a:prstDash val="solid"/>
          </a:ln>
        </p:spPr>
      </p:sp>
      <p:sp>
        <p:nvSpPr>
          <p:cNvPr id="5" name="status text"/>
          <p:cNvSpPr txBox="1"/>
          <p:nvPr/>
        </p:nvSpPr>
        <p:spPr>
          <a:xfrm>
            <a:off x="548640" y="178308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6" name="F16 panel"/>
          <p:cNvSpPr/>
          <p:nvPr/>
        </p:nvSpPr>
        <p:spPr>
          <a:xfrm>
            <a:off x="4023360" y="960120"/>
            <a:ext cx="5675087"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16" descr="/tmp/deck/img/yellow/F16.png">    </p:cNvPr>
          <p:cNvPicPr>
            <a:picLocks noChangeAspect="1"/>
          </p:cNvPicPr>
          <p:nvPr/>
        </p:nvPicPr>
        <p:blipFill>
          <a:blip r:embed="rId1"/>
          <a:stretch>
            <a:fillRect/>
          </a:stretch>
        </p:blipFill>
        <p:spPr>
          <a:xfrm>
            <a:off x="4133088" y="1069848"/>
            <a:ext cx="545563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7"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t>
            </a:r>
            <a:r>
              <a:rPr lang="en-US" sz="1400" dirty="0">
                <a:solidFill>
                  <a:srgbClr val="0B1F33"/>
                </a:solidFill>
                <a:highlight>
                  <a:srgbClr val="FFFF00"/>
                </a:highlight>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VALIDATION: THIRTEEN ATTACK SCENARIOS</a:t>
            </a:r>
            <a:endParaRPr lang="en-US" sz="3000" dirty="0"/>
          </a:p>
        </p:txBody>
      </p:sp>
      <p:graphicFrame>
        <p:nvGraphicFramePr>
          <p:cNvPr id="28"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20040">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2004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20040">
                <a:tc>
                  <a:txBody>
                    <a:bodyPr/>
                    <a:lstStyle/>
                    <a:p>
                      <a:pPr algn="l" indent="0" marL="0">
                        <a:buNone/>
                      </a:pPr>
                      <a:r>
                        <a:rPr lang="en-US" sz="1150" b="1" dirty="0">
                          <a:solidFill>
                            <a:srgbClr val="0B1F33"/>
                          </a:solidFill>
                        </a:rPr>
                        <a:t>​</a:t>
                      </a:r>
                      <a:r>
                        <a:rPr lang="en-US" sz="1150" b="1" dirty="0">
                          <a:solidFill>
                            <a:srgbClr val="0B1F33"/>
                          </a:solidFill>
                          <a:highlight>
                            <a:srgbClr val="FFFF00"/>
                          </a:highlight>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t>
                      </a:r>
                      <a:r>
                        <a:rPr lang="en-US" sz="1150" dirty="0">
                          <a:solidFill>
                            <a:srgbClr val="0B1F33"/>
                          </a:solidFill>
                          <a:highlight>
                            <a:srgbClr val="FFFF00"/>
                          </a:highlight>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t>
                      </a:r>
                      <a:r>
                        <a:rPr lang="en-US" sz="1150" b="1" dirty="0">
                          <a:solidFill>
                            <a:srgbClr val="0B1F33"/>
                          </a:solidFill>
                          <a:highlight>
                            <a:srgbClr val="FFFF00"/>
                          </a:highlight>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a:t>
                      </a:r>
                      <a:r>
                        <a:rPr lang="en-US" sz="1150" b="1" dirty="0">
                          <a:solidFill>
                            <a:srgbClr val="0B1F33"/>
                          </a:solidFill>
                          <a:highlight>
                            <a:srgbClr val="FFFF00"/>
                          </a:highlight>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715000"/>
            <a:ext cx="7315200" cy="91440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0B1F33"/>
                </a:solidFill>
                <a:highlight>
                  <a:srgbClr val="FFFF00"/>
                </a:highlight>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0B1F33"/>
                </a:solidFill>
                <a:highlight>
                  <a:srgbClr val="FFFF00"/>
                </a:highlight>
              </a:rPr>
              <a:t>A authorisation</a:t>
            </a:r>
            <a:r>
              <a:rPr lang="en-US" sz="950" i="1" dirty="0">
                <a:solidFill>
                  <a:srgbClr val="FFFFFF"/>
                </a:solidFill>
              </a:rPr>
              <a:t>, P policy and scope, T time, </a:t>
            </a:r>
            <a:r>
              <a:rPr lang="en-US" sz="950" i="1" dirty="0">
                <a:solidFill>
                  <a:srgbClr val="0B1F33"/>
                </a:solidFill>
                <a:highlight>
                  <a:srgbClr val="FFFF00"/>
                </a:highlight>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
            </a:r>
            <a:r>
              <a:rPr lang="en-US" sz="1600" dirty="0">
                <a:solidFill>
                  <a:srgbClr val="0B1F33"/>
                </a:solidFill>
                <a:highlight>
                  <a:srgbClr val="FFFF00"/>
                </a:highlight>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a:t>
            </a:r>
            <a:r>
              <a:rPr lang="en-US" sz="4400" b="1" dirty="0">
                <a:solidFill>
                  <a:srgbClr val="0B1F33"/>
                </a:solidFill>
                <a:highlight>
                  <a:srgbClr val="FFFF00"/>
                </a:highlight>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yellow/F42.png">    </p:cNvPr>
          <p:cNvPicPr>
            <a:picLocks noChangeAspect="1"/>
          </p:cNvPicPr>
          <p:nvPr/>
        </p:nvPicPr>
        <p:blipFill>
          <a:blip r:embed="rId1"/>
          <a:stretch>
            <a:fillRect/>
          </a:stretch>
        </p:blipFill>
        <p:spPr>
          <a:xfrm>
            <a:off x="6944730" y="1389888"/>
            <a:ext cx="4444261" cy="2532888"/>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a:t>
            </a:r>
            <a:r>
              <a:rPr lang="en-US" sz="2000" b="1" dirty="0">
                <a:solidFill>
                  <a:srgbClr val="0B1F33"/>
                </a:solidFill>
                <a:highlight>
                  <a:srgbClr val="FFFF00"/>
                </a:highlight>
              </a:rPr>
              <a:t>shifts the focus</a:t>
            </a:r>
            <a:r>
              <a:rPr lang="en-US" sz="2000" dirty="0">
                <a:solidFill>
                  <a:srgbClr val="0B1F33"/>
                </a:solidFill>
                <a:highlight>
                  <a:srgbClr val="FFFF00"/>
                </a:highlight>
              </a:rPr>
              <a:t> from determining </a:t>
            </a:r>
            <a:r>
              <a:rPr lang="en-US" sz="2000" b="1" dirty="0">
                <a:solidFill>
                  <a:srgbClr val="0B1F33"/>
                </a:solidFill>
                <a:highlight>
                  <a:srgbClr val="FFFF00"/>
                </a:highlight>
              </a:rPr>
              <a:t>whether consent has merely been recorded</a:t>
            </a:r>
            <a:r>
              <a:rPr lang="en-US" sz="2000" dirty="0">
                <a:solidFill>
                  <a:srgbClr val="0B1F33"/>
                </a:solidFill>
                <a:highlight>
                  <a:srgbClr val="FFFF00"/>
                </a:highlight>
              </a:rPr>
              <a:t> towards determining whether a data-access decision has been generated under </a:t>
            </a:r>
            <a:r>
              <a:rPr lang="en-US" sz="2000" b="1" dirty="0">
                <a:solidFill>
                  <a:srgbClr val="0B1F33"/>
                </a:solidFill>
                <a:highlight>
                  <a:srgbClr val="FFFF00"/>
                </a:highlight>
              </a:rPr>
              <a:t>sufficient and independently verifiable trust conditions</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brings </a:t>
            </a:r>
            <a:r>
              <a:rPr lang="en-US" sz="2000" b="1" dirty="0">
                <a:solidFill>
                  <a:srgbClr val="0B1F33"/>
                </a:solidFill>
                <a:highlight>
                  <a:srgbClr val="FFFF00"/>
                </a:highlight>
              </a:rPr>
              <a:t>identity, authority, multi-party approval, policy, time and lifecycle</a:t>
            </a:r>
            <a:r>
              <a:rPr lang="en-US" sz="2000" dirty="0">
                <a:solidFill>
                  <a:srgbClr val="0B1F33"/>
                </a:solidFill>
                <a:highlight>
                  <a:srgbClr val="FFFF00"/>
                </a:highlight>
              </a:rPr>
              <a:t> together in </a:t>
            </a:r>
            <a:r>
              <a:rPr lang="en-US" sz="2000" b="1" dirty="0">
                <a:solidFill>
                  <a:srgbClr val="0B1F33"/>
                </a:solidFill>
                <a:highlight>
                  <a:srgbClr val="FFFF00"/>
                </a:highlight>
              </a:rPr>
              <a:t>one access decision</a:t>
            </a:r>
            <a:r>
              <a:rPr lang="en-US" sz="2000" dirty="0">
                <a:solidFill>
                  <a:srgbClr val="0B1F33"/>
                </a:solidFill>
                <a:highlight>
                  <a:srgbClr val="FFFF00"/>
                </a:highlight>
              </a:rPr>
              <a:t> that is checked at </a:t>
            </a:r>
            <a:r>
              <a:rPr lang="en-US" sz="2000" b="1" dirty="0">
                <a:solidFill>
                  <a:srgbClr val="0B1F33"/>
                </a:solidFill>
                <a:highlight>
                  <a:srgbClr val="FFFF00"/>
                </a:highlight>
              </a:rPr>
              <a:t>every request</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a:t>
            </a:r>
            <a:r>
              <a:rPr lang="en-US" sz="2000" b="1" dirty="0">
                <a:solidFill>
                  <a:srgbClr val="0B1F33"/>
                </a:solidFill>
                <a:highlight>
                  <a:srgbClr val="FFFF00"/>
                </a:highlight>
              </a:rPr>
              <a:t>multi-party approval</a:t>
            </a:r>
            <a:r>
              <a:rPr lang="en-US" sz="2000" dirty="0">
                <a:solidFill>
                  <a:srgbClr val="0B1F33"/>
                </a:solidFill>
                <a:highlight>
                  <a:srgbClr val="FFFF00"/>
                </a:highlight>
              </a:rPr>
              <a:t> a standing condition of access: </a:t>
            </a:r>
            <a:r>
              <a:rPr lang="en-US" sz="2000" b="1" dirty="0">
                <a:solidFill>
                  <a:srgbClr val="0B1F33"/>
                </a:solidFill>
                <a:highlight>
                  <a:srgbClr val="FFFF00"/>
                </a:highlight>
              </a:rPr>
              <a:t>every listed guardian</a:t>
            </a:r>
            <a:r>
              <a:rPr lang="en-US" sz="2000" dirty="0">
                <a:solidFill>
                  <a:srgbClr val="0B1F33"/>
                </a:solidFill>
                <a:highlight>
                  <a:srgbClr val="FFFF00"/>
                </a:highlight>
              </a:rPr>
              <a:t> must sign with </a:t>
            </a:r>
            <a:r>
              <a:rPr lang="en-US" sz="2000" b="1" dirty="0">
                <a:solidFill>
                  <a:srgbClr val="0B1F33"/>
                </a:solidFill>
                <a:highlight>
                  <a:srgbClr val="FFFF00"/>
                </a:highlight>
              </a:rPr>
              <a:t>EIP-712</a:t>
            </a:r>
            <a:r>
              <a:rPr lang="en-US" sz="2000" dirty="0">
                <a:solidFill>
                  <a:srgbClr val="0B1F33"/>
                </a:solidFill>
                <a:highlight>
                  <a:srgbClr val="FFFF00"/>
                </a:highlight>
              </a:rPr>
              <a:t>, and </a:t>
            </a:r>
            <a:r>
              <a:rPr lang="en-US" sz="2000" b="1" dirty="0">
                <a:solidFill>
                  <a:srgbClr val="0B1F33"/>
                </a:solidFill>
                <a:highlight>
                  <a:srgbClr val="FFFF00"/>
                </a:highlight>
              </a:rPr>
              <a:t>no single party</a:t>
            </a:r>
            <a:r>
              <a:rPr lang="en-US" sz="2000" dirty="0">
                <a:solidFill>
                  <a:srgbClr val="0B1F33"/>
                </a:solidFill>
                <a:highlight>
                  <a:srgbClr val="FFFF00"/>
                </a:highlight>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is built on a </a:t>
            </a:r>
            <a:r>
              <a:rPr lang="en-US" sz="2000" b="1" dirty="0">
                <a:solidFill>
                  <a:srgbClr val="0B1F33"/>
                </a:solidFill>
                <a:highlight>
                  <a:srgbClr val="FFFF00"/>
                </a:highlight>
              </a:rPr>
              <a:t>PRISMA 2020 review of 25 studies</a:t>
            </a:r>
            <a:r>
              <a:rPr lang="en-US" sz="2000" dirty="0">
                <a:solidFill>
                  <a:srgbClr val="0B1F33"/>
                </a:solidFill>
                <a:highlight>
                  <a:srgbClr val="FFFF00"/>
                </a:highlight>
              </a:rPr>
              <a:t> and tested in a </a:t>
            </a:r>
            <a:r>
              <a:rPr lang="en-US" sz="2000" b="1" dirty="0">
                <a:solidFill>
                  <a:srgbClr val="0B1F33"/>
                </a:solidFill>
                <a:highlight>
                  <a:srgbClr val="FFFF00"/>
                </a:highlight>
              </a:rPr>
              <a:t>working prototype on Sepolia</a:t>
            </a:r>
            <a:r>
              <a:rPr lang="en-US" sz="2000" dirty="0">
                <a:solidFill>
                  <a:srgbClr val="0B1F33"/>
                </a:solidFill>
                <a:highlight>
                  <a:srgbClr val="FFFF00"/>
                </a:highlight>
              </a:rPr>
              <a:t>, with </a:t>
            </a:r>
            <a:r>
              <a:rPr lang="en-US" sz="2000" b="1" dirty="0">
                <a:solidFill>
                  <a:srgbClr val="0B1F33"/>
                </a:solidFill>
                <a:highlight>
                  <a:srgbClr val="FFFF00"/>
                </a:highlight>
              </a:rPr>
              <a:t>measurements</a:t>
            </a:r>
            <a:r>
              <a:rPr lang="en-US" sz="2000" dirty="0">
                <a:solidFill>
                  <a:srgbClr val="0B1F33"/>
                </a:solidFill>
                <a:highlight>
                  <a:srgbClr val="FFFF00"/>
                </a:highlight>
              </a:rPr>
              <a:t> and </a:t>
            </a:r>
            <a:r>
              <a:rPr lang="en-US" sz="2000" b="1" dirty="0">
                <a:solidFill>
                  <a:srgbClr val="0B1F33"/>
                </a:solidFill>
                <a:highlight>
                  <a:srgbClr val="FFFF00"/>
                </a:highlight>
              </a:rPr>
              <a:t>thirteen attack scenarios</a:t>
            </a:r>
            <a:r>
              <a:rPr lang="en-US" sz="2000" dirty="0">
                <a:solidFill>
                  <a:srgbClr val="0B1F33"/>
                </a:solidFill>
                <a:highlight>
                  <a:srgbClr val="FFFF00"/>
                </a:highlight>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a:t>
            </a:r>
            <a:r>
              <a:rPr lang="en-US" sz="2200" b="1" i="1" dirty="0">
                <a:solidFill>
                  <a:srgbClr val="0B1F33"/>
                </a:solidFill>
                <a:highlight>
                  <a:srgbClr val="FFFF00"/>
                </a:highlight>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This research gives </a:t>
            </a:r>
            <a:r>
              <a:rPr lang="en-US" sz="2000" b="1" dirty="0">
                <a:solidFill>
                  <a:srgbClr val="0B1F33"/>
                </a:solidFill>
                <a:highlight>
                  <a:srgbClr val="FFFF00"/>
                </a:highlight>
              </a:rPr>
              <a:t>patients and their guardians</a:t>
            </a:r>
            <a:r>
              <a:rPr lang="en-US" sz="2000" dirty="0">
                <a:solidFill>
                  <a:srgbClr val="0B1F33"/>
                </a:solidFill>
                <a:highlight>
                  <a:srgbClr val="FFFF00"/>
                </a:highlight>
              </a:rPr>
              <a:t> a direct role in deciding </a:t>
            </a:r>
            <a:r>
              <a:rPr lang="en-US" sz="2000" b="1" dirty="0">
                <a:solidFill>
                  <a:srgbClr val="0B1F33"/>
                </a:solidFill>
                <a:highlight>
                  <a:srgbClr val="FFFF00"/>
                </a:highlight>
              </a:rPr>
              <a:t>who can see the patient's data</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prevents </a:t>
            </a:r>
            <a:r>
              <a:rPr lang="en-US" sz="2000" b="1" dirty="0">
                <a:solidFill>
                  <a:srgbClr val="0B1F33"/>
                </a:solidFill>
                <a:highlight>
                  <a:srgbClr val="FFFF00"/>
                </a:highlight>
              </a:rPr>
              <a:t>a single person</a:t>
            </a:r>
            <a:r>
              <a:rPr lang="en-US" sz="2000" dirty="0">
                <a:solidFill>
                  <a:srgbClr val="0B1F33"/>
                </a:solidFill>
                <a:highlight>
                  <a:srgbClr val="FFFF00"/>
                </a:highlight>
              </a:rPr>
              <a:t> from authorising access to </a:t>
            </a:r>
            <a:r>
              <a:rPr lang="en-US" sz="2000" b="1" dirty="0">
                <a:solidFill>
                  <a:srgbClr val="0B1F33"/>
                </a:solidFill>
                <a:highlight>
                  <a:srgbClr val="FFFF00"/>
                </a:highlight>
              </a:rPr>
              <a:t>sensitive health data alone</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makes every access decision </a:t>
            </a:r>
            <a:r>
              <a:rPr lang="en-US" sz="2000" b="1" dirty="0">
                <a:solidFill>
                  <a:srgbClr val="0B1F33"/>
                </a:solidFill>
                <a:highlight>
                  <a:srgbClr val="FFFF00"/>
                </a:highlight>
              </a:rPr>
              <a:t>explainable to auditors</a:t>
            </a:r>
            <a:r>
              <a:rPr lang="en-US" sz="2000" dirty="0">
                <a:solidFill>
                  <a:srgbClr val="0B1F33"/>
                </a:solidFill>
                <a:highlight>
                  <a:srgbClr val="FFFF00"/>
                </a:highlight>
              </a:rPr>
              <a:t>: which check </a:t>
            </a:r>
            <a:r>
              <a:rPr lang="en-US" sz="2000" b="1" dirty="0">
                <a:solidFill>
                  <a:srgbClr val="0B1F33"/>
                </a:solidFill>
                <a:highlight>
                  <a:srgbClr val="FFFF00"/>
                </a:highlight>
              </a:rPr>
              <a:t>passed</a:t>
            </a:r>
            <a:r>
              <a:rPr lang="en-US" sz="2000" dirty="0">
                <a:solidFill>
                  <a:srgbClr val="0B1F33"/>
                </a:solidFill>
                <a:highlight>
                  <a:srgbClr val="FFFF00"/>
                </a:highlight>
              </a:rPr>
              <a:t> and which </a:t>
            </a:r>
            <a:r>
              <a:rPr lang="en-US" sz="2000" b="1" dirty="0">
                <a:solidFill>
                  <a:srgbClr val="0B1F33"/>
                </a:solidFill>
                <a:highlight>
                  <a:srgbClr val="FFFF00"/>
                </a:highlight>
              </a:rPr>
              <a:t>failed</a:t>
            </a:r>
            <a:r>
              <a:rPr lang="en-US" sz="2000" dirty="0">
                <a:solidFill>
                  <a:srgbClr val="0B1F33"/>
                </a:solidFill>
                <a:highlight>
                  <a:srgbClr val="FFFF00"/>
                </a:highlight>
              </a:rPr>
              <a:t>.</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keeps </a:t>
            </a:r>
            <a:r>
              <a:rPr lang="en-US" sz="2000" b="1" dirty="0">
                <a:solidFill>
                  <a:srgbClr val="0B1F33"/>
                </a:solidFill>
                <a:highlight>
                  <a:srgbClr val="FFFF00"/>
                </a:highlight>
              </a:rPr>
              <a:t>medical records off-chain</a:t>
            </a:r>
            <a:r>
              <a:rPr lang="en-US" sz="2000" dirty="0">
                <a:solidFill>
                  <a:srgbClr val="0B1F33"/>
                </a:solidFill>
                <a:highlight>
                  <a:srgbClr val="FFFF00"/>
                </a:highlight>
              </a:rPr>
              <a:t>, so only </a:t>
            </a:r>
            <a:r>
              <a:rPr lang="en-US" sz="2000" b="1" dirty="0">
                <a:solidFill>
                  <a:srgbClr val="0B1F33"/>
                </a:solidFill>
                <a:highlight>
                  <a:srgbClr val="FFFF00"/>
                </a:highlight>
              </a:rPr>
              <a:t>consent evidence</a:t>
            </a:r>
            <a:r>
              <a:rPr lang="en-US" sz="2000" dirty="0">
                <a:solidFill>
                  <a:srgbClr val="0B1F33"/>
                </a:solidFill>
                <a:highlight>
                  <a:srgbClr val="FFFF00"/>
                </a:highlight>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a:t>
            </a:r>
            <a:r>
              <a:rPr lang="en-US" sz="2000" dirty="0">
                <a:solidFill>
                  <a:srgbClr val="0B1F33"/>
                </a:solidFill>
                <a:highlight>
                  <a:srgbClr val="FFFF00"/>
                </a:highlight>
              </a:rPr>
              <a:t>It can support </a:t>
            </a:r>
            <a:r>
              <a:rPr lang="en-US" sz="2000" b="1" dirty="0">
                <a:solidFill>
                  <a:srgbClr val="0B1F33"/>
                </a:solidFill>
                <a:highlight>
                  <a:srgbClr val="FFFF00"/>
                </a:highlight>
              </a:rPr>
              <a:t>trust between hospitals</a:t>
            </a:r>
            <a:r>
              <a:rPr lang="en-US" sz="2000" dirty="0">
                <a:solidFill>
                  <a:srgbClr val="0B1F33"/>
                </a:solidFill>
                <a:highlight>
                  <a:srgbClr val="FFFF00"/>
                </a:highlight>
              </a:rPr>
              <a:t> and other </a:t>
            </a:r>
            <a:r>
              <a:rPr lang="en-US" sz="2000" b="1" dirty="0">
                <a:solidFill>
                  <a:srgbClr val="0B1F33"/>
                </a:solidFill>
                <a:highlight>
                  <a:srgbClr val="FFFF00"/>
                </a:highlight>
              </a:rPr>
              <a:t>independent parties</a:t>
            </a:r>
            <a:r>
              <a:rPr lang="en-US" sz="2000" dirty="0">
                <a:solidFill>
                  <a:srgbClr val="0B1F33"/>
                </a:solidFill>
                <a:highlight>
                  <a:srgbClr val="FFFF00"/>
                </a:highlight>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Identity and keys</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Attack A11</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PUBLICATIONS</a:t>
            </a:r>
            <a:endParaRPr lang="en-US" sz="3000" dirty="0"/>
          </a:p>
        </p:txBody>
      </p:sp>
      <p:graphicFrame>
        <p:nvGraphicFramePr>
          <p:cNvPr id="35"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57200"/>
                <a:gridCol w="5394960"/>
                <a:gridCol w="3108960"/>
                <a:gridCol w="731520"/>
                <a:gridCol w="1371600"/>
              </a:tblGrid>
              <a:tr h="777240">
                <a:tc>
                  <a:txBody>
                    <a:bodyPr/>
                    <a:lstStyle/>
                    <a:p>
                      <a:pPr algn="ctr" indent="0" marL="0">
                        <a:buNone/>
                      </a:pPr>
                      <a:r>
                        <a:rPr lang="en-US" sz="1400" b="1" dirty="0">
                          <a:solidFill>
                            <a:srgbClr val="FFFFFF"/>
                          </a:solidFill>
                        </a:rPr>
                        <a:t>​</a:t>
                      </a:r>
                      <a:r>
                        <a:rPr lang="en-US" sz="1400" b="1" dirty="0">
                          <a:solidFill>
                            <a:srgbClr val="0B1F33"/>
                          </a:solidFill>
                          <a:highlight>
                            <a:srgbClr val="FFFF00"/>
                          </a:highlight>
                        </a:rPr>
                        <a:t>#</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a:t>
                      </a:r>
                      <a:r>
                        <a:rPr lang="en-US" sz="1400" b="1" dirty="0">
                          <a:solidFill>
                            <a:srgbClr val="0B1F33"/>
                          </a:solidFill>
                          <a:highlight>
                            <a:srgbClr val="FFFF00"/>
                          </a:highlight>
                        </a:rPr>
                        <a:t>Title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400" b="1" dirty="0">
                          <a:solidFill>
                            <a:srgbClr val="FFFFFF"/>
                          </a:solidFill>
                        </a:rPr>
                        <a:t>​</a:t>
                      </a:r>
                      <a:r>
                        <a:rPr lang="en-US" sz="1400" b="1" dirty="0">
                          <a:solidFill>
                            <a:srgbClr val="0B1F33"/>
                          </a:solidFill>
                          <a:highlight>
                            <a:srgbClr val="FFFF00"/>
                          </a:highlight>
                        </a:rPr>
                        <a:t>Venue</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a:t>
                      </a:r>
                      <a:r>
                        <a:rPr lang="en-US" sz="1400" b="1" dirty="0">
                          <a:solidFill>
                            <a:srgbClr val="0B1F33"/>
                          </a:solidFill>
                          <a:highlight>
                            <a:srgbClr val="FFFF00"/>
                          </a:highlight>
                        </a:rPr>
                        <a:t>Year</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400" b="1" dirty="0">
                          <a:solidFill>
                            <a:srgbClr val="FFFFFF"/>
                          </a:solidFill>
                        </a:rPr>
                        <a:t>​</a:t>
                      </a:r>
                      <a:r>
                        <a:rPr lang="en-US" sz="1400" b="1" dirty="0">
                          <a:solidFill>
                            <a:srgbClr val="0B1F33"/>
                          </a:solidFill>
                          <a:highlight>
                            <a:srgbClr val="FFFF00"/>
                          </a:highlight>
                        </a:rPr>
                        <a:t>Status</a:t>
                      </a:r>
                      <a:endParaRPr lang="en-US" sz="140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1</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A Blockchain-Based Framework for Evaluating User Identity Trustworthiness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a:t>
                      </a:r>
                      <a:r>
                        <a:rPr lang="en-US" sz="1350" b="1" dirty="0">
                          <a:solidFill>
                            <a:srgbClr val="0B1F33"/>
                          </a:solidFill>
                          <a:highlight>
                            <a:srgbClr val="FFFF00"/>
                          </a:highlight>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2</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Blockchain-Based Reputation Borrowing Model to Address the Cold Start Problem for New Users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2025 IEEE International Conference on E-Business Engineering (ICEBE)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2E7D32"/>
                          </a:solidFill>
                        </a:rPr>
                        <a:t>​</a:t>
                      </a:r>
                      <a:r>
                        <a:rPr lang="en-US" sz="1350" b="1" dirty="0">
                          <a:solidFill>
                            <a:srgbClr val="0B1F33"/>
                          </a:solidFill>
                          <a:highlight>
                            <a:srgbClr val="FFFF00"/>
                          </a:highlight>
                        </a:rPr>
                        <a:t>Published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3</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A Smart Contract-Governed Lifecycle Protocol for Reputation Borrowing in Blockchain-Based Real Estate Platforms</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ICEBE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t>
                      </a:r>
                      <a:r>
                        <a:rPr lang="en-US" sz="1350" b="1" dirty="0">
                          <a:solidFill>
                            <a:srgbClr val="0B1F33"/>
                          </a:solidFill>
                          <a:highlight>
                            <a:srgbClr val="FFFF00"/>
                          </a:highlight>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4</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A Trusted Multi-Party Consent Governance Framework for Decentralized Multi-Stakeholder Data Sharing</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t>
                      </a:r>
                      <a:r>
                        <a:rPr lang="en-US" sz="1350" b="1" dirty="0">
                          <a:solidFill>
                            <a:srgbClr val="0B1F33"/>
                          </a:solidFill>
                          <a:highlight>
                            <a:srgbClr val="FFFF00"/>
                          </a:highlight>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algn="ctr" indent="0" marL="0">
                        <a:buNone/>
                      </a:pPr>
                      <a:r>
                        <a:rPr lang="en-US" sz="1350" b="1" dirty="0">
                          <a:solidFill>
                            <a:srgbClr val="0B1F33"/>
                          </a:solidFill>
                        </a:rPr>
                        <a:t>​</a:t>
                      </a:r>
                      <a:r>
                        <a:rPr lang="en-US" sz="1350" b="1" dirty="0">
                          <a:solidFill>
                            <a:srgbClr val="0B1F33"/>
                          </a:solidFill>
                          <a:highlight>
                            <a:srgbClr val="FFFF00"/>
                          </a:highlight>
                        </a:rPr>
                        <a:t>5</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Blockchain-Based Reputation Provenance Tracing for Newcomer Bootstrapping in Real Estate</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350" dirty="0">
                          <a:solidFill>
                            <a:srgbClr val="0B1F33"/>
                          </a:solidFill>
                        </a:rPr>
                        <a:t>​</a:t>
                      </a:r>
                      <a:r>
                        <a:rPr lang="en-US" sz="1350" dirty="0">
                          <a:solidFill>
                            <a:srgbClr val="0B1F33"/>
                          </a:solidFill>
                          <a:highlight>
                            <a:srgbClr val="FFFF00"/>
                          </a:highlight>
                        </a:rPr>
                        <a:t>BWCCA 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0B1F33"/>
                          </a:solidFill>
                        </a:rPr>
                        <a:t>​</a:t>
                      </a:r>
                      <a:r>
                        <a:rPr lang="en-US" sz="1350" dirty="0">
                          <a:solidFill>
                            <a:srgbClr val="0B1F33"/>
                          </a:solidFill>
                          <a:highlight>
                            <a:srgbClr val="FFFF00"/>
                          </a:highlight>
                        </a:rPr>
                        <a:t>2026</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50" b="1" dirty="0">
                          <a:solidFill>
                            <a:srgbClr val="1F6FB0"/>
                          </a:solidFill>
                        </a:rPr>
                        <a:t>​</a:t>
                      </a:r>
                      <a:r>
                        <a:rPr lang="en-US" sz="1350" b="1" dirty="0">
                          <a:solidFill>
                            <a:srgbClr val="0B1F33"/>
                          </a:solidFill>
                          <a:highlight>
                            <a:srgbClr val="FFFF00"/>
                          </a:highlight>
                        </a:rPr>
                        <a:t>Accepted</a:t>
                      </a:r>
                      <a:endParaRPr lang="en-US" sz="1350" dirty="0"/>
                    </a:p>
                  </a:txBody>
                  <a:tcPr marL="91440" marR="91440" marT="45720" marB="45720"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a:t>
            </a:r>
            <a:r>
              <a:rPr lang="en-US" sz="1500" i="1" dirty="0">
                <a:solidFill>
                  <a:srgbClr val="0B1F33"/>
                </a:solidFill>
                <a:highlight>
                  <a:srgbClr val="FFFF00"/>
                </a:highlight>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yellow/F21x.png">    </p:cNvPr>
          <p:cNvPicPr>
            <a:picLocks noChangeAspect="1"/>
          </p:cNvPicPr>
          <p:nvPr/>
        </p:nvPicPr>
        <p:blipFill>
          <a:blip r:embed="rId1"/>
          <a:stretch>
            <a:fillRect/>
          </a:stretch>
        </p:blipFill>
        <p:spPr>
          <a:xfrm>
            <a:off x="890650" y="1709928"/>
            <a:ext cx="644830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0B1F33"/>
                </a:solidFill>
                <a:highlight>
                  <a:srgbClr val="FFFF00"/>
                </a:highlight>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0B1F33"/>
                </a:solidFill>
                <a:highlight>
                  <a:srgbClr val="FFFF00"/>
                </a:highlight>
              </a:rPr>
              <a:t>. The guardian does not wait.</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Second approval: 2 of 2, token recorded, anchoring starts</a:t>
            </a:r>
            <a:endParaRPr lang="en-US" sz="1200" dirty="0"/>
          </a:p>
        </p:txBody>
      </p:sp>
      <p:sp>
        <p:nvSpPr>
          <p:cNvPr id="11" name="F25c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c" descr="/tmp/deck/img/yellow/F25c.png">    </p:cNvPr>
          <p:cNvPicPr>
            <a:picLocks noChangeAspect="1"/>
          </p:cNvPicPr>
          <p:nvPr/>
        </p:nvPicPr>
        <p:blipFill>
          <a:blip r:embed="rId2"/>
          <a:stretch>
            <a:fillRect/>
          </a:stretch>
        </p:blipFill>
        <p:spPr>
          <a:xfrm>
            <a:off x="6281928" y="2924426"/>
            <a:ext cx="5175504" cy="1649228"/>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yellow/F29m.png">    </p:cNvPr>
          <p:cNvPicPr>
            <a:picLocks noChangeAspect="1"/>
          </p:cNvPicPr>
          <p:nvPr/>
        </p:nvPicPr>
        <p:blipFill>
          <a:blip r:embed="rId1"/>
          <a:stretch>
            <a:fillRect/>
          </a:stretch>
        </p:blipFill>
        <p:spPr>
          <a:xfrm>
            <a:off x="1199163" y="2624328"/>
            <a:ext cx="9793369"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yellow/F29r.png">    </p:cNvPr>
          <p:cNvPicPr>
            <a:picLocks noChangeAspect="1"/>
          </p:cNvPicPr>
          <p:nvPr/>
        </p:nvPicPr>
        <p:blipFill>
          <a:blip r:embed="rId1"/>
          <a:stretch>
            <a:fillRect/>
          </a:stretch>
        </p:blipFill>
        <p:spPr>
          <a:xfrm>
            <a:off x="1231546" y="2487168"/>
            <a:ext cx="4212029"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yellow/F30.png">    </p:cNvPr>
          <p:cNvPicPr>
            <a:picLocks noChangeAspect="1"/>
          </p:cNvPicPr>
          <p:nvPr/>
        </p:nvPicPr>
        <p:blipFill>
          <a:blip r:embed="rId2"/>
          <a:stretch>
            <a:fillRect/>
          </a:stretch>
        </p:blipFill>
        <p:spPr>
          <a:xfrm>
            <a:off x="6797673" y="2487168"/>
            <a:ext cx="4144014"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a:t>
            </a:r>
            <a:r>
              <a:rPr lang="en-US" sz="1400" b="1" dirty="0">
                <a:solidFill>
                  <a:srgbClr val="0B1F33"/>
                </a:solidFill>
                <a:highlight>
                  <a:srgbClr val="FFFF00"/>
                </a:highlight>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a:t>
            </a:r>
            <a:r>
              <a:rPr lang="en-US" sz="1400" dirty="0">
                <a:solidFill>
                  <a:srgbClr val="0B1F33"/>
                </a:solidFill>
                <a:highlight>
                  <a:srgbClr val="FFFF00"/>
                </a:highlight>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Row 40 is the anchor on Sepolia: block 11,771,243.</a:t>
            </a:r>
            <a:endParaRPr lang="en-US" sz="1400" dirty="0"/>
          </a:p>
          <a:p>
            <a:pPr marL="342900" indent="-342900">
              <a:buSzPct val="100000"/>
              <a:buChar char="•"/>
            </a:pPr>
            <a:r>
              <a:rPr lang="en-US" sz="1400" dirty="0">
                <a:solidFill>
                  <a:srgbClr val="FFFFFF"/>
                </a:solidFill>
              </a:rPr>
              <a:t>​</a:t>
            </a:r>
            <a:r>
              <a:rPr lang="en-US" sz="1400" dirty="0">
                <a:solidFill>
                  <a:srgbClr val="0B1F33"/>
                </a:solidFill>
                <a:highlight>
                  <a:srgbClr val="FFFF00"/>
                </a:highlight>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yellow/F39a.png">    </p:cNvPr>
          <p:cNvPicPr>
            <a:picLocks noChangeAspect="1"/>
          </p:cNvPicPr>
          <p:nvPr/>
        </p:nvPicPr>
        <p:blipFill>
          <a:blip r:embed="rId1"/>
          <a:stretch>
            <a:fillRect/>
          </a:stretch>
        </p:blipFill>
        <p:spPr>
          <a:xfrm>
            <a:off x="1524591" y="2624328"/>
            <a:ext cx="9142514"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t>
            </a:r>
            <a:r>
              <a:rPr lang="en-US" sz="1600" i="1" dirty="0">
                <a:solidFill>
                  <a:srgbClr val="0B1F33"/>
                </a:solidFill>
                <a:highlight>
                  <a:srgbClr val="FFFF00"/>
                </a:highlight>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yellow/F39b.png">    </p:cNvPr>
          <p:cNvPicPr>
            <a:picLocks noChangeAspect="1"/>
          </p:cNvPicPr>
          <p:nvPr/>
        </p:nvPicPr>
        <p:blipFill>
          <a:blip r:embed="rId1"/>
          <a:stretch>
            <a:fillRect/>
          </a:stretch>
        </p:blipFill>
        <p:spPr>
          <a:xfrm>
            <a:off x="1530177" y="1664208"/>
            <a:ext cx="9101165" cy="1444752"/>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yellow/F37t.png">    </p:cNvPr>
          <p:cNvPicPr>
            <a:picLocks noChangeAspect="1"/>
          </p:cNvPicPr>
          <p:nvPr/>
        </p:nvPicPr>
        <p:blipFill>
          <a:blip r:embed="rId2"/>
          <a:stretch>
            <a:fillRect/>
          </a:stretch>
        </p:blipFill>
        <p:spPr>
          <a:xfrm>
            <a:off x="802250" y="3767328"/>
            <a:ext cx="5710700" cy="2331720"/>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yellow/F36m.png">    </p:cNvPr>
          <p:cNvPicPr>
            <a:picLocks noChangeAspect="1"/>
          </p:cNvPicPr>
          <p:nvPr/>
        </p:nvPicPr>
        <p:blipFill>
          <a:blip r:embed="rId3"/>
          <a:stretch>
            <a:fillRect/>
          </a:stretch>
        </p:blipFill>
        <p:spPr>
          <a:xfrm>
            <a:off x="7134090" y="3767328"/>
            <a:ext cx="4111260" cy="1051560"/>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REFERENCES</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Bloemen, R., Logvinov, L. &amp; Evans, J. 2017, </a:t>
            </a:r>
            <a:r>
              <a:rPr lang="en-US" sz="1000" i="1" dirty="0">
                <a:solidFill>
                  <a:srgbClr val="0B1F33"/>
                </a:solidFill>
              </a:rPr>
              <a:t>EIP-712: Typed structured data hashing and signing</a:t>
            </a:r>
            <a:r>
              <a:rPr lang="en-US" sz="1000" dirty="0">
                <a:solidFill>
                  <a:srgbClr val="0B1F33"/>
                </a:solidFill>
              </a:rPr>
              <a:t>,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a:t>
            </a:r>
            <a:r>
              <a:rPr lang="en-US" sz="1000" i="1" dirty="0">
                <a:solidFill>
                  <a:srgbClr val="0B1F33"/>
                </a:solidFill>
              </a:rPr>
              <a:t>ERC-5484: Consensual soulbound tokens</a:t>
            </a:r>
            <a:r>
              <a:rPr lang="en-US" sz="1000" dirty="0">
                <a:solidFill>
                  <a:srgbClr val="0B1F33"/>
                </a:solidFill>
              </a:rPr>
              <a:t>,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Entriken, W., Shirley, D., Evans, J. &amp; Sachs, N. 2018, </a:t>
            </a:r>
            <a:r>
              <a:rPr lang="en-US" sz="1000" i="1" dirty="0">
                <a:solidFill>
                  <a:srgbClr val="0B1F33"/>
                </a:solidFill>
              </a:rPr>
              <a:t>ERC-721: Non-fungible token standard</a:t>
            </a:r>
            <a:r>
              <a:rPr lang="en-US" sz="1000" dirty="0">
                <a:solidFill>
                  <a:srgbClr val="0B1F33"/>
                </a:solidFill>
              </a:rPr>
              <a:t>,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a:t>
            </a:r>
            <a:r>
              <a:rPr lang="en-US" sz="1000" i="1" dirty="0">
                <a:solidFill>
                  <a:srgbClr val="0B1F33"/>
                </a:solidFill>
              </a:rPr>
              <a:t>Networks</a:t>
            </a:r>
            <a:r>
              <a:rPr lang="en-US" sz="1000" dirty="0">
                <a:solidFill>
                  <a:srgbClr val="0B1F33"/>
                </a:solidFill>
              </a:rPr>
              <a:t>,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a:t>
            </a:r>
            <a:r>
              <a:rPr lang="en-US" sz="1000" i="1" dirty="0">
                <a:solidFill>
                  <a:srgbClr val="0B1F33"/>
                </a:solidFill>
              </a:rPr>
              <a:t>Proceedings of the 30th USENIX Security Symposium</a:t>
            </a:r>
            <a:r>
              <a:rPr lang="en-US" sz="1000" dirty="0">
                <a:solidFill>
                  <a:srgbClr val="0B1F33"/>
                </a:solidFill>
              </a:rPr>
              <a:t>, pp. 519–535.</a:t>
            </a:r>
            <a:endParaRPr lang="en-US" sz="1000" dirty="0"/>
          </a:p>
          <a:p>
            <a:pPr indent="0" marL="0">
              <a:spcAft>
                <a:spcPts val="400"/>
              </a:spcAft>
              <a:buNone/>
            </a:pPr>
            <a:r>
              <a:rPr lang="en-US" sz="1000" dirty="0">
                <a:solidFill>
                  <a:srgbClr val="0B1F33"/>
                </a:solidFill>
              </a:rPr>
              <a:t>Groth, J. 2016, 'On the size of pairing-based non-interactive arguments', </a:t>
            </a:r>
            <a:r>
              <a:rPr lang="en-US" sz="1000" i="1" dirty="0">
                <a:solidFill>
                  <a:srgbClr val="0B1F33"/>
                </a:solidFill>
              </a:rPr>
              <a:t>Advances in Cryptology – EUROCRYPT 2016, LNCS</a:t>
            </a:r>
            <a:r>
              <a:rPr lang="en-US" sz="1000" dirty="0">
                <a:solidFill>
                  <a:srgbClr val="0B1F33"/>
                </a:solidFill>
              </a:rPr>
              <a:t>, vol. 9666, pp. 305–326, Springer, &lt;https://doi.org/10.1007/978-3-662-49896-5_11&gt;.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a:t>
            </a:r>
            <a:r>
              <a:rPr lang="en-US" sz="1000" i="1" dirty="0">
                <a:solidFill>
                  <a:srgbClr val="0B1F33"/>
                </a:solidFill>
              </a:rPr>
              <a:t>BMJ</a:t>
            </a:r>
            <a:r>
              <a:rPr lang="en-US" sz="1000" dirty="0">
                <a:solidFill>
                  <a:srgbClr val="0B1F33"/>
                </a:solidFill>
              </a:rPr>
              <a:t>, vol. 372, p. n71, &lt;https://doi.org/10.1136/bmj.n71&gt;.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a:t>
            </a:r>
            <a:r>
              <a:rPr lang="en-US" sz="1000" i="1" dirty="0">
                <a:solidFill>
                  <a:srgbClr val="0B1F33"/>
                </a:solidFill>
              </a:rPr>
              <a:t>Journal of the American Medical Informatics Association</a:t>
            </a:r>
            <a:r>
              <a:rPr lang="en-US" sz="1000" dirty="0">
                <a:solidFill>
                  <a:srgbClr val="0B1F33"/>
                </a:solidFill>
              </a:rPr>
              <a:t>, vol. 25, no. 3, pp. 230–238, &lt;https://doi.org/10.1093/jamia/ocx079&gt;.</a:t>
            </a:r>
            <a:endParaRPr lang="en-US" sz="1000" dirty="0"/>
          </a:p>
          <a:p>
            <a:pPr indent="0" marL="0">
              <a:spcAft>
                <a:spcPts val="400"/>
              </a:spcAft>
              <a:buNone/>
            </a:pPr>
            <a:r>
              <a:rPr lang="en-US" sz="1000" dirty="0">
                <a:solidFill>
                  <a:srgbClr val="0B1F33"/>
                </a:solidFill>
              </a:rPr>
              <a:t>Wood, G. 2014, </a:t>
            </a:r>
            <a:r>
              <a:rPr lang="en-US" sz="1000" i="1" dirty="0">
                <a:solidFill>
                  <a:srgbClr val="0B1F33"/>
                </a:solidFill>
              </a:rPr>
              <a:t>Ethereum: A secure decentralised generalised transaction ledger</a:t>
            </a:r>
            <a:r>
              <a:rPr lang="en-US" sz="1000" dirty="0">
                <a:solidFill>
                  <a:srgbClr val="0B1F33"/>
                </a:solidFill>
              </a:rPr>
              <a:t>, Ethereum Project Yellow Paper.</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2026-10-12T13:53:30Z</dcterms:created>
  <dcterms:modified xsi:type="dcterms:W3CDTF">2026-10-12T13:53:30Z</dcterms:modified>
</cp:coreProperties>
</file>
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da3485c-ff54-3ffd-611a-228af5f60702}">
          <p14:sldIdLst>
            <p14:sldId id="256"/>
            <p14:sldId id="257"/>
          </p14:sldIdLst>
        </p14:section>
        <p14:section name="The Problem" id="{86b4e2c8-16c1-e6b3-78fb-d64aef39fcdf}">
          <p14:sldIdLst>
            <p14:sldId id="258"/>
            <p14:sldId id="259"/>
          </p14:sldIdLst>
        </p14:section>
        <p14:section name="Literature Review" id="{8ae93d6d-aa0a-3546-c428-a88bc6367f70}">
          <p14:sldIdLst>
            <p14:sldId id="260"/>
            <p14:sldId id="261"/>
          </p14:sldIdLst>
        </p14:section>
        <p14:section name="Gap, Questions and Objectives" id="{89956482-e464-9fe4-3e51-dafb7a3e8cb1}">
          <p14:sldIdLst>
            <p14:sldId id="262"/>
            <p14:sldId id="263"/>
            <p14:sldId id="264"/>
            <p14:sldId id="265"/>
          </p14:sldIdLst>
        </p14:section>
        <p14:section name="The Framework" id="{75ad551a-f3de-d692-c59a-003b84729e4a}">
          <p14:sldIdLst>
            <p14:sldId id="266"/>
            <p14:sldId id="267"/>
            <p14:sldId id="268"/>
            <p14:sldId id="269"/>
            <p14:sldId id="270"/>
            <p14:sldId id="271"/>
            <p14:sldId id="272"/>
            <p14:sldId id="273"/>
          </p14:sldIdLst>
        </p14:section>
        <p14:section name="Validation and Evaluation" id="{070c2991-1fcc-2aea-479e-091eadb33cc4}">
          <p14:sldIdLst>
            <p14:sldId id="274"/>
            <p14:sldId id="275"/>
            <p14:sldId id="276"/>
            <p14:sldId id="277"/>
          </p14:sldIdLst>
        </p14:section>
        <p14:section name="Contribution" id="{360bbb59-7283-d1e9-6841-da25af81c163}">
          <p14:sldIdLst>
            <p14:sldId id="278"/>
            <p14:sldId id="279"/>
            <p14:sldId id="280"/>
          </p14:sldIdLst>
        </p14:section>
        <p14:section name="What is Still Open" id="{9e04dd06-aa8e-a1be-975e-ec5112f6a08c}">
          <p14:sldIdLst>
            <p14:sldId id="281"/>
          </p14:sldIdLst>
        </p14:section>
        <p14:section name="Research Plan" id="{e192a5e0-c107-f111-39ce-465684ac6f0f}">
          <p14:sldIdLst>
            <p14:sldId id="282"/>
            <p14:sldId id="283"/>
          </p14:sldIdLst>
        </p14:section>
        <p14:section name="Demo: The HALAH Prototype" id="{0f1617fb-8dfa-32c0-134b-f07f2bb34245}">
          <p14:sldIdLst>
            <p14:sldId id="284"/>
            <p14:sldId id="285"/>
            <p14:sldId id="286"/>
            <p14:sldId id="287"/>
            <p14:sldId id="288"/>
            <p14:sldId id="289"/>
            <p14:sldId id="290"/>
            <p14:sldId id="291"/>
            <p14:sldId id="292"/>
            <p14:sldId id="293"/>
          </p14:sldIdLst>
        </p14:section>
        <p14:section name="References" id="{7a12ecab-c75c-4011-3bb6-91f98d3ad3be}">
          <p14:sldIdLst>
            <p14:sldId id="294"/>
            <p14:sldId id="295"/>
            <p14:sldId id="296"/>
          </p14:sldIdLst>
        </p14:section>
        <p14:section name="Thank You" id="{a997a766-348e-2a79-b711-f0dda27dc7c7}">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and wallet-held guardian keys. Today the guardian keys are derived from the guardian DIDs.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VI, VA, VP, VT and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and guardians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a:t>
            </a:r>
            <a:r>
              <a:rPr lang="en-US" sz="2400" b="1" dirty="0">
                <a:solidFill>
                  <a:srgbClr val="FFFFFF"/>
                </a:solidFill>
                <a:latin typeface="Cambria" pitchFamily="34" charset="0"/>
                <a:ea typeface="Cambria" pitchFamily="34" charset="-122"/>
                <a:cs typeface="Cambria" pitchFamily="34" charset="-120"/>
              </a:rPr>
              <a:t>VL(C)</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RO1: </a:t>
            </a:r>
            <a:r>
              <a:rPr lang="en-US" sz="1700" b="1" i="1" dirty="0">
                <a:solidFill>
                  <a:srgbClr val="1FB5D6"/>
                </a:solidFill>
              </a:rPr>
              <a:t>Trust-Centric Consent Model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FFFFFF"/>
                </a:solidFill>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RO2: </a:t>
            </a:r>
            <a:r>
              <a:rPr lang="en-US" sz="1700" b="1" i="1" dirty="0">
                <a:solidFill>
                  <a:srgbClr val="1FB5D6"/>
                </a:solidFill>
              </a:rPr>
              <a:t>Decentralised Identity and Authority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FFFFFF"/>
                </a:solidFill>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RO3: </a:t>
            </a:r>
            <a:r>
              <a:rPr lang="en-US" sz="1700" b="1" i="1" dirty="0">
                <a:solidFill>
                  <a:srgbClr val="1FB5D6"/>
                </a:solidFill>
              </a:rPr>
              <a:t>Trustworthy Multi-Party Authorisation</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RO4: </a:t>
            </a:r>
            <a:r>
              <a:rPr lang="en-US" sz="1700" b="1" i="1" dirty="0">
                <a:solidFill>
                  <a:srgbClr val="1FB5D6"/>
                </a:solidFill>
              </a:rPr>
              <a:t>Policy- and Context-Aware Access Control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427609"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RO5: </a:t>
            </a:r>
            <a:r>
              <a:rPr lang="en-US" sz="1700" b="1" i="1" dirty="0">
                <a:solidFill>
                  <a:srgbClr val="1FB5D6"/>
                </a:solidFill>
              </a:rPr>
              <a:t>Temporal and Lifecycle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070147"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RO6: </a:t>
            </a:r>
            <a:r>
              <a:rPr lang="en-US" sz="1700" b="1" i="1" dirty="0">
                <a:solidFill>
                  <a:srgbClr val="1FB5D6"/>
                </a:solidFill>
              </a:rPr>
              <a:t>Formal Security Assurance and Empirical Validation</a:t>
            </a:r>
            <a:endParaRPr lang="en-US" sz="17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919790"/>
            <a:ext cx="3803904" cy="370422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t>
            </a:r>
            <a:endParaRPr lang="en-US" sz="950" dirty="0"/>
          </a:p>
          <a:p>
            <a:pPr indent="0" marL="0">
              <a:buNone/>
            </a:pP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and wallet-held guardian keys. Today: </a:t>
            </a:r>
            <a:r>
              <a:rPr lang="en-US" sz="1600" dirty="0">
                <a:solidFill>
                  <a:srgbClr val="0B1F33"/>
                </a:solidFill>
              </a:rPr>
              <a:t>signature recovery and keys derived from the guardian DIDs</a:t>
            </a:r>
            <a:r>
              <a:rPr lang="en-US" sz="1600" dirty="0">
                <a:solidFill>
                  <a:srgbClr val="0B1F33"/>
                </a:solidFill>
              </a:rPr>
              <a:t>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a:t>
            </a:r>
            <a:r>
              <a:rPr lang="en-US" sz="1600" dirty="0">
                <a:solidFill>
                  <a:srgbClr val="FFFFFF"/>
                </a:solidFill>
              </a:rPr>
              <a:t>and</a:t>
            </a:r>
            <a:r>
              <a:rPr lang="en-US" sz="1600" dirty="0">
                <a:solidFill>
                  <a:srgbClr val="FFFFFF"/>
                </a:solidFill>
              </a:rPr>
              <a:t> the validity time.</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a:t>
            </a:r>
            <a:r>
              <a:rPr lang="en-US" sz="1600" dirty="0">
                <a:solidFill>
                  <a:srgbClr val="FFFFFF"/>
                </a:solidFill>
              </a:rPr>
              <a:t>and</a:t>
            </a:r>
            <a:r>
              <a:rPr lang="en-US" sz="1600" dirty="0">
                <a:solidFill>
                  <a:srgbClr val="FFFFFF"/>
                </a:solidFill>
              </a:rPr>
              <a:t> time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a:t>
            </a:r>
            <a:r>
              <a:rPr lang="en-US" sz="3000" b="1" dirty="0">
                <a:solidFill>
                  <a:srgbClr val="FFFFFF"/>
                </a:solidFill>
                <a:latin typeface="Arial" pitchFamily="34" charset="0"/>
                <a:ea typeface="Arial" pitchFamily="34" charset="-122"/>
                <a:cs typeface="Arial" pitchFamily="34" charset="-120"/>
              </a:rPr>
              <a:t>: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a:t>
            </a:r>
            <a:r>
              <a:rPr lang="en-US" sz="3000" b="1" dirty="0">
                <a:solidFill>
                  <a:srgbClr val="FFFFFF"/>
                </a:solidFill>
                <a:latin typeface="Arial" pitchFamily="34" charset="0"/>
                <a:ea typeface="Arial" pitchFamily="34" charset="-122"/>
                <a:cs typeface="Arial" pitchFamily="34" charset="-120"/>
              </a:rPr>
              <a:t>: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a:t>
            </a:r>
            <a:r>
              <a:rPr lang="en-US" sz="3000" b="1" dirty="0">
                <a:solidFill>
                  <a:srgbClr val="FFFFFF"/>
                </a:solidFill>
                <a:latin typeface="Arial" pitchFamily="34" charset="0"/>
                <a:ea typeface="Arial" pitchFamily="34" charset="-122"/>
                <a:cs typeface="Arial" pitchFamily="34" charset="-120"/>
              </a:rPr>
              <a:t>: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a:t>
            </a:r>
            <a:r>
              <a:rPr lang="en-US" sz="3000" b="1" dirty="0">
                <a:solidFill>
                  <a:srgbClr val="FFFFFF"/>
                </a:solidFill>
                <a:latin typeface="Arial" pitchFamily="34" charset="0"/>
                <a:ea typeface="Arial" pitchFamily="34" charset="-122"/>
                <a:cs typeface="Arial" pitchFamily="34" charset="-120"/>
              </a:rPr>
              <a:t>: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(1/3)</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(2/3)</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(3/3)</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2026-10-10T15:47:51Z</dcterms:created>
  <dcterms:modified xsi:type="dcterms:W3CDTF">2026-10-10T15:47:51Z</dcterms:modified>
</cp:coreProperties>
</file>
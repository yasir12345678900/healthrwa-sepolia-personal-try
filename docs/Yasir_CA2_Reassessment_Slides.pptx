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8bcf3d08-16b2-d96e-2dc0-929b7ce51390}">
          <p14:sldIdLst>
            <p14:sldId id="256"/>
          </p14:sldIdLst>
        </p14:section>
        <p14:section name="Outline" id="{1ddd86f5-07da-0bd5-6845-565ed01fe2b4}">
          <p14:sldIdLst>
            <p14:sldId id="257"/>
          </p14:sldIdLst>
        </p14:section>
        <p14:section name="Introduction" id="{95adc3e3-f9b7-87c2-1971-33e9072319a0}">
          <p14:sldIdLst>
            <p14:sldId id="258"/>
            <p14:sldId id="259"/>
          </p14:sldIdLst>
        </p14:section>
        <p14:section name="Systematic Literature Review" id="{c761f6fd-34ae-a590-61f3-9b87a7115580}">
          <p14:sldIdLst>
            <p14:sldId id="260"/>
            <p14:sldId id="261"/>
            <p14:sldId id="262"/>
            <p14:sldId id="263"/>
            <p14:sldId id="264"/>
            <p14:sldId id="265"/>
            <p14:sldId id="266"/>
            <p14:sldId id="267"/>
          </p14:sldIdLst>
        </p14:section>
        <p14:section name="Research Gaps" id="{f040c4ed-6fd7-b59e-89f9-ea91bf94db7c}">
          <p14:sldIdLst>
            <p14:sldId id="268"/>
          </p14:sldIdLst>
        </p14:section>
        <p14:section name="Research Questions" id="{905552fe-6766-d314-f626-552e46f556ec}">
          <p14:sldIdLst>
            <p14:sldId id="269"/>
            <p14:sldId id="270"/>
          </p14:sldIdLst>
        </p14:section>
        <p14:section name="Research Objectives" id="{7e7f6348-79d1-022e-a5a5-07bb40b8ffbb}">
          <p14:sldIdLst>
            <p14:sldId id="271"/>
          </p14:sldIdLst>
        </p14:section>
        <p14:section name="Research Methodology" id="{936a9305-cc7a-9f6a-9728-074c1cf3b65f}">
          <p14:sldIdLst>
            <p14:sldId id="272"/>
          </p14:sldIdLst>
        </p14:section>
        <p14:section name="Research Architecture" id="{05de0735-de0a-f6ad-6bbe-5a811d66a8e9}">
          <p14:sldIdLst>
            <p14:sldId id="273"/>
          </p14:sldIdLst>
        </p14:section>
        <p14:section name="The Proposed Solutions" id="{ff2f7634-0814-a660-5164-3cb387e59677}">
          <p14:sldIdLst>
            <p14:sldId id="274"/>
            <p14:sldId id="275"/>
            <p14:sldId id="276"/>
            <p14:sldId id="277"/>
            <p14:sldId id="278"/>
            <p14:sldId id="279"/>
            <p14:sldId id="280"/>
          </p14:sldIdLst>
        </p14:section>
        <p14:section name="Implementation and Evaluation" id="{287b89e2-c4b1-883f-8a40-a5221b9aedaa}">
          <p14:sldIdLst>
            <p14:sldId id="281"/>
            <p14:sldId id="282"/>
            <p14:sldId id="283"/>
            <p14:sldId id="284"/>
            <p14:sldId id="285"/>
            <p14:sldId id="286"/>
          </p14:sldIdLst>
        </p14:section>
        <p14:section name="Significance of the Research" id="{f2afaafd-e24f-c417-3717-c437baa516a6}">
          <p14:sldIdLst>
            <p14:sldId id="287"/>
            <p14:sldId id="288"/>
            <p14:sldId id="289"/>
            <p14:sldId id="290"/>
          </p14:sldIdLst>
        </p14:section>
        <p14:section name="Research Plan" id="{4c27d4b3-90e1-54b1-4a5f-b32b599c1a65}">
          <p14:sldIdLst>
            <p14:sldId id="291"/>
            <p14:sldId id="292"/>
          </p14:sldIdLst>
        </p14:section>
        <p14:section name="References" id="{97c52d02-0258-5653-52ad-928843973308}">
          <p14:sldIdLst>
            <p14:sldId id="293"/>
            <p14:sldId id="294"/>
            <p14:sldId id="295"/>
            <p14:sldId id="296"/>
            <p14:sldId id="297"/>
            <p14:sldId id="298"/>
          </p14:sldIdLst>
        </p14:section>
        <p14:section name="Thank You" id="{daf90860-226c-0f9a-a4a6-9434d9151eaa}">
          <p14:sldIdLst>
            <p14:sldId id="29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My principal supervisor is Professor Farookh Hussain and my co-supervisor is Dr Firas Al-Doghman. This is my CA2 reassessment. My research is about a trusted authorisation framework for multi-party patient consent in healthcare data sharing. In simple words: how a patient's consent can be checked together with identity, authority, approvals and policy before any data is shared.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roadmap of my presentation. I start with the introduction and the systematic literature review. Then I present the research gaps, the research questions, the objectives and the research methodology. After that I explain the proposed solution for each objective, RO1 to RO6, and the implementation and evaluation of the prototype. Finally, I present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and many people can be involved in one decision: the patient, a guardian, the doctor and the hospital. Today, consent is usually stored as a record. But a stored record does not prove that the person asking for data has the right authority, that all required people approved, or that the request is inside the purpose and the data scope that the patient allowed. So the problem is not recording consent. The problem is checking all these conditions together, at the moment of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key concepts I use. Identity means who the person is. Authority means what this person is allowed to do. Multi-party approval means that more than one independent person must approve, for example the patient's guardians. Policy means that the request must match the purpose and the data scope. I put all these conditions inside one consent object, C equals I, A, P, T, L, E: identity, authority, policy, time, jurisdiction and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did my systematic literature review. I followed PRISMA 2020. Before screening, a written protocol fixed the review questions, the databases, one master query, the eligibility criteria and the quality items. I searched seven databases, with Google Scholar as a discovery arm. Then I screened by title, then by abstract, then by full text, and I applied a quality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The databases returned 9,256 records. After removing duplicates, 6,039 records were screened by title. 3,129 went to the abstract stage, and 1,800 full texts were prioritised. At the reporting checkpoint, 64 full texts were assessed and 47 met the criteria. From these, I analysed 25 primary studies: 23 core studies and the 2 highest-quality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included study passed a quality check. QA1 asks if the study is about patient consent in healthcare. QA2 asks if it has an access-decision mechanism, not only storage. QA3 asks if it proposes a clear framework or model. QA4 asks if it is validated by a prototype or an implementation. Yes is 1, Partial is 0.5 and No is 0, and a study needs at least 3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one matches one research question. Requirement 1 is consent as an evaluable object. Requirement 2 is identity and authority. Requirement 3 is multi-party approval with a threshold. Requirement 4 is policy and context. Requirement 5 is time and lifecycle. Requirement 6 is auditability and security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25 primary studies of my review, with the authors, the year, the title and the category. Each study is placed in one of six streams, which match the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part of the list, studies S14 to S25.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the 25 studies against the six requirements, with Yes, Partial or No. You can see that every requirement is met by some study, but no study meets all of them together. Requirement 3, multi-party authorisation, is the least satisfied. For Requirement 6, each study takes the higher of its formal assurance grade and its empirical validation 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There are two gaps. The conjunction gap: each requirement is met by some study, but no study puts the conditions of Requirement 1 to Requirement 5 together in one access decision. The assurance gap: formal proofs exist in only 4 of the 25 studies, and they cover only a fragment of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Based on the comparison, I defined six research gaps. Gap 1: consent is treated as a record. Gap 2: identity does not prove authority. Gap 3: multi-party approval is not a standing condition of every access. Gap 4: purpose and scope are rarely checked with identity and approval. Gap 5: time and revocation are not checked at each request. Gap 6: the whole decision is not proved or systematically tested. Gaps 1 to 5 form the conjunction gap, and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the main research question: how can a trust-oriented computing framework establish and enforce trustworthy multi-party consent for decentralised healthcare data sharing, under identity, authority and policy constraints? Establish means creating trusted participants and a collective consent decision. Enforce means checking these conditions when a request is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I created six sub-research questions. RQ1 is about modelling consent. RQ2 is about identity and authority. RQ3 is about multi-party approval. RQ4 is about policy and data scope. RQ5 is about time and lifecycle. RQ6 is about formal security assurance and empirical validation. Each question matches one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gaps and questions, I set six objectives. RO1 to RO4 are done and validated with the prototype. RO5, time and lifecycle, is in progress: validity window and revocation are working, and the rest is for the next stage. RO6 is partially completed: the prototype tests and measurements are done, and the formal proofs are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steps of my research. First, I identified the problem. Second, I did a systematic literature review following PRISMA 2020. Third, from the review I defined six gaps and six research questions. Fourth, I set six objectives. Fifth, I designed the framework: the MVC architecture, the consent object C and four algorithms. Sixth, I implemented the HALAH prototype on the Sepolia testnet. Seventh, I validated and evaluated it with live scenarios, measurements and twelve attack tests. The formal assurance is the next stage,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 the Model, View, Controller architecture. The View layer is the four user interfaces: patient, guardian, doctor and auditor. The Controller layer makes every security decision: it verifies identity and authority, aggregates the approvals, enforces the policy and records the evidence. The Model layer keeps the consent, the policy and the evidence. The healthcare data sit outside the three layers, and only the Controller can release them, and only on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my solution. Access is allowed only when five conditions are all true: VI for identity and authority, VA for the guardian approvals and the token state, VP for purpose and data scope, VT for the validity time, and VL for the jurisdiction. If any one of them fails, the answer is DENY. In the prototype, a Groth16 zero-knowledge proof must also verify before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RO1, the patient creates the consent. The patient enters the DID, the doctor, the guardians, the purpose, the data scope, the validity time and the jurisdiction. The system checks every field. For example, an empty data scope is rejected. Then it creates the consent object C, stores it as pending, and records the creation in the audit ledger. RO1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RO2, I separate identity from authority. The DID tells us who the person is, and the verifiable credential tells us what the person is allowed to do. A valid DID alone never gives access. In the current prototype, the system checks the DID format and recovers each guardian's EIP-712 signature. Full DID resolution and credential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RO3, no single person can approve alone. The guardian set is fixed when the consent is created. Each guardian signs an EIP-712 approval, and the system verifies it. Approvals from outside the set, replayed or duplicate approvals are not counted. In the demo, two of two guardians must sign. When the threshold is reached, a local token is recorded, and the mint is anchored on Sepolia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RO4, a valid identity and all approvals are still not enough. The requested data must be inside the authorised scope. For example, if the consent allows only Observation and Medication, a request that also asks for Procedure is denied. The purpose, the time and the jurisdiction are checked in the same decision, and a Groth16 proof must verify before any data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in progress. What is working now: the validity window is stored on-chain and checked at every request, revocation works end to end with an on-chain revoke transaction, and the consent moves through a clear lifecycle state machine. The next stage will add the transition check, consent modification, delegation and guardian-set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partially completed. I have 36 automated tests, including twelve attack scenarios. I measured the on-chain cost, the confirmation latency and the processing time. And a live request from the wrong jurisdiction was refused. The formal proofs, or model checking, and a larger evaluation under load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evaluation metrics. For cost, I use the gas used from each transaction receipt, and the fee, which is gas used multiplied by the gas price. For time, I use the submit-to-confirmation latency of the anchoring, and the processing time of each decision component over repeated runs. For security, a scenario passes only when the observed decision equals the expected decision, and I count how many of the twelve attacks are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implementation. HALAH means History Access Link for Authorised Healthcare. It has four interfaces: patient, guardian, doctor and auditor. The consent token is a soulbound token, ConsentSBTv3, deployed on the Sepolia test network. Guardians sign with EIP-712, access uses a Groth16 proof over a Poseidon commitment, and the data are synthetic Synthea records. No medical data is written to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live screens from the prototype. On the left, the doctor's request for the evaluated consent: all five checks pass, so the decision is ALLOW. On the right, the same request with a different jurisdiction: the jurisdiction check, VL, fails, and access is denied by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public evidence on Sepolia. On the left is the revocation transaction of token number 1 in block 11,771,307. On the right is the gas used by the five anchored transactions. A mint writes a full consent record, so it costs much more gas than a revoke, which changes only one flag. No fee exceeded 0.00021 ETH.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shows the processing time. The decision rule itself takes about 2 microseconds. Each guardian signature takes about 11 milliseconds. The Groth16 proof is the slowest part of a request, about 1.4 seconds to generate and 0.47 seconds to verify. Anchoring on Sepolia takes about 11.5 seconds, but it runs in the background, so it does not delay the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tested the system against twelve attacks, A1 to A12, for example a signer outside the guardian set, replayed or duplicate approvals, a request outside the scope, an expired or revoked consent, and a tampered proof. Before the hardening, three attacks were accepted when the service functions were called directly. After the hardening, eleven of the twelve are refused and all 36 tests pass. In A11, a rewritten audit event changes its digest, but no component compares the digest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traditional EHR access control with my framework. Traditional systems use a central identity provider and a static permission, and consent is a stored record. In HALAH, each participant has a DID, and identity is kept separate from authority. Consent is an object that is checked at every request. All the guardians must sign, so no single person can authorise alone. Time and revocation are checked at each request, and every decision is recorded in the audit ledger, with the consent state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summarises data management and privacy in the prototype. No real patient data is used; the records are synthetic Synthea data. The medical records stay off-chain, and no medical content is written to the chain. The token stores only pseudonymous addresses, a hash of the purpose, the validity window, the jurisdiction code and a revocation flag. Records are released only on ALLOW and only inside the authorised scope. One limitation: the plaintext purpose is visible in the public input of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scientific significance. First, the research treats consent as an object that is evaluated, not only stored. Second, multi-party approval is a standing condition of every access decision, and the patient defines who must approve. Third, it separates identity from authority and checks all the conditions in one decision. Fourth, it provides a PRISMA review of 25 studies that shows the conjunction gap and the assurance gap. Finally, it validates the framework with a working prototype on Sepolia, measurements and twelve attack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social contributions. The research gives patients and their guardians a direct role in deciding who can see the patient's data. It stops one person from approving access alone. It keeps every decision explainable and auditable for auditors and hospitals. It keeps medical records off-chain, so only consent evidence is shared. Together, this supports trust when health data is shared between independent organisations.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research plan. Chapters 1 to 6 are done, and the conference paper was submitted to BWCCA 2026 in September. The SLR journal paper is in progress. Next, I will complete the prototype evaluation, write the third paper on formal assurance and lifecycle trust, and finish the conclusion. CA3 is planned for January 2027, and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timeline shows the same plan visually: the completed milestones, the work in progress, and the planned stages until the thesis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answer your questions.
Possible questions:
Why blockchain if the data stay off-chain? Because it gives a shared, tamper-evident record of the consent state and the decisions; no medical data is on-chain.
What is new? The consent object carries all the conditions, multi-party approval is a standing condition of every access decision, and the decision is tested against twelve attacks.
What is left for CA3? RO5 lifecycle extensions and RO6 formal proofs and a larger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9-1.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6172200" y="1234440"/>
            <a:ext cx="507492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6309360" y="13258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82296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96012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6172200" y="2834640"/>
            <a:ext cx="507492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6309360" y="2926080"/>
            <a:ext cx="480060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onsent object box"/>
          <p:cNvSpPr/>
          <p:nvPr/>
        </p:nvSpPr>
        <p:spPr>
          <a:xfrm>
            <a:off x="822960" y="457200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3" name="consent object text"/>
          <p:cNvSpPr txBox="1"/>
          <p:nvPr/>
        </p:nvSpPr>
        <p:spPr>
          <a:xfrm>
            <a:off x="1005840" y="461772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 Authority (guardian set G, threshold N) · Policy (purpose, scope) · Time · Jurisdiction · Evidence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Scopus, Web of Science; Google Scholar as discovery arm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assurance in CA3</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patient DID, doctor, guardians, purpose, data scope, validity time and jurisdiction.</a:t>
            </a:r>
            <a:endParaRPr lang="en-US" sz="1600" dirty="0"/>
          </a:p>
          <a:p>
            <a:pPr marL="342900" indent="-342900">
              <a:spcAft>
                <a:spcPts val="1000"/>
              </a:spcAft>
              <a:buSzPct val="100000"/>
              <a:buChar char="•"/>
            </a:pPr>
            <a:r>
              <a:rPr lang="en-US" sz="1600" dirty="0">
                <a:solidFill>
                  <a:srgbClr val="FFFFFF"/>
                </a:solidFill>
              </a:rPr>
              <a:t>Each field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and guardian-set changes.</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METRICS FOR OBJECTIVES</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3291840"/>
                <a:gridCol w="3017520"/>
                <a:gridCol w="2377440"/>
              </a:tblGrid>
              <a:tr h="777240">
                <a:tc>
                  <a:txBody>
                    <a:bodyPr/>
                    <a:lstStyle/>
                    <a:p>
                      <a:pPr indent="0" marL="0">
                        <a:buNone/>
                      </a:pPr>
                      <a:r>
                        <a:rPr lang="en-US" sz="1400" b="1" dirty="0">
                          <a:solidFill>
                            <a:srgbClr val="FFFFFF"/>
                          </a:solidFill>
                        </a:rPr>
                        <a:t>Metric</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measures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execution cost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Cost in ETH (Sepolia ETH has no monetary value)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ledger events of the local and the on-chain 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event) − t(local event)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Anchoring delay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Processing time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Responsiveness of the access path</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Decision correctness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decision against expected decision for each scenario</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Security correctness of the decision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Attack resistance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Attack scenarios A1 to A12 that are refused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 (11 / 12 after the hardening)</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Resilience against deliberate bypass</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5440680"/>
          </a:xfrm>
          <a:prstGeom prst="roundRect">
            <a:avLst>
              <a:gd name="adj" fmla="val 214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606311"/>
            <a:ext cx="4901184" cy="4422617"/>
          </a:xfrm>
          <a:prstGeom prst="rect">
            <a:avLst/>
          </a:prstGeom>
        </p:spPr>
      </p:pic>
      <p:sp>
        <p:nvSpPr>
          <p:cNvPr id="6"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7"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331720"/>
                <a:gridCol w="914400"/>
                <a:gridCol w="914400"/>
                <a:gridCol w="960120"/>
                <a:gridCol w="731520"/>
              </a:tblGrid>
              <a:tr h="548640">
                <a:tc>
                  <a:txBody>
                    <a:bodyPr/>
                    <a:lstStyle/>
                    <a:p>
                      <a:pPr indent="0" marL="0">
                        <a:buNone/>
                      </a:pPr>
                      <a:r>
                        <a:rPr lang="en-US" sz="1200" b="1" dirty="0">
                          <a:solidFill>
                            <a:srgbClr val="FFFFFF"/>
                          </a:solidFill>
                        </a:rPr>
                        <a:t>Component</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Maximum</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predicates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EIP-712 signature recovery, one signature</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7" name="caption"/>
          <p:cNvSpPr txBox="1"/>
          <p:nvPr/>
        </p:nvSpPr>
        <p:spPr>
          <a:xfrm>
            <a:off x="6812280" y="5349240"/>
            <a:ext cx="47091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ADVERSARIAL TESTS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A12</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11 / 12</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after the hardening</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36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36576" marR="36576" marT="36576" marB="36576"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12471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8813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CA2 Reassessment</dc:subject>
  <dc:creator>Yasir Dhaifallah O Alyoubi</dc:creator>
  <cp:lastModifiedBy>Yasir Dhaifallah O Alyoubi</cp:lastModifiedBy>
  <cp:revision>1</cp:revision>
  <dcterms:created xsi:type="dcterms:W3CDTF">2026-10-04T09:47:34Z</dcterms:created>
  <dcterms:modified xsi:type="dcterms:W3CDTF">2026-10-04T09:47:34Z</dcterms:modified>
</cp:coreProperties>
</file>
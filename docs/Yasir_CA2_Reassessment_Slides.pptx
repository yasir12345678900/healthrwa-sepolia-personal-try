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1.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7c8ab71e-cd80-6b88-fa05-b3713f537fa7}">
          <p14:sldIdLst>
            <p14:sldId id="256"/>
          </p14:sldIdLst>
        </p14:section>
        <p14:section name="Outline" id="{45f28229-072a-ffd8-4b3a-a9bbde9fea8c}">
          <p14:sldIdLst>
            <p14:sldId id="257"/>
          </p14:sldIdLst>
        </p14:section>
        <p14:section name="Introduction" id="{3a9d656a-2c75-2c44-1a66-650472247603}">
          <p14:sldIdLst>
            <p14:sldId id="258"/>
            <p14:sldId id="259"/>
          </p14:sldIdLst>
        </p14:section>
        <p14:section name="Systematic Literature Review" id="{619ddc2f-8d07-d498-8221-3548d3f11441}">
          <p14:sldIdLst>
            <p14:sldId id="260"/>
            <p14:sldId id="261"/>
            <p14:sldId id="262"/>
            <p14:sldId id="263"/>
            <p14:sldId id="264"/>
            <p14:sldId id="265"/>
            <p14:sldId id="266"/>
            <p14:sldId id="267"/>
          </p14:sldIdLst>
        </p14:section>
        <p14:section name="Research Gaps" id="{1b9cfcaf-6dc7-0b34-122e-af565c10c3b4}">
          <p14:sldIdLst>
            <p14:sldId id="268"/>
          </p14:sldIdLst>
        </p14:section>
        <p14:section name="Research Questions" id="{939b8ffd-7864-2b3c-b444-f31bb6c43488}">
          <p14:sldIdLst>
            <p14:sldId id="269"/>
            <p14:sldId id="270"/>
          </p14:sldIdLst>
        </p14:section>
        <p14:section name="Research Objectives" id="{380dd4ac-729a-0c9f-47b4-0ce1e24123cd}">
          <p14:sldIdLst>
            <p14:sldId id="271"/>
          </p14:sldIdLst>
        </p14:section>
        <p14:section name="Research Methodology" id="{c1748c60-1e01-a5fa-d087-415fb90ed22f}">
          <p14:sldIdLst>
            <p14:sldId id="272"/>
          </p14:sldIdLst>
        </p14:section>
        <p14:section name="Research Architecture" id="{1f0c4799-542b-ed4a-df73-1bf10be7f5b2}">
          <p14:sldIdLst>
            <p14:sldId id="273"/>
          </p14:sldIdLst>
        </p14:section>
        <p14:section name="The Proposed Solutions" id="{f2198686-ded3-7a43-7723-fea5c91437a3}">
          <p14:sldIdLst>
            <p14:sldId id="274"/>
            <p14:sldId id="275"/>
            <p14:sldId id="276"/>
            <p14:sldId id="277"/>
            <p14:sldId id="278"/>
            <p14:sldId id="279"/>
            <p14:sldId id="280"/>
          </p14:sldIdLst>
        </p14:section>
        <p14:section name="Implementation and Evaluation" id="{fbb8da49-fa6e-88c5-8e9f-4f4076ddc1d1}">
          <p14:sldIdLst>
            <p14:sldId id="281"/>
            <p14:sldId id="282"/>
            <p14:sldId id="283"/>
            <p14:sldId id="284"/>
            <p14:sldId id="285"/>
            <p14:sldId id="286"/>
          </p14:sldIdLst>
        </p14:section>
        <p14:section name="Significance of the Research" id="{02a8a0e2-5298-c014-5f75-71264294868f}">
          <p14:sldIdLst>
            <p14:sldId id="287"/>
            <p14:sldId id="288"/>
            <p14:sldId id="289"/>
            <p14:sldId id="290"/>
          </p14:sldIdLst>
        </p14:section>
        <p14:section name="Research Plan" id="{2d3b80d9-a462-aea0-24a1-1403831e581e}">
          <p14:sldIdLst>
            <p14:sldId id="291"/>
            <p14:sldId id="292"/>
          </p14:sldIdLst>
        </p14:section>
        <p14:section name="References" id="{87bef549-2fb9-2b7d-8c4b-584c54106637}">
          <p14:sldIdLst>
            <p14:sldId id="293"/>
            <p14:sldId id="294"/>
            <p14:sldId id="295"/>
            <p14:sldId id="296"/>
            <p14:sldId id="297"/>
            <p14:sldId id="298"/>
          </p14:sldIdLst>
        </p14:section>
        <p14:section name="Thank You" id="{37dd8782-220b-cf70-8fa0-cbd0c34cfb7a}">
          <p14:sldIdLst>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Gas used by the five anchored Sepolia transactions</a:t>
            </a:r>
          </a:p>
        </c:rich>
      </c:tx>
      <c:layout/>
      <c:overlay val="0"/>
    </c:title>
    <c:autoTitleDeleted val="0"/>
    <c:plotArea>
      <c:layout/>
      <c:barChart>
        <c:barDir val="col"/>
        <c:grouping val="clustered"/>
        <c:varyColors val="0"/>
        <c:ser>
          <c:idx val="0"/>
          <c:order val="0"/>
          <c:tx>
            <c:strRef>
              <c:f>Sheet1!$B$1</c:f>
              <c:strCache>
                <c:ptCount val="1"/>
                <c:pt idx="0">
                  <c:v>Gas used</c:v>
                </c:pt>
              </c:strCache>
            </c:strRef>
          </c:tx>
          <c:spPr>
            <a:solidFill>
              <a:srgbClr val="1FB5D6"/>
            </a:solidFill>
            <a:effectLst/>
          </c:spPr>
          <c:invertIfNegative val="0"/>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cat>
            <c:multiLvlStrRef>
              <c:f>Sheet1!$A$2:$A$6</c:f>
              <c:multiLvlStrCache>
                <c:ptCount val="5"/>
                <c:lvl>
                  <c:pt idx="0">
                    <c:v>Mint #8 (prev.)</c:v>
                  </c:pt>
                  <c:pt idx="1">
                    <c:v>Revoke #8 (prev.)</c:v>
                  </c:pt>
                  <c:pt idx="2">
                    <c:v>Mint #1</c:v>
                  </c:pt>
                  <c:pt idx="3">
                    <c:v>Revoke #1</c:v>
                  </c:pt>
                  <c:pt idx="4">
                    <c:v>Mint #2</c:v>
                  </c:pt>
                </c:lvl>
              </c:multiLvlStrCache>
            </c:multiLvlStrRef>
          </c:cat>
          <c:val>
            <c:numRef>
              <c:f>Sheet1!$B$2:$B$6</c:f>
              <c:numCache>
                <c:formatCode>General</c:formatCode>
                <c:ptCount val="5"/>
                <c:pt idx="0">
                  <c:v>156589</c:v>
                </c:pt>
                <c:pt idx="1">
                  <c:v>46226</c:v>
                </c:pt>
                <c:pt idx="2">
                  <c:v>196406</c:v>
                </c:pt>
                <c:pt idx="3">
                  <c:v>32980</c:v>
                </c:pt>
                <c:pt idx="4">
                  <c:v>179306</c:v>
                </c:pt>
              </c:numCache>
            </c:numRef>
          </c:val>
        </c:ser>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E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Yasir. My principal supervisor is Professor Farookh Hussain and my co-supervisor is Dr Firas Al-Doghman. This is my CA2 reassessment. My research is about a trusted authorisation framework for multi-party patient consent in healthcare data sharing. In simple words: how a patient's consent can be checked together with identity, authority, approvals and policy before any data is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roadmap of my presentation. I start with the introduction and the systematic literature review. Then I present the research gaps, the research questions, the objectives and the research methodology. After that I explain the proposed solution for each objective, RO1 to RO6, and the implementation and evaluation of the prototype. Finally, I present the significance of the research, the research plan and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Healthcare data is very sensitive, and many people can be involved in one decision: the patient, a guardian, the doctor and the hospital. Today, consent is usually stored as a record. But a stored record does not prove that the person asking for data has the right authority, that all required people approved, or that the request is inside the purpose and the data scope that the patient allowed. So the problem is not recording consent. The problem is checking all these conditions together, at the moment of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key concepts I use. Identity means who the person is. Authority means what this person is allowed to do. Multi-party approval means that more than one independent person must approve, for example the patient's guardians. Policy means that the request must match the purpose and the data scope. I put all these conditions inside one consent object, C equals I, A, P, T, L, E: identity, authority, policy, time, jurisdiction and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I did my systematic literature review. I followed PRISMA 2020. Before screening, a written protocol fixed the review questions, the databases, one master query, the eligibility criteria and the quality items. I searched seven databases, with Google Scholar as a discovery arm. Then I screened by title, then by abstract, then by full text, and I applied a quality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PRISMA flow diagram. The databases returned 9,256 records. After removing duplicates, 6,039 records were screened by title. 3,129 went to the abstract stage, and 1,800 full texts were prioritised. At the reporting checkpoint, 64 full texts were assessed and 47 met the criteria. From these, I analysed 25 primary studies: 23 core studies and the 2 highest-quality supporting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included study passed a quality check. QA1 asks if the study is about patient consent in healthcare. QA2 asks if it has an access-decision mechanism, not only storage. QA3 asks if it proposes a clear framework or model. QA4 asks if it is validated by a prototype or an implementation. Yes is 1, Partial is 0.5 and No is 0, and a study needs at least 3 out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literature, I defined six key requirements for trustworthy multi-party consent. Each one matches one research question. Requirement 1 is consent as an evaluable object. Requirement 2 is identity and authority. Requirement 3 is multi-party approval with a threshold. Requirement 4 is policy and context. Requirement 5 is time and lifecycle. Requirement 6 is auditability and security assurance.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shows the 25 primary studies of my review, with the authors, the year, the title and the category. Each study is placed in one of six streams, which match the six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second part of the list, studies S14 to S25.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the 25 studies against the six requirements, with Yes, Partial or No. You can see that every requirement is met by some study, but no study meets all of them together. Requirement 3, multi-party authorisation, is the least satisfied. For Requirement 6, each study takes the higher of its formal assurance grade and its empirical validation grade.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summarises the review. There are two gaps. The conjunction gap: each requirement is met by some study, but no study puts the conditions of Requirement 1 to Requirement 5 together in one access decision. The assurance gap: formal proofs exist in only 4 of the 25 studies, and they cover only a fragment of the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Based on the comparison, I defined six research gaps. Gap 1: consent is treated as a record. Gap 2: identity does not prove authority. Gap 3: multi-party approval is not a standing condition of every access. Gap 4: purpose and scope are rarely checked with identity and approval. Gap 5: time and revocation are not checked at each request. Gap 6: the whole decision is not proved or systematically tested. Gaps 1 to 5 form the conjunction gap, and Gap 6 is the assurance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I created the main research question: how can a trust-oriented computing framework establish and enforce trustworthy multi-party consent for decentralised healthcare data sharing, under identity, authority and policy constraints? Establish means creating trusted participants and a collective consent decision. Enforce means checking these conditions when a request is 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I created six sub-research questions. RQ1 is about modelling consent. RQ2 is about identity and authority. RQ3 is about multi-party approval. RQ4 is about policy and data scope. RQ5 is about time and lifecycle. RQ6 is about formal security assurance and empirical validation. Each question matches one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gaps and questions, I set six objectives. RO1 to RO4 are done and validated with the prototype. RO5, time and lifecycle, is in progress: validity window and revocation are working, and the rest is for the next stage. RO6 is partially completed: the prototype tests and measurements are done, and the formal proofs are for CA3.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steps of my research. First, I identified the problem. Second, I did a systematic literature review following PRISMA 2020. Third, from the review I defined six gaps and six research questions. Fourth, I set six objectives. Fifth, I designed the framework: the MVC architecture, the consent object C and four algorithms. Sixth, I implemented the HALAH prototype on the Sepolia testnet. Seventh, I validated and evaluated it with live scenarios, measurements and twelve attack tests. The formal assurance is the next stage, for CA3.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use the Model, View, Controller architecture. The View layer is the four user interfaces: patient, guardian, doctor and auditor. The Controller layer makes every security decision: it verifies identity and authority, aggregates the approvals, enforces the policy and records the evidence. The Model layer keeps the consent, the policy and the evidence. The healthcare data sit outside the three layers, and only the Controller can release them, and only on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of my solution. Access is allowed only when five conditions are all true: VI for identity and authority, VA for the guardian approvals and the token state, VP for purpose and data scope, VT for the validity time, and VL for the jurisdiction. If any one of them fails, the answer is DENY. In the prototype, a Groth16 zero-knowledge proof must also verify before data is 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RO1, the patient creates the consent. The patient enters the DID, the doctor, the guardians, the purpose, the data scope, the validity time and the jurisdiction. The system checks every field. For example, an empty data scope is rejected. Then it creates the consent object C, stores it as pending, and records the creation in the audit ledger. RO1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RO2, I separate identity from authority. The DID tells us who the person is, and the verifiable credential tells us what the person is allowed to do. A valid DID alone never gives access. In the current prototype, the system checks the DID format and recovers each guardian's EIP-712 signature. Full DID resolution and credential validation are planned for CA3.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RO3, no single person can approve alone. The guardian set is fixed when the consent is created. Each guardian signs an EIP-712 approval, and the system verifies it. Approvals from outside the set, replayed or duplicate approvals are not counted. In the demo, two of two guardians must sign. When the threshold is reached, a local token is recorded, and the mint is anchored on Sepolia in the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RO4, a valid identity and all approvals are still not enough. The requested data must be inside the authorised scope. For example, if the consent allows only Observation and Medication, a request that also asks for Procedure is denied. The purpose, the time and the jurisdiction are checked in the same decision, and a Groth16 proof must verify before any data is 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RO5 is in progress. What is working now: the validity window is stored on-chain and checked at every request, revocation works end to end with an on-chain revoke transaction, and the consent moves through a clear lifecycle state machine. The next stage will add the transition check, consent modification, delegation and guardian-set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RO6 is partially completed. I have 36 automated tests, including twelve attack scenarios. I measured the on-chain cost, the confirmation latency and the processing time. And a live request from the wrong jurisdiction was refused. The formal proofs, or model checking, and a larger evaluation under load are planned for CA3.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evaluation metrics. For cost, I use the gas used from each transaction receipt, and the fee, which is gas used multiplied by the gas price. For time, I use the submit-to-confirmation latency of the anchoring, and the processing time of each decision component over repeated runs. For security, a scenario passes only when the observed decision equals the expected decision, and I count how many of the twelve attacks are refused.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implementation. HALAH means History Access Link for Authorised Healthcare. It has four interfaces: patient, guardian, doctor and auditor. The consent token is a soulbound token, ConsentSBTv3, deployed on the Sepolia test network. Guardians sign with EIP-712, access uses a Groth16 proof over a Poseidon commitment, and the data are synthetic Synthea records. No medical data is written to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two live screens from the prototype. On the left, the doctor's request for the evaluated consent: all five checks pass, so the decision is ALLOW. On the right, the same request with a different jurisdiction: the jurisdiction check, VL, fails, and access is denied by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public evidence on Sepolia. On the left is the revocation transaction of token number 1 in block 11,771,307. On the right is the gas used by the five anchored transactions. A mint writes a full consent record, so it costs much more gas than a revoke, which changes only one flag. No fee exceeded 0.00021 ETH.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shows the processing time. The decision rule itself takes about 2 microseconds. Each guardian signature takes about 11 milliseconds. The Groth16 proof is the slowest part of a request, about 1.4 seconds to generate and 0.47 seconds to verify. Anchoring on Sepolia takes about 11.5 seconds, but it runs in the background, so it does not delay the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tested the system against twelve attacks, A1 to A12, for example a signer outside the guardian set, replayed or duplicate approvals, a request outside the scope, an expired or revoked consent, and a tampered proof. Before the hardening, three attacks were accepted when the service functions were called directly. After the hardening, eleven of the twelve are refused and all 36 tests pass. In A11, a rewritten audit event changes its digest, but no component compares the digest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compare traditional EHR access control with my framework. Traditional systems use a central identity provider and a static permission, and consent is a stored record. In HALAH, each participant has a DID, and identity is kept separate from authority. Consent is an object that is checked at every request. All the guardians must sign, so no single person can authorise alone. Time and revocation are checked at each request, and every decision is recorded in the audit ledger, with the consent state anchored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summarises data management and privacy in the prototype. No real patient data is used; the records are synthetic Synthea data. The medical records stay off-chain, and no medical content is written to the chain. The token stores only pseudonymous addresses, a hash of the purpose, the validity window, the jurisdiction code and a revocation flag. Records are released only on ALLOW and only inside the authorised scope. One limitation: the plaintext purpose is visible in the public input of the mint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scientific significance. First, the research treats consent as an object that is evaluated, not only stored. Second, multi-party approval is a standing condition of every access decision, and the patient defines who must approve. Third, it separates identity from authority and checks all the conditions in one decision. Fourth, it provides a PRISMA review of 25 studies that shows the conjunction gap and the assurance gap. Finally, it validates the framework with a working prototype on Sepolia, measurements and twelve attack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social contributions. The research gives patients and their guardians a direct role in deciding who can see the patient's data. It stops one person from approving access alone. It keeps every decision explainable and auditable for auditors and hospitals. It keeps medical records off-chain, so only consent evidence is shared. Together, this supports trust when health data is shared between independent organisations.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my research plan. Chapters 1 to 6 are done, and the conference paper was submitted to BWCCA 2026 in September. The SLR journal paper is in progress. Next, I will complete the prototype evaluation, write the third paper on formal assurance and lifecycle trust, and finish the conclusion. CA3 is planned for January 2027, and thesis submission for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timeline shows the same plan visually: the completed milestones, the work in progress, and the planned stages until the thesis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used in my report and in this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answer your questions.
Possible questions:
Why blockchain if the data stay off-chain? Because it gives a shared, tamper-evident record of the consent state and the decisions; no medical data is on-chain.
What is new? The consent object carries all the conditions, multi-party approval is a standing condition of every access decision, and the decision is tested against twelve attacks.
What is left for CA3? RO5 lifecycle extensions and RO6 formal proofs and a larger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9-1.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400" b="1" i="1" dirty="0">
                <a:solidFill>
                  <a:srgbClr val="FFFFFF"/>
                </a:solidFill>
                <a:latin typeface="Arial" pitchFamily="34" charset="0"/>
                <a:ea typeface="Arial" pitchFamily="34" charset="-122"/>
                <a:cs typeface="Arial" pitchFamily="34" charset="-120"/>
              </a:rPr>
              <a:t>A Trusted Authorization Framework for Multi-Party Patient Consent in Healthcare Data Sharing</a:t>
            </a:r>
            <a:endParaRPr lang="en-US" sz="34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CA2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18872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18872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188720"/>
            <a:ext cx="4206240" cy="640080"/>
          </a:xfrm>
          <a:prstGeom prst="rect">
            <a:avLst/>
          </a:prstGeom>
          <a:noFill/>
          <a:ln/>
        </p:spPr>
        <p:txBody>
          <a:bodyPr wrap="square" rtlCol="0" anchor="ctr"/>
          <a:lstStyle/>
          <a:p>
            <a:pPr indent="0" marL="0">
              <a:buNone/>
            </a:pPr>
            <a:r>
              <a:rPr lang="en-US" sz="1800" b="1" dirty="0">
                <a:solidFill>
                  <a:srgbClr val="FFFFFF"/>
                </a:solidFill>
              </a:rPr>
              <a:t>INTRODUCTION</a:t>
            </a:r>
            <a:endParaRPr lang="en-US" sz="1800" dirty="0"/>
          </a:p>
        </p:txBody>
      </p:sp>
      <p:sp>
        <p:nvSpPr>
          <p:cNvPr id="7" name="number 02"/>
          <p:cNvSpPr/>
          <p:nvPr/>
        </p:nvSpPr>
        <p:spPr>
          <a:xfrm>
            <a:off x="1463040" y="205740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05740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057400"/>
            <a:ext cx="4206240" cy="640080"/>
          </a:xfrm>
          <a:prstGeom prst="rect">
            <a:avLst/>
          </a:prstGeom>
          <a:noFill/>
          <a:ln/>
        </p:spPr>
        <p:txBody>
          <a:bodyPr wrap="square" rtlCol="0" anchor="ctr"/>
          <a:lstStyle/>
          <a:p>
            <a:pPr indent="0" marL="0">
              <a:buNone/>
            </a:pPr>
            <a:r>
              <a:rPr lang="en-US" sz="1800" b="1" dirty="0">
                <a:solidFill>
                  <a:srgbClr val="FFFFFF"/>
                </a:solidFill>
              </a:rPr>
              <a:t>SYSTEMATIC LITERATURE REVIEW</a:t>
            </a:r>
            <a:endParaRPr lang="en-US" sz="1800" dirty="0"/>
          </a:p>
        </p:txBody>
      </p:sp>
      <p:sp>
        <p:nvSpPr>
          <p:cNvPr id="10" name="number 03"/>
          <p:cNvSpPr/>
          <p:nvPr/>
        </p:nvSpPr>
        <p:spPr>
          <a:xfrm>
            <a:off x="1463040" y="292608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2608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26080"/>
            <a:ext cx="4206240" cy="640080"/>
          </a:xfrm>
          <a:prstGeom prst="rect">
            <a:avLst/>
          </a:prstGeom>
          <a:noFill/>
          <a:ln/>
        </p:spPr>
        <p:txBody>
          <a:bodyPr wrap="square" rtlCol="0" anchor="ctr"/>
          <a:lstStyle/>
          <a:p>
            <a:pPr indent="0" marL="0">
              <a:buNone/>
            </a:pPr>
            <a:r>
              <a:rPr lang="en-US" sz="1800" b="1" dirty="0">
                <a:solidFill>
                  <a:srgbClr val="FFFFFF"/>
                </a:solidFill>
              </a:rPr>
              <a:t>RESEARCH GAPS</a:t>
            </a:r>
            <a:endParaRPr lang="en-US" sz="1800" dirty="0"/>
          </a:p>
        </p:txBody>
      </p:sp>
      <p:sp>
        <p:nvSpPr>
          <p:cNvPr id="13" name="number 04"/>
          <p:cNvSpPr/>
          <p:nvPr/>
        </p:nvSpPr>
        <p:spPr>
          <a:xfrm>
            <a:off x="1463040" y="379476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79476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794760"/>
            <a:ext cx="4206240" cy="640080"/>
          </a:xfrm>
          <a:prstGeom prst="rect">
            <a:avLst/>
          </a:prstGeom>
          <a:noFill/>
          <a:ln/>
        </p:spPr>
        <p:txBody>
          <a:bodyPr wrap="square" rtlCol="0" anchor="ctr"/>
          <a:lstStyle/>
          <a:p>
            <a:pPr indent="0" marL="0">
              <a:buNone/>
            </a:pPr>
            <a:r>
              <a:rPr lang="en-US" sz="1800" b="1" dirty="0">
                <a:solidFill>
                  <a:srgbClr val="FFFFFF"/>
                </a:solidFill>
              </a:rPr>
              <a:t>RESEARCH QUESTIONS</a:t>
            </a:r>
            <a:endParaRPr lang="en-US" sz="1800" dirty="0"/>
          </a:p>
        </p:txBody>
      </p:sp>
      <p:sp>
        <p:nvSpPr>
          <p:cNvPr id="16" name="number 05"/>
          <p:cNvSpPr/>
          <p:nvPr/>
        </p:nvSpPr>
        <p:spPr>
          <a:xfrm>
            <a:off x="1463040" y="466344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66344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663440"/>
            <a:ext cx="4206240" cy="640080"/>
          </a:xfrm>
          <a:prstGeom prst="rect">
            <a:avLst/>
          </a:prstGeom>
          <a:noFill/>
          <a:ln/>
        </p:spPr>
        <p:txBody>
          <a:bodyPr wrap="square" rtlCol="0" anchor="ctr"/>
          <a:lstStyle/>
          <a:p>
            <a:pPr indent="0" marL="0">
              <a:buNone/>
            </a:pPr>
            <a:r>
              <a:rPr lang="en-US" sz="1800" b="1" dirty="0">
                <a:solidFill>
                  <a:srgbClr val="FFFFFF"/>
                </a:solidFill>
              </a:rPr>
              <a:t>RESEARCH OBJECTIVES</a:t>
            </a:r>
            <a:endParaRPr lang="en-US" sz="1800" dirty="0"/>
          </a:p>
        </p:txBody>
      </p:sp>
      <p:sp>
        <p:nvSpPr>
          <p:cNvPr id="19" name="number 06"/>
          <p:cNvSpPr/>
          <p:nvPr/>
        </p:nvSpPr>
        <p:spPr>
          <a:xfrm>
            <a:off x="1463040" y="553212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3212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32120"/>
            <a:ext cx="4206240" cy="640080"/>
          </a:xfrm>
          <a:prstGeom prst="rect">
            <a:avLst/>
          </a:prstGeom>
          <a:noFill/>
          <a:ln/>
        </p:spPr>
        <p:txBody>
          <a:bodyPr wrap="square" rtlCol="0" anchor="ctr"/>
          <a:lstStyle/>
          <a:p>
            <a:pPr indent="0" marL="0">
              <a:buNone/>
            </a:pPr>
            <a:r>
              <a:rPr lang="en-US" sz="1800" b="1" dirty="0">
                <a:solidFill>
                  <a:srgbClr val="FFFFFF"/>
                </a:solidFill>
              </a:rPr>
              <a:t>RESEARCH METHODOLOGY</a:t>
            </a:r>
            <a:endParaRPr lang="en-US" sz="1800" dirty="0"/>
          </a:p>
        </p:txBody>
      </p:sp>
      <p:sp>
        <p:nvSpPr>
          <p:cNvPr id="22" name="number 07"/>
          <p:cNvSpPr/>
          <p:nvPr/>
        </p:nvSpPr>
        <p:spPr>
          <a:xfrm>
            <a:off x="6492240" y="118872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18872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188720"/>
            <a:ext cx="4206240" cy="640080"/>
          </a:xfrm>
          <a:prstGeom prst="rect">
            <a:avLst/>
          </a:prstGeom>
          <a:noFill/>
          <a:ln/>
        </p:spPr>
        <p:txBody>
          <a:bodyPr wrap="square" rtlCol="0" anchor="ctr"/>
          <a:lstStyle/>
          <a:p>
            <a:pPr indent="0" marL="0">
              <a:buNone/>
            </a:pPr>
            <a:r>
              <a:rPr lang="en-US" sz="1800" b="1" dirty="0">
                <a:solidFill>
                  <a:srgbClr val="FFFFFF"/>
                </a:solidFill>
              </a:rPr>
              <a:t>THE PROPOSED SOLUTIONS</a:t>
            </a:r>
            <a:endParaRPr lang="en-US" sz="1800" dirty="0"/>
          </a:p>
        </p:txBody>
      </p:sp>
      <p:sp>
        <p:nvSpPr>
          <p:cNvPr id="25" name="number 08"/>
          <p:cNvSpPr/>
          <p:nvPr/>
        </p:nvSpPr>
        <p:spPr>
          <a:xfrm>
            <a:off x="6492240" y="205740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05740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057400"/>
            <a:ext cx="4206240" cy="640080"/>
          </a:xfrm>
          <a:prstGeom prst="rect">
            <a:avLst/>
          </a:prstGeom>
          <a:noFill/>
          <a:ln/>
        </p:spPr>
        <p:txBody>
          <a:bodyPr wrap="square" rtlCol="0" anchor="ctr"/>
          <a:lstStyle/>
          <a:p>
            <a:pPr indent="0" marL="0">
              <a:buNone/>
            </a:pPr>
            <a:r>
              <a:rPr lang="en-US" sz="1800" b="1" dirty="0">
                <a:solidFill>
                  <a:srgbClr val="FFFFFF"/>
                </a:solidFill>
              </a:rPr>
              <a:t>IMPLEMENTATION AND EVALUATION</a:t>
            </a:r>
            <a:endParaRPr lang="en-US" sz="1800" dirty="0"/>
          </a:p>
        </p:txBody>
      </p:sp>
      <p:sp>
        <p:nvSpPr>
          <p:cNvPr id="28" name="number 09"/>
          <p:cNvSpPr/>
          <p:nvPr/>
        </p:nvSpPr>
        <p:spPr>
          <a:xfrm>
            <a:off x="6492240" y="292608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2608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2608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31" name="number 10"/>
          <p:cNvSpPr/>
          <p:nvPr/>
        </p:nvSpPr>
        <p:spPr>
          <a:xfrm>
            <a:off x="6492240" y="379476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79476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79476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34" name="number 11"/>
          <p:cNvSpPr/>
          <p:nvPr/>
        </p:nvSpPr>
        <p:spPr>
          <a:xfrm>
            <a:off x="6492240" y="4663440"/>
            <a:ext cx="731520" cy="640080"/>
          </a:xfrm>
          <a:prstGeom prst="roundRect">
            <a:avLst>
              <a:gd name="adj" fmla="val 11429"/>
            </a:avLst>
          </a:prstGeom>
          <a:solidFill>
            <a:srgbClr val="1FB5D6"/>
          </a:solidFill>
          <a:ln w="12700">
            <a:solidFill>
              <a:srgbClr val="FFFFFF"/>
            </a:solidFill>
            <a:prstDash val="solid"/>
          </a:ln>
        </p:spPr>
      </p:sp>
      <p:sp>
        <p:nvSpPr>
          <p:cNvPr id="35" name="number text 11"/>
          <p:cNvSpPr txBox="1"/>
          <p:nvPr/>
        </p:nvSpPr>
        <p:spPr>
          <a:xfrm>
            <a:off x="6492240" y="4663440"/>
            <a:ext cx="731520" cy="640080"/>
          </a:xfrm>
          <a:prstGeom prst="rect">
            <a:avLst/>
          </a:prstGeom>
          <a:noFill/>
          <a:ln/>
        </p:spPr>
        <p:txBody>
          <a:bodyPr wrap="square" rtlCol="0" anchor="ctr"/>
          <a:lstStyle/>
          <a:p>
            <a:pPr algn="ctr" indent="0" marL="0">
              <a:buNone/>
            </a:pPr>
            <a:r>
              <a:rPr lang="en-US" sz="2000" b="1" dirty="0">
                <a:solidFill>
                  <a:srgbClr val="FFFFFF"/>
                </a:solidFill>
              </a:rPr>
              <a:t>11</a:t>
            </a:r>
            <a:endParaRPr lang="en-US" sz="2000" dirty="0"/>
          </a:p>
        </p:txBody>
      </p:sp>
      <p:sp>
        <p:nvSpPr>
          <p:cNvPr id="36" name="item 11"/>
          <p:cNvSpPr txBox="1"/>
          <p:nvPr/>
        </p:nvSpPr>
        <p:spPr>
          <a:xfrm>
            <a:off x="7406640" y="466344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a:t>
            </a:r>
            <a:endParaRPr lang="en-US" sz="3000" dirty="0"/>
          </a:p>
        </p:txBody>
      </p:sp>
      <p:sp>
        <p:nvSpPr>
          <p:cNvPr id="4" name="bullets"/>
          <p:cNvSpPr txBox="1"/>
          <p:nvPr/>
        </p:nvSpPr>
        <p:spPr>
          <a:xfrm>
            <a:off x="822960" y="1280160"/>
            <a:ext cx="603504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very sensitive and is shared across many independent parties: patients, guardians, doctors and hospitals.</a:t>
            </a:r>
            <a:endParaRPr lang="en-US" sz="1900" dirty="0"/>
          </a:p>
          <a:p>
            <a:pPr marL="342900" indent="-342900">
              <a:spcAft>
                <a:spcPts val="1000"/>
              </a:spcAft>
              <a:buSzPct val="100000"/>
              <a:buChar char="•"/>
            </a:pPr>
            <a:r>
              <a:rPr lang="en-US" sz="1900" dirty="0">
                <a:solidFill>
                  <a:srgbClr val="FFFFFF"/>
                </a:solidFill>
              </a:rPr>
              <a:t>Consent is usually stored as a passive record of permission.</a:t>
            </a:r>
            <a:endParaRPr lang="en-US" sz="1900" dirty="0"/>
          </a:p>
          <a:p>
            <a:pPr marL="342900" indent="-342900">
              <a:spcAft>
                <a:spcPts val="1000"/>
              </a:spcAft>
              <a:buSzPct val="100000"/>
              <a:buChar char="•"/>
            </a:pPr>
            <a:r>
              <a:rPr lang="en-US" sz="1900" dirty="0">
                <a:solidFill>
                  <a:srgbClr val="FFFFFF"/>
                </a:solidFill>
              </a:rPr>
              <a:t>A valid identity does not prove the authority to access a patient's data.</a:t>
            </a:r>
            <a:endParaRPr lang="en-US" sz="1900" dirty="0"/>
          </a:p>
          <a:p>
            <a:pPr marL="342900" indent="-342900">
              <a:spcAft>
                <a:spcPts val="1000"/>
              </a:spcAft>
              <a:buSzPct val="100000"/>
              <a:buChar char="•"/>
            </a:pPr>
            <a:r>
              <a:rPr lang="en-US" sz="1900" dirty="0">
                <a:solidFill>
                  <a:srgbClr val="FFFFFF"/>
                </a:solidFill>
              </a:rPr>
              <a:t>Even with approval, a request can exceed the authorised purpose or data scope.</a:t>
            </a:r>
            <a:endParaRPr lang="en-US" sz="1900" dirty="0"/>
          </a:p>
          <a:p>
            <a:pPr marL="342900" indent="-342900">
              <a:spcAft>
                <a:spcPts val="1000"/>
              </a:spcAft>
              <a:buSzPct val="100000"/>
              <a:buChar char="•"/>
            </a:pPr>
            <a:r>
              <a:rPr lang="en-US" sz="1900" dirty="0">
                <a:solidFill>
                  <a:srgbClr val="FFFFFF"/>
                </a:solidFill>
              </a:rPr>
              <a:t>We need one trusted decision that checks identity, authority, multi-party approval, policy, time and lifecycle together.</a:t>
            </a:r>
            <a:endParaRPr lang="en-US" sz="1900" dirty="0"/>
          </a:p>
        </p:txBody>
      </p:sp>
      <p:sp>
        <p:nvSpPr>
          <p:cNvPr id="5" name="card The central problem"/>
          <p:cNvSpPr/>
          <p:nvPr/>
        </p:nvSpPr>
        <p:spPr>
          <a:xfrm>
            <a:off x="7315200" y="1463040"/>
            <a:ext cx="4023360" cy="4206240"/>
          </a:xfrm>
          <a:prstGeom prst="roundRect">
            <a:avLst>
              <a:gd name="adj" fmla="val 2273"/>
            </a:avLst>
          </a:prstGeom>
          <a:solidFill>
            <a:srgbClr val="FFFFFF">
              <a:alpha val="92000"/>
            </a:srgbClr>
          </a:solidFill>
          <a:ln w="19050">
            <a:solidFill>
              <a:srgbClr val="1FB5D6"/>
            </a:solidFill>
            <a:prstDash val="solid"/>
          </a:ln>
        </p:spPr>
      </p:sp>
      <p:sp>
        <p:nvSpPr>
          <p:cNvPr id="6" name="card text The central problem"/>
          <p:cNvSpPr txBox="1"/>
          <p:nvPr/>
        </p:nvSpPr>
        <p:spPr>
          <a:xfrm>
            <a:off x="7452360" y="1554480"/>
            <a:ext cx="3749040" cy="4023360"/>
          </a:xfrm>
          <a:prstGeom prst="rect">
            <a:avLst/>
          </a:prstGeom>
          <a:noFill/>
          <a:ln/>
        </p:spPr>
        <p:txBody>
          <a:bodyPr wrap="square" rtlCol="0" anchor="t"/>
          <a:lstStyle/>
          <a:p>
            <a:pPr indent="0" marL="0">
              <a:spcAft>
                <a:spcPts val="400"/>
              </a:spcAft>
              <a:buNone/>
            </a:pPr>
            <a:r>
              <a:rPr lang="en-US" sz="1900" b="1" dirty="0">
                <a:solidFill>
                  <a:srgbClr val="0B2A4A"/>
                </a:solidFill>
              </a:rPr>
              <a:t>The central problem</a:t>
            </a:r>
            <a:endParaRPr lang="en-US" sz="1900" dirty="0"/>
          </a:p>
          <a:p>
            <a:pPr indent="0" marL="0">
              <a:spcAft>
                <a:spcPts val="400"/>
              </a:spcAft>
              <a:buNone/>
            </a:pPr>
            <a:r>
              <a:rPr lang="en-US" sz="1600" dirty="0">
                <a:solidFill>
                  <a:srgbClr val="0B1F33"/>
                </a:solidFill>
              </a:rPr>
              <a:t>There is no integrated, trust-oriented mechanism that connects identity, authority, multi-party approval, policy, temporal and lifecycle conditions in one authorisation decision, and whose security is formally and empirically shown.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 KEY CONCEPTS</a:t>
            </a:r>
            <a:endParaRPr lang="en-US" sz="3000" dirty="0"/>
          </a:p>
        </p:txBody>
      </p:sp>
      <p:sp>
        <p:nvSpPr>
          <p:cNvPr id="4" name="card Identity"/>
          <p:cNvSpPr/>
          <p:nvPr/>
        </p:nvSpPr>
        <p:spPr>
          <a:xfrm>
            <a:off x="822960" y="1234440"/>
            <a:ext cx="5074920" cy="1371600"/>
          </a:xfrm>
          <a:prstGeom prst="roundRect">
            <a:avLst>
              <a:gd name="adj" fmla="val 6667"/>
            </a:avLst>
          </a:prstGeom>
          <a:solidFill>
            <a:srgbClr val="FFFFFF">
              <a:alpha val="92000"/>
            </a:srgbClr>
          </a:solidFill>
          <a:ln w="19050">
            <a:solidFill>
              <a:srgbClr val="1FB5D6"/>
            </a:solidFill>
            <a:prstDash val="solid"/>
          </a:ln>
        </p:spPr>
      </p:sp>
      <p:sp>
        <p:nvSpPr>
          <p:cNvPr id="5" name="card text Identity"/>
          <p:cNvSpPr txBox="1"/>
          <p:nvPr/>
        </p:nvSpPr>
        <p:spPr>
          <a:xfrm>
            <a:off x="960120" y="1325880"/>
            <a:ext cx="4800600" cy="1188720"/>
          </a:xfrm>
          <a:prstGeom prst="rect">
            <a:avLst/>
          </a:prstGeom>
          <a:noFill/>
          <a:ln/>
        </p:spPr>
        <p:txBody>
          <a:bodyPr wrap="square" rtlCol="0" anchor="t"/>
          <a:lstStyle/>
          <a:p>
            <a:pPr indent="0" marL="0">
              <a:spcAft>
                <a:spcPts val="400"/>
              </a:spcAft>
              <a:buNone/>
            </a:pPr>
            <a:r>
              <a:rPr lang="en-US" sz="1900" b="1" dirty="0">
                <a:solidFill>
                  <a:srgbClr val="0B2A4A"/>
                </a:solidFill>
              </a:rPr>
              <a:t>Identity</a:t>
            </a:r>
            <a:endParaRPr lang="en-US" sz="1900" dirty="0"/>
          </a:p>
          <a:p>
            <a:pPr indent="0" marL="0">
              <a:spcAft>
                <a:spcPts val="400"/>
              </a:spcAft>
              <a:buNone/>
            </a:pPr>
            <a:r>
              <a:rPr lang="en-US" sz="1600" dirty="0">
                <a:solidFill>
                  <a:srgbClr val="0B1F33"/>
                </a:solidFill>
              </a:rPr>
              <a:t>Can the participant be reliably identified? (DID)</a:t>
            </a:r>
            <a:endParaRPr lang="en-US" sz="1900" dirty="0"/>
          </a:p>
        </p:txBody>
      </p:sp>
      <p:sp>
        <p:nvSpPr>
          <p:cNvPr id="6" name="card Authority"/>
          <p:cNvSpPr/>
          <p:nvPr/>
        </p:nvSpPr>
        <p:spPr>
          <a:xfrm>
            <a:off x="6172200" y="1234440"/>
            <a:ext cx="5074920" cy="1371600"/>
          </a:xfrm>
          <a:prstGeom prst="roundRect">
            <a:avLst>
              <a:gd name="adj" fmla="val 6667"/>
            </a:avLst>
          </a:prstGeom>
          <a:solidFill>
            <a:srgbClr val="FFFFFF">
              <a:alpha val="92000"/>
            </a:srgbClr>
          </a:solidFill>
          <a:ln w="19050">
            <a:solidFill>
              <a:srgbClr val="1FB5D6"/>
            </a:solidFill>
            <a:prstDash val="solid"/>
          </a:ln>
        </p:spPr>
      </p:sp>
      <p:sp>
        <p:nvSpPr>
          <p:cNvPr id="7" name="card text Authority"/>
          <p:cNvSpPr txBox="1"/>
          <p:nvPr/>
        </p:nvSpPr>
        <p:spPr>
          <a:xfrm>
            <a:off x="6309360" y="1325880"/>
            <a:ext cx="4800600" cy="1188720"/>
          </a:xfrm>
          <a:prstGeom prst="rect">
            <a:avLst/>
          </a:prstGeom>
          <a:noFill/>
          <a:ln/>
        </p:spPr>
        <p:txBody>
          <a:bodyPr wrap="square" rtlCol="0" anchor="t"/>
          <a:lstStyle/>
          <a:p>
            <a:pPr indent="0" marL="0">
              <a:spcAft>
                <a:spcPts val="400"/>
              </a:spcAft>
              <a:buNone/>
            </a:pPr>
            <a:r>
              <a:rPr lang="en-US" sz="1900" b="1" dirty="0">
                <a:solidFill>
                  <a:srgbClr val="0B2A4A"/>
                </a:solidFill>
              </a:rPr>
              <a:t>Authority</a:t>
            </a:r>
            <a:endParaRPr lang="en-US" sz="1900" dirty="0"/>
          </a:p>
          <a:p>
            <a:pPr indent="0" marL="0">
              <a:spcAft>
                <a:spcPts val="400"/>
              </a:spcAft>
              <a:buNone/>
            </a:pPr>
            <a:r>
              <a:rPr lang="en-US" sz="1600" dirty="0">
                <a:solidFill>
                  <a:srgbClr val="0B1F33"/>
                </a:solidFill>
              </a:rPr>
              <a:t>Does the participant hold the role or permission for this decision? (VC)</a:t>
            </a:r>
            <a:endParaRPr lang="en-US" sz="1900" dirty="0"/>
          </a:p>
        </p:txBody>
      </p:sp>
      <p:sp>
        <p:nvSpPr>
          <p:cNvPr id="8" name="card Multi-party approval"/>
          <p:cNvSpPr/>
          <p:nvPr/>
        </p:nvSpPr>
        <p:spPr>
          <a:xfrm>
            <a:off x="822960" y="2834640"/>
            <a:ext cx="5074920" cy="1371600"/>
          </a:xfrm>
          <a:prstGeom prst="roundRect">
            <a:avLst>
              <a:gd name="adj" fmla="val 6667"/>
            </a:avLst>
          </a:prstGeom>
          <a:solidFill>
            <a:srgbClr val="FFFFFF">
              <a:alpha val="92000"/>
            </a:srgbClr>
          </a:solidFill>
          <a:ln w="19050">
            <a:solidFill>
              <a:srgbClr val="1FB5D6"/>
            </a:solidFill>
            <a:prstDash val="solid"/>
          </a:ln>
        </p:spPr>
      </p:sp>
      <p:sp>
        <p:nvSpPr>
          <p:cNvPr id="9" name="card text Multi-party approval"/>
          <p:cNvSpPr txBox="1"/>
          <p:nvPr/>
        </p:nvSpPr>
        <p:spPr>
          <a:xfrm>
            <a:off x="960120" y="2926080"/>
            <a:ext cx="4800600" cy="1188720"/>
          </a:xfrm>
          <a:prstGeom prst="rect">
            <a:avLst/>
          </a:prstGeom>
          <a:noFill/>
          <a:ln/>
        </p:spPr>
        <p:txBody>
          <a:bodyPr wrap="square" rtlCol="0" anchor="t"/>
          <a:lstStyle/>
          <a:p>
            <a:pPr indent="0" marL="0">
              <a:spcAft>
                <a:spcPts val="400"/>
              </a:spcAft>
              <a:buNone/>
            </a:pPr>
            <a:r>
              <a:rPr lang="en-US" sz="1900" b="1" dirty="0">
                <a:solidFill>
                  <a:srgbClr val="0B2A4A"/>
                </a:solidFill>
              </a:rPr>
              <a:t>Multi-party approval</a:t>
            </a:r>
            <a:endParaRPr lang="en-US" sz="1900" dirty="0"/>
          </a:p>
          <a:p>
            <a:pPr indent="0" marL="0">
              <a:spcAft>
                <a:spcPts val="400"/>
              </a:spcAft>
              <a:buNone/>
            </a:pPr>
            <a:r>
              <a:rPr lang="en-US" sz="1600" dirty="0">
                <a:solidFill>
                  <a:srgbClr val="0B1F33"/>
                </a:solidFill>
              </a:rPr>
              <a:t>Have all required, independently verified guardians approved?</a:t>
            </a:r>
            <a:endParaRPr lang="en-US" sz="1900" dirty="0"/>
          </a:p>
        </p:txBody>
      </p:sp>
      <p:sp>
        <p:nvSpPr>
          <p:cNvPr id="10" name="card Policy"/>
          <p:cNvSpPr/>
          <p:nvPr/>
        </p:nvSpPr>
        <p:spPr>
          <a:xfrm>
            <a:off x="6172200" y="2834640"/>
            <a:ext cx="5074920" cy="1371600"/>
          </a:xfrm>
          <a:prstGeom prst="roundRect">
            <a:avLst>
              <a:gd name="adj" fmla="val 6667"/>
            </a:avLst>
          </a:prstGeom>
          <a:solidFill>
            <a:srgbClr val="FFFFFF">
              <a:alpha val="92000"/>
            </a:srgbClr>
          </a:solidFill>
          <a:ln w="19050">
            <a:solidFill>
              <a:srgbClr val="1FB5D6"/>
            </a:solidFill>
            <a:prstDash val="solid"/>
          </a:ln>
        </p:spPr>
      </p:sp>
      <p:sp>
        <p:nvSpPr>
          <p:cNvPr id="11" name="card text Policy"/>
          <p:cNvSpPr txBox="1"/>
          <p:nvPr/>
        </p:nvSpPr>
        <p:spPr>
          <a:xfrm>
            <a:off x="6309360" y="2926080"/>
            <a:ext cx="4800600" cy="1188720"/>
          </a:xfrm>
          <a:prstGeom prst="rect">
            <a:avLst/>
          </a:prstGeom>
          <a:noFill/>
          <a:ln/>
        </p:spPr>
        <p:txBody>
          <a:bodyPr wrap="square" rtlCol="0" anchor="t"/>
          <a:lstStyle/>
          <a:p>
            <a:pPr indent="0" marL="0">
              <a:spcAft>
                <a:spcPts val="400"/>
              </a:spcAft>
              <a:buNone/>
            </a:pPr>
            <a:r>
              <a:rPr lang="en-US" sz="1900" b="1" dirty="0">
                <a:solidFill>
                  <a:srgbClr val="0B2A4A"/>
                </a:solidFill>
              </a:rPr>
              <a:t>Policy</a:t>
            </a:r>
            <a:endParaRPr lang="en-US" sz="1900" dirty="0"/>
          </a:p>
          <a:p>
            <a:pPr indent="0" marL="0">
              <a:spcAft>
                <a:spcPts val="400"/>
              </a:spcAft>
              <a:buNone/>
            </a:pPr>
            <a:r>
              <a:rPr lang="en-US" sz="1600" dirty="0">
                <a:solidFill>
                  <a:srgbClr val="0B1F33"/>
                </a:solidFill>
              </a:rPr>
              <a:t>Is the request inside the authorised purpose, data scope and jurisdiction?</a:t>
            </a:r>
            <a:endParaRPr lang="en-US" sz="1900" dirty="0"/>
          </a:p>
        </p:txBody>
      </p:sp>
      <p:sp>
        <p:nvSpPr>
          <p:cNvPr id="12" name="consent object box"/>
          <p:cNvSpPr/>
          <p:nvPr/>
        </p:nvSpPr>
        <p:spPr>
          <a:xfrm>
            <a:off x="822960" y="4572000"/>
            <a:ext cx="10424160" cy="1463040"/>
          </a:xfrm>
          <a:prstGeom prst="roundRect">
            <a:avLst>
              <a:gd name="adj" fmla="val 6250"/>
            </a:avLst>
          </a:prstGeom>
          <a:solidFill>
            <a:srgbClr val="0B2A4A">
              <a:alpha val="85000"/>
            </a:srgbClr>
          </a:solidFill>
          <a:ln w="19050">
            <a:solidFill>
              <a:srgbClr val="1FB5D6"/>
            </a:solidFill>
            <a:prstDash val="solid"/>
          </a:ln>
        </p:spPr>
      </p:sp>
      <p:sp>
        <p:nvSpPr>
          <p:cNvPr id="13" name="consent object text"/>
          <p:cNvSpPr txBox="1"/>
          <p:nvPr/>
        </p:nvSpPr>
        <p:spPr>
          <a:xfrm>
            <a:off x="1005840" y="4617720"/>
            <a:ext cx="10058400" cy="1371600"/>
          </a:xfrm>
          <a:prstGeom prst="rect">
            <a:avLst/>
          </a:prstGeom>
          <a:noFill/>
          <a:ln/>
        </p:spPr>
        <p:txBody>
          <a:bodyPr wrap="square" rtlCol="0" anchor="ctr"/>
          <a:lstStyle/>
          <a:p>
            <a:pPr algn="ctr" indent="0" marL="0">
              <a:buNone/>
            </a:pPr>
            <a:r>
              <a:rPr lang="en-US" sz="1800" b="1" dirty="0">
                <a:solidFill>
                  <a:srgbClr val="1FB5D6"/>
                </a:solidFill>
              </a:rPr>
              <a:t>Consent as an evaluable authorisation object</a:t>
            </a:r>
            <a:endParaRPr lang="en-US" sz="1800" dirty="0"/>
          </a:p>
          <a:p>
            <a:pPr algn="ctr" indent="0" marL="0">
              <a:buNone/>
            </a:pPr>
            <a:r>
              <a:rPr lang="en-US" sz="2600" b="1" dirty="0">
                <a:solidFill>
                  <a:srgbClr val="FFFFFF"/>
                </a:solidFill>
              </a:rPr>
              <a:t>C = (I, A, P, T, L, E)</a:t>
            </a:r>
            <a:endParaRPr lang="en-US" sz="1800" dirty="0"/>
          </a:p>
          <a:p>
            <a:pPr algn="ctr" indent="0" marL="0">
              <a:buNone/>
            </a:pPr>
            <a:r>
              <a:rPr lang="en-US" sz="1500" dirty="0">
                <a:solidFill>
                  <a:srgbClr val="FFFFFF"/>
                </a:solidFill>
              </a:rPr>
              <a:t>Identity · Authority (guardian set G, threshold N) · Policy (purpose, scope) · Time · Jurisdiction · Evidence</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a:t>
            </a:r>
            <a:endParaRPr lang="en-US" sz="3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3291840"/>
                <a:gridCol w="5943600"/>
              </a:tblGrid>
              <a:tr h="777240">
                <a:tc>
                  <a:txBody>
                    <a:bodyPr/>
                    <a:lstStyle/>
                    <a:p>
                      <a:pPr indent="0" marL="0">
                        <a:buNone/>
                      </a:pPr>
                      <a:r>
                        <a:rPr lang="en-US" sz="1500" b="1" dirty="0">
                          <a:solidFill>
                            <a:srgbClr val="FFFFFF"/>
                          </a:solidFill>
                        </a:rPr>
                        <a:t>Stage</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Method</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Details</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Protocol</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PRISMA 2020, written protocol (v1.1)</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Review questions, databases, master query, criteria, codebook and quality items fixed before screening</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Search</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One master query, three concept blocks</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IEEE Xplore, ACM DL, ScienceDirect, SpringerLink, ProQuest, Scopus, Web of Science; Google Scholar as discovery arm</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Dates</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Main searches in August 2026</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24 and 25 August 2026; ACM DL on 5 September 2026</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Screening</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Title, abstract, then full text</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 criteria IC1 to IC7, exclusion criteria EC1 to EC9</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Quality</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QA1 to QA4 (Yes 1, Partial 0.5, No 0)</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 study is included when QA1 + QA2 + QA3 + QA4 ≥ 3.0</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 PROCESS</a:t>
            </a:r>
            <a:endParaRPr lang="en-US" sz="3000" dirty="0"/>
          </a:p>
        </p:txBody>
      </p:sp>
      <p:sp>
        <p:nvSpPr>
          <p:cNvPr id="4" name="F2 panel"/>
          <p:cNvSpPr/>
          <p:nvPr/>
        </p:nvSpPr>
        <p:spPr>
          <a:xfrm>
            <a:off x="2743200" y="1051560"/>
            <a:ext cx="6675120" cy="5486400"/>
          </a:xfrm>
          <a:prstGeom prst="roundRect">
            <a:avLst>
              <a:gd name="adj" fmla="val 2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3196215" y="1161288"/>
            <a:ext cx="5769089" cy="526694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QUALITY ASSESSMENT</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7223760"/>
                <a:gridCol w="2011680"/>
              </a:tblGrid>
              <a:tr h="713232">
                <a:tc>
                  <a:txBody>
                    <a:bodyPr/>
                    <a:lstStyle/>
                    <a:p>
                      <a:pPr indent="0" marL="0">
                        <a:buNone/>
                      </a:pPr>
                      <a:r>
                        <a:rPr lang="en-US" sz="1500" b="1" dirty="0">
                          <a:solidFill>
                            <a:srgbClr val="FFFFFF"/>
                          </a:solidFill>
                        </a:rPr>
                        <a:t>Item</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Question</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Used for</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QA1</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the study deal with patient consent or consent-governed data access at the healthcare level?</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QA2</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deal with an authorisation or access-decision mechanism, not storage or recording only?</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QA3</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introduce a proper framework, model, protocol or architecture to address its aim?</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QA4</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Is the proposed methodology validated by a proof of concept or an implementation?</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QA5 to QA8</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Further quality items scored for every included study</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Evidence tier only</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Rule</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Yes = 1, Partial = 0.5, No = 0; included when QA1 + QA2 + QA3 + QA4 ≥ 3.0</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KEY REQUIREMENTS</a:t>
            </a:r>
            <a:endParaRPr lang="en-US" sz="3000" dirty="0"/>
          </a:p>
        </p:txBody>
      </p:sp>
      <p:sp>
        <p:nvSpPr>
          <p:cNvPr id="4" name="card Req 1"/>
          <p:cNvSpPr/>
          <p:nvPr/>
        </p:nvSpPr>
        <p:spPr>
          <a:xfrm>
            <a:off x="82296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5" name="card text Req 1"/>
          <p:cNvSpPr txBox="1"/>
          <p:nvPr/>
        </p:nvSpPr>
        <p:spPr>
          <a:xfrm>
            <a:off x="96012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1</a:t>
            </a:r>
            <a:endParaRPr lang="en-US" sz="1900" dirty="0"/>
          </a:p>
          <a:p>
            <a:pPr indent="0" marL="0">
              <a:spcAft>
                <a:spcPts val="400"/>
              </a:spcAft>
              <a:buNone/>
            </a:pPr>
            <a:r>
              <a:rPr lang="en-US" sz="1600" dirty="0">
                <a:solidFill>
                  <a:srgbClr val="0B1F33"/>
                </a:solidFill>
              </a:rPr>
              <a:t>Consent as an evaluable authorisation object</a:t>
            </a:r>
            <a:endParaRPr lang="en-US" sz="1900" dirty="0"/>
          </a:p>
        </p:txBody>
      </p:sp>
      <p:sp>
        <p:nvSpPr>
          <p:cNvPr id="6" name="card Req 2"/>
          <p:cNvSpPr/>
          <p:nvPr/>
        </p:nvSpPr>
        <p:spPr>
          <a:xfrm>
            <a:off x="438912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7" name="card text Req 2"/>
          <p:cNvSpPr txBox="1"/>
          <p:nvPr/>
        </p:nvSpPr>
        <p:spPr>
          <a:xfrm>
            <a:off x="452628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2</a:t>
            </a:r>
            <a:endParaRPr lang="en-US" sz="1900" dirty="0"/>
          </a:p>
          <a:p>
            <a:pPr indent="0" marL="0">
              <a:spcAft>
                <a:spcPts val="400"/>
              </a:spcAft>
              <a:buNone/>
            </a:pPr>
            <a:r>
              <a:rPr lang="en-US" sz="1600" dirty="0">
                <a:solidFill>
                  <a:srgbClr val="0B1F33"/>
                </a:solidFill>
              </a:rPr>
              <a:t>Decentralised verification of identity and authority</a:t>
            </a:r>
            <a:endParaRPr lang="en-US" sz="1900" dirty="0"/>
          </a:p>
        </p:txBody>
      </p:sp>
      <p:sp>
        <p:nvSpPr>
          <p:cNvPr id="8" name="card Req 3"/>
          <p:cNvSpPr/>
          <p:nvPr/>
        </p:nvSpPr>
        <p:spPr>
          <a:xfrm>
            <a:off x="795528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9" name="card text Req 3"/>
          <p:cNvSpPr txBox="1"/>
          <p:nvPr/>
        </p:nvSpPr>
        <p:spPr>
          <a:xfrm>
            <a:off x="809244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3</a:t>
            </a:r>
            <a:endParaRPr lang="en-US" sz="1900" dirty="0"/>
          </a:p>
          <a:p>
            <a:pPr indent="0" marL="0">
              <a:spcAft>
                <a:spcPts val="400"/>
              </a:spcAft>
              <a:buNone/>
            </a:pPr>
            <a:r>
              <a:rPr lang="en-US" sz="1600" dirty="0">
                <a:solidFill>
                  <a:srgbClr val="0B1F33"/>
                </a:solidFill>
              </a:rPr>
              <a:t>Multi-party authorisation through a verifiable threshold</a:t>
            </a:r>
            <a:endParaRPr lang="en-US" sz="1900" dirty="0"/>
          </a:p>
        </p:txBody>
      </p:sp>
      <p:sp>
        <p:nvSpPr>
          <p:cNvPr id="10" name="card Req 4"/>
          <p:cNvSpPr/>
          <p:nvPr/>
        </p:nvSpPr>
        <p:spPr>
          <a:xfrm>
            <a:off x="82296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1" name="card text Req 4"/>
          <p:cNvSpPr txBox="1"/>
          <p:nvPr/>
        </p:nvSpPr>
        <p:spPr>
          <a:xfrm>
            <a:off x="96012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4</a:t>
            </a:r>
            <a:endParaRPr lang="en-US" sz="1900" dirty="0"/>
          </a:p>
          <a:p>
            <a:pPr indent="0" marL="0">
              <a:spcAft>
                <a:spcPts val="400"/>
              </a:spcAft>
              <a:buNone/>
            </a:pPr>
            <a:r>
              <a:rPr lang="en-US" sz="1600" dirty="0">
                <a:solidFill>
                  <a:srgbClr val="0B1F33"/>
                </a:solidFill>
              </a:rPr>
              <a:t>Policy- and context-aware enforcement at access time</a:t>
            </a:r>
            <a:endParaRPr lang="en-US" sz="1900" dirty="0"/>
          </a:p>
        </p:txBody>
      </p:sp>
      <p:sp>
        <p:nvSpPr>
          <p:cNvPr id="12" name="card Req 5"/>
          <p:cNvSpPr/>
          <p:nvPr/>
        </p:nvSpPr>
        <p:spPr>
          <a:xfrm>
            <a:off x="438912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3" name="card text Req 5"/>
          <p:cNvSpPr txBox="1"/>
          <p:nvPr/>
        </p:nvSpPr>
        <p:spPr>
          <a:xfrm>
            <a:off x="452628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5</a:t>
            </a:r>
            <a:endParaRPr lang="en-US" sz="1900" dirty="0"/>
          </a:p>
          <a:p>
            <a:pPr indent="0" marL="0">
              <a:spcAft>
                <a:spcPts val="400"/>
              </a:spcAft>
              <a:buNone/>
            </a:pPr>
            <a:r>
              <a:rPr lang="en-US" sz="1600" dirty="0">
                <a:solidFill>
                  <a:srgbClr val="0B1F33"/>
                </a:solidFill>
              </a:rPr>
              <a:t>Temporal validity and lifecycle control of consent</a:t>
            </a:r>
            <a:endParaRPr lang="en-US" sz="1900" dirty="0"/>
          </a:p>
        </p:txBody>
      </p:sp>
      <p:sp>
        <p:nvSpPr>
          <p:cNvPr id="14" name="card Req 6"/>
          <p:cNvSpPr/>
          <p:nvPr/>
        </p:nvSpPr>
        <p:spPr>
          <a:xfrm>
            <a:off x="795528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5" name="card text Req 6"/>
          <p:cNvSpPr txBox="1"/>
          <p:nvPr/>
        </p:nvSpPr>
        <p:spPr>
          <a:xfrm>
            <a:off x="809244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6</a:t>
            </a:r>
            <a:endParaRPr lang="en-US" sz="1900" dirty="0"/>
          </a:p>
          <a:p>
            <a:pPr indent="0" marL="0">
              <a:spcAft>
                <a:spcPts val="400"/>
              </a:spcAft>
              <a:buNone/>
            </a:pPr>
            <a:r>
              <a:rPr lang="en-US" sz="1600" dirty="0">
                <a:solidFill>
                  <a:srgbClr val="0B1F33"/>
                </a:solidFill>
              </a:rPr>
              <a:t>Verifiable auditability and security assurance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Abbasi et al. [50]</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Nexa: Enabling Secure, Scalable, and Decentralized Management of Electronic Health Records Using Threshold Cryptography and Public Blockchains</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Albalwy et al. [48]</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dynamic consent architecture to support clinical genomic data sharing (ConsentChain): Proof-of-concept study</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 Amin et al. [51]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Informed Consent as Patient Driven Policy for Clinical Diagnosis and Treatment: A Smart Contract Based Approach</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Ekholm et al. [27]</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Implementing electronic informed consent in rare disease genomics</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Eneh et al. [28]</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Demo: EdgeConsent: On-Chain Attribute-Based Access Control for Data Consent Management</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Hagström et al. [52]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Minors’ and guardian access to and use of a national patient portal: A retrospective comparative case study of Sweden and Finland</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S7</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Jaiman and Urovi [47]</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Consent Model for Blockchain-Based Health Data Sharing Platforms</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S8</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Zhao and Su [53]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threshold traceable delegation authorization scheme for data sharing in healthcare</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S9</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Li et al. [49]</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Privacy-Preserving Fine-Grained EMR Access Control for IoMT: A Hybrid RBAC-Smart Contract Scheme With Attribute-Based Authorization</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S10</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Madine et al. [23]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Fully Decentralized Multi-Party Consent Management for Secure Sharing of Patient Health Records</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Maruthi and Singh [54]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Enhancing Security and Privacy of IoMT Data for Unconscious Patient With Blockchain</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Mei et al. [55]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Efficient Dual-Revocation CP-ABE for Secure and Fine-Grained Data Sharing in IoMT</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Panagoulias et al. [29]</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Blockchain-Enabled Trust and Compliance for Clinical AI: Decentralized Governance Without Decentralized Data Storage</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 (CONT.)</a:t>
            </a:r>
            <a:endParaRPr lang="en-US" sz="3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Enabling Cross-Institution Health Data Sharing in Norway: EUDI Wallets, On-Chain Consent, and openEHR↔FHIR Translation</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[56]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Architecture for Dynamic and Auditable Patient Consent in Secondary Use of Health Data</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Punia et al. [25]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An access control system for cloud-based healthcare systems driven by blockchain</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S17</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Román-Martínez et al. [30]</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Blockchain-Based Service-Oriented Architecture for Consent Management, Access Control, and Auditing</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S18</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Hema et al. [57]</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Centric Cryptographic Protection of Cloud Electronic Health Records</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S19</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SooHoo et al. [58]</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Development of the authentication and authorization processes for the iAgree portal, a platform for patient-controlled data sharing across health systems</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S20</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Tan et al. [26]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Secure and privacy-preserving sharing of personal health records with multi-party pre-authorization verification</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Tith et al. [24]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consent management by a purpose-based consent model for electronic health record based on blockchain technology</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Tremper et al. [59]</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Mainzelliste: Ten years of pseudonymization, record linkage, and informed consent management</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Tseng et al. [60]</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EMR-Chain: Decentralized Electronic Medical Record Exchange System</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et al. [61]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Apply Trust Computing and Privacy Preserving Smart Contracts to Manage, Share, and Analyze Multi-site Clinical Trial Data</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and Zhang [22]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HealthDID: An efficient and authorizable multi-party privacy-preserving EMR sharing system based on DID</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COMPARISON AGAINST THE REQUIREMENTS</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005840"/>
          <a:ext cx="9966960" cy="914400"/>
        </p:xfrm>
        <a:graphic>
          <a:graphicData uri="http://schemas.openxmlformats.org/drawingml/2006/table">
            <a:tbl>
              <a:tblPr/>
              <a:tblGrid>
                <a:gridCol w="3383280"/>
                <a:gridCol w="1097280"/>
                <a:gridCol w="1097280"/>
                <a:gridCol w="1097280"/>
                <a:gridCol w="1097280"/>
                <a:gridCol w="1097280"/>
                <a:gridCol w="1097280"/>
              </a:tblGrid>
              <a:tr h="205740">
                <a:tc>
                  <a:txBody>
                    <a:bodyPr/>
                    <a:lstStyle/>
                    <a:p>
                      <a:pPr indent="0" marL="0">
                        <a:buNone/>
                      </a:pPr>
                      <a:r>
                        <a:rPr lang="en-US" sz="950" b="1" dirty="0">
                          <a:solidFill>
                            <a:srgbClr val="FFFFFF"/>
                          </a:solidFill>
                        </a:rPr>
                        <a:t>Study</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1</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2</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3</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4</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5</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205740">
                <a:tc>
                  <a:txBody>
                    <a:bodyPr/>
                    <a:lstStyle/>
                    <a:p>
                      <a:pPr indent="0" marL="0">
                        <a:buNone/>
                      </a:pPr>
                      <a:r>
                        <a:rPr lang="en-US" sz="950" dirty="0">
                          <a:solidFill>
                            <a:srgbClr val="0B1F33"/>
                          </a:solidFill>
                        </a:rPr>
                        <a:t>S1 [50] Abbasi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 [48] Albalwy et al. (2021)</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S3 [51] Al Amin et al. (2023)</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S4 [27] Ekholm et al. (2025)</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S5 [28] Eneh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S6 [52] Hagström et al. (2024)</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S7 [47] Jaiman and Urovi (2020)</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S8 [53] Zhao and Su (2024)</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S9 [49] Li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S10 [23] Madine et al. (2020)</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S11 [54] Maruthi and Singh (2025)</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S12 [55] Mei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S13 [29] Panagoulias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S14 [21] Phuyal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S15 [56] Phuyal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S16 [25] Punia et al. (2025)</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S17 [30] Román-Martínez et al. (2023)</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S18 [57] Hema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S19 [58] SooHoo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S20 [26] Tan et al. (2024)</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S21 [24] Tith et al. (2020)</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S22 [59] Tremper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S23 [60] Tseng et al. (2025)</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S24 [61] Wu et al. (2022)</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S25 [22] Wu and Zhang (2025)</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SYNTHESIS OF THE REVIEW</a:t>
            </a:r>
            <a:endParaRPr lang="en-US" sz="3000" dirty="0"/>
          </a:p>
        </p:txBody>
      </p:sp>
      <p:sp>
        <p:nvSpPr>
          <p:cNvPr id="4" name="F5 panel"/>
          <p:cNvSpPr/>
          <p:nvPr/>
        </p:nvSpPr>
        <p:spPr>
          <a:xfrm>
            <a:off x="822960" y="1143000"/>
            <a:ext cx="10515600" cy="5349240"/>
          </a:xfrm>
          <a:prstGeom prst="roundRect">
            <a:avLst>
              <a:gd name="adj" fmla="val 205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969007" y="1252728"/>
            <a:ext cx="10223506" cy="512978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GAPS</a:t>
            </a:r>
            <a:endParaRPr lang="en-US" sz="3000" dirty="0"/>
          </a:p>
        </p:txBody>
      </p:sp>
      <p:sp>
        <p:nvSpPr>
          <p:cNvPr id="4" name="card Gap 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Gap 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1</a:t>
            </a:r>
            <a:endParaRPr lang="en-US" sz="1900" dirty="0"/>
          </a:p>
          <a:p>
            <a:pPr indent="0" marL="0">
              <a:spcAft>
                <a:spcPts val="400"/>
              </a:spcAft>
              <a:buNone/>
            </a:pPr>
            <a:r>
              <a:rPr lang="en-US" sz="1600" dirty="0">
                <a:solidFill>
                  <a:srgbClr val="0B1F33"/>
                </a:solidFill>
              </a:rPr>
              <a:t>Consent is treated as a record of permission; evaluable objects carry only some conditions and are issued by one party.</a:t>
            </a:r>
            <a:endParaRPr lang="en-US" sz="1900" dirty="0"/>
          </a:p>
        </p:txBody>
      </p:sp>
      <p:sp>
        <p:nvSpPr>
          <p:cNvPr id="6" name="card Gap 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Gap 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2</a:t>
            </a:r>
            <a:endParaRPr lang="en-US" sz="1900" dirty="0"/>
          </a:p>
          <a:p>
            <a:pPr indent="0" marL="0">
              <a:spcAft>
                <a:spcPts val="400"/>
              </a:spcAft>
              <a:buNone/>
            </a:pPr>
            <a:r>
              <a:rPr lang="en-US" sz="1600" dirty="0">
                <a:solidFill>
                  <a:srgbClr val="0B1F33"/>
                </a:solidFill>
              </a:rPr>
              <a:t>Identity shows who a participant is, not what they may do; authority is verified separately in only 10 of 25 studies.</a:t>
            </a:r>
            <a:endParaRPr lang="en-US" sz="1900" dirty="0"/>
          </a:p>
        </p:txBody>
      </p:sp>
      <p:sp>
        <p:nvSpPr>
          <p:cNvPr id="8" name="card Gap 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Gap 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3</a:t>
            </a:r>
            <a:endParaRPr lang="en-US" sz="1900" dirty="0"/>
          </a:p>
          <a:p>
            <a:pPr indent="0" marL="0">
              <a:spcAft>
                <a:spcPts val="400"/>
              </a:spcAft>
              <a:buNone/>
            </a:pPr>
            <a:r>
              <a:rPr lang="en-US" sz="1600" dirty="0">
                <a:solidFill>
                  <a:srgbClr val="0B1F33"/>
                </a:solidFill>
              </a:rPr>
              <a:t>Multi-party approval is a contingency path or a registration step, not a standing condition of every access decision.</a:t>
            </a:r>
            <a:endParaRPr lang="en-US" sz="1900" dirty="0"/>
          </a:p>
        </p:txBody>
      </p:sp>
      <p:sp>
        <p:nvSpPr>
          <p:cNvPr id="10" name="card Gap 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Gap 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4</a:t>
            </a:r>
            <a:endParaRPr lang="en-US" sz="1900" dirty="0"/>
          </a:p>
          <a:p>
            <a:pPr indent="0" marL="0">
              <a:spcAft>
                <a:spcPts val="400"/>
              </a:spcAft>
              <a:buNone/>
            </a:pPr>
            <a:r>
              <a:rPr lang="en-US" sz="1600" dirty="0">
                <a:solidFill>
                  <a:srgbClr val="0B1F33"/>
                </a:solidFill>
              </a:rPr>
              <a:t>Purpose, data scope and jurisdiction are rarely bound to the same decision as identity, authority and approval.</a:t>
            </a:r>
            <a:endParaRPr lang="en-US" sz="1900" dirty="0"/>
          </a:p>
        </p:txBody>
      </p:sp>
      <p:sp>
        <p:nvSpPr>
          <p:cNvPr id="12" name="card Gap 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Gap 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5</a:t>
            </a:r>
            <a:endParaRPr lang="en-US" sz="1900" dirty="0"/>
          </a:p>
          <a:p>
            <a:pPr indent="0" marL="0">
              <a:spcAft>
                <a:spcPts val="400"/>
              </a:spcAft>
              <a:buNone/>
            </a:pPr>
            <a:r>
              <a:rPr lang="en-US" sz="1600" dirty="0">
                <a:solidFill>
                  <a:srgbClr val="0B1F33"/>
                </a:solidFill>
              </a:rPr>
              <a:t>Time, lifecycle and revocation are often checked on a credential or at registration, not at each access request.</a:t>
            </a:r>
            <a:endParaRPr lang="en-US" sz="1900" dirty="0"/>
          </a:p>
        </p:txBody>
      </p:sp>
      <p:sp>
        <p:nvSpPr>
          <p:cNvPr id="14" name="card Gap 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Gap 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6</a:t>
            </a:r>
            <a:endParaRPr lang="en-US" sz="1900" dirty="0"/>
          </a:p>
          <a:p>
            <a:pPr indent="0" marL="0">
              <a:spcAft>
                <a:spcPts val="400"/>
              </a:spcAft>
              <a:buNone/>
            </a:pPr>
            <a:r>
              <a:rPr lang="en-US" sz="1600" dirty="0">
                <a:solidFill>
                  <a:srgbClr val="0B1F33"/>
                </a:solidFill>
              </a:rPr>
              <a:t>The decision as a whole is neither formally proved nor systematically tested; proofs cover only a fragment.</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MAIN RESEARCH QUESTION</a:t>
            </a:r>
            <a:endParaRPr lang="en-US" sz="3000" dirty="0"/>
          </a:p>
        </p:txBody>
      </p:sp>
      <p:sp>
        <p:nvSpPr>
          <p:cNvPr id="4" name="rq box"/>
          <p:cNvSpPr/>
          <p:nvPr/>
        </p:nvSpPr>
        <p:spPr>
          <a:xfrm>
            <a:off x="1188720" y="2011680"/>
            <a:ext cx="9784080" cy="2560320"/>
          </a:xfrm>
          <a:prstGeom prst="roundRect">
            <a:avLst>
              <a:gd name="adj" fmla="val 5357"/>
            </a:avLst>
          </a:prstGeom>
          <a:solidFill>
            <a:srgbClr val="0B2A4A">
              <a:alpha val="85000"/>
            </a:srgbClr>
          </a:solidFill>
          <a:ln w="25400">
            <a:solidFill>
              <a:srgbClr val="1FB5D6"/>
            </a:solidFill>
            <a:prstDash val="solid"/>
          </a:ln>
        </p:spPr>
      </p:sp>
      <p:sp>
        <p:nvSpPr>
          <p:cNvPr id="5" name="rq text"/>
          <p:cNvSpPr txBox="1"/>
          <p:nvPr/>
        </p:nvSpPr>
        <p:spPr>
          <a:xfrm>
            <a:off x="1463040" y="2103120"/>
            <a:ext cx="9235440" cy="2377440"/>
          </a:xfrm>
          <a:prstGeom prst="rect">
            <a:avLst/>
          </a:prstGeom>
          <a:noFill/>
          <a:ln/>
        </p:spPr>
        <p:txBody>
          <a:bodyPr wrap="square" rtlCol="0" anchor="ctr"/>
          <a:lstStyle/>
          <a:p>
            <a:pPr algn="ctr" indent="0" marL="0">
              <a:buNone/>
            </a:pPr>
            <a:r>
              <a:rPr lang="en-US" sz="2600" i="1" dirty="0">
                <a:solidFill>
                  <a:srgbClr val="FFFFFF"/>
                </a:solidFill>
              </a:rPr>
              <a:t>How can a trust-oriented computing framework establish and enforce trustworthy multi-party consent for decentralised healthcare data sharing under identity, authority, and policy constraints?</a:t>
            </a:r>
            <a:endParaRPr lang="en-US" sz="2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SUB RESEARCH QUESTIONS</a:t>
            </a:r>
            <a:endParaRPr lang="en-US" sz="3000" dirty="0"/>
          </a:p>
        </p:txBody>
      </p:sp>
      <p:sp>
        <p:nvSpPr>
          <p:cNvPr id="4" name="card RQ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RQ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600" dirty="0">
                <a:solidFill>
                  <a:srgbClr val="0B1F33"/>
                </a:solidFill>
              </a:rPr>
              <a:t>How can patient consent be modelled as a trust-aware authorisation object with identity, authority, policy and evidence?</a:t>
            </a:r>
            <a:endParaRPr lang="en-US" sz="1900" dirty="0"/>
          </a:p>
        </p:txBody>
      </p:sp>
      <p:sp>
        <p:nvSpPr>
          <p:cNvPr id="6" name="card RQ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RQ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600" dirty="0">
                <a:solidFill>
                  <a:srgbClr val="0B1F33"/>
                </a:solidFill>
              </a:rPr>
              <a:t>How can DIDs and VCs establish trustworthy participants while separating authentication from authority?</a:t>
            </a:r>
            <a:endParaRPr lang="en-US" sz="1900" dirty="0"/>
          </a:p>
        </p:txBody>
      </p:sp>
      <p:sp>
        <p:nvSpPr>
          <p:cNvPr id="8" name="card RQ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RQ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600" dirty="0">
                <a:solidFill>
                  <a:srgbClr val="0B1F33"/>
                </a:solidFill>
              </a:rPr>
              <a:t>How can independently verified participants jointly approve, so no single participant can authorise alone?</a:t>
            </a:r>
            <a:endParaRPr lang="en-US" sz="1900" dirty="0"/>
          </a:p>
        </p:txBody>
      </p:sp>
      <p:sp>
        <p:nvSpPr>
          <p:cNvPr id="10" name="card RQ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RQ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600" dirty="0">
                <a:solidFill>
                  <a:srgbClr val="0B1F33"/>
                </a:solidFill>
              </a:rPr>
              <a:t>How can purpose and data-scope constraints stop valid identities and approvals from reaching unauthorised data?</a:t>
            </a:r>
            <a:endParaRPr lang="en-US" sz="1900" dirty="0"/>
          </a:p>
        </p:txBody>
      </p:sp>
      <p:sp>
        <p:nvSpPr>
          <p:cNvPr id="12" name="card RQ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RQ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600" dirty="0">
                <a:solidFill>
                  <a:srgbClr val="0B1F33"/>
                </a:solidFill>
              </a:rPr>
              <a:t>How can time and lifecycle controls reject access after expiry, revocation or an unauthorised state change?</a:t>
            </a:r>
            <a:endParaRPr lang="en-US" sz="1900" dirty="0"/>
          </a:p>
        </p:txBody>
      </p:sp>
      <p:sp>
        <p:nvSpPr>
          <p:cNvPr id="14" name="card RQ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RQ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600" dirty="0">
                <a:solidFill>
                  <a:srgbClr val="0B1F33"/>
                </a:solidFill>
              </a:rPr>
              <a:t>How can the security properties be formally defined and empirically evaluated?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698480" cy="914400"/>
        </p:xfrm>
        <a:graphic>
          <a:graphicData uri="http://schemas.openxmlformats.org/drawingml/2006/table">
            <a:tbl>
              <a:tblPr/>
              <a:tblGrid>
                <a:gridCol w="1371600"/>
                <a:gridCol w="6949440"/>
                <a:gridCol w="2377440"/>
              </a:tblGrid>
              <a:tr h="731520">
                <a:tc>
                  <a:txBody>
                    <a:bodyPr/>
                    <a:lstStyle/>
                    <a:p>
                      <a:pPr indent="0" marL="0">
                        <a:buNone/>
                      </a:pPr>
                      <a:r>
                        <a:rPr lang="en-US" sz="1600" b="1" dirty="0">
                          <a:solidFill>
                            <a:srgbClr val="FFFFFF"/>
                          </a:solidFill>
                        </a:rPr>
                        <a:t>Objective</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Description</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Status</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600" b="1" dirty="0">
                          <a:solidFill>
                            <a:srgbClr val="0B1F33"/>
                          </a:solidFill>
                        </a:rPr>
                        <a:t>RO1</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Trust-centric consent model: consent as a structured, evaluable authorisation object</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RO2</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Decentralised identity and authority verification (DID, VC), separating identity from authority</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RO3</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Threshold-based multi-party authorisation with EIP-712 guardian approvals</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RO4</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Policy- and context-aware access control (purpose, data scope)</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RO5</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Temporal validity and consent lifecycle control</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In Progress</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RO6</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Formal security assurance and empirical validation</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Partially completed</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integrated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Gaps and RQs</a:t>
            </a:r>
            <a:endParaRPr lang="en-US" sz="1400" dirty="0"/>
          </a:p>
          <a:p>
            <a:pPr algn="ctr" indent="0" marL="0">
              <a:spcAft>
                <a:spcPts val="800"/>
              </a:spcAft>
              <a:buNone/>
            </a:pPr>
            <a:r>
              <a:rPr lang="en-US" sz="1300" dirty="0">
                <a:solidFill>
                  <a:srgbClr val="0B1F33"/>
                </a:solidFill>
              </a:rPr>
              <a:t>Gap 1 to Gap 6;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prototype;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12 attack tests; formal assurance in CA3</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ARCHITECTURE: MVC</a:t>
            </a:r>
            <a:endParaRPr lang="en-US" sz="3000" dirty="0"/>
          </a:p>
        </p:txBody>
      </p:sp>
      <p:sp>
        <p:nvSpPr>
          <p:cNvPr id="4" name="F6 panel"/>
          <p:cNvSpPr/>
          <p:nvPr/>
        </p:nvSpPr>
        <p:spPr>
          <a:xfrm>
            <a:off x="1097280" y="1097280"/>
            <a:ext cx="996696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4799"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SOLUTION OVERVIEW</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Decision(C, R, t) = ALLOW  ⟺  VI(u) ∧ VA(C) ∧ VP(C, R) ∧ VT(C, t) ∧ VL(C, R)</a:t>
            </a:r>
            <a:endParaRPr lang="en-US" sz="2400" dirty="0"/>
          </a:p>
        </p:txBody>
      </p:sp>
      <p:sp>
        <p:nvSpPr>
          <p:cNvPr id="6" name="card VI"/>
          <p:cNvSpPr/>
          <p:nvPr/>
        </p:nvSpPr>
        <p:spPr>
          <a:xfrm>
            <a:off x="731520"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a:t>
            </a:r>
            <a:endParaRPr lang="en-US" sz="1900" dirty="0"/>
          </a:p>
        </p:txBody>
      </p:sp>
      <p:sp>
        <p:nvSpPr>
          <p:cNvPr id="8" name="card VA"/>
          <p:cNvSpPr/>
          <p:nvPr/>
        </p:nvSpPr>
        <p:spPr>
          <a:xfrm>
            <a:off x="2898648"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All guardian approvals, token, not revoked</a:t>
            </a:r>
            <a:endParaRPr lang="en-US" sz="1900" dirty="0"/>
          </a:p>
        </p:txBody>
      </p:sp>
      <p:sp>
        <p:nvSpPr>
          <p:cNvPr id="10" name="card VP"/>
          <p:cNvSpPr/>
          <p:nvPr/>
        </p:nvSpPr>
        <p:spPr>
          <a:xfrm>
            <a:off x="5065776"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Purpose and data scope</a:t>
            </a:r>
            <a:endParaRPr lang="en-US" sz="1900" dirty="0"/>
          </a:p>
        </p:txBody>
      </p:sp>
      <p:sp>
        <p:nvSpPr>
          <p:cNvPr id="12" name="card VT"/>
          <p:cNvSpPr/>
          <p:nvPr/>
        </p:nvSpPr>
        <p:spPr>
          <a:xfrm>
            <a:off x="7232904"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Inside the validity window</a:t>
            </a:r>
            <a:endParaRPr lang="en-US" sz="1900" dirty="0"/>
          </a:p>
        </p:txBody>
      </p:sp>
      <p:sp>
        <p:nvSpPr>
          <p:cNvPr id="14" name="card VL"/>
          <p:cNvSpPr/>
          <p:nvPr/>
        </p:nvSpPr>
        <p:spPr>
          <a:xfrm>
            <a:off x="9400032"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Jurisdiction matches</a:t>
            </a:r>
            <a:endParaRPr lang="en-US" sz="1900" dirty="0"/>
          </a:p>
        </p:txBody>
      </p:sp>
      <p:sp>
        <p:nvSpPr>
          <p:cNvPr id="16" name="bullets"/>
          <p:cNvSpPr txBox="1"/>
          <p:nvPr/>
        </p:nvSpPr>
        <p:spPr>
          <a:xfrm>
            <a:off x="822960" y="4343400"/>
            <a:ext cx="10515600" cy="192024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Failure of any one condition gives DENY.</a:t>
            </a:r>
            <a:endParaRPr lang="en-US" sz="1800" dirty="0"/>
          </a:p>
          <a:p>
            <a:pPr marL="342900" indent="-342900">
              <a:spcAft>
                <a:spcPts val="1000"/>
              </a:spcAft>
              <a:buSzPct val="100000"/>
              <a:buChar char="•"/>
            </a:pPr>
            <a:r>
              <a:rPr lang="en-US" sz="1800" dirty="0">
                <a:solidFill>
                  <a:srgbClr val="FFFFFF"/>
                </a:solidFill>
              </a:rPr>
              <a:t>In the prototype, 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decision on an ACTIVE consent is written to the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RO1</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Trust-centric consent model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enters the patient DID, doctor, guardians, purpose, data scope, validity time and jurisdiction.</a:t>
            </a:r>
            <a:endParaRPr lang="en-US" sz="1600" dirty="0"/>
          </a:p>
          <a:p>
            <a:pPr marL="342900" indent="-342900">
              <a:spcAft>
                <a:spcPts val="1000"/>
              </a:spcAft>
              <a:buSzPct val="100000"/>
              <a:buChar char="•"/>
            </a:pPr>
            <a:r>
              <a:rPr lang="en-US" sz="1600" dirty="0">
                <a:solidFill>
                  <a:srgbClr val="FFFFFF"/>
                </a:solidFill>
              </a:rPr>
              <a:t>Each field is validated; an empty scope or a malformed guardian DID is rejected.</a:t>
            </a:r>
            <a:endParaRPr lang="en-US" sz="1600" dirty="0"/>
          </a:p>
          <a:p>
            <a:pPr marL="342900" indent="-342900">
              <a:spcAft>
                <a:spcPts val="1000"/>
              </a:spcAft>
              <a:buSzPct val="100000"/>
              <a:buChar char="•"/>
            </a:pPr>
            <a:r>
              <a:rPr lang="en-US" sz="1600" dirty="0">
                <a:solidFill>
                  <a:srgbClr val="FFFFFF"/>
                </a:solidFill>
              </a:rPr>
              <a:t>A consent identifier is generated and C = (I, A, P, T, L, E) is built.</a:t>
            </a:r>
            <a:endParaRPr lang="en-US" sz="1600" dirty="0"/>
          </a:p>
          <a:p>
            <a:pPr marL="342900" indent="-342900">
              <a:spcAft>
                <a:spcPts val="1000"/>
              </a:spcAft>
              <a:buSzPct val="100000"/>
              <a:buChar char="•"/>
            </a:pPr>
            <a:r>
              <a:rPr lang="en-US" sz="1600" dirty="0">
                <a:solidFill>
                  <a:srgbClr val="FFFFFF"/>
                </a:solidFill>
              </a:rPr>
              <a:t>The consent is stored in the state PENDING_SIGNATURE; nothing is on-chain until all guardians approve.</a:t>
            </a:r>
            <a:endParaRPr lang="en-US" sz="1600" dirty="0"/>
          </a:p>
          <a:p>
            <a:pPr marL="342900" indent="-342900">
              <a:spcAft>
                <a:spcPts val="1000"/>
              </a:spcAft>
              <a:buSzPct val="100000"/>
              <a:buChar char="•"/>
            </a:pPr>
            <a:r>
              <a:rPr lang="en-US" sz="1600" dirty="0">
                <a:solidFill>
                  <a:srgbClr val="FFFFFF"/>
                </a:solidFill>
              </a:rPr>
              <a:t>Creation evidence is recorded in the audit ledger.</a:t>
            </a:r>
            <a:endParaRPr lang="en-US" sz="1600" dirty="0"/>
          </a:p>
        </p:txBody>
      </p:sp>
      <p:sp>
        <p:nvSpPr>
          <p:cNvPr id="8" name="F10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F10.png">    </p:cNvPr>
          <p:cNvPicPr>
            <a:picLocks noChangeAspect="1"/>
          </p:cNvPicPr>
          <p:nvPr/>
        </p:nvPicPr>
        <p:blipFill>
          <a:blip r:embed="rId1"/>
          <a:stretch>
            <a:fillRect/>
          </a:stretch>
        </p:blipFill>
        <p:spPr>
          <a:xfrm>
            <a:off x="8135722" y="1115568"/>
            <a:ext cx="274807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RO2</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Decentralised identity and authority trust</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participant's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VI(u) = VerifyDID(u) ∧ VerifyVC(u) ∧ Authority(u, C).</a:t>
            </a:r>
            <a:endParaRPr lang="en-US" sz="1600" dirty="0"/>
          </a:p>
          <a:p>
            <a:pPr marL="342900" indent="-342900">
              <a:spcAft>
                <a:spcPts val="1000"/>
              </a:spcAft>
              <a:buSzPct val="100000"/>
              <a:buChar char="•"/>
            </a:pPr>
            <a:r>
              <a:rPr lang="en-US" sz="1600" dirty="0">
                <a:solidFill>
                  <a:srgbClr val="FFFFFF"/>
                </a:solidFill>
              </a:rPr>
              <a:t>In the prototype: a DID-format check and EIP-712 signature recovery for each guardian.</a:t>
            </a:r>
            <a:endParaRPr lang="en-US" sz="1600" dirty="0"/>
          </a:p>
          <a:p>
            <a:pPr marL="342900" indent="-342900">
              <a:spcAft>
                <a:spcPts val="1000"/>
              </a:spcAft>
              <a:buSzPct val="100000"/>
              <a:buChar char="•"/>
            </a:pPr>
            <a:r>
              <a:rPr lang="en-US" sz="1600" dirty="0">
                <a:solidFill>
                  <a:srgbClr val="FFFFFF"/>
                </a:solidFill>
              </a:rPr>
              <a:t>Full DID resolution and VC validation are planned for CA3.</a:t>
            </a:r>
            <a:endParaRPr lang="en-US" sz="1600" dirty="0"/>
          </a:p>
        </p:txBody>
      </p:sp>
      <p:sp>
        <p:nvSpPr>
          <p:cNvPr id="8" name="F12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726707" y="111556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RO3</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Trustworthy multi-party authorisation</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verified by signature recovery.</a:t>
            </a:r>
            <a:endParaRPr lang="en-US" sz="1600" dirty="0"/>
          </a:p>
          <a:p>
            <a:pPr marL="342900" indent="-342900">
              <a:spcAft>
                <a:spcPts val="1000"/>
              </a:spcAft>
              <a:buSzPct val="100000"/>
              <a:buChar char="•"/>
            </a:pPr>
            <a:r>
              <a:rPr lang="en-US" sz="1600" dirty="0">
                <a:solidFill>
                  <a:srgbClr val="FFFFFF"/>
                </a:solidFill>
              </a:rPr>
              <a:t>Approvals from outside G, replayed or duplicate approvals are not counted.</a:t>
            </a:r>
            <a:endParaRPr lang="en-US" sz="1600" dirty="0"/>
          </a:p>
          <a:p>
            <a:pPr marL="342900" indent="-342900">
              <a:spcAft>
                <a:spcPts val="1000"/>
              </a:spcAft>
              <a:buSzPct val="100000"/>
              <a:buChar char="•"/>
            </a:pPr>
            <a:r>
              <a:rPr lang="en-US" sz="1600" dirty="0">
                <a:solidFill>
                  <a:srgbClr val="FFFFFF"/>
                </a:solidFill>
              </a:rPr>
              <a:t>N-of-N rule: a valid signature from every listed guardian (2-of-2 in the demo).</a:t>
            </a:r>
            <a:endParaRPr lang="en-US" sz="1600" dirty="0"/>
          </a:p>
          <a:p>
            <a:pPr marL="342900" indent="-342900">
              <a:spcAft>
                <a:spcPts val="1000"/>
              </a:spcAft>
              <a:buSzPct val="100000"/>
              <a:buChar char="•"/>
            </a:pPr>
            <a:r>
              <a:rPr lang="en-US" sz="1600" dirty="0">
                <a:solidFill>
                  <a:srgbClr val="FFFFFF"/>
                </a:solidFill>
              </a:rPr>
              <a:t>When the threshold is met, a local token is recorded and the mint is anchored on Sepolia in the background.</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7778618" y="1115568"/>
            <a:ext cx="346228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RO4</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Policy- and context-aware access control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 scope SR must be a non-empty subset of the authorised scope SC.</a:t>
            </a:r>
            <a:endParaRPr lang="en-US" sz="1600" dirty="0"/>
          </a:p>
          <a:p>
            <a:pPr marL="342900" indent="-342900">
              <a:spcAft>
                <a:spcPts val="1000"/>
              </a:spcAft>
              <a:buSzPct val="100000"/>
              <a:buChar char="•"/>
            </a:pPr>
            <a:r>
              <a:rPr lang="en-US" sz="1600" dirty="0">
                <a:solidFill>
                  <a:srgbClr val="FFFFFF"/>
                </a:solidFill>
              </a:rPr>
              <a:t>The purpose must be a supported healthcare purpose of the consent.</a:t>
            </a:r>
            <a:endParaRPr lang="en-US" sz="1600" dirty="0"/>
          </a:p>
          <a:p>
            <a:pPr marL="342900" indent="-342900">
              <a:spcAft>
                <a:spcPts val="1000"/>
              </a:spcAft>
              <a:buSzPct val="100000"/>
              <a:buChar char="•"/>
            </a:pPr>
            <a:r>
              <a:rPr lang="en-US" sz="1600" dirty="0">
                <a:solidFill>
                  <a:srgbClr val="FFFFFF"/>
                </a:solidFill>
              </a:rPr>
              <a:t>Time and jurisdiction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 otherwise DENY.</a:t>
            </a:r>
            <a:endParaRPr lang="en-US" sz="1600" dirty="0"/>
          </a:p>
          <a:p>
            <a:pPr marL="342900" indent="-342900">
              <a:spcAft>
                <a:spcPts val="1000"/>
              </a:spcAft>
              <a:buSzPct val="100000"/>
              <a:buChar char="•"/>
            </a:pPr>
            <a:r>
              <a:rPr lang="en-US" sz="1600" dirty="0">
                <a:solidFill>
                  <a:srgbClr val="FFFFFF"/>
                </a:solidFill>
              </a:rPr>
              <a:t>Example: requesting Procedure when only Observation and Medication are allowed gives DENY.</a:t>
            </a:r>
            <a:endParaRPr lang="en-US" sz="1600" dirty="0"/>
          </a:p>
        </p:txBody>
      </p:sp>
      <p:sp>
        <p:nvSpPr>
          <p:cNvPr id="8" name="F14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F14.png">    </p:cNvPr>
          <p:cNvPicPr>
            <a:picLocks noChangeAspect="1"/>
          </p:cNvPicPr>
          <p:nvPr/>
        </p:nvPicPr>
        <p:blipFill>
          <a:blip r:embed="rId1"/>
          <a:stretch>
            <a:fillRect/>
          </a:stretch>
        </p:blipFill>
        <p:spPr>
          <a:xfrm>
            <a:off x="8016428" y="1115568"/>
            <a:ext cx="2986663"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RO5</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Temporal and lifecycle trust</a:t>
            </a:r>
            <a:endParaRPr lang="en-US" sz="20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validity window (notBefore, expiry) is stored on-chain and checked at every request through VT.</a:t>
            </a:r>
            <a:endParaRPr lang="en-US" sz="1600" dirty="0"/>
          </a:p>
          <a:p>
            <a:pPr marL="342900" indent="-342900">
              <a:spcAft>
                <a:spcPts val="1000"/>
              </a:spcAft>
              <a:buSzPct val="100000"/>
              <a:buChar char="•"/>
            </a:pPr>
            <a:r>
              <a:rPr lang="en-US" sz="1600" dirty="0">
                <a:solidFill>
                  <a:srgbClr val="FFFFFF"/>
                </a:solidFill>
              </a:rPr>
              <a:t>Revocation is end to end, including an on-chain revoke transaction.</a:t>
            </a:r>
            <a:endParaRPr lang="en-US" sz="1600" dirty="0"/>
          </a:p>
          <a:p>
            <a:pPr marL="342900" indent="-342900">
              <a:spcAft>
                <a:spcPts val="1000"/>
              </a:spcAft>
              <a:buSzPct val="100000"/>
              <a:buChar char="•"/>
            </a:pPr>
            <a:r>
              <a:rPr lang="en-US" sz="1600" dirty="0">
                <a:solidFill>
                  <a:srgbClr val="FFFFFF"/>
                </a:solidFill>
              </a:rPr>
              <a:t>An explicit lifecycle state machine: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lifecycle transition check, consent modification, delegation and guardian-set changes.</a:t>
            </a:r>
            <a:endParaRPr lang="en-US" sz="1600" dirty="0"/>
          </a:p>
        </p:txBody>
      </p:sp>
      <p:sp>
        <p:nvSpPr>
          <p:cNvPr id="8" name="F35 panel"/>
          <p:cNvSpPr/>
          <p:nvPr/>
        </p:nvSpPr>
        <p:spPr>
          <a:xfrm>
            <a:off x="7132320" y="1828800"/>
            <a:ext cx="4663440" cy="3291840"/>
          </a:xfrm>
          <a:prstGeom prst="roundRect">
            <a:avLst>
              <a:gd name="adj" fmla="val 33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7242048" y="2601795"/>
            <a:ext cx="4443984" cy="174585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RO6</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Formal assurance and empirical validation</a:t>
            </a:r>
            <a:endParaRPr lang="en-US" sz="2000" dirty="0"/>
          </a:p>
        </p:txBody>
      </p:sp>
      <p:sp>
        <p:nvSpPr>
          <p:cNvPr id="5" name="status chip"/>
          <p:cNvSpPr/>
          <p:nvPr/>
        </p:nvSpPr>
        <p:spPr>
          <a:xfrm>
            <a:off x="731520" y="1463040"/>
            <a:ext cx="237744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including twelve attack scenarios A1 to A12.</a:t>
            </a:r>
            <a:endParaRPr lang="en-US" sz="1600" dirty="0"/>
          </a:p>
          <a:p>
            <a:pPr marL="342900" indent="-342900">
              <a:spcAft>
                <a:spcPts val="1000"/>
              </a:spcAft>
              <a:buSzPct val="100000"/>
              <a:buChar char="•"/>
            </a:pPr>
            <a:r>
              <a:rPr lang="en-US" sz="1600" dirty="0">
                <a:solidFill>
                  <a:srgbClr val="FFFFFF"/>
                </a:solidFill>
              </a:rPr>
              <a:t>Done: on-chain cost, confirmation latency and processing time measured.</a:t>
            </a:r>
            <a:endParaRPr lang="en-US" sz="1600" dirty="0"/>
          </a:p>
          <a:p>
            <a:pPr marL="342900" indent="-342900">
              <a:spcAft>
                <a:spcPts val="1000"/>
              </a:spcAft>
              <a:buSzPct val="100000"/>
              <a:buChar char="•"/>
            </a:pPr>
            <a:r>
              <a:rPr lang="en-US" sz="1600" dirty="0">
                <a:solidFill>
                  <a:srgbClr val="FFFFFF"/>
                </a:solidFill>
              </a:rPr>
              <a:t>Done: a live out-of-jurisdiction request against a Sepolia-anchored consent was refused.</a:t>
            </a:r>
            <a:endParaRPr lang="en-US" sz="1600" dirty="0"/>
          </a:p>
          <a:p>
            <a:pPr marL="342900" indent="-342900">
              <a:spcAft>
                <a:spcPts val="1000"/>
              </a:spcAft>
              <a:buSzPct val="100000"/>
              <a:buChar char="•"/>
            </a:pPr>
            <a:r>
              <a:rPr lang="en-US" sz="1600" dirty="0">
                <a:solidFill>
                  <a:srgbClr val="FFFFFF"/>
                </a:solidFill>
              </a:rPr>
              <a:t>Next stage (CA3): formal proofs or model checking of the security properties, and a larger evaluation under load.</a:t>
            </a:r>
            <a:endParaRPr lang="en-US" sz="1600" dirty="0"/>
          </a:p>
        </p:txBody>
      </p:sp>
      <p:sp>
        <p:nvSpPr>
          <p:cNvPr id="8" name="F16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F16.png">    </p:cNvPr>
          <p:cNvPicPr>
            <a:picLocks noChangeAspect="1"/>
          </p:cNvPicPr>
          <p:nvPr/>
        </p:nvPicPr>
        <p:blipFill>
          <a:blip r:embed="rId1"/>
          <a:stretch>
            <a:fillRect/>
          </a:stretch>
        </p:blipFill>
        <p:spPr>
          <a:xfrm>
            <a:off x="7607808" y="1638248"/>
            <a:ext cx="3803904" cy="426730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METRICS FOR OBJECTIVES</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3291840"/>
                <a:gridCol w="3017520"/>
                <a:gridCol w="2377440"/>
              </a:tblGrid>
              <a:tr h="777240">
                <a:tc>
                  <a:txBody>
                    <a:bodyPr/>
                    <a:lstStyle/>
                    <a:p>
                      <a:pPr indent="0" marL="0">
                        <a:buNone/>
                      </a:pPr>
                      <a:r>
                        <a:rPr lang="en-US" sz="1400" b="1" dirty="0">
                          <a:solidFill>
                            <a:srgbClr val="FFFFFF"/>
                          </a:solidFill>
                        </a:rPr>
                        <a:t>Metric</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Formula</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What it measures</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400" b="1" dirty="0">
                          <a:solidFill>
                            <a:srgbClr val="0B1F33"/>
                          </a:solidFill>
                        </a:rPr>
                        <a:t>Gas used</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 consumed by each anchored transaction, from its receipt</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gasUsed</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execution cost</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Transaction fee</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paid for each anchored transaction</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 gasUsed × gasPrice</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Cost in ETH (Sepolia ETH has no monetary value)</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Submit-to-confirmation latency</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between the ledger events of the local and the on-chain action</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 = t(on-chain event) − t(local event)</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Anchoring delay</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Processing time</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of each decision component over repeated runs</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minimum and maximum over n runs</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Responsiveness of the access path</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Decision correctness</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Observed decision against expected decision for each scenario</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Pass(s) ⟺ Dobs(s) = Dexp(s)</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Security correctness of the decision</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Attack resistance</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Attack scenarios A1 to A12 that are refused</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Refused / 12 (11 / 12 after the hardening)</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Resilience against deliberate bypass</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THE HALAH PROTOTYPE</a:t>
            </a:r>
            <a:endParaRPr lang="en-US" sz="3000" dirty="0"/>
          </a:p>
        </p:txBody>
      </p:sp>
      <p:sp>
        <p:nvSpPr>
          <p:cNvPr id="4" name="card Interface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nterface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Interfaces</a:t>
            </a:r>
            <a:endParaRPr lang="en-US" sz="1900" dirty="0"/>
          </a:p>
          <a:p>
            <a:pPr indent="0" marL="0">
              <a:spcAft>
                <a:spcPts val="400"/>
              </a:spcAft>
              <a:buNone/>
            </a:pPr>
            <a:r>
              <a:rPr lang="en-US" sz="1600" dirty="0">
                <a:solidFill>
                  <a:srgbClr val="0B1F33"/>
                </a:solidFill>
              </a:rPr>
              <a:t>Patient, guardian, doctor and auditor subsystems</a:t>
            </a:r>
            <a:endParaRPr lang="en-US" sz="1900" dirty="0"/>
          </a:p>
        </p:txBody>
      </p:sp>
      <p:sp>
        <p:nvSpPr>
          <p:cNvPr id="6" name="card Smart contract"/>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Smart contract"/>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8" name="card Guardian approval"/>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Guardian approval"/>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0" name="card Access proof"/>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ccess proof"/>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2" name="card Data"/>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Data"/>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4" name="card Evidenc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Evidenc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Audit ledger of every decision;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LIVE SCENARIOS</a:t>
            </a:r>
            <a:endParaRPr lang="en-US" sz="3000" dirty="0"/>
          </a:p>
        </p:txBody>
      </p:sp>
      <p:sp>
        <p:nvSpPr>
          <p:cNvPr id="4" name="F27 panel"/>
          <p:cNvSpPr/>
          <p:nvPr/>
        </p:nvSpPr>
        <p:spPr>
          <a:xfrm>
            <a:off x="640080" y="1188720"/>
            <a:ext cx="548640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7" descr="/tmp/deck/img/F27.png">    </p:cNvPr>
          <p:cNvPicPr>
            <a:picLocks noChangeAspect="1"/>
          </p:cNvPicPr>
          <p:nvPr/>
        </p:nvPicPr>
        <p:blipFill>
          <a:blip r:embed="rId1"/>
          <a:stretch>
            <a:fillRect/>
          </a:stretch>
        </p:blipFill>
        <p:spPr>
          <a:xfrm>
            <a:off x="749808" y="1396579"/>
            <a:ext cx="5266944" cy="4064841"/>
          </a:xfrm>
          <a:prstGeom prst="rect">
            <a:avLst/>
          </a:prstGeom>
        </p:spPr>
      </p:pic>
      <p:sp>
        <p:nvSpPr>
          <p:cNvPr id="6" name="F32 panel"/>
          <p:cNvSpPr/>
          <p:nvPr/>
        </p:nvSpPr>
        <p:spPr>
          <a:xfrm>
            <a:off x="6355080" y="1188720"/>
            <a:ext cx="521208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32" descr="/tmp/deck/img/F32.png">    </p:cNvPr>
          <p:cNvPicPr>
            <a:picLocks noChangeAspect="1"/>
          </p:cNvPicPr>
          <p:nvPr/>
        </p:nvPicPr>
        <p:blipFill>
          <a:blip r:embed="rId2"/>
          <a:stretch>
            <a:fillRect/>
          </a:stretch>
        </p:blipFill>
        <p:spPr>
          <a:xfrm>
            <a:off x="6464808" y="2195528"/>
            <a:ext cx="4992624" cy="2466944"/>
          </a:xfrm>
          <a:prstGeom prst="rect">
            <a:avLst/>
          </a:prstGeom>
        </p:spPr>
      </p:pic>
      <p:sp>
        <p:nvSpPr>
          <p:cNvPr id="8" name="caption"/>
          <p:cNvSpPr txBox="1"/>
          <p:nvPr/>
        </p:nvSpPr>
        <p:spPr>
          <a:xfrm>
            <a:off x="640080" y="5806440"/>
            <a:ext cx="5486400" cy="320040"/>
          </a:xfrm>
          <a:prstGeom prst="rect">
            <a:avLst/>
          </a:prstGeom>
          <a:noFill/>
          <a:ln/>
        </p:spPr>
        <p:txBody>
          <a:bodyPr wrap="square" rtlCol="0" anchor="ctr"/>
          <a:lstStyle/>
          <a:p>
            <a:pPr algn="ctr" indent="0" marL="0">
              <a:buNone/>
            </a:pPr>
            <a:r>
              <a:rPr lang="en-US" sz="1200" i="1" dirty="0">
                <a:solidFill>
                  <a:srgbClr val="FFFFFF"/>
                </a:solidFill>
              </a:rPr>
              <a:t>All five checks pass: ALLOW</a:t>
            </a:r>
            <a:endParaRPr lang="en-US" sz="1200" dirty="0"/>
          </a:p>
        </p:txBody>
      </p:sp>
      <p:sp>
        <p:nvSpPr>
          <p:cNvPr id="9" name="caption"/>
          <p:cNvSpPr txBox="1"/>
          <p:nvPr/>
        </p:nvSpPr>
        <p:spPr>
          <a:xfrm>
            <a:off x="6355080" y="5806440"/>
            <a:ext cx="5212080" cy="320040"/>
          </a:xfrm>
          <a:prstGeom prst="rect">
            <a:avLst/>
          </a:prstGeom>
          <a:noFill/>
          <a:ln/>
        </p:spPr>
        <p:txBody>
          <a:bodyPr wrap="square" rtlCol="0" anchor="ctr"/>
          <a:lstStyle/>
          <a:p>
            <a:pPr algn="ctr" indent="0" marL="0">
              <a:buNone/>
            </a:pPr>
            <a:r>
              <a:rPr lang="en-US" sz="1200" i="1" dirty="0">
                <a:solidFill>
                  <a:srgbClr val="FFFFFF"/>
                </a:solidFill>
              </a:rPr>
              <a:t>Different jurisdiction: VL fails, access denied</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ON-CHAIN EVIDENCE</a:t>
            </a:r>
            <a:endParaRPr lang="en-US" sz="3000" dirty="0"/>
          </a:p>
        </p:txBody>
      </p:sp>
      <p:sp>
        <p:nvSpPr>
          <p:cNvPr id="4" name="F37 panel"/>
          <p:cNvSpPr/>
          <p:nvPr/>
        </p:nvSpPr>
        <p:spPr>
          <a:xfrm>
            <a:off x="640080" y="1097280"/>
            <a:ext cx="5120640" cy="5440680"/>
          </a:xfrm>
          <a:prstGeom prst="roundRect">
            <a:avLst>
              <a:gd name="adj" fmla="val 214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37" descr="/tmp/deck/img/F37.png">    </p:cNvPr>
          <p:cNvPicPr>
            <a:picLocks noChangeAspect="1"/>
          </p:cNvPicPr>
          <p:nvPr/>
        </p:nvPicPr>
        <p:blipFill>
          <a:blip r:embed="rId1"/>
          <a:stretch>
            <a:fillRect/>
          </a:stretch>
        </p:blipFill>
        <p:spPr>
          <a:xfrm>
            <a:off x="749808" y="1606311"/>
            <a:ext cx="4901184" cy="4422617"/>
          </a:xfrm>
          <a:prstGeom prst="rect">
            <a:avLst/>
          </a:prstGeom>
        </p:spPr>
      </p:pic>
      <p:sp>
        <p:nvSpPr>
          <p:cNvPr id="6" name="chart panel"/>
          <p:cNvSpPr/>
          <p:nvPr/>
        </p:nvSpPr>
        <p:spPr>
          <a:xfrm>
            <a:off x="6035040" y="1097280"/>
            <a:ext cx="55778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graphicFrame>
        <p:nvGraphicFramePr>
          <p:cNvPr id="7" name="gas chart" descr=""/>
          <p:cNvGraphicFramePr/>
          <p:nvPr/>
        </p:nvGraphicFramePr>
        <p:xfrm>
          <a:off x="6172200" y="1234440"/>
          <a:ext cx="5303520" cy="5166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PROCESSING TIME</a:t>
            </a:r>
            <a:endParaRPr lang="en-US" sz="30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2331720"/>
                <a:gridCol w="914400"/>
                <a:gridCol w="914400"/>
                <a:gridCol w="960120"/>
                <a:gridCol w="731520"/>
              </a:tblGrid>
              <a:tr h="548640">
                <a:tc>
                  <a:txBody>
                    <a:bodyPr/>
                    <a:lstStyle/>
                    <a:p>
                      <a:pPr indent="0" marL="0">
                        <a:buNone/>
                      </a:pPr>
                      <a:r>
                        <a:rPr lang="en-US" sz="1200" b="1" dirty="0">
                          <a:solidFill>
                            <a:srgbClr val="FFFFFF"/>
                          </a:solidFill>
                        </a:rPr>
                        <a:t>Component</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Minimum</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Maximum</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Decision rule, five predicates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EIP-712 signature recovery, one signature</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6" name="F42" descr="/tmp/deck/img/F42.png">    </p:cNvPr>
          <p:cNvPicPr>
            <a:picLocks noChangeAspect="1"/>
          </p:cNvPicPr>
          <p:nvPr/>
        </p:nvPicPr>
        <p:blipFill>
          <a:blip r:embed="rId1"/>
          <a:stretch>
            <a:fillRect/>
          </a:stretch>
        </p:blipFill>
        <p:spPr>
          <a:xfrm>
            <a:off x="6922008" y="2117143"/>
            <a:ext cx="4489704" cy="2257954"/>
          </a:xfrm>
          <a:prstGeom prst="rect">
            <a:avLst/>
          </a:prstGeom>
        </p:spPr>
      </p:pic>
      <p:sp>
        <p:nvSpPr>
          <p:cNvPr id="7" name="caption"/>
          <p:cNvSpPr txBox="1"/>
          <p:nvPr/>
        </p:nvSpPr>
        <p:spPr>
          <a:xfrm>
            <a:off x="6812280" y="5349240"/>
            <a:ext cx="4709160" cy="320040"/>
          </a:xfrm>
          <a:prstGeom prst="rect">
            <a:avLst/>
          </a:prstGeom>
          <a:noFill/>
          <a:ln/>
        </p:spPr>
        <p:txBody>
          <a:bodyPr wrap="square" rtlCol="0" anchor="ctr"/>
          <a:lstStyle/>
          <a:p>
            <a:pPr algn="ctr" indent="0" marL="0">
              <a:buNone/>
            </a:pPr>
            <a:r>
              <a:rPr lang="en-US" sz="1200" i="1" dirty="0">
                <a:solidFill>
                  <a:srgbClr val="FFFFFF"/>
                </a:solidFill>
              </a:rPr>
              <a:t>Measured on 1 October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ADVERSARIAL TESTS</a:t>
            </a:r>
            <a:endParaRPr lang="en-US" sz="3000" dirty="0"/>
          </a:p>
        </p:txBody>
      </p:sp>
      <p:sp>
        <p:nvSpPr>
          <p:cNvPr id="4" name="F43 panel"/>
          <p:cNvSpPr/>
          <p:nvPr/>
        </p:nvSpPr>
        <p:spPr>
          <a:xfrm>
            <a:off x="640080" y="1097280"/>
            <a:ext cx="658368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F43.png">    </p:cNvPr>
          <p:cNvPicPr>
            <a:picLocks noChangeAspect="1"/>
          </p:cNvPicPr>
          <p:nvPr/>
        </p:nvPicPr>
        <p:blipFill>
          <a:blip r:embed="rId1"/>
          <a:stretch>
            <a:fillRect/>
          </a:stretch>
        </p:blipFill>
        <p:spPr>
          <a:xfrm>
            <a:off x="749808" y="1488727"/>
            <a:ext cx="6364224" cy="4657786"/>
          </a:xfrm>
          <a:prstGeom prst="rect">
            <a:avLst/>
          </a:prstGeom>
        </p:spPr>
      </p:pic>
      <p:sp>
        <p:nvSpPr>
          <p:cNvPr id="6" name="stat 0"/>
          <p:cNvSpPr txBox="1"/>
          <p:nvPr/>
        </p:nvSpPr>
        <p:spPr>
          <a:xfrm>
            <a:off x="7589520" y="123444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12</a:t>
            </a:r>
            <a:endParaRPr lang="en-US" sz="4800" dirty="0"/>
          </a:p>
        </p:txBody>
      </p:sp>
      <p:sp>
        <p:nvSpPr>
          <p:cNvPr id="7" name="stat label 0"/>
          <p:cNvSpPr txBox="1"/>
          <p:nvPr/>
        </p:nvSpPr>
        <p:spPr>
          <a:xfrm>
            <a:off x="7589520" y="210312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attack scenarios, A1 to A12</a:t>
            </a:r>
            <a:endParaRPr lang="en-US" sz="1800" dirty="0"/>
          </a:p>
        </p:txBody>
      </p:sp>
      <p:sp>
        <p:nvSpPr>
          <p:cNvPr id="8" name="stat 1"/>
          <p:cNvSpPr txBox="1"/>
          <p:nvPr/>
        </p:nvSpPr>
        <p:spPr>
          <a:xfrm>
            <a:off x="7589520" y="301752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11 / 12</a:t>
            </a:r>
            <a:endParaRPr lang="en-US" sz="4800" dirty="0"/>
          </a:p>
        </p:txBody>
      </p:sp>
      <p:sp>
        <p:nvSpPr>
          <p:cNvPr id="9" name="stat label 1"/>
          <p:cNvSpPr txBox="1"/>
          <p:nvPr/>
        </p:nvSpPr>
        <p:spPr>
          <a:xfrm>
            <a:off x="7589520" y="3886200"/>
            <a:ext cx="3931920" cy="457200"/>
          </a:xfrm>
          <a:prstGeom prst="rect">
            <a:avLst/>
          </a:prstGeom>
          <a:noFill/>
          <a:ln/>
        </p:spPr>
        <p:txBody>
          <a:bodyPr wrap="square" lIns="0" tIns="0" rIns="0" bIns="0" rtlCol="0" anchor="ctr"/>
          <a:lstStyle/>
          <a:p>
            <a:pPr indent="0" marL="0">
              <a:buNone/>
            </a:pPr>
            <a:r>
              <a:rPr lang="en-US" sz="1800" dirty="0">
                <a:solidFill>
                  <a:srgbClr val="FFFFFF"/>
                </a:solidFill>
              </a:rPr>
              <a:t>refused after the hardening</a:t>
            </a:r>
            <a:endParaRPr lang="en-US" sz="1800" dirty="0"/>
          </a:p>
        </p:txBody>
      </p:sp>
      <p:sp>
        <p:nvSpPr>
          <p:cNvPr id="10" name="stat 2"/>
          <p:cNvSpPr txBox="1"/>
          <p:nvPr/>
        </p:nvSpPr>
        <p:spPr>
          <a:xfrm>
            <a:off x="7589520" y="480060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36</a:t>
            </a:r>
            <a:endParaRPr lang="en-US" sz="4800" dirty="0"/>
          </a:p>
        </p:txBody>
      </p:sp>
      <p:sp>
        <p:nvSpPr>
          <p:cNvPr id="11" name="stat label 2"/>
          <p:cNvSpPr txBox="1"/>
          <p:nvPr/>
        </p:nvSpPr>
        <p:spPr>
          <a:xfrm>
            <a:off x="7589520" y="566928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automated tests pass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DIFFERENCES BETWEEN TRADITIONAL EHR SYSTEMS AND THE HALAH FRAMEWORK</a:t>
            </a:r>
            <a:endParaRPr lang="en-US" sz="3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640080" y="1554480"/>
          <a:ext cx="10881360" cy="914400"/>
        </p:xfrm>
        <a:graphic>
          <a:graphicData uri="http://schemas.openxmlformats.org/drawingml/2006/table">
            <a:tbl>
              <a:tblPr/>
              <a:tblGrid>
                <a:gridCol w="1828800"/>
                <a:gridCol w="4206240"/>
                <a:gridCol w="4846320"/>
              </a:tblGrid>
              <a:tr h="731520">
                <a:tc>
                  <a:txBody>
                    <a:bodyPr/>
                    <a:lstStyle/>
                    <a:p>
                      <a:pPr indent="0" marL="0">
                        <a:buNone/>
                      </a:pPr>
                      <a:r>
                        <a:rPr lang="en-US" sz="1400" b="1" dirty="0">
                          <a:solidFill>
                            <a:srgbClr val="FFFFFF"/>
                          </a:solidFill>
                        </a:rPr>
                        <a:t>Aspect</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Centralised identity providers and institution-specific authentication</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Decentralised identifiers (DIDs) for every participant; identity kept separate from authority</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passive record showing that a permission was created</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evaluable object C = (I, A, P, T, L, E), checked at every request</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Relatively static permissions set by one party or institution</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N-of-N guardian approvals with EIP-712 signatures; no single party can authorise alone</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Authenticate the user, then check a static permission</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and withdrawal are hard to verify once the permission is stored</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at each request; on-chain revoke transaction</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shows that consent occurred</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Each decision on an ACTIVE consent logged with its decision matrix; consent state anchored on Sepolia</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MANAGEMENT AND PRIVACY</a:t>
            </a:r>
            <a:endParaRPr lang="en-US" sz="30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77240">
                <a:tc>
                  <a:txBody>
                    <a:bodyPr/>
                    <a:lstStyle/>
                    <a:p>
                      <a:pPr indent="0" marL="0">
                        <a:buNone/>
                      </a:pPr>
                      <a:r>
                        <a:rPr lang="en-US" sz="1500" b="1" dirty="0">
                          <a:solidFill>
                            <a:srgbClr val="FFFFFF"/>
                          </a:solidFill>
                        </a:rPr>
                        <a:t>Aspect</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Data source</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No real patient data is used. Synthetic healthcare records are derived from the Synthea dataset (Observation, Medication, Condition, Procedure).</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Data storage</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On-chain record</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ConsentSBTv3 stores pseudonymous patient and requester addresses, a hash of the purpose, the validity window, a two-letter jurisdiction code and a revocation flag.</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Access to data</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authorised data scope.</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Audit</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Each decision on an ACTIVE consent is recorded in the audit ledger with its decision matrix.</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Known limitation</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ig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card Consent as an object"/>
          <p:cNvSpPr/>
          <p:nvPr/>
        </p:nvSpPr>
        <p:spPr>
          <a:xfrm>
            <a:off x="7315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6" name="card text Consent as an object"/>
          <p:cNvSpPr txBox="1"/>
          <p:nvPr/>
        </p:nvSpPr>
        <p:spPr>
          <a:xfrm>
            <a:off x="8686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Consent as an object</a:t>
            </a:r>
            <a:endParaRPr lang="en-US" sz="1900" dirty="0"/>
          </a:p>
          <a:p>
            <a:pPr indent="0" marL="0">
              <a:spcAft>
                <a:spcPts val="400"/>
              </a:spcAft>
              <a:buNone/>
            </a:pPr>
            <a:r>
              <a:rPr lang="en-US" sz="1600" dirty="0">
                <a:solidFill>
                  <a:srgbClr val="0B1F33"/>
                </a:solidFill>
              </a:rPr>
              <a:t>Patient consent is an evaluable authorisation object, C = (I, A, P, T, L, E), rather than a stored record.</a:t>
            </a:r>
            <a:endParaRPr lang="en-US" sz="1900" dirty="0"/>
          </a:p>
        </p:txBody>
      </p:sp>
      <p:sp>
        <p:nvSpPr>
          <p:cNvPr id="7" name="card Standing multi-party approval"/>
          <p:cNvSpPr/>
          <p:nvPr/>
        </p:nvSpPr>
        <p:spPr>
          <a:xfrm>
            <a:off x="43891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8" name="card text Standing multi-party approval"/>
          <p:cNvSpPr txBox="1"/>
          <p:nvPr/>
        </p:nvSpPr>
        <p:spPr>
          <a:xfrm>
            <a:off x="45262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Standing multi-party approval</a:t>
            </a:r>
            <a:endParaRPr lang="en-US" sz="1900" dirty="0"/>
          </a:p>
          <a:p>
            <a:pPr indent="0" marL="0">
              <a:spcAft>
                <a:spcPts val="400"/>
              </a:spcAft>
              <a:buNone/>
            </a:pPr>
            <a:r>
              <a:rPr lang="en-US" sz="1600" dirty="0">
                <a:solidFill>
                  <a:srgbClr val="0B1F33"/>
                </a:solidFill>
              </a:rPr>
              <a:t>Multi-party approval is a condition of every access decision, with the approving set defined by the patient.</a:t>
            </a:r>
            <a:endParaRPr lang="en-US" sz="1900" dirty="0"/>
          </a:p>
        </p:txBody>
      </p:sp>
      <p:sp>
        <p:nvSpPr>
          <p:cNvPr id="9" name="card One integrated decision"/>
          <p:cNvSpPr/>
          <p:nvPr/>
        </p:nvSpPr>
        <p:spPr>
          <a:xfrm>
            <a:off x="80467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10" name="card text One integrated decision"/>
          <p:cNvSpPr txBox="1"/>
          <p:nvPr/>
        </p:nvSpPr>
        <p:spPr>
          <a:xfrm>
            <a:off x="81838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One integrated decision</a:t>
            </a:r>
            <a:endParaRPr lang="en-US" sz="1900" dirty="0"/>
          </a:p>
          <a:p>
            <a:pPr indent="0" marL="0">
              <a:spcAft>
                <a:spcPts val="400"/>
              </a:spcAft>
              <a:buNone/>
            </a:pPr>
            <a:r>
              <a:rPr lang="en-US" sz="1600" dirty="0">
                <a:solidFill>
                  <a:srgbClr val="0B1F33"/>
                </a:solidFill>
              </a:rPr>
              <a:t>Identity is separated from authority, and identity, authority, approval, policy, time and jurisdiction are checked together.</a:t>
            </a:r>
            <a:endParaRPr lang="en-US" sz="1900" dirty="0"/>
          </a:p>
        </p:txBody>
      </p:sp>
      <p:sp>
        <p:nvSpPr>
          <p:cNvPr id="11" name="card Evidence-based review"/>
          <p:cNvSpPr/>
          <p:nvPr/>
        </p:nvSpPr>
        <p:spPr>
          <a:xfrm>
            <a:off x="7315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2" name="card text Evidence-based review"/>
          <p:cNvSpPr txBox="1"/>
          <p:nvPr/>
        </p:nvSpPr>
        <p:spPr>
          <a:xfrm>
            <a:off x="8686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Evidence-based review</a:t>
            </a:r>
            <a:endParaRPr lang="en-US" sz="1900" dirty="0"/>
          </a:p>
          <a:p>
            <a:pPr indent="0" marL="0">
              <a:spcAft>
                <a:spcPts val="400"/>
              </a:spcAft>
              <a:buNone/>
            </a:pPr>
            <a:r>
              <a:rPr lang="en-US" sz="1600" dirty="0">
                <a:solidFill>
                  <a:srgbClr val="0B1F33"/>
                </a:solidFill>
              </a:rPr>
              <a:t>A PRISMA 2020 review of 25 primary studies identifies the conjunction gap and the assurance gap.</a:t>
            </a:r>
            <a:endParaRPr lang="en-US" sz="1900" dirty="0"/>
          </a:p>
        </p:txBody>
      </p:sp>
      <p:sp>
        <p:nvSpPr>
          <p:cNvPr id="13" name="card Validated prototype"/>
          <p:cNvSpPr/>
          <p:nvPr/>
        </p:nvSpPr>
        <p:spPr>
          <a:xfrm>
            <a:off x="43891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4" name="card text Validated prototype"/>
          <p:cNvSpPr txBox="1"/>
          <p:nvPr/>
        </p:nvSpPr>
        <p:spPr>
          <a:xfrm>
            <a:off x="45262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Validated prototype</a:t>
            </a:r>
            <a:endParaRPr lang="en-US" sz="1900" dirty="0"/>
          </a:p>
          <a:p>
            <a:pPr indent="0" marL="0">
              <a:spcAft>
                <a:spcPts val="400"/>
              </a:spcAft>
              <a:buNone/>
            </a:pPr>
            <a:r>
              <a:rPr lang="en-US" sz="1600" dirty="0">
                <a:solidFill>
                  <a:srgbClr val="0B1F33"/>
                </a:solidFill>
              </a:rPr>
              <a:t>The framework runs on Sepolia and is evaluated with measurements and twelve attack scenarios.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bullets"/>
          <p:cNvSpPr txBox="1"/>
          <p:nvPr/>
        </p:nvSpPr>
        <p:spPr>
          <a:xfrm>
            <a:off x="822960" y="1645920"/>
            <a:ext cx="10424160" cy="4572000"/>
          </a:xfrm>
          <a:prstGeom prst="rect">
            <a:avLst/>
          </a:prstGeom>
          <a:noFill/>
          <a:ln/>
        </p:spPr>
        <p:txBody>
          <a:bodyPr wrap="square" rtlCol="0" anchor="t"/>
          <a:lstStyle/>
          <a:p>
            <a:pPr marL="342900" indent="-342900">
              <a:spcAft>
                <a:spcPts val="1000"/>
              </a:spcAft>
              <a:buSzPct val="100000"/>
              <a:buChar char="•"/>
            </a:pPr>
            <a:r>
              <a:rPr lang="en-US" sz="2000" dirty="0">
                <a:solidFill>
                  <a:srgbClr val="FFFFFF"/>
                </a:solidFill>
              </a:rPr>
              <a:t>Gives patients and their guardians a direct role in deciding who can access the patient's data.</a:t>
            </a:r>
            <a:endParaRPr lang="en-US" sz="2000" dirty="0"/>
          </a:p>
          <a:p>
            <a:pPr marL="342900" indent="-342900">
              <a:spcAft>
                <a:spcPts val="1000"/>
              </a:spcAft>
              <a:buSzPct val="100000"/>
              <a:buChar char="•"/>
            </a:pPr>
            <a:r>
              <a:rPr lang="en-US" sz="2000" dirty="0">
                <a:solidFill>
                  <a:srgbClr val="FFFFFF"/>
                </a:solidFill>
              </a:rPr>
              <a:t>Prevents a single person from unilaterally authorising access to sensitive health data.</a:t>
            </a:r>
            <a:endParaRPr lang="en-US" sz="2000" dirty="0"/>
          </a:p>
          <a:p>
            <a:pPr marL="342900" indent="-342900">
              <a:spcAft>
                <a:spcPts val="1000"/>
              </a:spcAft>
              <a:buSzPct val="100000"/>
              <a:buChar char="•"/>
            </a:pPr>
            <a:r>
              <a:rPr lang="en-US" sz="2000" dirty="0">
                <a:solidFill>
                  <a:srgbClr val="FFFFFF"/>
                </a:solidFill>
              </a:rPr>
              <a:t>Keeps every access decision explainable and auditable for auditors and healthcare organisations.</a:t>
            </a:r>
            <a:endParaRPr lang="en-US" sz="2000" dirty="0"/>
          </a:p>
          <a:p>
            <a:pPr marL="342900" indent="-342900">
              <a:spcAft>
                <a:spcPts val="1000"/>
              </a:spcAft>
              <a:buSzPct val="100000"/>
              <a:buChar char="•"/>
            </a:pPr>
            <a:r>
              <a:rPr lang="en-US" sz="2000" dirty="0">
                <a:solidFill>
                  <a:srgbClr val="FFFFFF"/>
                </a:solidFill>
              </a:rPr>
              <a:t>Keeps medical records off-chain, so only consent evidence is shared on the blockchain.</a:t>
            </a:r>
            <a:endParaRPr lang="en-US" sz="2000" dirty="0"/>
          </a:p>
          <a:p>
            <a:pPr marL="342900" indent="-342900">
              <a:spcAft>
                <a:spcPts val="1000"/>
              </a:spcAft>
              <a:buSzPct val="100000"/>
              <a:buChar char="•"/>
            </a:pPr>
            <a:r>
              <a:rPr lang="en-US" sz="2000" dirty="0">
                <a:solidFill>
                  <a:srgbClr val="FFFFFF"/>
                </a:solidFill>
              </a:rPr>
              <a:t>Supports trust when health data is shared across hospitals and other independent parties.</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 2026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CA3</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(1/6)</a:t>
            </a:r>
            <a:endParaRPr lang="en-US" sz="3000" dirty="0"/>
          </a:p>
        </p:txBody>
      </p:sp>
      <p:sp>
        <p:nvSpPr>
          <p:cNvPr id="4" name="references panel"/>
          <p:cNvSpPr/>
          <p:nvPr/>
        </p:nvSpPr>
        <p:spPr>
          <a:xfrm>
            <a:off x="457200" y="1051560"/>
            <a:ext cx="112471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640080" y="1143000"/>
            <a:ext cx="10881360" cy="5349240"/>
          </a:xfrm>
          <a:prstGeom prst="rect">
            <a:avLst/>
          </a:prstGeom>
          <a:noFill/>
          <a:ln/>
        </p:spPr>
        <p:txBody>
          <a:bodyPr wrap="square" rtlCol="0" anchor="t"/>
          <a:lstStyle/>
          <a:p>
            <a:pPr indent="0" marL="0">
              <a:spcAft>
                <a:spcPts val="400"/>
              </a:spcAft>
              <a:buNone/>
            </a:pPr>
            <a:r>
              <a:rPr lang="en-US" sz="1000" dirty="0">
                <a:solidFill>
                  <a:srgbClr val="0B1F33"/>
                </a:solidFill>
              </a:rPr>
              <a:t>[1] A. Ghafoor, I. Symeonidis, A. Rydberg, C. Lindahl, and A. Q. Abbasi. Towards empowering stakeholders through decentralized trust and secure livestock data sharing. Cryptography, 9(3):52, 2025. doi:10.3390/cryptography9030052</a:t>
            </a:r>
            <a:endParaRPr lang="en-US" sz="1000" dirty="0"/>
          </a:p>
          <a:p>
            <a:pPr indent="0" marL="0">
              <a:spcAft>
                <a:spcPts val="400"/>
              </a:spcAft>
              <a:buNone/>
            </a:pPr>
            <a:r>
              <a:rPr lang="en-US" sz="1000" dirty="0">
                <a:solidFill>
                  <a:srgbClr val="0B1F33"/>
                </a:solidFill>
              </a:rPr>
              <a:t>[2] R. K. Lomotey, S. Kumi, and R. Deters. Data trusts as a service: Providing a platform for multi-party data sharing. International Journal of Information Management Data Insights, 2(1):100075, 2022. doi:10.1016/j.jjimei.2022.100075</a:t>
            </a:r>
            <a:endParaRPr lang="en-US" sz="1000" dirty="0"/>
          </a:p>
          <a:p>
            <a:pPr indent="0" marL="0">
              <a:spcAft>
                <a:spcPts val="400"/>
              </a:spcAft>
              <a:buNone/>
            </a:pPr>
            <a:r>
              <a:rPr lang="en-US" sz="1000" dirty="0">
                <a:solidFill>
                  <a:srgbClr val="0B1F33"/>
                </a:solidFill>
              </a:rPr>
              <a:t>[3] T. L. Nguyen, L. Nguyen, T. Hoang, D. Bandara, Q. Wang, Q. Lu, et al. Blockchain-empowered trustworthy data sharing: Fundamentals, applications, and challenges. ACM Computing Surveys, 57(8):195, 2025. doi:10.1145/3718082</a:t>
            </a:r>
            <a:endParaRPr lang="en-US" sz="1000" dirty="0"/>
          </a:p>
          <a:p>
            <a:pPr indent="0" marL="0">
              <a:spcAft>
                <a:spcPts val="400"/>
              </a:spcAft>
              <a:buNone/>
            </a:pPr>
            <a:r>
              <a:rPr lang="en-US" sz="1000" dirty="0">
                <a:solidFill>
                  <a:srgbClr val="0B1F33"/>
                </a:solidFill>
              </a:rPr>
              <a:t>[4] E. C. Webber, D. Brick, J. P. Scibilia, P. Dehnel, Council on Clinical Information Technology, et al. Electronic communication of the health record and information with pediatric patients and their guardians. Pediatrics, 144(1):e20191359, 2019. doi:10.1542/peds.2019-1359</a:t>
            </a:r>
            <a:endParaRPr lang="en-US" sz="1000" dirty="0"/>
          </a:p>
          <a:p>
            <a:pPr indent="0" marL="0">
              <a:spcAft>
                <a:spcPts val="400"/>
              </a:spcAft>
              <a:buNone/>
            </a:pPr>
            <a:r>
              <a:rPr lang="en-US" sz="1000" dirty="0">
                <a:solidFill>
                  <a:srgbClr val="0B1F33"/>
                </a:solidFill>
              </a:rPr>
              <a:t>[5] C. Welzel, M. Ostermann, H. L. Smith, T. Minssen, T. Kirsten, and S. Gilbert. Enabling secure and self determined health data sharing and consent management. npj Digital Medicine, 8(1):560, 2025. doi:10.1038/s41746-025-01945-z</a:t>
            </a:r>
            <a:endParaRPr lang="en-US" sz="1000" dirty="0"/>
          </a:p>
          <a:p>
            <a:pPr indent="0" marL="0">
              <a:spcAft>
                <a:spcPts val="400"/>
              </a:spcAft>
              <a:buNone/>
            </a:pPr>
            <a:r>
              <a:rPr lang="en-US" sz="1000" dirty="0">
                <a:solidFill>
                  <a:srgbClr val="0B1F33"/>
                </a:solidFill>
              </a:rPr>
              <a:t>[6] M. R. Narkhede, N. I. Wankhede, and A. M. Kamble. Enhancing patient autonomy in data ownership: Privacy models and consent frameworks for healthcare. Journal of Digital Health, 4(1):1–23, 2025. doi:10.55976/jdh.4202513361-23</a:t>
            </a:r>
            <a:endParaRPr lang="en-US" sz="1000" dirty="0"/>
          </a:p>
          <a:p>
            <a:pPr indent="0" marL="0">
              <a:spcAft>
                <a:spcPts val="400"/>
              </a:spcAft>
              <a:buNone/>
            </a:pPr>
            <a:r>
              <a:rPr lang="en-US" sz="1000" dirty="0">
                <a:solidFill>
                  <a:srgbClr val="0B1F33"/>
                </a:solidFill>
              </a:rPr>
              <a:t>[7] R. McClelland and C. M. Harper. Information privacy in healthcare — the vital role of informed consent. European Journal of Health Law, 30(4):469–480, 2023. doi:10.1163/15718093-bja10097</a:t>
            </a:r>
            <a:endParaRPr lang="en-US" sz="1000" dirty="0"/>
          </a:p>
          <a:p>
            <a:pPr indent="0" marL="0">
              <a:spcAft>
                <a:spcPts val="400"/>
              </a:spcAft>
              <a:buNone/>
            </a:pPr>
            <a:r>
              <a:rPr lang="en-US" sz="1000" dirty="0">
                <a:solidFill>
                  <a:srgbClr val="0B1F33"/>
                </a:solidFill>
              </a:rPr>
              <a:t>[8] K. Kaplow, M. Downey, D. Stewart, A. B. Massie, J. D. Motter, L. Taylor, et al. Data professionals’ attitudes on data privacy, sharing, and consent in healthcare and research. Digital Health, 10:20552076241290964, 2024. doi:10.1177/20552076241290964</a:t>
            </a:r>
            <a:endParaRPr lang="en-US" sz="1000" dirty="0"/>
          </a:p>
          <a:p>
            <a:pPr indent="0" marL="0">
              <a:spcAft>
                <a:spcPts val="400"/>
              </a:spcAft>
              <a:buNone/>
            </a:pPr>
            <a:r>
              <a:rPr lang="en-US" sz="1000" dirty="0">
                <a:solidFill>
                  <a:srgbClr val="0B1F33"/>
                </a:solidFill>
              </a:rPr>
              <a:t>[9] A. Nazir, M. H. Rehmani, B. Butler, and D. O’Shea. Access control in healthcare IoT: A comprehensive survey. Engineering Reports, 8(4):e70766, 2026. doi:10.1002/eng2.70766</a:t>
            </a:r>
            <a:endParaRPr lang="en-US" sz="1000" dirty="0"/>
          </a:p>
          <a:p>
            <a:pPr indent="0" marL="0">
              <a:spcAft>
                <a:spcPts val="400"/>
              </a:spcAft>
              <a:buNone/>
            </a:pPr>
            <a:r>
              <a:rPr lang="en-US" sz="1000" dirty="0">
                <a:solidFill>
                  <a:srgbClr val="0B1F33"/>
                </a:solidFill>
              </a:rPr>
              <a:t>[10] A. M. Tawfik, A. Al-Ahwal, A. S. Tag Eldien, and H. H. Zayed. Blockchain-based access control and privacy preservation in healthcare: A comprehensive survey. Cluster Computing, 28:529, 2025. doi:10.1007/s10586-025-05308-x</a:t>
            </a:r>
            <a:endParaRPr lang="en-US" sz="1000" dirty="0"/>
          </a:p>
          <a:p>
            <a:pPr indent="0" marL="0">
              <a:spcAft>
                <a:spcPts val="400"/>
              </a:spcAft>
              <a:buNone/>
            </a:pPr>
            <a:r>
              <a:rPr lang="en-US" sz="1000" dirty="0">
                <a:solidFill>
                  <a:srgbClr val="0B1F33"/>
                </a:solidFill>
              </a:rPr>
              <a:t>[11] A. M. Ibrahim, H. R. Abdel-Aziz, H. A. H. Mohamed, D. E. F. Zaghamir, N. M. I. Wahba, G. A. Hassan, et al. Balancing confidentiality and care coordination: Challenges in patient privacy. BMC Nursing, 23(1):564, 2024. doi:10.1186/s12912-024-02231-1</a:t>
            </a:r>
            <a:endParaRPr lang="en-US" sz="1000" dirty="0"/>
          </a:p>
          <a:p>
            <a:pPr indent="0" marL="0">
              <a:spcAft>
                <a:spcPts val="400"/>
              </a:spcAft>
              <a:buNone/>
            </a:pPr>
            <a:r>
              <a:rPr lang="en-US" sz="1000" dirty="0">
                <a:solidFill>
                  <a:srgbClr val="0B1F33"/>
                </a:solidFill>
              </a:rPr>
              <a:t>[12] L. Theodorakopoulos, A. Theodoropoulou, and C. Halkiopoulos. Enhancing decentralized decision-making with big data and blockchain technology: A comprehensive review. Applied Sciences, 14(16):7007, 2024. doi:10.3390/app14167007</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(2/6)</a:t>
            </a:r>
            <a:endParaRPr lang="en-US" sz="3000" dirty="0"/>
          </a:p>
        </p:txBody>
      </p:sp>
      <p:sp>
        <p:nvSpPr>
          <p:cNvPr id="3" name="references panel"/>
          <p:cNvSpPr/>
          <p:nvPr/>
        </p:nvSpPr>
        <p:spPr>
          <a:xfrm>
            <a:off x="457200" y="1051560"/>
            <a:ext cx="112471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881360" cy="5349240"/>
          </a:xfrm>
          <a:prstGeom prst="rect">
            <a:avLst/>
          </a:prstGeom>
          <a:noFill/>
          <a:ln/>
        </p:spPr>
        <p:txBody>
          <a:bodyPr wrap="square" rtlCol="0" anchor="t"/>
          <a:lstStyle/>
          <a:p>
            <a:pPr indent="0" marL="0">
              <a:spcAft>
                <a:spcPts val="400"/>
              </a:spcAft>
              <a:buNone/>
            </a:pPr>
            <a:r>
              <a:rPr lang="en-US" sz="1000" dirty="0">
                <a:solidFill>
                  <a:srgbClr val="0B1F33"/>
                </a:solidFill>
              </a:rPr>
              <a:t>[13] A. Al Mamun, S. Azam, and C. Gritti. Blockchain-based electronic health records management: A comprehensive review and future research direction. IEEE Access, 10:5768–5789, 2022. doi:10.1109/ACCESS.2022.3141079</a:t>
            </a:r>
            <a:endParaRPr lang="en-US" sz="1000" dirty="0"/>
          </a:p>
          <a:p>
            <a:pPr indent="0" marL="0">
              <a:spcAft>
                <a:spcPts val="400"/>
              </a:spcAft>
              <a:buNone/>
            </a:pPr>
            <a:r>
              <a:rPr lang="en-US" sz="1000" dirty="0">
                <a:solidFill>
                  <a:srgbClr val="0B1F33"/>
                </a:solidFill>
              </a:rPr>
              <a:t>[14] R. Hellstern, D. C. Park, V. Lemieux, and G. Salimjan. Leveraging blockchain-based archival solutions for sensitive documentation: A Xinjiang case study. Digital Society, 1(1):4, 2022. doi:10.1007/s44206-022-00007-1</a:t>
            </a:r>
            <a:endParaRPr lang="en-US" sz="1000" dirty="0"/>
          </a:p>
          <a:p>
            <a:pPr indent="0" marL="0">
              <a:spcAft>
                <a:spcPts val="400"/>
              </a:spcAft>
              <a:buNone/>
            </a:pPr>
            <a:r>
              <a:rPr lang="en-US" sz="1000" dirty="0">
                <a:solidFill>
                  <a:srgbClr val="0B1F33"/>
                </a:solidFill>
              </a:rPr>
              <a:t>[15] L. Li, C. Z. Liu, and S. Shrestha. Analytical entropy approach for measuring blockchain immutability and tamper-resilient trust. Entropy, 28(6):690, 2026. doi:10.3390/e28060690</a:t>
            </a:r>
            <a:endParaRPr lang="en-US" sz="1000" dirty="0"/>
          </a:p>
          <a:p>
            <a:pPr indent="0" marL="0">
              <a:spcAft>
                <a:spcPts val="400"/>
              </a:spcAft>
              <a:buNone/>
            </a:pPr>
            <a:r>
              <a:rPr lang="en-US" sz="1000" dirty="0">
                <a:solidFill>
                  <a:srgbClr val="0B1F33"/>
                </a:solidFill>
              </a:rPr>
              <a:t>[16] C. Mazzocca, A. Acar, A. S. Uluagac, R. Montanari, P. Bellavista, and M. Conti. A survey on decentralized identifiers and verifiable credentials. IEEE Communications Surveys &amp; Tutorials, 27(6):3641–3671, 2025. doi:10.1109/COMST.2025.3543197</a:t>
            </a:r>
            <a:endParaRPr lang="en-US" sz="1000" dirty="0"/>
          </a:p>
          <a:p>
            <a:pPr indent="0" marL="0">
              <a:spcAft>
                <a:spcPts val="400"/>
              </a:spcAft>
              <a:buNone/>
            </a:pPr>
            <a:r>
              <a:rPr lang="en-US" sz="1000" dirty="0">
                <a:solidFill>
                  <a:srgbClr val="0B1F33"/>
                </a:solidFill>
              </a:rPr>
              <a:t>[17] A. Flamini, G. Sciarretta, M. Scuro, A. Sharif, A. Tomasi, and S. Ranise. On cryptographic mechanisms for the selective disclosure of verifiable credentials. Journal of Information Security and Applications, 83:103789, 2024. doi:10.1016/j.jisa.2024.103789</a:t>
            </a:r>
            <a:endParaRPr lang="en-US" sz="1000" dirty="0"/>
          </a:p>
          <a:p>
            <a:pPr indent="0" marL="0">
              <a:spcAft>
                <a:spcPts val="400"/>
              </a:spcAft>
              <a:buNone/>
            </a:pPr>
            <a:r>
              <a:rPr lang="en-US" sz="1000" dirty="0">
                <a:solidFill>
                  <a:srgbClr val="0B1F33"/>
                </a:solidFill>
              </a:rPr>
              <a:t>[18] J. Andrew, D. P. Isravel, K. M. Sagayam, B. Bhushan, Y. Sei, and J. Eunice. Blockchain for healthcare systems: Architecture, security challenges, trends and future directions. Journal of Network and Computer Applications, 215:103633, 2023. doi:10.1016/j.jnca.2023.103633</a:t>
            </a:r>
            <a:endParaRPr lang="en-US" sz="1000" dirty="0"/>
          </a:p>
          <a:p>
            <a:pPr indent="0" marL="0">
              <a:spcAft>
                <a:spcPts val="400"/>
              </a:spcAft>
              <a:buNone/>
            </a:pPr>
            <a:r>
              <a:rPr lang="en-US" sz="1000" dirty="0">
                <a:solidFill>
                  <a:srgbClr val="0B1F33"/>
                </a:solidFill>
              </a:rPr>
              <a:t>[19] M. I. Khalid, M. Ahmed, M. Helfert, and J. Kim. Privacy-first paradigm for dynamic consent management systems: Empowering data subjects through decentralized data controllers and privacy-preserving techniques. Electronics, 12(24):4973, 2023. doi:10.3390/electronics12244973</a:t>
            </a:r>
            <a:endParaRPr lang="en-US" sz="1000" dirty="0"/>
          </a:p>
          <a:p>
            <a:pPr indent="0" marL="0">
              <a:spcAft>
                <a:spcPts val="400"/>
              </a:spcAft>
              <a:buNone/>
            </a:pPr>
            <a:r>
              <a:rPr lang="en-US" sz="1000" dirty="0">
                <a:solidFill>
                  <a:srgbClr val="0B1F33"/>
                </a:solidFill>
              </a:rPr>
              <a:t>[20] V. Jesus and H. J. Pandit. Consent receipts for a usable and auditable web of personal data. IEEE Access, 10:28545–28563, 2022. doi:10.1109/ACCESS.2022.3157850</a:t>
            </a:r>
            <a:endParaRPr lang="en-US" sz="1000" dirty="0"/>
          </a:p>
          <a:p>
            <a:pPr indent="0" marL="0">
              <a:spcAft>
                <a:spcPts val="400"/>
              </a:spcAft>
              <a:buNone/>
            </a:pPr>
            <a:r>
              <a:rPr lang="en-US" sz="1000" dirty="0">
                <a:solidFill>
                  <a:srgbClr val="0B1F33"/>
                </a:solidFill>
              </a:rPr>
              <a:t>[21] S. Phuyal, M. Bhandari, R. Bista, and J. C. Ferreira. Enabling cross-institution health data sharing in Norway: EUDI wallets, on-chain consent, and openEHR↔FHIR translation. IEEE Access, 14:20309–20327, 2026. doi:10.1109/ACCESS.2026.3661642</a:t>
            </a:r>
            <a:endParaRPr lang="en-US" sz="1000" dirty="0"/>
          </a:p>
          <a:p>
            <a:pPr indent="0" marL="0">
              <a:spcAft>
                <a:spcPts val="400"/>
              </a:spcAft>
              <a:buNone/>
            </a:pPr>
            <a:r>
              <a:rPr lang="en-US" sz="1000" dirty="0">
                <a:solidFill>
                  <a:srgbClr val="0B1F33"/>
                </a:solidFill>
              </a:rPr>
              <a:t>[22] Z. Wu and D. Zhang. HealthDID: An efficient and authorizable multi-party privacy-preserving EMR sharing system based on DID. Computer Standards &amp; Interfaces, 93:103967, 2025. doi:10.1016/j.csi.2024.103967</a:t>
            </a:r>
            <a:endParaRPr lang="en-US" sz="1000" dirty="0"/>
          </a:p>
          <a:p>
            <a:pPr indent="0" marL="0">
              <a:spcAft>
                <a:spcPts val="400"/>
              </a:spcAft>
              <a:buNone/>
            </a:pPr>
            <a:r>
              <a:rPr lang="en-US" sz="1000" dirty="0">
                <a:solidFill>
                  <a:srgbClr val="0B1F33"/>
                </a:solidFill>
              </a:rPr>
              <a:t>[23] M. M. Madine, K. Salah, R. Jayaraman, I. Yaqoob, Y. Al-Hammadi, S. Ellahham, et al. Fully decentralized multi-party consent management for secure sharing of patient health records. IEEE Access, 8:225777–225791, 2020. doi:10.1109/ACCESS.2020.3045048</a:t>
            </a:r>
            <a:endParaRPr lang="en-US" sz="1000" dirty="0"/>
          </a:p>
          <a:p>
            <a:pPr indent="0" marL="0">
              <a:spcAft>
                <a:spcPts val="400"/>
              </a:spcAft>
              <a:buNone/>
            </a:pPr>
            <a:r>
              <a:rPr lang="en-US" sz="1000" dirty="0">
                <a:solidFill>
                  <a:srgbClr val="0B1F33"/>
                </a:solidFill>
              </a:rPr>
              <a:t>[24] D. Tith, J.-S. Lee, H. Suzuki, W. M. A. B. Wijesundara, N. Taira, T. Obi, et al. Patient consent management by a purpose-based consent model for electronic health record based on blockchain technology. Healthcare Informatics Research, 26(4):265–273, 2020. doi:10.4258/hir.2020.26.4.265</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(3/6)</a:t>
            </a:r>
            <a:endParaRPr lang="en-US" sz="3000" dirty="0"/>
          </a:p>
        </p:txBody>
      </p:sp>
      <p:sp>
        <p:nvSpPr>
          <p:cNvPr id="3" name="references panel"/>
          <p:cNvSpPr/>
          <p:nvPr/>
        </p:nvSpPr>
        <p:spPr>
          <a:xfrm>
            <a:off x="457200" y="1051560"/>
            <a:ext cx="112471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881360" cy="5349240"/>
          </a:xfrm>
          <a:prstGeom prst="rect">
            <a:avLst/>
          </a:prstGeom>
          <a:noFill/>
          <a:ln/>
        </p:spPr>
        <p:txBody>
          <a:bodyPr wrap="square" rtlCol="0" anchor="t"/>
          <a:lstStyle/>
          <a:p>
            <a:pPr indent="0" marL="0">
              <a:spcAft>
                <a:spcPts val="400"/>
              </a:spcAft>
              <a:buNone/>
            </a:pPr>
            <a:r>
              <a:rPr lang="en-US" sz="1000" dirty="0">
                <a:solidFill>
                  <a:srgbClr val="0B1F33"/>
                </a:solidFill>
              </a:rPr>
              <a:t>[25] A. Punia, P. Gulia, N. S. Gill, D. Kaushik, N. Alduaiji, P. K. Shukla, et al. An access control system for cloud-based healthcare systems driven by blockchain. Journal of Cloud Computing, 14(1):78, 2025. doi:10.1186/s13677-025-00831-z</a:t>
            </a:r>
            <a:endParaRPr lang="en-US" sz="1000" dirty="0"/>
          </a:p>
          <a:p>
            <a:pPr indent="0" marL="0">
              <a:spcAft>
                <a:spcPts val="400"/>
              </a:spcAft>
              <a:buNone/>
            </a:pPr>
            <a:r>
              <a:rPr lang="en-US" sz="1000" dirty="0">
                <a:solidFill>
                  <a:srgbClr val="0B1F33"/>
                </a:solidFill>
              </a:rPr>
              <a:t>[26] K.-L. Tan, C.-H. Chi, and K.-Y. Lam. Secure and privacy-preserving sharing of personal health records with multi-party pre-authorization verification. Wireless Networks, 30(4):4773–4795, 2024. doi:10.1007/s11276-022-03114-6</a:t>
            </a:r>
            <a:endParaRPr lang="en-US" sz="1000" dirty="0"/>
          </a:p>
          <a:p>
            <a:pPr indent="0" marL="0">
              <a:spcAft>
                <a:spcPts val="400"/>
              </a:spcAft>
              <a:buNone/>
            </a:pPr>
            <a:r>
              <a:rPr lang="en-US" sz="1000" dirty="0">
                <a:solidFill>
                  <a:srgbClr val="0B1F33"/>
                </a:solidFill>
              </a:rPr>
              <a:t>[27] K. Ekholm, A. Augustinsson, J. Sundström, C. Johansen, M. Storgärds, L. Ljöstad, et al. Implementing electronic informed consent in rare disease genomics. Scientific Reports, 15(1):44419, 2025. doi:10.1038/s41598-025-32740-1</a:t>
            </a:r>
            <a:endParaRPr lang="en-US" sz="1000" dirty="0"/>
          </a:p>
          <a:p>
            <a:pPr indent="0" marL="0">
              <a:spcAft>
                <a:spcPts val="400"/>
              </a:spcAft>
              <a:buNone/>
            </a:pPr>
            <a:r>
              <a:rPr lang="en-US" sz="1000" dirty="0">
                <a:solidFill>
                  <a:srgbClr val="0B1F33"/>
                </a:solidFill>
              </a:rPr>
              <a:t>[28] A. U. Eneh, L. A. C. Ahakonye, J. M. Lee, and D.-S. Kim. Demo: EdgeConsent: On-chain attribute-based access control for data consent management. In 2026 IEEE International Conference on Blockchain and Cryptocurrency (ICBC), 2026. doi:10.1109/ICBC67748.2026.11575534</a:t>
            </a:r>
            <a:endParaRPr lang="en-US" sz="1000" dirty="0"/>
          </a:p>
          <a:p>
            <a:pPr indent="0" marL="0">
              <a:spcAft>
                <a:spcPts val="400"/>
              </a:spcAft>
              <a:buNone/>
            </a:pPr>
            <a:r>
              <a:rPr lang="en-US" sz="1000" dirty="0">
                <a:solidFill>
                  <a:srgbClr val="0B1F33"/>
                </a:solidFill>
              </a:rPr>
              <a:t>[29] D. P. Panagoulias, A. I. Damian, C. Stamate, V. Toderian, P. Butusina, A. De Franceschi, et al. Blockchain-enabled trust and compliance for clinical AI: Decentralized governance without decentralized data storage. Electronics, 15(14):3046, 2026. doi:10.3390/electronics15143046</a:t>
            </a:r>
            <a:endParaRPr lang="en-US" sz="1000" dirty="0"/>
          </a:p>
          <a:p>
            <a:pPr indent="0" marL="0">
              <a:spcAft>
                <a:spcPts val="400"/>
              </a:spcAft>
              <a:buNone/>
            </a:pPr>
            <a:r>
              <a:rPr lang="en-US" sz="1000" dirty="0">
                <a:solidFill>
                  <a:srgbClr val="0B1F33"/>
                </a:solidFill>
              </a:rPr>
              <a:t>[30] I. Román-Martínez, J. Calvillo-Arbizu, V. J. Mayor-Gallego, G. Madinabeitia-Luque, A. J. Estepa-Alonso, and R. M. Estepa-Alonso. Blockchain-based service-oriented architecture for consent management, access control, and auditing. IEEE Access, 11:12727–12741, 2023. doi:10.1109/ACCESS.2023.3242605</a:t>
            </a:r>
            <a:endParaRPr lang="en-US" sz="1000" dirty="0"/>
          </a:p>
          <a:p>
            <a:pPr indent="0" marL="0">
              <a:spcAft>
                <a:spcPts val="400"/>
              </a:spcAft>
              <a:buNone/>
            </a:pPr>
            <a:r>
              <a:rPr lang="en-US" sz="1000" dirty="0">
                <a:solidFill>
                  <a:srgbClr val="0B1F33"/>
                </a:solidFill>
              </a:rPr>
              <a:t>[31] B. Khayer, S. Mirzaei, H. Alavizadeh, and A. Salehi Shahraki. Blockchain for secure IoT: A review of identity management, access control, and trust mechanisms. IoT, 6(4):65, 2025. doi:10.3390/iot6040065</a:t>
            </a:r>
            <a:endParaRPr lang="en-US" sz="1000" dirty="0"/>
          </a:p>
          <a:p>
            <a:pPr indent="0" marL="0">
              <a:spcAft>
                <a:spcPts val="400"/>
              </a:spcAft>
              <a:buNone/>
            </a:pPr>
            <a:r>
              <a:rPr lang="en-US" sz="1000" dirty="0">
                <a:solidFill>
                  <a:srgbClr val="0B1F33"/>
                </a:solidFill>
              </a:rPr>
              <a:t>[32] J. C. Ferreira, R. Correia, L. Rosário, and A. Vila. Blockchain integration for trust and consent management in MCP-enabled FHIR systems. In 2025 IEEE International Conference on Distributed Ledger Technologies (ICDLT), pages 1–10, 2025. doi:10.1109/ICDLT66400.2025.11466653</a:t>
            </a:r>
            <a:endParaRPr lang="en-US" sz="1000" dirty="0"/>
          </a:p>
          <a:p>
            <a:pPr indent="0" marL="0">
              <a:spcAft>
                <a:spcPts val="400"/>
              </a:spcAft>
              <a:buNone/>
            </a:pPr>
            <a:r>
              <a:rPr lang="en-US" sz="1000" dirty="0">
                <a:solidFill>
                  <a:srgbClr val="0B1F33"/>
                </a:solidFill>
              </a:rPr>
              <a:t>[33] J. Ménétrey, C. Göttel, A. Khurshid, M. Pasin, P. Felber, V. Schiavoni, et al. Attestation mechanisms for trusted execution environments demystified. In IFIP International Conference on Distributed Applications and Interoperable Systems (DAIS 2022), LNCS, vol. 13272, pages 95–113. Springer, 2022. doi:10.1007/978-3-031-16092-9_7</a:t>
            </a:r>
            <a:endParaRPr lang="en-US" sz="1000" dirty="0"/>
          </a:p>
          <a:p>
            <a:pPr indent="0" marL="0">
              <a:spcAft>
                <a:spcPts val="400"/>
              </a:spcAft>
              <a:buNone/>
            </a:pPr>
            <a:r>
              <a:rPr lang="en-US" sz="1000" dirty="0">
                <a:solidFill>
                  <a:srgbClr val="0B1F33"/>
                </a:solidFill>
              </a:rPr>
              <a:t>[34] L. Li, C. Z. Liu, K. Huang, R. Deng, M. A. Alrowaily, M. Alghamdi, et al. Trust-aware environmental state consensus for smart agriculture with TEE-enabled sensing and Byzantine-resilient blockchain coordination. Sensors, 26(14):4577, 2026. doi:10.3390/s26144577</a:t>
            </a:r>
            <a:endParaRPr lang="en-US" sz="1000" dirty="0"/>
          </a:p>
          <a:p>
            <a:pPr indent="0" marL="0">
              <a:spcAft>
                <a:spcPts val="400"/>
              </a:spcAft>
              <a:buNone/>
            </a:pPr>
            <a:r>
              <a:rPr lang="en-US" sz="1000" dirty="0">
                <a:solidFill>
                  <a:srgbClr val="0B1F33"/>
                </a:solidFill>
              </a:rPr>
              <a:t>[35] J. Walonoski, M. Kramer, J. Nichols, A. Quina, C. Moesel, D. Hall, et al. Synthea: An approach, method, and software mechanism for generating synthetic patients and the synthetic electronic health care record. Journal of the American Medical Informatics Association, 25(3):230–238, 2018. doi:10.1093/jamia/ocx079</a:t>
            </a:r>
            <a:endParaRPr lang="en-US" sz="1000" dirty="0"/>
          </a:p>
          <a:p>
            <a:pPr indent="0" marL="0">
              <a:spcAft>
                <a:spcPts val="400"/>
              </a:spcAft>
              <a:buNone/>
            </a:pPr>
            <a:r>
              <a:rPr lang="en-US" sz="1000" dirty="0">
                <a:solidFill>
                  <a:srgbClr val="0B1F33"/>
                </a:solidFill>
              </a:rPr>
              <a:t>[36] A. Kharlamov, R. Hohmann, and G. Parry. Data sharing decisions: Perceptions and intentions in healthcare. Strategic Change, 32(6):223–237, 2023. doi:10.1002/jsc.2558</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(4/6)</a:t>
            </a:r>
            <a:endParaRPr lang="en-US" sz="3000" dirty="0"/>
          </a:p>
        </p:txBody>
      </p:sp>
      <p:sp>
        <p:nvSpPr>
          <p:cNvPr id="3" name="references panel"/>
          <p:cNvSpPr/>
          <p:nvPr/>
        </p:nvSpPr>
        <p:spPr>
          <a:xfrm>
            <a:off x="457200" y="1051560"/>
            <a:ext cx="112471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881360" cy="5349240"/>
          </a:xfrm>
          <a:prstGeom prst="rect">
            <a:avLst/>
          </a:prstGeom>
          <a:noFill/>
          <a:ln/>
        </p:spPr>
        <p:txBody>
          <a:bodyPr wrap="square" rtlCol="0" anchor="t"/>
          <a:lstStyle/>
          <a:p>
            <a:pPr indent="0" marL="0">
              <a:spcAft>
                <a:spcPts val="400"/>
              </a:spcAft>
              <a:buNone/>
            </a:pPr>
            <a:r>
              <a:rPr lang="en-US" sz="1000" dirty="0">
                <a:solidFill>
                  <a:srgbClr val="0B1F33"/>
                </a:solidFill>
              </a:rPr>
              <a:t>[37] P. K. Ghosh, A. Chakraborty, M. Hasan, K. Rashid, and A. H. Siddique. Blockchain application in healthcare systems: A review. Systems, 11(1):38, 2023. doi:10.3390/systems11010038</a:t>
            </a:r>
            <a:endParaRPr lang="en-US" sz="1000" dirty="0"/>
          </a:p>
          <a:p>
            <a:pPr indent="0" marL="0">
              <a:spcAft>
                <a:spcPts val="400"/>
              </a:spcAft>
              <a:buNone/>
            </a:pPr>
            <a:r>
              <a:rPr lang="en-US" sz="1000" dirty="0">
                <a:solidFill>
                  <a:srgbClr val="0B1F33"/>
                </a:solidFill>
              </a:rPr>
              <a:t>[38] M. S. Arbabi, C. Lal, N. R. Veeraragavan, D. Marijan, J. F. Nygård, and R. Vitenberg. A survey on blockchain for healthcare: Challenges, benefits, and future directions. IEEE Communications Surveys &amp; Tutorials, 25(1):386–424, 2023. doi:10.1109/COMST.2022.3224644</a:t>
            </a:r>
            <a:endParaRPr lang="en-US" sz="1000" dirty="0"/>
          </a:p>
          <a:p>
            <a:pPr indent="0" marL="0">
              <a:spcAft>
                <a:spcPts val="400"/>
              </a:spcAft>
              <a:buNone/>
            </a:pPr>
            <a:r>
              <a:rPr lang="en-US" sz="1000" dirty="0">
                <a:solidFill>
                  <a:srgbClr val="0B1F33"/>
                </a:solidFill>
              </a:rPr>
              <a:t>[39] M. N. Turan, I. A. Hashimzai, and M. Q. Qiam. A blockchain-based framework for secure and transparent environmental data sharing in smart cities: Enhancing trust, integrity, and interoperability in urban sustainability systems. Nata Palemahan: Journal of Environmental Engineering Innovations, 2(2):70–79, 2025. doi:10.38043/natapalemahan.v2i2.6996</a:t>
            </a:r>
            <a:endParaRPr lang="en-US" sz="1000" dirty="0"/>
          </a:p>
          <a:p>
            <a:pPr indent="0" marL="0">
              <a:spcAft>
                <a:spcPts val="400"/>
              </a:spcAft>
              <a:buNone/>
            </a:pPr>
            <a:r>
              <a:rPr lang="en-US" sz="1000" dirty="0">
                <a:solidFill>
                  <a:srgbClr val="0B1F33"/>
                </a:solidFill>
              </a:rPr>
              <a:t>[40] J. Yin, Y. Xiao, Q. Chen, Y. Z. Lim, X. Liu, Q. Pei, et al. DP-DID: A dynamic and proactive decentralized identity system. IEEE Transactions on Information Forensics and Security, 20:4999–5014, 2025. doi:10.1109/TIFS.2025.3561662</a:t>
            </a:r>
            <a:endParaRPr lang="en-US" sz="1000" dirty="0"/>
          </a:p>
          <a:p>
            <a:pPr indent="0" marL="0">
              <a:spcAft>
                <a:spcPts val="400"/>
              </a:spcAft>
              <a:buNone/>
            </a:pPr>
            <a:r>
              <a:rPr lang="en-US" sz="1000" dirty="0">
                <a:solidFill>
                  <a:srgbClr val="0B1F33"/>
                </a:solidFill>
              </a:rPr>
              <a:t>[41] H. Deng, J. Liang, C. Zhang, X. Liu, L. Zhu, and S. Guo. FutureDID: A fully decentralized identity system with multi-party verification. IEEE Transactions on Computers, 73(8):2051–2065, 2024. doi:10.1109/TC.2024.3398509</a:t>
            </a:r>
            <a:endParaRPr lang="en-US" sz="1000" dirty="0"/>
          </a:p>
          <a:p>
            <a:pPr indent="0" marL="0">
              <a:spcAft>
                <a:spcPts val="400"/>
              </a:spcAft>
              <a:buNone/>
            </a:pPr>
            <a:r>
              <a:rPr lang="en-US" sz="1000" dirty="0">
                <a:solidFill>
                  <a:srgbClr val="0B1F33"/>
                </a:solidFill>
              </a:rPr>
              <a:t>[42] C. D. Nassar Kyriakidou, A. M. Papathanasiou, and G. C. Polyzos. Decentralized identity with applications to security and privacy for the internet of things. Computer Networks and Communications, 1(2):244–271, 2023. doi:10.37256/cnc.1220233048</a:t>
            </a:r>
            <a:endParaRPr lang="en-US" sz="1000" dirty="0"/>
          </a:p>
          <a:p>
            <a:pPr indent="0" marL="0">
              <a:spcAft>
                <a:spcPts val="400"/>
              </a:spcAft>
              <a:buNone/>
            </a:pPr>
            <a:r>
              <a:rPr lang="en-US" sz="1000" dirty="0">
                <a:solidFill>
                  <a:srgbClr val="0B1F33"/>
                </a:solidFill>
              </a:rPr>
              <a:t>[43] R. P. Parameswarath, P. Gope, and B. Sikdar. User-empowered privacy-preserving authentication protocol for electric vehicle charging based on decentralized identity and verifiable credential. ACM Transactions on Management Information Systems, 13(4):44, 2022. doi:10.1145/3532869</a:t>
            </a:r>
            <a:endParaRPr lang="en-US" sz="1000" dirty="0"/>
          </a:p>
          <a:p>
            <a:pPr indent="0" marL="0">
              <a:spcAft>
                <a:spcPts val="400"/>
              </a:spcAft>
              <a:buNone/>
            </a:pPr>
            <a:r>
              <a:rPr lang="en-US" sz="1000" dirty="0">
                <a:solidFill>
                  <a:srgbClr val="0B1F33"/>
                </a:solidFill>
              </a:rPr>
              <a:t>[44] H. Yin, Y. Zhao, L. Zhang, B. Qiao, W. Chen, and H. Wang. Attribute-based searchable encryption with decentralized key management for healthcare data sharing. Journal of Systems Architecture, 148:103081, 2024. doi:10.1016/j.sysarc.2024.103081</a:t>
            </a:r>
            <a:endParaRPr lang="en-US" sz="1000" dirty="0"/>
          </a:p>
          <a:p>
            <a:pPr indent="0" marL="0">
              <a:spcAft>
                <a:spcPts val="400"/>
              </a:spcAft>
              <a:buNone/>
            </a:pPr>
            <a:r>
              <a:rPr lang="en-US" sz="1000" dirty="0">
                <a:solidFill>
                  <a:srgbClr val="0B1F33"/>
                </a:solidFill>
              </a:rPr>
              <a:t>[45] R. Jiang, X. Chen, Y. Yu, Y. Zhang, and W. Ding. Risk and UCON-based access control model for healthcare big data. Journal of Big Data, 10(1):104, 2023. doi:10.1186/s40537-023-00783-8</a:t>
            </a:r>
            <a:endParaRPr lang="en-US" sz="1000" dirty="0"/>
          </a:p>
          <a:p>
            <a:pPr indent="0" marL="0">
              <a:spcAft>
                <a:spcPts val="400"/>
              </a:spcAft>
              <a:buNone/>
            </a:pPr>
            <a:r>
              <a:rPr lang="en-US" sz="1000" dirty="0">
                <a:solidFill>
                  <a:srgbClr val="0B1F33"/>
                </a:solidFill>
              </a:rPr>
              <a:t>[46] M. J. Page, J. E. McKenzie, P. M. Bossuyt, I. Boutron, T. C. Hoffmann, C. D. Mulrow, et al. The PRISMA 2020 statement: An updated guideline for reporting systematic reviews. BMJ, 372:n71, 2021. doi:10.1136/bmj.n71</a:t>
            </a:r>
            <a:endParaRPr lang="en-US" sz="1000" dirty="0"/>
          </a:p>
          <a:p>
            <a:pPr indent="0" marL="0">
              <a:spcAft>
                <a:spcPts val="400"/>
              </a:spcAft>
              <a:buNone/>
            </a:pPr>
            <a:r>
              <a:rPr lang="en-US" sz="1000" dirty="0">
                <a:solidFill>
                  <a:srgbClr val="0B1F33"/>
                </a:solidFill>
              </a:rPr>
              <a:t>[47] V. Jaiman and V. Urovi. A consent model for blockchain-based health data sharing platforms. IEEE Access, 8:143734–143745, 2020. doi:10.1109/ACCESS.2020.3014565</a:t>
            </a:r>
            <a:endParaRPr lang="en-US" sz="1000" dirty="0"/>
          </a:p>
          <a:p>
            <a:pPr indent="0" marL="0">
              <a:spcAft>
                <a:spcPts val="400"/>
              </a:spcAft>
              <a:buNone/>
            </a:pPr>
            <a:r>
              <a:rPr lang="en-US" sz="1000" dirty="0">
                <a:solidFill>
                  <a:srgbClr val="0B1F33"/>
                </a:solidFill>
              </a:rPr>
              <a:t>[48] F. Albalwy, A. Brass, and A. Davies. A blockchain-based dynamic consent architecture to support clinical genomic data sharing (ConsentChain): Proof-of-concept study. JMIR Medical Informatics, 9(11):e27816, 2021. doi:10.2196/27816</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(5/6)</a:t>
            </a:r>
            <a:endParaRPr lang="en-US" sz="3000" dirty="0"/>
          </a:p>
        </p:txBody>
      </p:sp>
      <p:sp>
        <p:nvSpPr>
          <p:cNvPr id="3" name="references panel"/>
          <p:cNvSpPr/>
          <p:nvPr/>
        </p:nvSpPr>
        <p:spPr>
          <a:xfrm>
            <a:off x="457200" y="1051560"/>
            <a:ext cx="112471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881360" cy="5349240"/>
          </a:xfrm>
          <a:prstGeom prst="rect">
            <a:avLst/>
          </a:prstGeom>
          <a:noFill/>
          <a:ln/>
        </p:spPr>
        <p:txBody>
          <a:bodyPr wrap="square" rtlCol="0" anchor="t"/>
          <a:lstStyle/>
          <a:p>
            <a:pPr indent="0" marL="0">
              <a:spcAft>
                <a:spcPts val="400"/>
              </a:spcAft>
              <a:buNone/>
            </a:pPr>
            <a:r>
              <a:rPr lang="en-US" sz="1000" dirty="0">
                <a:solidFill>
                  <a:srgbClr val="0B1F33"/>
                </a:solidFill>
              </a:rPr>
              <a:t>[49] H. Li, D. Li, G. Lv, N. Crespi, R. Minerva, W. Shao, et al. Privacy-preserving fine-grained EMR access control for IoMT: A hybrid RBAC-smart contract scheme with attribute-based authorization. IEEE Internet of Things Journal, 13(2):2970–2987, 2026. doi:10.1109/JIOT.2025.3633504</a:t>
            </a:r>
            <a:endParaRPr lang="en-US" sz="1000" dirty="0"/>
          </a:p>
          <a:p>
            <a:pPr indent="0" marL="0">
              <a:spcAft>
                <a:spcPts val="400"/>
              </a:spcAft>
              <a:buNone/>
            </a:pPr>
            <a:r>
              <a:rPr lang="en-US" sz="1000" dirty="0">
                <a:solidFill>
                  <a:srgbClr val="0B1F33"/>
                </a:solidFill>
              </a:rPr>
              <a:t>[50] A. Abbasi, M. N. Humeidi, and Q. Wang. Nexa: Enabling secure, scalable, and decentralized management of electronic health records using threshold cryptography and public blockchains. IEEE Access, 14:50791–50810, 2026. doi:10.1109/ACCESS.2026.3677499</a:t>
            </a:r>
            <a:endParaRPr lang="en-US" sz="1000" dirty="0"/>
          </a:p>
          <a:p>
            <a:pPr indent="0" marL="0">
              <a:spcAft>
                <a:spcPts val="400"/>
              </a:spcAft>
              <a:buNone/>
            </a:pPr>
            <a:r>
              <a:rPr lang="en-US" sz="1000" dirty="0">
                <a:solidFill>
                  <a:srgbClr val="0B1F33"/>
                </a:solidFill>
              </a:rPr>
              <a:t>[51] M. Al Amin, A. Altarawneh, and I. Ray. Informed consent as patient driven policy for clinical diagnosis and treatment: A smart contract based approach. In Proceedings of the 20th International Conference on Security and Cryptography (SECRYPT 2023), pages 159–170. SciTePress, 2023. doi:10.5220/0012090600003555</a:t>
            </a:r>
            <a:endParaRPr lang="en-US" sz="1000" dirty="0"/>
          </a:p>
          <a:p>
            <a:pPr indent="0" marL="0">
              <a:spcAft>
                <a:spcPts val="400"/>
              </a:spcAft>
              <a:buNone/>
            </a:pPr>
            <a:r>
              <a:rPr lang="en-US" sz="1000" dirty="0">
                <a:solidFill>
                  <a:srgbClr val="0B1F33"/>
                </a:solidFill>
              </a:rPr>
              <a:t>[52] J. Hagström, M. Hägglund, M. Holmroos, P. Lähteenmäki, and I. Hörhammer. Minors’ and guardian access to and use of a national patient portal: A retrospective comparative case study of Sweden and Finland. International Journal of Medical Informatics, 187:105465, 2024. doi:10.1016/j.ijmedinf.2024.105465</a:t>
            </a:r>
            <a:endParaRPr lang="en-US" sz="1000" dirty="0"/>
          </a:p>
          <a:p>
            <a:pPr indent="0" marL="0">
              <a:spcAft>
                <a:spcPts val="400"/>
              </a:spcAft>
              <a:buNone/>
            </a:pPr>
            <a:r>
              <a:rPr lang="en-US" sz="1000" dirty="0">
                <a:solidFill>
                  <a:srgbClr val="0B1F33"/>
                </a:solidFill>
              </a:rPr>
              <a:t>[53] J. Zhao and Q. Su. A threshold traceable delegation authorization scheme for data sharing in healthcare. Computers &amp; Security, 139:103686, 2024. doi:10.1016/j.cose.2023.103686</a:t>
            </a:r>
            <a:endParaRPr lang="en-US" sz="1000" dirty="0"/>
          </a:p>
          <a:p>
            <a:pPr indent="0" marL="0">
              <a:spcAft>
                <a:spcPts val="400"/>
              </a:spcAft>
              <a:buNone/>
            </a:pPr>
            <a:r>
              <a:rPr lang="en-US" sz="1000" dirty="0">
                <a:solidFill>
                  <a:srgbClr val="0B1F33"/>
                </a:solidFill>
              </a:rPr>
              <a:t>[54] V. Maruthi and K. Singh. Enhancing security and privacy of IoMT data for unconscious patient with blockchain. IEEE Transactions on Network and Service Management, 22(6):5223–5238, 2025. doi:10.1109/TNSM.2025.3602117</a:t>
            </a:r>
            <a:endParaRPr lang="en-US" sz="1000" dirty="0"/>
          </a:p>
          <a:p>
            <a:pPr indent="0" marL="0">
              <a:spcAft>
                <a:spcPts val="400"/>
              </a:spcAft>
              <a:buNone/>
            </a:pPr>
            <a:r>
              <a:rPr lang="en-US" sz="1000" dirty="0">
                <a:solidFill>
                  <a:srgbClr val="0B1F33"/>
                </a:solidFill>
              </a:rPr>
              <a:t>[55] L. Mei, K. Huang, X. Li, H. Wang, and X. Zhang. Efficient dual-revocation CP-ABE for secure and fine-grained data sharing in IoMT. IEEE Internet of Things Journal, 13(14):30933–30940, 2026. doi:10.1109/JIOT.2026.3685269</a:t>
            </a:r>
            <a:endParaRPr lang="en-US" sz="1000" dirty="0"/>
          </a:p>
          <a:p>
            <a:pPr indent="0" marL="0">
              <a:spcAft>
                <a:spcPts val="400"/>
              </a:spcAft>
              <a:buNone/>
            </a:pPr>
            <a:r>
              <a:rPr lang="en-US" sz="1000" dirty="0">
                <a:solidFill>
                  <a:srgbClr val="0B1F33"/>
                </a:solidFill>
              </a:rPr>
              <a:t>[56] S. Phuyal, M. Bhandari, R. Bista, and J. C. Ferreira. A blockchain-based architecture for dynamic and auditable patient consent in secondary use of health data. Blockchain in Healthcare Today, 9(1), 2026. doi:10.30953/bhty.v9.491</a:t>
            </a:r>
            <a:endParaRPr lang="en-US" sz="1000" dirty="0"/>
          </a:p>
          <a:p>
            <a:pPr indent="0" marL="0">
              <a:spcAft>
                <a:spcPts val="400"/>
              </a:spcAft>
              <a:buNone/>
            </a:pPr>
            <a:r>
              <a:rPr lang="en-US" sz="1000" dirty="0">
                <a:solidFill>
                  <a:srgbClr val="0B1F33"/>
                </a:solidFill>
              </a:rPr>
              <a:t>[57] S. Hema, G. B. S. Reddy, and R. Shalini. Patient centric cryptographic protection of cloud electronic health records. In 2026 6th International Conference on Expert Clouds and Applications (ICOECA), pages 293–300, 2026. doi:10.1109/ICOECA68095.2026.11485301</a:t>
            </a:r>
            <a:endParaRPr lang="en-US" sz="1000" dirty="0"/>
          </a:p>
          <a:p>
            <a:pPr indent="0" marL="0">
              <a:spcAft>
                <a:spcPts val="400"/>
              </a:spcAft>
              <a:buNone/>
            </a:pPr>
            <a:r>
              <a:rPr lang="en-US" sz="1000" dirty="0">
                <a:solidFill>
                  <a:srgbClr val="0B1F33"/>
                </a:solidFill>
              </a:rPr>
              <a:t>[58] S. L. SooHoo, M. S. Keller, Y. Chen, D. Hu, S.-C. Huang, T.-T. Kuo, et al. Development of the authentication and authorization processes for the iAgree portal, a platform for patient-controlled data sharing across health systems. JAMIA Open, 9(3):ooag111, 2026. doi:10.1093/jamiaopen/ooag111</a:t>
            </a:r>
            <a:endParaRPr lang="en-US" sz="1000" dirty="0"/>
          </a:p>
          <a:p>
            <a:pPr indent="0" marL="0">
              <a:spcAft>
                <a:spcPts val="400"/>
              </a:spcAft>
              <a:buNone/>
            </a:pPr>
            <a:r>
              <a:rPr lang="en-US" sz="1000" dirty="0">
                <a:solidFill>
                  <a:srgbClr val="0B1F33"/>
                </a:solidFill>
              </a:rPr>
              <a:t>[59] G. Tremper, T. Brenner, M. Ben Amor, T. Kussel, and M. Lablans. Mainzelliste: Ten years of pseudonymization, record linkage, and informed consent management. Patterns, 7(1):101432, 2026. doi:10.1016/j.patter.2025.101432</a:t>
            </a:r>
            <a:endParaRPr lang="en-US" sz="1000" dirty="0"/>
          </a:p>
          <a:p>
            <a:pPr indent="0" marL="0">
              <a:spcAft>
                <a:spcPts val="400"/>
              </a:spcAft>
              <a:buNone/>
            </a:pPr>
            <a:r>
              <a:rPr lang="en-US" sz="1000" dirty="0">
                <a:solidFill>
                  <a:srgbClr val="0B1F33"/>
                </a:solidFill>
              </a:rPr>
              <a:t>[60] C.-H. Tseng, Y.-H. Hsieh, H.-Y. Lin, and S.-M. Yuan. EMR-Chain: Decentralized electronic medical record exchange system. Technologies, 13(10):446, 2025. doi:10.3390/technologies13100446</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(6/6)</a:t>
            </a:r>
            <a:endParaRPr lang="en-US" sz="3000" dirty="0"/>
          </a:p>
        </p:txBody>
      </p:sp>
      <p:sp>
        <p:nvSpPr>
          <p:cNvPr id="3" name="references panel"/>
          <p:cNvSpPr/>
          <p:nvPr/>
        </p:nvSpPr>
        <p:spPr>
          <a:xfrm>
            <a:off x="457200" y="1051560"/>
            <a:ext cx="112471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881360" cy="5349240"/>
          </a:xfrm>
          <a:prstGeom prst="rect">
            <a:avLst/>
          </a:prstGeom>
          <a:noFill/>
          <a:ln/>
        </p:spPr>
        <p:txBody>
          <a:bodyPr wrap="square" rtlCol="0" anchor="t"/>
          <a:lstStyle/>
          <a:p>
            <a:pPr indent="0" marL="0">
              <a:spcAft>
                <a:spcPts val="400"/>
              </a:spcAft>
              <a:buNone/>
            </a:pPr>
            <a:r>
              <a:rPr lang="en-US" sz="1000" dirty="0">
                <a:solidFill>
                  <a:srgbClr val="0B1F33"/>
                </a:solidFill>
              </a:rPr>
              <a:t>[61] Y. Wu, C. Liu, L. Sebald, P. Nguyen, and Y. Yesha. Apply trust computing and privacy preserving smart contracts to manage, share, and analyze multi-site clinical trial data. In Proceedings of the International Conference on Deep Learning, Big Data and Blockchain (DBB 2022), LNNS, vol. 541, pages 3–14. Springer, 2022. doi:10.1007/978-3-031-16035-6_1</a:t>
            </a:r>
            <a:endParaRPr lang="en-US" sz="1000" dirty="0"/>
          </a:p>
          <a:p>
            <a:pPr indent="0" marL="0">
              <a:spcAft>
                <a:spcPts val="400"/>
              </a:spcAft>
              <a:buNone/>
            </a:pPr>
            <a:r>
              <a:rPr lang="en-US" sz="1000" dirty="0">
                <a:solidFill>
                  <a:srgbClr val="0B1F33"/>
                </a:solidFill>
              </a:rPr>
              <a:t>[62] S. Akter and T. F. Sanam. A blockchain framework for secure healthcare data management using role-based access control and smart contracts. In 2025 International Conference on Electrical, Computer and Communication Engineering (ECCE), pages 1–6, 2025. doi:10.1109/ECCE64574.2025.11013162</a:t>
            </a:r>
            <a:endParaRPr lang="en-US" sz="1000" dirty="0"/>
          </a:p>
          <a:p>
            <a:pPr indent="0" marL="0">
              <a:spcAft>
                <a:spcPts val="400"/>
              </a:spcAft>
              <a:buNone/>
            </a:pPr>
            <a:r>
              <a:rPr lang="en-US" sz="1000" dirty="0">
                <a:solidFill>
                  <a:srgbClr val="0B1F33"/>
                </a:solidFill>
              </a:rPr>
              <a:t>[63] M. S. Prashanth, R. Karnati, M. S. Velpuru, and H. Venkateshwara Reddy. Enhancing health record security and privacy with blockchain-based access management. In Pervasive Knowledge and Collective Intelligence on Web and Social Media (PerSOM 2023), LNICST, vol. 517, pages 182–202. Springer, 2024. doi:10.1007/978-3-031-66044-3_13</a:t>
            </a:r>
            <a:endParaRPr lang="en-US" sz="1000" dirty="0"/>
          </a:p>
          <a:p>
            <a:pPr indent="0" marL="0">
              <a:spcAft>
                <a:spcPts val="400"/>
              </a:spcAft>
              <a:buNone/>
            </a:pPr>
            <a:r>
              <a:rPr lang="en-US" sz="1000" dirty="0">
                <a:solidFill>
                  <a:srgbClr val="0B1F33"/>
                </a:solidFill>
              </a:rPr>
              <a:t>[64] L. Zhang, H. Kan, and H. Huang. Patient-centered cross-enterprise document sharing and dynamic consent framework using consortium blockchain and ciphertext-policy attribute-based encryption. In Proceedings of the 19th ACM International Conference on Computing Frontiers (CF ’22), pages 58–66, 2022. doi:10.1145/3528416.3530228</a:t>
            </a:r>
            <a:endParaRPr lang="en-US" sz="1000" dirty="0"/>
          </a:p>
          <a:p>
            <a:pPr indent="0" marL="0">
              <a:spcAft>
                <a:spcPts val="400"/>
              </a:spcAft>
              <a:buNone/>
            </a:pPr>
            <a:r>
              <a:rPr lang="en-US" sz="1000" dirty="0">
                <a:solidFill>
                  <a:srgbClr val="0B1F33"/>
                </a:solidFill>
              </a:rPr>
              <a:t>[65] A. Teeda and Y. V. Subba Rao. A patient-centric blockchain based electronic health records for data privacy and confidentiality. In International Conference on Smart Computing and Informatics, LNNS, vol. 1684, pages 179–192. Springer, 2026. doi:10.1007/978-3-032-08246-6_15</a:t>
            </a:r>
            <a:endParaRPr lang="en-US" sz="1000" dirty="0"/>
          </a:p>
          <a:p>
            <a:pPr indent="0" marL="0">
              <a:spcAft>
                <a:spcPts val="400"/>
              </a:spcAft>
              <a:buNone/>
            </a:pPr>
            <a:r>
              <a:rPr lang="en-US" sz="1000" dirty="0">
                <a:solidFill>
                  <a:srgbClr val="0B1F33"/>
                </a:solidFill>
              </a:rPr>
              <a:t>[66] R. Bloemen, L. Logvinov, and J. Evans. EIP-712: Typed structured data hashing and signing. Ethereum Improvement Proposals, no. 712, 2017.</a:t>
            </a:r>
            <a:endParaRPr lang="en-US" sz="1000" dirty="0"/>
          </a:p>
          <a:p>
            <a:pPr indent="0" marL="0">
              <a:spcAft>
                <a:spcPts val="400"/>
              </a:spcAft>
              <a:buNone/>
            </a:pPr>
            <a:r>
              <a:rPr lang="en-US" sz="1000" dirty="0">
                <a:solidFill>
                  <a:srgbClr val="0B1F33"/>
                </a:solidFill>
              </a:rPr>
              <a:t>[67] M. Shanmugham and C. Senthilkumar. Blockchain enabled self-sovereign identity and consent framework for secure healthcare data access. In 2026 3rd International Conference on Emerging Trends in Engineering and Medical Sciences (ICETEMS), pages 1–6, 2026. doi:10.1109/ICETEMS66917.2026.11469586</a:t>
            </a:r>
            <a:endParaRPr lang="en-US" sz="1000" dirty="0"/>
          </a:p>
          <a:p>
            <a:pPr indent="0" marL="0">
              <a:spcAft>
                <a:spcPts val="400"/>
              </a:spcAft>
              <a:buNone/>
            </a:pPr>
            <a:r>
              <a:rPr lang="en-US" sz="1000" dirty="0">
                <a:solidFill>
                  <a:srgbClr val="0B1F33"/>
                </a:solidFill>
              </a:rPr>
              <a:t>[68] N. M. Sawant and J. Gomes. A decentralized solution for smarter and safer healthcare systems with FabricMedChain. Iranian Journal of Science and Technology, Transactions of Electrical Engineering, 50:2843–2869, 2026. doi:10.1007/s40998-025-00994-0</a:t>
            </a:r>
            <a:endParaRPr lang="en-US" sz="1000" dirty="0"/>
          </a:p>
          <a:p>
            <a:pPr indent="0" marL="0">
              <a:spcAft>
                <a:spcPts val="400"/>
              </a:spcAft>
              <a:buNone/>
            </a:pPr>
            <a:r>
              <a:rPr lang="en-US" sz="1000" dirty="0">
                <a:solidFill>
                  <a:srgbClr val="0B1F33"/>
                </a:solidFill>
              </a:rPr>
              <a:t>[69] J. Groth. On the size of pairing-based non-interactive arguments. In Advances in Cryptology – EUROCRYPT 2016, LNCS, vol. 9666, pages 305–326. Springer, 2016. doi:10.1007/978-3-662-49896-5_11</a:t>
            </a:r>
            <a:endParaRPr lang="en-US" sz="1000" dirty="0"/>
          </a:p>
          <a:p>
            <a:pPr indent="0" marL="0">
              <a:spcAft>
                <a:spcPts val="400"/>
              </a:spcAft>
              <a:buNone/>
            </a:pPr>
            <a:r>
              <a:rPr lang="en-US" sz="1000" dirty="0">
                <a:solidFill>
                  <a:srgbClr val="0B1F33"/>
                </a:solidFill>
              </a:rPr>
              <a:t>[70] L. Grassi, D. Khovratovich, C. Rechberger, A. Roy, and M. Schofnegger. Poseidon: A new hash function for zero-knowledge proof systems. In Proceedings of the 30th USENIX Security Symposium, pages 519–535, 2021.</a:t>
            </a:r>
            <a:endParaRPr lang="en-US" sz="1000" dirty="0"/>
          </a:p>
          <a:p>
            <a:pPr indent="0" marL="0">
              <a:spcAft>
                <a:spcPts val="400"/>
              </a:spcAft>
              <a:buNone/>
            </a:pPr>
            <a:r>
              <a:rPr lang="en-US" sz="1000" dirty="0">
                <a:solidFill>
                  <a:srgbClr val="0B1F33"/>
                </a:solidFill>
              </a:rPr>
              <a:t>[71] W. Entriken, D. Shirley, J. Evans, and N. Sachs. ERC-721: Non-fungible token standard. Ethereum Improvement Proposals, no. 721, 2018.</a:t>
            </a:r>
            <a:endParaRPr lang="en-US" sz="1000" dirty="0"/>
          </a:p>
          <a:p>
            <a:pPr indent="0" marL="0">
              <a:spcAft>
                <a:spcPts val="400"/>
              </a:spcAft>
              <a:buNone/>
            </a:pPr>
            <a:r>
              <a:rPr lang="en-US" sz="1000" dirty="0">
                <a:solidFill>
                  <a:srgbClr val="0B1F33"/>
                </a:solidFill>
              </a:rPr>
              <a:t>[72] B. Cai. ERC-5484: Consensual soulbound tokens. Ethereum Improvement Proposals, no. 5484, 2022.</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CA2 Trust Consent">
  <a:themeElements>
    <a:clrScheme name="CA2 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CA2 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Authorization Framework for Multi-Party Patient Consent in Healthcare Data Sharing</dc:title>
  <dc:subject>CA2 Reassessment</dc:subject>
  <dc:creator>Yasir Dhaifallah O Alyoubi</dc:creator>
  <cp:lastModifiedBy>Yasir Dhaifallah O Alyoubi</cp:lastModifiedBy>
  <cp:revision>1</cp:revision>
  <dcterms:created xsi:type="dcterms:W3CDTF">2026-10-04T09:46:46Z</dcterms:created>
  <dcterms:modified xsi:type="dcterms:W3CDTF">2026-10-04T09:46:46Z</dcterms:modified>
</cp:coreProperties>
</file>
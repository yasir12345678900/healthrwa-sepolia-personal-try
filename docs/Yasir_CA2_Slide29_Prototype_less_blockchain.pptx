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413"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6942778-0A59-C3A1-24F4-DFEFB294A139}">
          <p14:sldIdLst>
            <p14:sldId id="256"/>
            <p14:sldId id="257"/>
          </p14:sldIdLst>
        </p14:section>
        <p14:section name="The Problem" id="{96F6FDF1-3C7D-C7BC-4CB4-44E808112E56}">
          <p14:sldIdLst>
            <p14:sldId id="258"/>
            <p14:sldId id="259"/>
          </p14:sldIdLst>
        </p14:section>
        <p14:section name="Literature Review" id="{AA021B7A-1D89-DD7B-6EEA-931123681486}">
          <p14:sldIdLst>
            <p14:sldId id="415"/>
            <p14:sldId id="305"/>
            <p14:sldId id="306"/>
            <p14:sldId id="309"/>
            <p14:sldId id="414"/>
            <p14:sldId id="312"/>
            <p14:sldId id="313"/>
          </p14:sldIdLst>
        </p14:section>
        <p14:section name="Gap, Questions and Objectives" id="{ACB741F8-7344-E54E-3520-6B498F895C17}">
          <p14:sldIdLst>
            <p14:sldId id="262"/>
            <p14:sldId id="302"/>
            <p14:sldId id="263"/>
            <p14:sldId id="264"/>
            <p14:sldId id="410"/>
          </p14:sldIdLst>
        </p14:section>
        <p14:section name="The Framework" id="{4674AA55-3218-DA15-E297-A596FB9CE1A2}">
          <p14:sldIdLst>
            <p14:sldId id="266"/>
            <p14:sldId id="267"/>
            <p14:sldId id="268"/>
            <p14:sldId id="269"/>
            <p14:sldId id="270"/>
            <p14:sldId id="271"/>
            <p14:sldId id="272"/>
            <p14:sldId id="273"/>
            <p14:sldId id="274"/>
            <p14:sldId id="275"/>
            <p14:sldId id="276"/>
            <p14:sldId id="278"/>
          </p14:sldIdLst>
        </p14:section>
        <p14:section name="Demo: The HALAH Prototype" id="{611104C4-4282-3E95-1D48-D00FE3F4F3EA}">
          <p14:sldIdLst>
            <p14:sldId id="413"/>
            <p14:sldId id="293"/>
            <p14:sldId id="294"/>
            <p14:sldId id="295"/>
            <p14:sldId id="296"/>
            <p14:sldId id="297"/>
          </p14:sldIdLst>
        </p14:section>
        <p14:section name="Validation and Evaluation" id="{38214D88-01AF-845D-D65A-C9A4BC2C85DF}">
          <p14:sldIdLst>
            <p14:sldId id="280"/>
            <p14:sldId id="281"/>
            <p14:sldId id="282"/>
          </p14:sldIdLst>
        </p14:section>
        <p14:section name="Contribution" id="{EB11EB97-8735-E73D-577A-B2BB861A5EB4}">
          <p14:sldIdLst>
            <p14:sldId id="284"/>
            <p14:sldId id="285"/>
            <p14:sldId id="412"/>
            <p14:sldId id="411"/>
          </p14:sldIdLst>
        </p14:section>
        <p14:section name="Research Plan" id="{1F39EFB8-3D03-66B5-86E7-768BA670C7C2}">
          <p14:sldIdLst>
            <p14:sldId id="289"/>
            <p14:sldId id="290"/>
            <p14:sldId id="291"/>
          </p14:sldIdLst>
        </p14:section>
        <p14:section name="References" id="{40AA16BB-153B-BBB1-53BB-0EB6F21829F3}">
          <p14:sldIdLst>
            <p14:sldId id="300"/>
          </p14:sldIdLst>
        </p14:section>
        <p14:section name="Thank You" id="{FD86D728-DF0D-F8E8-99EB-24A0646BFE01}">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8954" autoAdjust="0"/>
  </p:normalViewPr>
  <p:slideViewPr>
    <p:cSldViewPr snapToGrid="0" snapToObjects="1">
      <p:cViewPr>
        <p:scale>
          <a:sx n="62" d="100"/>
          <a:sy n="62" d="100"/>
        </p:scale>
        <p:origin x="571" y="120"/>
      </p:cViewPr>
      <p:guideLst/>
    </p:cSldViewPr>
  </p:slideViewPr>
  <p:notesTextViewPr>
    <p:cViewPr>
      <p:scale>
        <a:sx n="125" d="100"/>
        <a:sy n="125" d="100"/>
      </p:scale>
      <p:origin x="0" y="0"/>
    </p:cViewPr>
  </p:notesTextViewPr>
  <p:sorterViewPr>
    <p:cViewPr>
      <p:scale>
        <a:sx n="100" d="100"/>
        <a:sy n="100" d="100"/>
      </p:scale>
      <p:origin x="0" y="-8467"/>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slide" Target="slides/slide1.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6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main parts of the HALAH prototype. HALAH stands for History Access Link for Authorised Healthcare.</a:t>
            </a:r>
          </a:p>
          <a:p>
            <a:r>
              <a:t>The system has four interfaces: patient, guardian, doctor and auditor. Every participant has a DID, and a verifiable credential is checked before access or approval. Every listed guardian must sign, and the consent becomes active only when all have signed. The decision engine checks the five conditions at every request, and then a Groth16 proof must verify. The data are synthetic Synthea records. The audit ledger keeps all events, and the medical records stay inside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lstStyle>
            <a:lvl1pPr marL="0" indent="0" algn="ctr">
              <a:buNone/>
              <a:defRPr lang="en-US" sz="3000" b="1" dirty="0">
                <a:solidFill>
                  <a:srgbClr val="FFFFFF"/>
                </a:solidFill>
                <a:latin typeface="Arial" pitchFamily="34" charset="0"/>
                <a:ea typeface="Arial" pitchFamily="34" charset="-122"/>
                <a:cs typeface="Arial" pitchFamily="34" charset="-120"/>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18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76-6A6A-8841-B7E4-1F35C224933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96F4E9-2DE5-D7EB-95B3-8E54FB2A71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0198B3-BB9B-B6BB-C9C0-D35E11062643}"/>
              </a:ext>
            </a:extLst>
          </p:cNvPr>
          <p:cNvSpPr>
            <a:spLocks noGrp="1"/>
          </p:cNvSpPr>
          <p:nvPr>
            <p:ph type="dt" sz="half" idx="10"/>
          </p:nvPr>
        </p:nvSpPr>
        <p:spPr/>
        <p:txBody>
          <a:bodyPr/>
          <a:lstStyle/>
          <a:p>
            <a:fld id="{13A31A13-ADD8-45A6-BA20-4C35DCF1F406}" type="datetimeFigureOut">
              <a:rPr lang="en-AU" smtClean="0"/>
              <a:t>14/10/2026</a:t>
            </a:fld>
            <a:endParaRPr lang="en-AU"/>
          </a:p>
        </p:txBody>
      </p:sp>
      <p:sp>
        <p:nvSpPr>
          <p:cNvPr id="5" name="Footer Placeholder 4">
            <a:extLst>
              <a:ext uri="{FF2B5EF4-FFF2-40B4-BE49-F238E27FC236}">
                <a16:creationId xmlns:a16="http://schemas.microsoft.com/office/drawing/2014/main" id="{D2B7D850-541D-4EC8-9030-D6F5264596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0B99EC-2238-CBDA-CDDF-7C2C97A10F2D}"/>
              </a:ext>
            </a:extLst>
          </p:cNvPr>
          <p:cNvSpPr>
            <a:spLocks noGrp="1"/>
          </p:cNvSpPr>
          <p:nvPr>
            <p:ph type="sldNum" sz="quarter" idx="12"/>
          </p:nvPr>
        </p:nvSpPr>
        <p:spPr/>
        <p:txBody>
          <a:bodyPr/>
          <a:lstStyle/>
          <a:p>
            <a:fld id="{BEEADC8E-7141-4E37-96AF-0E1D097C062D}" type="slidenum">
              <a:rPr lang="en-AU" smtClean="0"/>
              <a:t>‹#›</a:t>
            </a:fld>
            <a:endParaRPr lang="en-AU"/>
          </a:p>
        </p:txBody>
      </p:sp>
    </p:spTree>
    <p:extLst>
      <p:ext uri="{BB962C8B-B14F-4D97-AF65-F5344CB8AC3E}">
        <p14:creationId xmlns:p14="http://schemas.microsoft.com/office/powerpoint/2010/main" val="204865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HALAH PROTOTYPE</a:t>
            </a:r>
            <a:endParaRPr lang="en-US" sz="3000" dirty="0"/>
          </a:p>
        </p:txBody>
      </p:sp>
      <p:sp>
        <p:nvSpPr>
          <p:cNvPr id="5" name="card Four interfaces"/>
          <p:cNvSpPr/>
          <p:nvPr/>
        </p:nvSpPr>
        <p:spPr>
          <a:xfrm>
            <a:off x="64008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6" name="card text Four interfaces"/>
          <p:cNvSpPr txBox="1"/>
          <p:nvPr/>
        </p:nvSpPr>
        <p:spPr>
          <a:xfrm>
            <a:off x="77724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Four interfaces</a:t>
            </a:r>
            <a:endParaRPr lang="en-US" sz="1900" dirty="0"/>
          </a:p>
          <a:p>
            <a:pPr marL="0" indent="0">
              <a:spcAft>
                <a:spcPts val="400"/>
              </a:spcAft>
              <a:buNone/>
            </a:pPr>
            <a:r>
              <a:rPr lang="en-US" sz="1600" dirty="0">
                <a:solidFill>
                  <a:srgbClr val="0B1F33"/>
                </a:solidFill>
              </a:rPr>
              <a:t>Patient, guardian, doctor and auditor</a:t>
            </a:r>
            <a:endParaRPr lang="en-US" sz="1900" dirty="0"/>
          </a:p>
        </p:txBody>
      </p:sp>
      <p:sp>
        <p:nvSpPr>
          <p:cNvPr id="7" name="card Identity and credentials"/>
          <p:cNvSpPr/>
          <p:nvPr/>
        </p:nvSpPr>
        <p:spPr>
          <a:xfrm>
            <a:off x="434340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8" name="card text Identity and credentials"/>
          <p:cNvSpPr txBox="1"/>
          <p:nvPr/>
        </p:nvSpPr>
        <p:spPr>
          <a:xfrm>
            <a:off x="448056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Identity and credentials</a:t>
            </a:r>
            <a:endParaRPr lang="en-US" sz="1900" dirty="0"/>
          </a:p>
          <a:p>
            <a:pPr marL="0" indent="0">
              <a:spcAft>
                <a:spcPts val="400"/>
              </a:spcAft>
              <a:buNone/>
            </a:pPr>
            <a:r>
              <a:rPr lang="en-US" sz="1600" dirty="0">
                <a:solidFill>
                  <a:srgbClr val="0B1F33"/>
                </a:solidFill>
              </a:rPr>
              <a:t>A DID for every participant; a verifiable credential is checked before access or approval</a:t>
            </a:r>
            <a:endParaRPr lang="en-US" sz="1900" dirty="0"/>
          </a:p>
        </p:txBody>
      </p:sp>
      <p:sp>
        <p:nvSpPr>
          <p:cNvPr id="9" name="card Approval and consent token"/>
          <p:cNvSpPr/>
          <p:nvPr/>
        </p:nvSpPr>
        <p:spPr>
          <a:xfrm>
            <a:off x="804672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0" name="card text Approval and consent token"/>
          <p:cNvSpPr txBox="1"/>
          <p:nvPr/>
        </p:nvSpPr>
        <p:spPr>
          <a:xfrm>
            <a:off x="818388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Multi-party approval</a:t>
            </a:r>
            <a:endParaRPr lang="en-US" sz="1900" dirty="0"/>
          </a:p>
          <a:p>
            <a:pPr marL="0" indent="0">
              <a:spcAft>
                <a:spcPts val="400"/>
              </a:spcAft>
              <a:buNone/>
            </a:pPr>
            <a:r>
              <a:rPr lang="en-US" sz="1600" dirty="0">
                <a:solidFill>
                  <a:srgbClr val="0B1F33"/>
                </a:solidFill>
              </a:rPr>
              <a:t>Every listed guardian signs a digital approval; the consent becomes active only when all have signed</a:t>
            </a:r>
            <a:endParaRPr lang="en-US" sz="1900" dirty="0"/>
          </a:p>
        </p:txBody>
      </p:sp>
      <p:sp>
        <p:nvSpPr>
          <p:cNvPr id="11" name="card Decision engine"/>
          <p:cNvSpPr/>
          <p:nvPr/>
        </p:nvSpPr>
        <p:spPr>
          <a:xfrm>
            <a:off x="64008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2" name="card text Decision engine"/>
          <p:cNvSpPr txBox="1"/>
          <p:nvPr/>
        </p:nvSpPr>
        <p:spPr>
          <a:xfrm>
            <a:off x="77724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Decision engine</a:t>
            </a:r>
            <a:endParaRPr lang="en-US" sz="1900" dirty="0"/>
          </a:p>
          <a:p>
            <a:pPr marL="0" indent="0">
              <a:spcAft>
                <a:spcPts val="400"/>
              </a:spcAft>
              <a:buNone/>
            </a:pPr>
            <a:r>
              <a:rPr lang="en-US" sz="1600" dirty="0">
                <a:solidFill>
                  <a:srgbClr val="0B1F33"/>
                </a:solidFill>
              </a:rPr>
              <a:t>VI ∧ VA ∧ VP ∧ VT ∧ VL at every request, then a Groth16 proof over a Poseidon commitment</a:t>
            </a:r>
            <a:endParaRPr lang="en-US" sz="1900" dirty="0"/>
          </a:p>
        </p:txBody>
      </p:sp>
      <p:sp>
        <p:nvSpPr>
          <p:cNvPr id="13" name="card Data"/>
          <p:cNvSpPr/>
          <p:nvPr/>
        </p:nvSpPr>
        <p:spPr>
          <a:xfrm>
            <a:off x="434340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4" name="card text Data"/>
          <p:cNvSpPr txBox="1"/>
          <p:nvPr/>
        </p:nvSpPr>
        <p:spPr>
          <a:xfrm>
            <a:off x="448056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Data</a:t>
            </a:r>
            <a:endParaRPr lang="en-US" sz="1900" dirty="0"/>
          </a:p>
          <a:p>
            <a:pPr marL="0" indent="0">
              <a:spcAft>
                <a:spcPts val="400"/>
              </a:spcAft>
              <a:buNone/>
            </a:pPr>
            <a:r>
              <a:rPr lang="en-US" sz="1600" dirty="0">
                <a:solidFill>
                  <a:srgbClr val="0B1F33"/>
                </a:solidFill>
              </a:rPr>
              <a:t>Synthetic Synthea records: Observation, Medication, Condition, Procedure</a:t>
            </a:r>
            <a:endParaRPr lang="en-US" sz="1900" dirty="0"/>
          </a:p>
        </p:txBody>
      </p:sp>
      <p:sp>
        <p:nvSpPr>
          <p:cNvPr id="15" name="card Evidence"/>
          <p:cNvSpPr/>
          <p:nvPr/>
        </p:nvSpPr>
        <p:spPr>
          <a:xfrm>
            <a:off x="804672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6" name="card text Evidence"/>
          <p:cNvSpPr txBox="1"/>
          <p:nvPr/>
        </p:nvSpPr>
        <p:spPr>
          <a:xfrm>
            <a:off x="818388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Evidence</a:t>
            </a:r>
            <a:endParaRPr lang="en-US" sz="1900" dirty="0"/>
          </a:p>
          <a:p>
            <a:pPr marL="0" indent="0">
              <a:spcAft>
                <a:spcPts val="400"/>
              </a:spcAft>
              <a:buNone/>
            </a:pPr>
            <a:r>
              <a:rPr lang="en-US" sz="1600" dirty="0">
                <a:solidFill>
                  <a:srgbClr val="0B1F33"/>
                </a:solidFill>
              </a:rPr>
              <a:t>Audit ledger of consent events and access decisions; medical records stay inside the application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29</a:t>
            </a:fld>
            <a:endParaRPr lang="en-US"/>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2427</TotalTime>
  <Words>11393</Words>
  <Application>Microsoft Office PowerPoint</Application>
  <PresentationFormat>Widescreen</PresentationFormat>
  <Paragraphs>1053</Paragraphs>
  <Slides>46</Slides>
  <Notes>46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Arial</vt:lpstr>
      <vt:lpstr>Calibri</vt:lpstr>
      <vt:lpstr>Cambria</vt:lpstr>
      <vt:lpstr>Trust Consent</vt:lpstr>
      <vt:lpstr>PowerPoint Presentation</vt:lpstr>
      <vt:lpstr>OUTLINE</vt:lpstr>
      <vt:lpstr>THE RESEARCH PROBLEM</vt:lpstr>
      <vt:lpstr>THE KEY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vt:lpstr>
      <vt:lpstr>MAIN RESEARCH QUESTION</vt:lpstr>
      <vt:lpstr>SUB-RESEARCH QUESTIONS</vt:lpstr>
      <vt:lpstr>RESEARCH OBJECTIVES</vt:lpstr>
      <vt:lpstr>Research Methodology </vt:lpstr>
      <vt:lpstr>FRAMEWORK ARCHITECTURE</vt:lpstr>
      <vt:lpstr>THE DECISION RULE</vt:lpstr>
      <vt:lpstr>Proposed solution for objective 1</vt:lpstr>
      <vt:lpstr>RO1: Trust-Centric Consent Model</vt:lpstr>
      <vt:lpstr>Proposed solution for objective 2</vt:lpstr>
      <vt:lpstr>RO2: Decentralised Identity and Authority Trust</vt:lpstr>
      <vt:lpstr>Proposed solution for objective 3</vt:lpstr>
      <vt:lpstr>RO3: Trustworthy Multi-Party Authorisation</vt:lpstr>
      <vt:lpstr>Proposed solution for objective 4</vt:lpstr>
      <vt:lpstr>RO4: Policy- and Context-Aware Access Control</vt:lpstr>
      <vt:lpstr>Proposed solution for objective 5</vt:lpstr>
      <vt:lpstr>Proposed solution for objective 6</vt:lpstr>
      <vt:lpstr>THE HALAH PROTOTYPE</vt:lpstr>
      <vt:lpstr>DEMO 1: THE PATIENT CREATES THE CONSENT</vt:lpstr>
      <vt:lpstr>DEMO 2: THE FIRST GUARDIAN APPROVES</vt:lpstr>
      <vt:lpstr>DEMO 3: SECOND APPROVAL, TOKEN MINTED</vt:lpstr>
      <vt:lpstr>DEMO 4: THE DOCTOR IS ALLOWED</vt:lpstr>
      <vt:lpstr>DEMO 5: ONLY THE AUTHORISED RECORDS</vt:lpstr>
      <vt:lpstr>VALIDATION</vt:lpstr>
      <vt:lpstr>VALIDATION: THE RECORDED DECISIONS</vt:lpstr>
      <vt:lpstr>VALIDATION: ATTACK SCENARIOS</vt:lpstr>
      <vt:lpstr>Traditional EHR vs. HALAH Framework</vt:lpstr>
      <vt:lpstr>DATASET OVERVIEW</vt:lpstr>
      <vt:lpstr>RESEARCH CONTRIBUTIONS </vt:lpstr>
      <vt:lpstr>RESEARCH CONTRIBUTIONS </vt:lpstr>
      <vt:lpstr>RESEARCH PUBLICATIONS</vt:lpstr>
      <vt:lpstr>RESEARCH PLAN</vt:lpstr>
      <vt:lpstr>RESEARCH TIMELINE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29</cp:revision>
  <dcterms:created xsi:type="dcterms:W3CDTF">2026-10-12T13:53:28Z</dcterms:created>
  <dcterms:modified xsi:type="dcterms:W3CDTF">2026-10-15T05:33:45Z</dcterms:modified>
</cp:coreProperties>
</file>
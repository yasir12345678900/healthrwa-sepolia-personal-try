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f8faa95-45a4-5ff2-e836-847c3d4e6183}">
          <p14:sldIdLst>
            <p14:sldId id="256"/>
            <p14:sldId id="257"/>
          </p14:sldIdLst>
        </p14:section>
        <p14:section name="The Problem" id="{7f5da2cf-8a09-4667-561e-cbc1b119b665}">
          <p14:sldIdLst>
            <p14:sldId id="258"/>
            <p14:sldId id="259"/>
          </p14:sldIdLst>
        </p14:section>
        <p14:section name="Literature Review" id="{42147562-ba5d-f9cc-a5cc-c2b94d355d1f}">
          <p14:sldIdLst>
            <p14:sldId id="260"/>
            <p14:sldId id="261"/>
          </p14:sldIdLst>
        </p14:section>
        <p14:section name="Gaps, Questions and Objectives" id="{b8ecfebb-3558-1512-e9f3-11bf53cf236c}">
          <p14:sldIdLst>
            <p14:sldId id="262"/>
            <p14:sldId id="263"/>
            <p14:sldId id="264"/>
            <p14:sldId id="265"/>
          </p14:sldIdLst>
        </p14:section>
        <p14:section name="The Framework" id="{9364e8b8-08cc-4e8a-e104-a9a7892d6c8d}">
          <p14:sldIdLst>
            <p14:sldId id="266"/>
            <p14:sldId id="267"/>
            <p14:sldId id="268"/>
            <p14:sldId id="269"/>
            <p14:sldId id="270"/>
            <p14:sldId id="271"/>
            <p14:sldId id="272"/>
            <p14:sldId id="273"/>
          </p14:sldIdLst>
        </p14:section>
        <p14:section name="Validation and Evaluation" id="{8963a657-b489-5650-747a-9f8c08148a1e}">
          <p14:sldIdLst>
            <p14:sldId id="274"/>
            <p14:sldId id="275"/>
            <p14:sldId id="276"/>
          </p14:sldIdLst>
        </p14:section>
        <p14:section name="Contribution" id="{37821d71-2175-eb1e-0c5f-e0b246692873}">
          <p14:sldIdLst>
            <p14:sldId id="277"/>
            <p14:sldId id="278"/>
            <p14:sldId id="279"/>
          </p14:sldIdLst>
        </p14:section>
        <p14:section name="What is Still Open" id="{89153a75-74d5-79a6-e122-221a632c9a93}">
          <p14:sldIdLst>
            <p14:sldId id="280"/>
          </p14:sldIdLst>
        </p14:section>
        <p14:section name="Research Plan" id="{750e0663-3f80-046b-f7cf-1eb7a2b5084f}">
          <p14:sldIdLst>
            <p14:sldId id="281"/>
            <p14:sldId id="282"/>
          </p14:sldIdLst>
        </p14:section>
        <p14:section name="Demo: The HALAH Prototype" id="{546bdc12-b841-f490-e456-9a98df6fdfd3}">
          <p14:sldIdLst>
            <p14:sldId id="283"/>
            <p14:sldId id="284"/>
            <p14:sldId id="285"/>
            <p14:sldId id="286"/>
            <p14:sldId id="287"/>
            <p14:sldId id="288"/>
            <p14:sldId id="289"/>
            <p14:sldId id="290"/>
            <p14:sldId id="291"/>
            <p14:sldId id="292"/>
            <p14:sldId id="293"/>
          </p14:sldIdLst>
        </p14:section>
        <p14:section name="References" id="{d9995f45-5fd6-b34c-2019-31b866924068}">
          <p14:sldIdLst>
            <p14:sldId id="294"/>
            <p14:sldId id="295"/>
            <p14:sldId id="296"/>
            <p14:sldId id="297"/>
            <p14:sldId id="298"/>
            <p14:sldId id="299"/>
          </p14:sldIdLst>
        </p14:section>
        <p14:section name="Thank You" id="{9af9d8e9-c6a0-de7d-4a8e-e95900e32920}">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is about one question: how can a hospital system be sure that a request for a patient's data is really allowed? Not only who is asking, but also whether the patient and the guardians agreed, whether the request is inside the agreed data, and whether the consent is still valid. I will show the problem, the literature,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my talk. First the problem and the literature review. Then the gaps, the questions and the objectives. Then the framework and the prototype. Then the validation and the evaluation results. Then what is still open and the research plan. I close with a demonstration of the prototype through the slides: one real consent from creation to revocation.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One decision to share it can involve many people: the patient, one or more guardians, the doctor and the hospital. Today, consent is usually just a stored record. The record says that permission was given, but it does not check anything when someone asks for the data. A valid login is not the same as the right to see this patient's data. And even with approval, a request can ask for more data than the patient allowed, or come after the consent has expired or was revoked. So the problem 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answer is simple to say. Consent becomes an object that the system can check, not a record that it stores. I call it C, and it has six parts. I is identity: who is involved. A is authority: the guardians who must approve and how many are needed. P is policy: the purpose and the data scope. T is time: the validity window. L is jurisdiction. E is evidence: the signatures, the token and whether the consent is revoked. At every request, the system checks all six parts. If one check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a systematic literature review following PRISMA 2020. A written protocol fixed the questions, the databases, one search query, the criteria and the quality items before screening started. I searched seven databases. They returned 9,256 records. After removing duplicates, 6,039 were screened by title, 3,129 by abstract, and 1,800 full texts were prioritised.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 good news: every requirement is met by some study. The problem: no study puts all the conditions together in one access decision. I call this the conjunction gap. And no study proves or tests the whole decision. Formal proofs exist in only 4 of the 25 studies, and they cover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comparison of the 25 studies I defined six gaps, one for each requirement. Gap 1: consent is only a record. Gap 2: identity does not prove authority. Gap 3: multi-party approval is not a standing condition of every access. Gap 4: purpose and scope are rarely checked with identity and approval. Gap 5: time and revocation are checked at registration, not at each request. Gap 6: the whole decision is not proved or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question is: how can a trust-oriented computing framework establish and enforce trustworthy multi-party consent for decentralised healthcare data sharing, under identity, authority and policy constraints? It has six sub-questions, one per gap: modelling consent, identity and authority, multi-party approval, policy and scope, time and lifecycle, and formal and empirical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validated with the prototype. RO5, time and lifecycle, is in progress: the validity window and revocation work now, and consent changes, delegation and guardian-set changes are for the next stage. RO6 is partially completed: the automated tests, the attack tests and the measurements are done, and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One: identify the problem. Two: the systematic review. Three: the gaps and the questions. Four: the objectives. Five: the design: the MVC architecture, the consent object and four algorithms. Six: the prototype on the Sepolia test network. Seven: the evaluation with live scenarios, measurements and attack tests. The formal assurance is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interfaces: patient, guardian, doctor and auditor. The View never decides access. Every security decision is made in the Controller: it checks identity and authority, collects the approvals, enforces the policy and records the evidence. The Model keeps the consent, the approvals and the evidence. Health data are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required guardians approved, the token exists, and the consent is not revoked. VP: the purpose and the requested data are inside what was agreed. VT: the request is inside the validity window. VL: the jurisdiction matches. If any one check fails, the answer is DENY. In the prototype, a Groth16 zero-knowledge proof must also verify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expiry time, and the jurisdiction. The system checks every field: an empty data scope or a malformed guardian DID is rejected. Then the consent object C is built and stored as pending. Nothing goes on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The credential answers the second. A valid identity alone never gives access. To be clear about the current state: the prototype checks the DID format and recovers each guardian's EIP-712 signature. Full DID resolution and credential validation are planned for the next stage. RO2 is done at the design and prototype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it is one of the listed guardians. Outsiders, replays and duplicates are not counted. In the demo, two of two guardians must sign. When both have signed, a soulbound consent token is minted on the Sepolia test network in the background.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verify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and I measured the cost and the timing. The proof part is the next stage: formal proofs or model checking of the security properties, and a larger evaluation under load. That is why RO6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does the system do what it should? I used five kinds of evidence. Valid scenarios: the legitimate requests were allowed. Negative scenarios: the wrong jurisdiction and the revoked consent were refused. Adversarial scenarios: eleven of twelve attacks are refused after the hardening. Automated tests: all 36 pass. And an independent check: the on-chain state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For example: a signer who is not a guardian, a replayed or duplicate approval, a request outside the data scope, an expired or revoked consent, and a tampered proof. Before the hardening on 1 October, three attacks were accepted when the service functions were called directly. After the hardening, eleven of twelve are refused. The one that remains, A11, changes a stored digest: the prototype does not yet compare the digest, so it is marked neutral, and that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0.47 seconds to verify. Anchoring on Sepolia takes about 11.5 seconds, but it runs in the background, so users do not wait. A revoke uses about one sixth of the gas of a mint. The timings were measured on 1 October 2026; the gas and the anchoring times come from the five Sepolia transactions of September 2026. They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terms. Today, a central identity provider logs you in and a static permission decides. Consent is a stored record. In HALAH, every participant has a DID, and identity is separate from authority. Consent is an object checked at every request. All the guardians must approve. Five checks and a proof run before any data is released. Time and revocation are checked each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data. No real patient data is used; the records are synthetic Synthea data. The medical records stay off-chain. The token on Sepolia stores only pseudonymous addresses, a hash of the purpose, the validity window, a jurisdiction code and a revocation flag. Data are released only on ALLOW and only inside the agreed scope. One known limitation: the plaintext purpose is visible in the mint transaction input, and I will address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Scientifically: consent becomes an object that is evaluated, not stored; multi-party approval is a condition of every access; identity is separated from authority; and the whole decision is checked in one place and tested. Socially: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by a formal model or model checking. Second, the rest of the lifecycle: consent modification, delegation and guardian-set changes. Third, full DID resolution, credential validation and wallet-held guardian keys; today it is a format check, a signature, and keys derived from the guardian DIDs. Fourth, the one open attack, A11, where a changed digest is not yet compared. Fifth, a larger evaluation under load with more users and consents.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1 to 6 are done. The conference paper was submitted to BWCCA 2026 in September. The SLR journal paper is in progress. Next: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plan as a timeline: what is completed, what is in progress, and the planned steps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interfaces, a soulbound token contract on the Sepolia test network, EIP-712 guardian signatures, a Groth16 proof at access time, synthetic Synthea data, and an audit ledger. In the next slides I walk through one real consent from creation to revocation. What you will see covers RO1 to RO4 in full, and the parts of RO5 and RO6 that are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Here you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recovers the signer from the EIP-712 signature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The threshold two of two is reached, and the system records the token locally and starts the mint on Sepolia in the background. The guardian does not wait for the blockchain. On the right, the same screen a little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authorised records are displayed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declares the jurisdiction as SA. The consent was issued for AU. Everything else passes, but VL fails, and one failed check is enough: access is denied. The message tells the auditor exactly which check failed. This is the conjunctive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revokes the consent. On the left, the system is sending the revoke transaction to Sepolia and waiting for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evaluated consent in block 11,771,243. On the right, the revocation in block 11,771,307, with the decoded function revoke and token id 1. Anyone can verify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lifecycle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 off-chain? It gives a shared, tamper-evident record of the consent state and the revocation. No medical data is on-chain.
2. What is new? The consent object carries all the conditions; multi-party approval is a condition of every access; and the whole decision is tested against attacks.
3. Why is RO6 only partial? The testing is done; the formal proofs are the next stage.
4. Why Groth16? The doctor proves knowledge of the secret and the expiry behind the Poseidon commitment stored in the consent, and that the consent has not expired, without revealing them. It is the slowest part, about 1.4 seconds, and that is acceptable for a consent decision.
5. Why did three attacks pass before the hardening? They passed only when the service functions were called directly, not through the interface. The hardening moved the checks into the service layer, so they are now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attack scenarios, A1 to A12"/>
          <p:cNvSpPr txBox="1"/>
          <p:nvPr/>
        </p:nvSpPr>
        <p:spPr>
          <a:xfrm>
            <a:off x="7589520" y="123444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7589520" y="210312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p:cNvSpPr txBox="1"/>
          <p:nvPr/>
        </p:nvSpPr>
        <p:spPr>
          <a:xfrm>
            <a:off x="7589520" y="297180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p:cNvSpPr txBox="1"/>
          <p:nvPr/>
        </p:nvSpPr>
        <p:spPr>
          <a:xfrm>
            <a:off x="7589520" y="3840480"/>
            <a:ext cx="393192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a:t>
            </a:r>
            <a:endParaRPr lang="en-US" sz="1600" dirty="0"/>
          </a:p>
        </p:txBody>
      </p:sp>
      <p:sp>
        <p:nvSpPr>
          <p:cNvPr id="10" name="stat automated tests pass"/>
          <p:cNvSpPr txBox="1"/>
          <p:nvPr/>
        </p:nvSpPr>
        <p:spPr>
          <a:xfrm>
            <a:off x="7589520" y="470916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7589520" y="557784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Synthetic records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2026-10-06T11:56:25Z</dcterms:created>
  <dcterms:modified xsi:type="dcterms:W3CDTF">2026-10-06T11:56:25Z</dcterms:modified>
</cp:coreProperties>
</file>
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751ad04-0039-d042-dbdb-145997a4eb1d}">
          <p14:sldIdLst>
            <p14:sldId id="256"/>
            <p14:sldId id="257"/>
          </p14:sldIdLst>
        </p14:section>
        <p14:section name="The Problem" id="{418868c8-f802-2b47-5571-9d43092995b5}">
          <p14:sldIdLst>
            <p14:sldId id="258"/>
            <p14:sldId id="259"/>
          </p14:sldIdLst>
        </p14:section>
        <p14:section name="Literature Review" id="{0d8138cf-011c-e17a-1df9-74d5cbcfa9f8}">
          <p14:sldIdLst>
            <p14:sldId id="260"/>
            <p14:sldId id="261"/>
          </p14:sldIdLst>
        </p14:section>
        <p14:section name="Gaps, Questions and Objectives" id="{28ed9711-76a9-8d23-dae8-53d2369726e1}">
          <p14:sldIdLst>
            <p14:sldId id="262"/>
            <p14:sldId id="263"/>
            <p14:sldId id="264"/>
            <p14:sldId id="265"/>
          </p14:sldIdLst>
        </p14:section>
        <p14:section name="The Framework" id="{5d439e0a-9bad-ba7c-8207-272bfac667f2}">
          <p14:sldIdLst>
            <p14:sldId id="266"/>
            <p14:sldId id="267"/>
            <p14:sldId id="268"/>
            <p14:sldId id="269"/>
            <p14:sldId id="270"/>
            <p14:sldId id="271"/>
            <p14:sldId id="272"/>
            <p14:sldId id="273"/>
          </p14:sldIdLst>
        </p14:section>
        <p14:section name="Validation and Evaluation" id="{a3704df9-b19d-b95b-5105-c0ab9d5d96e3}">
          <p14:sldIdLst>
            <p14:sldId id="274"/>
            <p14:sldId id="275"/>
            <p14:sldId id="276"/>
            <p14:sldId id="277"/>
          </p14:sldIdLst>
        </p14:section>
        <p14:section name="Contribution" id="{275cd19d-6a84-f082-db9f-a53f9b4ca4f7}">
          <p14:sldIdLst>
            <p14:sldId id="278"/>
            <p14:sldId id="279"/>
            <p14:sldId id="280"/>
          </p14:sldIdLst>
        </p14:section>
        <p14:section name="What is Still Open" id="{b5a81291-8538-ea22-e97f-915cb4bdc851}">
          <p14:sldIdLst>
            <p14:sldId id="281"/>
          </p14:sldIdLst>
        </p14:section>
        <p14:section name="Research Plan" id="{978ee910-2031-d04a-493b-53fa83d1bd2e}">
          <p14:sldIdLst>
            <p14:sldId id="282"/>
            <p14:sldId id="283"/>
          </p14:sldIdLst>
        </p14:section>
        <p14:section name="Demo: The HALAH Prototype" id="{591b3528-f481-c056-0ee3-6af359ee4f1f}">
          <p14:sldIdLst>
            <p14:sldId id="284"/>
            <p14:sldId id="285"/>
            <p14:sldId id="286"/>
            <p14:sldId id="287"/>
            <p14:sldId id="288"/>
            <p14:sldId id="289"/>
            <p14:sldId id="290"/>
            <p14:sldId id="291"/>
            <p14:sldId id="292"/>
            <p14:sldId id="293"/>
            <p14:sldId id="294"/>
          </p14:sldIdLst>
        </p14:section>
        <p14:section name="References" id="{ef3a45c0-80e8-1c3e-a882-29291b6e65a8}">
          <p14:sldIdLst>
            <p14:sldId id="295"/>
            <p14:sldId id="296"/>
            <p14:sldId id="297"/>
            <p14:sldId id="298"/>
            <p14:sldId id="299"/>
            <p14:sldId id="300"/>
          </p14:sldIdLst>
        </p14:section>
        <p14:section name="Thank You" id="{9602756d-0886-8e36-628f-0247ec3fbe5a}">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gaps,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authority: which guardians must approve, and how many. P is policy: the purpose and the data that was agreed. T is time: when the consent starts and when it ends. L is jurisdiction: where the request may come from.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25 studies, I found six gaps. One gap for each requirement. Gap one: consent is only a record. Gap two: identity does not prove authority. Gap three: multi-party approval is not a condition of every access. Gap four: purpose and scope are rarely checked together with identity and approval. Gap five: time and revocation are often checked only once, at registration, not at each request. Gap six: nobody proves or tests the whole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one for each gap.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gaps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the required guardians approved, the token exists, and the consent is not cancelled. VP: the purpose and the requested data are inside what was agreed. VT: the request is inside the validity time. VL: the jurisdiction matches. If any one check fails, the answer is DENY.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the start and end time, and the jurisdiction. The system checks every field. For example, an empty data scope or a bad guardian DID is rejected. Then the consent object C is built and saved as pending.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To be clear about the current state: today the prototype checks the DID format and recovers each guardian's signature. Full DID resolution and credential validation are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jurisdiction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What is still open: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wrong jurisdiction and the cancelled consent were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The first two rows and the last three rows are allowed requests: all five checks PASS, the decision is ALLOW, access is GRANTED, and the proof mode is Groth16. The row in the middle is the request from the wrong jurisdiction: VI, VA, VP and VT pass, VL fails, so the decision is DENY. One failed check is enough.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 jurisdiction code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credential validation and wallet-held guardian keys. Today it is a format check, a signature, and keys derived from the guardian DIDs.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the jurisdiction AU, and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Then the five checks run. Identity and authority, VI. Approvals and token, VA. Purpose and scope, VP. Time, VT. Jurisdiction, VL.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six. The same doctor repeats the request, but this time declares the jurisdiction as SA. The consent was issued for AU. Everything else passes, but VL fails. One failed check is enough: access is denied. The message tells the auditor exactly which check failed. This is the rule of RO4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seven.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eight.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nine.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ten,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the report and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10:02:50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 (jurisdiction SA)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FAIL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62828"/>
                          </a:solidFill>
                        </a:rPr>
                        <a:t>DENIED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Wrong jurisdiction: only VL fails, decision DENY, access DENIED (Scenario 4). One failed check is enough.</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 authority, P policy and scope, T time, L jurisdiction,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jurisdiction AU,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the validity time and the jurisdiction AU.</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requester jurisdiction AU: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time and jurisdiction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WRONG JURISDICTION</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One failed check is enough to deny</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Same doctor, same active consent, jurisdiction declared as SA instead of AU</a:t>
            </a:r>
            <a:endParaRPr lang="en-US" sz="1400" dirty="0"/>
          </a:p>
          <a:p>
            <a:pPr marL="342900" indent="-342900">
              <a:buSzPct val="100000"/>
              <a:buChar char="•"/>
            </a:pPr>
            <a:r>
              <a:rPr lang="en-US" sz="1400" dirty="0">
                <a:solidFill>
                  <a:srgbClr val="FFFFFF"/>
                </a:solidFill>
              </a:rPr>
              <a:t>VL = FAIL, so ALLOW = FAIL</a:t>
            </a:r>
            <a:endParaRPr lang="en-US" sz="1400" dirty="0"/>
          </a:p>
          <a:p>
            <a:pPr marL="342900" indent="-342900">
              <a:buSzPct val="100000"/>
              <a:buChar char="•"/>
            </a:pPr>
            <a:r>
              <a:rPr lang="en-US" sz="1400" dirty="0">
                <a:solidFill>
                  <a:srgbClr val="FFFFFF"/>
                </a:solidFill>
              </a:rPr>
              <a:t>The refusal names the failed check: Security Exception, failed checks: VL</a:t>
            </a:r>
            <a:endParaRPr lang="en-US" sz="1400" dirty="0"/>
          </a:p>
        </p:txBody>
      </p:sp>
      <p:sp>
        <p:nvSpPr>
          <p:cNvPr id="8" name="F31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1" descr="/tmp/deck/img/F31.png">    </p:cNvPr>
          <p:cNvPicPr>
            <a:picLocks noChangeAspect="1"/>
          </p:cNvPicPr>
          <p:nvPr/>
        </p:nvPicPr>
        <p:blipFill>
          <a:blip r:embed="rId1"/>
          <a:stretch>
            <a:fillRect/>
          </a:stretch>
        </p:blipFill>
        <p:spPr>
          <a:xfrm>
            <a:off x="1156648" y="2487168"/>
            <a:ext cx="4361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Requester jurisdiction SA: VL reports FAIL, ALLOW = FAIL</a:t>
            </a:r>
            <a:endParaRPr lang="en-US" sz="1200" dirty="0"/>
          </a:p>
        </p:txBody>
      </p:sp>
      <p:sp>
        <p:nvSpPr>
          <p:cNvPr id="11" name="F32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2" descr="/tmp/deck/img/F32.png">    </p:cNvPr>
          <p:cNvPicPr>
            <a:picLocks noChangeAspect="1"/>
          </p:cNvPicPr>
          <p:nvPr/>
        </p:nvPicPr>
        <p:blipFill>
          <a:blip r:embed="rId2"/>
          <a:stretch>
            <a:fillRect/>
          </a:stretch>
        </p:blipFill>
        <p:spPr>
          <a:xfrm>
            <a:off x="6281928" y="2927586"/>
            <a:ext cx="5175504" cy="2557308"/>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The refused request names the failed check: VL</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8: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9: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10: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[2] F. Albalwy, A. Brass, and A. Davies. A blockchain-based dynamic consent architecture to support clinical genomic data sharing (ConsentChain): Proof-of-concept study. JMIR Medical Informatics, 9(11):e27816, 2021. doi:10.2196/27816</a:t>
            </a:r>
            <a:endParaRPr lang="en-US" sz="1000" dirty="0"/>
          </a:p>
          <a:p>
            <a:pPr indent="0" marL="0">
              <a:spcAft>
                <a:spcPts val="400"/>
              </a:spcAft>
              <a:buNone/>
            </a:pPr>
            <a:r>
              <a:rPr lang="en-US" sz="1000" dirty="0">
                <a:solidFill>
                  <a:srgbClr val="0B1F33"/>
                </a:solidFill>
              </a:rPr>
              <a:t>[3]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[4]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[5] A. U. Eneh, L. A. C. Ahakonye, J. M. Lee, and D.-S. Kim. Demo: EdgeConsent: On-chain attribute-based access control for data consent management. In 2026 IEEE International Conference on Blockchain and Cryptocurrency (ICBC), pages 1–2, 2026. doi:10.1109/ICBC67748.2026.11575534</a:t>
            </a:r>
            <a:endParaRPr lang="en-US" sz="1000" dirty="0"/>
          </a:p>
          <a:p>
            <a:pPr indent="0" marL="0">
              <a:spcAft>
                <a:spcPts val="400"/>
              </a:spcAft>
              <a:buNone/>
            </a:pPr>
            <a:r>
              <a:rPr lang="en-US" sz="1000" dirty="0">
                <a:solidFill>
                  <a:srgbClr val="0B1F33"/>
                </a:solidFill>
              </a:rPr>
              <a:t>[6]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[8]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[10]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[11]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[12] L. Mei, K. Huang, X. Li, H. Wang, and X. Zhang. Efficient dual-revocation CP-ABE for secure and fine-grained data sharing in IoMT. IEEE Internet of Things Journal, 13(14):30933–30940, 2026. doi:10.1109/JIOT.2026.3685269</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[14]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[15] S. Phuyal, M. Bhandari, R. Bista, and J. C. Ferreira. A blockchain-based architecture for dynamic and auditable patient consent in secondary use of health data. Blockchain in Healthcare Today, 9(1):491, 2026. doi:10.30953/bhty.v9.491</a:t>
            </a:r>
            <a:endParaRPr lang="en-US" sz="1000" dirty="0"/>
          </a:p>
          <a:p>
            <a:pPr indent="0" marL="0">
              <a:spcAft>
                <a:spcPts val="400"/>
              </a:spcAft>
              <a:buNone/>
            </a:pPr>
            <a:r>
              <a:rPr lang="en-US" sz="1000" dirty="0">
                <a:solidFill>
                  <a:srgbClr val="0B1F33"/>
                </a:solidFill>
              </a:rPr>
              <a:t>[16]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[17]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[18]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[19]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[20]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[21]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a:p>
            <a:pPr indent="0" marL="0">
              <a:spcAft>
                <a:spcPts val="400"/>
              </a:spcAft>
              <a:buNone/>
            </a:pPr>
            <a:r>
              <a:rPr lang="en-US" sz="1000" dirty="0">
                <a:solidFill>
                  <a:srgbClr val="0B1F33"/>
                </a:solidFill>
              </a:rPr>
              <a:t>[22]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[23] C.-H. Tseng, Y.-H. Hsieh, H.-Y. Lin, and S.-M. Yuan. EMR-Chain: Decentralized electronic medical record exchange system. Technologies, 13(10):446, 2025. doi:10.3390/technologies13100446</a:t>
            </a:r>
            <a:endParaRPr lang="en-US" sz="1000" dirty="0"/>
          </a:p>
          <a:p>
            <a:pPr indent="0" marL="0">
              <a:spcAft>
                <a:spcPts val="400"/>
              </a:spcAft>
              <a:buNone/>
            </a:pPr>
            <a:r>
              <a:rPr lang="en-US" sz="1000" dirty="0">
                <a:solidFill>
                  <a:srgbClr val="0B1F33"/>
                </a:solidFill>
              </a:rPr>
              <a:t>[24]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[26]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[27]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[28]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[29]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[30]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[31]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[32]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[33]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[34]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[35]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[36] A. M. Ibrahim, H. R. Abdel-Aziz, H. A. H. Mohamed, D. E. F. Zaghamir, N. M. I. Wahba, G. A. Hassan, et al. Balancing confidentiality and care coordination: Challenges in patient privacy. BMC Nursing, 23(1):564, 2024. doi:10.1186/s12912-024-02231-1</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L. Theodorakopoulos, A. Theodoropoulou, and C. Halkiopoulos. Enhancing decentralized decision-making with big data and blockchain technology: A comprehensive review. Applied Sciences, 14(16):7007, 2024. doi:10.3390/app14167007</a:t>
            </a:r>
            <a:endParaRPr lang="en-US" sz="1000" dirty="0"/>
          </a:p>
          <a:p>
            <a:pPr indent="0" marL="0">
              <a:spcAft>
                <a:spcPts val="400"/>
              </a:spcAft>
              <a:buNone/>
            </a:pPr>
            <a:r>
              <a:rPr lang="en-US" sz="1000" dirty="0">
                <a:solidFill>
                  <a:srgbClr val="0B1F33"/>
                </a:solidFill>
              </a:rPr>
              <a:t>[38]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[39]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[40]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[41]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[42]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[43]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[44]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[45]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[46]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[47]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[48]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[50]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[51] A. Kharlamov, R. Hohmann, and G. Parry. Data sharing decisions: Perceptions and intentions in healthcare. Strategic Change, 32(6):223–237, 2023. doi:10.1002/jsc.2558</a:t>
            </a:r>
            <a:endParaRPr lang="en-US" sz="1000" dirty="0"/>
          </a:p>
          <a:p>
            <a:pPr indent="0" marL="0">
              <a:spcAft>
                <a:spcPts val="400"/>
              </a:spcAft>
              <a:buNone/>
            </a:pPr>
            <a:r>
              <a:rPr lang="en-US" sz="1000" dirty="0">
                <a:solidFill>
                  <a:srgbClr val="0B1F33"/>
                </a:solidFill>
              </a:rPr>
              <a:t>[52]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[53]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[54]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[55]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[56]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[57]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[58]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[59]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[60] R. Jiang, X. Chen, Y. Yu, Y. Zhang, and W. Ding. Risk and UCON-based access control model for healthcare big data. Journal of Big Data, 10(1):104, 2023. doi:10.1186/s40537-023-00783-8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2026-10-07T06:00:53Z</dcterms:created>
  <dcterms:modified xsi:type="dcterms:W3CDTF">2026-10-07T06:00:53Z</dcterms:modified>
</cp:coreProperties>
</file>
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21a3851-3ae2-d897-72e2-50247bcac45b}">
          <p14:sldIdLst>
            <p14:sldId id="256"/>
            <p14:sldId id="257"/>
          </p14:sldIdLst>
        </p14:section>
        <p14:section name="The Problem" id="{74ccaa6b-30af-8600-28db-514fab94c8e0}">
          <p14:sldIdLst>
            <p14:sldId id="258"/>
            <p14:sldId id="259"/>
          </p14:sldIdLst>
        </p14:section>
        <p14:section name="Literature Review" id="{9fefceea-bdf4-e014-357b-5b70fde2bd8a}">
          <p14:sldIdLst>
            <p14:sldId id="260"/>
            <p14:sldId id="261"/>
          </p14:sldIdLst>
        </p14:section>
        <p14:section name="Gap, Questions and Objectives" id="{e1f85ac3-bd8d-f44a-92a8-16e3935403ef}">
          <p14:sldIdLst>
            <p14:sldId id="262"/>
            <p14:sldId id="263"/>
            <p14:sldId id="264"/>
            <p14:sldId id="265"/>
          </p14:sldIdLst>
        </p14:section>
        <p14:section name="The Framework" id="{82422a28-3abc-0ad6-5885-7a8c50afa12f}">
          <p14:sldIdLst>
            <p14:sldId id="266"/>
            <p14:sldId id="267"/>
            <p14:sldId id="268"/>
            <p14:sldId id="269"/>
            <p14:sldId id="270"/>
            <p14:sldId id="271"/>
            <p14:sldId id="272"/>
            <p14:sldId id="273"/>
          </p14:sldIdLst>
        </p14:section>
        <p14:section name="Validation and Evaluation" id="{249b15a6-2894-ae0b-d7f6-9eb0ab481315}">
          <p14:sldIdLst>
            <p14:sldId id="274"/>
            <p14:sldId id="275"/>
            <p14:sldId id="276"/>
            <p14:sldId id="277"/>
          </p14:sldIdLst>
        </p14:section>
        <p14:section name="Contribution" id="{2f93373c-ed0e-3a1e-7306-e38881d8ec2d}">
          <p14:sldIdLst>
            <p14:sldId id="278"/>
            <p14:sldId id="279"/>
            <p14:sldId id="280"/>
          </p14:sldIdLst>
        </p14:section>
        <p14:section name="What is Still Open" id="{599c67ad-c03f-320f-74a2-ec320284c62a}">
          <p14:sldIdLst>
            <p14:sldId id="281"/>
          </p14:sldIdLst>
        </p14:section>
        <p14:section name="Research Plan" id="{7ed8af00-53cb-4925-574d-38acf6433206}">
          <p14:sldIdLst>
            <p14:sldId id="282"/>
            <p14:sldId id="283"/>
          </p14:sldIdLst>
        </p14:section>
        <p14:section name="Demo: The HALAH Prototype" id="{7e8f9a18-5599-2473-625f-4384b92c2840}">
          <p14:sldIdLst>
            <p14:sldId id="284"/>
            <p14:sldId id="285"/>
            <p14:sldId id="286"/>
            <p14:sldId id="287"/>
            <p14:sldId id="288"/>
            <p14:sldId id="289"/>
            <p14:sldId id="290"/>
            <p14:sldId id="291"/>
            <p14:sldId id="292"/>
            <p14:sldId id="293"/>
          </p14:sldIdLst>
        </p14:section>
        <p14:section name="References" id="{23f67b09-a5c0-5719-983a-19c107e4adeb}">
          <p14:sldIdLst>
            <p14:sldId id="294"/>
            <p14:sldId id="295"/>
            <p14:sldId id="296"/>
          </p14:sldIdLst>
        </p14:section>
        <p14:section name="Thank You" id="{a0b6f83d-868e-3fd6-e0f7-6a6a8c83f0c5}">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a:t>
            </a:r>
            <a:r>
              <a:rPr lang="en-US" dirty="0">
                <a:highlight>
                  <a:srgbClr val="FFFF00"/>
                </a:highlight>
              </a:rPr>
              <a:t>gap</a:t>
            </a:r>
            <a:r>
              <a:rPr lang="en-US" dirty="0"/>
              <a:t>, the questions and the objectives. After that, the framework and its six steps. Then the validation and the evaluation results. Then I talk about what is still open and the research plan. At the end, I show a demonstration of the prototype through the slides: one real consent, from the day it is created to the day it is revoked.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was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t>
            </a:r>
            <a:r>
              <a:rPr lang="en-US" dirty="0">
                <a:highlight>
                  <a:srgbClr val="FFFF00"/>
                </a:highlight>
              </a:rPr>
              <a:t>authorisation</a:t>
            </a:r>
            <a:r>
              <a:rPr lang="en-US" dirty="0"/>
              <a:t>: which guardians must approve, and how many. P is policy: the purpose and the data that was agreed. T is time: when the consent starts and when it ends. </a:t>
            </a:r>
            <a:r>
              <a:rPr lang="en-US" dirty="0">
                <a:highlight>
                  <a:srgbClr val="FFFF00"/>
                </a:highlight>
              </a:rPr>
              <a:t>L is lifecycle: the state of the consent, from creation to expiry or revocation.</a:t>
            </a:r>
            <a:r>
              <a:rPr lang="en-US" dirty="0"/>
              <a:t>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by abstract, and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a:t>
            </a:r>
            <a:r>
              <a:rPr lang="en-US" dirty="0">
                <a:highlight>
                  <a:srgbClr val="FFFF00"/>
                </a:highlight>
              </a:rPr>
              <a:t>research gap</a:t>
            </a:r>
            <a:r>
              <a:rPr lang="en-US" dirty="0"/>
              <a:t>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a:t>
            </a:r>
            <a:r>
              <a:rPr lang="en-US" dirty="0">
                <a:highlight>
                  <a:srgbClr val="FFFF00"/>
                </a:highlight>
              </a:rPr>
              <a:t>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a:t>
            </a:r>
            <a:r>
              <a:rPr lang="en-US" dirty="0"/>
              <a:t> If any one check fails, the answer is DENY. In the prototype, a Groth16 zero-knowledge proof must also pass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t>
            </a:r>
            <a:r>
              <a:rPr lang="en-US" dirty="0">
                <a:highlight>
                  <a:srgbClr val="FFFF00"/>
                </a:highlight>
              </a:rPr>
              <a:t>and</a:t>
            </a:r>
            <a:r>
              <a:rPr lang="en-US" dirty="0"/>
              <a:t> the start and end time. The system checks every field. For example, an empty data scope or a bad guardian DID is rejected. </a:t>
            </a:r>
            <a:r>
              <a:rPr lang="en-US" dirty="0">
                <a:highlight>
                  <a:srgbClr val="FFFF00"/>
                </a:highlight>
              </a:rPr>
              <a:t>Then the system creates the consent object, assigns a consent identifier, persists the record, and records the creation event in the audit layer.</a:t>
            </a:r>
            <a:r>
              <a:rPr lang="en-US" dirty="0"/>
              <a:t>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a:t>
            </a:r>
            <a:r>
              <a:rPr lang="en-US" dirty="0">
                <a:highlight>
                  <a:srgbClr val="FFFF00"/>
                </a:highlight>
              </a:rPr>
              <a:t>In the HALAH implementation, the guardian workflow uses a selected guardian DID and invokes VC verification before adding the guardian's signature to the consent. Full DID resolution is planned for the next stage.</a:t>
            </a:r>
            <a:r>
              <a:rPr lang="en-US" dirty="0"/>
              <a:t>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replays and duplicates are not counted.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a:t>
            </a:r>
            <a:r>
              <a:rPr lang="en-US" dirty="0">
                <a:highlight>
                  <a:srgbClr val="FFFF00"/>
                </a:highlight>
              </a:rPr>
              <a:t>the lifecycle state</a:t>
            </a:r>
            <a:r>
              <a:rPr lang="en-US" dirty="0"/>
              <a:t>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a:t>
            </a:r>
            <a:r>
              <a:rPr lang="en-US" dirty="0">
                <a:highlight>
                  <a:srgbClr val="FFFF00"/>
                </a:highlight>
              </a:rPr>
              <a:t>In the design, L is the lifecycle state: created, pending, active, suspended, revoked or expired, and VL checks a valid state and a valid transition.</a:t>
            </a:r>
            <a:r>
              <a:rPr lang="en-US" dirty="0"/>
              <a:t> What is still open: </a:t>
            </a:r>
            <a:r>
              <a:rPr lang="en-US" dirty="0">
                <a:highlight>
                  <a:srgbClr val="FFFF00"/>
                </a:highlight>
              </a:rPr>
              <a:t>the suspended state,</a:t>
            </a:r>
            <a:r>
              <a:rPr lang="en-US" dirty="0"/>
              <a:t>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was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t>
            </a:r>
            <a:r>
              <a:rPr lang="en-US" dirty="0">
                <a:highlight>
                  <a:srgbClr val="FFFF00"/>
                </a:highlight>
              </a:rPr>
              <a:t>All five rows</a:t>
            </a:r>
            <a:r>
              <a:rPr lang="en-US" dirty="0"/>
              <a:t> are allowed requests: all five checks PASS, the decision is ALLOW, access is GRANTED, and the proof mode is Groth16. The request after revocation is not in this table, because a consent that is no longer active is refused before any decision is logged; its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A1 to A12.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twelve are refused. The last one, A11, changes a stored digest. The prototype does not compare that digest yet, so it is marked as differs, which is neutral, not passed.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about half a second to verify. Anchoring on Sepolia takes about 11.5 seconds, but it runs in the background, so nobody waits for it. A revoke uses about one sixth of the gas of a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decision on an active consent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only pseudonymous addresses, a hash of the purpose, the validity window </a:t>
            </a:r>
            <a:r>
              <a:rPr lang="en-US" dirty="0">
                <a:highlight>
                  <a:srgbClr val="FFFF00"/>
                </a:highlight>
              </a:rPr>
              <a:t>and</a:t>
            </a:r>
            <a:r>
              <a:rPr lang="en-US" dirty="0"/>
              <a:t>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On the scientific side: consent becomes an object that is checked, not stored. Multi-party approval is a condition of every access. Identity is separated from authority. And the whole decision is checked in one place and tested. On the social side: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with a formal model. Second, the rest of the lifecycle: consent modification, delegation and guardian changes. Third, full DID resolution and wallet-held guardian keys. </a:t>
            </a:r>
            <a:r>
              <a:rPr lang="en-US" dirty="0">
                <a:highlight>
                  <a:srgbClr val="FFFF00"/>
                </a:highlight>
              </a:rPr>
              <a:t>Today the guardian keys are derived from the guardian DIDs.</a:t>
            </a:r>
            <a:r>
              <a:rPr lang="en-US" dirty="0"/>
              <a:t> Fourth, the one open attack, A11. Fifth, a bigger evaluation under load.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one real consent, from creation to revocation.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a:t>
            </a:r>
            <a:r>
              <a:rPr lang="en-US" dirty="0">
                <a:highlight>
                  <a:srgbClr val="FFFF00"/>
                </a:highlight>
              </a:rPr>
              <a:t>and</a:t>
            </a:r>
            <a:r>
              <a:rPr lang="en-US" dirty="0"/>
              <a:t>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a:t>
            </a:r>
            <a:r>
              <a:rPr lang="en-US" dirty="0">
                <a:highlight>
                  <a:srgbClr val="FFFF00"/>
                </a:highlight>
              </a:rPr>
              <a:t>Then the five checks run: VI, VA, VP, VT and VL.</a:t>
            </a:r>
            <a:r>
              <a:rPr lang="en-US" dirty="0"/>
              <a:t>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six</a:t>
            </a:r>
            <a:r>
              <a:rPr lang="en-US" dirty="0"/>
              <a:t>.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seven</a:t>
            </a:r>
            <a:r>
              <a:rPr lang="en-US" dirty="0"/>
              <a:t>.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eight</a:t>
            </a:r>
            <a:r>
              <a:rPr lang="en-US" dirty="0"/>
              <a:t>.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nine</a:t>
            </a:r>
            <a:r>
              <a:rPr lang="en-US" dirty="0"/>
              <a:t>,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doctor proves that they know the secret and the expiry behind the commitment stored in the consent, and that the consent has not expired, without showing them. It is the slowest part,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  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multiple independently verified participants and guardians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a:t>
                      </a:r>
                      <a:r>
                        <a:rPr lang="en-US" sz="1300" b="1" dirty="0">
                          <a:solidFill>
                            <a:srgbClr val="0B1F33"/>
                          </a:solidFill>
                          <a:highlight>
                            <a:srgbClr val="FFFF00"/>
                          </a:highlight>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a:t>
            </a:r>
            <a:r>
              <a:rPr lang="en-US" sz="2400" b="1" dirty="0">
                <a:solidFill>
                  <a:srgbClr val="0B1F33"/>
                </a:solidFill>
                <a:highlight>
                  <a:srgbClr val="FFFF00"/>
                </a:highlight>
                <a:latin typeface="Cambria" pitchFamily="34" charset="0"/>
                <a:ea typeface="Cambria" pitchFamily="34" charset="-122"/>
                <a:cs typeface="Cambria" pitchFamily="34" charset="-120"/>
              </a:rPr>
              <a:t>VL(C)</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RO1: </a:t>
            </a:r>
            <a:r>
              <a:rPr lang="en-US" sz="1700" b="1" i="1" dirty="0">
                <a:solidFill>
                  <a:srgbClr val="0B1F33"/>
                </a:solidFill>
                <a:highlight>
                  <a:srgbClr val="FFFF00"/>
                </a:highlight>
              </a:rPr>
              <a:t>Trust-Centric Consent Model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0B1F33"/>
                </a:solidFill>
                <a:highlight>
                  <a:srgbClr val="FFFF00"/>
                </a:highlight>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RO2: </a:t>
            </a:r>
            <a:r>
              <a:rPr lang="en-US" sz="1700" b="1" i="1" dirty="0">
                <a:solidFill>
                  <a:srgbClr val="0B1F33"/>
                </a:solidFill>
                <a:highlight>
                  <a:srgbClr val="FFFF00"/>
                </a:highlight>
              </a:rPr>
              <a:t>Decentralised Identity and Authority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0B1F33"/>
                </a:solidFill>
                <a:highlight>
                  <a:srgbClr val="FFFF00"/>
                </a:highlight>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RO3: </a:t>
            </a:r>
            <a:r>
              <a:rPr lang="en-US" sz="1700" b="1" i="1" dirty="0">
                <a:solidFill>
                  <a:srgbClr val="0B1F33"/>
                </a:solidFill>
                <a:highlight>
                  <a:srgbClr val="FFFF00"/>
                </a:highlight>
              </a:rPr>
              <a:t>Trustworthy Multi-Party Authorisation</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yellow/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RO4: </a:t>
            </a:r>
            <a:r>
              <a:rPr lang="en-US" sz="1700" b="1" i="1" dirty="0">
                <a:solidFill>
                  <a:srgbClr val="0B1F33"/>
                </a:solidFill>
                <a:highlight>
                  <a:srgbClr val="FFFF00"/>
                </a:highlight>
              </a:rPr>
              <a:t>Policy- and Context-Aware Access Control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0B1F33"/>
                </a:solidFill>
                <a:highlight>
                  <a:srgbClr val="FFFF00"/>
                </a:highlight>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8427609"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RO5: </a:t>
            </a:r>
            <a:r>
              <a:rPr lang="en-US" sz="1700" b="1" i="1" dirty="0">
                <a:solidFill>
                  <a:srgbClr val="0B1F33"/>
                </a:solidFill>
                <a:highlight>
                  <a:srgbClr val="FFFF00"/>
                </a:highlight>
              </a:rPr>
              <a:t>Temporal and Lifecycle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0B1F33"/>
                </a:solidFill>
                <a:highlight>
                  <a:srgbClr val="FFFF00"/>
                </a:highlight>
              </a:rPr>
              <a:t>the SUSPENDED state,</a:t>
            </a:r>
            <a:r>
              <a:rPr lang="en-US" sz="1600" dirty="0">
                <a:solidFill>
                  <a:srgbClr val="FFFFFF"/>
                </a:solidFill>
              </a:rPr>
              <a:t> the lifecycle transition check, consent modification, delegation, guardian-set changes and a formal lifecycle model.</a:t>
            </a:r>
            <a:endParaRPr lang="en-US" sz="1600" dirty="0"/>
          </a:p>
        </p:txBody>
      </p:sp>
      <p:sp>
        <p:nvSpPr>
          <p:cNvPr id="8" name="F35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yellow/F35.png">    </p:cNvPr>
          <p:cNvPicPr>
            <a:picLocks noChangeAspect="1"/>
          </p:cNvPicPr>
          <p:nvPr/>
        </p:nvPicPr>
        <p:blipFill>
          <a:blip r:embed="rId1"/>
          <a:stretch>
            <a:fillRect/>
          </a:stretch>
        </p:blipFill>
        <p:spPr>
          <a:xfrm>
            <a:off x="8070147"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RO6: </a:t>
            </a:r>
            <a:r>
              <a:rPr lang="en-US" sz="1700" b="1" i="1" dirty="0">
                <a:solidFill>
                  <a:srgbClr val="0B1F33"/>
                </a:solidFill>
                <a:highlight>
                  <a:srgbClr val="FFFF00"/>
                </a:highlight>
              </a:rPr>
              <a:t>Formal Security Assurance and Empirical Validation</a:t>
            </a:r>
            <a:endParaRPr lang="en-US" sz="17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yellow/F16.png">    </p:cNvPr>
          <p:cNvPicPr>
            <a:picLocks noChangeAspect="1"/>
          </p:cNvPicPr>
          <p:nvPr/>
        </p:nvPicPr>
        <p:blipFill>
          <a:blip r:embed="rId1"/>
          <a:stretch>
            <a:fillRect/>
          </a:stretch>
        </p:blipFill>
        <p:spPr>
          <a:xfrm>
            <a:off x="7607808" y="1919790"/>
            <a:ext cx="3803904" cy="370422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After revocation (Scenario 5) the request is refused before any decision is logged (n/l = not logged);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65760">
                <a:tc>
                  <a:txBody>
                    <a:bodyPr/>
                    <a:lstStyle/>
                    <a:p>
                      <a:pPr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6576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73152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r>
              <a:rPr lang="en-US" sz="950" i="1" dirty="0">
                <a:solidFill>
                  <a:srgbClr val="FFFFFF"/>
                </a:solidFill>
              </a:rPr>
              <a:t>Target: I identity, </a:t>
            </a:r>
            <a:endParaRPr lang="en-US" sz="950" dirty="0"/>
          </a:p>
          <a:p>
            <a:pPr indent="0" marL="0">
              <a:buNone/>
            </a:pPr>
            <a:r>
              <a:rPr lang="en-US" sz="950" i="1" dirty="0">
                <a:solidFill>
                  <a:srgbClr val="0B1F33"/>
                </a:solidFill>
                <a:highlight>
                  <a:srgbClr val="FFFF00"/>
                </a:highlight>
              </a:rPr>
              <a:t>A authorisation</a:t>
            </a:r>
            <a:r>
              <a:rPr lang="en-US" sz="950" i="1" dirty="0">
                <a:solidFill>
                  <a:srgbClr val="FFFFFF"/>
                </a:solidFill>
              </a:rPr>
              <a:t>, P policy and scope, T time, </a:t>
            </a:r>
            <a:r>
              <a:rPr lang="en-US" sz="950" i="1" dirty="0">
                <a:solidFill>
                  <a:srgbClr val="0B1F33"/>
                </a:solidFill>
                <a:highlight>
                  <a:srgbClr val="FFFF00"/>
                </a:highlight>
              </a:rPr>
              <a:t>L lifecycle</a:t>
            </a:r>
            <a:r>
              <a:rPr lang="en-US" sz="950" i="1" dirty="0">
                <a:solidFill>
                  <a:srgbClr val="FFFFFF"/>
                </a:solidFill>
              </a:rPr>
              <a:t>, E evidence, Contract = ConsentSBTv3 on an in-memory EVM.</a:t>
            </a:r>
            <a:endParaRPr lang="en-US" sz="950" dirty="0"/>
          </a:p>
        </p:txBody>
      </p:sp>
      <p:sp>
        <p:nvSpPr>
          <p:cNvPr id="6" name="stat attack scenarios, A1 to A12"/>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and wallet-held guardian keys. Today: </a:t>
            </a:r>
            <a:r>
              <a:rPr lang="en-US" sz="1600" dirty="0">
                <a:solidFill>
                  <a:srgbClr val="0B1F33"/>
                </a:solidFill>
                <a:highlight>
                  <a:srgbClr val="FFFF00"/>
                </a:highlight>
              </a:rPr>
              <a:t>signature recovery and keys derived from the guardian DIDs</a:t>
            </a:r>
            <a:r>
              <a:rPr lang="en-US" sz="1600" dirty="0">
                <a:solidFill>
                  <a:srgbClr val="0B1F33"/>
                </a:solidFill>
              </a:rPr>
              <a:t>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a:t>
            </a:r>
            <a:r>
              <a:rPr lang="en-US" sz="1600" dirty="0">
                <a:solidFill>
                  <a:srgbClr val="0B1F33"/>
                </a:solidFill>
                <a:highlight>
                  <a:srgbClr val="FFFF00"/>
                </a:highlight>
              </a:rPr>
              <a:t>and</a:t>
            </a:r>
            <a:r>
              <a:rPr lang="en-US" sz="1600" dirty="0">
                <a:solidFill>
                  <a:srgbClr val="FFFFFF"/>
                </a:solidFill>
              </a:rPr>
              <a:t> the validity time.</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a:t>
            </a:r>
            <a:r>
              <a:rPr lang="en-US" sz="1600" dirty="0">
                <a:solidFill>
                  <a:srgbClr val="0B1F33"/>
                </a:solidFill>
                <a:highlight>
                  <a:srgbClr val="FFFF00"/>
                </a:highlight>
              </a:rPr>
              <a:t>and</a:t>
            </a:r>
            <a:r>
              <a:rPr lang="en-US" sz="1600" dirty="0">
                <a:solidFill>
                  <a:srgbClr val="FFFFFF"/>
                </a:solidFill>
              </a:rPr>
              <a:t> time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6</a:t>
            </a:r>
            <a:r>
              <a:rPr lang="en-US" sz="3000" b="1" dirty="0">
                <a:solidFill>
                  <a:srgbClr val="FFFFFF"/>
                </a:solidFill>
                <a:latin typeface="Arial" pitchFamily="34" charset="0"/>
                <a:ea typeface="Arial" pitchFamily="34" charset="-122"/>
                <a:cs typeface="Arial" pitchFamily="34" charset="-120"/>
              </a:rPr>
              <a:t>: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7</a:t>
            </a:r>
            <a:r>
              <a:rPr lang="en-US" sz="3000" b="1" dirty="0">
                <a:solidFill>
                  <a:srgbClr val="FFFFFF"/>
                </a:solidFill>
                <a:latin typeface="Arial" pitchFamily="34" charset="0"/>
                <a:ea typeface="Arial" pitchFamily="34" charset="-122"/>
                <a:cs typeface="Arial" pitchFamily="34" charset="-120"/>
              </a:rPr>
              <a:t>: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8</a:t>
            </a:r>
            <a:r>
              <a:rPr lang="en-US" sz="3000" b="1" dirty="0">
                <a:solidFill>
                  <a:srgbClr val="FFFFFF"/>
                </a:solidFill>
                <a:latin typeface="Arial" pitchFamily="34" charset="0"/>
                <a:ea typeface="Arial" pitchFamily="34" charset="-122"/>
                <a:cs typeface="Arial" pitchFamily="34" charset="-120"/>
              </a:rPr>
              <a:t>: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9</a:t>
            </a:r>
            <a:r>
              <a:rPr lang="en-US" sz="3000" b="1" dirty="0">
                <a:solidFill>
                  <a:srgbClr val="FFFFFF"/>
                </a:solidFill>
                <a:latin typeface="Arial" pitchFamily="34" charset="0"/>
                <a:ea typeface="Arial" pitchFamily="34" charset="-122"/>
                <a:cs typeface="Arial" pitchFamily="34" charset="-120"/>
              </a:rPr>
              <a:t>: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(1/3)</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(2/3)</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(3/3)</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2026-10-10T15:47:53Z</dcterms:created>
  <dcterms:modified xsi:type="dcterms:W3CDTF">2026-10-10T15:47:53Z</dcterms:modified>
</cp:coreProperties>
</file>
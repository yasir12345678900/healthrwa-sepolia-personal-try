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e1dec65a-633a-746e-337c-cda1b2c3f65c}">
          <p14:sldIdLst>
            <p14:sldId id="256"/>
          </p14:sldIdLst>
        </p14:section>
        <p14:section name="Outline" id="{71c8b5a0-3106-9f44-7204-34f36a235b5b}">
          <p14:sldIdLst>
            <p14:sldId id="257"/>
          </p14:sldIdLst>
        </p14:section>
        <p14:section name="Introduction" id="{3645c7f2-d511-db8e-c61c-ad8b703603c1}">
          <p14:sldIdLst>
            <p14:sldId id="258"/>
            <p14:sldId id="259"/>
          </p14:sldIdLst>
        </p14:section>
        <p14:section name="Systematic Literature Review" id="{7c19b9be-2349-258f-242a-fecb6f5c19ce}">
          <p14:sldIdLst>
            <p14:sldId id="260"/>
            <p14:sldId id="261"/>
            <p14:sldId id="262"/>
            <p14:sldId id="263"/>
            <p14:sldId id="264"/>
            <p14:sldId id="265"/>
            <p14:sldId id="266"/>
            <p14:sldId id="267"/>
          </p14:sldIdLst>
        </p14:section>
        <p14:section name="Research Gap" id="{c5937a78-585f-48e1-9873-aff4a52d380d}">
          <p14:sldIdLst>
            <p14:sldId id="268"/>
          </p14:sldIdLst>
        </p14:section>
        <p14:section name="Research Questions" id="{e1735c81-37f7-cb35-7d7c-6e5fab79009b}">
          <p14:sldIdLst>
            <p14:sldId id="269"/>
            <p14:sldId id="270"/>
          </p14:sldIdLst>
        </p14:section>
        <p14:section name="Research Objectives" id="{07f29d5d-d358-bcd7-7b2c-d03b326aaa0a}">
          <p14:sldIdLst>
            <p14:sldId id="271"/>
          </p14:sldIdLst>
        </p14:section>
        <p14:section name="Research Methodology" id="{f78f50a4-231b-6e0b-e9eb-fef7a66c7b79}">
          <p14:sldIdLst>
            <p14:sldId id="272"/>
          </p14:sldIdLst>
        </p14:section>
        <p14:section name="Research Architecture" id="{c2d3fe3f-886e-5d27-4087-d904b4768de0}">
          <p14:sldIdLst>
            <p14:sldId id="273"/>
          </p14:sldIdLst>
        </p14:section>
        <p14:section name="The Proposed Solutions" id="{a5b9f56f-43ab-9d07-68f4-4ba664a0aeff}">
          <p14:sldIdLst>
            <p14:sldId id="274"/>
            <p14:sldId id="275"/>
            <p14:sldId id="276"/>
            <p14:sldId id="277"/>
            <p14:sldId id="278"/>
            <p14:sldId id="279"/>
            <p14:sldId id="280"/>
            <p14:sldId id="281"/>
            <p14:sldId id="282"/>
            <p14:sldId id="283"/>
            <p14:sldId id="284"/>
            <p14:sldId id="285"/>
            <p14:sldId id="286"/>
          </p14:sldIdLst>
        </p14:section>
        <p14:section name="Implementation and Evaluation" id="{9ef1d941-4d67-18f1-abed-ba0349840f8e}">
          <p14:sldIdLst>
            <p14:sldId id="287"/>
            <p14:sldId id="288"/>
            <p14:sldId id="289"/>
            <p14:sldId id="290"/>
            <p14:sldId id="291"/>
            <p14:sldId id="292"/>
            <p14:sldId id="293"/>
          </p14:sldIdLst>
        </p14:section>
        <p14:section name="Significance of the Research" id="{482b2ad3-40d4-71dc-fc18-f053888e32c5}">
          <p14:sldIdLst>
            <p14:sldId id="294"/>
            <p14:sldId id="295"/>
            <p14:sldId id="296"/>
            <p14:sldId id="297"/>
          </p14:sldIdLst>
        </p14:section>
        <p14:section name="Research Plan" id="{f6a685c3-d9fd-bc48-857b-870ae98b14da}">
          <p14:sldIdLst>
            <p14:sldId id="298"/>
            <p14:sldId id="299"/>
            <p14:sldId id="300"/>
          </p14:sldIdLst>
        </p14:section>
        <p14:section name="References" id="{be806db9-2583-64e6-2e44-e922be163aa4}">
          <p14:sldIdLst>
            <p14:sldId id="301"/>
            <p14:sldId id="302"/>
            <p14:sldId id="303"/>
          </p14:sldIdLst>
        </p14:section>
        <p14:section name="Thank You" id="{a07166b9-a6c8-230e-e46d-70e260f8edf1}">
          <p14:sldIdLst>
            <p14:sldId id="3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Authorisation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ten parts.
I start with the introduction and the systematic literature review. Then I show the research gap, the research questions and the research objectives. After that I explain the research methodology and the architecture, and then the proposed solutions.
Next, I show the implementation and evaluation of my prototype. I finish with the significance of the research, my publications,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authorisation, policy, time, lifecycle and evidence. Authorisation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One full text could not be retrieved, and the other 1,735 are not assessed yet.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gap leads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add the suspended state and the lifecycle transition check, and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research gap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thirteen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
The points below are simple. If any one check fails, the answer is DENY. In the prototype, a Groth16 zero-knowledge proof must also verify before any data is released. This kind of proof shows something is true without showing the secret behind it. Every access decision, allowed or denied, is written to the off-chain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builds the consent object C and assigns a consent identifier. C has six parts: identity, authorisation, policy and data scope, time, lifecycle and evidence. The consent is saved in the state PENDING_SIGNATURE. Nothing goes on-chain until all guardians approve. Last, the creation is recorded in the audit ledger.
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In the HALAH implementation, the guardian workflow uses a selected guardian DID and invokes VC verification before adding the guardian's signature to the consent. Each guardian's EIP-712 signature is also recovered. EIP-712 is a typed signature format on Ethereum, so we can see who signed. Full DID resolution is planned for the next stage.
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and a duplicate approval is not counted either. A signature replayed from another consent fails the identity check, so the answer is DENY.
The rule is N-of-N. This means every listed guardian must give a valid signature. In the demo there are two guardians, so it is 2-of-2. One approval is not enough.
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
The next stage adds the SUSPENDED state, a lifecycle transition check, consent modification, delegation, guardian-set changes and a formal lifecycle model.
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46 automated tests. They include thirteen attack scenarios, A1 to A13.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off-chain audit ledger keeps evidence of every access decision, allowed or denied,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First,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Second, on the right is the gas used by the five anchored transactions. Gas is the unit of computing work on Ethereum. The first two bars are for token 8, from the earlier deployment. The other three are on the current contract, ConsentSBTv3.
Third, compare the bars.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was refused.
The third row is the thirteen attack scenarios, A1 to A13. Twelve of them are refused. A11 is different. A rewritten audit event changes its digest, but nothing in the prototype compares the digest yet.
The next slide shows these thirteen attacks in detail.
The fourth row is the automated tests. There are 32 functional and regression tests and 14 adversarial tests. All 46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thirteen attack scenarios, A1 to A13. The dots show which part each attack targets. I is identity, A is authorisation, P is policy and scope, T is time, L is lifecycle,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first twelve are refused, and all 46 automated tests pass. A13, an invalid or forged credential, came with the credential check on 11 October 2026 and is refused too; before that change, a requester without a valid credential was accepted.
A11 is different. A rewritten audit event changes its digest, but no part of the prototype compares the digest yet. 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The mint runs in the background, so the guardians and the doctor do not wait for it; a revoke makes the patient wait for the block.
Processing time is the time of each part of a decision. The five checks of the decision rule take about 6 microseconds, and checking one credential about 6 milliseconds. Checking one guardian signature takes about 11 milliseconds. The Groth16 proof is the slow part, about 1.4 seconds to generate and 0.47 seconds to verify.
The last row is the on-chain read. Reading the contract on Sepolia takes a little over half a second.
I measured the timings on 1 October 2026, in one container, and the decision rule and the credential check again on 11 October 2026. The gas, the fees and the latency come from the five Sepolia transactions of September 2026.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
In the table, the median is the middle value. The column n is how many times I measured each step. The symbol µs means microseconds, and ms means milliseconds.
The decision rule with its five checks takes about 6 microseconds, so the checks themselves cost almost nothing. Checking one credential takes about 6 milliseconds.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the mint runs in the background, so the guardians and the doctor do not wait for it; a revoke makes the patient wait for the block.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every access decision, allowed or denied, is logged off-chain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pseudonymous patient and requester addresses, a hash of the purpose, the validity window and a revocation flag. Pseudonymous means the address does not show a real name.
Access to data: records are released only when the decision is ALLOW, and only inside the authorised scope.
Audit: every access decision, allowed or denied, is saved in the off-chain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authorisation,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lists my research publications. Two papers were published in 2025 at the IEEE International Conference on E-Business Engineering, ICEBE. Three more papers have been accepted in 2026: one at ICEBE 2026 and two at BWCCA 2026. Paper 4, on trusted multi-party consent governance, comes from this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ran from July to October 2026 and is done.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ran from July to October 2026 and is done.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pseudonymous addresses, a hash of the purpose, the validity window and a revocation flag, and no medical content.
Possible question: What is new in this work? Multi-party approval is a standing condition of every access decision, and the patient defines who must approve. I tested the prototype against thirteen attack scenarios. Twelve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4-1.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cube 01"/>
          <p:cNvSpPr/>
          <p:nvPr/>
        </p:nvSpPr>
        <p:spPr>
          <a:xfrm>
            <a:off x="1060704" y="1965960"/>
            <a:ext cx="1097280" cy="731520"/>
          </a:xfrm>
          <a:prstGeom prst="cube">
            <a:avLst/>
          </a:prstGeom>
          <a:solidFill>
            <a:srgbClr val="285A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5" name="number 01"/>
          <p:cNvSpPr txBox="1"/>
          <p:nvPr/>
        </p:nvSpPr>
        <p:spPr>
          <a:xfrm>
            <a:off x="1060704" y="2148840"/>
            <a:ext cx="914400" cy="548640"/>
          </a:xfrm>
          <a:prstGeom prst="rect">
            <a:avLst/>
          </a:prstGeom>
          <a:noFill/>
          <a:ln/>
        </p:spPr>
        <p:txBody>
          <a:bodyPr wrap="square" rtlCol="0" anchor="ctr"/>
          <a:lstStyle/>
          <a:p>
            <a:pPr algn="ctr" indent="0" marL="0">
              <a:buNone/>
            </a:pPr>
            <a:r>
              <a:rPr lang="en-US" sz="1600" b="1" dirty="0">
                <a:solidFill>
                  <a:srgbClr val="FFFFFF"/>
                </a:solidFill>
              </a:rPr>
              <a:t>01</a:t>
            </a:r>
            <a:endParaRPr lang="en-US" sz="1600" dirty="0"/>
          </a:p>
        </p:txBody>
      </p:sp>
      <p:sp>
        <p:nvSpPr>
          <p:cNvPr id="6" name="item 01"/>
          <p:cNvSpPr txBox="1"/>
          <p:nvPr/>
        </p:nvSpPr>
        <p:spPr>
          <a:xfrm>
            <a:off x="2340864" y="2148840"/>
            <a:ext cx="4114800" cy="54864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cube 02"/>
          <p:cNvSpPr/>
          <p:nvPr/>
        </p:nvSpPr>
        <p:spPr>
          <a:xfrm>
            <a:off x="1060704" y="2743200"/>
            <a:ext cx="1097280" cy="731520"/>
          </a:xfrm>
          <a:prstGeom prst="cube">
            <a:avLst/>
          </a:prstGeom>
          <a:solidFill>
            <a:srgbClr val="2864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8" name="number 02"/>
          <p:cNvSpPr txBox="1"/>
          <p:nvPr/>
        </p:nvSpPr>
        <p:spPr>
          <a:xfrm>
            <a:off x="1060704" y="2926080"/>
            <a:ext cx="914400" cy="548640"/>
          </a:xfrm>
          <a:prstGeom prst="rect">
            <a:avLst/>
          </a:prstGeom>
          <a:noFill/>
          <a:ln/>
        </p:spPr>
        <p:txBody>
          <a:bodyPr wrap="square" rtlCol="0" anchor="ctr"/>
          <a:lstStyle/>
          <a:p>
            <a:pPr algn="ctr" indent="0" marL="0">
              <a:buNone/>
            </a:pPr>
            <a:r>
              <a:rPr lang="en-US" sz="1600" b="1" dirty="0">
                <a:solidFill>
                  <a:srgbClr val="FFFFFF"/>
                </a:solidFill>
              </a:rPr>
              <a:t>02</a:t>
            </a:r>
            <a:endParaRPr lang="en-US" sz="1600" dirty="0"/>
          </a:p>
        </p:txBody>
      </p:sp>
      <p:sp>
        <p:nvSpPr>
          <p:cNvPr id="9" name="item 02"/>
          <p:cNvSpPr txBox="1"/>
          <p:nvPr/>
        </p:nvSpPr>
        <p:spPr>
          <a:xfrm>
            <a:off x="2340864" y="2926080"/>
            <a:ext cx="4114800" cy="54864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cube 03"/>
          <p:cNvSpPr/>
          <p:nvPr/>
        </p:nvSpPr>
        <p:spPr>
          <a:xfrm>
            <a:off x="1060704" y="3520440"/>
            <a:ext cx="1097280" cy="731520"/>
          </a:xfrm>
          <a:prstGeom prst="cube">
            <a:avLst/>
          </a:prstGeom>
          <a:solidFill>
            <a:srgbClr val="286E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11" name="number 03"/>
          <p:cNvSpPr txBox="1"/>
          <p:nvPr/>
        </p:nvSpPr>
        <p:spPr>
          <a:xfrm>
            <a:off x="1060704" y="3703320"/>
            <a:ext cx="914400" cy="548640"/>
          </a:xfrm>
          <a:prstGeom prst="rect">
            <a:avLst/>
          </a:prstGeom>
          <a:noFill/>
          <a:ln/>
        </p:spPr>
        <p:txBody>
          <a:bodyPr wrap="square" rtlCol="0" anchor="ctr"/>
          <a:lstStyle/>
          <a:p>
            <a:pPr algn="ctr" indent="0" marL="0">
              <a:buNone/>
            </a:pPr>
            <a:r>
              <a:rPr lang="en-US" sz="1600" b="1" dirty="0">
                <a:solidFill>
                  <a:srgbClr val="FFFFFF"/>
                </a:solidFill>
              </a:rPr>
              <a:t>03</a:t>
            </a:r>
            <a:endParaRPr lang="en-US" sz="1600" dirty="0"/>
          </a:p>
        </p:txBody>
      </p:sp>
      <p:sp>
        <p:nvSpPr>
          <p:cNvPr id="12" name="item 03"/>
          <p:cNvSpPr txBox="1"/>
          <p:nvPr/>
        </p:nvSpPr>
        <p:spPr>
          <a:xfrm>
            <a:off x="2340864" y="3703320"/>
            <a:ext cx="4114800" cy="548640"/>
          </a:xfrm>
          <a:prstGeom prst="rect">
            <a:avLst/>
          </a:prstGeom>
          <a:noFill/>
          <a:ln/>
        </p:spPr>
        <p:txBody>
          <a:bodyPr wrap="square" rtlCol="0" anchor="ctr"/>
          <a:lstStyle/>
          <a:p>
            <a:pPr indent="0" marL="0">
              <a:buNone/>
            </a:pPr>
            <a:r>
              <a:rPr lang="en-US" sz="1800" b="1" dirty="0">
                <a:solidFill>
                  <a:srgbClr val="FFFFFF"/>
                </a:solidFill>
              </a:rPr>
              <a:t>RESEARCH GAP</a:t>
            </a:r>
            <a:endParaRPr lang="en-US" sz="1800" dirty="0"/>
          </a:p>
        </p:txBody>
      </p:sp>
      <p:sp>
        <p:nvSpPr>
          <p:cNvPr id="13" name="cube 04"/>
          <p:cNvSpPr/>
          <p:nvPr/>
        </p:nvSpPr>
        <p:spPr>
          <a:xfrm>
            <a:off x="1060704" y="4297680"/>
            <a:ext cx="1097280" cy="731520"/>
          </a:xfrm>
          <a:prstGeom prst="cube">
            <a:avLst/>
          </a:prstGeom>
          <a:solidFill>
            <a:srgbClr val="2878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14" name="number 04"/>
          <p:cNvSpPr txBox="1"/>
          <p:nvPr/>
        </p:nvSpPr>
        <p:spPr>
          <a:xfrm>
            <a:off x="1060704" y="4480560"/>
            <a:ext cx="914400" cy="548640"/>
          </a:xfrm>
          <a:prstGeom prst="rect">
            <a:avLst/>
          </a:prstGeom>
          <a:noFill/>
          <a:ln/>
        </p:spPr>
        <p:txBody>
          <a:bodyPr wrap="square" rtlCol="0" anchor="ctr"/>
          <a:lstStyle/>
          <a:p>
            <a:pPr algn="ctr" indent="0" marL="0">
              <a:buNone/>
            </a:pPr>
            <a:r>
              <a:rPr lang="en-US" sz="1600" b="1" dirty="0">
                <a:solidFill>
                  <a:srgbClr val="FFFFFF"/>
                </a:solidFill>
              </a:rPr>
              <a:t>04</a:t>
            </a:r>
            <a:endParaRPr lang="en-US" sz="1600" dirty="0"/>
          </a:p>
        </p:txBody>
      </p:sp>
      <p:sp>
        <p:nvSpPr>
          <p:cNvPr id="15" name="item 04"/>
          <p:cNvSpPr txBox="1"/>
          <p:nvPr/>
        </p:nvSpPr>
        <p:spPr>
          <a:xfrm>
            <a:off x="2340864" y="4480560"/>
            <a:ext cx="4114800" cy="54864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cube 05"/>
          <p:cNvSpPr/>
          <p:nvPr/>
        </p:nvSpPr>
        <p:spPr>
          <a:xfrm>
            <a:off x="1060704" y="5074920"/>
            <a:ext cx="1097280" cy="731520"/>
          </a:xfrm>
          <a:prstGeom prst="cube">
            <a:avLst/>
          </a:prstGeom>
          <a:solidFill>
            <a:srgbClr val="2882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17" name="number 05"/>
          <p:cNvSpPr txBox="1"/>
          <p:nvPr/>
        </p:nvSpPr>
        <p:spPr>
          <a:xfrm>
            <a:off x="1060704" y="5257800"/>
            <a:ext cx="914400" cy="548640"/>
          </a:xfrm>
          <a:prstGeom prst="rect">
            <a:avLst/>
          </a:prstGeom>
          <a:noFill/>
          <a:ln/>
        </p:spPr>
        <p:txBody>
          <a:bodyPr wrap="square" rtlCol="0" anchor="ctr"/>
          <a:lstStyle/>
          <a:p>
            <a:pPr algn="ctr" indent="0" marL="0">
              <a:buNone/>
            </a:pPr>
            <a:r>
              <a:rPr lang="en-US" sz="1600" b="1" dirty="0">
                <a:solidFill>
                  <a:srgbClr val="FFFFFF"/>
                </a:solidFill>
              </a:rPr>
              <a:t>05</a:t>
            </a:r>
            <a:endParaRPr lang="en-US" sz="1600" dirty="0"/>
          </a:p>
        </p:txBody>
      </p:sp>
      <p:sp>
        <p:nvSpPr>
          <p:cNvPr id="18" name="item 05"/>
          <p:cNvSpPr txBox="1"/>
          <p:nvPr/>
        </p:nvSpPr>
        <p:spPr>
          <a:xfrm>
            <a:off x="2340864" y="5257800"/>
            <a:ext cx="4114800" cy="54864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cube 06"/>
          <p:cNvSpPr/>
          <p:nvPr/>
        </p:nvSpPr>
        <p:spPr>
          <a:xfrm>
            <a:off x="6547104" y="1965960"/>
            <a:ext cx="1097280" cy="731520"/>
          </a:xfrm>
          <a:prstGeom prst="cube">
            <a:avLst/>
          </a:prstGeom>
          <a:solidFill>
            <a:srgbClr val="288C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0" name="number 06"/>
          <p:cNvSpPr txBox="1"/>
          <p:nvPr/>
        </p:nvSpPr>
        <p:spPr>
          <a:xfrm>
            <a:off x="6547104" y="2148840"/>
            <a:ext cx="914400" cy="548640"/>
          </a:xfrm>
          <a:prstGeom prst="rect">
            <a:avLst/>
          </a:prstGeom>
          <a:noFill/>
          <a:ln/>
        </p:spPr>
        <p:txBody>
          <a:bodyPr wrap="square" rtlCol="0" anchor="ctr"/>
          <a:lstStyle/>
          <a:p>
            <a:pPr algn="ctr" indent="0" marL="0">
              <a:buNone/>
            </a:pPr>
            <a:r>
              <a:rPr lang="en-US" sz="1600" b="1" dirty="0">
                <a:solidFill>
                  <a:srgbClr val="FFFFFF"/>
                </a:solidFill>
              </a:rPr>
              <a:t>06</a:t>
            </a:r>
            <a:endParaRPr lang="en-US" sz="1600" dirty="0"/>
          </a:p>
        </p:txBody>
      </p:sp>
      <p:sp>
        <p:nvSpPr>
          <p:cNvPr id="21" name="item 06"/>
          <p:cNvSpPr txBox="1"/>
          <p:nvPr/>
        </p:nvSpPr>
        <p:spPr>
          <a:xfrm>
            <a:off x="7827264" y="2148840"/>
            <a:ext cx="4206240" cy="548640"/>
          </a:xfrm>
          <a:prstGeom prst="rect">
            <a:avLst/>
          </a:prstGeom>
          <a:noFill/>
          <a:ln/>
        </p:spPr>
        <p:txBody>
          <a:bodyPr wrap="square" rtlCol="0" anchor="ctr"/>
          <a:lstStyle/>
          <a:p>
            <a:pPr indent="0" marL="0">
              <a:buNone/>
            </a:pPr>
            <a:r>
              <a:rPr lang="en-US" sz="1800" b="1" dirty="0">
                <a:solidFill>
                  <a:srgbClr val="FFFFFF"/>
                </a:solidFill>
              </a:rPr>
              <a:t>METHODOLOGY &amp; ARCHITECTURE</a:t>
            </a:r>
            <a:endParaRPr lang="en-US" sz="1800" dirty="0"/>
          </a:p>
        </p:txBody>
      </p:sp>
      <p:sp>
        <p:nvSpPr>
          <p:cNvPr id="22" name="cube 07"/>
          <p:cNvSpPr/>
          <p:nvPr/>
        </p:nvSpPr>
        <p:spPr>
          <a:xfrm>
            <a:off x="6547104" y="2743200"/>
            <a:ext cx="1097280" cy="731520"/>
          </a:xfrm>
          <a:prstGeom prst="cube">
            <a:avLst/>
          </a:prstGeom>
          <a:solidFill>
            <a:srgbClr val="2896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3" name="number 07"/>
          <p:cNvSpPr txBox="1"/>
          <p:nvPr/>
        </p:nvSpPr>
        <p:spPr>
          <a:xfrm>
            <a:off x="6547104" y="2926080"/>
            <a:ext cx="914400" cy="548640"/>
          </a:xfrm>
          <a:prstGeom prst="rect">
            <a:avLst/>
          </a:prstGeom>
          <a:noFill/>
          <a:ln/>
        </p:spPr>
        <p:txBody>
          <a:bodyPr wrap="square" rtlCol="0" anchor="ctr"/>
          <a:lstStyle/>
          <a:p>
            <a:pPr algn="ctr" indent="0" marL="0">
              <a:buNone/>
            </a:pPr>
            <a:r>
              <a:rPr lang="en-US" sz="1600" b="1" dirty="0">
                <a:solidFill>
                  <a:srgbClr val="FFFFFF"/>
                </a:solidFill>
              </a:rPr>
              <a:t>07</a:t>
            </a:r>
            <a:endParaRPr lang="en-US" sz="1600" dirty="0"/>
          </a:p>
        </p:txBody>
      </p:sp>
      <p:sp>
        <p:nvSpPr>
          <p:cNvPr id="24" name="item 07"/>
          <p:cNvSpPr txBox="1"/>
          <p:nvPr/>
        </p:nvSpPr>
        <p:spPr>
          <a:xfrm>
            <a:off x="7827264" y="2926080"/>
            <a:ext cx="4206240" cy="54864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cube 08"/>
          <p:cNvSpPr/>
          <p:nvPr/>
        </p:nvSpPr>
        <p:spPr>
          <a:xfrm>
            <a:off x="6547104" y="3520440"/>
            <a:ext cx="1097280" cy="731520"/>
          </a:xfrm>
          <a:prstGeom prst="cube">
            <a:avLst/>
          </a:prstGeom>
          <a:solidFill>
            <a:srgbClr val="28A0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6" name="number 08"/>
          <p:cNvSpPr txBox="1"/>
          <p:nvPr/>
        </p:nvSpPr>
        <p:spPr>
          <a:xfrm>
            <a:off x="6547104" y="3703320"/>
            <a:ext cx="914400" cy="548640"/>
          </a:xfrm>
          <a:prstGeom prst="rect">
            <a:avLst/>
          </a:prstGeom>
          <a:noFill/>
          <a:ln/>
        </p:spPr>
        <p:txBody>
          <a:bodyPr wrap="square" rtlCol="0" anchor="ctr"/>
          <a:lstStyle/>
          <a:p>
            <a:pPr algn="ctr" indent="0" marL="0">
              <a:buNone/>
            </a:pPr>
            <a:r>
              <a:rPr lang="en-US" sz="1600" b="1" dirty="0">
                <a:solidFill>
                  <a:srgbClr val="FFFFFF"/>
                </a:solidFill>
              </a:rPr>
              <a:t>08</a:t>
            </a:r>
            <a:endParaRPr lang="en-US" sz="1600" dirty="0"/>
          </a:p>
        </p:txBody>
      </p:sp>
      <p:sp>
        <p:nvSpPr>
          <p:cNvPr id="27" name="item 08"/>
          <p:cNvSpPr txBox="1"/>
          <p:nvPr/>
        </p:nvSpPr>
        <p:spPr>
          <a:xfrm>
            <a:off x="7827264" y="3703320"/>
            <a:ext cx="4206240" cy="548640"/>
          </a:xfrm>
          <a:prstGeom prst="rect">
            <a:avLst/>
          </a:prstGeom>
          <a:noFill/>
          <a:ln/>
        </p:spPr>
        <p:txBody>
          <a:bodyPr wrap="square" rtlCol="0" anchor="ctr"/>
          <a:lstStyle/>
          <a:p>
            <a:pPr indent="0" marL="0">
              <a:buNone/>
            </a:pPr>
            <a:r>
              <a:rPr lang="en-US" sz="1800" b="1" dirty="0">
                <a:solidFill>
                  <a:srgbClr val="FFFFFF"/>
                </a:solidFill>
              </a:rPr>
              <a:t>IMPLEMENTATION &amp; EVALUATION</a:t>
            </a:r>
            <a:endParaRPr lang="en-US" sz="1800" dirty="0"/>
          </a:p>
        </p:txBody>
      </p:sp>
      <p:sp>
        <p:nvSpPr>
          <p:cNvPr id="28" name="cube 09"/>
          <p:cNvSpPr/>
          <p:nvPr/>
        </p:nvSpPr>
        <p:spPr>
          <a:xfrm>
            <a:off x="6547104" y="4297680"/>
            <a:ext cx="1097280" cy="731520"/>
          </a:xfrm>
          <a:prstGeom prst="cube">
            <a:avLst/>
          </a:prstGeom>
          <a:solidFill>
            <a:srgbClr val="28AA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9" name="number 09"/>
          <p:cNvSpPr txBox="1"/>
          <p:nvPr/>
        </p:nvSpPr>
        <p:spPr>
          <a:xfrm>
            <a:off x="6547104" y="4480560"/>
            <a:ext cx="914400" cy="548640"/>
          </a:xfrm>
          <a:prstGeom prst="rect">
            <a:avLst/>
          </a:prstGeom>
          <a:noFill/>
          <a:ln/>
        </p:spPr>
        <p:txBody>
          <a:bodyPr wrap="square" rtlCol="0" anchor="ctr"/>
          <a:lstStyle/>
          <a:p>
            <a:pPr algn="ctr" indent="0" marL="0">
              <a:buNone/>
            </a:pPr>
            <a:r>
              <a:rPr lang="en-US" sz="1600" b="1" dirty="0">
                <a:solidFill>
                  <a:srgbClr val="FFFFFF"/>
                </a:solidFill>
              </a:rPr>
              <a:t>09</a:t>
            </a:r>
            <a:endParaRPr lang="en-US" sz="1600" dirty="0"/>
          </a:p>
        </p:txBody>
      </p:sp>
      <p:sp>
        <p:nvSpPr>
          <p:cNvPr id="30" name="item 09"/>
          <p:cNvSpPr txBox="1"/>
          <p:nvPr/>
        </p:nvSpPr>
        <p:spPr>
          <a:xfrm>
            <a:off x="7827264" y="4480560"/>
            <a:ext cx="4206240" cy="54864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cube 10"/>
          <p:cNvSpPr/>
          <p:nvPr/>
        </p:nvSpPr>
        <p:spPr>
          <a:xfrm>
            <a:off x="6547104" y="5074920"/>
            <a:ext cx="1097280" cy="731520"/>
          </a:xfrm>
          <a:prstGeom prst="cube">
            <a:avLst/>
          </a:prstGeom>
          <a:solidFill>
            <a:srgbClr val="28B4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32" name="number 10"/>
          <p:cNvSpPr txBox="1"/>
          <p:nvPr/>
        </p:nvSpPr>
        <p:spPr>
          <a:xfrm>
            <a:off x="6547104" y="5257800"/>
            <a:ext cx="914400" cy="548640"/>
          </a:xfrm>
          <a:prstGeom prst="rect">
            <a:avLst/>
          </a:prstGeom>
          <a:noFill/>
          <a:ln/>
        </p:spPr>
        <p:txBody>
          <a:bodyPr wrap="square" rtlCol="0" anchor="ctr"/>
          <a:lstStyle/>
          <a:p>
            <a:pPr algn="ctr" indent="0" marL="0">
              <a:buNone/>
            </a:pPr>
            <a:r>
              <a:rPr lang="en-US" sz="1600" b="1" dirty="0">
                <a:solidFill>
                  <a:srgbClr val="FFFFFF"/>
                </a:solidFill>
              </a:rPr>
              <a:t>10</a:t>
            </a:r>
            <a:endParaRPr lang="en-US" sz="1600" dirty="0"/>
          </a:p>
        </p:txBody>
      </p:sp>
      <p:sp>
        <p:nvSpPr>
          <p:cNvPr id="33" name="item 10"/>
          <p:cNvSpPr txBox="1"/>
          <p:nvPr/>
        </p:nvSpPr>
        <p:spPr>
          <a:xfrm>
            <a:off x="7827264" y="5257800"/>
            <a:ext cx="4206240" cy="548640"/>
          </a:xfrm>
          <a:prstGeom prst="rect">
            <a:avLst/>
          </a:prstGeom>
          <a:noFill/>
          <a:ln/>
        </p:spPr>
        <p:txBody>
          <a:bodyPr wrap="square" rtlCol="0" anchor="ctr"/>
          <a:lstStyle/>
          <a:p>
            <a:pPr indent="0" marL="0">
              <a:buNone/>
            </a:pPr>
            <a:r>
              <a:rPr lang="en-US" sz="1800" b="1" dirty="0">
                <a:solidFill>
                  <a:srgbClr val="FFFFFF"/>
                </a:solidFill>
              </a:rPr>
              <a:t>PUBLICATIONS, PLAN &amp; 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FFFFFF"/>
                </a:solidFill>
              </a:rPr>
              <a:t>Authorisation</a:t>
            </a:r>
            <a:r>
              <a:rPr lang="en-US" sz="1500" dirty="0">
                <a:solidFill>
                  <a:srgbClr val="FFFFFF"/>
                </a:solidFill>
              </a:rPr>
              <a:t> (A: guardian set G, threshold N) · Policy (P: purpose, scope) · Time (T) · </a:t>
            </a:r>
            <a:r>
              <a:rPr lang="en-US" sz="1500" dirty="0">
                <a:solidFill>
                  <a:srgbClr val="FFFFFF"/>
                </a:solidFill>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FFFFFF"/>
                </a:solidFill>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ALG1.png">    </p:cNvPr>
          <p:cNvPicPr>
            <a:picLocks noChangeAspect="1"/>
          </p:cNvPicPr>
          <p:nvPr/>
        </p:nvPicPr>
        <p:blipFill>
          <a:blip r:embed="rId1"/>
          <a:stretch>
            <a:fillRect/>
          </a:stretch>
        </p:blipFill>
        <p:spPr>
          <a:xfrm>
            <a:off x="6144768" y="1855182"/>
            <a:ext cx="5495544"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participant's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VI(u) = VerifyDID(u) ∧ VerifyVC(u) ∧ Authority(u, C).</a:t>
            </a:r>
            <a:endParaRPr lang="en-US" sz="1500" dirty="0"/>
          </a:p>
          <a:p>
            <a:pPr marL="342900" indent="-342900">
              <a:spcAft>
                <a:spcPts val="1000"/>
              </a:spcAft>
              <a:buSzPct val="100000"/>
              <a:buChar char="•"/>
            </a:pPr>
            <a:r>
              <a:rPr lang="en-US" sz="1500" dirty="0">
                <a:solidFill>
                  <a:srgbClr val="FFFFFF"/>
                </a:solidFill>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FFFFFF"/>
                </a:solidFill>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ALG2.png">    </p:cNvPr>
          <p:cNvPicPr>
            <a:picLocks noChangeAspect="1"/>
          </p:cNvPicPr>
          <p:nvPr/>
        </p:nvPicPr>
        <p:blipFill>
          <a:blip r:embed="rId1"/>
          <a:stretch>
            <a:fillRect/>
          </a:stretch>
        </p:blipFill>
        <p:spPr>
          <a:xfrm>
            <a:off x="6405761" y="1069848"/>
            <a:ext cx="497355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verified by signature recovery.</a:t>
            </a:r>
            <a:endParaRPr lang="en-US" sz="1450" dirty="0"/>
          </a:p>
          <a:p>
            <a:pPr marL="342900" indent="-342900">
              <a:spcAft>
                <a:spcPts val="1000"/>
              </a:spcAft>
              <a:buSzPct val="100000"/>
              <a:buChar char="•"/>
            </a:pPr>
            <a:r>
              <a:rPr lang="en-US" sz="1450" dirty="0">
                <a:solidFill>
                  <a:srgbClr val="FFFFFF"/>
                </a:solidFill>
              </a:rPr>
              <a:t>Approvals from outside G and duplicate approvals are not counted; a replayed signature fails the identity check (VI).</a:t>
            </a:r>
            <a:endParaRPr lang="en-US" sz="1450" dirty="0"/>
          </a:p>
          <a:p>
            <a:pPr marL="342900" indent="-342900">
              <a:spcAft>
                <a:spcPts val="1000"/>
              </a:spcAft>
              <a:buSzPct val="100000"/>
              <a:buChar char="•"/>
            </a:pPr>
            <a:r>
              <a:rPr lang="en-US" sz="1450" dirty="0">
                <a:solidFill>
                  <a:srgbClr val="FFFFFF"/>
                </a:solidFill>
              </a:rPr>
              <a:t>N-of-N rule: a valid signature from every listed guardian (2-of-2 in the demo).</a:t>
            </a:r>
            <a:endParaRPr lang="en-US" sz="1450" dirty="0"/>
          </a:p>
          <a:p>
            <a:pPr marL="342900" indent="-342900">
              <a:spcAft>
                <a:spcPts val="1000"/>
              </a:spcAft>
              <a:buSzPct val="100000"/>
              <a:buChar char="•"/>
            </a:pPr>
            <a:r>
              <a:rPr lang="en-US" sz="1450" dirty="0">
                <a:solidFill>
                  <a:srgbClr val="FFFFFF"/>
                </a:solidFill>
              </a:rPr>
              <a:t>When the threshold is met, a local token is recorded and the mint is anchored on Sepolia in the background.</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ALG3.png">    </p:cNvPr>
          <p:cNvPicPr>
            <a:picLocks noChangeAspect="1"/>
          </p:cNvPicPr>
          <p:nvPr/>
        </p:nvPicPr>
        <p:blipFill>
          <a:blip r:embed="rId1"/>
          <a:stretch>
            <a:fillRect/>
          </a:stretch>
        </p:blipFill>
        <p:spPr>
          <a:xfrm>
            <a:off x="6741964" y="1069848"/>
            <a:ext cx="4301152"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 scope SR must be a non-empty subset of the authorised scope SC.</a:t>
            </a:r>
            <a:endParaRPr lang="en-US" sz="1550" dirty="0"/>
          </a:p>
          <a:p>
            <a:pPr marL="342900" indent="-342900">
              <a:spcAft>
                <a:spcPts val="1000"/>
              </a:spcAft>
              <a:buSzPct val="100000"/>
              <a:buChar char="•"/>
            </a:pPr>
            <a:r>
              <a:rPr lang="en-US" sz="1550" dirty="0">
                <a:solidFill>
                  <a:srgbClr val="FFFFFF"/>
                </a:solidFill>
              </a:rPr>
              <a:t>The purpose must be a supported healthcare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FFFFFF"/>
                </a:solidFill>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 otherwise DENY.</a:t>
            </a:r>
            <a:endParaRPr lang="en-US" sz="1550" dirty="0"/>
          </a:p>
          <a:p>
            <a:pPr marL="342900" indent="-342900">
              <a:spcAft>
                <a:spcPts val="1000"/>
              </a:spcAft>
              <a:buSzPct val="100000"/>
              <a:buChar char="•"/>
            </a:pPr>
            <a:r>
              <a:rPr lang="en-US" sz="1550" dirty="0">
                <a:solidFill>
                  <a:srgbClr val="FFFFFF"/>
                </a:solidFill>
              </a:rPr>
              <a:t>Example: requesting Procedure when only Observation and Medication are allowed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ALG4.png">    </p:cNvPr>
          <p:cNvPicPr>
            <a:picLocks noChangeAspect="1"/>
          </p:cNvPicPr>
          <p:nvPr/>
        </p:nvPicPr>
        <p:blipFill>
          <a:blip r:embed="rId1"/>
          <a:stretch>
            <a:fillRect/>
          </a:stretch>
        </p:blipFill>
        <p:spPr>
          <a:xfrm>
            <a:off x="6761547" y="1069848"/>
            <a:ext cx="42619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The validity window (notBefore, expiry) is stored on-chain and checked at every request through VT.</a:t>
            </a:r>
            <a:endParaRPr lang="en-US" sz="1350" dirty="0"/>
          </a:p>
          <a:p>
            <a:pPr marL="342900" indent="-342900">
              <a:spcAft>
                <a:spcPts val="1000"/>
              </a:spcAft>
              <a:buSzPct val="100000"/>
              <a:buChar char="•"/>
            </a:pPr>
            <a:r>
              <a:rPr lang="en-US" sz="1350" dirty="0">
                <a:solidFill>
                  <a:srgbClr val="FFFFFF"/>
                </a:solidFill>
              </a:rPr>
              <a:t>Revocation is end to end, including an on-chain revoke transaction.</a:t>
            </a:r>
            <a:endParaRPr lang="en-US" sz="1350" dirty="0"/>
          </a:p>
          <a:p>
            <a:pPr marL="342900" indent="-342900">
              <a:spcAft>
                <a:spcPts val="1000"/>
              </a:spcAft>
              <a:buSzPct val="100000"/>
              <a:buChar char="•"/>
            </a:pPr>
            <a:r>
              <a:rPr lang="en-US" sz="1350" dirty="0">
                <a:solidFill>
                  <a:srgbClr val="FFFFFF"/>
                </a:solidFill>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an</a:t>
            </a:r>
            <a:r>
              <a:rPr lang="en-US" sz="1350" dirty="0">
                <a:solidFill>
                  <a:srgbClr val="FFFFFF"/>
                </a:solidFill>
              </a:rPr>
              <a:t> explicit lifecycle state machine: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FFFFFF"/>
                </a:solidFill>
              </a:rPr>
              <a:t>the SUSPENDED state,</a:t>
            </a:r>
            <a:r>
              <a:rPr lang="en-US" sz="1350" dirty="0">
                <a:solidFill>
                  <a:srgbClr val="FFFFFF"/>
                </a:solidFill>
              </a:rPr>
              <a:t>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ALG5.png">    </p:cNvPr>
          <p:cNvPicPr>
            <a:picLocks noChangeAspect="1"/>
          </p:cNvPicPr>
          <p:nvPr/>
        </p:nvPicPr>
        <p:blipFill>
          <a:blip r:embed="rId1"/>
          <a:stretch>
            <a:fillRect/>
          </a:stretch>
        </p:blipFill>
        <p:spPr>
          <a:xfrm>
            <a:off x="6357807" y="1069848"/>
            <a:ext cx="506946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6144768" y="1829116"/>
            <a:ext cx="5495544"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F27x.png">    </p:cNvPr>
          <p:cNvPicPr>
            <a:picLocks noChangeAspect="1"/>
          </p:cNvPicPr>
          <p:nvPr/>
        </p:nvPicPr>
        <p:blipFill>
          <a:blip r:embed="rId1"/>
          <a:stretch>
            <a:fillRect/>
          </a:stretch>
        </p:blipFill>
        <p:spPr>
          <a:xfrm>
            <a:off x="3008376" y="1392793"/>
            <a:ext cx="6181344" cy="4072415"/>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207811"/>
            <a:ext cx="6364224" cy="5192187"/>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PUBLICATIONS</a:t>
            </a:r>
            <a:endParaRPr lang="en-US" sz="3000" dirty="0"/>
          </a:p>
        </p:txBody>
      </p:sp>
      <p:graphicFrame>
        <p:nvGraphicFramePr>
          <p:cNvPr id="44"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5394960"/>
                <a:gridCol w="3108960"/>
                <a:gridCol w="731520"/>
                <a:gridCol w="1371600"/>
              </a:tblGrid>
              <a:tr h="777240">
                <a:tc>
                  <a:txBody>
                    <a:bodyPr/>
                    <a:lstStyle/>
                    <a:p>
                      <a:pPr algn="ctr" indent="0" marL="0">
                        <a:buNone/>
                      </a:pPr>
                      <a:r>
                        <a:rPr lang="en-US" sz="1400" b="1" dirty="0">
                          <a:solidFill>
                            <a:srgbClr val="FFFFFF"/>
                          </a:solidFill>
                        </a:rPr>
                        <a:t>#</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Title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Venue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Year</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Status</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algn="ctr" indent="0" marL="0">
                        <a:buNone/>
                      </a:pPr>
                      <a:r>
                        <a:rPr lang="en-US" sz="1350" b="1" dirty="0">
                          <a:solidFill>
                            <a:srgbClr val="0B1F33"/>
                          </a:solidFill>
                        </a:rPr>
                        <a:t>1</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Blockchain-Based Framework for Evaluating User Identity Trustworthiness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2</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Blockchain-Based Reputation Borrowing Model to Address the Cold Start Problem for New Users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3</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Smart Contract-Governed Lifecycle Protocol for Reputation Borrowing in Blockchain-Based Real Estate Platforms</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ICEBE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4</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Trusted Multi-Party Consent Governance Framework for Decentralized Multi-Stakeholder Data Sharing</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Blockchain-Based Reputation Provenance Tracing for Newcomer Bootstrapping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a:t>
            </a:r>
            <a:r>
              <a:rPr lang="en-US" sz="1000" i="1" dirty="0">
                <a:solidFill>
                  <a:srgbClr val="0B1F33"/>
                </a:solidFill>
              </a:rPr>
              <a:t>IEEE Access</a:t>
            </a:r>
            <a:r>
              <a:rPr lang="en-US" sz="1000" dirty="0">
                <a:solidFill>
                  <a:srgbClr val="0B1F33"/>
                </a:solidFill>
              </a:rPr>
              <a:t>,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a:t>
            </a:r>
            <a:r>
              <a:rPr lang="en-US" sz="1000" i="1" dirty="0">
                <a:solidFill>
                  <a:srgbClr val="0B1F33"/>
                </a:solidFill>
              </a:rPr>
              <a:t>Proceedings of the 20th International Conference on Security and Cryptography (SECRYPT 2023)</a:t>
            </a:r>
            <a:r>
              <a:rPr lang="en-US" sz="1000" dirty="0">
                <a:solidFill>
                  <a:srgbClr val="0B1F33"/>
                </a:solidFill>
              </a:rPr>
              <a:t>,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a:t>
            </a:r>
            <a:r>
              <a:rPr lang="en-US" sz="1000" i="1" dirty="0">
                <a:solidFill>
                  <a:srgbClr val="0B1F33"/>
                </a:solidFill>
              </a:rPr>
              <a:t>JMIR Medical Informatics</a:t>
            </a:r>
            <a:r>
              <a:rPr lang="en-US" sz="1000" dirty="0">
                <a:solidFill>
                  <a:srgbClr val="0B1F33"/>
                </a:solidFill>
              </a:rPr>
              <a:t>, vol. 9, no. 11, p. e27816, &lt;https://doi.org/10.2196/27816&gt;.</a:t>
            </a:r>
            <a:endParaRPr lang="en-US" sz="1000" dirty="0"/>
          </a:p>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a:t>
            </a:r>
            <a:r>
              <a:rPr lang="en-US" sz="1000" i="1" dirty="0">
                <a:solidFill>
                  <a:srgbClr val="0B1F33"/>
                </a:solidFill>
              </a:rPr>
              <a:t>Scientific Reports</a:t>
            </a:r>
            <a:r>
              <a:rPr lang="en-US" sz="1000" dirty="0">
                <a:solidFill>
                  <a:srgbClr val="0B1F33"/>
                </a:solidFill>
              </a:rPr>
              <a:t>,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a:t>
            </a:r>
            <a:r>
              <a:rPr lang="en-US" sz="1000" i="1" dirty="0">
                <a:solidFill>
                  <a:srgbClr val="0B1F33"/>
                </a:solidFill>
              </a:rPr>
              <a:t>2026 IEEE International Conference on Blockchain and Cryptocurrency (ICBC)</a:t>
            </a:r>
            <a:r>
              <a:rPr lang="en-US" sz="1000" dirty="0">
                <a:solidFill>
                  <a:srgbClr val="0B1F33"/>
                </a:solidFill>
              </a:rPr>
              <a:t>,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a:t>
            </a:r>
            <a:r>
              <a:rPr lang="en-US" sz="1000" i="1" dirty="0">
                <a:solidFill>
                  <a:srgbClr val="0B1F33"/>
                </a:solidFill>
              </a:rPr>
              <a:t>International Journal of Medical Informatics</a:t>
            </a:r>
            <a:r>
              <a:rPr lang="en-US" sz="1000" dirty="0">
                <a:solidFill>
                  <a:srgbClr val="0B1F33"/>
                </a:solidFill>
              </a:rPr>
              <a:t>,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a:t>
            </a:r>
            <a:r>
              <a:rPr lang="en-US" sz="1000" i="1" dirty="0">
                <a:solidFill>
                  <a:srgbClr val="0B1F33"/>
                </a:solidFill>
              </a:rPr>
              <a:t>2026 6th International Conference on Expert Clouds and Applications (ICOECA)</a:t>
            </a:r>
            <a:r>
              <a:rPr lang="en-US" sz="1000" dirty="0">
                <a:solidFill>
                  <a:srgbClr val="0B1F33"/>
                </a:solidFill>
              </a:rPr>
              <a:t>, pp. 293–300, &lt;https://doi.org/10.1109/ICOECA68095.2026.11485301&gt;.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a:t>
            </a:r>
            <a:r>
              <a:rPr lang="en-US" sz="1000" i="1" dirty="0">
                <a:solidFill>
                  <a:srgbClr val="0B1F33"/>
                </a:solidFill>
              </a:rPr>
              <a:t>IEEE Access</a:t>
            </a:r>
            <a:r>
              <a:rPr lang="en-US" sz="1000" dirty="0">
                <a:solidFill>
                  <a:srgbClr val="0B1F33"/>
                </a:solidFill>
              </a:rPr>
              <a:t>,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a:t>
            </a:r>
            <a:r>
              <a:rPr lang="en-US" sz="1000" i="1" dirty="0">
                <a:solidFill>
                  <a:srgbClr val="0B1F33"/>
                </a:solidFill>
              </a:rPr>
              <a:t>IEEE Internet of Things Journal</a:t>
            </a:r>
            <a:r>
              <a:rPr lang="en-US" sz="1000" dirty="0">
                <a:solidFill>
                  <a:srgbClr val="0B1F33"/>
                </a:solidFill>
              </a:rPr>
              <a:t>,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a:t>
            </a:r>
            <a:r>
              <a:rPr lang="en-US" sz="1000" i="1" dirty="0">
                <a:solidFill>
                  <a:srgbClr val="0B1F33"/>
                </a:solidFill>
              </a:rPr>
              <a:t>IEEE Access</a:t>
            </a:r>
            <a:r>
              <a:rPr lang="en-US" sz="1000" dirty="0">
                <a:solidFill>
                  <a:srgbClr val="0B1F33"/>
                </a:solidFill>
              </a:rPr>
              <a:t>,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a:t>
            </a:r>
            <a:r>
              <a:rPr lang="en-US" sz="1000" i="1" dirty="0">
                <a:solidFill>
                  <a:srgbClr val="0B1F33"/>
                </a:solidFill>
              </a:rPr>
              <a:t>IEEE Transactions on Network and Service Management</a:t>
            </a:r>
            <a:r>
              <a:rPr lang="en-US" sz="1000" dirty="0">
                <a:solidFill>
                  <a:srgbClr val="0B1F33"/>
                </a:solidFill>
              </a:rPr>
              <a: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a:t>
            </a:r>
            <a:r>
              <a:rPr lang="en-US" sz="1000" i="1" dirty="0">
                <a:solidFill>
                  <a:srgbClr val="0B1F33"/>
                </a:solidFill>
              </a:rPr>
              <a:t>IEEE Internet of Things Journal</a:t>
            </a:r>
            <a:r>
              <a:rPr lang="en-US" sz="1000" dirty="0">
                <a:solidFill>
                  <a:srgbClr val="0B1F33"/>
                </a:solidFill>
              </a:rPr>
              <a:t>,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a:t>
            </a:r>
            <a:r>
              <a:rPr lang="en-US" sz="1000" i="1" dirty="0">
                <a:solidFill>
                  <a:srgbClr val="0B1F33"/>
                </a:solidFill>
              </a:rPr>
              <a:t>Electronics</a:t>
            </a:r>
            <a:r>
              <a:rPr lang="en-US" sz="1000" dirty="0">
                <a:solidFill>
                  <a:srgbClr val="0B1F33"/>
                </a:solidFill>
              </a:rPr>
              <a:t>,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a:t>
            </a:r>
            <a:r>
              <a:rPr lang="en-US" sz="1000" i="1" dirty="0">
                <a:solidFill>
                  <a:srgbClr val="0B1F33"/>
                </a:solidFill>
              </a:rPr>
              <a:t>Blockchain in Healthcare Today</a:t>
            </a:r>
            <a:r>
              <a:rPr lang="en-US" sz="1000" dirty="0">
                <a:solidFill>
                  <a:srgbClr val="0B1F33"/>
                </a:solidFill>
              </a:rPr>
              <a:t>,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a:t>
            </a:r>
            <a:r>
              <a:rPr lang="en-US" sz="1000" i="1" dirty="0">
                <a:solidFill>
                  <a:srgbClr val="0B1F33"/>
                </a:solidFill>
              </a:rPr>
              <a:t>IEEE Access</a:t>
            </a:r>
            <a:r>
              <a:rPr lang="en-US" sz="1000" dirty="0">
                <a:solidFill>
                  <a:srgbClr val="0B1F33"/>
                </a:solidFill>
              </a:rPr>
              <a:t>,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a:t>
            </a:r>
            <a:r>
              <a:rPr lang="en-US" sz="1000" i="1" dirty="0">
                <a:solidFill>
                  <a:srgbClr val="0B1F33"/>
                </a:solidFill>
              </a:rPr>
              <a:t>Journal of Cloud Computing</a:t>
            </a:r>
            <a:r>
              <a:rPr lang="en-US" sz="1000" dirty="0">
                <a:solidFill>
                  <a:srgbClr val="0B1F33"/>
                </a:solidFill>
              </a:rPr>
              <a:t>,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a:t>
            </a:r>
            <a:r>
              <a:rPr lang="en-US" sz="1000" i="1" dirty="0">
                <a:solidFill>
                  <a:srgbClr val="0B1F33"/>
                </a:solidFill>
              </a:rPr>
              <a:t>IEEE Access</a:t>
            </a:r>
            <a:r>
              <a:rPr lang="en-US" sz="1000" dirty="0">
                <a:solidFill>
                  <a:srgbClr val="0B1F33"/>
                </a:solidFill>
              </a:rPr>
              <a:t>, vol. 11, pp. 12727–12741, &lt;https://doi.org/10.1109/ACCESS.2023.3242605&gt;.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a:t>
            </a:r>
            <a:r>
              <a:rPr lang="en-US" sz="1000" i="1" dirty="0">
                <a:solidFill>
                  <a:srgbClr val="0B1F33"/>
                </a:solidFill>
              </a:rPr>
              <a:t>JAMIA Open</a:t>
            </a:r>
            <a:r>
              <a:rPr lang="en-US" sz="1000" dirty="0">
                <a:solidFill>
                  <a:srgbClr val="0B1F33"/>
                </a:solidFill>
              </a:rPr>
              <a:t>,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a:t>
            </a:r>
            <a:r>
              <a:rPr lang="en-US" sz="1000" i="1" dirty="0">
                <a:solidFill>
                  <a:srgbClr val="0B1F33"/>
                </a:solidFill>
              </a:rPr>
              <a:t>Wireless Networks</a:t>
            </a:r>
            <a:r>
              <a:rPr lang="en-US" sz="1000" dirty="0">
                <a:solidFill>
                  <a:srgbClr val="0B1F33"/>
                </a:solidFill>
              </a:rPr>
              <a:t>,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a:t>
            </a:r>
            <a:r>
              <a:rPr lang="en-US" sz="1000" i="1" dirty="0">
                <a:solidFill>
                  <a:srgbClr val="0B1F33"/>
                </a:solidFill>
              </a:rPr>
              <a:t>Healthcare Informatics Research</a:t>
            </a:r>
            <a:r>
              <a:rPr lang="en-US" sz="1000" dirty="0">
                <a:solidFill>
                  <a:srgbClr val="0B1F33"/>
                </a:solidFill>
              </a:rPr>
              <a:t>,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a:t>
            </a:r>
            <a:r>
              <a:rPr lang="en-US" sz="1000" i="1" dirty="0">
                <a:solidFill>
                  <a:srgbClr val="0B1F33"/>
                </a:solidFill>
              </a:rPr>
              <a:t>Patterns</a:t>
            </a:r>
            <a:r>
              <a:rPr lang="en-US" sz="1000" dirty="0">
                <a:solidFill>
                  <a:srgbClr val="0B1F33"/>
                </a:solidFill>
              </a:rPr>
              <a:t>,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a:t>
            </a:r>
            <a:r>
              <a:rPr lang="en-US" sz="1000" i="1" dirty="0">
                <a:solidFill>
                  <a:srgbClr val="0B1F33"/>
                </a:solidFill>
              </a:rPr>
              <a:t>Technologies</a:t>
            </a:r>
            <a:r>
              <a:rPr lang="en-US" sz="1000" dirty="0">
                <a:solidFill>
                  <a:srgbClr val="0B1F33"/>
                </a:solidFill>
              </a:rPr>
              <a:t>,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a:t>
            </a:r>
            <a:r>
              <a:rPr lang="en-US" sz="1000" i="1" dirty="0">
                <a:solidFill>
                  <a:srgbClr val="0B1F33"/>
                </a:solidFill>
              </a:rPr>
              <a:t>Proceedings of the International Conference on Deep Learning, Big Data and Blockchain (DBB 2022), LNNS</a:t>
            </a:r>
            <a:r>
              <a:rPr lang="en-US" sz="1000" dirty="0">
                <a:solidFill>
                  <a:srgbClr val="0B1F33"/>
                </a:solidFill>
              </a:rPr>
              <a:t>,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a:t>
            </a:r>
            <a:r>
              <a:rPr lang="en-US" sz="1000" i="1" dirty="0">
                <a:solidFill>
                  <a:srgbClr val="0B1F33"/>
                </a:solidFill>
              </a:rPr>
              <a:t>Computer Standards &amp; Interfaces</a:t>
            </a:r>
            <a:r>
              <a:rPr lang="en-US" sz="1000" dirty="0">
                <a:solidFill>
                  <a:srgbClr val="0B1F33"/>
                </a:solidFill>
              </a:rPr>
              <a:t>,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a:t>
            </a:r>
            <a:r>
              <a:rPr lang="en-US" sz="1000" i="1" dirty="0">
                <a:solidFill>
                  <a:srgbClr val="0B1F33"/>
                </a:solidFill>
              </a:rPr>
              <a:t>Computers &amp; Security</a:t>
            </a:r>
            <a:r>
              <a:rPr lang="en-US" sz="1000" dirty="0">
                <a:solidFill>
                  <a:srgbClr val="0B1F33"/>
                </a:solidFill>
              </a:rPr>
              <a:t>,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2026-10-12T13:42:36Z</dcterms:created>
  <dcterms:modified xsi:type="dcterms:W3CDTF">2026-10-12T13:42:36Z</dcterms:modified>
</cp:coreProperties>
</file>
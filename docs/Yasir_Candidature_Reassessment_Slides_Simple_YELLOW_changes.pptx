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1d15a193-3387-6e07-777a-a9dab58d7702}">
          <p14:sldIdLst>
            <p14:sldId id="256"/>
            <p14:sldId id="257"/>
          </p14:sldIdLst>
        </p14:section>
        <p14:section name="The Problem" id="{b85aecfa-8e8c-780f-4894-e6f531b5510c}">
          <p14:sldIdLst>
            <p14:sldId id="258"/>
            <p14:sldId id="259"/>
          </p14:sldIdLst>
        </p14:section>
        <p14:section name="Literature Review" id="{15382296-be31-5fe9-57f5-2b799da56ca1}">
          <p14:sldIdLst>
            <p14:sldId id="260"/>
            <p14:sldId id="261"/>
          </p14:sldIdLst>
        </p14:section>
        <p14:section name="Gap, Questions and Objectives" id="{390aca84-5cad-0565-2b67-a34c73869bf3}">
          <p14:sldIdLst>
            <p14:sldId id="262"/>
            <p14:sldId id="263"/>
            <p14:sldId id="264"/>
            <p14:sldId id="265"/>
          </p14:sldIdLst>
        </p14:section>
        <p14:section name="The Framework" id="{b82ccf41-d4e0-9916-2881-8d7036230192}">
          <p14:sldIdLst>
            <p14:sldId id="266"/>
            <p14:sldId id="267"/>
            <p14:sldId id="268"/>
            <p14:sldId id="269"/>
            <p14:sldId id="270"/>
            <p14:sldId id="271"/>
            <p14:sldId id="272"/>
            <p14:sldId id="273"/>
          </p14:sldIdLst>
        </p14:section>
        <p14:section name="Validation and Evaluation" id="{e13fb7ce-5251-3f0f-f352-c354ba2e1728}">
          <p14:sldIdLst>
            <p14:sldId id="274"/>
            <p14:sldId id="275"/>
            <p14:sldId id="276"/>
            <p14:sldId id="277"/>
          </p14:sldIdLst>
        </p14:section>
        <p14:section name="Contribution" id="{f03813bb-1a62-47b7-ce25-f0bec907d9e1}">
          <p14:sldIdLst>
            <p14:sldId id="278"/>
            <p14:sldId id="279"/>
            <p14:sldId id="280"/>
            <p14:sldId id="281"/>
          </p14:sldIdLst>
        </p14:section>
        <p14:section name="What is Still Open" id="{60e98bbb-87af-f984-c43e-efcbc9f91740}">
          <p14:sldIdLst>
            <p14:sldId id="282"/>
          </p14:sldIdLst>
        </p14:section>
        <p14:section name="Research Plan" id="{80d98e90-6707-f156-51c1-f327401330f8}">
          <p14:sldIdLst>
            <p14:sldId id="283"/>
            <p14:sldId id="284"/>
          </p14:sldIdLst>
        </p14:section>
        <p14:section name="Demo: The HALAH Prototype" id="{59470bd7-e5c4-59c1-a5b1-7ccf04bf9cf4}">
          <p14:sldIdLst>
            <p14:sldId id="285"/>
            <p14:sldId id="286"/>
            <p14:sldId id="287"/>
            <p14:sldId id="288"/>
            <p14:sldId id="289"/>
            <p14:sldId id="290"/>
            <p14:sldId id="291"/>
            <p14:sldId id="292"/>
            <p14:sldId id="293"/>
            <p14:sldId id="294"/>
          </p14:sldIdLst>
        </p14:section>
        <p14:section name="References" id="{264e99a0-31ef-47fd-d62b-5866c218761b}">
          <p14:sldIdLst>
            <p14:sldId id="295"/>
            <p14:sldId id="296"/>
            <p14:sldId id="297"/>
          </p14:sldIdLst>
        </p14:section>
        <p14:section name="Thank You" id="{db3beda3-a43c-493b-d53e-48edbd4556c7}">
          <p14:sldIdLst>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a:t>
            </a:r>
            <a:r>
              <a:rPr lang="en-US" dirty="0">
                <a:highlight>
                  <a:srgbClr val="FFFF00"/>
                </a:highlight>
              </a:rPr>
              <a:t>Then the validation and the evaluation results, and the significance of the research. Then I talk about what is still open and the research plan. At the end, I show a demonstration of the prototype through the slides: the life of a consent, from the day it is created to the day it is revoked, with real screens from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t>
            </a:r>
            <a:r>
              <a:rPr lang="en-US" dirty="0">
                <a:highlight>
                  <a:srgbClr val="FFFF00"/>
                </a:highlight>
              </a:rPr>
              <a:t>And even with approval, a request can ask for more data than the patient allowed, or it can come after the consent has expired or has been cancelled.</a:t>
            </a:r>
            <a:r>
              <a:rPr lang="en-US" dirty="0"/>
              <a:t>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t>
            </a:r>
            <a:r>
              <a:rPr lang="en-US" dirty="0">
                <a:highlight>
                  <a:srgbClr val="FFFF00"/>
                </a:highlight>
              </a:rPr>
              <a:t>After I removed duplicates, 6,039 were screened by title. 3,129 went on to the abstract stage, and 2,541 of them were screened. Then 1,800 full texts were put in order of priority.</a:t>
            </a:r>
            <a:r>
              <a:rPr lang="en-US" dirty="0"/>
              <a:t>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a:t>
            </a:r>
            <a:r>
              <a:rPr lang="en-US" dirty="0">
                <a:highlight>
                  <a:srgbClr val="FFFF00"/>
                </a:highlight>
              </a:rPr>
              <a:t>The suspended state, the transition check, consent changes, delegation and guardian changes are for the next stage.</a:t>
            </a:r>
            <a:r>
              <a:rPr lang="en-US" dirty="0"/>
              <a:t>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a:t>
            </a:r>
            <a:r>
              <a:rPr lang="en-US" dirty="0">
                <a:highlight>
                  <a:srgbClr val="FFFF00"/>
                </a:highlight>
              </a:rPr>
              <a:t>Outsiders and duplicates are not counted, and a signature replayed from another consent fails the identity check.</a:t>
            </a:r>
            <a:r>
              <a:rPr lang="en-US" dirty="0"/>
              <a:t>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a:t>
            </a:r>
            <a:r>
              <a:rPr lang="en-US" dirty="0">
                <a:highlight>
                  <a:srgbClr val="FFFF00"/>
                </a:highlight>
              </a:rPr>
              <a:t>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a:t>
            </a:r>
            <a:r>
              <a:rPr lang="en-US" dirty="0">
                <a:highlight>
                  <a:srgbClr val="FFFF00"/>
                </a:highlight>
              </a:rPr>
              <a:t>The last one,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a:t>
            </a:r>
            <a:r>
              <a:rPr lang="en-US" dirty="0">
                <a:highlight>
                  <a:srgbClr val="FFFF00"/>
                </a:highlight>
              </a:rPr>
              <a:t>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a:t>
            </a:r>
            <a:r>
              <a:rPr lang="en-US" dirty="0"/>
              <a: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a:t>
            </a:r>
            <a:r>
              <a:rPr lang="en-US" dirty="0">
                <a:highlight>
                  <a:srgbClr val="FFFF00"/>
                </a:highlight>
              </a:rPr>
              <a:t>The token on Sepolia stores pseudonymous addresses, a hash of the purpose, the validity window and a revocation flag.</a:t>
            </a:r>
            <a:r>
              <a:rPr lang="en-US" dirty="0"/>
              <a:t>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want to be clear about what is not done yet, because this is what the next stage is for. First, full DID resolution and wallet-held guardian keys. Today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a:t>
            </a:r>
            <a:r>
              <a:rPr lang="en-US" dirty="0">
                <a:highlight>
                  <a:srgbClr val="FFFF00"/>
                </a:highlight>
              </a:rPr>
              <a:t>In the next slides, I walk you through the life of a consent, from creation to revocation, with real screens from the prototype.</a:t>
            </a:r>
            <a:r>
              <a:rPr lang="en-US" dirty="0"/>
              <a:t>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a:t>
            </a:r>
            <a:r>
              <a:rPr lang="en-US" dirty="0">
                <a:highlight>
                  <a:srgbClr val="FFFF00"/>
                </a:highlight>
              </a:rPr>
              <a:t>and</a:t>
            </a:r>
            <a:r>
              <a:rPr lang="en-US" dirty="0"/>
              <a:t>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a:t>
            </a:r>
            <a:r>
              <a:rPr lang="en-US" dirty="0">
                <a:highlight>
                  <a:srgbClr val="FFFF00"/>
                </a:highlight>
              </a:rPr>
              <a:t>Then the five checks run: VI, VA, VP, VT and VL.</a:t>
            </a:r>
            <a:r>
              <a:rPr lang="en-US" dirty="0"/>
              <a:t>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six</a:t>
            </a:r>
            <a:r>
              <a:rPr lang="en-US" dirty="0"/>
              <a:t>.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seven</a:t>
            </a:r>
            <a:r>
              <a:rPr lang="en-US" dirty="0"/>
              <a: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eight</a:t>
            </a:r>
            <a:r>
              <a:rPr lang="en-US" dirty="0"/>
              <a:t>.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nine</a:t>
            </a:r>
            <a:r>
              <a:rPr lang="en-US" dirty="0"/>
              <a:t>,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a:t>
            </a:r>
            <a:r>
              <a:rPr lang="en-US" dirty="0">
                <a:highlight>
                  <a:srgbClr val="FFFF00"/>
                </a:highlight>
              </a:rPr>
              <a:t>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a:t>
            </a:r>
            <a:r>
              <a:rPr lang="en-US" dirty="0"/>
              <a:t>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Approvals from outsiders and duplicates are not counted; a signature replayed from another consent fails the identity check.</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11 of 12 refused after the hardening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t>
            </a:r>
            <a:r>
              <a:rPr lang="en-US" sz="1400" dirty="0">
                <a:solidFill>
                  <a:srgbClr val="0B1F33"/>
                </a:solidFill>
                <a:highlight>
                  <a:srgbClr val="FFFF00"/>
                </a:highlight>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a:t>
                      </a:r>
                      <a:r>
                        <a:rPr lang="en-US" sz="1200" b="1" dirty="0">
                          <a:solidFill>
                            <a:srgbClr val="0B1F33"/>
                          </a:solidFill>
                          <a:highlight>
                            <a:srgbClr val="FFFF00"/>
                          </a:highlight>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t>
                      </a:r>
                      <a:r>
                        <a:rPr lang="en-US" sz="1200" b="1" dirty="0">
                          <a:solidFill>
                            <a:srgbClr val="0B1F33"/>
                          </a:solidFill>
                          <a:highlight>
                            <a:srgbClr val="FFFF00"/>
                          </a:highlight>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twelve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Identity and keys</a:t>
            </a:r>
            <a:endParaRPr lang="en-US" sz="1900" dirty="0"/>
          </a:p>
          <a:p>
            <a:pPr indent="0" marL="0">
              <a:spcAft>
                <a:spcPts val="400"/>
              </a:spcAft>
              <a:buNone/>
            </a:pPr>
            <a:r>
              <a:rPr lang="en-US" sz="1600" dirty="0">
                <a:solidFill>
                  <a:srgbClr val="0B1F33"/>
                </a:solidFill>
              </a:rPr>
              <a:t>Full DID resolution and wallet-held guardian keys. Today: signature recovery and keys derived from the guardian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Attack A11</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a:t>
            </a:r>
            <a:r>
              <a:rPr lang="en-US" sz="1700" i="1" dirty="0">
                <a:solidFill>
                  <a:srgbClr val="0B1F33"/>
                </a:solidFill>
                <a:highlight>
                  <a:srgbClr val="FFFF00"/>
                </a:highlight>
              </a:rPr>
              <a:t>Real screens from the prototype,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a:t>
            </a:r>
            <a:r>
              <a:rPr lang="en-US" sz="1600" dirty="0">
                <a:solidFill>
                  <a:srgbClr val="0B1F33"/>
                </a:solidFill>
                <a:highlight>
                  <a:srgbClr val="FFFF00"/>
                </a:highlight>
              </a:rPr>
              <a:t>and</a:t>
            </a:r>
            <a:r>
              <a:rPr lang="en-US" sz="1600" dirty="0">
                <a:solidFill>
                  <a:srgbClr val="FFFFFF"/>
                </a:solidFill>
              </a:rPr>
              <a:t> the validity time.</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a:t>
            </a:r>
            <a:r>
              <a:rPr lang="en-US" sz="1600" dirty="0">
                <a:solidFill>
                  <a:srgbClr val="0B1F33"/>
                </a:solidFill>
                <a:highlight>
                  <a:srgbClr val="FFFF00"/>
                </a:highlight>
              </a:rPr>
              <a:t>and</a:t>
            </a:r>
            <a:r>
              <a:rPr lang="en-US" sz="1600" dirty="0">
                <a:solidFill>
                  <a:srgbClr val="FFFFFF"/>
                </a:solidFill>
              </a:rPr>
              <a:t> time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a:t>
            </a:r>
            <a:r>
              <a:rPr lang="en-US" sz="3000" b="1" dirty="0">
                <a:solidFill>
                  <a:srgbClr val="FFFFFF"/>
                </a:solidFill>
                <a:latin typeface="Arial" pitchFamily="34" charset="0"/>
                <a:ea typeface="Arial" pitchFamily="34" charset="-122"/>
                <a:cs typeface="Arial" pitchFamily="34" charset="-120"/>
              </a:rPr>
              <a:t>: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a:t>
            </a:r>
            <a:r>
              <a:rPr lang="en-US" sz="3000" b="1" dirty="0">
                <a:solidFill>
                  <a:srgbClr val="FFFFFF"/>
                </a:solidFill>
                <a:latin typeface="Arial" pitchFamily="34" charset="0"/>
                <a:ea typeface="Arial" pitchFamily="34" charset="-122"/>
                <a:cs typeface="Arial" pitchFamily="34" charset="-120"/>
              </a:rPr>
              <a:t>: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8</a:t>
            </a:r>
            <a:r>
              <a:rPr lang="en-US" sz="3000" b="1" dirty="0">
                <a:solidFill>
                  <a:srgbClr val="FFFFFF"/>
                </a:solidFill>
                <a:latin typeface="Arial" pitchFamily="34" charset="0"/>
                <a:ea typeface="Arial" pitchFamily="34" charset="-122"/>
                <a:cs typeface="Arial" pitchFamily="34" charset="-120"/>
              </a:rPr>
              <a:t>: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9</a:t>
            </a:r>
            <a:r>
              <a:rPr lang="en-US" sz="3000" b="1" dirty="0">
                <a:solidFill>
                  <a:srgbClr val="FFFFFF"/>
                </a:solidFill>
                <a:latin typeface="Arial" pitchFamily="34" charset="0"/>
                <a:ea typeface="Arial" pitchFamily="34" charset="-122"/>
                <a:cs typeface="Arial" pitchFamily="34" charset="-120"/>
              </a:rPr>
              <a:t>: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2026-10-11T18:11:15Z</dcterms:created>
  <dcterms:modified xsi:type="dcterms:W3CDTF">2026-10-11T18:11:15Z</dcterms:modified>
</cp:coreProperties>
</file>
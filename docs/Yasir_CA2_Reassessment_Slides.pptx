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3731c966-e817-212c-94d0-d0182319dc08}">
          <p14:sldIdLst>
            <p14:sldId id="256"/>
          </p14:sldIdLst>
        </p14:section>
        <p14:section name="Outline" id="{c8858916-1b7f-13f7-dc04-54fb9e90a05c}">
          <p14:sldIdLst>
            <p14:sldId id="257"/>
          </p14:sldIdLst>
        </p14:section>
        <p14:section name="Introduction" id="{bc2aef7f-afd2-cfb3-a47d-0c6259abe556}">
          <p14:sldIdLst>
            <p14:sldId id="258"/>
            <p14:sldId id="259"/>
          </p14:sldIdLst>
        </p14:section>
        <p14:section name="Systematic Literature Review" id="{dcc1e570-a3c3-50f0-4bcc-8dac3a3e35b5}">
          <p14:sldIdLst>
            <p14:sldId id="260"/>
            <p14:sldId id="261"/>
            <p14:sldId id="262"/>
            <p14:sldId id="263"/>
            <p14:sldId id="264"/>
            <p14:sldId id="265"/>
            <p14:sldId id="266"/>
            <p14:sldId id="267"/>
          </p14:sldIdLst>
        </p14:section>
        <p14:section name="Research Gaps" id="{dc00e79e-51c7-cc93-79f6-c7a4ab382371}">
          <p14:sldIdLst>
            <p14:sldId id="268"/>
          </p14:sldIdLst>
        </p14:section>
        <p14:section name="Research Questions" id="{51ee5454-3f15-1313-f2a3-d83c535da437}">
          <p14:sldIdLst>
            <p14:sldId id="269"/>
            <p14:sldId id="270"/>
          </p14:sldIdLst>
        </p14:section>
        <p14:section name="Research Objectives" id="{e35f032b-9aef-6be1-1a34-78052763ccfb}">
          <p14:sldIdLst>
            <p14:sldId id="271"/>
          </p14:sldIdLst>
        </p14:section>
        <p14:section name="Research Methodology" id="{7b706fb6-d117-8992-a0bb-11c9612b5db6}">
          <p14:sldIdLst>
            <p14:sldId id="272"/>
          </p14:sldIdLst>
        </p14:section>
        <p14:section name="Research Architecture" id="{991fab71-8dde-a61f-b5e4-36f7cf37e60a}">
          <p14:sldIdLst>
            <p14:sldId id="273"/>
          </p14:sldIdLst>
        </p14:section>
        <p14:section name="The Proposed Solutions" id="{5a9627a3-7141-8389-09f7-7763512d40a1}">
          <p14:sldIdLst>
            <p14:sldId id="274"/>
            <p14:sldId id="275"/>
            <p14:sldId id="276"/>
            <p14:sldId id="277"/>
            <p14:sldId id="278"/>
            <p14:sldId id="279"/>
            <p14:sldId id="280"/>
          </p14:sldIdLst>
        </p14:section>
        <p14:section name="Implementation and Evaluation" id="{425c5638-28a9-0ee7-aa3a-9160fbf9ba1c}">
          <p14:sldIdLst>
            <p14:sldId id="281"/>
            <p14:sldId id="282"/>
            <p14:sldId id="283"/>
            <p14:sldId id="284"/>
            <p14:sldId id="285"/>
            <p14:sldId id="286"/>
            <p14:sldId id="287"/>
          </p14:sldIdLst>
        </p14:section>
        <p14:section name="Significance of the Research" id="{12308ef5-d588-715c-8666-34fd1d90a146}">
          <p14:sldIdLst>
            <p14:sldId id="288"/>
            <p14:sldId id="289"/>
            <p14:sldId id="290"/>
            <p14:sldId id="291"/>
          </p14:sldIdLst>
        </p14:section>
        <p14:section name="Research Plan" id="{1b422109-c88e-9de7-1f46-04309f76359b}">
          <p14:sldIdLst>
            <p14:sldId id="292"/>
            <p14:sldId id="293"/>
          </p14:sldIdLst>
        </p14:section>
        <p14:section name="References" id="{32eae95c-e3bb-be97-6f0d-d8094a280446}">
          <p14:sldIdLst>
            <p14:sldId id="294"/>
            <p14:sldId id="295"/>
            <p14:sldId id="296"/>
            <p14:sldId id="297"/>
            <p14:sldId id="298"/>
            <p14:sldId id="299"/>
            <p14:sldId id="300"/>
          </p14:sldIdLst>
        </p14:section>
        <p14:section name="Thank You" id="{6008935d-f523-c2ba-b825-ef4d13fdcdd8}">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gaps,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data scope and jurisdiction. Time and lifecycle asks if the consent is still valid, and not expired or revoked.
The dark box brings it together. Consent becomes an object the system can evaluate: C equals I, A, P, T, L, E. That is identity, authority, policy, time, jurisdiction and evidence. Authority holds the guardian set G and the threshold N, which is the number of approvals needed. L means jurisdiction, not lifecycle. Whether the consent is active or revoked is kept in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data scope and jurisdiction.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jurisdiction.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 I defined six research gaps. There is one gap for each requirement, with the same number.
Gap 1: consent is kept as a record of permission. Where it can be checked, it holds only some conditions, and only one party issues it.
Gap 2: identity tells us who someone is, not what they may do. Only 10 of the 25 studies check authority separately.
Gap 3: multi-party approval is used as a backup path or a registration step. It is not checked at every access.
Gap 4: purpose, data scope and jurisdiction are rarely checked in the same decision as identity, authority and approval. Jurisdiction means the legal region where the consent may be used.
Gap 5: time, lifecycle and revocation are often checked on a credential or at registration, not at each request.
Gap 6: nobody proves or tests the whole decision. Any proof covers only a small part.
Gaps 1 to 5 together form the conjunction gap.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lead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Each one matches the gap with the same number.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six gaps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Full DID resolution and VC checks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VI checks identity and authority. VA checks that all guardians approved, that the token exists and that the consent is not revoked. VP checks the purpose and the data scope. VT checks that the request is inside the validity window. VL checks that the jurisdiction matches.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the validity time and the jurisdiction.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authority, policy and data scope, time, jurisdiction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prototype today, I check the DID format and recover each guardian's EIP-712 signature. EIP-712 is a typed signature format on Ethereum, so we can see who signed. Full DID resolution and VC validation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jurisdiction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failed identity check, failed policy checks or a failed proof all lead to Deny Access. If the consent is not ACTIVE, the refusal is shown to the doctor but is not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The diagram shows the lifecycle as a state machine with six states. A consent starts in PENDING_SIGNATURE, which is off-chain. PENDING_TOKEN means the threshold is met but there is no token identifier yet. When all guardian signatures are verified, a local token is recorded. Before the start time the consent is NOT_STARTED. Inside the window it is ACTIVE, and only then can access be granted. After expiry it becomes EXPIRED. A consent can also be REVOKED.
The red arrows are anchored as Sepolia transactions, the mint and the revoke. The dashed arrows show revocation before a token exists, which stays off-chain.
The next stage adds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Third, a live request from a different jurisdiction was refused. That request was made against a consent anchored on Sepolia.
The next stage covers formal proofs or model checking of the security properties. It also covers a larger evaluation under load.
The flowchart on the right shows the method. I define the properties and the scenarios. Then I run valid and attack scenarios, collect the evidence and compare observed with expected decisions. If the properties hold, I document the evidence and limitations. If one fails, I analyse it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two real screens from the doctor subsystem of the HALAH prototype. Both use the same evaluated consent, f050c29a.
On the left, the doctor enters the consent ID and declares the requester jurisdiction as AU. The consent was issued for AU. Below that is the decision matrix. VI is identity and authority. VA is collective approval, and revocation is also checked inside VA. VP is policy and context. VT is time. VL is jurisdiction. All five show PASS, so the decision is ALLOW and the consent state is ACTIVE.
On the right, the same doctor asks for the four data modules again. This time the declared jurisdiction is SA, not AU. Every check passes except VL. My rule needs all five checks to be true together, so one failure is enough. The system refuses the request and names VL as the failed check.
Possible question: Why refuse if identity and approval were valid? Valid identity and approval do not mean every request is allowed. Each request is checked against all the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4, the doctor declared the jurisdiction SA, so VL failed and the request was refused.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authority, P is policy and scope, T is time, L is jurisdiction,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 two-letter jurisdiction code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authority, policy, time, jurisdiction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jurisdiction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seven pages and holds every source cited in my report. It follows the UTS Harvard style, so the sources are listed by author name and year, and the names match the citations in the text. This first page runs from Abbasi to Ekholm. It includes the primary studies on threshold cryptography for health records, dynamic consent and informed consent, together with the technical standards for typed-data signing and soulbound tokens.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page, from Eneh to Hagström. It holds sources on on-chain consent management, blockchain-based health record systems, decentralised identifiers and verifiable credentials, and the documentation of the Ethereum tools used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page, from Hellstern to Kharlamov. It covers consent models for health data platforms, access control for healthcare big data, attitudes to data sharing and consent, and the zero-knowledge proof tools used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fourth page, from Khayer to Narkhede. It covers identity management and trust mechanisms, fine-grained access control for medical records, decentralised multi-party consent, and patient autonomy in data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fifth page, from Nassar Kyriakidou to Sawant. It covers decentralised identity, access control surveys, the PRISMA reporting guideline for the review, the Poseidon hash function used in the proof, and several blockchain architectures for consent and auditing.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sixth page, from Shanmugham to Webber. It covers self-sovereign identity frameworks, multi-party pre-authorisation, purpose-based consent models, consent management services, the Synthea synthetic patient generator, and the guardian access literature.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page, from Welzel to Zhao. It covers self-determined health data sharing, the Ethereum yellow paper, trust computing for clinical trial data, multi-party EMR sharing with decentralised identifiers, searchable encryption, and threshold delegation.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 jurisdiction code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Authority (A: guardian set G, threshold N) · Policy (P: purpose, scope) · Time (T) · Jurisdiction (L) · Evidence and lifecycle state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validity time and jurisdiction;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53204"/>
            <a:ext cx="5266944" cy="415159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jurisdiction SA, VL fails, refused. 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jurisdiction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(1/7)</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Akter, S. &amp; Sanam, T.F. 2025, 'A blockchain framework for secure healthcare data management using role-based access control and smart contracts', 2025 International Conference on Electrical, Computer and Communication Engineering (ECCE), pp. 1–6, &lt;https://doi.org/10.1109/ECCE64574.2025.11013162&gt;.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 Mamun, A., Azam, S. &amp; Gritti, C. 2022, 'Blockchain-based electronic health records management: A comprehensive review and future research direction', IEEE Access, vol. 10, pp. 5768–5789, &lt;https://doi.org/10.1109/ACCESS.2022.3141079&gt;.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Andrew, J., Isravel, D.P., Sagayam, K.M., Bhushan, B., Sei, Y. &amp; Eunice, J. 2023, 'Blockchain for healthcare systems: Architecture, security challenges, trends and future directions', Journal of Network and Computer Applications, vol. 215, p. 103633, &lt;https://doi.org/10.1016/j.jnca.2023.103633&gt;.</a:t>
            </a:r>
            <a:endParaRPr lang="en-US" sz="1000" dirty="0"/>
          </a:p>
          <a:p>
            <a:pPr indent="0" marL="0">
              <a:spcAft>
                <a:spcPts val="400"/>
              </a:spcAft>
              <a:buNone/>
            </a:pPr>
            <a:r>
              <a:rPr lang="en-US" sz="1000" dirty="0">
                <a:solidFill>
                  <a:srgbClr val="0B1F33"/>
                </a:solidFill>
              </a:rPr>
              <a:t>Arbabi, M.S., Lal, C., Veeraragavan, N.R., Marijan, D., Nygård, J.F. &amp; Vitenberg, R. 2023, 'A survey on blockchain for healthcare: Challenges, benefits, and future directions', IEEE Communications Surveys &amp; Tutorials, vol. 25, no. 1, pp. 386–424, &lt;https://doi.org/10.1109/COMST.2022.3224644&gt;.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Consensys 2026, MetaMask developer documentation, viewed 7 October 2026, &lt;https://docs.metamask.io/&gt;.</a:t>
            </a:r>
            <a:endParaRPr lang="en-US" sz="1000" dirty="0"/>
          </a:p>
          <a:p>
            <a:pPr indent="0" marL="0">
              <a:spcAft>
                <a:spcPts val="400"/>
              </a:spcAft>
              <a:buNone/>
            </a:pPr>
            <a:r>
              <a:rPr lang="en-US" sz="1000" dirty="0">
                <a:solidFill>
                  <a:srgbClr val="0B1F33"/>
                </a:solidFill>
              </a:rPr>
              <a:t>Deng, H., Liang, J., Zhang, C., Liu, X., Zhu, L. &amp; Guo, S. 2024, 'FutureDID: A fully decentralized identity system with multi-party verification', IEEE Transactions on Computers, vol. 73, no. 8, pp. 2051–2065, &lt;https://doi.org/10.1109/TC.2024.3398509&gt;.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2026a, Solidity documentation, viewed 7 October 2026, &lt;https://docs.soliditylang.org/&gt;.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Ethereum Foundation 2026c, Remix IDE documentation, viewed 7 October 2026, &lt;https://remix-ide.readthedocs.io/&gt;.</a:t>
            </a:r>
            <a:endParaRPr lang="en-US" sz="1000" dirty="0"/>
          </a:p>
          <a:p>
            <a:pPr indent="0" marL="0">
              <a:spcAft>
                <a:spcPts val="400"/>
              </a:spcAft>
              <a:buNone/>
            </a:pPr>
            <a:r>
              <a:rPr lang="en-US" sz="1000" dirty="0">
                <a:solidFill>
                  <a:srgbClr val="0B1F33"/>
                </a:solidFill>
              </a:rPr>
              <a:t>Ferreira, J.C., Correia, R., Rosário, L. &amp; Vila, A. 2025, 'Blockchain integration for trust and consent management in MCP-enabled FHIR systems', 2025 IEEE International Conference on Distributed Ledger Technologies (ICDLT), pp. 1–10, &lt;https://doi.org/10.1109/ICDLT66400.2025.11466653&gt;.</a:t>
            </a:r>
            <a:endParaRPr lang="en-US" sz="1000" dirty="0"/>
          </a:p>
          <a:p>
            <a:pPr indent="0" marL="0">
              <a:spcAft>
                <a:spcPts val="400"/>
              </a:spcAft>
              <a:buNone/>
            </a:pPr>
            <a:r>
              <a:rPr lang="en-US" sz="1000" dirty="0">
                <a:solidFill>
                  <a:srgbClr val="0B1F33"/>
                </a:solidFill>
              </a:rPr>
              <a:t>Flamini, A., Sciarretta, G., Scuro, M., Sharif, A., Tomasi, A. &amp; Ranise, S. 2024, 'On cryptographic mechanisms for the selective disclosure of verifiable credentials', Journal of Information Security and Applications, vol. 83, p. 103789, &lt;https://doi.org/10.1016/j.jisa.2024.103789&gt;.</a:t>
            </a:r>
            <a:endParaRPr lang="en-US" sz="1000" dirty="0"/>
          </a:p>
          <a:p>
            <a:pPr indent="0" marL="0">
              <a:spcAft>
                <a:spcPts val="400"/>
              </a:spcAft>
              <a:buNone/>
            </a:pPr>
            <a:r>
              <a:rPr lang="en-US" sz="1000" dirty="0">
                <a:solidFill>
                  <a:srgbClr val="0B1F33"/>
                </a:solidFill>
              </a:rPr>
              <a:t>Ghafoor, A., Symeonidis, I., Rydberg, A., Lindahl, C. &amp; Abbasi, A.Q. 2025, 'Towards empowering stakeholders through decentralized trust and secure livestock data sharing', Cryptography, vol. 9, no. 3, p. 52, &lt;https://doi.org/10.3390/cryptography9030052&gt;.</a:t>
            </a:r>
            <a:endParaRPr lang="en-US" sz="1000" dirty="0"/>
          </a:p>
          <a:p>
            <a:pPr indent="0" marL="0">
              <a:spcAft>
                <a:spcPts val="400"/>
              </a:spcAft>
              <a:buNone/>
            </a:pPr>
            <a:r>
              <a:rPr lang="en-US" sz="1000" dirty="0">
                <a:solidFill>
                  <a:srgbClr val="0B1F33"/>
                </a:solidFill>
              </a:rPr>
              <a:t>Ghosh, P.K., Chakraborty, A., Hasan, M., Rashid, K. &amp; Siddique, A.H. 2023, 'Blockchain application in healthcare systems: A review', Systems, vol. 11, no. 1, p. 38, &lt;https://doi.org/10.3390/systems11010038&gt;.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Hellstern, R., Park, D.C., Lemieux, V. &amp; Salimjan, G. 2022, 'Leveraging blockchain-based archival solutions for sensitive documentation: A Xinjiang case study', Digital Society, vol. 1, no. 1, p. 4, &lt;https://doi.org/10.1007/s44206-022-00007-1&gt;.</a:t>
            </a:r>
            <a:endParaRPr lang="en-US" sz="1000" dirty="0"/>
          </a:p>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Ibrahim, A.M., Abdel-Aziz, H.R., Mohamed, H.A.H., Zaghamir, D.E.F., Wahba, N.M.I., Hassan, G.A. et al. 2024, 'Balancing confidentiality and care coordination: Challenges in patient privacy', BMC Nursing, vol. 23, no. 1, p. 564, &lt;https://doi.org/10.1186/s12912-024-02231-1&gt;.</a:t>
            </a:r>
            <a:endParaRPr lang="en-US" sz="1000" dirty="0"/>
          </a:p>
          <a:p>
            <a:pPr indent="0" marL="0">
              <a:spcAft>
                <a:spcPts val="400"/>
              </a:spcAft>
              <a:buNone/>
            </a:pPr>
            <a:r>
              <a:rPr lang="en-US" sz="1000" dirty="0">
                <a:solidFill>
                  <a:srgbClr val="0B1F33"/>
                </a:solidFill>
              </a:rPr>
              <a:t>iden3 2026a, snarkjs: zkSNARK implementation in JavaScript and WASM, viewed 7 October 2026, &lt;https://github.com/iden3/snarkjs&gt;.</a:t>
            </a:r>
            <a:endParaRPr lang="en-US" sz="1000" dirty="0"/>
          </a:p>
          <a:p>
            <a:pPr indent="0" marL="0">
              <a:spcAft>
                <a:spcPts val="400"/>
              </a:spcAft>
              <a:buNone/>
            </a:pPr>
            <a:r>
              <a:rPr lang="en-US" sz="1000" dirty="0">
                <a:solidFill>
                  <a:srgbClr val="0B1F33"/>
                </a:solidFill>
              </a:rPr>
              <a:t>iden3 2026b, circom: circuit compiler for zero-knowledge proofs, viewed 7 October 2026, &lt;https://docs.circom.io/&gt;.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Jesus, V. &amp; Pandit, H.J. 2022, 'Consent receipts for a usable and auditable web of personal data', IEEE Access, vol. 10, pp. 28545–28563, &lt;https://doi.org/10.1109/ACCESS.2022.3157850&gt;.</a:t>
            </a:r>
            <a:endParaRPr lang="en-US" sz="1000" dirty="0"/>
          </a:p>
          <a:p>
            <a:pPr indent="0" marL="0">
              <a:spcAft>
                <a:spcPts val="400"/>
              </a:spcAft>
              <a:buNone/>
            </a:pPr>
            <a:r>
              <a:rPr lang="en-US" sz="1000" dirty="0">
                <a:solidFill>
                  <a:srgbClr val="0B1F33"/>
                </a:solidFill>
              </a:rPr>
              <a:t>Jiang, R., Chen, X., Yu, Y., Zhang, Y. &amp; Ding, W. 2023, 'Risk and UCON-based access control model for healthcare big data', Journal of Big Data, vol. 10, no. 1, p. 104, &lt;https://doi.org/10.1186/s40537-023-00783-8&gt;.</a:t>
            </a:r>
            <a:endParaRPr lang="en-US" sz="1000" dirty="0"/>
          </a:p>
          <a:p>
            <a:pPr indent="0" marL="0">
              <a:spcAft>
                <a:spcPts val="400"/>
              </a:spcAft>
              <a:buNone/>
            </a:pPr>
            <a:r>
              <a:rPr lang="en-US" sz="1000" dirty="0">
                <a:solidFill>
                  <a:srgbClr val="0B1F33"/>
                </a:solidFill>
              </a:rPr>
              <a:t>Kaplow, K., Downey, M., Stewart, D., Massie, A.B., Motter, J.D., Taylor, L. et al. 2024, 'Data professionals’ attitudes on data privacy, sharing, and consent in healthcare and research', Digital Health, vol. 10, p. 20552076241290964, &lt;https://doi.org/10.1177/20552076241290964&gt;.</a:t>
            </a:r>
            <a:endParaRPr lang="en-US" sz="1000" dirty="0"/>
          </a:p>
          <a:p>
            <a:pPr indent="0" marL="0">
              <a:spcAft>
                <a:spcPts val="400"/>
              </a:spcAft>
              <a:buNone/>
            </a:pPr>
            <a:r>
              <a:rPr lang="en-US" sz="1000" dirty="0">
                <a:solidFill>
                  <a:srgbClr val="0B1F33"/>
                </a:solidFill>
              </a:rPr>
              <a:t>Khalid, M.I., Ahmed, M., Helfert, M. &amp; Kim, J. 2023, 'Privacy-first paradigm for dynamic consent management systems: Empowering data subjects through decentralized data controllers and privacy-preserving techniques', Electronics, vol. 12, no. 24, p. 4973, &lt;https://doi.org/10.3390/electronics12244973&gt;.</a:t>
            </a:r>
            <a:endParaRPr lang="en-US" sz="1000" dirty="0"/>
          </a:p>
          <a:p>
            <a:pPr indent="0" marL="0">
              <a:spcAft>
                <a:spcPts val="400"/>
              </a:spcAft>
              <a:buNone/>
            </a:pPr>
            <a:r>
              <a:rPr lang="en-US" sz="1000" dirty="0">
                <a:solidFill>
                  <a:srgbClr val="0B1F33"/>
                </a:solidFill>
              </a:rPr>
              <a:t>Kharlamov, A., Hohmann, R. &amp; Parry, G. 2023, 'Data sharing decisions: Perceptions and intentions in healthcare', Strategic Change, vol. 32, no. 6, pp. 223–237, &lt;https://doi.org/10.1002/jsc.2558&gt;.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Khayer, B., Mirzaei, S., Alavizadeh, H. &amp; Salehi Shahraki, A. 2025, 'Blockchain for secure IoT: A review of identity management, access control, and trust mechanisms', IoT, vol. 6, no. 4, p. 65, &lt;https://doi.org/10.3390/iot6040065&gt;.</a:t>
            </a:r>
            <a:endParaRPr lang="en-US" sz="1000" dirty="0"/>
          </a:p>
          <a:p>
            <a:pPr indent="0" marL="0">
              <a:spcAft>
                <a:spcPts val="400"/>
              </a:spcAft>
              <a:buNone/>
            </a:pPr>
            <a:r>
              <a:rPr lang="en-US" sz="1000" dirty="0">
                <a:solidFill>
                  <a:srgbClr val="0B1F33"/>
                </a:solidFill>
              </a:rPr>
              <a:t>Li, L., Liu, C.Z. &amp; Shrestha, S. 2026, 'Analytical entropy approach for measuring blockchain immutability and tamper-resilient trust', Entropy, vol. 28, no. 6, p. 690, &lt;https://doi.org/10.3390/e28060690&gt;.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Li, L., Liu, C.Z., Huang, K., Deng, R., Alrowaily, M.A., Alghamdi, M. et al. 2026b, 'Trust-aware environmental state consensus for smart agriculture with TEE-enabled sensing and Byzantine-resilient blockchain coordination', Sensors, vol. 26, no. 14, p. 4577, &lt;https://doi.org/10.3390/s26144577&gt;.</a:t>
            </a:r>
            <a:endParaRPr lang="en-US" sz="1000" dirty="0"/>
          </a:p>
          <a:p>
            <a:pPr indent="0" marL="0">
              <a:spcAft>
                <a:spcPts val="400"/>
              </a:spcAft>
              <a:buNone/>
            </a:pPr>
            <a:r>
              <a:rPr lang="en-US" sz="1000" dirty="0">
                <a:solidFill>
                  <a:srgbClr val="0B1F33"/>
                </a:solidFill>
              </a:rPr>
              <a:t>Lomotey, R.K., Kumi, S. &amp; Deters, R. 2022, 'Data trusts as a service: Providing a platform for multi-party data sharing', International Journal of Information Management Data Insights, vol. 2, no. 1, p. 100075, &lt;https://doi.org/10.1016/j.jjimei.2022.100075&gt;.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Mazzocca, C., Acar, A., Uluagac, A.S., Montanari, R., Bellavista, P. &amp; Conti, M. 2025, 'A survey on decentralized identifiers and verifiable credentials', IEEE Communications Surveys &amp; Tutorials, vol. 27, no. 6, pp. 3641–3671, &lt;https://doi.org/10.1109/COMST.2025.3543197&gt;.</a:t>
            </a:r>
            <a:endParaRPr lang="en-US" sz="1000" dirty="0"/>
          </a:p>
          <a:p>
            <a:pPr indent="0" marL="0">
              <a:spcAft>
                <a:spcPts val="400"/>
              </a:spcAft>
              <a:buNone/>
            </a:pPr>
            <a:r>
              <a:rPr lang="en-US" sz="1000" dirty="0">
                <a:solidFill>
                  <a:srgbClr val="0B1F33"/>
                </a:solidFill>
              </a:rPr>
              <a:t>McClelland, R. &amp; Harper, C.M. 2023, 'Information privacy in healthcare — the vital role of informed consent', European Journal of Health Law, vol. 30, no. 4, pp. 469–480, &lt;https://doi.org/10.1163/15718093-bja10097&gt;.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Ménétrey, J., Göttel, C., Khurshid, A., Pasin, M., Felber, P., Schiavoni, V. et al. 2022, 'Attestation mechanisms for trusted execution environments demystified', IFIP International Conference on Distributed Applications and Interoperable Systems (DAIS 2022), LNCS, vol. 13272, pp. 95–113, Springer, &lt;https://doi.org/10.1007/978-3-031-16092-9_7&gt;.</a:t>
            </a:r>
            <a:endParaRPr lang="en-US" sz="1000" dirty="0"/>
          </a:p>
          <a:p>
            <a:pPr indent="0" marL="0">
              <a:spcAft>
                <a:spcPts val="400"/>
              </a:spcAft>
              <a:buNone/>
            </a:pPr>
            <a:r>
              <a:rPr lang="en-US" sz="1000" dirty="0">
                <a:solidFill>
                  <a:srgbClr val="0B1F33"/>
                </a:solidFill>
              </a:rPr>
              <a:t>Narkhede, M.R., Wankhede, N.I. &amp; Kamble, A.M. 2025, 'Enhancing patient autonomy in data ownership: Privacy models and consent frameworks for healthcare', Journal of Digital Health, vol. 4, no. 1, pp. 1–23, &lt;https://doi.org/10.55976/jdh.4202513361-23&gt;.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Nassar Kyriakidou, C.D., Papathanasiou, A.M. &amp; Polyzos, G.C. 2023, 'Decentralized identity with applications to security and privacy for the internet of things', Computer Networks and Communications, vol. 1, no. 2, pp. 244–271, &lt;https://doi.org/10.37256/cnc.1220233048&gt;.</a:t>
            </a:r>
            <a:endParaRPr lang="en-US" sz="1000" dirty="0"/>
          </a:p>
          <a:p>
            <a:pPr indent="0" marL="0">
              <a:spcAft>
                <a:spcPts val="400"/>
              </a:spcAft>
              <a:buNone/>
            </a:pPr>
            <a:r>
              <a:rPr lang="en-US" sz="1000" dirty="0">
                <a:solidFill>
                  <a:srgbClr val="0B1F33"/>
                </a:solidFill>
              </a:rPr>
              <a:t>Nazir, A., Rehmani, M.H., Butler, B. &amp; O’Shea, D. 2026, 'Access control in healthcare IoT: A comprehensive survey', Engineering Reports, vol. 8, no. 4, p. e70766, &lt;https://doi.org/10.1002/eng2.70766&gt;.</a:t>
            </a:r>
            <a:endParaRPr lang="en-US" sz="1000" dirty="0"/>
          </a:p>
          <a:p>
            <a:pPr indent="0" marL="0">
              <a:spcAft>
                <a:spcPts val="400"/>
              </a:spcAft>
              <a:buNone/>
            </a:pPr>
            <a:r>
              <a:rPr lang="en-US" sz="1000" dirty="0">
                <a:solidFill>
                  <a:srgbClr val="0B1F33"/>
                </a:solidFill>
              </a:rPr>
              <a:t>Nguyen, T.L., Nguyen, L., Hoang, T., Bandara, D., Wang, Q., Lu, Q. et al. 2025, 'Blockchain-empowered trustworthy data sharing: Fundamentals, applications, and challenges', ACM Computing Surveys, vol. 57, no. 8, p. 195, &lt;https://doi.org/10.1145/3718082&gt;.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Parameswarath, R.P., Gope, P. &amp; Sikdar, B. 2022, 'User-empowered privacy-preserving authentication protocol for electric vehicle charging based on decentralized identity and verifiable credential', ACM Transactions on Management Information Systems, vol. 13, no. 4, p. 44, &lt;https://doi.org/10.1145/3532869&gt;.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Prashanth, M.S., Karnati, R., Velpuru, M.S. &amp; Venkateshwara Reddy, H. 2024, 'Enhancing health record security and privacy with blockchain-based access management', Pervasive Knowledge and Collective Intelligence on Web and Social Media (PerSOM 2023), LNICST, vol. 517, pp. 182–202, Springer, &lt;https://doi.org/10.1007/978-3-031-66044-3_13&gt;.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Sawant, N.M. &amp; Gomes, J. 2026, 'A decentralized solution for smarter and safer healthcare systems with FabricMedChain', Iranian Journal of Science and Technology, Transactions of Electrical Engineering, vol. 50, pp. 2843–2869, &lt;https://doi.org/10.1007/s40998-025-00994-0&gt;.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Shanmugham, M. &amp; Senthilkumar, C. 2026, 'Blockchain enabled self-sovereign identity and consent framework for secure healthcare data access', 2026 3rd International Conference on Emerging Trends in Engineering and Medical Sciences (ICETEMS), pp. 1–6, &lt;https://doi.org/10.1109/ICETEMS66917.2026.11469586&gt;.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Tawfik, A.M., Al-Ahwal, A., Tag Eldien, A.S. &amp; Zayed, H.H. 2025, 'Blockchain-based access control and privacy preservation in healthcare: A comprehensive survey', Cluster Computing, vol. 28, p. 529, &lt;https://doi.org/10.1007/s10586-025-05308-x&gt;.</a:t>
            </a:r>
            <a:endParaRPr lang="en-US" sz="1000" dirty="0"/>
          </a:p>
          <a:p>
            <a:pPr indent="0" marL="0">
              <a:spcAft>
                <a:spcPts val="400"/>
              </a:spcAft>
              <a:buNone/>
            </a:pPr>
            <a:r>
              <a:rPr lang="en-US" sz="1000" dirty="0">
                <a:solidFill>
                  <a:srgbClr val="0B1F33"/>
                </a:solidFill>
              </a:rPr>
              <a:t>Teeda, A. &amp; Subba Rao, Y.V. 2026, 'A patient-centric blockchain based electronic health records for data privacy and confidentiality', International Conference on Smart Computing and Informatics, LNNS, vol. 1684, pp. 179–192, Springer, &lt;https://doi.org/10.1007/978-3-032-08246-6_15&gt;.</a:t>
            </a:r>
            <a:endParaRPr lang="en-US" sz="1000" dirty="0"/>
          </a:p>
          <a:p>
            <a:pPr indent="0" marL="0">
              <a:spcAft>
                <a:spcPts val="400"/>
              </a:spcAft>
              <a:buNone/>
            </a:pPr>
            <a:r>
              <a:rPr lang="en-US" sz="1000" dirty="0">
                <a:solidFill>
                  <a:srgbClr val="0B1F33"/>
                </a:solidFill>
              </a:rPr>
              <a:t>Theodorakopoulos, L., Theodoropoulou, A. &amp; Halkiopoulos, C. 2024, 'Enhancing decentralized decision-making with big data and blockchain technology: A comprehensive review', Applied Sciences, vol. 14, no. 16, p. 7007, &lt;https://doi.org/10.3390/app14167007&gt;.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Turan, M.N., Hashimzai, I.A. &amp; Qiam, M.Q. 2025, 'A blockchain-based framework for secure and transparent environmental data sharing in smart cities: Enhancing trust, integrity, and interoperability in urban sustainability systems', Nata Palemahan: Journal of Environmental Engineering Innovations, vol. 2, no. 2, pp. 70–79, &lt;https://doi.org/10.38043/natapalemahan.v2i2.6996&gt;.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Webber, E.C., Brick, D., Scibilia, J.P., Dehnel, P., Council on Clinical Information Technology et al. 2019, 'Electronic communication of the health record and information with pediatric patients and their guardians', Pediatrics, vol. 144, no. 1, p. e20191359, &lt;https://doi.org/10.1542/peds.2019-1359&gt;.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(7/7)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Welzel, C., Ostermann, M., Smith, H.L., Minssen, T., Kirsten, T. &amp; Gilbert, S. 2025, 'Enabling secure and self determined health data sharing and consent management', npj Digital Medicine, vol. 8, no. 1, p. 560, &lt;https://doi.org/10.1038/s41746-025-01945-z&gt;.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 viewed 7 October 2026, &lt;https://ethereum.github.io/yellowpaper/paper.pdf&gt;.</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Yin, H., Zhao, Y., Zhang, L., Qiao, B., Chen, W. &amp; Wang, H. 2024, 'Attribute-based searchable encryption with decentralized key management for healthcare data sharing', Journal of Systems Architecture, vol. 148, p. 103081, &lt;https://doi.org/10.1016/j.sysarc.2024.103081&gt;.</a:t>
            </a:r>
            <a:endParaRPr lang="en-US" sz="1000" dirty="0"/>
          </a:p>
          <a:p>
            <a:pPr indent="0" marL="0">
              <a:spcAft>
                <a:spcPts val="400"/>
              </a:spcAft>
              <a:buNone/>
            </a:pPr>
            <a:r>
              <a:rPr lang="en-US" sz="1000" dirty="0">
                <a:solidFill>
                  <a:srgbClr val="0B1F33"/>
                </a:solidFill>
              </a:rPr>
              <a:t>Yin, J., Xiao, Y., Chen, Q., Lim, Y.Z., Liu, X., Pei, Q. et al. 2025, 'DP-DID: A dynamic and proactive decentralized identity system', IEEE Transactions on Information Forensics and Security, vol. 20, pp. 4999–5014, &lt;https://doi.org/10.1109/TIFS.2025.3561662&gt;.</a:t>
            </a:r>
            <a:endParaRPr lang="en-US" sz="1000" dirty="0"/>
          </a:p>
          <a:p>
            <a:pPr indent="0" marL="0">
              <a:spcAft>
                <a:spcPts val="400"/>
              </a:spcAft>
              <a:buNone/>
            </a:pPr>
            <a:r>
              <a:rPr lang="en-US" sz="1000" dirty="0">
                <a:solidFill>
                  <a:srgbClr val="0B1F33"/>
                </a:solidFill>
              </a:rPr>
              <a:t>Zhang, L., Kan, H. &amp; Huang, H. 2022, 'Patient-centered cross-enterprise document sharing and dynamic consent framework using consortium blockchain and ciphertext-policy attribute-based encryption', Proceedings of the 19th ACM International Conference on Computing Frontiers (CF ’22), pp. 58–66, &lt;https://doi.org/10.1145/3528416.3530228&gt;.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2026-10-07T07:47:59Z</dcterms:created>
  <dcterms:modified xsi:type="dcterms:W3CDTF">2026-10-07T07:47:59Z</dcterms:modified>
</cp:coreProperties>
</file>
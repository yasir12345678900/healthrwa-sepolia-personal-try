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7" r:id="rId3"/>
    <p:sldId id="258" r:id="rId4"/>
    <p:sldId id="259" r:id="rId5"/>
    <p:sldId id="260" r:id="rId6"/>
    <p:sldId id="304" r:id="rId7"/>
    <p:sldId id="305" r:id="rId8"/>
    <p:sldId id="306" r:id="rId9"/>
    <p:sldId id="307" r:id="rId10"/>
    <p:sldId id="308" r:id="rId11"/>
    <p:sldId id="309" r:id="rId12"/>
    <p:sldId id="310" r:id="rId13"/>
    <p:sldId id="311" r:id="rId14"/>
    <p:sldId id="312" r:id="rId15"/>
    <p:sldId id="313" r:id="rId16"/>
    <p:sldId id="261" r:id="rId17"/>
    <p:sldId id="262" r:id="rId18"/>
    <p:sldId id="302" r:id="rId19"/>
    <p:sldId id="263" r:id="rId20"/>
    <p:sldId id="264" r:id="rId21"/>
    <p:sldId id="265" r:id="rId22"/>
    <p:sldId id="314" r:id="rId23"/>
    <p:sldId id="410" r:id="rId24"/>
    <p:sldId id="266" r:id="rId25"/>
    <p:sldId id="267" r:id="rId26"/>
    <p:sldId id="268" r:id="rId27"/>
    <p:sldId id="269" r:id="rId28"/>
    <p:sldId id="411" r:id="rId66"/>
    <p:sldId id="412" r:id="rId67"/>
    <p:sldId id="270" r:id="rId29"/>
    <p:sldId id="271" r:id="rId30"/>
    <p:sldId id="413" r:id="rId68"/>
    <p:sldId id="414" r:id="rId69"/>
    <p:sldId id="272" r:id="rId31"/>
    <p:sldId id="273" r:id="rId32"/>
    <p:sldId id="415" r:id="rId70"/>
    <p:sldId id="416" r:id="rId71"/>
    <p:sldId id="274" r:id="rId33"/>
    <p:sldId id="275" r:id="rId34"/>
    <p:sldId id="417" r:id="rId72"/>
    <p:sldId id="418" r:id="rId73"/>
    <p:sldId id="276" r:id="rId35"/>
    <p:sldId id="277" r:id="rId36"/>
    <p:sldId id="278" r:id="rId37"/>
    <p:sldId id="292" r:id="rId38"/>
    <p:sldId id="293" r:id="rId39"/>
    <p:sldId id="294" r:id="rId40"/>
    <p:sldId id="296" r:id="rId41"/>
    <p:sldId id="295" r:id="rId42"/>
    <p:sldId id="297"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8" r:id="rId57"/>
    <p:sldId id="299" r:id="rId58"/>
    <p:sldId id="300" r:id="rId59"/>
    <p:sldId id="301" r:id="rId6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6942778-0A59-C3A1-24F4-DFEFB294A139}">
          <p14:sldIdLst>
            <p14:sldId id="256"/>
            <p14:sldId id="257"/>
          </p14:sldIdLst>
        </p14:section>
        <p14:section name="The Problem" id="{96F6FDF1-3C7D-C7BC-4CB4-44E808112E56}">
          <p14:sldIdLst>
            <p14:sldId id="258"/>
            <p14:sldId id="259"/>
          </p14:sldIdLst>
        </p14:section>
        <p14:section name="Literature Review" id="{AA021B7A-1D89-DD7B-6EEA-931123681486}">
          <p14:sldIdLst>
            <p14:sldId id="260"/>
            <p14:sldId id="304"/>
            <p14:sldId id="305"/>
            <p14:sldId id="306"/>
            <p14:sldId id="307"/>
            <p14:sldId id="308"/>
            <p14:sldId id="309"/>
            <p14:sldId id="310"/>
            <p14:sldId id="311"/>
            <p14:sldId id="312"/>
            <p14:sldId id="313"/>
            <p14:sldId id="261"/>
          </p14:sldIdLst>
        </p14:section>
        <p14:section name="Gap, Questions and Objectives" id="{ACB741F8-7344-E54E-3520-6B498F895C17}">
          <p14:sldIdLst>
            <p14:sldId id="262"/>
            <p14:sldId id="302"/>
            <p14:sldId id="263"/>
            <p14:sldId id="264"/>
            <p14:sldId id="265"/>
            <p14:sldId id="314"/>
            <p14:sldId id="410"/>
          </p14:sldIdLst>
        </p14:section>
        <p14:section name="The Framework" id="{4674AA55-3218-DA15-E297-A596FB9CE1A2}">
          <p14:sldIdLst>
            <p14:sldId id="266"/>
            <p14:sldId id="267"/>
            <p14:sldId id="268"/>
            <p14:sldId id="269"/>
            <p14:sldId id="270"/>
            <p14:sldId id="271"/>
            <p14:sldId id="272"/>
            <p14:sldId id="273"/>
            <p14:sldId id="274"/>
            <p14:sldId id="275"/>
            <p14:sldId id="276"/>
            <p14:sldId id="277"/>
            <p14:sldId id="278"/>
            <p14:sldId id="292"/>
            <p14:sldId id="293"/>
            <p14:sldId id="294"/>
            <p14:sldId id="296"/>
            <p14:sldId id="295"/>
            <p14:sldId id="297"/>
            <p14:sldId id="279"/>
          </p14:sldIdLst>
        </p14:section>
        <p14:section name="Validation and Evaluation" id="{38214D88-01AF-845D-D65A-C9A4BC2C85DF}">
          <p14:sldIdLst>
            <p14:sldId id="280"/>
            <p14:sldId id="281"/>
            <p14:sldId id="282"/>
            <p14:sldId id="283"/>
          </p14:sldIdLst>
        </p14:section>
        <p14:section name="Contribution" id="{EB11EB97-8735-E73D-577A-B2BB861A5EB4}">
          <p14:sldIdLst>
            <p14:sldId id="284"/>
            <p14:sldId id="285"/>
            <p14:sldId id="286"/>
            <p14:sldId id="287"/>
          </p14:sldIdLst>
        </p14:section>
        <p14:section name="What is Still Open" id="{2595BE66-FCDA-A1AB-183E-112882565E42}">
          <p14:sldIdLst>
            <p14:sldId id="288"/>
          </p14:sldIdLst>
        </p14:section>
        <p14:section name="Research Plan" id="{1F39EFB8-3D03-66B5-86E7-768BA670C7C2}">
          <p14:sldIdLst>
            <p14:sldId id="289"/>
            <p14:sldId id="290"/>
            <p14:sldId id="291"/>
          </p14:sldIdLst>
        </p14:section>
        <p14:section name="Demo: The HALAH Prototype" id="{611104C4-4282-3E95-1D48-D00FE3F4F3EA}">
          <p14:sldIdLst>
            <p14:sldId id="298"/>
            <p14:sldId id="299"/>
          </p14:sldIdLst>
        </p14:section>
        <p14:section name="References" id="{40AA16BB-153B-BBB1-53BB-0EB6F21829F3}">
          <p14:sldIdLst>
            <p14:sldId id="300"/>
          </p14:sldIdLst>
        </p14:section>
        <p14:section name="Thank You" id="{FD86D728-DF0D-F8E8-99EB-24A0646BFE01}">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6667" autoAdjust="0"/>
  </p:normalViewPr>
  <p:slideViewPr>
    <p:cSldViewPr snapToGrid="0" snapToObjects="1">
      <p:cViewPr varScale="1">
        <p:scale>
          <a:sx n="71" d="100"/>
          <a:sy n="71" d="100"/>
        </p:scale>
        <p:origin x="907" y="62"/>
      </p:cViewPr>
      <p:guideLst/>
    </p:cSldViewPr>
  </p:slideViewPr>
  <p:notesTextViewPr>
    <p:cViewPr>
      <p:scale>
        <a:sx n="1" d="1"/>
        <a:sy n="1" d="1"/>
      </p:scale>
      <p:origin x="0" y="0"/>
    </p:cViewPr>
  </p:notesTextViewPr>
  <p:sorterViewPr>
    <p:cViewPr>
      <p:scale>
        <a:sx n="100" d="100"/>
        <a:sy n="100" d="100"/>
      </p:scale>
      <p:origin x="0" y="-8467"/>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Records</c:v>
          </c:tx>
          <c:spPr>
            <a:solidFill>
              <a:srgbClr val="146BA8"/>
            </a:solidFill>
            <a:ln w="0">
              <a:noFill/>
              <a:prstDash val="solid"/>
            </a:ln>
          </c:spPr>
          <c:invertIfNegative val="0"/>
          <c:dLbls>
            <c:numFmt formatCode="#,##0" sourceLinked="0"/>
            <c:spPr>
              <a:noFill/>
              <a:ln>
                <a:noFill/>
              </a:ln>
              <a:effectLst/>
            </c:spPr>
            <c:txPr>
              <a:bodyPr anchorCtr="1"/>
              <a:lstStyle/>
              <a:p>
                <a:pPr>
                  <a:defRPr sz="1575" b="1">
                    <a:solidFill>
                      <a:srgbClr val="103B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ACM Digital Library</c:v>
                </c:pt>
                <c:pt idx="1">
                  <c:v>ScienceDirect</c:v>
                </c:pt>
                <c:pt idx="2">
                  <c:v>Web of Science</c:v>
                </c:pt>
                <c:pt idx="3">
                  <c:v>ProQuest</c:v>
                </c:pt>
                <c:pt idx="4">
                  <c:v>IEEE Xplore</c:v>
                </c:pt>
                <c:pt idx="5">
                  <c:v>Scopus</c:v>
                </c:pt>
                <c:pt idx="6">
                  <c:v>SpringerLink</c:v>
                </c:pt>
              </c:strCache>
            </c:strRef>
          </c:cat>
          <c:val>
            <c:numRef>
              <c:f>'Chart Data'!$B$2:$B$8</c:f>
              <c:numCache>
                <c:formatCode>#,##0</c:formatCode>
                <c:ptCount val="7"/>
                <c:pt idx="0">
                  <c:v>40</c:v>
                </c:pt>
                <c:pt idx="1">
                  <c:v>65</c:v>
                </c:pt>
                <c:pt idx="2">
                  <c:v>1137</c:v>
                </c:pt>
                <c:pt idx="3">
                  <c:v>1180</c:v>
                </c:pt>
                <c:pt idx="4">
                  <c:v>1806</c:v>
                </c:pt>
                <c:pt idx="5">
                  <c:v>2133</c:v>
                </c:pt>
                <c:pt idx="6">
                  <c:v>2895</c:v>
                </c:pt>
              </c:numCache>
            </c:numRef>
          </c:val>
          <c:extLst>
            <c:ext xmlns:c16="http://schemas.microsoft.com/office/drawing/2014/chart" uri="{C3380CC4-5D6E-409C-BE32-E72D297353CC}">
              <c16:uniqueId val="{00000000-E386-47AE-AE7D-FC61AB4A6902}"/>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500">
                <a:solidFill>
                  <a:srgbClr val="24415C"/>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3300"/>
          <c:min val="0"/>
        </c:scaling>
        <c:delete val="0"/>
        <c:axPos val="b"/>
        <c:majorGridlines>
          <c:spPr>
            <a:ln w="9525">
              <a:solidFill>
                <a:srgbClr val="DCE9F4"/>
              </a:solidFill>
              <a:prstDash val="solid"/>
            </a:ln>
          </c:spPr>
        </c:majorGridlines>
        <c:numFmt formatCode="#,##0" sourceLinked="1"/>
        <c:majorTickMark val="none"/>
        <c:minorTickMark val="none"/>
        <c:tickLblPos val="nextTo"/>
        <c:spPr>
          <a:ln w="9525">
            <a:solidFill>
              <a:srgbClr val="DCE9F4"/>
            </a:solidFill>
            <a:prstDash val="solid"/>
          </a:ln>
        </c:spPr>
        <c:txPr>
          <a:bodyPr anchorCtr="1"/>
          <a:lstStyle/>
          <a:p>
            <a:pPr>
              <a:defRPr sz="1200">
                <a:solidFill>
                  <a:srgbClr val="56718B"/>
                </a:solidFill>
                <a:latin typeface="Arial"/>
                <a:ea typeface="Arial"/>
                <a:cs typeface="Arial"/>
              </a:defRPr>
            </a:pPr>
            <a:endParaRPr lang="en-US"/>
          </a:p>
        </c:txPr>
        <c:crossAx val="48650112"/>
        <c:crosses val="autoZero"/>
        <c:crossBetween val="between"/>
        <c:majorUnit val="500"/>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Records</c:v>
          </c:tx>
          <c:spPr>
            <a:solidFill>
              <a:srgbClr val="146BA8"/>
            </a:solidFill>
            <a:ln w="0">
              <a:noFill/>
              <a:prstDash val="solid"/>
            </a:ln>
          </c:spPr>
          <c:invertIfNegative val="0"/>
          <c:dLbls>
            <c:numFmt formatCode="0" sourceLinked="0"/>
            <c:spPr>
              <a:noFill/>
              <a:ln>
                <a:noFill/>
              </a:ln>
              <a:effectLst/>
            </c:spPr>
            <c:txPr>
              <a:bodyPr anchorCtr="1"/>
              <a:lstStyle/>
              <a:p>
                <a:pPr>
                  <a:defRPr sz="1575" b="1">
                    <a:solidFill>
                      <a:srgbClr val="103B64"/>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Req 6  Formal / empirical assurance</c:v>
                </c:pt>
                <c:pt idx="1">
                  <c:v>Req 5  Temporal and lifecycle</c:v>
                </c:pt>
                <c:pt idx="2">
                  <c:v>Req 4  Policy and context</c:v>
                </c:pt>
                <c:pt idx="3">
                  <c:v>Req 3  Multi-party authorisation</c:v>
                </c:pt>
                <c:pt idx="4">
                  <c:v>Req 2  Identity and authority</c:v>
                </c:pt>
                <c:pt idx="5">
                  <c:v>Req 1  Consent representation</c:v>
                </c:pt>
              </c:strCache>
            </c:strRef>
          </c:cat>
          <c:val>
            <c:numRef>
              <c:f>'Chart Data'!$B$2:$B$7</c:f>
              <c:numCache>
                <c:formatCode>0</c:formatCode>
                <c:ptCount val="6"/>
                <c:pt idx="0">
                  <c:v>9</c:v>
                </c:pt>
                <c:pt idx="1">
                  <c:v>8</c:v>
                </c:pt>
                <c:pt idx="2">
                  <c:v>10</c:v>
                </c:pt>
                <c:pt idx="3">
                  <c:v>6</c:v>
                </c:pt>
                <c:pt idx="4">
                  <c:v>7</c:v>
                </c:pt>
                <c:pt idx="5">
                  <c:v>12</c:v>
                </c:pt>
              </c:numCache>
            </c:numRef>
          </c:val>
          <c:extLst>
            <c:ext xmlns:c16="http://schemas.microsoft.com/office/drawing/2014/chart" uri="{C3380CC4-5D6E-409C-BE32-E72D297353CC}">
              <c16:uniqueId val="{00000000-BCCE-4590-997D-67EF1B8E952C}"/>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numFmt formatCode="General" sourceLinked="1"/>
        <c:majorTickMark val="none"/>
        <c:minorTickMark val="none"/>
        <c:tickLblPos val="nextTo"/>
        <c:spPr>
          <a:ln w="0">
            <a:noFill/>
            <a:prstDash val="solid"/>
          </a:ln>
        </c:spPr>
        <c:txPr>
          <a:bodyPr anchorCtr="1"/>
          <a:lstStyle/>
          <a:p>
            <a:pPr>
              <a:defRPr sz="1500">
                <a:solidFill>
                  <a:srgbClr val="24415C"/>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25"/>
          <c:min val="0"/>
        </c:scaling>
        <c:delete val="0"/>
        <c:axPos val="b"/>
        <c:majorGridlines>
          <c:spPr>
            <a:ln w="9525">
              <a:solidFill>
                <a:srgbClr val="DCE9F4"/>
              </a:solidFill>
              <a:prstDash val="solid"/>
            </a:ln>
          </c:spPr>
        </c:majorGridlines>
        <c:numFmt formatCode="0" sourceLinked="1"/>
        <c:majorTickMark val="none"/>
        <c:minorTickMark val="none"/>
        <c:tickLblPos val="nextTo"/>
        <c:spPr>
          <a:ln w="9525">
            <a:solidFill>
              <a:srgbClr val="DCE9F4"/>
            </a:solidFill>
            <a:prstDash val="solid"/>
          </a:ln>
        </c:spPr>
        <c:txPr>
          <a:bodyPr anchorCtr="1"/>
          <a:lstStyle/>
          <a:p>
            <a:pPr>
              <a:defRPr sz="1200">
                <a:solidFill>
                  <a:srgbClr val="56718B"/>
                </a:solidFill>
                <a:latin typeface="Arial"/>
                <a:ea typeface="Arial"/>
                <a:cs typeface="Arial"/>
              </a:defRPr>
            </a:pPr>
            <a:endParaRPr lang="en-US"/>
          </a:p>
        </c:txPr>
        <c:crossAx val="48650112"/>
        <c:crosses val="autoZero"/>
        <c:crossBetween val="between"/>
        <c:majorUnit val="5"/>
      </c:valAx>
      <c:spPr>
        <a:noFill/>
        <a:ln w="0">
          <a:noFill/>
          <a:prstDash val="solid"/>
        </a:ln>
      </c:spPr>
    </c:plotArea>
    <c:plotVisOnly val="1"/>
    <c:dispBlanksAs val="zero"/>
    <c:showDLblsOverMax val="1"/>
  </c:chart>
  <c:spPr>
    <a:no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6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Yasir Alyoubi. My principal supervisor is Professor Farookh Hussain, and my co-supervisor is Dr Firas Al-Doghman. This is my candidature reassessment. My research asks one simple question. When a doctor asks for a patient's data, how can the system be sure that this request is really allowed? Not just who is asking. Also, did the patient and the guardians agree? Is the request inside the agreed data? And is the consent still valid today? I will show you the problem, what the literature says, my framework, the working prototype, and the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my talk. First, the research problem and the key idea. Then the literature review. Then the gap, the questions and the objectives. After that, the methodology, the framework and its six steps. Then the validation and the evaluation results, and the contribution and the significance of the research. Then I talk about the limitations, the next steps, my publications and the research plan. Then I show a short demonstration of the prototype through the slides, with real prototype screens from 24 September 2026, and I finish with the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Health data is very sensitive. One decision to share it can involve many people: the patient, one or more guardians, the doctor, and the hospital. Today, consent is usually just a record that is saved somewhere. That record says permission was given. But it does not check anything when someone asks for the data. A valid login does not mean you have the right to see this patient's data. And even with approval, a request can ask for more data than the patient allowed, or it can come after the consent has expired or has been cancelled. So the real problem is this: there is no single trusted decision that checks all of these things together.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answer in simple words. Consent should not be a record that we store. It should be an object that the system checks every time. I call this object C, and it has six parts. I is identity: who is involved. A is authorisation: which guardians must approve, and how many. P is policy: the purpose and the data that was agreed. T is time: when the consent starts and when it ends. L is lifecycle: the state of the consent, from creation to expiry or revocation. And E is evidence: the signatures, the token, and whether the consent was cancelled. At every request, the system checks all six parts. If one part fails, the answer is no.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did the literature review. I followed the PRISMA 2020 method. Before I started screening, I wrote a protocol that fixed the questions, the databases, one search query, the criteria and the quality items. I searched seven databases. They gave me 9,256 records. After I removed duplicates, 6,039 were screened by title. 3,129 went on to the abstract stage, and 2,541 of them were screened. Then 1,800 full texts were put in order of priority. At the reporting checkpoint, 64 full texts were assessed and 47 met the criteria. From these, I analysed 25 primary studies in depth: 23 core studies and 2 supporting studies.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asks how existing healthcare consent mechanisms establish a trustworthy authorisation decision. It examines which conditions are enforced, how they are combined, and what evidence supports the decision.</a:t>
            </a:r>
          </a:p>
          <a:p>
            <a:endParaRPr/>
          </a:p>
          <a:p>
            <a:r>
              <a:t>Protocol v1.1 fixed the review questions, databases, master query, eligibility criteria, codebook and quality items before screening. The author carried out the screening, coding and quality assessment up to the reporting checkpoint.</a:t>
            </a:r>
          </a:p>
          <a:p>
            <a:endParaRPr/>
          </a:p>
          <a:p>
            <a:r>
              <a:t>There are seven literature-review questions, mapped to six requirements. Review Questions 1 to 5 map to Req 1 to Req 5; Review Questions 6 and 7 together map to Req 6. These are distinct from the six project research questions.</a:t>
            </a:r>
          </a:p>
          <a:p>
            <a:endParaRPr/>
          </a:p>
          <a:p>
            <a:r>
              <a:t>PRISMA 2020 supports transparent reporting. It is not a study-quality score and does not establish that this checkpoint corpus is exhaustive.</a:t>
            </a:r>
          </a:p>
          <a:p>
            <a:endParaRPr/>
          </a:p>
          <a:p>
            <a:r>
              <a:t>Method reference: Page, M.J. et al. (2021), “The PRISMA 2020 statement: An updated guideline for reporting systematic reviews”, BMJ, 372, n71. DOI: https://doi.org/10.1136/bmj.n71. The citation and DOI were confirmed against the official BMJ record. Publisher page: https://www.bmj.com/content/372/bmj.n71.short.</a:t>
            </a:r>
          </a:p>
          <a:p>
            <a:endParaRPr/>
          </a:p>
          <a:p>
            <a:r>
              <a:t>Source: Yasir_CA2_Report_Template_Structure (9).docx, Section 2.2.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seven database searches returned 9,256 records: IEEE Xplore 1,806; SpringerLink 2,895; Scopus 2,133; Web of Science 1,137; ProQuest 1,180; ScienceDirect 65; and ACM Digital Library 40.</a:t>
            </a:r>
          </a:p>
          <a:p>
            <a:endParaRPr/>
          </a:p>
          <a:p>
            <a:r>
              <a:t>IEEE Xplore, Scopus, Web of Science and ProQuest were searched on 24 August 2026. SpringerLink, ScienceDirect and Google Scholar were searched on 25 August. ACM was searched on 5 September as a late arm, which is a declared limitation. Full-text coding began on 26 August.</a:t>
            </a:r>
          </a:p>
          <a:p>
            <a:endParaRPr/>
          </a:p>
          <a:p>
            <a:r>
              <a:t>The master query used three concept blocks joined by AND: healthcare data, consent and authorisation, and trust and multi-party concepts. The exact search terms are not reproduced in the provided report. This slide shows the concept blocks, not an invented search string.</a:t>
            </a:r>
          </a:p>
          <a:p>
            <a:endParaRPr/>
          </a:p>
          <a:p>
            <a:r>
              <a:t>Google Scholar was a separate discovery arm: approximately 8,160 results, with the first 100 screened by relevance using a predefined stopping rule. It added no primary studies and is not included in the 9,256 database total.</a:t>
            </a:r>
          </a:p>
          <a:p>
            <a:endParaRPr/>
          </a:p>
          <a:p>
            <a:r>
              <a:t>The sentinel test retrieved all four healthcare-scoped papers from twelve predefined sentinels. Eight were missed; one miss remained unexplained. This is not twelve-out-of-twelve recall.</a:t>
            </a:r>
          </a:p>
          <a:p>
            <a:endParaRPr/>
          </a:p>
          <a:p>
            <a:r>
              <a:t>Source: Yasir_CA2_Report_Template_Structure (9).docx, Section 2.2 and Figure 2.1.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eligibility criteria were defined before screening. Inclusion required healthcare data; consent, authorisation, access control, trust or governance relevant to data access; and a mechanism, model, system or evaluation relevant to a review question. Studies also had to be peer-reviewed English papers with full text, published from January 2020 to 2026.</a:t>
            </a:r>
          </a:p>
          <a:p>
            <a:endParaRPr/>
          </a:p>
          <a:p>
            <a:r>
              <a:t>Nine exclusion criteria were fixed in advance. The slide summarises the exclusions for work outside healthcare or the authorisation scope, authentication alone, superficial consent references, non-peer-reviewed work, duplicate publications and secondary reviews.</a:t>
            </a:r>
          </a:p>
          <a:p>
            <a:endParaRPr/>
          </a:p>
          <a:p>
            <a:r>
              <a:t>A study was not excluded because it contradicted the proposed gap. Its relevance was assessed through its contribution to the review questions rather than through one keyword.</a:t>
            </a:r>
          </a:p>
          <a:p>
            <a:endParaRPr/>
          </a:p>
          <a:p>
            <a:r>
              <a:t>Three secondary studies were retained separately for background. They are not part of the 25 primary studies. Keeping a background reference does not make it an included primary study.</a:t>
            </a:r>
          </a:p>
          <a:p>
            <a:endParaRPr/>
          </a:p>
          <a:p>
            <a:r>
              <a:t>Source: Yasir_CA2_Report_Template_Structure (9).docx, Section 2.2 and Figure 2.1.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separates screened records from pending records. Removing 2,794 cross-database duplicates and 423 within-source duplicates from 9,256 records leaves 6,039 unique records.</a:t>
            </a:r>
          </a:p>
          <a:p>
            <a:endParaRPr/>
          </a:p>
          <a:p>
            <a:r>
              <a:t>Title screening excluded 2,910: 1,396 without an authorisation signal, 1,268 outside healthcare, 199 secondary reviews and 47 non-peer-reviewed records. The remaining 3,129 advanced to the abstract stage.</a:t>
            </a:r>
          </a:p>
          <a:p>
            <a:endParaRPr/>
          </a:p>
          <a:p>
            <a:r>
              <a:t>Of these, 2,541 abstracts were screened. Another 588 remained pending because the exports contained no abstracts, mostly from SpringerLink. Pending records were not excluded and did not advance to full text.</a:t>
            </a:r>
          </a:p>
          <a:p>
            <a:endParaRPr/>
          </a:p>
          <a:p>
            <a:r>
              <a:t>Abstract screening excluded 741: 642 without authorisation relevance, 60 secondary reviews, 37 outside healthcare, one non-peer-reviewed record and one duplicate publication. This left 1,800 full texts sought and prioritised.</a:t>
            </a:r>
          </a:p>
          <a:p>
            <a:endParaRPr/>
          </a:p>
          <a:p>
            <a:r>
              <a:t>The reconciliation is 6,039 = 2,910 title exclusions + 741 abstract exclusions + 588 pending abstracts + 1,800 advanced records. The title-plus-abstract exclusions total 3,651, not 4,239.</a:t>
            </a:r>
          </a:p>
          <a:p>
            <a:endParaRPr/>
          </a:p>
          <a:p>
            <a:r>
              <a:t>Method reference: Page et al. (2021), PRISMA 2020, https://doi.org/10.1136/bmj.n71.</a:t>
            </a:r>
          </a:p>
          <a:p>
            <a:endParaRPr/>
          </a:p>
          <a:p>
            <a:r>
              <a:t>Source: Yasir_CA2_Report_Template_Structure (9).docx, Figure 2.1 and Section 2.2.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1,800 full-text pool was prioritised as Tier A 39, Tier B 1,066 and Tier C 695. At the checkpoint, all 39 Tier A reports and 25 further reports had been assessed: 64 in total. Another 1,735 remained unassessed and one could not be retrieved.</a:t>
            </a:r>
          </a:p>
          <a:p>
            <a:endParaRPr/>
          </a:p>
          <a:p>
            <a:r>
              <a:t>Seventeen assessed reports were excluded: nine for superficial relevance, three outside healthcare, two non-peer-reviewed, two without authorisation relevance and one for authentication alone. This left 47 reports retained after assessment.</a:t>
            </a:r>
          </a:p>
          <a:p>
            <a:endParaRPr/>
          </a:p>
          <a:p>
            <a:r>
              <a:t>The 47 comprise 44 fully coded, quality-passing reports and three secondary background studies. The 44 coded reports comprise 25 primary studies and 19 supporting references outside the primary corpus.</a:t>
            </a:r>
          </a:p>
          <a:p>
            <a:endParaRPr/>
          </a:p>
          <a:p>
            <a:r>
              <a:t>The primary corpus contains 23 core studies plus the two highest-quality supporting studies, each scoring 7.0: Albalwy, Brass and Davies (2021) and Li et al. (2026a). A study was core if its gap-impact verdict contradicted, weakened or narrowed the gap, or its multi-party dimension was Yes or Partial. Coding of Tiers B and C continues.</a:t>
            </a:r>
          </a:p>
          <a:p>
            <a:endParaRPr/>
          </a:p>
          <a:p>
            <a:r>
              <a:t>Supporting-study DOI links: https://doi.org/10.2196/27816 and https://doi.org/10.1109/JIOT.2025.3633504.</a:t>
            </a:r>
          </a:p>
          <a:p>
            <a:endParaRPr/>
          </a:p>
          <a:p>
            <a:r>
              <a:t>Source: Yasir_CA2_Report_Template_Structure (9).docx, Section 2.2, Figure 2.1 and Table 2.2.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Quality inclusion uses QA1 to QA4. QA1 concerns patient consent or consent-governed healthcare access. QA2 concerns an authorisation or access-decision mechanism rather than storage or recording alone. QA3 concerns a proper framework, model, protocol or architecture. QA4 concerns validation by a proof of concept or an implementation.</a:t>
            </a:r>
          </a:p>
          <a:p>
            <a:endParaRPr/>
          </a:p>
          <a:p>
            <a:r>
              <a:t>Each item is scored Yes = 1, Partial = 0.5, or No = 0. The inclusion gate is QA1 + QA2 + QA3 + QA4 ≥ 3.0. QA5 to QA8 determine the evidence tier rather than inclusion. Their individual questions are not reproduced in the provided report, so I do not invent them.</a:t>
            </a:r>
          </a:p>
          <a:p>
            <a:endParaRPr/>
          </a:p>
          <a:p>
            <a:r>
              <a:t>Each study is also coded against seven trust dimensions: identity, authority, multi-party, policy, temporal, lifecycle and audit; and against the six requirements. Every positive coding has a page reference. A trust-dimension grade is not interchangeable with a requirement grade.</a:t>
            </a:r>
          </a:p>
          <a:p>
            <a:endParaRPr/>
          </a:p>
          <a:p>
            <a:r>
              <a:t>A saturation rule was predefined: eight consecutively coded studies with a positive signal for a dimension must yield no new mechanism class. The report does not establish that saturation had been reached at this checkpoint.</a:t>
            </a:r>
          </a:p>
          <a:p>
            <a:endParaRPr/>
          </a:p>
          <a:p>
            <a:r>
              <a:t>Source: Yasir_CA2_Report_Template_Structure (9).docx, Section 2.2 and Table 2.1.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25 primary studies are organised into six streams, with each study assigned once, normally to the dimension on which it is coded most strongly.</a:t>
            </a:r>
          </a:p>
          <a:p>
            <a:endParaRPr/>
          </a:p>
          <a:p>
            <a:r>
              <a:t>Consent representation contains S3, S19 and S22. Identity and authority contains S14, S15 and S23. Multi-party authorisation contains S1, S4, S6, S10, S16, S20 and S24. Policy and context contains S2, S7, S17 and S21. Temporal and lifecycle contains S5, S9, S13 and S18. Security assurance contains S8, S11, S12 and S25. The stream counts are therefore 3, 3, 7, 4, 4 and 4.</a:t>
            </a:r>
          </a:p>
          <a:p>
            <a:endParaRPr/>
          </a:p>
          <a:p>
            <a:r>
              <a:t>A stream is an organising category, not a full-satisfaction grade. A paper may address several requirements although it is assigned to one stream. For example, S6, Hagström et al. (2024), belongs to the multi-party stream because it gates guardian access, but is graded Partial on Req 3. Similarly, seven studies belong to the multi-party stream while six satisfy Req 3 fully.</a:t>
            </a:r>
          </a:p>
          <a:p>
            <a:endParaRPr/>
          </a:p>
          <a:p>
            <a:r>
              <a:t>Example source: Hagström et al. (2024), https://doi.org/10.1016/j.ijmedinf.2024.105465.</a:t>
            </a:r>
          </a:p>
          <a:p>
            <a:endParaRPr/>
          </a:p>
          <a:p>
            <a:r>
              <a:t>Source: Yasir_CA2_Report_Template_Structure (9).docx, Section 2.3 and Table 2.2.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bars count only Yes grades in the report's 25-study matrix. Full satisfaction is 12 for Req 1, seven for Req 2, six for Req 3, ten for Req 4, eight for Req 5 and nine for Req 6.</a:t>
            </a:r>
          </a:p>
          <a:p>
            <a:endParaRPr/>
          </a:p>
          <a:p>
            <a:r>
              <a:t>The complete Yes / Partial / No distributions are: Req 1, 12 / 13 / 0; Req 2, 7 / 18 / 0; Req 3, 6 / 4 / 15; Req 4, 10 / 11 / 4; Req 5, 8 / 13 / 4; and Req 6, 9 / 16 / 0.</a:t>
            </a:r>
          </a:p>
          <a:p>
            <a:endParaRPr/>
          </a:p>
          <a:p>
            <a:r>
              <a:t>Req 6 takes the higher grade from formal assurance and empirical validation. Its nine Yes grades do not mean nine formal proofs or nine studies providing both. Formal assurance is Yes in four studies; empirical validation is Yes in five.</a:t>
            </a:r>
          </a:p>
          <a:p>
            <a:endParaRPr/>
          </a:p>
          <a:p>
            <a:r>
              <a:t>No analysed study has six Yes grades. Madine et al. (2020) and Panagoulias et al. (2026) reach four. Five studies have no Yes grades: S1, S15, S19, S22 and S24. Partial contributions are still useful. Panagoulias does enforce and test several conditions; the narrower gap concerns the complete standing patient-appointed threshold conjunction.</a:t>
            </a:r>
          </a:p>
          <a:p>
            <a:endParaRPr/>
          </a:p>
          <a:p>
            <a:r>
              <a:t>Comparator DOI links: https://doi.org/10.1109/ACCESS.2020.3045048; https://doi.org/10.3390/electronics15143046.</a:t>
            </a:r>
          </a:p>
          <a:p>
            <a:endParaRPr/>
          </a:p>
          <a:p>
            <a:r>
              <a:t>Source: Yasir_CA2_Report_Template_Structure (9).docx, Section 2.4, Table 2.4 and Section 2.5.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matrix preserves the source report's requirement grades. Yes means satisfied, Partial means partly satisfied, and No means not satisfied. Req 1 covers an evaluable consent object; Req 2 identity and authority; Req 3 multi-party authorisation; Req 4 policy, purpose and scope; Req 5 temporal validity and lifecycle; and Req 6 formal or empirical assurance. Req 6 takes the higher of those two assurance grades. These are the report author's coded findings, not newly verified paper assessments.</a:t>
            </a:r>
          </a:p>
          <a:p>
            <a:endParaRPr/>
          </a:p>
          <a:p>
            <a:r>
              <a:t>The following register gives the full source titles, issue or proceedings years, and Table 2.3 descriptions and limitations for the studies on this slide. DOI links are copied from the report's bibliography.</a:t>
            </a:r>
          </a:p>
          <a:p>
            <a:endParaRPr/>
          </a:p>
          <a:p>
            <a:endParaRPr/>
          </a:p>
          <a:p>
            <a:r>
              <a:t>S1 — Abbasi et al. (2026)</a:t>
            </a:r>
          </a:p>
          <a:p>
            <a:r>
              <a:t>Year: 2026. Full title: Nexa: Enabling Secure, Scalable, and Decentralized Management of Electronic Health Records Using Threshold Cryptography and Public Blockchains</a:t>
            </a:r>
          </a:p>
          <a:p>
            <a:r>
              <a:t>Description: Decentralised EHR management in which a Shamir (5, 3) threshold reconstructs a symmetric key, and automated oracles release their shares according to the requester's on-chain role.</a:t>
            </a:r>
          </a:p>
          <a:p>
            <a:r>
              <a:t>Limitations: The threshold is over key custodians rather than authorisers, the patient share is not required, purpose is not evaluated, and no authorisation decision is verified despite extensive performance measurement.</a:t>
            </a:r>
          </a:p>
          <a:p>
            <a:r>
              <a:t>DOI: https://doi.org/10.1109/ACCESS.2026.3677499</a:t>
            </a:r>
          </a:p>
          <a:p>
            <a:endParaRPr/>
          </a:p>
          <a:p>
            <a:r>
              <a:t>S2 — Albalwy et al. (2021)</a:t>
            </a:r>
          </a:p>
          <a:p>
            <a:r>
              <a:t>Year: 2021. Full title: A Blockchain-based dynamic consent architecture to support clinical genomic data sharing (ConsentChain): Proof-of-concept study</a:t>
            </a:r>
          </a:p>
          <a:p>
            <a:r>
              <a:t>Description: A blockchain-based dynamic consent proof of concept for clinical genomic data, in which a hashed policy tree of data type, role, and purpose is evaluated by the smart contract.</a:t>
            </a:r>
          </a:p>
          <a:p>
            <a:r>
              <a:t>Limitations: A single patient sets and cancels consent, the requester's role and credentials are not verified, time is applied only at the delivery layer, and there is no formal assurance.</a:t>
            </a:r>
          </a:p>
          <a:p>
            <a:r>
              <a:t>DOI: https://doi.org/10.2196/27816</a:t>
            </a:r>
          </a:p>
          <a:p>
            <a:endParaRPr/>
          </a:p>
          <a:p>
            <a:r>
              <a:t>S3 — Al Amin et al. (2023)</a:t>
            </a:r>
          </a:p>
          <a:p>
            <a:r>
              <a:t>Year: 2023. Full title: Informed Consent as Patient Driven Policy for Clinical Diagnosis and Treatment: A Smart Contract Based Approach</a:t>
            </a:r>
          </a:p>
          <a:p>
            <a:r>
              <a:t>Description: Informed consent is modelled as a patient-driven policy object with hash integrity, which an authorisation module conjoins with other policies inside a smart contract.</a:t>
            </a:r>
          </a:p>
          <a:p>
            <a:r>
              <a:t>Limitations: Purpose is not a condition, the time and expiry conditions are specified but not enforced, the only multi-party element is a 2-of-2 co-signature at registration, and the Goerli evaluation reports no measured results.</a:t>
            </a:r>
          </a:p>
          <a:p>
            <a:r>
              <a:t>DOI: https://doi.org/10.5220/0012090600003555</a:t>
            </a:r>
          </a:p>
          <a:p>
            <a:endParaRPr/>
          </a:p>
          <a:p>
            <a:r>
              <a:t>S4 — Ekholm et al. (2025)</a:t>
            </a:r>
          </a:p>
          <a:p>
            <a:r>
              <a:t>Year: 2025. Full title: Implementing electronic informed consent in rare disease genomics</a:t>
            </a:r>
          </a:p>
          <a:p>
            <a:r>
              <a:t>Description: A deployed electronic informed consent platform for rare disease genomics, in which a minor's consent is valid only when all legal guardians sign, and guardianship is verified against the Swedish Population Register.</a:t>
            </a:r>
          </a:p>
          <a:p>
            <a:r>
              <a:t>Limitations: The guardian co-consent applies at registration rather than at each access request, the platform is centralised and described with little technical detail, and there is no temporal, purpose, or formal assurance condition.</a:t>
            </a:r>
          </a:p>
          <a:p>
            <a:r>
              <a:t>DOI: https://doi.org/10.1038/s41598-025-32740-1</a:t>
            </a:r>
          </a:p>
          <a:p>
            <a:endParaRPr/>
          </a:p>
          <a:p>
            <a:r>
              <a:t>S5 — Eneh et al. (2026)</a:t>
            </a:r>
          </a:p>
          <a:p>
            <a:r>
              <a:t>Year: 2026. Full title: Demo: EdgeConsent: On-Chain Attribute-Based Access Control for Data Consent Management</a:t>
            </a:r>
          </a:p>
          <a:p>
            <a:r>
              <a:t>Description: EdgeConsent, a demonstration of on-chain attribute-based access control in which consent rules with purpose, data category, and notBefore and notAfter bounds are evaluated at decision time.</a:t>
            </a:r>
          </a:p>
          <a:p>
            <a:r>
              <a:t>Limitations: A two-page demonstration with weak identity and authority trust and no DID or VC, no multi-party approval, a lifecycle that is only an active flag, and preliminary local evaluation without formal assurance.</a:t>
            </a:r>
          </a:p>
          <a:p>
            <a:r>
              <a:t>DOI: https://doi.org/10.1109/ICBC67748.2026.11575534</a:t>
            </a:r>
          </a:p>
          <a:p>
            <a:endParaRPr/>
          </a:p>
          <a:p>
            <a:r>
              <a:t>S6 — Hagström et al. (2024)</a:t>
            </a:r>
          </a:p>
          <a:p>
            <a:r>
              <a:t>Year: 2024. Full title: Minors’ and guardian access to and use of a national patient portal: A retrospective comparative case study of Sweden and Finland</a:t>
            </a:r>
          </a:p>
          <a:p>
            <a:r>
              <a:t>Description: A comparative case study of national patient portals, in which a clinician's capacity assessment and the minor's consent jointly gate guardian access, with register-verified guardianship and enforced age windows.</a:t>
            </a:r>
          </a:p>
          <a:p>
            <a:r>
              <a:t>Limitations: The mechanism is centralised and applied at documentation time, and the guardian is the party whose proxy access is gated rather than a co-authoriser of the patient's access decision.</a:t>
            </a:r>
          </a:p>
          <a:p>
            <a:r>
              <a:t>DOI: https://doi.org/10.1016/j.ijmedinf.2024.105465</a:t>
            </a:r>
          </a:p>
          <a:p>
            <a:endParaRPr/>
          </a:p>
          <a:p>
            <a:r>
              <a:t>S7 — Jaiman and Urovi (2020)</a:t>
            </a:r>
          </a:p>
          <a:p>
            <a:r>
              <a:t>Year: 2020. Full title: A Consent Model for Blockchain-Based Health Data Sharing Platforms</a:t>
            </a:r>
          </a:p>
          <a:p>
            <a:r>
              <a:t>Description: A consent model in which ontology terms requested by a data requester are matched against the patient's consent inside the smart contract, with denial tested across requester profiles.</a:t>
            </a:r>
          </a:p>
          <a:p>
            <a:r>
              <a:t>Limitations: Security assurance is explicitly outside its scope, and there is no multi-party approval.</a:t>
            </a:r>
          </a:p>
          <a:p>
            <a:r>
              <a:t>DOI: https://doi.org/10.1109/ACCESS.2020.3014565</a:t>
            </a:r>
          </a:p>
          <a:p>
            <a:endParaRPr/>
          </a:p>
          <a:p>
            <a:r>
              <a:t>S8 — Zhao and Su (2024)</a:t>
            </a:r>
          </a:p>
          <a:p>
            <a:r>
              <a:t>Year: 2024. Full title: A threshold traceable delegation authorization scheme for data sharing in healthcare</a:t>
            </a:r>
          </a:p>
          <a:p>
            <a:r>
              <a:t>Description: A threshold traceable delegation scheme in which the patient delegates a threshold of l already-authorised users, who must jointly authorise an out-of-policy requester, with unforgeability argued under DBDH.</a:t>
            </a:r>
          </a:p>
          <a:p>
            <a:r>
              <a:t>Limitations: The authorisers are consumer-side delegates rather than patient-side stakeholders, the patient's own decision is unilateral, a trusted authority escrows keys, and there is no temporal, lifecycle, or purpose condition.</a:t>
            </a:r>
          </a:p>
          <a:p>
            <a:r>
              <a:t>DOI: https://doi.org/10.1016/j.cose.2023.103686</a:t>
            </a:r>
          </a:p>
          <a:p>
            <a:endParaRPr/>
          </a:p>
          <a:p>
            <a:r>
              <a:t>S9 — Li et al. (2026a)</a:t>
            </a:r>
          </a:p>
          <a:p>
            <a:r>
              <a:t>Year: 2026. Full title: Privacy-Preserving Fine-Grained EMR Access Control for IoMT: A Hybrid RBAC-Smart Contract Scheme With Attribute-Based Authorization</a:t>
            </a:r>
          </a:p>
          <a:p>
            <a:r>
              <a:t>Description: A hybrid RBAC and smart contract scheme with attribute-based authentication for fine-grained EMR access in IoMT, which enforces credential expiry at every sharing interaction.</a:t>
            </a:r>
          </a:p>
          <a:p>
            <a:r>
              <a:t>Limitations: Time is enforced in the decision through the credential rather than the consent, which is why Req 5 is graded Yes, but the consent itself carries no enforced validity window, and there is no multi-party approval.</a:t>
            </a:r>
          </a:p>
          <a:p>
            <a:r>
              <a:t>DOI: https://doi.org/10.1109/JIOT.2025.3633504</a:t>
            </a:r>
          </a:p>
          <a:p>
            <a:endParaRPr/>
          </a:p>
          <a:p>
            <a:r>
              <a:t>S10 — Madine et al. (2020)</a:t>
            </a:r>
          </a:p>
          <a:p>
            <a:r>
              <a:t>Year: 2020. Full title: Fully Decentralized Multi-Party Consent Management for Secure Sharing of Patient Health Records</a:t>
            </a:r>
          </a:p>
          <a:p>
            <a:r>
              <a:t>Description: Fully decentralised multi-party consent management in which, on the incapacitated path, approvals from a regulator and a guardian threshold are required on one access request, and stale attestations stop counting.</a:t>
            </a:r>
          </a:p>
          <a:p>
            <a:r>
              <a:t>Limitations: On the normal path a single patient key authorises, so multi-party approval is a contingency. Purpose and data-category policy are absent, revocation after delivery is not possible, and there is no formal assurance.</a:t>
            </a:r>
          </a:p>
          <a:p>
            <a:r>
              <a:t>DOI: https://doi.org/10.1109/ACCESS.2020.3045048</a:t>
            </a:r>
          </a:p>
          <a:p>
            <a:endParaRPr/>
          </a:p>
          <a:p>
            <a:r>
              <a:t>S11 — Maruthi and Singh (2025)</a:t>
            </a:r>
          </a:p>
          <a:p>
            <a:r>
              <a:t>Year: 2025. Full title: Enhancing Security and Privacy of IoMT Data for Unconscious Patient With Blockchain</a:t>
            </a:r>
          </a:p>
          <a:p>
            <a:r>
              <a:t>Description: Protection of IoMT data for unconscious patients, in which t-of-n patient-designated relatives release access through threshold proxy re-encryption, and the hospital and relatives are authenticated on chain.</a:t>
            </a:r>
          </a:p>
          <a:p>
            <a:r>
              <a:t>Limitations: Policy and temporal conditions are not evaluated, and the proofs cover the threshold gate in isolation rather than the complete decision.</a:t>
            </a:r>
          </a:p>
          <a:p>
            <a:r>
              <a:t>DOI: https://doi.org/10.1109/TNSM.2025.3602117</a:t>
            </a:r>
          </a:p>
          <a:p>
            <a:endParaRPr/>
          </a:p>
          <a:p>
            <a:r>
              <a:t>S12 — Mei et al. (2026)</a:t>
            </a:r>
          </a:p>
          <a:p>
            <a:r>
              <a:t>Year: 2026. Full title: Efficient Dual-Revocation CP-ABE for Secure and Fine-Grained Data Sharing in IoMT</a:t>
            </a:r>
          </a:p>
          <a:p>
            <a:r>
              <a:t>Description: An efficient dual-revocation CP-ABE scheme for IoMT that terminates access immediately through ciphertext update, motivated by consent withdrawal, with a security reduction under q-BDHE.</a:t>
            </a:r>
          </a:p>
          <a:p>
            <a:r>
              <a:t>Limitations: The proof covers a static encryption predicate, revocation operates at scheme level rather than on a consent object, and there is no multi-party approval.</a:t>
            </a:r>
          </a:p>
          <a:p>
            <a:r>
              <a:t>DOI: https://doi.org/10.1109/JIOT.2026.3685269</a:t>
            </a:r>
          </a:p>
          <a:p>
            <a:endParaRPr/>
          </a:p>
          <a:p>
            <a:r>
              <a:t>S13 — Panagoulias et al. (2026)</a:t>
            </a:r>
          </a:p>
          <a:p>
            <a:r>
              <a:t>Year: 2026. Full title: Blockchain-Enabled Trust and Compliance for Clinical AI: Decentralized Governance Without Decentralized Data Storage</a:t>
            </a:r>
          </a:p>
          <a:p>
            <a:r>
              <a:t>Description: Blockchain-enabled trust and compliance for clinical AI, in which an Allow predicate over time, revocation, role, and purpose is evaluated before execution and denials are recorded, verified across simulated attempts with zero consent drift.</a:t>
            </a:r>
          </a:p>
          <a:p>
            <a:r>
              <a:t>Limitations: A simulated single-node prototype with set-membership policy and aggregate deny attribution, without multi-party approval or identity depth, and the authors declare no formal assurance.</a:t>
            </a:r>
          </a:p>
          <a:p>
            <a:r>
              <a:t>DOI: https://doi.org/10.3390/electronics15143046</a:t>
            </a:r>
          </a:p>
          <a:p>
            <a:endParaRPr/>
          </a:p>
          <a:p>
            <a:r>
              <a:t>Source: Yasir_CA2_Report_Template_Structure (9).docx, Table 2.2, Table 2.3, Table 2.4 and References.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matrix preserves the source report's requirement grades. Yes means satisfied, Partial means partly satisfied, and No means not satisfied. Req 1 covers an evaluable consent object; Req 2 identity and authority; Req 3 multi-party authorisation; Req 4 policy, purpose and scope; Req 5 temporal validity and lifecycle; and Req 6 formal or empirical assurance. Req 6 takes the higher of those two assurance grades. These are the report author's coded findings, not newly verified paper assessments.</a:t>
            </a:r>
          </a:p>
          <a:p>
            <a:endParaRPr/>
          </a:p>
          <a:p>
            <a:r>
              <a:t>The following register gives the full source titles, issue or proceedings years, and Table 2.3 descriptions and limitations, with S15 evaluation wording clarified for the studies on this slide. DOI links are copied from the report's bibliography.</a:t>
            </a:r>
          </a:p>
          <a:p>
            <a:endParaRPr/>
          </a:p>
          <a:p>
            <a:endParaRPr/>
          </a:p>
          <a:p>
            <a:r>
              <a:t>S14 — Phuyal et al. (2026b)</a:t>
            </a:r>
          </a:p>
          <a:p>
            <a:r>
              <a:t>Year: 2026. Full title: Enabling Cross-Institution Health Data Sharing in Norway: EUDI Wallets, On-Chain Consent, and openEHR↔FHIR Translation</a:t>
            </a:r>
          </a:p>
          <a:p>
            <a:r>
              <a:t>Description: Cross-institution health data sharing with EUDI-compatible wallets, W3C decentralised identifiers, verifiable credentials, an on-chain consent object on Hyperledger Besu, and Groth16 access proofs, where a licensing-body credential asserts role separately from authentication.</a:t>
            </a:r>
          </a:p>
          <a:p>
            <a:r>
              <a:t>Limitations: A single patient grants consent, the stored expiry is not checked, purpose is handled only at the interface, and there is no threat model.</a:t>
            </a:r>
          </a:p>
          <a:p>
            <a:r>
              <a:t>DOI: https://doi.org/10.1109/ACCESS.2026.3661642</a:t>
            </a:r>
          </a:p>
          <a:p>
            <a:endParaRPr/>
          </a:p>
          <a:p>
            <a:r>
              <a:t>S15 — Phuyal et al. (2026a)</a:t>
            </a:r>
          </a:p>
          <a:p>
            <a:r>
              <a:t>Year: 2026. Full title: A Blockchain-Based Architecture for Dynamic and Auditable Patient Consent in Secondary Use of Health Data</a:t>
            </a:r>
          </a:p>
          <a:p>
            <a:r>
              <a:t>Description: A design-science architecture for dynamic and auditable patient consent in secondary use, using FHIR Consent with purpose, scope, actors, and validity period, anchored on chain, with conceptual VC validation at a gateway.</a:t>
            </a:r>
          </a:p>
          <a:p>
            <a:r>
              <a:t>Limitations: The architecture is design-only and is neither implemented nor empirically validated, and delegation through VCs is not joint multi-party approval. The article includes threat modelling and theoretical evaluation.</a:t>
            </a:r>
          </a:p>
          <a:p>
            <a:r>
              <a:t>DOI: https://doi.org/10.30953/bhty.v9.491</a:t>
            </a:r>
          </a:p>
          <a:p>
            <a:endParaRPr/>
          </a:p>
          <a:p>
            <a:r>
              <a:t>S16 — Punia et al. (2025)</a:t>
            </a:r>
          </a:p>
          <a:p>
            <a:r>
              <a:t>Year: 2025. Full title: An access control system for cloud-based healthcare systems driven by blockchain</a:t>
            </a:r>
          </a:p>
          <a:p>
            <a:r>
              <a:t>Description: MedXBlock, a blockchain-driven access control system for cloud healthcare that combines an institutional M-of-N multi-signature with a conjunctive role and attribute policy evaluated with deny-by-default.</a:t>
            </a:r>
          </a:p>
          <a:p>
            <a:r>
              <a:t>Limitations: The signers are doctors and administrators rather than patient-side parties, the threshold sits outside the decision predicate and a single emergency officer can bypass it, there is no purpose term, and no authorisation decision is verified.</a:t>
            </a:r>
          </a:p>
          <a:p>
            <a:r>
              <a:t>DOI: https://doi.org/10.1186/s13677-025-00831-z</a:t>
            </a:r>
          </a:p>
          <a:p>
            <a:endParaRPr/>
          </a:p>
          <a:p>
            <a:r>
              <a:t>S17 — Román-Martínez et al. (2023)</a:t>
            </a:r>
          </a:p>
          <a:p>
            <a:r>
              <a:t>Year: 2023. Full title: Blockchain-Based Service-Oriented Architecture for Consent Management, Access Control, and Auditing</a:t>
            </a:r>
          </a:p>
          <a:p>
            <a:r>
              <a:t>Description: A blockchain-based service-oriented architecture on Hyperledger Fabric for consent management, access control, and auditing, in which FHIR purpose-of-use limits are evaluated per resource through XACML.</a:t>
            </a:r>
          </a:p>
          <a:p>
            <a:r>
              <a:t>Limitations: There is no withdrawal or expiry path, and the experiments validate only the blockchain component.</a:t>
            </a:r>
          </a:p>
          <a:p>
            <a:r>
              <a:t>DOI: https://doi.org/10.1109/ACCESS.2023.3242605</a:t>
            </a:r>
          </a:p>
          <a:p>
            <a:endParaRPr/>
          </a:p>
          <a:p>
            <a:r>
              <a:t>S18 — Hema et al. (2026)</a:t>
            </a:r>
          </a:p>
          <a:p>
            <a:r>
              <a:t>Year: 2026. Full title: Patient Centric Cryptographic Protection of Cloud Electronic Health Records</a:t>
            </a:r>
          </a:p>
          <a:p>
            <a:r>
              <a:t>Description: Patient-centric cryptographic protection of cloud EHRs, in which a signed consent token, role, and expiry are inputs to key derivation, so that access becomes a cryptographic precondition and role-scoped keys separate authority from identity.</a:t>
            </a:r>
          </a:p>
          <a:p>
            <a:r>
              <a:t>Limitations: Consent is issued from a single patient key, identity relies on a cloud authentication service without DID or VC, and assurance is limited to an adversary model.</a:t>
            </a:r>
          </a:p>
          <a:p>
            <a:r>
              <a:t>DOI: https://doi.org/10.1109/ICOECA68095.2026.11485301</a:t>
            </a:r>
          </a:p>
          <a:p>
            <a:endParaRPr/>
          </a:p>
          <a:p>
            <a:r>
              <a:t>S19 — SooHoo et al. (2026)</a:t>
            </a:r>
          </a:p>
          <a:p>
            <a:r>
              <a:t>Year: 2026. Full title: Development of the authentication and authorization processes for the iAgree portal, a platform for patient-controlled data sharing across health systems</a:t>
            </a:r>
          </a:p>
          <a:p>
            <a:r>
              <a:t>Description: The authentication and authorisation processes of the iAgree portal across three United States health systems, using OAuth2, SMART on FHIR, and one-time passwords, with a permissioned Ethereum audit contract.</a:t>
            </a:r>
          </a:p>
          <a:p>
            <a:r>
              <a:t>Limitations: Consent enforcement is outside its scope, a single patient decides, identity and authority are not separated, revocation is claimed but not tested, and there are no formal methods.</a:t>
            </a:r>
          </a:p>
          <a:p>
            <a:r>
              <a:t>DOI: https://doi.org/10.1093/jamiaopen/ooag111</a:t>
            </a:r>
          </a:p>
          <a:p>
            <a:endParaRPr/>
          </a:p>
          <a:p>
            <a:r>
              <a:t>S20 — Tan et al. (2024)</a:t>
            </a:r>
          </a:p>
          <a:p>
            <a:r>
              <a:t>Year: 2024. Full title: Secure and privacy-preserving sharing of personal health records with multi-party pre-authorization verification</a:t>
            </a:r>
          </a:p>
          <a:p>
            <a:r>
              <a:t>Description: Sharing of personal health records with multi-party pre-authorisation verification, in which a (t, n) threshold of patient-appointed verifiers each validate the grant, its expiry, and the revocation list before releasing a key share.</a:t>
            </a:r>
          </a:p>
          <a:p>
            <a:r>
              <a:t>Limitations: The joint approval is a pre-delegated contingency for an unconscious patient rather than a standing condition, purpose and data scope are not evaluated, and the gate is not evaluated empirically as an authorisation decision.</a:t>
            </a:r>
          </a:p>
          <a:p>
            <a:r>
              <a:t>DOI: https://doi.org/10.1007/s11276-022-03114-6</a:t>
            </a:r>
          </a:p>
          <a:p>
            <a:endParaRPr/>
          </a:p>
          <a:p>
            <a:r>
              <a:t>S21 — Tith et al. (2020)</a:t>
            </a:r>
          </a:p>
          <a:p>
            <a:r>
              <a:t>Year: 2020. Full title: Patient consent management by a purpose-based consent model for electronic health record based on blockchain technology</a:t>
            </a:r>
          </a:p>
          <a:p>
            <a:r>
              <a:t>Description: A purpose-based consent model on Hyperledger Fabric, in which a consent tuple of role, doctor identifiers, action, and intended purpose is matched against a purpose tree in chaincode at request time.</a:t>
            </a:r>
          </a:p>
          <a:p>
            <a:r>
              <a:t>Limitations: Consent is given by a single patient, the tuple has no temporal element, the effect of withdrawal is not tested, identity uses Fabric certificates without DID or VC, and there is no formal verification.</a:t>
            </a:r>
          </a:p>
          <a:p>
            <a:r>
              <a:t>DOI: https://doi.org/10.4258/hir.2020.26.4.265</a:t>
            </a:r>
          </a:p>
          <a:p>
            <a:endParaRPr/>
          </a:p>
          <a:p>
            <a:r>
              <a:t>S22 — Tremper et al. (2026)</a:t>
            </a:r>
          </a:p>
          <a:p>
            <a:r>
              <a:t>Year: 2026. Full title: Mainzelliste: Ten years of pseudonymization, record linkage, and informed consent management</a:t>
            </a:r>
          </a:p>
          <a:p>
            <a:r>
              <a:t>Description: Ten years of the Mainzelliste production service for pseudonymisation, record linkage, and informed consent management, with purpose-scoped FHIR consent directives and automated consent checks.</a:t>
            </a:r>
          </a:p>
          <a:p>
            <a:r>
              <a:t>Limitations: The consent checks have no specified semantics and no demonstrated enforcement of withdrawal, its multi-party computation parties are linkage units rather than authorisers, and no consent decision is verified.</a:t>
            </a:r>
          </a:p>
          <a:p>
            <a:r>
              <a:t>DOI: https://doi.org/10.1016/j.patter.2025.101432</a:t>
            </a:r>
          </a:p>
          <a:p>
            <a:endParaRPr/>
          </a:p>
          <a:p>
            <a:r>
              <a:t>S23 — Tseng et al. (2025)</a:t>
            </a:r>
          </a:p>
          <a:p>
            <a:r>
              <a:t>Year: 2025. Full title: EMR-Chain: Decentralized Electronic Medical Record Exchange System</a:t>
            </a:r>
          </a:p>
          <a:p>
            <a:r>
              <a:t>Description: EMR-Chain, a decentralised electronic medical record exchange that verifies authority-issued roles separately from X.509 identities and enforces token expiry at the validator.</a:t>
            </a:r>
          </a:p>
          <a:p>
            <a:r>
              <a:t>Limitations: It has no W3C identifiers, purpose is logged but never evaluated, scope is hospital-level only, the patient and requester signatures authenticate the request rather than add an independent authoriser, and revocation does not invalidate issued tokens.</a:t>
            </a:r>
          </a:p>
          <a:p>
            <a:r>
              <a:t>DOI: https://doi.org/10.3390/technologies13100446</a:t>
            </a:r>
          </a:p>
          <a:p>
            <a:endParaRPr/>
          </a:p>
          <a:p>
            <a:r>
              <a:t>S24 — Wu et al. (2022)</a:t>
            </a:r>
          </a:p>
          <a:p>
            <a:r>
              <a:t>Year: 2022. Full title: Apply Trust Computing and Privacy Preserving Smart Contracts to Manage, Share, and Analyze Multi-site Clinical Trial Data</a:t>
            </a:r>
          </a:p>
          <a:p>
            <a:r>
              <a:t>Description: Trust computing and privacy-preserving smart contracts for multi-site clinical trial data, in which a (t, n) investigator threshold signature governs trial admission to the ledger and consent revocation.</a:t>
            </a:r>
          </a:p>
          <a:p>
            <a:r>
              <a:t>Limitations: The consent grant is unilateral, the voters are institution-side investigators, the vote reduces to a hash-integrity check, there is no policy engine, and there is no formal assurance.</a:t>
            </a:r>
          </a:p>
          <a:p>
            <a:r>
              <a:t>DOI: https://doi.org/10.1007/978-3-031-16035-6_1</a:t>
            </a:r>
          </a:p>
          <a:p>
            <a:endParaRPr/>
          </a:p>
          <a:p>
            <a:r>
              <a:t>S25 — Wu and Zhang (2025)</a:t>
            </a:r>
          </a:p>
          <a:p>
            <a:r>
              <a:t>Year: 2025. Full title: HealthDID: An efficient and authorizable multi-party privacy-preserving EMR sharing system based on DID</a:t>
            </a:r>
          </a:p>
          <a:p>
            <a:r>
              <a:t>Description: HealthDID, a DID-based privacy-preserving EMR sharing system with three game-based definitions and three theorems proved by reduction, in which a zero-knowledge proof binds the authorisation to a specific requester.</a:t>
            </a:r>
          </a:p>
          <a:p>
            <a:r>
              <a:t>Limitations: The proofs cover only the identity and authority fragment, multi-party refers to the privacy requirements of several stakeholders rather than joint approval, and there are no policy, temporal, or lifecycle conditions.</a:t>
            </a:r>
          </a:p>
          <a:p>
            <a:r>
              <a:t>DOI: https://doi.org/10.1016/j.csi.2024.103967</a:t>
            </a:r>
          </a:p>
          <a:p>
            <a:endParaRPr/>
          </a:p>
          <a:p>
            <a:r>
              <a:t>Source: Yasir_CA2_Report_Template_Structure (9).docx, Table 2.2, Table 2.3, Table 2.4 and References. All review counts and corpus findings are those recorded on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sums up the review. The good news: every requirement is covered by some study. The problem: no study puts all the conditions together in one access decision. I call this the conjunction gap. And no study proves or tests the whole decision. Formal proofs exist in only 4 of the 25 studies, and they cover only a small part. I call this the assurance gap. These two gaps are what my research fills.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gap of my study. Existing healthcare consent and access-control research provides many of the necessary technological building blocks, but there remains a need for an integrated Trust Computing framework that treats patient consent as a security-bearing and evaluable authorisation object. Such a framework should be capable of representing the relevant trust conditions, verifying the participating entities and their authority, establishing collective authorisation where required, and enforcing the policy and data-scope constraints associated with the consent.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my main research question. How can a trust-oriented computing framework establish and enforce trustworthy multi-party consent for decentralised healthcare data sharing, under identity, authority and policy constraints? It has six sub-questions. How to model consent. How to check identity and authority. How several guardians can approve together. How purpose and scope are checked. How time and lifecycle are checked. And how to prove and test the security.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has one objective. RO1 to RO4 are done, and they are validated with the prototype. RO5 is time and lifecycle. It is in progress. The validity window and the revocation already work. The suspended state, the transition check, consent changes, delegation and guardian changes are for the next stage. RO6 is partly completed. The automated tests, the attack tests and the measurements are done. The formal proofs are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steps I followed. Step one, I identified the problem. Step two, I did the systematic review. Step three, from the review I found the research gap and wrote the questions. Step four, I set the objectives. Step five, I designed the framework: the architecture, the consent object, and four algorithms. Step six, I built the prototype on the Sepolia test network. Step seven, I evaluated it with live scenarios, measurements and attack tests. The formal proofs are the next stage.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aligns the activities documented in my report with a generic five-stage Design Science Research process: awareness of the problem, suggestion, design and development, evaluation, and conclusion. It is an organising adaptation of the reported work. It does not claim that a new DSR protocol was registered or that these stages occurred as five separate, completed chronological phases.</a:t>
            </a:r>
          </a:p>
          <a:p>
            <a:endParaRPr/>
          </a:p>
          <a:p>
            <a:r>
              <a:t>Awareness of the problem maps to Sections 1 to 3: the healthcare authorisation problem, the six requirements, and the literature-derived gaps. The SLR findings are those recorded on 10 September 2026 and are bounded by that checkpoint.</a:t>
            </a:r>
          </a:p>
          <a:p>
            <a:endParaRPr/>
          </a:p>
          <a:p>
            <a:r>
              <a:t>Suggestion maps to Sections 2.6, 3 and 4: a trust-oriented framework, six project research questions and six objectives. The consent object in this uploaded report is C = (I, A, P, T, L, E).</a:t>
            </a:r>
          </a:p>
          <a:p>
            <a:endParaRPr/>
          </a:p>
          <a:p>
            <a:r>
              <a:t>Design and development maps to Section 5 and Sections 6 to 11. MVC separates interaction, enforcement and persistent consent state. Algorithms 1 to 6 describe creation, identity and authority verification, multi-party approval, policy decisions, lifecycle validation and evaluation. HALAH is the implemented artefact, using synthetic Synthea records and Ethereum Sepolia. The report describes parts of the algorithms that remain planned; a diagrammed algorithm is not evidence that every step is implemented.</a:t>
            </a:r>
          </a:p>
          <a:p>
            <a:endParaRPr/>
          </a:p>
          <a:p>
            <a:r>
              <a:t>Evaluation maps to Section 11. The report records six live scenarios, 46 automated tests, thirteen attack scenarios, and cost and timing measurements. All 46 tests pass; twelve attacks are refused. A11 is neutral because its changed audit digest is not checked. These are empirical results, not formal verification. Section 11.6 documents revisions after failed service-level checks, which supports the idea of refinement and retesting without inventing a sequence of DSR cycles.</a:t>
            </a:r>
          </a:p>
          <a:p>
            <a:endParaRPr/>
          </a:p>
          <a:p>
            <a:r>
              <a:t>Conclusion maps to the synthesis of the contribution and limitations, Sections 10.4 and 11.7, and the publications and research plan in Sections 12 and 13. RO1 to RO4 are Done. RO5 is In Progress and RO6 is Partially completed. Formal proofs or model checking, remaining lifecycle controls, and evaluation under load are future work. Conclusion therefore means reflection and planning at this stage, not completion of the whole project.</a:t>
            </a:r>
          </a:p>
          <a:p>
            <a:endParaRPr/>
          </a:p>
          <a:p>
            <a:r>
              <a:t>Report source: Yasir_CA2_Report_Template_Structure (9).docx, Sections 1–13, particularly Sections 2–5 and 10–11. SLR reporting checkpoint: 10 September 2026.</a:t>
            </a:r>
          </a:p>
          <a:p>
            <a:endParaRPr/>
          </a:p>
          <a:p>
            <a:r>
              <a:t>Method source: Vaishnavi, V., Kuechler, W. and Duraisamy, S. (2025 update), Design Science Research in Information Systems, Figure 3, p. 11. https://designsciences.org/design-science-research-in-information-systems.pdf . This five-stage cycle develops the process introduced by Takeda et al. (1990). The five phases organise the reported HALAH activities. The shorter feedback loop represents evaluation-driven refinement, supported by the service-layer hardening reported in Section 11.6. The dashed loop represents lessons informing the next stage. The screenshot’s conceptual/perceptual/practical labels are omitted because they are not part of the source cycle.</a:t>
            </a:r>
          </a:p>
          <a:p>
            <a:endParaRPr/>
          </a:p>
          <a:p>
            <a:r>
              <a:t>Peffers et al. (2007), A Design Science Research Methodology for Information Systems Research, JMIS 24(3), 45–77, is a separate six-activity model: https://www.jmis-web.org/articles/765 ; https://doi.org/10.2753/MIS0742-1222240302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I used The design science research methodology (DSR) to satisfy the research objectives, Because The aim of this research is designing an artifact,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The proposed solutions are divided into phases. The first one is to identify the problem and then to define the objectives and solutions then to design the artifact and then evaluate the solutions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In this stag </a:t>
            </a:r>
            <a:r>
              <a:rPr kumimoji="0" lang="en-AU"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we can go back to first and second phase. Final stage is to communicate our results through publications.</a:t>
            </a:r>
            <a:endPar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AU" dirty="0"/>
          </a:p>
        </p:txBody>
      </p:sp>
      <p:sp>
        <p:nvSpPr>
          <p:cNvPr id="4" name="Slide Number Placeholder 3"/>
          <p:cNvSpPr>
            <a:spLocks noGrp="1"/>
          </p:cNvSpPr>
          <p:nvPr>
            <p:ph type="sldNum" sz="quarter" idx="5"/>
          </p:nvPr>
        </p:nvSpPr>
        <p:spPr/>
        <p:txBody>
          <a:bodyPr/>
          <a:lstStyle/>
          <a:p>
            <a:fld id="{C65C87FE-7F56-4B2A-AEE0-F5C409B9B5DE}" type="slidenum">
              <a:rPr lang="en-AU" smtClean="0"/>
              <a:t>23</a:t>
            </a:fld>
            <a:endParaRPr lang="en-AU"/>
          </a:p>
        </p:txBody>
      </p:sp>
    </p:spTree>
    <p:extLst>
      <p:ext uri="{BB962C8B-B14F-4D97-AF65-F5344CB8AC3E}">
        <p14:creationId xmlns:p14="http://schemas.microsoft.com/office/powerpoint/2010/main" val="208959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uses the Model, View, Controller pattern. The View is the four screens: patient, guardian, doctor and auditor. The View never decides who gets access. Every security decision is made in the Controller. It checks identity and authority, collects the approvals, enforces the policy, and records the evidence. The Model keeps the consent, the approvals and the evidence. Health data is released only when the Controller says ALLOW.</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framework. Access is allowed only when five checks are all true. VI is identity and authority validity. VA is collective authorisation validity: all the required guardians approved. VP is policy and contextual compliance: the purpose and the requested data are inside what was agreed. VT is temporal validity: the request is inside the validity time. VL is consent lifecycle validity: the consent is in a valid state, for example active and not revoked. If any one check fails, the answer is DENY. In the prototype, a Groth16 zero-knowledge proof must also pass before any data is released. And every access decision, allowed or denied, is written to the off-chain audit ledger.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will explain objective 1 which focuses on </a:t>
            </a:r>
            <a:r>
              <a:rPr lang="en-US" sz="1200" dirty="0">
                <a:solidFill>
                  <a:srgbClr val="0B1F33"/>
                </a:solidFill>
              </a:rPr>
              <a:t>develop a trust-aware consent model that represents patient consent as a structured and evaluable </a:t>
            </a:r>
            <a:r>
              <a:rPr lang="en-US" sz="1200" dirty="0" err="1">
                <a:solidFill>
                  <a:srgbClr val="0B1F33"/>
                </a:solidFill>
              </a:rPr>
              <a:t>authorisation</a:t>
            </a:r>
            <a:r>
              <a:rPr lang="en-US" sz="1200" dirty="0">
                <a:solidFill>
                  <a:srgbClr val="0B1F33"/>
                </a:solidFill>
              </a:rPr>
              <a:t> object.</a:t>
            </a:r>
            <a:endParaRPr lang="en-US" sz="1200" dirty="0"/>
          </a:p>
          <a:p>
            <a:r>
              <a:rPr lang="en-US" dirty="0"/>
              <a:t>This is </a:t>
            </a:r>
            <a:r>
              <a:rPr lang="en-US" dirty="0" err="1"/>
              <a:t>thr</a:t>
            </a:r>
            <a:r>
              <a:rPr lang="en-US" dirty="0"/>
              <a:t> </a:t>
            </a:r>
            <a:r>
              <a:rPr lang="en-US" dirty="0" err="1"/>
              <a:t>algortithm</a:t>
            </a:r>
            <a:r>
              <a:rPr lang="en-US" dirty="0"/>
              <a:t> shows the steps of the prosses .</a:t>
            </a:r>
            <a:endParaRPr lang="ar-SA" dirty="0"/>
          </a:p>
          <a:p>
            <a:endParaRPr lang="ar-SA" dirty="0"/>
          </a:p>
          <a:p>
            <a:r>
              <a:rPr lang="en-US" dirty="0"/>
              <a:t>Step one. The patient creates the consent. The patient chooses the doctor, the guardians, the data modules, and the start and end time. The system checks every field. For example, an empty data scope or a bad guardian DID is rejected. Then the system creates the consent object, assigns a consent identifier, persists the record, and records the creation event in the audit layer. Nothing goes to the blockchain yet. This is RO1, and it is done.
Algorithm 1: Trust-Aware Consent Creation
The box on the right of the slide is Algorithm 1 from my report. The next slide shows the same algorithm as a flowchart.
Inputs and Output
Require: Patient identity I_p, authorised doctor D, guardian set G, purpose P_u, data scope S_C, validity interval T
Explanation: The algorithm starts by receiving the information required to create a consent.
Ensure: Consent object C or rejection
Explanation: The algorithm either creates a valid consent or rejects the request.
Step-by-Step Explanation
Line 1: Validate I_p
First, we verify the patient’s identity.
Line 2: if I_p is invalid then
We check whether the patient’s identity is invalid.
Line 3: return REJECT
If the identity is invalid, the request is rejected.
Line 4: end if
This completes the identity validation check.
Line 5: Validate authorised doctor D, guardian set G, purpose P_u and data scope S_C
Next, we check the other parts of the consent: that the doctor is authorised, that the guardians are valid, that the purpose of using the patient’s data is valid, and that the data scope, which is the patient data that can be accessed, is valid.
Line 6: if any of them is invalid then
We check whether any of these four parts is invalid.
Line 7: return REJECT
If one of them is invalid, the request is rejected, and no consent is created.
Line 8: end if
This completes these four checks.
Line 9: Validate validity interval T = (t_s, t_e)
We check the consent’s start and end times.
Line 10: if t_e ≤ t_s then
We check whether the end time is earlier than or equal to the start time.
Line 11: return REJECT
If the time interval is invalid, the request is rejected.
Line 12: end if
This completes the time validation check.
Line 13: Define authorisation requirement A
We define the conditions that must be met later before access can be granted, such as the required guardian approvals.
Line 14: Generate consent identifier id_C
We generate a unique identifier for the consent.
Line 15: Construct C = (I, A, P, T, L, E)
We build the consent object from its six parts: identity I, authorisation requirements A, policy P (the purpose and the data scope), time T (the validity interval), the lifecycle state L, which starts as pending until the guardians approve, and evidence E.
Line 16: Persist C
We store the newly created consent object.
Line 17: Record consent creation evidence
We record evidence of the consent creation for auditing and traceability.
Line 18: return C
Finally, we return the successfully created consent object.
Note: In the prototype, the purpose is fixed to Treatment. The consent is saved off-chain in the state PENDING_SIGNATURE, and nothing goes on the blockchain until all guardians approve.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Algorithm 1 as a flowchart. It shows the main steps in a simpler form: it collects all the inputs, runs one combined validity check with a Yes and a No branch, and then creates and stores the consent and records an audit entry.
First, the patient starts to create a consent, and the system collects the patient DID.
Second, the patient specifies the authorised doctor and the guardian DIDs.
Third, the patient specifies the purpose and the data scope, and then the consent validity, which is the start and end time.
Fourth, the system checks if the consent specification is valid. If it is not valid, the No branch rejects the consent request.
Finally, if it is valid, the system creates the trust-aware consent object, generates the consent identifier, stores the consent record, and records the creation in the audit log.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Step two. I separate two questions: who are you, and what may you do? The DID answers the first question. The credential answers the second. A valid identity alone never gives access. In the HALAH implementation, the guardian workflow uses a selected guardian DID and invokes VC verification before adding the guardian's signature to the consent. Full DID resolution is planned for the next stage. So RO2 is done at the design level and in the prototype.
Algorithm 2: DID and VC Identity and Authority Verification
The box on the right of the slide is Algorithm 2 from my report. The next slide shows the same algorithm as a flowchart.
Inputs and Output
Require: Participant u, consent object C
Explanation: The algorithm starts by receiving the participant who wants to take part and the consent object that defines the required authority.
Ensure: Verification result V_I(u)
Explanation: The algorithm returns VALID if both the participant’s identity and authority are verified, or INVALID otherwise. This result is not an access decision by itself; the later stages use it.
Step-by-Step Explanation
Line 1: Resolve DID of u
First, we resolve the participant’s DID to find their DID document.
Line 2: if DID resolution fails then
We check whether the DID could not be resolved.
Line 3: return INVALID
If the DID cannot be resolved, the participant is invalid and the process stops.
Line 4: end if
This completes the DID resolution check.
Line 5: Verify DID document and associated identity information
Next, we check that the DID document is well formed and that its keys can be trusted.
Line 6: if DID verification fails then
We check whether the DID verification failed.
Line 7: return INVALID
If it failed, we return INVALID.
Line 8: end if
This completes the DID verification check.
Line 9: Retrieve VC associated with u
Then, we retrieve the participant’s verifiable credential, which holds claims such as their role.
Line 10: if VC retrieval fails then
We check whether a credential could not be found.
Line 11: return INVALID
Without a credential, the participant cannot show any authority, so we return INVALID.
Line 12: end if
This completes the credential retrieval check.
Line 13: Verify VC signature, issuer, subject, and validity
We check that the signature is correct, the issuer is trusted, the credential belongs to this participant, and it is still within its valid time period.
Line 14: if VC verification fails then
We check whether any of these four checks failed.
Line 15: return INVALID
If any check fails, we return INVALID.
Line 16: end if
This completes the credential verification check.
Line 17: Extract role and authority claims from VC
Next, we read the role and authority claims from the credential, for example doctor or guardian.
Line 18: if claims do not satisfy the authority requirements of C then
We compare these claims with the authorisation requirements of consent C.
Line 19: return INVALID
If the claims do not meet the requirements, we return INVALID. A valid identity alone never gives access.
Line 20: end if
This completes the authority check.
Line 21: Record identity and authority verification evidence
We record the evidence, such as the DID, the credential, the issuer, the claims and the time, for auditing.
Line 22: return VALID
Finally, we return VALID, which means the participant’s identity and authority are both verified.
Note: Today, the guardian workflow verifies the guardian’s credential before adding the signature to the consent. Full DID resolution, in lines 1 to 8, is planned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Algorithm 2 as a flowchart. It follows the same order as the algorithm, but it joins the two DID checks into one “DID Valid?” decision and the two credential checks into one “VC Valid?” decision. Every “No” leads to Reject Participant, which is the INVALID result.
First, a participant asks to take part, and the system resolves the participant’s DID.
Second, it checks if the DID is valid. If not, the participant is rejected.
Third, it retrieves the verifiable credential and checks if it is valid. If not, the participant is rejected.
Fourth, it extracts the role and authority claims, and checks if they match what the consent requires. If not, the participant is rejected.
Finally, if all checks pass, it records the verification evidence and returns the verified identity and authority.
This flowchart is the target design. Full DID resolution is planned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No single person can approve alone. Each guardian signs with an EIP-712 signature. The system recovers the signer and checks that this person is one of the listed guardians. Outsiders and duplicates are not counted, and a signature replayed from another consent fails the identity check. In the demo, two of two guardians must sign. When both have signed, a soulbound token is minted on the Sepolia test network in the background. One honest note: in the prototype, the guardian keys are derived from the guardian DIDs. Wallet-held keys are for the next stage. RO3 is done.
Algorithm 3: Threshold-Based Multi-Party Authorisation
The box on the right of the slide is Algorithm 3 from my report. The next slide shows the same algorithm as a flowchart.
Inputs and Output
Require: Consent object C, participant approval a, threshold N
Explanation: The algorithm receives the consent, one approval from a participant, and the number of valid approvals that are needed.
Ensure: Authorisation result
Explanation: The algorithm returns ALLOW, PENDING or DENY for this approval.
Step-by-Step Explanation
Line 1: Retrieve required participant set G
First, we retrieve the set G of participants who are allowed to approve this consent, for example the guardians.
Line 2: Verify identity and authority of participant submitting a
Next, we verify the identity and authority of the person who submitted the approval. This can use the DID and VC check from Algorithm 2.
Line 3: if verification fails then
We check whether this verification has failed.
Line 4: Record invalid approval
If it failed, we record the approval as invalid.
Line 5: return DENY
The approval is denied, and it does not count towards the threshold.
Line 6: end if
This completes the identity and authority check.
Line 7: if participant is not in G then
Then, we check whether the participant is outside the required participant set G.
Line 8: Record unauthorised approval attempt
If so, we record it as an unauthorised approval attempt.
Line 9: return DENY
The approval is denied, because only members of G can be counted.
Line 10: end if
This completes the membership check.
Line 11: if participant has already approved C then
Next, we check whether this participant has already approved this consent.
Line 12: Record duplicate approval
If so, we record a duplicate approval.
Line 13: return DENY
The extra approval is denied, so one person cannot be counted twice.
Line 14: end if
This completes the duplicate check.
Line 15: Record valid approval a
The approval has passed all three checks, so we record it as valid.
Line 16: Update valid approval set A_v
We add this approval to the set of valid approvals, A_v.
Line 17: if |A_v| ≥ N then
We check whether the number of valid approvals has reached the threshold N.
Line 18: Activate authorisation
If it has, we activate the authorisation, so the consent can move on to the access-control stage.
Line 19: Generate activation or token evidence
We generate evidence of the activation, such as a consent token. It can include the consent identifier, the threshold N and the approving participants.
Line 20: Record threshold-satisfied event
We record in the audit log that the threshold was met, for traceability.
Line 21: return ALLOW
The result is ALLOW.
Line 22: else
Otherwise, the threshold has not been reached yet.
Line 23: Keep consent in pending state
We keep the consent in the pending state, so access is not activated.
Line 24: Record threshold-pending event
We record a threshold-pending event, so we can see later how many approvals are still needed.
Line 25: return PENDING
The result is PENDING, and the consent waits for more approvals.
Line 26: end if
Finally, this completes the threshold check, and the algorithm ends.
Note: In the prototype, N is the number of guardians, so the demo needs 2-of-2. When the threshold is met, a local token is recorded, and the mint is anchored on the Sepolia test network in the background.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Algorithm 3 as a flowchart. It shows the same three checks in the same order, with the identity check drawn as the prototype runs it: the DID, the credential and the EIP-712 signature. It joins the three rejections into one box, and it shows activation last, after the token and the evidence.
First, the consent needs approval from several people, so the system identifies the required participants.
Second, a participant submits an approval, and the system verifies the DID, the credential and the EIP-712 signature.
Third, it asks three questions: is the participant verified, is the participant in the guardian set G, and has the participant already approved? If the participant is not verified, is not in G, or has already approved, the approval is rejected.
Fourth, a valid approval is recorded, and the approval count goes up.
Fifth, the system checks if the threshold is met. If not, the consent stays pending.
Finally, if it is met, the system issues the consent token or activation record, records the approval evidence, and activates the authorisation.
The dashed box shows that the mint on the Sepolia test network runs in the background, so it does not delay the guardians or the doctor. In the prototype, the consent becomes active once its start time is reached.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A valid identity and all the approvals are still not enough. The requested data must be inside the agreed data scope. For example, if the consent allows Observation and Medication, a request that also asks for Procedure is denied. The purpose, the time and the lifecycle state are checked in the same decision. And a Groth16 proof must pass before any data is released. RO4 is done.
Algorithm 4: Policy-Aware Access Decision
The box on the right of the slide is Algorithm 4 from my report. The next slide shows the same algorithm as a flowchart.
Inputs and Output
Require: Consent object C, access request R, requesting participant u
Explanation: The algorithm starts with the patient’s consent, the request for data, and the participant who makes the request, for example a doctor.
Ensure: Access decision
Explanation: The algorithm returns one decision, ALLOW or DENY, and it records that decision.
Step-by-Step Explanation
Line 1: Verify DID and VC of u
First, we verify the decentralised identifier and the verifiable credential of the requester. This uses the identity check from Algorithm 2.
Line 2: if identity or authority verification fails then
We check whether the identity or authority check for the requester has failed.
Line 3: Record denied decision
If it has failed, we record the denied decision for auditing.
Line 4: return DENY
The request is denied and stops here.
Line 5: end if
This completes the identity and authority check.
Line 6: Evaluate consent state
Next, we check the current state of the consent. It must be active, within its validity period, and not revoked.
Line 7: if consent is not active then
We check whether the consent is not active.
Line 8: Record denied decision
If the consent is not active, we record the denied decision.
Line 9: return DENY
The request is denied.
Line 10: end if
This completes the consent state check.
Line 11: Verify multi-party authorisation
Then, we verify the multi-party authorisation. We compare the number of valid approvals, |A_v|, with the required threshold N.
Line 12: if threshold is not satisfied then
We check whether there are fewer valid approvals than the threshold.
Line 13: Record denied decision
If there are not enough approvals, we record the denied decision.
Line 14: return DENY
The request is denied.
Line 15: end if
This completes the multi-party authorisation check.
Line 16: Evaluate requested purpose
Next, we compare the purpose of the request with the purpose the patient allowed in the consent.
Line 17: if purpose is incompatible with consent then
We check whether the purpose does not match the consent. This stops valid credentials from being used for a purpose the patient did not allow.
Line 18: Record denied decision
If the purpose does not match, we record the denied decision.
Line 19: return DENY
The request is denied.
Line 20: end if
This completes the purpose check.
Line 21: Evaluate requested data scope
We look at the data the request asks for, S_R, and the data the patient allowed, S_C.
Line 22: if S_R ⊈ S_C then
We check whether the request asks for data outside the allowed scope. For example, the request may ask for Procedure records when only Observation and Medication records are allowed.
Line 23: Record denied decision
If the request goes outside the scope, we record the denied decision.
Line 24: return DENY
The request is denied.
Line 25: end if
This completes the data scope check.
Line 26: Generate or verify access evidence
All checks have passed, so we generate or verify the evidence for this decision. In the flowchart on the next slide, this is the Groth16 proof, which must be valid before any data is released.
Line 27: Retrieve authorised healthcare data
Then, we retrieve only the data inside the authorised scope, and nothing more.
Line 28: Record granted decision
We record the granted decision, so an auditor can see why and when access was given.
Line 29: return ALLOW
Finally, we return ALLOW, and the requester receives the authorised data.
Note: In the prototype, the request uses the consent’s own purpose, so the purpose check confirms that it is a supported healthcare purpose. The requested scope must also be non-empty.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Algorithm 4 as a flowchart. It has the same checks, but it checks the consent state before the identity, and it shows the validity interval check and the Groth16 zero-knowledge proof as separate steps before access is granted.
First, the doctor requests patient data, and the system retrieves the consent object.
Second, it checks if the consent is ACTIVE.
Third, it verifies the identity and authority of the requester.
Fourth, it verifies the multi-party authorisation: is the threshold satisfied?
Fifth, it checks the requested purpose, and then the requested data scope, which must be inside the consent.
Sixth, it checks that the request is within the validity interval.
Seventh, it generates and verifies the Groth16 proof.
If any answer is No, access is denied, and the denied access is recorded.
Finally, if every answer is Yes, data access is granted, and the granted access is recorded.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Time and lifecycle. What works now: the validity window is stored on-chain and checked at every request. Revocation works end to end, with an on-chain transaction. And the consent moves through a clear lifecycle. In the design, L is the lifecycle state: created, pending, active, suspended, revoked or expired, and VL checks a valid state and a valid transition. What is still open: the suspended state, the lifecycle transition check, consent modification, delegation, changes to the guardian set, and a formal lifecycle model. That is why RO5 is in progress.
Algorithm 5: Temporal and Lifecycle Validation
The box on the right of the slide is Algorithm 5 from my report. The next slide shows the same algorithm as a flowchart.
Inputs and Output
Require: Consent object C, current time t, requested transition q
Explanation: The algorithm receives the consent, the time of the request, and the requested transition, which is the change of lifecycle state being asked for.
Ensure: Lifecycle validity result
Explanation: The algorithm returns VALID if the consent can still be used at this time and in its current state, or INVALID if it cannot.
Step-by-Step Explanation
Line 1: Retrieve consent start time t_s and expiry time t_e
First, we read the start time and the expiry time stored in the consent.
Line 2: if t &lt; t_s or t &gt; t_e then
We check whether the current time is before the start time or after the expiry time.
Line 3: Record temporal invalidity
If so, we record that the consent is not valid at this time.
Line 4: return INVALID
The request is outside the validity interval, so we return INVALID.
Line 5: end if
This completes the time check.
Line 6: Retrieve current lifecycle state of C
Next, we read the current lifecycle state of the consent, for example pending, active or revoked.
Line 7: if current state does not permit the requested operation then
We check whether this state does not allow the requested operation. For example, data access is allowed only when the consent is active.
Line 8: Record invalid lifecycle state
If the state does not allow it, we record that the consent is in an invalid lifecycle state.
Line 9: return INVALID
The operation is not allowed in this state, so we return INVALID.
Line 10: end if
This completes the lifecycle state check.
Line 11: Check whether C has been revoked
Then, we check whether the consent has been revoked.
Line 12: if C is revoked then
We test whether the consent is revoked.
Line 13: Record revocation-based invalidity
If it is revoked, we record that the consent is invalid because of revocation.
Line 14: return INVALID
A revoked consent must not be used, even if it was approved before, so we return INVALID.
Line 15: end if
This completes the revocation check.
Line 16: Validate requested transition q
Next, we check the requested transition, which is the change from the current state to a new state.
Line 17: if transition q is not permitted then
We check whether this change of state is not allowed.
Line 18: Record unauthorised state transition
If it is not allowed, we record an unauthorised state transition.
Line 19: return INVALID
The transition is rejected, so we return INVALID.
Line 20: end if
This completes the transition check.
Line 21: Record valid temporal and lifecycle evidence
All checks have passed, so we record evidence that the consent is valid in time and in state.
Line 22: return VALID
Finally, we return VALID, so the system can continue with the remaining authorisation conditions.
Note: Today, the prototype checks the validity interval, the lifecycle state and revocation for every access request. The transition check in lines 16 to 20 is planned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Algorithm 5 as a flowchart. It shows the same four checks in the same order. The transition check is drawn in dashed lines because it is planned for the next stage. INVALID leads to Deny Access, and VALID leads to Continue Authorisation Evaluation.
First, an access request comes in, and the system retrieves the consent state.
Second, it checks the consent validity interval: is the request within the valid time?
Third, it checks the lifecycle state: does the state permit access?
Fourth, it checks the revocation status: has the consent been revoked?
Fifth, in the next stage, it will also check if the requested state transition is permitted.
If any check fails, access is denied, and a lifecycle-based denial is recorded.
Finally, if all checks pass, the system records the temporal and lifecycle evidence and continues with the rest of the authorisation decision.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Prove it and test it. The testing part is done. 46 automated tests pass, including thirteen attack scenarios. I also measured the cost and the timing. The proof part is the next stage: formal proofs or model checking of the security properties, and a bigger evaluation under load. That is why RO6 is partly completed.
Algorithm 6: Formal and Empirical Authorisation Validation
The box on the right of the slide is Algorithm 6 from my report. The next slide shows the same algorithm as a flowchart.
Inputs and Output
Require: Framework implementation F, validation scenarios S, security properties P
Explanation: The algorithm starts with the implemented framework, the set of test scenarios, and the security properties that the framework should satisfy.
Ensure: Validation evidence and evaluation results
Explanation: The algorithm produces evidence and results that show whether the framework really meets these properties.
Step-by-Step Explanation
Line 1: Define expected authorisation properties P
First, we define the security properties that the framework must satisfy, such as soundness, correct denial, threshold correctness, policy and scope compliance, and audit consistency. These are the criteria we use to judge the results.
Line 2: Define valid scenarios S_valid
We define legitimate requests that should be allowed, with valid identities, active consent and enough approvals. They show that the framework does not wrongly reject valid requests.
Line 3: Define negative scenarios S_negative
We define requests that break at least one condition, such as expired or revoked consent, too few approvals, or data outside the consent scope. They test that access is refused when a requirement is not met.
Line 4: Define adversarial scenarios S_adv
We define deliberate attempts to bypass the controls, such as replayed (reused) or duplicate approvals, forged credentials, or use of a revoked consent. They test whether the framework can resist attacks.
Line 5: for each scenario s in S_valid ∪ S_negative ∪ S_adv do
Next, we combine the three groups into one set and repeat the following steps for every scenario. Each scenario has an expected decision.
Line 6: Execute s using framework F
We run the scenario on the implemented framework. The framework performs its consent, identity, approval, policy, scope and lifecycle checks.
Line 7: Collect authorisation decision
We record the decision that the framework actually made, for example ALLOW, DENY or PENDING.
Line 8: Collect identity, approval, policy, and audit evidence
We also collect the evidence behind the decision, such as identity and credential results, approvals, policy checks, timestamps and audit records.
Line 9: Compare observed decision with expected decision
We compare the actual decision with the expected decision. The scenario passes only when the two are the same.
Line 10: Record pass or failure result
We record whether the scenario passed or failed. For a failure, we keep the details and the evidence for later analysis.
Line 11: end for
This completes the loop over all scenarios.
Line 12: Evaluate soundness property
Then, we check soundness. Every request that was allowed must really satisfy all the authorisation conditions.
Line 13: Evaluate denial property
We check that every invalid or unauthorised request was refused. This is most important for the negative and adversarial scenarios.
Line 14: Evaluate threshold correctness
We check that consent is authorised only when the number of verified approvals reaches the required threshold. Duplicate or unauthorised approvals must not be counted.
Line 15: Evaluate policy-scope enforcement
We check that every allowed request matches the consent’s purpose and stays inside the permitted data scope. This must be true even when the requester has a valid identity and credential.
Line 16: Evaluate audit consistency
We check that the audit records match the decisions that were actually made. Important evidence, such as the requester, the consent, the result and the time, must not be missing.
Line 17: Analyse failures and limitations
We study each failed scenario to find its cause, for example an implementation defect, a policy error, an integration problem or a limit of the test environment. The aim is to explain failures openly, not to hide them.
Line 18: return Validation results
Finally, we return the combined validation results, which bring together the scenario results and the result for each security property.
Note: Today, the testing part is done with 46 automated tests, including 13 attack scenarios. Formal proofs or model checking of these properties, and a larger evaluation under load, are planned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I show it through real screens from the prototype. All the prototype screens were taken on 24 September 2026.
HALAH means History Access Link for Authorised Healthcare. The boxes show its parts: four screens, a smart contract on the Sepolia test network, guardian signatures, an access proof, synthetic data, and an audit ledger.
The demo follows the steps of a consent.
First, the patient creates the consent. This is RO1.
Second, the two guardians sign it, and the consent goes on Sepolia. This is RO2 and RO3.
Third, the doctor asks for the data. The system runs five checks, and then it shows only the agreed records. This is RO2 and RO4.
Fourth, the auditor follows the recorded steps in the ledger. This is part of RO6.
The last demo slide is about revocation, RO5. It is optional. I show it if there is time.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patient screen. The picture is shown in two parts.
First, the patient chooses a patient DID from the list. Then the patient types the doctor's DID, did:hospital:001.
Second, the patient adds two guardians: parent A and parent B.
Third, the patient chooses the data that the doctor may see. Here there are four modules: Observation, Medication, Condition and Procedure. The patient also sets the end date, 31 October 2026.
Fourth, the patient presses the Initial Consent button. The system saves the consent off-chain and gives it an ID, 04da25f5.
At the bottom, you can see the state: PENDING_SIGNATURE, with zero of two signatures. Nothing is on the blockchain yet. The consent goes on the chain only after both guardians sign.
This is RO1: the consent is an object that the system can check.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guardian screen.
First, the guardian types the consent ID, 04da25f5. The system finds the consent and shows the patient's DID.
Second, the guardian chooses a guardian DID from the list, did:parent:A.
Third, the guardian presses the Sign button and signs with an EIP-712 signature. The system checks the signature and finds the address that signed it. You can see the start of that address in the green box.
Fourth, the counter shows one of two. One signature is not enough, so the consent is still waiting for the second guardian.
This is RO2, because the system checks which guardian key signed, and RO3, because more than one guardian must agree.
Possible question: The button says via VC. Was a credential checked? Not in this September version. It checked only the form of the DID. The credential check was added on 11 October 2026.</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doctor screen, for the same consent, 04da25f5. The picture is shown in two parts.
First, the doctor opens the consent. At the top, you can see the patient, the consent ID and the purpose, which is Treatment.
Second, the screen shows the five checks: VI, VA, VP, VT and VL. VI checks the identity data in the consent: the doctor's and the patient's DIDs, and the guardian signatures. VA checks that both guardians signed and that the token exists. VP is the policy check, as in my report: the purpose must be allowed, and the doctor may ask only for data inside the agreed scope. On this screen, the purpose is checked. The scope is checked when the doctor asks for the data, on the next slide. VT checks the dates.
Third, all five checks show PASS, so ALLOW is also PASS. The consent state is ACTIVE.
The Groth16 proof is not on this screen. It is checked when the doctor asks for the data, and the ledger records that it was verified.
This is RO2 and RO4 together, in one decision.
Possible question: Is this the same code as today? No. These screens are from the 24 September version. Since 11 October 2026, the doctor also types their own DID and must have a valid credential. VL is now the lifecycle check from my report: the consent must be ACTIVE. On this screen, VL was an earlier, different check.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guardian screen two times.
First, on the left, the second guardian, did:parent:B, signs. The system checks the signature. Now the counter shows two of two, so both guardians have agreed.
Second, the system records the soulbound token for this consent. Then it mints the token on the Sepolia test network in the background, so the guardian does not have to wait.
Third, on the right is the same screen, a little later. It says: already anchored on Sepolia, token number 2.
Now the consent is approved by both guardians, and it is on the blockchain. This completes RO3.</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doctor screen after the decision.
First, after ALLOW, the doctor asks for the four modules. The system checks the Groth16 proof and the requested scope. You cannot see this on the screen, but the ledger rows for these requests say: proof verified, scope valid. Then the screen shows Authorised Medical Records. There is one table for each data module.
Second, on the left, you can see Observation and Medication. On the right, you can see Condition and Procedure. All the rows belong to the same patient.
Third, these are exactly the four modules in the consent. The doctor gets nothing outside them. If the doctor asked for a module outside the consent, the request would be refused. Attack test A4 checks this.
The records are synthetic Synthea data, so no real patient is shown. This is RO4.</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Algorithm 6 as a flowchart. It has the same main steps, but it also adds a practical performance check, and a loop that refines the framework and tests again when a property fails. The algorithm itself does not include these two parts.
First, I define the security and authorisation properties, and the threat and failure conditions.
Second, I implement the validation scenarios.
Third, I run the valid consent workflow, and also the negative and adversarial scenarios.
Fourth, I collect the decision and audit evidence.
Fifth, I evaluate the security properties, compare the observed decisions with the expected ones, and evaluate the functional and practical performance.
Then I ask: are the properties satisfied? If yes, I document the evidence and the limitations.
Finally, if not, I identify the security or functional failure, refine the framework, and run the validation scenarios again.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asks one question: does the system do what it should? I used five kinds of evidence. Valid scenarios: the correct requests were allowed. Negative scenarios: the cancelled consent was refused. Attack scenarios: twelve of thirteen attacks are refused. Automated tests: all 46 pass. And an independent check: the state on the chain matches the local state.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taken directly from the audit ledger of 24 September. Each row is one real request, with the five checks and the decision. All five rows are allowed requests: all five checks PASS, the decision is ALLOW, access is GRANTED, and the proof mode is Groth16. The request after revocation is not in this table, because on 24 September a consent that was no longer active was refused before any decision was logged. The prototype now logs these refusals too. The revocation is public on Sepolia in block 11,771,307.</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attacked my own system thirteen times, A1 to A13. This table shows each attack, the part of the consent it targets, and the outcome before and after the hardening on the first of October. Before the hardening, three attacks got through when the service functions were called directly: A1, a signer outside the guardian set; A3, the same guardian signing twice; and A5, an empty data scope. The interface already refused them, but the service layer did not. The hardening moved these checks into the service layer, so now they are refused on every path. After the hardening, eleven of the first twelve are refused. A13, an invalid or forged credential, came with the credential check on 11 October 2026 and is refused too; before that change, a requester without a valid credential was accepted. A11 rewrites the result of a recorded audit event, so the event's digest changes. Nothing in the prototype checks that digest yet, so it is marked as differs: neutral, not refused. It is on the list for the next stage.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asks: how fast is it, and what does it cost? The five checks of the decision rule take about 6 microseconds, and checking one credential about 6 milliseconds. Checking one guardian signature takes about 11 milliseconds. The Groth16 proof is the slowest part of an access request: about 1.4 seconds to generate and about half a second to verify. Anchoring on Sepolia takes about 11.5 seconds. The mint runs in the background, so the guardians and the doctor do not wait for it; only a revoke makes the patient wait for the block. For token 1, the revoke used about one sixth of the gas of its mint. The timings were measured on the first of October 2026; the decision rule and the credential check on the eleventh of October, after the credential check was added. The gas and the anchoring times come from the five Sepolia transactions in September. These numbers are indicative.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difference in plain words. Today, a central identity provider logs you in, and a fixed permission decides. Consent is a saved record. In HALAH, every person has a DID, and identity is separate from authority. Consent is an object that is checked at every request. All the guardians must approve. Five checks and a proof run before any data is released. Time and revocation are checked every time. And every access decision, allowed or denied, is logged off-chain with the reason.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important points about the data. I use synthetic patient records from the Synthea 1K sample, in its CSV export. The prototype loads a subset of patients with their observations, conditions, medications and procedures. No real patient data is involved. The medical records stay off-chain. The token on Sepolia stores pseudonymous addresses, a hash of the purpose, the validity window and a revocation flag. Data is released only on ALLOW, and only inside the agreed scope. One known limitation: the plain-text purpose is visible in the mint transaction. I will fix this in the next stage.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research matter? On the scientific side, it shifts the focus from whether consent has merely been recorded to whether a data-access decision was made under sufficient and independently verifiable trust conditions. It brings identity, authority, multi-party approval, policy, time and lifecycle together in one decision at every request. Every listed guardian must sign, so no single party can authorise alone. And the work rests on a PRISMA 2020 review of 25 studies and a working prototype on Sepolia, measured and tested with thirteen attack scenarios.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social side, patients and their guardians decide together who can see the patient's data. No single person can approve access alone. Every access decision can be explained to an auditor: which check passed and which failed. Medical records never go on the blockchain; only consent evidence is shared. And this can support trust between hospitals and other independent parties.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what is not done yet, because this is what the next stage is for. First, full DID resolution, proof that the person controls the DID they enter, and wallet-held guardian keys. Today the credentials come from one demo issuer, and the guardian keys are derived from the guardian DIDs. Second, the plain-text purpose in the mint transaction. Third, the rest of the lifecycle: the suspended state, the lifecycle transition check, consent modification, delegation and guardian changes. Fourth, the formal proofs. The properties are tested, but not yet proved with a formal model. Fifth, the one open attack, A11: nothing checks the audit digest yet. Sixth, a bigger evaluation under load.</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my research publications. Two papers were published in 2025 at the IEEE International Conference on E-Business Engineering, ICEBE. Three more papers have been accepted in 2026: one at ICEBE 2026 and two at BWCCA 2026. Paper 4, on trusted multi-party consent governance, comes from this research.</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Chapters one to six are done. The conference paper was submitted to BWCCA 2026 in September. The SLR journal paper is in progress. Next comes the complete evaluation, the paper on formal assurance and lifecycle trust, and the conclusion. The final assessment is planned for January 2027, and the thesis submission for March 2027.</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plan as a timeline. What is completed, what is in progress, and the planned steps up to the thesis submission in March 2027.</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auditor screen. It shows the audit ledger as a table. Each row is one event, with its time.
This table is for another consent from the same day, f050c29a. It has token number 1. It went through the same steps as the consent you just saw. I use it here because this is the consent that the patient later revoked. The optional next slide shows that.
First, row 36: the patient creates the consent.
Second, rows 37 and 38: guardian A and guardian B sign.
Third, rows 39 and 40: the token is recorded, and then it is anchored on Sepolia. You can see the start of the transaction hash and the block number, 11,771,243.
Fourth, rows 41 to 44: the system checks the consent. It is ACTIVE and all five checks pass, so the doctor gets access. This happens two times.
Rows 45 and 46 are not in this picture. They record one more request from the doctor, and the system refused it.
So the auditor can follow the recorded steps, in order. This is the working part of RO6: evidence that can be checked.</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optional. I show it if there is time. It is about RO5: revocation. It is the same consent as on the previous slide, f050c29a.
First, at the top is the audit ledger. In row 47, the patient revokes the consent. In row 48, the revoke transaction is sent to Sepolia. It is in block 11,771,307.
Second, at the bottom left is the same transaction on Sepolia Etherscan. This is a public page. I opened it some days later, so it says 9 days ago. The action is Revoke, the status is Success, and the block is 11,771,307, on 24 September 2026.
Third, at the bottom right, the doctor opens the consent again. The screen says: Consent is not active. Current state: REVOKED. The doctor cannot see the data. On 24 September, this refusal was not yet written to the ledger. Now, when the doctor presses Request Data Access, the prototype writes this refusal to the ledger.
So after the patient revokes, the consent cannot be used any more, and anyone can check the revoke transaction on Sepolia.</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I used in this talk. They follow the UTS Harvard style, so they are listed by author name, not by </a:t>
            </a:r>
            <a:r>
              <a:rPr lang="en-US" dirty="0" err="1"/>
              <a:t>number.ABA</a:t>
            </a:r>
            <a:r>
              <a:rPr lang="en-US" dirty="0"/>
              <a:t> 7</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take your questions.
Likely questions and short answers:
1. Why blockchain, if the data stays off-chain? Because it gives a shared record that cannot be changed quietly: the consent state and the revocation. No medical data is on the chain.
2. What is new? The consent object carries all the conditions. Multi-party approval is a condition of every access. And the whole decision is tested against attacks.
3. Why is RO6 only partly done? The testing is done. The formal proofs are the next stage.
4. Why Groth16? The prototype proves that it knows the secret and the expiry behind a Poseidon commitment, and that the consent has not expired, without showing them. Today the prover and the verifier run on the same server, so this shows that the zero-knowledge step works; it is not yet an extra privacy guarantee. It is the slowest part of an access request, about 1.4 seconds, and that is fine for a consent decision.
5. Why did three attacks pass before the hardening? They passed only when the service functions were called directly, not through the screens. The hardening moved the checks into the service layer, so now they are refused on every path.</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1 was validated. First, the live scenario: the patient created a consent and it was stored in the PENDING_SIGNATURE state, with nothing on the chain yet. Second, bad input is rejected: an empty scope, a malformed guardian DID, or an expiry before the start. Third, every consent event is recorded in the audit ledger. Fourth, the automated tests cover consent creation and the six parts of C. All of them pass.</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1 was evaluated. Evaluating the consent object with the five predicates takes about 6 microseconds, measured over 1,000 runs on 11 October 2026. Reading the anchored consent back from Sepolia takes about 0.6 seconds. Creating a consent costs nothing on-chain, because the record is anchored only after all guardians approve. These numbers are indicative.</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2 was validated. The credential of each guardian is checked before the guardian signs, and the credential of the doctor is checked at access time: the signature, the issuer, the subject, the validity time and the role. An invalid or forged credential is refused, which is attack A13. A signature replayed from another consent fails the identity check, which is attack A2. And the DID entered by the doctor must be the doctor named in the consent. The seven credential tests and the two attack tests all pass. Full DID resolution is planned for the next stage.</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2 was evaluated. Checking one credential takes about 6 milliseconds, and recovering one guardian signature takes about 11 milliseconds. Both are small compared with the Groth16 proof. These numbers are indicative.</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3 was validated. In the live scenario both guardians signed and the token was minted and anchored on Sepolia. Attack A1, a signer outside the guardian set, and attack A3, the same guardian signing twice, are not counted after the hardening of 1 October. Attack A12, a mint or revoke by a non-owner or a token transfer, is refused by the contract. And the independent check confirms that the token state on the chain matches the local consent state. One honest note: in the prototype the guardian keys are derived from the guardian DIDs; wallet-held keys are for the next stage.</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3 was evaluated. Recovering one guardian signature takes about 11 milliseconds. Anchoring on Sepolia takes about 11.5 seconds, between 5 and 22 seconds, over five transactions. The mint costs about 196 thousand gas and the revoke about 33 thousand, and no fee was above 0.00021 ETH. The mint runs in the background, so nobody waits for it. These numbers are indicative.</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4 was validated. In the live scenario the doctor requested data inside the agreed scope: all five checks passed, the Groth16 proof verified, and access was granted. The five ledger rows of 24 September show this. The attacks on policy are refused: an over-scope request, A4; an empty scope, A5; a different jurisdiction, A7, which was also refused live on 24 September; and a tampered proof, A9. Only the records inside the scope are released.</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shows how objective 4 was evaluated. The five checks of the decision rule take about 6 microseconds. The Groth16 proof is the slowest part: about 1.4 seconds to generate and about half a second to verify, so an access request takes about 1.9 seconds end to end. These numbers are indicative.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lstStyle>
            <a:lvl1pPr marL="0" indent="0" algn="ctr">
              <a:buNone/>
              <a:defRPr lang="en-US" sz="3000" b="1" dirty="0">
                <a:solidFill>
                  <a:srgbClr val="FFFFFF"/>
                </a:solidFill>
                <a:latin typeface="Arial" pitchFamily="34" charset="0"/>
                <a:ea typeface="Arial" pitchFamily="34" charset="-122"/>
                <a:cs typeface="Arial" pitchFamily="34" charset="-120"/>
              </a:defRPr>
            </a:lvl1pPr>
          </a:lstStyle>
          <a:p>
            <a:pPr marL="0" indent="0" algn="ctr">
              <a:buNone/>
            </a:pPr>
            <a:endParaRPr lang="en-US" sz="3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18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76-6A6A-8841-B7E4-1F35C224933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E96F4E9-2DE5-D7EB-95B3-8E54FB2A71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A0198B3-BB9B-B6BB-C9C0-D35E11062643}"/>
              </a:ext>
            </a:extLst>
          </p:cNvPr>
          <p:cNvSpPr>
            <a:spLocks noGrp="1"/>
          </p:cNvSpPr>
          <p:nvPr>
            <p:ph type="dt" sz="half" idx="10"/>
          </p:nvPr>
        </p:nvSpPr>
        <p:spPr/>
        <p:txBody>
          <a:bodyPr/>
          <a:lstStyle/>
          <a:p>
            <a:fld id="{13A31A13-ADD8-45A6-BA20-4C35DCF1F406}" type="datetimeFigureOut">
              <a:rPr lang="en-AU" smtClean="0"/>
              <a:t>13/10/2026</a:t>
            </a:fld>
            <a:endParaRPr lang="en-AU"/>
          </a:p>
        </p:txBody>
      </p:sp>
      <p:sp>
        <p:nvSpPr>
          <p:cNvPr id="5" name="Footer Placeholder 4">
            <a:extLst>
              <a:ext uri="{FF2B5EF4-FFF2-40B4-BE49-F238E27FC236}">
                <a16:creationId xmlns:a16="http://schemas.microsoft.com/office/drawing/2014/main" id="{D2B7D850-541D-4EC8-9030-D6F5264596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90B99EC-2238-CBDA-CDDF-7C2C97A10F2D}"/>
              </a:ext>
            </a:extLst>
          </p:cNvPr>
          <p:cNvSpPr>
            <a:spLocks noGrp="1"/>
          </p:cNvSpPr>
          <p:nvPr>
            <p:ph type="sldNum" sz="quarter" idx="12"/>
          </p:nvPr>
        </p:nvSpPr>
        <p:spPr/>
        <p:txBody>
          <a:bodyPr/>
          <a:lstStyle/>
          <a:p>
            <a:fld id="{BEEADC8E-7141-4E37-96AF-0E1D097C062D}" type="slidenum">
              <a:rPr lang="en-AU" smtClean="0"/>
              <a:t>‹#›</a:t>
            </a:fld>
            <a:endParaRPr lang="en-AU"/>
          </a:p>
        </p:txBody>
      </p:sp>
    </p:spTree>
    <p:extLst>
      <p:ext uri="{BB962C8B-B14F-4D97-AF65-F5344CB8AC3E}">
        <p14:creationId xmlns:p14="http://schemas.microsoft.com/office/powerpoint/2010/main" val="204865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9692640" y="274320"/>
            <a:ext cx="2103120" cy="1143000"/>
          </a:xfrm>
          <a:prstGeom prst="roundRect">
            <a:avLst>
              <a:gd name="adj" fmla="val 8000"/>
            </a:avLst>
          </a:prstGeom>
          <a:solidFill>
            <a:srgbClr val="FFFFFF"/>
          </a:solidFill>
          <a:ln w="12700">
            <a:solidFill>
              <a:srgbClr val="FFFFFF"/>
            </a:solidFill>
            <a:prstDash val="solid"/>
          </a:ln>
        </p:spPr>
        <p:txBody>
          <a:bodyPr/>
          <a:lstStyle/>
          <a:p>
            <a:endParaRPr lang="en-AU"/>
          </a:p>
        </p:txBody>
      </p:sp>
      <p:pic>
        <p:nvPicPr>
          <p:cNvPr id="3" name="UTS logo" descr="/tmp/deck/img/uts.png"/>
          <p:cNvPicPr>
            <a:picLocks noChangeAspect="1"/>
          </p:cNvPicPr>
          <p:nvPr/>
        </p:nvPicPr>
        <p:blipFill>
          <a:blip r:embed="rId3"/>
          <a:stretch>
            <a:fillRect/>
          </a:stretch>
        </p:blipFill>
        <p:spPr>
          <a:xfrm>
            <a:off x="9829800" y="301752"/>
            <a:ext cx="1828800" cy="1170432"/>
          </a:xfrm>
          <a:prstGeom prst="rect">
            <a:avLst/>
          </a:prstGeom>
        </p:spPr>
      </p:pic>
      <p:sp>
        <p:nvSpPr>
          <p:cNvPr id="4" name="deck title"/>
          <p:cNvSpPr txBox="1"/>
          <p:nvPr/>
        </p:nvSpPr>
        <p:spPr>
          <a:xfrm>
            <a:off x="1280160" y="1554480"/>
            <a:ext cx="9601200" cy="1463040"/>
          </a:xfrm>
          <a:prstGeom prst="rect">
            <a:avLst/>
          </a:prstGeom>
          <a:noFill/>
          <a:ln/>
        </p:spPr>
        <p:txBody>
          <a:bodyPr wrap="square" rtlCol="0" anchor="ctr"/>
          <a:lstStyle/>
          <a:p>
            <a:pPr marL="0" indent="0" algn="ctr">
              <a:buNone/>
            </a:pPr>
            <a:r>
              <a:rPr lang="en-US" sz="3200" b="1" i="1" dirty="0">
                <a:solidFill>
                  <a:srgbClr val="FFFFFF"/>
                </a:solidFill>
                <a:latin typeface="Arial" pitchFamily="34" charset="0"/>
                <a:ea typeface="Arial" pitchFamily="34" charset="-122"/>
                <a:cs typeface="Arial" pitchFamily="34" charset="-120"/>
              </a:rPr>
              <a:t>A Trusted Authorisation Framework for Multi-Party Patient Consent in Healthcare Data Sharing</a:t>
            </a:r>
            <a:endParaRPr lang="en-US" sz="3200" dirty="0"/>
          </a:p>
        </p:txBody>
      </p:sp>
      <p:sp>
        <p:nvSpPr>
          <p:cNvPr id="6" name="people"/>
          <p:cNvSpPr txBox="1"/>
          <p:nvPr/>
        </p:nvSpPr>
        <p:spPr>
          <a:xfrm>
            <a:off x="2194560" y="3840480"/>
            <a:ext cx="7772400" cy="1737360"/>
          </a:xfrm>
          <a:prstGeom prst="rect">
            <a:avLst/>
          </a:prstGeom>
          <a:noFill/>
          <a:ln/>
        </p:spPr>
        <p:txBody>
          <a:bodyPr wrap="square" rtlCol="0" anchor="ctr"/>
          <a:lstStyle/>
          <a:p>
            <a:pPr marL="0" indent="0" algn="ctr">
              <a:spcAft>
                <a:spcPts val="400"/>
              </a:spcAft>
              <a:buNone/>
            </a:pPr>
            <a:r>
              <a:rPr lang="en-US" sz="1800" b="1" i="1" dirty="0">
                <a:solidFill>
                  <a:srgbClr val="FFFFFF"/>
                </a:solidFill>
              </a:rPr>
              <a:t>Principal Supervisor: Professor Farookh Hussain</a:t>
            </a:r>
            <a:endParaRPr lang="en-US" sz="1800" dirty="0"/>
          </a:p>
          <a:p>
            <a:pPr marL="0" indent="0" algn="ctr">
              <a:spcAft>
                <a:spcPts val="400"/>
              </a:spcAft>
              <a:buNone/>
            </a:pPr>
            <a:r>
              <a:rPr lang="en-US" sz="1800" b="1" i="1" dirty="0">
                <a:solidFill>
                  <a:srgbClr val="FFFFFF"/>
                </a:solidFill>
              </a:rPr>
              <a:t>Co-Supervisor: Dr. Firas Al-Doghman</a:t>
            </a:r>
            <a:endParaRPr lang="en-US" sz="1800" dirty="0"/>
          </a:p>
          <a:p>
            <a:pPr marL="0" indent="0" algn="ctr">
              <a:spcAft>
                <a:spcPts val="400"/>
              </a:spcAft>
              <a:buNone/>
            </a:pPr>
            <a:r>
              <a:rPr lang="en-US" sz="1800" b="1" i="1" dirty="0">
                <a:solidFill>
                  <a:srgbClr val="FFFFFF"/>
                </a:solidFill>
              </a:rPr>
              <a:t>Presenter: Yasir Dhaifallah O Alyoubi</a:t>
            </a:r>
            <a:endParaRPr lang="en-US" sz="1800" dirty="0"/>
          </a:p>
          <a:p>
            <a:pPr marL="0" indent="0" algn="ctr">
              <a:spcAft>
                <a:spcPts val="400"/>
              </a:spcAft>
              <a:buNone/>
            </a:pPr>
            <a:r>
              <a:rPr lang="en-US" sz="1800" b="1" i="1" dirty="0">
                <a:solidFill>
                  <a:srgbClr val="FFFFFF"/>
                </a:solidFill>
              </a:rPr>
              <a:t>STUDENT ID #: 24724078</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OUTLINE</a:t>
            </a:r>
            <a:endParaRPr lang="en-US" sz="3000" dirty="0"/>
          </a:p>
        </p:txBody>
      </p:sp>
      <p:sp>
        <p:nvSpPr>
          <p:cNvPr id="4" name="cube 01"/>
          <p:cNvSpPr/>
          <p:nvPr/>
        </p:nvSpPr>
        <p:spPr>
          <a:xfrm>
            <a:off x="1060704" y="1965960"/>
            <a:ext cx="1097280" cy="731520"/>
          </a:xfrm>
          <a:prstGeom prst="cube">
            <a:avLst/>
          </a:prstGeom>
          <a:solidFill>
            <a:srgbClr val="285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5" name="number 01"/>
          <p:cNvSpPr txBox="1"/>
          <p:nvPr/>
        </p:nvSpPr>
        <p:spPr>
          <a:xfrm>
            <a:off x="1060704" y="2148840"/>
            <a:ext cx="914400" cy="54864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6" name="item 01"/>
          <p:cNvSpPr txBox="1"/>
          <p:nvPr/>
        </p:nvSpPr>
        <p:spPr>
          <a:xfrm>
            <a:off x="2340864" y="2148840"/>
            <a:ext cx="4114800" cy="548640"/>
          </a:xfrm>
          <a:prstGeom prst="rect">
            <a:avLst/>
          </a:prstGeom>
          <a:noFill/>
          <a:ln/>
        </p:spPr>
        <p:txBody>
          <a:bodyPr wrap="square" rtlCol="0" anchor="ctr"/>
          <a:lstStyle/>
          <a:p>
            <a:pPr marL="0" indent="0">
              <a:buNone/>
            </a:pPr>
            <a:r>
              <a:rPr lang="en-US" sz="1800" b="1" dirty="0">
                <a:solidFill>
                  <a:srgbClr val="FFFFFF"/>
                </a:solidFill>
              </a:rPr>
              <a:t>RESEARCH PROBLEM &amp; KEY IDEA</a:t>
            </a:r>
            <a:endParaRPr lang="en-US" sz="1800" dirty="0"/>
          </a:p>
        </p:txBody>
      </p:sp>
      <p:sp>
        <p:nvSpPr>
          <p:cNvPr id="7" name="cube 02"/>
          <p:cNvSpPr/>
          <p:nvPr/>
        </p:nvSpPr>
        <p:spPr>
          <a:xfrm>
            <a:off x="1060704" y="2743200"/>
            <a:ext cx="1097280" cy="731520"/>
          </a:xfrm>
          <a:prstGeom prst="cube">
            <a:avLst/>
          </a:prstGeom>
          <a:solidFill>
            <a:srgbClr val="286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8" name="number 02"/>
          <p:cNvSpPr txBox="1"/>
          <p:nvPr/>
        </p:nvSpPr>
        <p:spPr>
          <a:xfrm>
            <a:off x="1060704" y="2926080"/>
            <a:ext cx="914400" cy="54864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9" name="item 02"/>
          <p:cNvSpPr txBox="1"/>
          <p:nvPr/>
        </p:nvSpPr>
        <p:spPr>
          <a:xfrm>
            <a:off x="2340864" y="2926080"/>
            <a:ext cx="4114800" cy="548640"/>
          </a:xfrm>
          <a:prstGeom prst="rect">
            <a:avLst/>
          </a:prstGeom>
          <a:noFill/>
          <a:ln/>
        </p:spPr>
        <p:txBody>
          <a:bodyPr wrap="square" rtlCol="0" anchor="ctr"/>
          <a:lstStyle/>
          <a:p>
            <a:pPr marL="0" indent="0">
              <a:buNone/>
            </a:pPr>
            <a:r>
              <a:rPr lang="en-US" sz="1800" b="1" dirty="0">
                <a:solidFill>
                  <a:srgbClr val="FFFFFF"/>
                </a:solidFill>
              </a:rPr>
              <a:t>LITERATURE REVIEW</a:t>
            </a:r>
            <a:endParaRPr lang="en-US" sz="1800" dirty="0"/>
          </a:p>
        </p:txBody>
      </p:sp>
      <p:sp>
        <p:nvSpPr>
          <p:cNvPr id="10" name="cube 03"/>
          <p:cNvSpPr/>
          <p:nvPr/>
        </p:nvSpPr>
        <p:spPr>
          <a:xfrm>
            <a:off x="1060704" y="3520440"/>
            <a:ext cx="1097280" cy="731520"/>
          </a:xfrm>
          <a:prstGeom prst="cube">
            <a:avLst/>
          </a:prstGeom>
          <a:solidFill>
            <a:srgbClr val="286E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1" name="number 03"/>
          <p:cNvSpPr txBox="1"/>
          <p:nvPr/>
        </p:nvSpPr>
        <p:spPr>
          <a:xfrm>
            <a:off x="1060704" y="3703320"/>
            <a:ext cx="914400" cy="54864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12" name="item 03"/>
          <p:cNvSpPr txBox="1"/>
          <p:nvPr/>
        </p:nvSpPr>
        <p:spPr>
          <a:xfrm>
            <a:off x="2340864" y="3703320"/>
            <a:ext cx="4114800" cy="548640"/>
          </a:xfrm>
          <a:prstGeom prst="rect">
            <a:avLst/>
          </a:prstGeom>
          <a:noFill/>
          <a:ln/>
        </p:spPr>
        <p:txBody>
          <a:bodyPr wrap="square" rtlCol="0" anchor="ctr"/>
          <a:lstStyle/>
          <a:p>
            <a:pPr marL="0" indent="0">
              <a:buNone/>
            </a:pPr>
            <a:r>
              <a:rPr lang="en-US" sz="1800" b="1" dirty="0">
                <a:solidFill>
                  <a:srgbClr val="FFFFFF"/>
                </a:solidFill>
              </a:rPr>
              <a:t>GAP, QUESTIONS &amp; OBJECTIVES</a:t>
            </a:r>
            <a:endParaRPr lang="en-US" sz="1800" dirty="0"/>
          </a:p>
        </p:txBody>
      </p:sp>
      <p:sp>
        <p:nvSpPr>
          <p:cNvPr id="13" name="cube 04"/>
          <p:cNvSpPr/>
          <p:nvPr/>
        </p:nvSpPr>
        <p:spPr>
          <a:xfrm>
            <a:off x="1060704" y="4297680"/>
            <a:ext cx="1097280" cy="731520"/>
          </a:xfrm>
          <a:prstGeom prst="cube">
            <a:avLst/>
          </a:prstGeom>
          <a:solidFill>
            <a:srgbClr val="2878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4" name="number 04"/>
          <p:cNvSpPr txBox="1"/>
          <p:nvPr/>
        </p:nvSpPr>
        <p:spPr>
          <a:xfrm>
            <a:off x="1060704" y="4480560"/>
            <a:ext cx="914400" cy="548640"/>
          </a:xfrm>
          <a:prstGeom prst="rect">
            <a:avLst/>
          </a:prstGeom>
          <a:noFill/>
          <a:ln/>
        </p:spPr>
        <p:txBody>
          <a:bodyPr wrap="square" rtlCol="0" anchor="ctr"/>
          <a:lstStyle/>
          <a:p>
            <a:pPr marL="0" indent="0" algn="ctr">
              <a:buNone/>
            </a:pPr>
            <a:r>
              <a:rPr lang="en-US" sz="1600" b="1" dirty="0">
                <a:solidFill>
                  <a:srgbClr val="FFFFFF"/>
                </a:solidFill>
              </a:rPr>
              <a:t>04</a:t>
            </a:r>
            <a:endParaRPr lang="en-US" sz="1600" dirty="0"/>
          </a:p>
        </p:txBody>
      </p:sp>
      <p:sp>
        <p:nvSpPr>
          <p:cNvPr id="15" name="item 04"/>
          <p:cNvSpPr txBox="1"/>
          <p:nvPr/>
        </p:nvSpPr>
        <p:spPr>
          <a:xfrm>
            <a:off x="2340864" y="4480560"/>
            <a:ext cx="4114800" cy="548640"/>
          </a:xfrm>
          <a:prstGeom prst="rect">
            <a:avLst/>
          </a:prstGeom>
          <a:noFill/>
          <a:ln/>
        </p:spPr>
        <p:txBody>
          <a:bodyPr wrap="square" rtlCol="0" anchor="ctr"/>
          <a:lstStyle/>
          <a:p>
            <a:pPr marL="0" indent="0">
              <a:buNone/>
            </a:pPr>
            <a:r>
              <a:rPr lang="en-US" sz="1800" b="1" dirty="0">
                <a:solidFill>
                  <a:srgbClr val="FFFFFF"/>
                </a:solidFill>
              </a:rPr>
              <a:t>METHODOLOGY &amp; FRAMEWORK</a:t>
            </a:r>
            <a:endParaRPr lang="en-US" sz="1800" dirty="0"/>
          </a:p>
        </p:txBody>
      </p:sp>
      <p:sp>
        <p:nvSpPr>
          <p:cNvPr id="16" name="cube 05"/>
          <p:cNvSpPr/>
          <p:nvPr/>
        </p:nvSpPr>
        <p:spPr>
          <a:xfrm>
            <a:off x="1060704" y="5074920"/>
            <a:ext cx="1097280" cy="731520"/>
          </a:xfrm>
          <a:prstGeom prst="cube">
            <a:avLst/>
          </a:prstGeom>
          <a:solidFill>
            <a:srgbClr val="2882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17" name="number 05"/>
          <p:cNvSpPr txBox="1"/>
          <p:nvPr/>
        </p:nvSpPr>
        <p:spPr>
          <a:xfrm>
            <a:off x="1060704" y="5257800"/>
            <a:ext cx="914400" cy="548640"/>
          </a:xfrm>
          <a:prstGeom prst="rect">
            <a:avLst/>
          </a:prstGeom>
          <a:noFill/>
          <a:ln/>
        </p:spPr>
        <p:txBody>
          <a:bodyPr wrap="square" rtlCol="0" anchor="ctr"/>
          <a:lstStyle/>
          <a:p>
            <a:pPr marL="0" indent="0" algn="ctr">
              <a:buNone/>
            </a:pPr>
            <a:r>
              <a:rPr lang="en-US" sz="1600" b="1" dirty="0">
                <a:solidFill>
                  <a:srgbClr val="FFFFFF"/>
                </a:solidFill>
              </a:rPr>
              <a:t>05</a:t>
            </a:r>
            <a:endParaRPr lang="en-US" sz="1600" dirty="0"/>
          </a:p>
        </p:txBody>
      </p:sp>
      <p:sp>
        <p:nvSpPr>
          <p:cNvPr id="18" name="item 05"/>
          <p:cNvSpPr txBox="1"/>
          <p:nvPr/>
        </p:nvSpPr>
        <p:spPr>
          <a:xfrm>
            <a:off x="2340864" y="5257800"/>
            <a:ext cx="4114800" cy="548640"/>
          </a:xfrm>
          <a:prstGeom prst="rect">
            <a:avLst/>
          </a:prstGeom>
          <a:noFill/>
          <a:ln/>
        </p:spPr>
        <p:txBody>
          <a:bodyPr wrap="square" rtlCol="0" anchor="ctr"/>
          <a:lstStyle/>
          <a:p>
            <a:pPr marL="0" indent="0">
              <a:buNone/>
            </a:pPr>
            <a:r>
              <a:rPr lang="en-US" sz="1800" b="1" dirty="0">
                <a:solidFill>
                  <a:srgbClr val="FFFFFF"/>
                </a:solidFill>
              </a:rPr>
              <a:t>VALIDATION &amp; EVALUATION</a:t>
            </a:r>
            <a:endParaRPr lang="en-US" sz="1800" dirty="0"/>
          </a:p>
        </p:txBody>
      </p:sp>
      <p:sp>
        <p:nvSpPr>
          <p:cNvPr id="19" name="cube 06"/>
          <p:cNvSpPr/>
          <p:nvPr/>
        </p:nvSpPr>
        <p:spPr>
          <a:xfrm>
            <a:off x="6547104" y="1965960"/>
            <a:ext cx="1097280" cy="731520"/>
          </a:xfrm>
          <a:prstGeom prst="cube">
            <a:avLst/>
          </a:prstGeom>
          <a:solidFill>
            <a:srgbClr val="288C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0" name="number 06"/>
          <p:cNvSpPr txBox="1"/>
          <p:nvPr/>
        </p:nvSpPr>
        <p:spPr>
          <a:xfrm>
            <a:off x="6547104" y="2148840"/>
            <a:ext cx="914400" cy="548640"/>
          </a:xfrm>
          <a:prstGeom prst="rect">
            <a:avLst/>
          </a:prstGeom>
          <a:noFill/>
          <a:ln/>
        </p:spPr>
        <p:txBody>
          <a:bodyPr wrap="square" rtlCol="0" anchor="ctr"/>
          <a:lstStyle/>
          <a:p>
            <a:pPr marL="0" indent="0" algn="ctr">
              <a:buNone/>
            </a:pPr>
            <a:r>
              <a:rPr lang="en-US" sz="1600" b="1" dirty="0">
                <a:solidFill>
                  <a:srgbClr val="FFFFFF"/>
                </a:solidFill>
              </a:rPr>
              <a:t>06</a:t>
            </a:r>
            <a:endParaRPr lang="en-US" sz="1600" dirty="0"/>
          </a:p>
        </p:txBody>
      </p:sp>
      <p:sp>
        <p:nvSpPr>
          <p:cNvPr id="21" name="item 06"/>
          <p:cNvSpPr txBox="1"/>
          <p:nvPr/>
        </p:nvSpPr>
        <p:spPr>
          <a:xfrm>
            <a:off x="7827264" y="2148840"/>
            <a:ext cx="4206240" cy="548640"/>
          </a:xfrm>
          <a:prstGeom prst="rect">
            <a:avLst/>
          </a:prstGeom>
          <a:noFill/>
          <a:ln/>
        </p:spPr>
        <p:txBody>
          <a:bodyPr wrap="square" rtlCol="0" anchor="ctr"/>
          <a:lstStyle/>
          <a:p>
            <a:pPr marL="0" indent="0">
              <a:buNone/>
            </a:pPr>
            <a:r>
              <a:rPr lang="en-US" sz="1800" b="1" dirty="0">
                <a:solidFill>
                  <a:srgbClr val="FFFFFF"/>
                </a:solidFill>
              </a:rPr>
              <a:t>CONTRIBUTION &amp; SIGNIFICANCE</a:t>
            </a:r>
            <a:endParaRPr lang="en-US" sz="1800" dirty="0"/>
          </a:p>
        </p:txBody>
      </p:sp>
      <p:sp>
        <p:nvSpPr>
          <p:cNvPr id="22" name="cube 07"/>
          <p:cNvSpPr/>
          <p:nvPr/>
        </p:nvSpPr>
        <p:spPr>
          <a:xfrm>
            <a:off x="6547104" y="2743200"/>
            <a:ext cx="1097280" cy="731520"/>
          </a:xfrm>
          <a:prstGeom prst="cube">
            <a:avLst/>
          </a:prstGeom>
          <a:solidFill>
            <a:srgbClr val="2896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3" name="number 07"/>
          <p:cNvSpPr txBox="1"/>
          <p:nvPr/>
        </p:nvSpPr>
        <p:spPr>
          <a:xfrm>
            <a:off x="6547104" y="2926080"/>
            <a:ext cx="914400" cy="548640"/>
          </a:xfrm>
          <a:prstGeom prst="rect">
            <a:avLst/>
          </a:prstGeom>
          <a:noFill/>
          <a:ln/>
        </p:spPr>
        <p:txBody>
          <a:bodyPr wrap="square" rtlCol="0" anchor="ctr"/>
          <a:lstStyle/>
          <a:p>
            <a:pPr marL="0" indent="0" algn="ctr">
              <a:buNone/>
            </a:pPr>
            <a:r>
              <a:rPr lang="en-US" sz="1600" b="1" dirty="0">
                <a:solidFill>
                  <a:srgbClr val="FFFFFF"/>
                </a:solidFill>
              </a:rPr>
              <a:t>07</a:t>
            </a:r>
            <a:endParaRPr lang="en-US" sz="1600" dirty="0"/>
          </a:p>
        </p:txBody>
      </p:sp>
      <p:sp>
        <p:nvSpPr>
          <p:cNvPr id="24" name="item 07"/>
          <p:cNvSpPr txBox="1"/>
          <p:nvPr/>
        </p:nvSpPr>
        <p:spPr>
          <a:xfrm>
            <a:off x="7827264" y="2926080"/>
            <a:ext cx="4206240" cy="548640"/>
          </a:xfrm>
          <a:prstGeom prst="rect">
            <a:avLst/>
          </a:prstGeom>
          <a:noFill/>
          <a:ln/>
        </p:spPr>
        <p:txBody>
          <a:bodyPr wrap="square" rtlCol="0" anchor="ctr"/>
          <a:lstStyle/>
          <a:p>
            <a:pPr marL="0" indent="0">
              <a:buNone/>
            </a:pPr>
            <a:r>
              <a:rPr lang="en-US" sz="1800" b="1" dirty="0">
                <a:solidFill>
                  <a:srgbClr val="FFFFFF"/>
                </a:solidFill>
              </a:rPr>
              <a:t>LIMITATIONS &amp; NEXT STEPS</a:t>
            </a:r>
            <a:endParaRPr lang="en-US" sz="1800" dirty="0"/>
          </a:p>
        </p:txBody>
      </p:sp>
      <p:sp>
        <p:nvSpPr>
          <p:cNvPr id="25" name="cube 08"/>
          <p:cNvSpPr/>
          <p:nvPr/>
        </p:nvSpPr>
        <p:spPr>
          <a:xfrm>
            <a:off x="6547104" y="3520440"/>
            <a:ext cx="1097280" cy="731520"/>
          </a:xfrm>
          <a:prstGeom prst="cube">
            <a:avLst/>
          </a:prstGeom>
          <a:solidFill>
            <a:srgbClr val="28A0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6" name="number 08"/>
          <p:cNvSpPr txBox="1"/>
          <p:nvPr/>
        </p:nvSpPr>
        <p:spPr>
          <a:xfrm>
            <a:off x="6547104" y="3703320"/>
            <a:ext cx="914400" cy="548640"/>
          </a:xfrm>
          <a:prstGeom prst="rect">
            <a:avLst/>
          </a:prstGeom>
          <a:noFill/>
          <a:ln/>
        </p:spPr>
        <p:txBody>
          <a:bodyPr wrap="square" rtlCol="0" anchor="ctr"/>
          <a:lstStyle/>
          <a:p>
            <a:pPr marL="0" indent="0" algn="ctr">
              <a:buNone/>
            </a:pPr>
            <a:r>
              <a:rPr lang="en-US" sz="1600" b="1" dirty="0">
                <a:solidFill>
                  <a:srgbClr val="FFFFFF"/>
                </a:solidFill>
              </a:rPr>
              <a:t>08</a:t>
            </a:r>
            <a:endParaRPr lang="en-US" sz="1600" dirty="0"/>
          </a:p>
        </p:txBody>
      </p:sp>
      <p:sp>
        <p:nvSpPr>
          <p:cNvPr id="27" name="item 08"/>
          <p:cNvSpPr txBox="1"/>
          <p:nvPr/>
        </p:nvSpPr>
        <p:spPr>
          <a:xfrm>
            <a:off x="7827264" y="3703320"/>
            <a:ext cx="4206240" cy="548640"/>
          </a:xfrm>
          <a:prstGeom prst="rect">
            <a:avLst/>
          </a:prstGeom>
          <a:noFill/>
          <a:ln/>
        </p:spPr>
        <p:txBody>
          <a:bodyPr wrap="square" rtlCol="0" anchor="ctr"/>
          <a:lstStyle/>
          <a:p>
            <a:pPr marL="0" indent="0">
              <a:buNone/>
            </a:pPr>
            <a:r>
              <a:rPr lang="en-US" sz="1800" b="1" dirty="0">
                <a:solidFill>
                  <a:srgbClr val="FFFFFF"/>
                </a:solidFill>
              </a:rPr>
              <a:t>PUBLICATIONS &amp; RESEARCH PLAN</a:t>
            </a:r>
            <a:endParaRPr lang="en-US" sz="1800" dirty="0"/>
          </a:p>
        </p:txBody>
      </p:sp>
      <p:sp>
        <p:nvSpPr>
          <p:cNvPr id="28" name="cube 09"/>
          <p:cNvSpPr/>
          <p:nvPr/>
        </p:nvSpPr>
        <p:spPr>
          <a:xfrm>
            <a:off x="6547104" y="4297680"/>
            <a:ext cx="1097280" cy="731520"/>
          </a:xfrm>
          <a:prstGeom prst="cube">
            <a:avLst/>
          </a:prstGeom>
          <a:solidFill>
            <a:srgbClr val="28AA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29" name="number 09"/>
          <p:cNvSpPr txBox="1"/>
          <p:nvPr/>
        </p:nvSpPr>
        <p:spPr>
          <a:xfrm>
            <a:off x="6547104" y="4480560"/>
            <a:ext cx="914400" cy="548640"/>
          </a:xfrm>
          <a:prstGeom prst="rect">
            <a:avLst/>
          </a:prstGeom>
          <a:noFill/>
          <a:ln/>
        </p:spPr>
        <p:txBody>
          <a:bodyPr wrap="square" rtlCol="0" anchor="ctr"/>
          <a:lstStyle/>
          <a:p>
            <a:pPr marL="0" indent="0" algn="ctr">
              <a:buNone/>
            </a:pPr>
            <a:r>
              <a:rPr lang="en-US" sz="1600" b="1" dirty="0">
                <a:solidFill>
                  <a:srgbClr val="FFFFFF"/>
                </a:solidFill>
              </a:rPr>
              <a:t>09</a:t>
            </a:r>
            <a:endParaRPr lang="en-US" sz="1600" dirty="0"/>
          </a:p>
        </p:txBody>
      </p:sp>
      <p:sp>
        <p:nvSpPr>
          <p:cNvPr id="30" name="item 09"/>
          <p:cNvSpPr txBox="1"/>
          <p:nvPr/>
        </p:nvSpPr>
        <p:spPr>
          <a:xfrm>
            <a:off x="7827264" y="4480560"/>
            <a:ext cx="4206240" cy="548640"/>
          </a:xfrm>
          <a:prstGeom prst="rect">
            <a:avLst/>
          </a:prstGeom>
          <a:noFill/>
          <a:ln/>
        </p:spPr>
        <p:txBody>
          <a:bodyPr wrap="square" rtlCol="0" anchor="ctr"/>
          <a:lstStyle/>
          <a:p>
            <a:pPr marL="0" indent="0">
              <a:buNone/>
            </a:pPr>
            <a:r>
              <a:rPr lang="en-US" sz="1800" b="1" dirty="0">
                <a:solidFill>
                  <a:srgbClr val="FFFFFF"/>
                </a:solidFill>
              </a:rPr>
              <a:t>DEMO: THE HALAH PROTOTYPE</a:t>
            </a:r>
            <a:endParaRPr lang="en-US" sz="1800" dirty="0"/>
          </a:p>
        </p:txBody>
      </p:sp>
      <p:sp>
        <p:nvSpPr>
          <p:cNvPr id="31" name="cube 10"/>
          <p:cNvSpPr/>
          <p:nvPr/>
        </p:nvSpPr>
        <p:spPr>
          <a:xfrm>
            <a:off x="6547104" y="5074920"/>
            <a:ext cx="1097280" cy="731520"/>
          </a:xfrm>
          <a:prstGeom prst="cube">
            <a:avLst/>
          </a:prstGeom>
          <a:solidFill>
            <a:srgbClr val="28B4A0"/>
          </a:solidFill>
          <a:ln w="12700">
            <a:solidFill>
              <a:srgbClr val="FFFFFF"/>
            </a:solidFill>
            <a:prstDash val="solid"/>
          </a:ln>
          <a:effectLst>
            <a:outerShdw blurRad="50800" dist="25400" dir="5400000" algn="bl" rotWithShape="0">
              <a:srgbClr val="000000">
                <a:alpha val="30000"/>
              </a:srgbClr>
            </a:outerShdw>
          </a:effectLst>
        </p:spPr>
        <p:txBody>
          <a:bodyPr/>
          <a:lstStyle/>
          <a:p>
            <a:endParaRPr lang="en-AU"/>
          </a:p>
        </p:txBody>
      </p:sp>
      <p:sp>
        <p:nvSpPr>
          <p:cNvPr id="32" name="number 10"/>
          <p:cNvSpPr txBox="1"/>
          <p:nvPr/>
        </p:nvSpPr>
        <p:spPr>
          <a:xfrm>
            <a:off x="6547104" y="5257800"/>
            <a:ext cx="914400" cy="548640"/>
          </a:xfrm>
          <a:prstGeom prst="rect">
            <a:avLst/>
          </a:prstGeom>
          <a:noFill/>
          <a:ln/>
        </p:spPr>
        <p:txBody>
          <a:bodyPr wrap="square" rtlCol="0" anchor="ctr"/>
          <a:lstStyle/>
          <a:p>
            <a:pPr marL="0" indent="0" algn="ctr">
              <a:buNone/>
            </a:pPr>
            <a:r>
              <a:rPr lang="en-US" sz="1600" b="1" dirty="0">
                <a:solidFill>
                  <a:srgbClr val="FFFFFF"/>
                </a:solidFill>
              </a:rPr>
              <a:t>10</a:t>
            </a:r>
            <a:endParaRPr lang="en-US" sz="1600" dirty="0"/>
          </a:p>
        </p:txBody>
      </p:sp>
      <p:sp>
        <p:nvSpPr>
          <p:cNvPr id="33" name="item 10"/>
          <p:cNvSpPr txBox="1"/>
          <p:nvPr/>
        </p:nvSpPr>
        <p:spPr>
          <a:xfrm>
            <a:off x="7827264" y="5257800"/>
            <a:ext cx="4206240" cy="548640"/>
          </a:xfrm>
          <a:prstGeom prst="rect">
            <a:avLst/>
          </a:prstGeom>
          <a:noFill/>
          <a:ln/>
        </p:spPr>
        <p:txBody>
          <a:bodyPr wrap="square" rtlCol="0" anchor="ctr"/>
          <a:lstStyle/>
          <a:p>
            <a:pPr marL="0" indent="0">
              <a:buNone/>
            </a:pPr>
            <a:r>
              <a:rPr lang="en-US" sz="1800" b="1" dirty="0">
                <a:solidFill>
                  <a:srgbClr val="FFFFFF"/>
                </a:solidFill>
              </a:rPr>
              <a:t>REFERENCES</a:t>
            </a:r>
            <a:endParaRPr lang="en-US" sz="1800" dirty="0"/>
          </a:p>
        </p:txBody>
      </p:sp>
      <p:sp>
        <p:nvSpPr>
          <p:cNvPr id="3"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PROBLEM</a:t>
            </a:r>
            <a:endParaRPr lang="en-US" sz="3000" dirty="0"/>
          </a:p>
        </p:txBody>
      </p:sp>
      <p:sp>
        <p:nvSpPr>
          <p:cNvPr id="4" name="bullets"/>
          <p:cNvSpPr txBox="1"/>
          <p:nvPr/>
        </p:nvSpPr>
        <p:spPr>
          <a:xfrm>
            <a:off x="822960" y="1280160"/>
            <a:ext cx="6217920" cy="4937760"/>
          </a:xfrm>
          <a:prstGeom prst="rect">
            <a:avLst/>
          </a:prstGeom>
          <a:noFill/>
          <a:ln/>
        </p:spPr>
        <p:txBody>
          <a:bodyPr wrap="square" rtlCol="0" anchor="t"/>
          <a:lstStyle/>
          <a:p>
            <a:pPr marL="342900" indent="-342900">
              <a:spcAft>
                <a:spcPts val="1000"/>
              </a:spcAft>
              <a:buSzPct val="100000"/>
              <a:buChar char="•"/>
            </a:pPr>
            <a:r>
              <a:rPr lang="en-US" sz="1900" dirty="0">
                <a:solidFill>
                  <a:srgbClr val="FFFFFF"/>
                </a:solidFill>
              </a:rPr>
              <a:t>Healthcare data is shared between many independent parties: patient, guardians, doctor, hospital.</a:t>
            </a:r>
            <a:endParaRPr lang="en-US" sz="1900" dirty="0"/>
          </a:p>
          <a:p>
            <a:pPr marL="342900" indent="-342900">
              <a:spcAft>
                <a:spcPts val="1000"/>
              </a:spcAft>
              <a:buSzPct val="100000"/>
              <a:buChar char="•"/>
            </a:pPr>
            <a:r>
              <a:rPr lang="en-US" sz="1900" dirty="0">
                <a:solidFill>
                  <a:srgbClr val="FFFFFF"/>
                </a:solidFill>
              </a:rPr>
              <a:t>Today, consent is a stored record. It shows that permission was given, but it checks nothing at access time.</a:t>
            </a:r>
            <a:endParaRPr lang="en-US" sz="1900" dirty="0"/>
          </a:p>
          <a:p>
            <a:pPr marL="342900" indent="-342900">
              <a:spcAft>
                <a:spcPts val="1000"/>
              </a:spcAft>
              <a:buSzPct val="100000"/>
              <a:buChar char="•"/>
            </a:pPr>
            <a:r>
              <a:rPr lang="en-US" sz="1900" dirty="0">
                <a:solidFill>
                  <a:srgbClr val="FFFFFF"/>
                </a:solidFill>
              </a:rPr>
              <a:t>A valid identity does not prove the right to see this patient's data.</a:t>
            </a:r>
            <a:endParaRPr lang="en-US" sz="1900" dirty="0"/>
          </a:p>
          <a:p>
            <a:pPr marL="342900" indent="-342900">
              <a:spcAft>
                <a:spcPts val="1000"/>
              </a:spcAft>
              <a:buSzPct val="100000"/>
              <a:buChar char="•"/>
            </a:pPr>
            <a:r>
              <a:rPr lang="en-US" sz="1900" dirty="0">
                <a:solidFill>
                  <a:srgbClr val="FFFFFF"/>
                </a:solidFill>
              </a:rPr>
              <a:t>A request can ask for more data than allowed, or arrive after the consent expired or was revoked.</a:t>
            </a:r>
            <a:endParaRPr lang="en-US" sz="1900" dirty="0"/>
          </a:p>
          <a:p>
            <a:pPr marL="342900" indent="-342900">
              <a:spcAft>
                <a:spcPts val="1000"/>
              </a:spcAft>
              <a:buSzPct val="100000"/>
              <a:buChar char="•"/>
            </a:pPr>
            <a:r>
              <a:rPr lang="en-US" sz="1900" dirty="0">
                <a:solidFill>
                  <a:srgbClr val="FFFFFF"/>
                </a:solidFill>
              </a:rPr>
              <a:t>None of the reviewed studies proves or tests the whole decision.</a:t>
            </a:r>
            <a:endParaRPr lang="en-US" sz="1900" dirty="0"/>
          </a:p>
        </p:txBody>
      </p:sp>
      <p:sp>
        <p:nvSpPr>
          <p:cNvPr id="5" name="card In one sentence"/>
          <p:cNvSpPr/>
          <p:nvPr/>
        </p:nvSpPr>
        <p:spPr>
          <a:xfrm>
            <a:off x="7406640" y="1463040"/>
            <a:ext cx="3931920" cy="4114800"/>
          </a:xfrm>
          <a:prstGeom prst="roundRect">
            <a:avLst>
              <a:gd name="adj" fmla="val 2326"/>
            </a:avLst>
          </a:prstGeom>
          <a:solidFill>
            <a:srgbClr val="FFFFFF">
              <a:alpha val="92000"/>
            </a:srgbClr>
          </a:solidFill>
          <a:ln w="19050">
            <a:solidFill>
              <a:srgbClr val="1FB5D6"/>
            </a:solidFill>
            <a:prstDash val="solid"/>
          </a:ln>
        </p:spPr>
        <p:txBody>
          <a:bodyPr/>
          <a:lstStyle/>
          <a:p>
            <a:endParaRPr lang="en-AU"/>
          </a:p>
        </p:txBody>
      </p:sp>
      <p:sp>
        <p:nvSpPr>
          <p:cNvPr id="6" name="card text In one sentence"/>
          <p:cNvSpPr txBox="1"/>
          <p:nvPr/>
        </p:nvSpPr>
        <p:spPr>
          <a:xfrm>
            <a:off x="7543800" y="1554480"/>
            <a:ext cx="3657600" cy="3931920"/>
          </a:xfrm>
          <a:prstGeom prst="rect">
            <a:avLst/>
          </a:prstGeom>
          <a:noFill/>
          <a:ln/>
        </p:spPr>
        <p:txBody>
          <a:bodyPr wrap="square" rtlCol="0" anchor="t"/>
          <a:lstStyle/>
          <a:p>
            <a:pPr marL="0" indent="0">
              <a:spcAft>
                <a:spcPts val="400"/>
              </a:spcAft>
              <a:buNone/>
            </a:pPr>
            <a:r>
              <a:rPr lang="en-US" sz="1600" dirty="0">
                <a:solidFill>
                  <a:srgbClr val="0B1F33"/>
                </a:solidFill>
              </a:rPr>
              <a:t>The Min problem is that There is no trusted mechanism that checks identity, authority, multi-party approval, policy, time and lifecycle together in one access decision, with evidence that it is secure.</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KEY IDEA</a:t>
            </a:r>
            <a:endParaRPr lang="en-US" sz="3000" dirty="0"/>
          </a:p>
        </p:txBody>
      </p:sp>
      <p:sp>
        <p:nvSpPr>
          <p:cNvPr id="4" name="idea box"/>
          <p:cNvSpPr/>
          <p:nvPr/>
        </p:nvSpPr>
        <p:spPr>
          <a:xfrm>
            <a:off x="822960" y="1188720"/>
            <a:ext cx="10424160" cy="1371600"/>
          </a:xfrm>
          <a:prstGeom prst="roundRect">
            <a:avLst>
              <a:gd name="adj" fmla="val 6667"/>
            </a:avLst>
          </a:prstGeom>
          <a:solidFill>
            <a:srgbClr val="0B2A4A">
              <a:alpha val="85000"/>
            </a:srgbClr>
          </a:solidFill>
          <a:ln w="19050">
            <a:solidFill>
              <a:srgbClr val="1FB5D6"/>
            </a:solidFill>
            <a:prstDash val="solid"/>
          </a:ln>
        </p:spPr>
        <p:txBody>
          <a:bodyPr/>
          <a:lstStyle/>
          <a:p>
            <a:endParaRPr lang="en-AU"/>
          </a:p>
        </p:txBody>
      </p:sp>
      <p:sp>
        <p:nvSpPr>
          <p:cNvPr id="5" name="idea text"/>
          <p:cNvSpPr txBox="1"/>
          <p:nvPr/>
        </p:nvSpPr>
        <p:spPr>
          <a:xfrm>
            <a:off x="1005840" y="1234440"/>
            <a:ext cx="10058400" cy="1280160"/>
          </a:xfrm>
          <a:prstGeom prst="rect">
            <a:avLst/>
          </a:prstGeom>
          <a:noFill/>
          <a:ln/>
        </p:spPr>
        <p:txBody>
          <a:bodyPr wrap="square" rtlCol="0" anchor="ctr"/>
          <a:lstStyle/>
          <a:p>
            <a:pPr marL="0" indent="0" algn="ctr">
              <a:buNone/>
            </a:pPr>
            <a:r>
              <a:rPr lang="en-US" sz="2000" b="1" dirty="0">
                <a:solidFill>
                  <a:srgbClr val="FFFFFF"/>
                </a:solidFill>
              </a:rPr>
              <a:t>Consent is not a stored record. It is an object checked at every request.</a:t>
            </a:r>
            <a:endParaRPr lang="en-US" sz="2000" dirty="0"/>
          </a:p>
          <a:p>
            <a:pPr marL="0" indent="0" algn="ctr">
              <a:buNone/>
            </a:pPr>
            <a:r>
              <a:rPr lang="en-US" sz="2800" b="1" dirty="0">
                <a:solidFill>
                  <a:srgbClr val="1FB5D6"/>
                </a:solidFill>
              </a:rPr>
              <a:t>C = (I, A, P, T, L, E)</a:t>
            </a:r>
            <a:endParaRPr lang="en-US" sz="2000" dirty="0"/>
          </a:p>
        </p:txBody>
      </p:sp>
      <p:sp>
        <p:nvSpPr>
          <p:cNvPr id="6" name="card I  Identity"/>
          <p:cNvSpPr/>
          <p:nvPr/>
        </p:nvSpPr>
        <p:spPr>
          <a:xfrm>
            <a:off x="82296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7" name="card text I  Identity"/>
          <p:cNvSpPr txBox="1"/>
          <p:nvPr/>
        </p:nvSpPr>
        <p:spPr>
          <a:xfrm>
            <a:off x="96012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I  Identity</a:t>
            </a:r>
            <a:endParaRPr lang="en-US" sz="1900" dirty="0"/>
          </a:p>
          <a:p>
            <a:pPr marL="0" indent="0">
              <a:spcAft>
                <a:spcPts val="400"/>
              </a:spcAft>
              <a:buNone/>
            </a:pPr>
            <a:r>
              <a:rPr lang="en-US" sz="1600" dirty="0">
                <a:solidFill>
                  <a:srgbClr val="0B1F33"/>
                </a:solidFill>
              </a:rPr>
              <a:t>Who is the patient, the doctor and each guardian (DID).</a:t>
            </a:r>
            <a:endParaRPr lang="en-US" sz="1900" dirty="0"/>
          </a:p>
        </p:txBody>
      </p:sp>
      <p:sp>
        <p:nvSpPr>
          <p:cNvPr id="8" name="card A  Authorisation"/>
          <p:cNvSpPr/>
          <p:nvPr/>
        </p:nvSpPr>
        <p:spPr>
          <a:xfrm>
            <a:off x="438912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9" name="card text A  Authorisation"/>
          <p:cNvSpPr txBox="1"/>
          <p:nvPr/>
        </p:nvSpPr>
        <p:spPr>
          <a:xfrm>
            <a:off x="452628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A  Authorisation</a:t>
            </a:r>
            <a:endParaRPr lang="en-US" sz="1900" dirty="0"/>
          </a:p>
          <a:p>
            <a:pPr marL="0" indent="0">
              <a:spcAft>
                <a:spcPts val="400"/>
              </a:spcAft>
              <a:buNone/>
            </a:pPr>
            <a:r>
              <a:rPr lang="en-US" sz="1600" dirty="0">
                <a:solidFill>
                  <a:srgbClr val="0B1F33"/>
                </a:solidFill>
              </a:rPr>
              <a:t>The guardian set G and how many approvals are needed (N).</a:t>
            </a:r>
            <a:endParaRPr lang="en-US" sz="1900" dirty="0"/>
          </a:p>
        </p:txBody>
      </p:sp>
      <p:sp>
        <p:nvSpPr>
          <p:cNvPr id="10" name="card P  Policy"/>
          <p:cNvSpPr/>
          <p:nvPr/>
        </p:nvSpPr>
        <p:spPr>
          <a:xfrm>
            <a:off x="7955280" y="278892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1" name="card text P  Policy"/>
          <p:cNvSpPr txBox="1"/>
          <p:nvPr/>
        </p:nvSpPr>
        <p:spPr>
          <a:xfrm>
            <a:off x="8092440" y="288036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P  Policy</a:t>
            </a:r>
            <a:endParaRPr lang="en-US" sz="1900" dirty="0"/>
          </a:p>
          <a:p>
            <a:pPr marL="0" indent="0">
              <a:spcAft>
                <a:spcPts val="400"/>
              </a:spcAft>
              <a:buNone/>
            </a:pPr>
            <a:r>
              <a:rPr lang="en-US" sz="1600" dirty="0">
                <a:solidFill>
                  <a:srgbClr val="0B1F33"/>
                </a:solidFill>
              </a:rPr>
              <a:t>The purpose and the data scope that were agreed.</a:t>
            </a:r>
            <a:endParaRPr lang="en-US" sz="1900" dirty="0"/>
          </a:p>
        </p:txBody>
      </p:sp>
      <p:sp>
        <p:nvSpPr>
          <p:cNvPr id="12" name="card T  Time"/>
          <p:cNvSpPr/>
          <p:nvPr/>
        </p:nvSpPr>
        <p:spPr>
          <a:xfrm>
            <a:off x="82296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3" name="card text T  Time"/>
          <p:cNvSpPr txBox="1"/>
          <p:nvPr/>
        </p:nvSpPr>
        <p:spPr>
          <a:xfrm>
            <a:off x="96012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T  Time</a:t>
            </a:r>
            <a:endParaRPr lang="en-US" sz="1900" dirty="0"/>
          </a:p>
          <a:p>
            <a:pPr marL="0" indent="0">
              <a:spcAft>
                <a:spcPts val="400"/>
              </a:spcAft>
              <a:buNone/>
            </a:pPr>
            <a:r>
              <a:rPr lang="en-US" sz="1600" dirty="0">
                <a:solidFill>
                  <a:srgbClr val="0B1F33"/>
                </a:solidFill>
              </a:rPr>
              <a:t>When the consent starts and when it expires.</a:t>
            </a:r>
            <a:endParaRPr lang="en-US" sz="1900" dirty="0"/>
          </a:p>
        </p:txBody>
      </p:sp>
      <p:sp>
        <p:nvSpPr>
          <p:cNvPr id="14" name="card L  Lifecycle"/>
          <p:cNvSpPr/>
          <p:nvPr/>
        </p:nvSpPr>
        <p:spPr>
          <a:xfrm>
            <a:off x="438912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5" name="card text L  Lifecycle"/>
          <p:cNvSpPr txBox="1"/>
          <p:nvPr/>
        </p:nvSpPr>
        <p:spPr>
          <a:xfrm>
            <a:off x="452628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L  Lifecycle</a:t>
            </a:r>
            <a:endParaRPr lang="en-US" sz="1900" dirty="0"/>
          </a:p>
          <a:p>
            <a:pPr marL="0" indent="0">
              <a:spcAft>
                <a:spcPts val="400"/>
              </a:spcAft>
              <a:buNone/>
            </a:pPr>
            <a:r>
              <a:rPr lang="en-US" sz="1600" dirty="0">
                <a:solidFill>
                  <a:srgbClr val="0B1F33"/>
                </a:solidFill>
              </a:rPr>
              <a:t>The state of the consent, from creation to expiry or revocation.</a:t>
            </a:r>
            <a:endParaRPr lang="en-US" sz="1900" dirty="0"/>
          </a:p>
        </p:txBody>
      </p:sp>
      <p:sp>
        <p:nvSpPr>
          <p:cNvPr id="16" name="card E  Evidence"/>
          <p:cNvSpPr/>
          <p:nvPr/>
        </p:nvSpPr>
        <p:spPr>
          <a:xfrm>
            <a:off x="7955280" y="4572000"/>
            <a:ext cx="3291840" cy="1554480"/>
          </a:xfrm>
          <a:prstGeom prst="roundRect">
            <a:avLst>
              <a:gd name="adj" fmla="val 5882"/>
            </a:avLst>
          </a:prstGeom>
          <a:solidFill>
            <a:srgbClr val="FFFFFF">
              <a:alpha val="92000"/>
            </a:srgbClr>
          </a:solidFill>
          <a:ln w="19050">
            <a:solidFill>
              <a:srgbClr val="1FB5D6"/>
            </a:solidFill>
            <a:prstDash val="solid"/>
          </a:ln>
        </p:spPr>
        <p:txBody>
          <a:bodyPr/>
          <a:lstStyle/>
          <a:p>
            <a:endParaRPr lang="en-AU"/>
          </a:p>
        </p:txBody>
      </p:sp>
      <p:sp>
        <p:nvSpPr>
          <p:cNvPr id="17" name="card text E  Evidence"/>
          <p:cNvSpPr txBox="1"/>
          <p:nvPr/>
        </p:nvSpPr>
        <p:spPr>
          <a:xfrm>
            <a:off x="8092440" y="4663440"/>
            <a:ext cx="3017520" cy="1371600"/>
          </a:xfrm>
          <a:prstGeom prst="rect">
            <a:avLst/>
          </a:prstGeom>
          <a:noFill/>
          <a:ln/>
        </p:spPr>
        <p:txBody>
          <a:bodyPr wrap="square" rtlCol="0" anchor="t"/>
          <a:lstStyle/>
          <a:p>
            <a:pPr marL="0" indent="0">
              <a:spcAft>
                <a:spcPts val="400"/>
              </a:spcAft>
              <a:buNone/>
            </a:pPr>
            <a:r>
              <a:rPr lang="en-US" sz="1900" b="1" dirty="0">
                <a:solidFill>
                  <a:srgbClr val="0B2A4A"/>
                </a:solidFill>
              </a:rPr>
              <a:t>E  Evidence</a:t>
            </a:r>
            <a:endParaRPr lang="en-US" sz="1900" dirty="0"/>
          </a:p>
          <a:p>
            <a:pPr marL="0" indent="0">
              <a:spcAft>
                <a:spcPts val="400"/>
              </a:spcAft>
              <a:buNone/>
            </a:pPr>
            <a:r>
              <a:rPr lang="en-US" sz="1600" dirty="0">
                <a:solidFill>
                  <a:srgbClr val="0B1F33"/>
                </a:solidFill>
              </a:rPr>
              <a:t>Signatures, the token, and whether it is revoked.</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LITERATURE REVIEW</a:t>
            </a:r>
            <a:endParaRPr lang="en-US" sz="3000" dirty="0"/>
          </a:p>
        </p:txBody>
      </p:sp>
      <p:sp>
        <p:nvSpPr>
          <p:cNvPr id="4" name="F2 panel"/>
          <p:cNvSpPr/>
          <p:nvPr/>
        </p:nvSpPr>
        <p:spPr>
          <a:xfrm>
            <a:off x="640080" y="1097280"/>
            <a:ext cx="5760720" cy="5440680"/>
          </a:xfrm>
          <a:prstGeom prst="roundRect">
            <a:avLst>
              <a:gd name="adj" fmla="val 201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2" descr="/tmp/deck/img/F2.png"/>
          <p:cNvPicPr>
            <a:picLocks noChangeAspect="1"/>
          </p:cNvPicPr>
          <p:nvPr/>
        </p:nvPicPr>
        <p:blipFill>
          <a:blip r:embed="rId3"/>
          <a:stretch>
            <a:fillRect/>
          </a:stretch>
        </p:blipFill>
        <p:spPr>
          <a:xfrm>
            <a:off x="749808" y="1288146"/>
            <a:ext cx="5541264" cy="5058949"/>
          </a:xfrm>
          <a:prstGeom prst="rect">
            <a:avLst/>
          </a:prstGeom>
        </p:spPr>
      </p:pic>
      <p:sp>
        <p:nvSpPr>
          <p:cNvPr id="6" name="stat records from seven databases"/>
          <p:cNvSpPr txBox="1"/>
          <p:nvPr/>
        </p:nvSpPr>
        <p:spPr>
          <a:xfrm>
            <a:off x="6949440" y="1280160"/>
            <a:ext cx="3291840" cy="868680"/>
          </a:xfrm>
          <a:prstGeom prst="rect">
            <a:avLst/>
          </a:prstGeom>
          <a:noFill/>
          <a:ln/>
        </p:spPr>
        <p:txBody>
          <a:bodyPr wrap="square" lIns="0" tIns="0" rIns="0" bIns="0" rtlCol="0" anchor="ctr"/>
          <a:lstStyle/>
          <a:p>
            <a:pPr marL="0" indent="0">
              <a:buNone/>
            </a:pPr>
            <a:r>
              <a:rPr lang="en-US" sz="4400" b="1" dirty="0">
                <a:solidFill>
                  <a:srgbClr val="1FB5D6"/>
                </a:solidFill>
              </a:rPr>
              <a:t>9,256</a:t>
            </a:r>
            <a:endParaRPr lang="en-US" sz="4400" dirty="0"/>
          </a:p>
        </p:txBody>
      </p:sp>
      <p:sp>
        <p:nvSpPr>
          <p:cNvPr id="7" name="stat label records from seven databases"/>
          <p:cNvSpPr txBox="1"/>
          <p:nvPr/>
        </p:nvSpPr>
        <p:spPr>
          <a:xfrm>
            <a:off x="6949440" y="2148840"/>
            <a:ext cx="3291840" cy="640080"/>
          </a:xfrm>
          <a:prstGeom prst="rect">
            <a:avLst/>
          </a:prstGeom>
          <a:noFill/>
          <a:ln/>
        </p:spPr>
        <p:txBody>
          <a:bodyPr wrap="square" lIns="0" tIns="0" rIns="0" bIns="0" rtlCol="0" anchor="ctr"/>
          <a:lstStyle/>
          <a:p>
            <a:pPr marL="0" indent="0">
              <a:buNone/>
            </a:pPr>
            <a:r>
              <a:rPr lang="en-US" sz="1600" dirty="0">
                <a:solidFill>
                  <a:srgbClr val="FFFFFF"/>
                </a:solidFill>
              </a:rPr>
              <a:t>records from seven databases</a:t>
            </a:r>
            <a:endParaRPr lang="en-US" sz="1600" dirty="0"/>
          </a:p>
        </p:txBody>
      </p:sp>
      <p:sp>
        <p:nvSpPr>
          <p:cNvPr id="8" name="stat studies met the criteria at the checkpoint"/>
          <p:cNvSpPr txBox="1"/>
          <p:nvPr/>
        </p:nvSpPr>
        <p:spPr>
          <a:xfrm>
            <a:off x="6949440" y="2926080"/>
            <a:ext cx="3291840" cy="868680"/>
          </a:xfrm>
          <a:prstGeom prst="rect">
            <a:avLst/>
          </a:prstGeom>
          <a:noFill/>
          <a:ln/>
        </p:spPr>
        <p:txBody>
          <a:bodyPr wrap="square" lIns="0" tIns="0" rIns="0" bIns="0" rtlCol="0" anchor="ctr"/>
          <a:lstStyle/>
          <a:p>
            <a:pPr marL="0" indent="0">
              <a:buNone/>
            </a:pPr>
            <a:r>
              <a:rPr lang="en-US" sz="4400" b="1" dirty="0">
                <a:solidFill>
                  <a:srgbClr val="1FB5D6"/>
                </a:solidFill>
              </a:rPr>
              <a:t>47</a:t>
            </a:r>
            <a:endParaRPr lang="en-US" sz="4400" dirty="0"/>
          </a:p>
        </p:txBody>
      </p:sp>
      <p:sp>
        <p:nvSpPr>
          <p:cNvPr id="9" name="stat label studies met the criteria at the checkpoint"/>
          <p:cNvSpPr txBox="1"/>
          <p:nvPr/>
        </p:nvSpPr>
        <p:spPr>
          <a:xfrm>
            <a:off x="6949440" y="3794760"/>
            <a:ext cx="3291840" cy="640080"/>
          </a:xfrm>
          <a:prstGeom prst="rect">
            <a:avLst/>
          </a:prstGeom>
          <a:noFill/>
          <a:ln/>
        </p:spPr>
        <p:txBody>
          <a:bodyPr wrap="square" lIns="0" tIns="0" rIns="0" bIns="0" rtlCol="0" anchor="ctr"/>
          <a:lstStyle/>
          <a:p>
            <a:pPr marL="0" indent="0">
              <a:buNone/>
            </a:pPr>
            <a:r>
              <a:rPr lang="en-US" sz="1600" dirty="0">
                <a:solidFill>
                  <a:srgbClr val="FFFFFF"/>
                </a:solidFill>
              </a:rPr>
              <a:t>studies met the criteria at the checkpoint</a:t>
            </a:r>
            <a:endParaRPr lang="en-US" sz="1600" dirty="0"/>
          </a:p>
        </p:txBody>
      </p:sp>
      <p:sp>
        <p:nvSpPr>
          <p:cNvPr id="10" name="stat primary studies analysed (23 core + 2)"/>
          <p:cNvSpPr txBox="1"/>
          <p:nvPr/>
        </p:nvSpPr>
        <p:spPr>
          <a:xfrm>
            <a:off x="6949440" y="4572000"/>
            <a:ext cx="3291840" cy="868680"/>
          </a:xfrm>
          <a:prstGeom prst="rect">
            <a:avLst/>
          </a:prstGeom>
          <a:noFill/>
          <a:ln/>
        </p:spPr>
        <p:txBody>
          <a:bodyPr wrap="square" lIns="0" tIns="0" rIns="0" bIns="0" rtlCol="0" anchor="ctr"/>
          <a:lstStyle/>
          <a:p>
            <a:pPr marL="0" indent="0">
              <a:buNone/>
            </a:pPr>
            <a:r>
              <a:rPr lang="en-US" sz="4400" b="1" dirty="0">
                <a:solidFill>
                  <a:srgbClr val="1FB5D6"/>
                </a:solidFill>
              </a:rPr>
              <a:t>25</a:t>
            </a:r>
            <a:endParaRPr lang="en-US" sz="4400" dirty="0"/>
          </a:p>
        </p:txBody>
      </p:sp>
      <p:sp>
        <p:nvSpPr>
          <p:cNvPr id="11" name="stat label primary studies analysed (23 core + 2)"/>
          <p:cNvSpPr txBox="1"/>
          <p:nvPr/>
        </p:nvSpPr>
        <p:spPr>
          <a:xfrm>
            <a:off x="6949440" y="5440680"/>
            <a:ext cx="3291840" cy="640080"/>
          </a:xfrm>
          <a:prstGeom prst="rect">
            <a:avLst/>
          </a:prstGeom>
          <a:noFill/>
          <a:ln/>
        </p:spPr>
        <p:txBody>
          <a:bodyPr wrap="square" lIns="0" tIns="0" rIns="0" bIns="0" rtlCol="0" anchor="ctr"/>
          <a:lstStyle/>
          <a:p>
            <a:pPr marL="0" indent="0">
              <a:buNone/>
            </a:pPr>
            <a:r>
              <a:rPr lang="en-US" sz="1600" dirty="0">
                <a:solidFill>
                  <a:srgbClr val="FFFFFF"/>
                </a:solidFill>
              </a:rPr>
              <a:t>primary studies analysed (23 core + 2)</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headline">
            <a:extLst>
              <a:ext uri="{FF2B5EF4-FFF2-40B4-BE49-F238E27FC236}">
                <a16:creationId xmlns:a16="http://schemas.microsoft.com/office/drawing/2014/main" id="{2D116F19-FB60-4E7F-918A-73A0300F9D51}"/>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SYSTEMATIC LITERATURE REVIEW</a:t>
            </a:r>
          </a:p>
        </p:txBody>
      </p:sp>
      <p:sp>
        <p:nvSpPr>
          <p:cNvPr id="2" name="Rectangle 1">
            <a:extLst>
              <a:ext uri="{FF2B5EF4-FFF2-40B4-BE49-F238E27FC236}">
                <a16:creationId xmlns:a16="http://schemas.microsoft.com/office/drawing/2014/main" id="{B3F54C54-0875-4093-8683-88407A4F7353}"/>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018A2BDF-9D1F-418D-92D9-BD5EFBE1091B}"/>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Trustworthy multi-party patient consent in healthcare data sharing</a:t>
            </a:r>
          </a:p>
        </p:txBody>
      </p:sp>
      <p:sp>
        <p:nvSpPr>
          <p:cNvPr id="5" name="page-number">
            <a:extLst>
              <a:ext uri="{FF2B5EF4-FFF2-40B4-BE49-F238E27FC236}">
                <a16:creationId xmlns:a16="http://schemas.microsoft.com/office/drawing/2014/main" id="{E124F485-23AA-478F-868D-A8809430A7AF}"/>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5</a:t>
            </a:r>
          </a:p>
        </p:txBody>
      </p:sp>
      <p:sp>
        <p:nvSpPr>
          <p:cNvPr id="6" name="text">
            <a:extLst>
              <a:ext uri="{FF2B5EF4-FFF2-40B4-BE49-F238E27FC236}">
                <a16:creationId xmlns:a16="http://schemas.microsoft.com/office/drawing/2014/main" id="{1C5B07E7-DBE3-4B63-B65B-58DD86290E50}"/>
              </a:ext>
            </a:extLst>
          </p:cNvPr>
          <p:cNvSpPr>
            <a:spLocks noGrp="1"/>
          </p:cNvSpPr>
          <p:nvPr/>
        </p:nvSpPr>
        <p:spPr>
          <a:xfrm>
            <a:off x="590550" y="1685925"/>
            <a:ext cx="4000500" cy="381000"/>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Review aim</a:t>
            </a:r>
          </a:p>
        </p:txBody>
      </p:sp>
      <p:sp>
        <p:nvSpPr>
          <p:cNvPr id="7" name="text">
            <a:extLst>
              <a:ext uri="{FF2B5EF4-FFF2-40B4-BE49-F238E27FC236}">
                <a16:creationId xmlns:a16="http://schemas.microsoft.com/office/drawing/2014/main" id="{21FD0D2E-1C13-442C-8D29-96B9441F7270}"/>
              </a:ext>
            </a:extLst>
          </p:cNvPr>
          <p:cNvSpPr>
            <a:spLocks noGrp="1"/>
          </p:cNvSpPr>
          <p:nvPr/>
        </p:nvSpPr>
        <p:spPr>
          <a:xfrm>
            <a:off x="590550" y="2228850"/>
            <a:ext cx="4381500" cy="1885950"/>
          </a:xfrm>
          <a:prstGeom prst="rect">
            <a:avLst/>
          </a:prstGeom>
          <a:noFill/>
          <a:ln w="0">
            <a:noFill/>
            <a:prstDash val="solid"/>
          </a:ln>
        </p:spPr>
        <p:txBody>
          <a:bodyPr wrap="square" lIns="0" tIns="0" rIns="0" bIns="0" anchor="ctr">
            <a:noAutofit/>
          </a:bodyPr>
          <a:lstStyle>
            <a:defPPr algn="l">
              <a:defRPr sz="2175" b="0">
                <a:solidFill>
                  <a:srgbClr val="24415C"/>
                </a:solidFill>
                <a:latin typeface="Arial"/>
                <a:ea typeface="Arial"/>
                <a:cs typeface="Arial"/>
              </a:defRPr>
            </a:defPPr>
          </a:lstStyle>
          <a:p>
            <a:pPr algn="l">
              <a:lnSpc>
                <a:spcPct val="106000"/>
              </a:lnSpc>
              <a:buNone/>
              <a:defRPr sz="2175" b="0">
                <a:solidFill>
                  <a:srgbClr val="24415C"/>
                </a:solidFill>
                <a:latin typeface="Arial"/>
                <a:ea typeface="Arial"/>
                <a:cs typeface="Arial"/>
              </a:defRPr>
            </a:pPr>
            <a:r>
              <a:rPr sz="2175" b="0">
                <a:solidFill>
                  <a:srgbClr val="24415C"/>
                </a:solidFill>
                <a:latin typeface="Arial"/>
                <a:ea typeface="Arial"/>
                <a:cs typeface="Arial"/>
              </a:rPr>
              <a:t>Identify which trust conditions existing systems enforce, how they combine them, and what evidence supports the resulting access decision.</a:t>
            </a:r>
          </a:p>
        </p:txBody>
      </p:sp>
      <p:sp>
        <p:nvSpPr>
          <p:cNvPr id="9" name="Rectangle 8">
            <a:extLst>
              <a:ext uri="{FF2B5EF4-FFF2-40B4-BE49-F238E27FC236}">
                <a16:creationId xmlns:a16="http://schemas.microsoft.com/office/drawing/2014/main" id="{95E7DA87-848F-45CB-8C59-9FD60F4D293C}"/>
              </a:ext>
            </a:extLst>
          </p:cNvPr>
          <p:cNvSpPr>
            <a:spLocks noGrp="1"/>
          </p:cNvSpPr>
          <p:nvPr/>
        </p:nvSpPr>
        <p:spPr>
          <a:xfrm>
            <a:off x="5848350" y="1676400"/>
            <a:ext cx="561975" cy="561975"/>
          </a:xfrm>
          <a:prstGeom prst="rect">
            <a:avLst/>
          </a:prstGeom>
          <a:solidFill>
            <a:srgbClr val="146BA8"/>
          </a:solidFill>
          <a:ln w="13335">
            <a:solidFill>
              <a:srgbClr val="146BA8"/>
            </a:solidFill>
            <a:prstDash val="solid"/>
          </a:ln>
        </p:spPr>
        <p:txBody>
          <a:bodyPr wrap="square" lIns="114300" tIns="47625" rIns="114300" bIns="47625" anchor="ctr">
            <a:noAutofit/>
          </a:bodyPr>
          <a:lstStyle>
            <a:defPPr algn="ctr">
              <a:defRPr sz="1800" b="1">
                <a:solidFill>
                  <a:srgbClr val="FFFFFF"/>
                </a:solidFill>
                <a:latin typeface="Arial"/>
                <a:ea typeface="Arial"/>
                <a:cs typeface="Arial"/>
              </a:defRPr>
            </a:defPPr>
          </a:lstStyle>
          <a:p>
            <a:pPr algn="ctr">
              <a:lnSpc>
                <a:spcPct val="103000"/>
              </a:lnSpc>
              <a:buNone/>
              <a:defRPr sz="1800" b="1">
                <a:solidFill>
                  <a:srgbClr val="FFFFFF"/>
                </a:solidFill>
                <a:latin typeface="Arial"/>
                <a:ea typeface="Arial"/>
                <a:cs typeface="Arial"/>
              </a:defRPr>
            </a:pPr>
            <a:r>
              <a:rPr sz="1800" b="1">
                <a:solidFill>
                  <a:srgbClr val="FFFFFF"/>
                </a:solidFill>
                <a:latin typeface="Arial"/>
                <a:ea typeface="Arial"/>
                <a:cs typeface="Arial"/>
              </a:rPr>
              <a:t>01</a:t>
            </a:r>
          </a:p>
        </p:txBody>
      </p:sp>
      <p:sp>
        <p:nvSpPr>
          <p:cNvPr id="10" name="text">
            <a:extLst>
              <a:ext uri="{FF2B5EF4-FFF2-40B4-BE49-F238E27FC236}">
                <a16:creationId xmlns:a16="http://schemas.microsoft.com/office/drawing/2014/main" id="{567DDFD0-BE1B-4E88-AF5A-3172F6B58FE3}"/>
              </a:ext>
            </a:extLst>
          </p:cNvPr>
          <p:cNvSpPr>
            <a:spLocks noGrp="1"/>
          </p:cNvSpPr>
          <p:nvPr/>
        </p:nvSpPr>
        <p:spPr>
          <a:xfrm>
            <a:off x="6667500" y="1676400"/>
            <a:ext cx="4714875" cy="2952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dirty="0">
                <a:solidFill>
                  <a:srgbClr val="103B64"/>
                </a:solidFill>
                <a:latin typeface="Arial"/>
                <a:ea typeface="Arial"/>
                <a:cs typeface="Arial"/>
              </a:rPr>
              <a:t>Identification</a:t>
            </a:r>
          </a:p>
        </p:txBody>
      </p:sp>
      <p:sp>
        <p:nvSpPr>
          <p:cNvPr id="11" name="text">
            <a:extLst>
              <a:ext uri="{FF2B5EF4-FFF2-40B4-BE49-F238E27FC236}">
                <a16:creationId xmlns:a16="http://schemas.microsoft.com/office/drawing/2014/main" id="{3A97F52F-FA15-43C6-9ED0-5160BBCF283A}"/>
              </a:ext>
            </a:extLst>
          </p:cNvPr>
          <p:cNvSpPr>
            <a:spLocks noGrp="1"/>
          </p:cNvSpPr>
          <p:nvPr/>
        </p:nvSpPr>
        <p:spPr>
          <a:xfrm>
            <a:off x="6667500" y="2047875"/>
            <a:ext cx="4714875" cy="5238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Search healthcare, authorisation and trust concepts</a:t>
            </a:r>
          </a:p>
        </p:txBody>
      </p:sp>
      <p:sp>
        <p:nvSpPr>
          <p:cNvPr id="12" name="Rectangle 11">
            <a:extLst>
              <a:ext uri="{FF2B5EF4-FFF2-40B4-BE49-F238E27FC236}">
                <a16:creationId xmlns:a16="http://schemas.microsoft.com/office/drawing/2014/main" id="{ED43E787-E5F6-4499-A3B6-E001F5988491}"/>
              </a:ext>
            </a:extLst>
          </p:cNvPr>
          <p:cNvSpPr>
            <a:spLocks noGrp="1"/>
          </p:cNvSpPr>
          <p:nvPr/>
        </p:nvSpPr>
        <p:spPr>
          <a:xfrm>
            <a:off x="6667500" y="2619375"/>
            <a:ext cx="4714875" cy="12383"/>
          </a:xfrm>
          <a:prstGeom prst="rect">
            <a:avLst/>
          </a:prstGeom>
          <a:solidFill>
            <a:srgbClr val="DCE9F4"/>
          </a:solidFill>
          <a:ln w="13335">
            <a:solidFill>
              <a:srgbClr val="DCE9F4"/>
            </a:solidFill>
            <a:prstDash val="solid"/>
          </a:ln>
        </p:spPr>
        <p:txBody>
          <a:bodyPr/>
          <a:lstStyle/>
          <a:p>
            <a:endParaRPr lang="en-AU"/>
          </a:p>
        </p:txBody>
      </p:sp>
      <p:sp>
        <p:nvSpPr>
          <p:cNvPr id="13" name="Rectangle 12">
            <a:extLst>
              <a:ext uri="{FF2B5EF4-FFF2-40B4-BE49-F238E27FC236}">
                <a16:creationId xmlns:a16="http://schemas.microsoft.com/office/drawing/2014/main" id="{E345EC39-8C83-4436-BF06-99A05E6B0740}"/>
              </a:ext>
            </a:extLst>
          </p:cNvPr>
          <p:cNvSpPr>
            <a:spLocks noGrp="1"/>
          </p:cNvSpPr>
          <p:nvPr/>
        </p:nvSpPr>
        <p:spPr>
          <a:xfrm>
            <a:off x="5848350" y="2752725"/>
            <a:ext cx="561975" cy="561975"/>
          </a:xfrm>
          <a:prstGeom prst="rect">
            <a:avLst/>
          </a:prstGeom>
          <a:solidFill>
            <a:srgbClr val="146BA8"/>
          </a:solidFill>
          <a:ln w="13335">
            <a:solidFill>
              <a:srgbClr val="146BA8"/>
            </a:solidFill>
            <a:prstDash val="solid"/>
          </a:ln>
        </p:spPr>
        <p:txBody>
          <a:bodyPr wrap="square" lIns="114300" tIns="47625" rIns="114300" bIns="47625" anchor="ctr">
            <a:noAutofit/>
          </a:bodyPr>
          <a:lstStyle>
            <a:defPPr algn="ctr">
              <a:defRPr sz="1800" b="1">
                <a:solidFill>
                  <a:srgbClr val="FFFFFF"/>
                </a:solidFill>
                <a:latin typeface="Arial"/>
                <a:ea typeface="Arial"/>
                <a:cs typeface="Arial"/>
              </a:defRPr>
            </a:defPPr>
          </a:lstStyle>
          <a:p>
            <a:pPr algn="ctr">
              <a:lnSpc>
                <a:spcPct val="103000"/>
              </a:lnSpc>
              <a:buNone/>
              <a:defRPr sz="1800" b="1">
                <a:solidFill>
                  <a:srgbClr val="FFFFFF"/>
                </a:solidFill>
                <a:latin typeface="Arial"/>
                <a:ea typeface="Arial"/>
                <a:cs typeface="Arial"/>
              </a:defRPr>
            </a:pPr>
            <a:r>
              <a:rPr sz="1800" b="1">
                <a:solidFill>
                  <a:srgbClr val="FFFFFF"/>
                </a:solidFill>
                <a:latin typeface="Arial"/>
                <a:ea typeface="Arial"/>
                <a:cs typeface="Arial"/>
              </a:rPr>
              <a:t>02</a:t>
            </a:r>
          </a:p>
        </p:txBody>
      </p:sp>
      <p:sp>
        <p:nvSpPr>
          <p:cNvPr id="14" name="text">
            <a:extLst>
              <a:ext uri="{FF2B5EF4-FFF2-40B4-BE49-F238E27FC236}">
                <a16:creationId xmlns:a16="http://schemas.microsoft.com/office/drawing/2014/main" id="{006333E0-5D10-4E58-84C6-7C3AD5B4E5AB}"/>
              </a:ext>
            </a:extLst>
          </p:cNvPr>
          <p:cNvSpPr>
            <a:spLocks noGrp="1"/>
          </p:cNvSpPr>
          <p:nvPr/>
        </p:nvSpPr>
        <p:spPr>
          <a:xfrm>
            <a:off x="6667500" y="2752725"/>
            <a:ext cx="4714875" cy="2952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lvl="0">
              <a:defRPr/>
            </a:pPr>
            <a:r>
              <a:rPr lang="en-US" altLang="ko-KR" sz="2025" b="1" dirty="0">
                <a:solidFill>
                  <a:srgbClr val="103B64"/>
                </a:solidFill>
                <a:latin typeface="Arial"/>
                <a:cs typeface="Arial"/>
              </a:rPr>
              <a:t>Inclusion and exclusion criteria</a:t>
            </a:r>
          </a:p>
        </p:txBody>
      </p:sp>
      <p:sp>
        <p:nvSpPr>
          <p:cNvPr id="15" name="text">
            <a:extLst>
              <a:ext uri="{FF2B5EF4-FFF2-40B4-BE49-F238E27FC236}">
                <a16:creationId xmlns:a16="http://schemas.microsoft.com/office/drawing/2014/main" id="{085A283D-C92D-4889-AB57-EFECA4B6B6F2}"/>
              </a:ext>
            </a:extLst>
          </p:cNvPr>
          <p:cNvSpPr>
            <a:spLocks noGrp="1"/>
          </p:cNvSpPr>
          <p:nvPr/>
        </p:nvSpPr>
        <p:spPr>
          <a:xfrm>
            <a:off x="6667500" y="3124200"/>
            <a:ext cx="4714875" cy="5238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Apply predefined inclusion and exclusion criteria</a:t>
            </a:r>
          </a:p>
        </p:txBody>
      </p:sp>
      <p:sp>
        <p:nvSpPr>
          <p:cNvPr id="16" name="Rectangle 15">
            <a:extLst>
              <a:ext uri="{FF2B5EF4-FFF2-40B4-BE49-F238E27FC236}">
                <a16:creationId xmlns:a16="http://schemas.microsoft.com/office/drawing/2014/main" id="{ACBAF93A-1D66-4FC1-98FF-39F3722E945C}"/>
              </a:ext>
            </a:extLst>
          </p:cNvPr>
          <p:cNvSpPr>
            <a:spLocks noGrp="1"/>
          </p:cNvSpPr>
          <p:nvPr/>
        </p:nvSpPr>
        <p:spPr>
          <a:xfrm>
            <a:off x="6667500" y="3695700"/>
            <a:ext cx="4714875" cy="12383"/>
          </a:xfrm>
          <a:prstGeom prst="rect">
            <a:avLst/>
          </a:prstGeom>
          <a:solidFill>
            <a:srgbClr val="DCE9F4"/>
          </a:solidFill>
          <a:ln w="13335">
            <a:solidFill>
              <a:srgbClr val="DCE9F4"/>
            </a:solidFill>
            <a:prstDash val="solid"/>
          </a:ln>
        </p:spPr>
        <p:txBody>
          <a:bodyPr/>
          <a:lstStyle/>
          <a:p>
            <a:endParaRPr lang="en-AU"/>
          </a:p>
        </p:txBody>
      </p:sp>
      <p:sp>
        <p:nvSpPr>
          <p:cNvPr id="17" name="Rectangle 16">
            <a:extLst>
              <a:ext uri="{FF2B5EF4-FFF2-40B4-BE49-F238E27FC236}">
                <a16:creationId xmlns:a16="http://schemas.microsoft.com/office/drawing/2014/main" id="{C2E5C1FF-1D29-4846-A770-F5E988ED34D5}"/>
              </a:ext>
            </a:extLst>
          </p:cNvPr>
          <p:cNvSpPr>
            <a:spLocks noGrp="1"/>
          </p:cNvSpPr>
          <p:nvPr/>
        </p:nvSpPr>
        <p:spPr>
          <a:xfrm>
            <a:off x="5848350" y="3829050"/>
            <a:ext cx="561975" cy="561975"/>
          </a:xfrm>
          <a:prstGeom prst="rect">
            <a:avLst/>
          </a:prstGeom>
          <a:solidFill>
            <a:srgbClr val="146BA8"/>
          </a:solidFill>
          <a:ln w="13335">
            <a:solidFill>
              <a:srgbClr val="146BA8"/>
            </a:solidFill>
            <a:prstDash val="solid"/>
          </a:ln>
        </p:spPr>
        <p:txBody>
          <a:bodyPr wrap="square" lIns="114300" tIns="47625" rIns="114300" bIns="47625" anchor="ctr">
            <a:noAutofit/>
          </a:bodyPr>
          <a:lstStyle>
            <a:defPPr algn="ctr">
              <a:defRPr sz="1800" b="1">
                <a:solidFill>
                  <a:srgbClr val="FFFFFF"/>
                </a:solidFill>
                <a:latin typeface="Arial"/>
                <a:ea typeface="Arial"/>
                <a:cs typeface="Arial"/>
              </a:defRPr>
            </a:defPPr>
          </a:lstStyle>
          <a:p>
            <a:pPr algn="ctr">
              <a:lnSpc>
                <a:spcPct val="103000"/>
              </a:lnSpc>
              <a:buNone/>
              <a:defRPr sz="1800" b="1">
                <a:solidFill>
                  <a:srgbClr val="FFFFFF"/>
                </a:solidFill>
                <a:latin typeface="Arial"/>
                <a:ea typeface="Arial"/>
                <a:cs typeface="Arial"/>
              </a:defRPr>
            </a:pPr>
            <a:r>
              <a:rPr sz="1800" b="1">
                <a:solidFill>
                  <a:srgbClr val="FFFFFF"/>
                </a:solidFill>
                <a:latin typeface="Arial"/>
                <a:ea typeface="Arial"/>
                <a:cs typeface="Arial"/>
              </a:rPr>
              <a:t>03</a:t>
            </a:r>
          </a:p>
        </p:txBody>
      </p:sp>
      <p:sp>
        <p:nvSpPr>
          <p:cNvPr id="18" name="text">
            <a:extLst>
              <a:ext uri="{FF2B5EF4-FFF2-40B4-BE49-F238E27FC236}">
                <a16:creationId xmlns:a16="http://schemas.microsoft.com/office/drawing/2014/main" id="{51D7386B-4348-4C52-9DD9-4A5B56BEAACD}"/>
              </a:ext>
            </a:extLst>
          </p:cNvPr>
          <p:cNvSpPr>
            <a:spLocks noGrp="1"/>
          </p:cNvSpPr>
          <p:nvPr/>
        </p:nvSpPr>
        <p:spPr>
          <a:xfrm>
            <a:off x="6667500" y="3829050"/>
            <a:ext cx="4714875" cy="2952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Screening</a:t>
            </a:r>
          </a:p>
        </p:txBody>
      </p:sp>
      <p:sp>
        <p:nvSpPr>
          <p:cNvPr id="19" name="text">
            <a:extLst>
              <a:ext uri="{FF2B5EF4-FFF2-40B4-BE49-F238E27FC236}">
                <a16:creationId xmlns:a16="http://schemas.microsoft.com/office/drawing/2014/main" id="{BBB7F9AB-461F-405B-93FE-D822143F0C5B}"/>
              </a:ext>
            </a:extLst>
          </p:cNvPr>
          <p:cNvSpPr>
            <a:spLocks noGrp="1"/>
          </p:cNvSpPr>
          <p:nvPr/>
        </p:nvSpPr>
        <p:spPr>
          <a:xfrm>
            <a:off x="6667500" y="4200525"/>
            <a:ext cx="4714875" cy="5238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Remove duplicates and assess relevance in stages</a:t>
            </a:r>
          </a:p>
        </p:txBody>
      </p:sp>
      <p:sp>
        <p:nvSpPr>
          <p:cNvPr id="20" name="Rectangle 19">
            <a:extLst>
              <a:ext uri="{FF2B5EF4-FFF2-40B4-BE49-F238E27FC236}">
                <a16:creationId xmlns:a16="http://schemas.microsoft.com/office/drawing/2014/main" id="{0B85861B-F936-400C-828D-A7D9BE147EC6}"/>
              </a:ext>
            </a:extLst>
          </p:cNvPr>
          <p:cNvSpPr>
            <a:spLocks noGrp="1"/>
          </p:cNvSpPr>
          <p:nvPr/>
        </p:nvSpPr>
        <p:spPr>
          <a:xfrm>
            <a:off x="6667500" y="4772025"/>
            <a:ext cx="4714875" cy="12383"/>
          </a:xfrm>
          <a:prstGeom prst="rect">
            <a:avLst/>
          </a:prstGeom>
          <a:solidFill>
            <a:srgbClr val="DCE9F4"/>
          </a:solidFill>
          <a:ln w="13335">
            <a:solidFill>
              <a:srgbClr val="DCE9F4"/>
            </a:solidFill>
            <a:prstDash val="solid"/>
          </a:ln>
        </p:spPr>
        <p:txBody>
          <a:bodyPr/>
          <a:lstStyle/>
          <a:p>
            <a:endParaRPr lang="en-AU"/>
          </a:p>
        </p:txBody>
      </p:sp>
      <p:sp>
        <p:nvSpPr>
          <p:cNvPr id="21" name="Rectangle 20">
            <a:extLst>
              <a:ext uri="{FF2B5EF4-FFF2-40B4-BE49-F238E27FC236}">
                <a16:creationId xmlns:a16="http://schemas.microsoft.com/office/drawing/2014/main" id="{E7DC3815-7652-4943-8C7C-43B38D6770D6}"/>
              </a:ext>
            </a:extLst>
          </p:cNvPr>
          <p:cNvSpPr>
            <a:spLocks noGrp="1"/>
          </p:cNvSpPr>
          <p:nvPr/>
        </p:nvSpPr>
        <p:spPr>
          <a:xfrm>
            <a:off x="5848350" y="4905375"/>
            <a:ext cx="561975" cy="561975"/>
          </a:xfrm>
          <a:prstGeom prst="rect">
            <a:avLst/>
          </a:prstGeom>
          <a:solidFill>
            <a:srgbClr val="146BA8"/>
          </a:solidFill>
          <a:ln w="13335">
            <a:solidFill>
              <a:srgbClr val="146BA8"/>
            </a:solidFill>
            <a:prstDash val="solid"/>
          </a:ln>
        </p:spPr>
        <p:txBody>
          <a:bodyPr wrap="square" lIns="114300" tIns="47625" rIns="114300" bIns="47625" anchor="ctr">
            <a:noAutofit/>
          </a:bodyPr>
          <a:lstStyle>
            <a:defPPr algn="ctr">
              <a:defRPr sz="1800" b="1">
                <a:solidFill>
                  <a:srgbClr val="FFFFFF"/>
                </a:solidFill>
                <a:latin typeface="Arial"/>
                <a:ea typeface="Arial"/>
                <a:cs typeface="Arial"/>
              </a:defRPr>
            </a:defPPr>
          </a:lstStyle>
          <a:p>
            <a:pPr algn="ctr">
              <a:lnSpc>
                <a:spcPct val="103000"/>
              </a:lnSpc>
              <a:buNone/>
              <a:defRPr sz="1800" b="1">
                <a:solidFill>
                  <a:srgbClr val="FFFFFF"/>
                </a:solidFill>
                <a:latin typeface="Arial"/>
                <a:ea typeface="Arial"/>
                <a:cs typeface="Arial"/>
              </a:defRPr>
            </a:pPr>
            <a:r>
              <a:rPr sz="1800" b="1">
                <a:solidFill>
                  <a:srgbClr val="FFFFFF"/>
                </a:solidFill>
                <a:latin typeface="Arial"/>
                <a:ea typeface="Arial"/>
                <a:cs typeface="Arial"/>
              </a:rPr>
              <a:t>04</a:t>
            </a:r>
          </a:p>
        </p:txBody>
      </p:sp>
      <p:sp>
        <p:nvSpPr>
          <p:cNvPr id="22" name="text">
            <a:extLst>
              <a:ext uri="{FF2B5EF4-FFF2-40B4-BE49-F238E27FC236}">
                <a16:creationId xmlns:a16="http://schemas.microsoft.com/office/drawing/2014/main" id="{337379D7-0987-4E84-9E6E-B2CC542E1E60}"/>
              </a:ext>
            </a:extLst>
          </p:cNvPr>
          <p:cNvSpPr>
            <a:spLocks noGrp="1"/>
          </p:cNvSpPr>
          <p:nvPr/>
        </p:nvSpPr>
        <p:spPr>
          <a:xfrm>
            <a:off x="6667500" y="4905375"/>
            <a:ext cx="4714875" cy="2952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Quality and synthesis</a:t>
            </a:r>
          </a:p>
        </p:txBody>
      </p:sp>
      <p:sp>
        <p:nvSpPr>
          <p:cNvPr id="23" name="text">
            <a:extLst>
              <a:ext uri="{FF2B5EF4-FFF2-40B4-BE49-F238E27FC236}">
                <a16:creationId xmlns:a16="http://schemas.microsoft.com/office/drawing/2014/main" id="{DC170F5E-E702-45C9-96BD-D80FD227F261}"/>
              </a:ext>
            </a:extLst>
          </p:cNvPr>
          <p:cNvSpPr>
            <a:spLocks noGrp="1"/>
          </p:cNvSpPr>
          <p:nvPr/>
        </p:nvSpPr>
        <p:spPr>
          <a:xfrm>
            <a:off x="6667500" y="5276850"/>
            <a:ext cx="4714875" cy="5238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Code evidence and compare six requirements</a:t>
            </a:r>
          </a:p>
        </p:txBody>
      </p:sp>
    </p:spTree>
    <p:extLst>
      <p:ext uri="{BB962C8B-B14F-4D97-AF65-F5344CB8AC3E}">
        <p14:creationId xmlns:p14="http://schemas.microsoft.com/office/powerpoint/2010/main" val="1722427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1A29122A-70AC-437A-AB53-2F51A3C84438}"/>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01 IDENTIFICATION: SOURCES AND SEARCH</a:t>
            </a:r>
          </a:p>
        </p:txBody>
      </p:sp>
      <p:sp>
        <p:nvSpPr>
          <p:cNvPr id="2" name="Rectangle 1">
            <a:extLst>
              <a:ext uri="{FF2B5EF4-FFF2-40B4-BE49-F238E27FC236}">
                <a16:creationId xmlns:a16="http://schemas.microsoft.com/office/drawing/2014/main" id="{FB94088B-AB8B-404B-944D-C5A47B525E1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DA909BAE-EFF5-4A9F-BB4A-2941F0C394EF}"/>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Seven database arms returned 9,256 records before deduplication</a:t>
            </a:r>
          </a:p>
        </p:txBody>
      </p:sp>
      <p:sp>
        <p:nvSpPr>
          <p:cNvPr id="4" name="source-footer">
            <a:extLst>
              <a:ext uri="{FF2B5EF4-FFF2-40B4-BE49-F238E27FC236}">
                <a16:creationId xmlns:a16="http://schemas.microsoft.com/office/drawing/2014/main" id="{41E1C162-C7B9-4BB9-A008-CA75B8D114A4}"/>
              </a:ext>
            </a:extLst>
          </p:cNvPr>
          <p:cNvSpPr>
            <a:spLocks noGrp="1"/>
          </p:cNvSpPr>
          <p:nvPr/>
        </p:nvSpPr>
        <p:spPr>
          <a:xfrm>
            <a:off x="590550" y="6477000"/>
            <a:ext cx="10001250" cy="190500"/>
          </a:xfrm>
          <a:prstGeom prst="rect">
            <a:avLst/>
          </a:prstGeom>
          <a:noFill/>
          <a:ln w="0">
            <a:noFill/>
            <a:prstDash val="solid"/>
          </a:ln>
        </p:spPr>
        <p:txBody>
          <a:bodyPr wrap="square" lIns="0" tIns="0" rIns="0" bIns="0" anchor="ctr">
            <a:noAutofit/>
          </a:bodyPr>
          <a:lstStyle>
            <a:defPPr algn="l">
              <a:defRPr sz="975" b="0">
                <a:solidFill>
                  <a:srgbClr val="56718B"/>
                </a:solidFill>
                <a:latin typeface="Arial"/>
                <a:ea typeface="Arial"/>
                <a:cs typeface="Arial"/>
              </a:defRPr>
            </a:defPPr>
          </a:lstStyle>
          <a:p>
            <a:pPr algn="l">
              <a:lnSpc>
                <a:spcPct val="106000"/>
              </a:lnSpc>
              <a:buNone/>
              <a:defRPr sz="975" b="0">
                <a:solidFill>
                  <a:srgbClr val="56718B"/>
                </a:solidFill>
                <a:latin typeface="Arial"/>
                <a:ea typeface="Arial"/>
                <a:cs typeface="Arial"/>
              </a:defRPr>
            </a:pPr>
            <a:r>
              <a:rPr sz="975" b="0">
                <a:solidFill>
                  <a:srgbClr val="56718B"/>
                </a:solidFill>
                <a:latin typeface="Arial"/>
                <a:ea typeface="Arial"/>
                <a:cs typeface="Arial"/>
              </a:rPr>
              <a:t>Report checkpoint: 10 September 2026</a:t>
            </a:r>
          </a:p>
        </p:txBody>
      </p:sp>
      <p:sp>
        <p:nvSpPr>
          <p:cNvPr id="5" name="page-number">
            <a:extLst>
              <a:ext uri="{FF2B5EF4-FFF2-40B4-BE49-F238E27FC236}">
                <a16:creationId xmlns:a16="http://schemas.microsoft.com/office/drawing/2014/main" id="{2D00D979-170C-4EF1-8A27-C52D20EEF3A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6</a:t>
            </a:r>
          </a:p>
        </p:txBody>
      </p:sp>
      <p:graphicFrame>
        <p:nvGraphicFramePr>
          <p:cNvPr id="6" name="Chart">
            <a:extLst>
              <a:ext uri="{FF2B5EF4-FFF2-40B4-BE49-F238E27FC236}">
                <a16:creationId xmlns:a16="http://schemas.microsoft.com/office/drawing/2014/main" id="{B5898507-3625-4B53-8404-BAC299C1933A}"/>
              </a:ext>
            </a:extLst>
          </p:cNvPr>
          <p:cNvGraphicFramePr/>
          <p:nvPr/>
        </p:nvGraphicFramePr>
        <p:xfrm>
          <a:off x="590550" y="1524000"/>
          <a:ext cx="7353300" cy="394335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a:extLst>
              <a:ext uri="{FF2B5EF4-FFF2-40B4-BE49-F238E27FC236}">
                <a16:creationId xmlns:a16="http://schemas.microsoft.com/office/drawing/2014/main" id="{353B2F88-0B65-4506-BF34-3A7E4D0D95C1}"/>
              </a:ext>
            </a:extLst>
          </p:cNvPr>
          <p:cNvSpPr>
            <a:spLocks noGrp="1"/>
          </p:cNvSpPr>
          <p:nvPr/>
        </p:nvSpPr>
        <p:spPr>
          <a:xfrm>
            <a:off x="8448675" y="4352925"/>
            <a:ext cx="2952750" cy="1047750"/>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Searches: August–September 2026</a:t>
            </a:r>
          </a:p>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Publication range: January 2020–2026</a:t>
            </a:r>
          </a:p>
        </p:txBody>
      </p:sp>
      <p:sp>
        <p:nvSpPr>
          <p:cNvPr id="10" name="Rectangle 9">
            <a:extLst>
              <a:ext uri="{FF2B5EF4-FFF2-40B4-BE49-F238E27FC236}">
                <a16:creationId xmlns:a16="http://schemas.microsoft.com/office/drawing/2014/main" id="{7758E988-89CE-45E8-87B7-30F60176080D}"/>
              </a:ext>
            </a:extLst>
          </p:cNvPr>
          <p:cNvSpPr>
            <a:spLocks noGrp="1"/>
          </p:cNvSpPr>
          <p:nvPr/>
        </p:nvSpPr>
        <p:spPr>
          <a:xfrm>
            <a:off x="590550" y="5695950"/>
            <a:ext cx="11010900" cy="12383"/>
          </a:xfrm>
          <a:prstGeom prst="rect">
            <a:avLst/>
          </a:prstGeom>
          <a:solidFill>
            <a:srgbClr val="DCE9F4"/>
          </a:solidFill>
          <a:ln w="13335">
            <a:solidFill>
              <a:srgbClr val="DCE9F4"/>
            </a:solidFill>
            <a:prstDash val="solid"/>
          </a:ln>
        </p:spPr>
        <p:txBody>
          <a:bodyPr/>
          <a:lstStyle/>
          <a:p>
            <a:endParaRPr lang="en-AU"/>
          </a:p>
        </p:txBody>
      </p:sp>
      <p:sp>
        <p:nvSpPr>
          <p:cNvPr id="11" name="text">
            <a:extLst>
              <a:ext uri="{FF2B5EF4-FFF2-40B4-BE49-F238E27FC236}">
                <a16:creationId xmlns:a16="http://schemas.microsoft.com/office/drawing/2014/main" id="{941BB19E-4D01-4C07-BC1A-6FF7EFD27D0F}"/>
              </a:ext>
            </a:extLst>
          </p:cNvPr>
          <p:cNvSpPr>
            <a:spLocks noGrp="1"/>
          </p:cNvSpPr>
          <p:nvPr/>
        </p:nvSpPr>
        <p:spPr>
          <a:xfrm>
            <a:off x="590550" y="5810250"/>
            <a:ext cx="2095500" cy="361950"/>
          </a:xfrm>
          <a:prstGeom prst="rect">
            <a:avLst/>
          </a:prstGeom>
          <a:noFill/>
          <a:ln w="0">
            <a:noFill/>
            <a:prstDash val="solid"/>
          </a:ln>
        </p:spPr>
        <p:txBody>
          <a:bodyPr wrap="square" lIns="0" tIns="0" rIns="0" bIns="0" anchor="ctr">
            <a:noAutofit/>
          </a:bodyPr>
          <a:lstStyle>
            <a:defPPr algn="l">
              <a:defRPr sz="1725" b="1">
                <a:solidFill>
                  <a:srgbClr val="103B64"/>
                </a:solidFill>
                <a:latin typeface="Arial"/>
                <a:ea typeface="Arial"/>
                <a:cs typeface="Arial"/>
              </a:defRPr>
            </a:defPPr>
          </a:lstStyle>
          <a:p>
            <a:pPr algn="l">
              <a:lnSpc>
                <a:spcPct val="106000"/>
              </a:lnSpc>
              <a:buNone/>
              <a:defRPr sz="1725" b="1">
                <a:solidFill>
                  <a:srgbClr val="103B64"/>
                </a:solidFill>
                <a:latin typeface="Arial"/>
                <a:ea typeface="Arial"/>
                <a:cs typeface="Arial"/>
              </a:defRPr>
            </a:pPr>
            <a:r>
              <a:rPr sz="1725" b="1">
                <a:solidFill>
                  <a:srgbClr val="103B64"/>
                </a:solidFill>
                <a:latin typeface="Arial"/>
                <a:ea typeface="Arial"/>
                <a:cs typeface="Arial"/>
              </a:rPr>
              <a:t>Search concepts</a:t>
            </a:r>
          </a:p>
        </p:txBody>
      </p:sp>
      <p:sp>
        <p:nvSpPr>
          <p:cNvPr id="12" name="text">
            <a:extLst>
              <a:ext uri="{FF2B5EF4-FFF2-40B4-BE49-F238E27FC236}">
                <a16:creationId xmlns:a16="http://schemas.microsoft.com/office/drawing/2014/main" id="{74DFB39E-2D43-4881-B469-90A9B5DC5C85}"/>
              </a:ext>
            </a:extLst>
          </p:cNvPr>
          <p:cNvSpPr>
            <a:spLocks noGrp="1"/>
          </p:cNvSpPr>
          <p:nvPr/>
        </p:nvSpPr>
        <p:spPr>
          <a:xfrm>
            <a:off x="2857500" y="5810250"/>
            <a:ext cx="8743950" cy="361950"/>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Healthcare data   AND   Consent / authorisation   AND   Trust / multi-party</a:t>
            </a:r>
          </a:p>
        </p:txBody>
      </p:sp>
    </p:spTree>
    <p:extLst>
      <p:ext uri="{BB962C8B-B14F-4D97-AF65-F5344CB8AC3E}">
        <p14:creationId xmlns:p14="http://schemas.microsoft.com/office/powerpoint/2010/main" val="1701575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headline">
            <a:extLst>
              <a:ext uri="{FF2B5EF4-FFF2-40B4-BE49-F238E27FC236}">
                <a16:creationId xmlns:a16="http://schemas.microsoft.com/office/drawing/2014/main" id="{3178A9BD-89CF-4F74-906B-0DACE7023475}"/>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400" b="1" dirty="0">
                <a:solidFill>
                  <a:srgbClr val="103B64"/>
                </a:solidFill>
                <a:latin typeface="Arial"/>
                <a:ea typeface="Arial"/>
                <a:cs typeface="Arial"/>
              </a:rPr>
              <a:t>02 </a:t>
            </a:r>
            <a:r>
              <a:rPr lang="en-US" altLang="ko-KR" sz="2400" b="1" dirty="0">
                <a:solidFill>
                  <a:srgbClr val="103B64"/>
                </a:solidFill>
                <a:latin typeface="Arial"/>
                <a:cs typeface="Arial"/>
              </a:rPr>
              <a:t>Inclusion and exclusion criteria</a:t>
            </a:r>
            <a:r>
              <a:rPr lang="ar-SA" altLang="ko-KR" sz="2400" b="1" dirty="0">
                <a:solidFill>
                  <a:srgbClr val="103B64"/>
                </a:solidFill>
                <a:latin typeface="Arial"/>
                <a:cs typeface="Arial"/>
              </a:rPr>
              <a:t> </a:t>
            </a:r>
            <a:r>
              <a:rPr sz="2400" b="1" dirty="0">
                <a:solidFill>
                  <a:srgbClr val="103B64"/>
                </a:solidFill>
                <a:latin typeface="Arial"/>
                <a:cs typeface="Arial"/>
              </a:rPr>
              <a:t>CRITERIA</a:t>
            </a:r>
          </a:p>
        </p:txBody>
      </p:sp>
      <p:sp>
        <p:nvSpPr>
          <p:cNvPr id="2" name="Rectangle 1">
            <a:extLst>
              <a:ext uri="{FF2B5EF4-FFF2-40B4-BE49-F238E27FC236}">
                <a16:creationId xmlns:a16="http://schemas.microsoft.com/office/drawing/2014/main" id="{4651512C-B0FB-4517-A10E-F75514A500F5}"/>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FAAF44A2-2093-40B3-8468-2F2AD01576B3}"/>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Predefined criteria selected relevant mechanisms and evaluations</a:t>
            </a:r>
          </a:p>
        </p:txBody>
      </p:sp>
      <p:sp>
        <p:nvSpPr>
          <p:cNvPr id="4" name="source-footer">
            <a:extLst>
              <a:ext uri="{FF2B5EF4-FFF2-40B4-BE49-F238E27FC236}">
                <a16:creationId xmlns:a16="http://schemas.microsoft.com/office/drawing/2014/main" id="{4E806129-EE91-4E2A-8A4C-20C449875784}"/>
              </a:ext>
            </a:extLst>
          </p:cNvPr>
          <p:cNvSpPr>
            <a:spLocks noGrp="1"/>
          </p:cNvSpPr>
          <p:nvPr/>
        </p:nvSpPr>
        <p:spPr>
          <a:xfrm>
            <a:off x="590550" y="6477000"/>
            <a:ext cx="10001250" cy="190500"/>
          </a:xfrm>
          <a:prstGeom prst="rect">
            <a:avLst/>
          </a:prstGeom>
          <a:noFill/>
          <a:ln w="0">
            <a:noFill/>
            <a:prstDash val="solid"/>
          </a:ln>
        </p:spPr>
        <p:txBody>
          <a:bodyPr wrap="square" lIns="0" tIns="0" rIns="0" bIns="0" anchor="ctr">
            <a:noAutofit/>
          </a:bodyPr>
          <a:lstStyle>
            <a:defPPr algn="l">
              <a:defRPr sz="975" b="0">
                <a:solidFill>
                  <a:srgbClr val="56718B"/>
                </a:solidFill>
                <a:latin typeface="Arial"/>
                <a:ea typeface="Arial"/>
                <a:cs typeface="Arial"/>
              </a:defRPr>
            </a:defPPr>
          </a:lstStyle>
          <a:p>
            <a:pPr algn="l">
              <a:lnSpc>
                <a:spcPct val="106000"/>
              </a:lnSpc>
              <a:buNone/>
              <a:defRPr sz="975" b="0">
                <a:solidFill>
                  <a:srgbClr val="56718B"/>
                </a:solidFill>
                <a:latin typeface="Arial"/>
                <a:ea typeface="Arial"/>
                <a:cs typeface="Arial"/>
              </a:defRPr>
            </a:pPr>
            <a:r>
              <a:rPr sz="975" b="0">
                <a:solidFill>
                  <a:srgbClr val="56718B"/>
                </a:solidFill>
                <a:latin typeface="Arial"/>
                <a:ea typeface="Arial"/>
                <a:cs typeface="Arial"/>
              </a:rPr>
              <a:t>Report checkpoint: 10 September 2026</a:t>
            </a:r>
          </a:p>
        </p:txBody>
      </p:sp>
      <p:sp>
        <p:nvSpPr>
          <p:cNvPr id="5" name="page-number">
            <a:extLst>
              <a:ext uri="{FF2B5EF4-FFF2-40B4-BE49-F238E27FC236}">
                <a16:creationId xmlns:a16="http://schemas.microsoft.com/office/drawing/2014/main" id="{87B25020-CB7B-477D-8199-F8308EE96C92}"/>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7</a:t>
            </a:r>
          </a:p>
        </p:txBody>
      </p:sp>
      <p:sp>
        <p:nvSpPr>
          <p:cNvPr id="6" name="text">
            <a:extLst>
              <a:ext uri="{FF2B5EF4-FFF2-40B4-BE49-F238E27FC236}">
                <a16:creationId xmlns:a16="http://schemas.microsoft.com/office/drawing/2014/main" id="{60490495-8C9D-4FA2-B4E6-67B3664195E3}"/>
              </a:ext>
            </a:extLst>
          </p:cNvPr>
          <p:cNvSpPr>
            <a:spLocks noGrp="1"/>
          </p:cNvSpPr>
          <p:nvPr/>
        </p:nvSpPr>
        <p:spPr>
          <a:xfrm>
            <a:off x="590550" y="1619250"/>
            <a:ext cx="5048250" cy="400050"/>
          </a:xfrm>
          <a:prstGeom prst="rect">
            <a:avLst/>
          </a:prstGeom>
          <a:noFill/>
          <a:ln w="0">
            <a:noFill/>
            <a:prstDash val="solid"/>
          </a:ln>
        </p:spPr>
        <p:txBody>
          <a:bodyPr wrap="square" lIns="0" tIns="0" rIns="0" bIns="0" anchor="ctr">
            <a:noAutofit/>
          </a:bodyPr>
          <a:lstStyle>
            <a:defPPr algn="l">
              <a:defRPr sz="2250" b="1">
                <a:solidFill>
                  <a:srgbClr val="146BA8"/>
                </a:solidFill>
                <a:latin typeface="Arial"/>
                <a:ea typeface="Arial"/>
                <a:cs typeface="Arial"/>
              </a:defRPr>
            </a:defPPr>
          </a:lstStyle>
          <a:p>
            <a:pPr algn="l">
              <a:lnSpc>
                <a:spcPct val="106000"/>
              </a:lnSpc>
              <a:buNone/>
              <a:defRPr sz="2250" b="1">
                <a:solidFill>
                  <a:srgbClr val="146BA8"/>
                </a:solidFill>
                <a:latin typeface="Arial"/>
                <a:ea typeface="Arial"/>
                <a:cs typeface="Arial"/>
              </a:defRPr>
            </a:pPr>
            <a:r>
              <a:rPr sz="2250" b="1" dirty="0">
                <a:solidFill>
                  <a:srgbClr val="146BA8"/>
                </a:solidFill>
                <a:latin typeface="Arial"/>
                <a:ea typeface="Arial"/>
                <a:cs typeface="Arial"/>
              </a:rPr>
              <a:t>Included</a:t>
            </a:r>
          </a:p>
        </p:txBody>
      </p:sp>
      <p:sp>
        <p:nvSpPr>
          <p:cNvPr id="7" name="text">
            <a:extLst>
              <a:ext uri="{FF2B5EF4-FFF2-40B4-BE49-F238E27FC236}">
                <a16:creationId xmlns:a16="http://schemas.microsoft.com/office/drawing/2014/main" id="{3E724831-B70C-4D58-ADBC-B57648F7BA41}"/>
              </a:ext>
            </a:extLst>
          </p:cNvPr>
          <p:cNvSpPr>
            <a:spLocks noGrp="1"/>
          </p:cNvSpPr>
          <p:nvPr/>
        </p:nvSpPr>
        <p:spPr>
          <a:xfrm>
            <a:off x="790575" y="22669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Healthcare data sharing</a:t>
            </a:r>
          </a:p>
        </p:txBody>
      </p:sp>
      <p:sp>
        <p:nvSpPr>
          <p:cNvPr id="8" name="text">
            <a:extLst>
              <a:ext uri="{FF2B5EF4-FFF2-40B4-BE49-F238E27FC236}">
                <a16:creationId xmlns:a16="http://schemas.microsoft.com/office/drawing/2014/main" id="{9BCF20AD-DA9A-4072-8644-1A41EFD16117}"/>
              </a:ext>
            </a:extLst>
          </p:cNvPr>
          <p:cNvSpPr>
            <a:spLocks noGrp="1"/>
          </p:cNvSpPr>
          <p:nvPr/>
        </p:nvSpPr>
        <p:spPr>
          <a:xfrm>
            <a:off x="790575" y="29527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Consent or authorisation relevant to data access</a:t>
            </a:r>
          </a:p>
        </p:txBody>
      </p:sp>
      <p:sp>
        <p:nvSpPr>
          <p:cNvPr id="9" name="text">
            <a:extLst>
              <a:ext uri="{FF2B5EF4-FFF2-40B4-BE49-F238E27FC236}">
                <a16:creationId xmlns:a16="http://schemas.microsoft.com/office/drawing/2014/main" id="{5686DD4A-7E99-4572-BCA6-E8A2F261587B}"/>
              </a:ext>
            </a:extLst>
          </p:cNvPr>
          <p:cNvSpPr>
            <a:spLocks noGrp="1"/>
          </p:cNvSpPr>
          <p:nvPr/>
        </p:nvSpPr>
        <p:spPr>
          <a:xfrm>
            <a:off x="790575" y="36385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 model, mechanism, system or evaluation that addresses a review question</a:t>
            </a:r>
          </a:p>
        </p:txBody>
      </p:sp>
      <p:sp>
        <p:nvSpPr>
          <p:cNvPr id="10" name="text">
            <a:extLst>
              <a:ext uri="{FF2B5EF4-FFF2-40B4-BE49-F238E27FC236}">
                <a16:creationId xmlns:a16="http://schemas.microsoft.com/office/drawing/2014/main" id="{557BF72B-EAD0-4CC6-8756-576E6E3C1D29}"/>
              </a:ext>
            </a:extLst>
          </p:cNvPr>
          <p:cNvSpPr>
            <a:spLocks noGrp="1"/>
          </p:cNvSpPr>
          <p:nvPr/>
        </p:nvSpPr>
        <p:spPr>
          <a:xfrm>
            <a:off x="790575" y="43243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Peer-reviewed English paper with full text</a:t>
            </a:r>
          </a:p>
        </p:txBody>
      </p:sp>
      <p:sp>
        <p:nvSpPr>
          <p:cNvPr id="11" name="text">
            <a:extLst>
              <a:ext uri="{FF2B5EF4-FFF2-40B4-BE49-F238E27FC236}">
                <a16:creationId xmlns:a16="http://schemas.microsoft.com/office/drawing/2014/main" id="{3172D377-87DD-4500-9DA3-CA51A8294572}"/>
              </a:ext>
            </a:extLst>
          </p:cNvPr>
          <p:cNvSpPr>
            <a:spLocks noGrp="1"/>
          </p:cNvSpPr>
          <p:nvPr/>
        </p:nvSpPr>
        <p:spPr>
          <a:xfrm>
            <a:off x="790575" y="5010150"/>
            <a:ext cx="4762500" cy="5429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Publication between January 2020 and 2026</a:t>
            </a:r>
          </a:p>
        </p:txBody>
      </p:sp>
      <p:sp>
        <p:nvSpPr>
          <p:cNvPr id="12" name="text">
            <a:extLst>
              <a:ext uri="{FF2B5EF4-FFF2-40B4-BE49-F238E27FC236}">
                <a16:creationId xmlns:a16="http://schemas.microsoft.com/office/drawing/2014/main" id="{BE4F1EB8-82CB-4CD0-8CA5-7D21537B5378}"/>
              </a:ext>
            </a:extLst>
          </p:cNvPr>
          <p:cNvSpPr>
            <a:spLocks noGrp="1"/>
          </p:cNvSpPr>
          <p:nvPr/>
        </p:nvSpPr>
        <p:spPr>
          <a:xfrm>
            <a:off x="6724650" y="1619250"/>
            <a:ext cx="4876800" cy="400050"/>
          </a:xfrm>
          <a:prstGeom prst="rect">
            <a:avLst/>
          </a:prstGeom>
          <a:noFill/>
          <a:ln w="0">
            <a:noFill/>
            <a:prstDash val="solid"/>
          </a:ln>
        </p:spPr>
        <p:txBody>
          <a:bodyPr wrap="square" lIns="0" tIns="0" rIns="0" bIns="0" anchor="ctr">
            <a:noAutofit/>
          </a:bodyPr>
          <a:lstStyle>
            <a:defPPr algn="l">
              <a:defRPr sz="2250" b="1">
                <a:solidFill>
                  <a:srgbClr val="103B64"/>
                </a:solidFill>
                <a:latin typeface="Arial"/>
                <a:ea typeface="Arial"/>
                <a:cs typeface="Arial"/>
              </a:defRPr>
            </a:defPPr>
          </a:lstStyle>
          <a:p>
            <a:pPr algn="l">
              <a:lnSpc>
                <a:spcPct val="106000"/>
              </a:lnSpc>
              <a:buNone/>
              <a:defRPr sz="2250" b="1">
                <a:solidFill>
                  <a:srgbClr val="103B64"/>
                </a:solidFill>
                <a:latin typeface="Arial"/>
                <a:ea typeface="Arial"/>
                <a:cs typeface="Arial"/>
              </a:defRPr>
            </a:pPr>
            <a:r>
              <a:rPr sz="2250" b="1">
                <a:solidFill>
                  <a:srgbClr val="103B64"/>
                </a:solidFill>
                <a:latin typeface="Arial"/>
                <a:ea typeface="Arial"/>
                <a:cs typeface="Arial"/>
              </a:rPr>
              <a:t>Excluded from the primary corpus</a:t>
            </a:r>
          </a:p>
        </p:txBody>
      </p:sp>
      <p:sp>
        <p:nvSpPr>
          <p:cNvPr id="13" name="text">
            <a:extLst>
              <a:ext uri="{FF2B5EF4-FFF2-40B4-BE49-F238E27FC236}">
                <a16:creationId xmlns:a16="http://schemas.microsoft.com/office/drawing/2014/main" id="{876B0B42-E470-4353-94F6-8387BD5472A5}"/>
              </a:ext>
            </a:extLst>
          </p:cNvPr>
          <p:cNvSpPr>
            <a:spLocks noGrp="1"/>
          </p:cNvSpPr>
          <p:nvPr/>
        </p:nvSpPr>
        <p:spPr>
          <a:xfrm>
            <a:off x="6724650" y="226695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Outside healthcare or the authorisation scope</a:t>
            </a:r>
          </a:p>
        </p:txBody>
      </p:sp>
      <p:sp>
        <p:nvSpPr>
          <p:cNvPr id="14" name="text">
            <a:extLst>
              <a:ext uri="{FF2B5EF4-FFF2-40B4-BE49-F238E27FC236}">
                <a16:creationId xmlns:a16="http://schemas.microsoft.com/office/drawing/2014/main" id="{0C6E550C-CD51-424B-B5E4-953C9FF5C361}"/>
              </a:ext>
            </a:extLst>
          </p:cNvPr>
          <p:cNvSpPr>
            <a:spLocks noGrp="1"/>
          </p:cNvSpPr>
          <p:nvPr/>
        </p:nvSpPr>
        <p:spPr>
          <a:xfrm>
            <a:off x="6724650" y="320992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Authentication alone or a superficial mention of consent</a:t>
            </a:r>
          </a:p>
        </p:txBody>
      </p:sp>
      <p:sp>
        <p:nvSpPr>
          <p:cNvPr id="15" name="text">
            <a:extLst>
              <a:ext uri="{FF2B5EF4-FFF2-40B4-BE49-F238E27FC236}">
                <a16:creationId xmlns:a16="http://schemas.microsoft.com/office/drawing/2014/main" id="{58CA767E-6B6C-4875-B31F-F186284AC9F8}"/>
              </a:ext>
            </a:extLst>
          </p:cNvPr>
          <p:cNvSpPr>
            <a:spLocks noGrp="1"/>
          </p:cNvSpPr>
          <p:nvPr/>
        </p:nvSpPr>
        <p:spPr>
          <a:xfrm>
            <a:off x="6724650" y="4152900"/>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Non-peer-reviewed work and duplicate publications</a:t>
            </a:r>
          </a:p>
        </p:txBody>
      </p:sp>
      <p:sp>
        <p:nvSpPr>
          <p:cNvPr id="16" name="text">
            <a:extLst>
              <a:ext uri="{FF2B5EF4-FFF2-40B4-BE49-F238E27FC236}">
                <a16:creationId xmlns:a16="http://schemas.microsoft.com/office/drawing/2014/main" id="{255D9708-E4DE-4F62-AA33-6C5B645FFAEE}"/>
              </a:ext>
            </a:extLst>
          </p:cNvPr>
          <p:cNvSpPr>
            <a:spLocks noGrp="1"/>
          </p:cNvSpPr>
          <p:nvPr/>
        </p:nvSpPr>
        <p:spPr>
          <a:xfrm>
            <a:off x="6724650" y="5095875"/>
            <a:ext cx="487680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Secondary reviews, with selected background references retained separately</a:t>
            </a:r>
          </a:p>
        </p:txBody>
      </p:sp>
    </p:spTree>
    <p:extLst>
      <p:ext uri="{BB962C8B-B14F-4D97-AF65-F5344CB8AC3E}">
        <p14:creationId xmlns:p14="http://schemas.microsoft.com/office/powerpoint/2010/main" val="49901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B22F05F8-A3EA-4568-A566-9B233E3A9FC5}"/>
              </a:ext>
            </a:extLst>
          </p:cNvPr>
          <p:cNvCxnSpPr>
            <a:stCxn id="9" idx="3"/>
            <a:endCxn id="21" idx="1"/>
          </p:cNvCxnSpPr>
          <p:nvPr/>
        </p:nvCxnSpPr>
        <p:spPr>
          <a:xfrm>
            <a:off x="6877050" y="4638675"/>
            <a:ext cx="981075" cy="0"/>
          </a:xfrm>
          <a:prstGeom prst="straightConnector1">
            <a:avLst/>
          </a:prstGeom>
          <a:ln w="19050">
            <a:solidFill>
              <a:srgbClr val="146BA8"/>
            </a:solidFill>
            <a:prstDash val="solid"/>
            <a:tailEnd type="triangle" w="med" len="med"/>
          </a:ln>
        </p:spPr>
      </p:cxnSp>
      <p:cxnSp>
        <p:nvCxnSpPr>
          <p:cNvPr id="20" name="Straight Arrow Connector 19">
            <a:extLst>
              <a:ext uri="{FF2B5EF4-FFF2-40B4-BE49-F238E27FC236}">
                <a16:creationId xmlns:a16="http://schemas.microsoft.com/office/drawing/2014/main" id="{02632CC2-67F9-4A43-BA60-D784C440AA9A}"/>
              </a:ext>
            </a:extLst>
          </p:cNvPr>
          <p:cNvCxnSpPr>
            <a:stCxn id="8" idx="3"/>
            <a:endCxn id="19" idx="1"/>
          </p:cNvCxnSpPr>
          <p:nvPr/>
        </p:nvCxnSpPr>
        <p:spPr>
          <a:xfrm>
            <a:off x="6877050" y="3686175"/>
            <a:ext cx="981075" cy="0"/>
          </a:xfrm>
          <a:prstGeom prst="straightConnector1">
            <a:avLst/>
          </a:prstGeom>
          <a:ln w="19050">
            <a:solidFill>
              <a:srgbClr val="146BA8"/>
            </a:solidFill>
            <a:prstDash val="solid"/>
            <a:tailEnd type="triangle" w="med" len="med"/>
          </a:ln>
        </p:spPr>
      </p:cxnSp>
      <p:cxnSp>
        <p:nvCxnSpPr>
          <p:cNvPr id="18" name="Straight Arrow Connector 17">
            <a:extLst>
              <a:ext uri="{FF2B5EF4-FFF2-40B4-BE49-F238E27FC236}">
                <a16:creationId xmlns:a16="http://schemas.microsoft.com/office/drawing/2014/main" id="{259845E7-D4C2-4995-AC3B-EE7BB0CAC425}"/>
              </a:ext>
            </a:extLst>
          </p:cNvPr>
          <p:cNvCxnSpPr>
            <a:stCxn id="7" idx="3"/>
            <a:endCxn id="17" idx="1"/>
          </p:cNvCxnSpPr>
          <p:nvPr/>
        </p:nvCxnSpPr>
        <p:spPr>
          <a:xfrm>
            <a:off x="6877050" y="2733675"/>
            <a:ext cx="981075" cy="0"/>
          </a:xfrm>
          <a:prstGeom prst="straightConnector1">
            <a:avLst/>
          </a:prstGeom>
          <a:ln w="19050">
            <a:solidFill>
              <a:srgbClr val="146BA8"/>
            </a:solidFill>
            <a:prstDash val="solid"/>
            <a:tailEnd type="triangle" w="med" len="med"/>
          </a:ln>
        </p:spPr>
      </p:cxnSp>
      <p:cxnSp>
        <p:nvCxnSpPr>
          <p:cNvPr id="16" name="Straight Arrow Connector 15">
            <a:extLst>
              <a:ext uri="{FF2B5EF4-FFF2-40B4-BE49-F238E27FC236}">
                <a16:creationId xmlns:a16="http://schemas.microsoft.com/office/drawing/2014/main" id="{50B23DC6-FB9D-43AC-B2D5-3BA1A0F0D39C}"/>
              </a:ext>
            </a:extLst>
          </p:cNvPr>
          <p:cNvCxnSpPr>
            <a:stCxn id="6" idx="3"/>
            <a:endCxn id="15" idx="1"/>
          </p:cNvCxnSpPr>
          <p:nvPr/>
        </p:nvCxnSpPr>
        <p:spPr>
          <a:xfrm>
            <a:off x="6877050" y="1781175"/>
            <a:ext cx="981075" cy="0"/>
          </a:xfrm>
          <a:prstGeom prst="straightConnector1">
            <a:avLst/>
          </a:prstGeom>
          <a:ln w="19050">
            <a:solidFill>
              <a:srgbClr val="146BA8"/>
            </a:solidFill>
            <a:prstDash val="solid"/>
            <a:tailEnd type="triangle" w="med" len="med"/>
          </a:ln>
        </p:spPr>
      </p:cxnSp>
      <p:cxnSp>
        <p:nvCxnSpPr>
          <p:cNvPr id="14" name="Straight Arrow Connector 13">
            <a:extLst>
              <a:ext uri="{FF2B5EF4-FFF2-40B4-BE49-F238E27FC236}">
                <a16:creationId xmlns:a16="http://schemas.microsoft.com/office/drawing/2014/main" id="{6682747D-6CE3-48FC-B6E9-CF2E02AFADB3}"/>
              </a:ext>
            </a:extLst>
          </p:cNvPr>
          <p:cNvCxnSpPr>
            <a:stCxn id="9" idx="2"/>
            <a:endCxn id="10" idx="0"/>
          </p:cNvCxnSpPr>
          <p:nvPr/>
        </p:nvCxnSpPr>
        <p:spPr>
          <a:xfrm>
            <a:off x="3733800" y="4953000"/>
            <a:ext cx="0" cy="323850"/>
          </a:xfrm>
          <a:prstGeom prst="straightConnector1">
            <a:avLst/>
          </a:prstGeom>
          <a:ln w="19050">
            <a:solidFill>
              <a:srgbClr val="146BA8"/>
            </a:solidFill>
            <a:prstDash val="solid"/>
            <a:tailEnd type="triangle" w="med" len="med"/>
          </a:ln>
        </p:spPr>
      </p:cxnSp>
      <p:cxnSp>
        <p:nvCxnSpPr>
          <p:cNvPr id="13" name="Straight Arrow Connector 12">
            <a:extLst>
              <a:ext uri="{FF2B5EF4-FFF2-40B4-BE49-F238E27FC236}">
                <a16:creationId xmlns:a16="http://schemas.microsoft.com/office/drawing/2014/main" id="{FF37512D-9B62-43F3-944B-B2201423114A}"/>
              </a:ext>
            </a:extLst>
          </p:cNvPr>
          <p:cNvCxnSpPr>
            <a:stCxn id="8" idx="2"/>
            <a:endCxn id="9" idx="0"/>
          </p:cNvCxnSpPr>
          <p:nvPr/>
        </p:nvCxnSpPr>
        <p:spPr>
          <a:xfrm>
            <a:off x="3733800" y="4000500"/>
            <a:ext cx="0" cy="323850"/>
          </a:xfrm>
          <a:prstGeom prst="straightConnector1">
            <a:avLst/>
          </a:prstGeom>
          <a:ln w="19050">
            <a:solidFill>
              <a:srgbClr val="146BA8"/>
            </a:solidFill>
            <a:prstDash val="solid"/>
            <a:tailEnd type="triangle" w="med" len="med"/>
          </a:ln>
        </p:spPr>
      </p:cxnSp>
      <p:cxnSp>
        <p:nvCxnSpPr>
          <p:cNvPr id="12" name="Straight Arrow Connector 11">
            <a:extLst>
              <a:ext uri="{FF2B5EF4-FFF2-40B4-BE49-F238E27FC236}">
                <a16:creationId xmlns:a16="http://schemas.microsoft.com/office/drawing/2014/main" id="{B7901DCA-16DC-4A59-ABE9-8BCD2E294865}"/>
              </a:ext>
            </a:extLst>
          </p:cNvPr>
          <p:cNvCxnSpPr>
            <a:stCxn id="7" idx="2"/>
            <a:endCxn id="8" idx="0"/>
          </p:cNvCxnSpPr>
          <p:nvPr/>
        </p:nvCxnSpPr>
        <p:spPr>
          <a:xfrm>
            <a:off x="3733800" y="3048000"/>
            <a:ext cx="0" cy="323850"/>
          </a:xfrm>
          <a:prstGeom prst="straightConnector1">
            <a:avLst/>
          </a:prstGeom>
          <a:ln w="19050">
            <a:solidFill>
              <a:srgbClr val="146BA8"/>
            </a:solidFill>
            <a:prstDash val="solid"/>
            <a:tailEnd type="triangle" w="med" len="med"/>
          </a:ln>
        </p:spPr>
      </p:cxnSp>
      <p:cxnSp>
        <p:nvCxnSpPr>
          <p:cNvPr id="11" name="Straight Arrow Connector 10">
            <a:extLst>
              <a:ext uri="{FF2B5EF4-FFF2-40B4-BE49-F238E27FC236}">
                <a16:creationId xmlns:a16="http://schemas.microsoft.com/office/drawing/2014/main" id="{4F18893E-8660-4B51-8E7F-88D3101EEE30}"/>
              </a:ext>
            </a:extLst>
          </p:cNvPr>
          <p:cNvCxnSpPr>
            <a:stCxn id="6" idx="2"/>
            <a:endCxn id="7" idx="0"/>
          </p:cNvCxnSpPr>
          <p:nvPr/>
        </p:nvCxnSpPr>
        <p:spPr>
          <a:xfrm>
            <a:off x="3733800" y="2095500"/>
            <a:ext cx="0" cy="323850"/>
          </a:xfrm>
          <a:prstGeom prst="straightConnector1">
            <a:avLst/>
          </a:prstGeom>
          <a:ln w="19050">
            <a:solidFill>
              <a:srgbClr val="146BA8"/>
            </a:solidFill>
            <a:prstDash val="solid"/>
            <a:tailEnd type="triangle" w="med" len="med"/>
          </a:ln>
        </p:spPr>
      </p:cxnSp>
      <p:sp>
        <p:nvSpPr>
          <p:cNvPr id="24" name="headline">
            <a:extLst>
              <a:ext uri="{FF2B5EF4-FFF2-40B4-BE49-F238E27FC236}">
                <a16:creationId xmlns:a16="http://schemas.microsoft.com/office/drawing/2014/main" id="{E50BC571-B394-49B1-9A27-B28976EB4859}"/>
              </a:ext>
            </a:extLst>
          </p:cNvPr>
          <p:cNvSpPr>
            <a:spLocks noGrp="1"/>
          </p:cNvSpPr>
          <p:nvPr/>
        </p:nvSpPr>
        <p:spPr>
          <a:xfrm>
            <a:off x="590550" y="369572"/>
            <a:ext cx="11053762" cy="635316"/>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nSpc>
                <a:spcPct val="106000"/>
              </a:lnSpc>
              <a:defRPr sz="2700" b="1">
                <a:solidFill>
                  <a:srgbClr val="103B64"/>
                </a:solidFill>
                <a:latin typeface="Arial"/>
                <a:ea typeface="Arial"/>
                <a:cs typeface="Arial"/>
              </a:defRPr>
            </a:pPr>
            <a:r>
              <a:rPr sz="2000" b="1" dirty="0">
                <a:solidFill>
                  <a:srgbClr val="103B64"/>
                </a:solidFill>
                <a:latin typeface="Arial"/>
                <a:ea typeface="Arial"/>
                <a:cs typeface="Arial"/>
              </a:rPr>
              <a:t>03 </a:t>
            </a:r>
            <a:r>
              <a:rPr lang="en-US" altLang="ko-KR" sz="2000" b="1" dirty="0">
                <a:solidFill>
                  <a:srgbClr val="103B64"/>
                </a:solidFill>
                <a:latin typeface="Arial"/>
                <a:cs typeface="Arial"/>
              </a:rPr>
              <a:t>Filtration process</a:t>
            </a:r>
          </a:p>
          <a:p>
            <a:pPr algn="l">
              <a:lnSpc>
                <a:spcPct val="106000"/>
              </a:lnSpc>
              <a:buNone/>
              <a:defRPr sz="2700" b="1">
                <a:solidFill>
                  <a:srgbClr val="103B64"/>
                </a:solidFill>
                <a:latin typeface="Arial"/>
                <a:ea typeface="Arial"/>
                <a:cs typeface="Arial"/>
              </a:defRPr>
            </a:pPr>
            <a:endParaRPr sz="2700" b="1" dirty="0">
              <a:solidFill>
                <a:srgbClr val="103B64"/>
              </a:solidFill>
              <a:latin typeface="Arial"/>
              <a:ea typeface="Arial"/>
              <a:cs typeface="Arial"/>
            </a:endParaRPr>
          </a:p>
        </p:txBody>
      </p:sp>
      <p:sp>
        <p:nvSpPr>
          <p:cNvPr id="2" name="Rectangle 1">
            <a:extLst>
              <a:ext uri="{FF2B5EF4-FFF2-40B4-BE49-F238E27FC236}">
                <a16:creationId xmlns:a16="http://schemas.microsoft.com/office/drawing/2014/main" id="{032D6FF0-C4FA-4983-B1C3-20158469DBE6}"/>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58807BB0-BCC7-4D10-A656-B0171522959C}"/>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Pending records remain visible in the selection process</a:t>
            </a:r>
          </a:p>
        </p:txBody>
      </p:sp>
      <p:sp>
        <p:nvSpPr>
          <p:cNvPr id="5" name="page-number">
            <a:extLst>
              <a:ext uri="{FF2B5EF4-FFF2-40B4-BE49-F238E27FC236}">
                <a16:creationId xmlns:a16="http://schemas.microsoft.com/office/drawing/2014/main" id="{AFCBAA2F-7410-41FA-8314-A7042C8EB874}"/>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8</a:t>
            </a:r>
          </a:p>
        </p:txBody>
      </p:sp>
      <p:sp>
        <p:nvSpPr>
          <p:cNvPr id="6" name="Rectangle 5">
            <a:extLst>
              <a:ext uri="{FF2B5EF4-FFF2-40B4-BE49-F238E27FC236}">
                <a16:creationId xmlns:a16="http://schemas.microsoft.com/office/drawing/2014/main" id="{648FA12C-6297-4A7D-96C9-9FCB8B1D2980}"/>
              </a:ext>
            </a:extLst>
          </p:cNvPr>
          <p:cNvSpPr>
            <a:spLocks noGrp="1"/>
          </p:cNvSpPr>
          <p:nvPr/>
        </p:nvSpPr>
        <p:spPr>
          <a:xfrm>
            <a:off x="590550" y="146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sz="1800" b="1">
                <a:solidFill>
                  <a:srgbClr val="103B64"/>
                </a:solidFill>
                <a:latin typeface="Arial"/>
                <a:ea typeface="Arial"/>
                <a:cs typeface="Arial"/>
              </a:rPr>
              <a:t>9,256 records identified</a:t>
            </a:r>
          </a:p>
        </p:txBody>
      </p:sp>
      <p:sp>
        <p:nvSpPr>
          <p:cNvPr id="7" name="Rectangle 6">
            <a:extLst>
              <a:ext uri="{FF2B5EF4-FFF2-40B4-BE49-F238E27FC236}">
                <a16:creationId xmlns:a16="http://schemas.microsoft.com/office/drawing/2014/main" id="{B13B810A-C52A-4D3B-8B08-A9A20FF83745}"/>
              </a:ext>
            </a:extLst>
          </p:cNvPr>
          <p:cNvSpPr>
            <a:spLocks noGrp="1"/>
          </p:cNvSpPr>
          <p:nvPr/>
        </p:nvSpPr>
        <p:spPr>
          <a:xfrm>
            <a:off x="590550" y="2419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sz="1800" b="1">
                <a:solidFill>
                  <a:srgbClr val="103B64"/>
                </a:solidFill>
                <a:latin typeface="Arial"/>
                <a:ea typeface="Arial"/>
                <a:cs typeface="Arial"/>
              </a:rPr>
              <a:t>6,039 unique records screened by title</a:t>
            </a:r>
          </a:p>
        </p:txBody>
      </p:sp>
      <p:sp>
        <p:nvSpPr>
          <p:cNvPr id="8" name="Rectangle 7">
            <a:extLst>
              <a:ext uri="{FF2B5EF4-FFF2-40B4-BE49-F238E27FC236}">
                <a16:creationId xmlns:a16="http://schemas.microsoft.com/office/drawing/2014/main" id="{73655119-B5D0-4FD1-B91A-FD18BD0D65EF}"/>
              </a:ext>
            </a:extLst>
          </p:cNvPr>
          <p:cNvSpPr>
            <a:spLocks noGrp="1"/>
          </p:cNvSpPr>
          <p:nvPr/>
        </p:nvSpPr>
        <p:spPr>
          <a:xfrm>
            <a:off x="590550" y="3371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sz="1800" b="1">
                <a:solidFill>
                  <a:srgbClr val="103B64"/>
                </a:solidFill>
                <a:latin typeface="Arial"/>
                <a:ea typeface="Arial"/>
                <a:cs typeface="Arial"/>
              </a:rPr>
              <a:t>3,129 advanced to abstract stage</a:t>
            </a:r>
          </a:p>
        </p:txBody>
      </p:sp>
      <p:sp>
        <p:nvSpPr>
          <p:cNvPr id="9" name="Rectangle 8">
            <a:extLst>
              <a:ext uri="{FF2B5EF4-FFF2-40B4-BE49-F238E27FC236}">
                <a16:creationId xmlns:a16="http://schemas.microsoft.com/office/drawing/2014/main" id="{A7C05603-B0CF-4606-90D5-C4FCB49AF5C1}"/>
              </a:ext>
            </a:extLst>
          </p:cNvPr>
          <p:cNvSpPr>
            <a:spLocks noGrp="1"/>
          </p:cNvSpPr>
          <p:nvPr/>
        </p:nvSpPr>
        <p:spPr>
          <a:xfrm>
            <a:off x="590550" y="43243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sz="1800" b="1">
                <a:solidFill>
                  <a:srgbClr val="103B64"/>
                </a:solidFill>
                <a:latin typeface="Arial"/>
                <a:ea typeface="Arial"/>
                <a:cs typeface="Arial"/>
              </a:rPr>
              <a:t>2,541 abstracts screened</a:t>
            </a:r>
          </a:p>
        </p:txBody>
      </p:sp>
      <p:sp>
        <p:nvSpPr>
          <p:cNvPr id="10" name="Rectangle 9">
            <a:extLst>
              <a:ext uri="{FF2B5EF4-FFF2-40B4-BE49-F238E27FC236}">
                <a16:creationId xmlns:a16="http://schemas.microsoft.com/office/drawing/2014/main" id="{1E69E6C1-7E20-43A4-B534-DA3EC6F0F421}"/>
              </a:ext>
            </a:extLst>
          </p:cNvPr>
          <p:cNvSpPr>
            <a:spLocks noGrp="1"/>
          </p:cNvSpPr>
          <p:nvPr/>
        </p:nvSpPr>
        <p:spPr>
          <a:xfrm>
            <a:off x="590550" y="5276850"/>
            <a:ext cx="6286500" cy="628650"/>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00" b="1">
                <a:solidFill>
                  <a:srgbClr val="103B64"/>
                </a:solidFill>
                <a:latin typeface="Arial"/>
                <a:ea typeface="Arial"/>
                <a:cs typeface="Arial"/>
              </a:defRPr>
            </a:defPPr>
          </a:lstStyle>
          <a:p>
            <a:pPr algn="ctr">
              <a:lnSpc>
                <a:spcPct val="103000"/>
              </a:lnSpc>
              <a:buNone/>
              <a:defRPr sz="1800" b="1">
                <a:solidFill>
                  <a:srgbClr val="103B64"/>
                </a:solidFill>
                <a:latin typeface="Arial"/>
                <a:ea typeface="Arial"/>
                <a:cs typeface="Arial"/>
              </a:defRPr>
            </a:pPr>
            <a:r>
              <a:rPr sz="1800" b="1">
                <a:solidFill>
                  <a:srgbClr val="103B64"/>
                </a:solidFill>
                <a:latin typeface="Arial"/>
                <a:ea typeface="Arial"/>
                <a:cs typeface="Arial"/>
              </a:rPr>
              <a:t>1,800 full texts sought and prioritised</a:t>
            </a:r>
          </a:p>
        </p:txBody>
      </p:sp>
      <p:sp>
        <p:nvSpPr>
          <p:cNvPr id="15" name="Rectangle 14">
            <a:extLst>
              <a:ext uri="{FF2B5EF4-FFF2-40B4-BE49-F238E27FC236}">
                <a16:creationId xmlns:a16="http://schemas.microsoft.com/office/drawing/2014/main" id="{41B5B6D5-EEED-428B-8745-2E2CB3162E1F}"/>
              </a:ext>
            </a:extLst>
          </p:cNvPr>
          <p:cNvSpPr>
            <a:spLocks noGrp="1"/>
          </p:cNvSpPr>
          <p:nvPr/>
        </p:nvSpPr>
        <p:spPr>
          <a:xfrm>
            <a:off x="7858125" y="1466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sz="1650" b="1">
                <a:solidFill>
                  <a:srgbClr val="103B64"/>
                </a:solidFill>
                <a:latin typeface="Arial"/>
                <a:ea typeface="Arial"/>
                <a:cs typeface="Arial"/>
              </a:rPr>
              <a:t>2,794 cross-database + 423 within-source duplicates</a:t>
            </a:r>
          </a:p>
        </p:txBody>
      </p:sp>
      <p:sp>
        <p:nvSpPr>
          <p:cNvPr id="17" name="Rectangle 16">
            <a:extLst>
              <a:ext uri="{FF2B5EF4-FFF2-40B4-BE49-F238E27FC236}">
                <a16:creationId xmlns:a16="http://schemas.microsoft.com/office/drawing/2014/main" id="{4EE48C45-DFD4-4537-BA42-AE6A170BAB95}"/>
              </a:ext>
            </a:extLst>
          </p:cNvPr>
          <p:cNvSpPr>
            <a:spLocks noGrp="1"/>
          </p:cNvSpPr>
          <p:nvPr/>
        </p:nvSpPr>
        <p:spPr>
          <a:xfrm>
            <a:off x="7858125" y="2419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sz="1650" b="1">
                <a:solidFill>
                  <a:srgbClr val="103B64"/>
                </a:solidFill>
                <a:latin typeface="Arial"/>
                <a:ea typeface="Arial"/>
                <a:cs typeface="Arial"/>
              </a:rPr>
              <a:t>2,910 excluded by title</a:t>
            </a:r>
          </a:p>
        </p:txBody>
      </p:sp>
      <p:sp>
        <p:nvSpPr>
          <p:cNvPr id="19" name="Rectangle 18">
            <a:extLst>
              <a:ext uri="{FF2B5EF4-FFF2-40B4-BE49-F238E27FC236}">
                <a16:creationId xmlns:a16="http://schemas.microsoft.com/office/drawing/2014/main" id="{41FF8D69-9C56-4FA7-AD38-950B2BB503C0}"/>
              </a:ext>
            </a:extLst>
          </p:cNvPr>
          <p:cNvSpPr>
            <a:spLocks noGrp="1"/>
          </p:cNvSpPr>
          <p:nvPr/>
        </p:nvSpPr>
        <p:spPr>
          <a:xfrm>
            <a:off x="7858125" y="33718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sz="1650" b="1">
                <a:solidFill>
                  <a:srgbClr val="103B64"/>
                </a:solidFill>
                <a:latin typeface="Arial"/>
                <a:ea typeface="Arial"/>
                <a:cs typeface="Arial"/>
              </a:rPr>
              <a:t>588 abstracts pending</a:t>
            </a:r>
          </a:p>
        </p:txBody>
      </p:sp>
      <p:sp>
        <p:nvSpPr>
          <p:cNvPr id="21" name="Rectangle 20">
            <a:extLst>
              <a:ext uri="{FF2B5EF4-FFF2-40B4-BE49-F238E27FC236}">
                <a16:creationId xmlns:a16="http://schemas.microsoft.com/office/drawing/2014/main" id="{B4E7B3E7-F749-4CFB-BE54-C83E8A315034}"/>
              </a:ext>
            </a:extLst>
          </p:cNvPr>
          <p:cNvSpPr>
            <a:spLocks noGrp="1"/>
          </p:cNvSpPr>
          <p:nvPr/>
        </p:nvSpPr>
        <p:spPr>
          <a:xfrm>
            <a:off x="7858125" y="4324350"/>
            <a:ext cx="3743325" cy="628650"/>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650" b="1">
                <a:solidFill>
                  <a:srgbClr val="103B64"/>
                </a:solidFill>
                <a:latin typeface="Arial"/>
                <a:ea typeface="Arial"/>
                <a:cs typeface="Arial"/>
              </a:defRPr>
            </a:defPPr>
          </a:lstStyle>
          <a:p>
            <a:pPr algn="ctr">
              <a:lnSpc>
                <a:spcPct val="103000"/>
              </a:lnSpc>
              <a:buNone/>
              <a:defRPr sz="1650" b="1">
                <a:solidFill>
                  <a:srgbClr val="103B64"/>
                </a:solidFill>
                <a:latin typeface="Arial"/>
                <a:ea typeface="Arial"/>
                <a:cs typeface="Arial"/>
              </a:defRPr>
            </a:pPr>
            <a:r>
              <a:rPr sz="1650" b="1">
                <a:solidFill>
                  <a:srgbClr val="103B64"/>
                </a:solidFill>
                <a:latin typeface="Arial"/>
                <a:ea typeface="Arial"/>
                <a:cs typeface="Arial"/>
              </a:rPr>
              <a:t>741 excluded by abstract</a:t>
            </a:r>
          </a:p>
        </p:txBody>
      </p:sp>
    </p:spTree>
    <p:extLst>
      <p:ext uri="{BB962C8B-B14F-4D97-AF65-F5344CB8AC3E}">
        <p14:creationId xmlns:p14="http://schemas.microsoft.com/office/powerpoint/2010/main" val="527185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6C8DF7C5-3020-4777-A151-F5BFFB35ED07}"/>
              </a:ext>
            </a:extLst>
          </p:cNvPr>
          <p:cNvCxnSpPr>
            <a:stCxn id="9" idx="3"/>
            <a:endCxn id="21" idx="1"/>
          </p:cNvCxnSpPr>
          <p:nvPr/>
        </p:nvCxnSpPr>
        <p:spPr>
          <a:xfrm>
            <a:off x="6257925" y="4595813"/>
            <a:ext cx="647700" cy="0"/>
          </a:xfrm>
          <a:prstGeom prst="straightConnector1">
            <a:avLst/>
          </a:prstGeom>
          <a:ln w="19050">
            <a:solidFill>
              <a:srgbClr val="146BA8"/>
            </a:solidFill>
            <a:prstDash val="solid"/>
            <a:tailEnd type="triangle" w="med" len="med"/>
          </a:ln>
        </p:spPr>
      </p:cxnSp>
      <p:cxnSp>
        <p:nvCxnSpPr>
          <p:cNvPr id="20" name="Straight Arrow Connector 19">
            <a:extLst>
              <a:ext uri="{FF2B5EF4-FFF2-40B4-BE49-F238E27FC236}">
                <a16:creationId xmlns:a16="http://schemas.microsoft.com/office/drawing/2014/main" id="{16D3606E-8829-4B2A-9DD5-82438E317482}"/>
              </a:ext>
            </a:extLst>
          </p:cNvPr>
          <p:cNvCxnSpPr>
            <a:stCxn id="8" idx="3"/>
            <a:endCxn id="19" idx="1"/>
          </p:cNvCxnSpPr>
          <p:nvPr/>
        </p:nvCxnSpPr>
        <p:spPr>
          <a:xfrm>
            <a:off x="6257925" y="3662363"/>
            <a:ext cx="647700" cy="0"/>
          </a:xfrm>
          <a:prstGeom prst="straightConnector1">
            <a:avLst/>
          </a:prstGeom>
          <a:ln w="19050">
            <a:solidFill>
              <a:srgbClr val="146BA8"/>
            </a:solidFill>
            <a:prstDash val="solid"/>
            <a:tailEnd type="triangle" w="med" len="med"/>
          </a:ln>
        </p:spPr>
      </p:cxnSp>
      <p:cxnSp>
        <p:nvCxnSpPr>
          <p:cNvPr id="18" name="Straight Arrow Connector 17">
            <a:extLst>
              <a:ext uri="{FF2B5EF4-FFF2-40B4-BE49-F238E27FC236}">
                <a16:creationId xmlns:a16="http://schemas.microsoft.com/office/drawing/2014/main" id="{E3A2D346-B528-48A9-9624-6E3D4CD80F34}"/>
              </a:ext>
            </a:extLst>
          </p:cNvPr>
          <p:cNvCxnSpPr>
            <a:stCxn id="7" idx="3"/>
            <a:endCxn id="17" idx="1"/>
          </p:cNvCxnSpPr>
          <p:nvPr/>
        </p:nvCxnSpPr>
        <p:spPr>
          <a:xfrm>
            <a:off x="6257925" y="2728913"/>
            <a:ext cx="647700" cy="0"/>
          </a:xfrm>
          <a:prstGeom prst="straightConnector1">
            <a:avLst/>
          </a:prstGeom>
          <a:ln w="19050">
            <a:solidFill>
              <a:srgbClr val="146BA8"/>
            </a:solidFill>
            <a:prstDash val="solid"/>
            <a:tailEnd type="triangle" w="med" len="med"/>
          </a:ln>
        </p:spPr>
      </p:cxnSp>
      <p:cxnSp>
        <p:nvCxnSpPr>
          <p:cNvPr id="16" name="Straight Arrow Connector 15">
            <a:extLst>
              <a:ext uri="{FF2B5EF4-FFF2-40B4-BE49-F238E27FC236}">
                <a16:creationId xmlns:a16="http://schemas.microsoft.com/office/drawing/2014/main" id="{C6CF54A7-C476-44E5-A281-EB78C268EB39}"/>
              </a:ext>
            </a:extLst>
          </p:cNvPr>
          <p:cNvCxnSpPr>
            <a:stCxn id="6" idx="3"/>
            <a:endCxn id="15" idx="1"/>
          </p:cNvCxnSpPr>
          <p:nvPr/>
        </p:nvCxnSpPr>
        <p:spPr>
          <a:xfrm>
            <a:off x="6257925" y="1795463"/>
            <a:ext cx="647700" cy="0"/>
          </a:xfrm>
          <a:prstGeom prst="straightConnector1">
            <a:avLst/>
          </a:prstGeom>
          <a:ln w="19050">
            <a:solidFill>
              <a:srgbClr val="146BA8"/>
            </a:solidFill>
            <a:prstDash val="solid"/>
            <a:tailEnd type="triangle" w="med" len="med"/>
          </a:ln>
        </p:spPr>
      </p:cxnSp>
      <p:cxnSp>
        <p:nvCxnSpPr>
          <p:cNvPr id="14" name="Straight Arrow Connector 13">
            <a:extLst>
              <a:ext uri="{FF2B5EF4-FFF2-40B4-BE49-F238E27FC236}">
                <a16:creationId xmlns:a16="http://schemas.microsoft.com/office/drawing/2014/main" id="{5A3255FF-1EFA-43DF-825B-9C1413D350AF}"/>
              </a:ext>
            </a:extLst>
          </p:cNvPr>
          <p:cNvCxnSpPr>
            <a:stCxn id="9" idx="2"/>
            <a:endCxn id="10" idx="0"/>
          </p:cNvCxnSpPr>
          <p:nvPr/>
        </p:nvCxnSpPr>
        <p:spPr>
          <a:xfrm>
            <a:off x="3424238" y="4914900"/>
            <a:ext cx="0" cy="295275"/>
          </a:xfrm>
          <a:prstGeom prst="straightConnector1">
            <a:avLst/>
          </a:prstGeom>
          <a:ln w="19050">
            <a:solidFill>
              <a:srgbClr val="146BA8"/>
            </a:solidFill>
            <a:prstDash val="solid"/>
            <a:tailEnd type="triangle" w="med" len="med"/>
          </a:ln>
        </p:spPr>
      </p:cxnSp>
      <p:cxnSp>
        <p:nvCxnSpPr>
          <p:cNvPr id="13" name="Straight Arrow Connector 12">
            <a:extLst>
              <a:ext uri="{FF2B5EF4-FFF2-40B4-BE49-F238E27FC236}">
                <a16:creationId xmlns:a16="http://schemas.microsoft.com/office/drawing/2014/main" id="{31E6EBCC-0763-4B69-8C2F-5156C68243A1}"/>
              </a:ext>
            </a:extLst>
          </p:cNvPr>
          <p:cNvCxnSpPr>
            <a:stCxn id="8" idx="2"/>
            <a:endCxn id="9" idx="0"/>
          </p:cNvCxnSpPr>
          <p:nvPr/>
        </p:nvCxnSpPr>
        <p:spPr>
          <a:xfrm>
            <a:off x="3424238" y="3981450"/>
            <a:ext cx="0" cy="295275"/>
          </a:xfrm>
          <a:prstGeom prst="straightConnector1">
            <a:avLst/>
          </a:prstGeom>
          <a:ln w="19050">
            <a:solidFill>
              <a:srgbClr val="146BA8"/>
            </a:solidFill>
            <a:prstDash val="solid"/>
            <a:tailEnd type="triangle" w="med" len="med"/>
          </a:ln>
        </p:spPr>
      </p:cxnSp>
      <p:cxnSp>
        <p:nvCxnSpPr>
          <p:cNvPr id="12" name="Straight Arrow Connector 11">
            <a:extLst>
              <a:ext uri="{FF2B5EF4-FFF2-40B4-BE49-F238E27FC236}">
                <a16:creationId xmlns:a16="http://schemas.microsoft.com/office/drawing/2014/main" id="{CCABD9E1-8C40-4276-B68A-0539F5D373CC}"/>
              </a:ext>
            </a:extLst>
          </p:cNvPr>
          <p:cNvCxnSpPr>
            <a:stCxn id="7" idx="2"/>
            <a:endCxn id="8" idx="0"/>
          </p:cNvCxnSpPr>
          <p:nvPr/>
        </p:nvCxnSpPr>
        <p:spPr>
          <a:xfrm>
            <a:off x="3424238" y="3048000"/>
            <a:ext cx="0" cy="295275"/>
          </a:xfrm>
          <a:prstGeom prst="straightConnector1">
            <a:avLst/>
          </a:prstGeom>
          <a:ln w="19050">
            <a:solidFill>
              <a:srgbClr val="146BA8"/>
            </a:solidFill>
            <a:prstDash val="solid"/>
            <a:tailEnd type="triangle" w="med" len="med"/>
          </a:ln>
        </p:spPr>
      </p:cxnSp>
      <p:cxnSp>
        <p:nvCxnSpPr>
          <p:cNvPr id="11" name="Straight Arrow Connector 10">
            <a:extLst>
              <a:ext uri="{FF2B5EF4-FFF2-40B4-BE49-F238E27FC236}">
                <a16:creationId xmlns:a16="http://schemas.microsoft.com/office/drawing/2014/main" id="{D946E933-45D0-432F-A143-63E7A7F18CC1}"/>
              </a:ext>
            </a:extLst>
          </p:cNvPr>
          <p:cNvCxnSpPr>
            <a:stCxn id="6" idx="2"/>
            <a:endCxn id="7" idx="0"/>
          </p:cNvCxnSpPr>
          <p:nvPr/>
        </p:nvCxnSpPr>
        <p:spPr>
          <a:xfrm>
            <a:off x="3424238" y="2114550"/>
            <a:ext cx="0" cy="295275"/>
          </a:xfrm>
          <a:prstGeom prst="straightConnector1">
            <a:avLst/>
          </a:prstGeom>
          <a:ln w="19050">
            <a:solidFill>
              <a:srgbClr val="146BA8"/>
            </a:solidFill>
            <a:prstDash val="solid"/>
            <a:tailEnd type="triangle" w="med" len="med"/>
          </a:ln>
        </p:spPr>
      </p:cxnSp>
      <p:sp>
        <p:nvSpPr>
          <p:cNvPr id="25" name="headline">
            <a:extLst>
              <a:ext uri="{FF2B5EF4-FFF2-40B4-BE49-F238E27FC236}">
                <a16:creationId xmlns:a16="http://schemas.microsoft.com/office/drawing/2014/main" id="{0486D86A-D502-4C91-BCFA-B882D3C8C1CD}"/>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03 SELECTION: FULL-TEXT CHECKPOINT</a:t>
            </a:r>
          </a:p>
        </p:txBody>
      </p:sp>
      <p:sp>
        <p:nvSpPr>
          <p:cNvPr id="2" name="Rectangle 1">
            <a:extLst>
              <a:ext uri="{FF2B5EF4-FFF2-40B4-BE49-F238E27FC236}">
                <a16:creationId xmlns:a16="http://schemas.microsoft.com/office/drawing/2014/main" id="{6DBA08FA-02DF-451A-B66E-B551D64921ED}"/>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8F8F7E11-B5DC-40FC-8E3C-9413E690B4DF}"/>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25 primary studies form the comparative analysis</a:t>
            </a:r>
          </a:p>
        </p:txBody>
      </p:sp>
      <p:sp>
        <p:nvSpPr>
          <p:cNvPr id="5" name="page-number">
            <a:extLst>
              <a:ext uri="{FF2B5EF4-FFF2-40B4-BE49-F238E27FC236}">
                <a16:creationId xmlns:a16="http://schemas.microsoft.com/office/drawing/2014/main" id="{03283842-73D3-4ADD-9A10-D0D700245624}"/>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9</a:t>
            </a:r>
          </a:p>
        </p:txBody>
      </p:sp>
      <p:sp>
        <p:nvSpPr>
          <p:cNvPr id="6" name="Rectangle 5">
            <a:extLst>
              <a:ext uri="{FF2B5EF4-FFF2-40B4-BE49-F238E27FC236}">
                <a16:creationId xmlns:a16="http://schemas.microsoft.com/office/drawing/2014/main" id="{DC9CC6FE-F9B8-4E2B-ACA2-D467FEA78810}"/>
              </a:ext>
            </a:extLst>
          </p:cNvPr>
          <p:cNvSpPr>
            <a:spLocks noGrp="1"/>
          </p:cNvSpPr>
          <p:nvPr/>
        </p:nvSpPr>
        <p:spPr>
          <a:xfrm>
            <a:off x="590550" y="1476375"/>
            <a:ext cx="5667375" cy="638175"/>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75" b="1">
                <a:solidFill>
                  <a:srgbClr val="103B64"/>
                </a:solidFill>
                <a:latin typeface="Arial"/>
                <a:ea typeface="Arial"/>
                <a:cs typeface="Arial"/>
              </a:defRPr>
            </a:defPPr>
          </a:lstStyle>
          <a:p>
            <a:pPr algn="ctr">
              <a:lnSpc>
                <a:spcPct val="103000"/>
              </a:lnSpc>
              <a:buNone/>
              <a:defRPr sz="1875" b="1">
                <a:solidFill>
                  <a:srgbClr val="103B64"/>
                </a:solidFill>
                <a:latin typeface="Arial"/>
                <a:ea typeface="Arial"/>
                <a:cs typeface="Arial"/>
              </a:defRPr>
            </a:pPr>
            <a:r>
              <a:rPr sz="1875" b="1">
                <a:solidFill>
                  <a:srgbClr val="103B64"/>
                </a:solidFill>
                <a:latin typeface="Arial"/>
                <a:ea typeface="Arial"/>
                <a:cs typeface="Arial"/>
              </a:rPr>
              <a:t>1,800 full-text pool</a:t>
            </a:r>
          </a:p>
        </p:txBody>
      </p:sp>
      <p:sp>
        <p:nvSpPr>
          <p:cNvPr id="7" name="Rectangle 6">
            <a:extLst>
              <a:ext uri="{FF2B5EF4-FFF2-40B4-BE49-F238E27FC236}">
                <a16:creationId xmlns:a16="http://schemas.microsoft.com/office/drawing/2014/main" id="{65E1CEE2-EBC3-4A48-AFC7-C9EB48F2C991}"/>
              </a:ext>
            </a:extLst>
          </p:cNvPr>
          <p:cNvSpPr>
            <a:spLocks noGrp="1"/>
          </p:cNvSpPr>
          <p:nvPr/>
        </p:nvSpPr>
        <p:spPr>
          <a:xfrm>
            <a:off x="590550" y="2409825"/>
            <a:ext cx="5667375" cy="638175"/>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75" b="1">
                <a:solidFill>
                  <a:srgbClr val="103B64"/>
                </a:solidFill>
                <a:latin typeface="Arial"/>
                <a:ea typeface="Arial"/>
                <a:cs typeface="Arial"/>
              </a:defRPr>
            </a:defPPr>
          </a:lstStyle>
          <a:p>
            <a:pPr algn="ctr">
              <a:lnSpc>
                <a:spcPct val="103000"/>
              </a:lnSpc>
              <a:buNone/>
              <a:defRPr sz="1875" b="1">
                <a:solidFill>
                  <a:srgbClr val="103B64"/>
                </a:solidFill>
                <a:latin typeface="Arial"/>
                <a:ea typeface="Arial"/>
                <a:cs typeface="Arial"/>
              </a:defRPr>
            </a:pPr>
            <a:r>
              <a:rPr sz="1875" b="1">
                <a:solidFill>
                  <a:srgbClr val="103B64"/>
                </a:solidFill>
                <a:latin typeface="Arial"/>
                <a:ea typeface="Arial"/>
                <a:cs typeface="Arial"/>
              </a:rPr>
              <a:t>64 full texts assessed</a:t>
            </a:r>
          </a:p>
        </p:txBody>
      </p:sp>
      <p:sp>
        <p:nvSpPr>
          <p:cNvPr id="8" name="Rectangle 7">
            <a:extLst>
              <a:ext uri="{FF2B5EF4-FFF2-40B4-BE49-F238E27FC236}">
                <a16:creationId xmlns:a16="http://schemas.microsoft.com/office/drawing/2014/main" id="{255646E2-FBA3-455C-8D81-C1FB551C6B18}"/>
              </a:ext>
            </a:extLst>
          </p:cNvPr>
          <p:cNvSpPr>
            <a:spLocks noGrp="1"/>
          </p:cNvSpPr>
          <p:nvPr/>
        </p:nvSpPr>
        <p:spPr>
          <a:xfrm>
            <a:off x="590550" y="3343275"/>
            <a:ext cx="5667375" cy="638175"/>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75" b="1">
                <a:solidFill>
                  <a:srgbClr val="103B64"/>
                </a:solidFill>
                <a:latin typeface="Arial"/>
                <a:ea typeface="Arial"/>
                <a:cs typeface="Arial"/>
              </a:defRPr>
            </a:defPPr>
          </a:lstStyle>
          <a:p>
            <a:pPr algn="ctr">
              <a:lnSpc>
                <a:spcPct val="103000"/>
              </a:lnSpc>
              <a:buNone/>
              <a:defRPr sz="1875" b="1">
                <a:solidFill>
                  <a:srgbClr val="103B64"/>
                </a:solidFill>
                <a:latin typeface="Arial"/>
                <a:ea typeface="Arial"/>
                <a:cs typeface="Arial"/>
              </a:defRPr>
            </a:pPr>
            <a:r>
              <a:rPr sz="1875" b="1">
                <a:solidFill>
                  <a:srgbClr val="103B64"/>
                </a:solidFill>
                <a:latin typeface="Arial"/>
                <a:ea typeface="Arial"/>
                <a:cs typeface="Arial"/>
              </a:rPr>
              <a:t>47 studies met the criteria</a:t>
            </a:r>
          </a:p>
        </p:txBody>
      </p:sp>
      <p:sp>
        <p:nvSpPr>
          <p:cNvPr id="9" name="Rectangle 8">
            <a:extLst>
              <a:ext uri="{FF2B5EF4-FFF2-40B4-BE49-F238E27FC236}">
                <a16:creationId xmlns:a16="http://schemas.microsoft.com/office/drawing/2014/main" id="{DEB028FE-010B-4C3B-AEEA-ACD0D0957FB7}"/>
              </a:ext>
            </a:extLst>
          </p:cNvPr>
          <p:cNvSpPr>
            <a:spLocks noGrp="1"/>
          </p:cNvSpPr>
          <p:nvPr/>
        </p:nvSpPr>
        <p:spPr>
          <a:xfrm>
            <a:off x="590550" y="4276725"/>
            <a:ext cx="5667375" cy="638175"/>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75" b="1">
                <a:solidFill>
                  <a:srgbClr val="103B64"/>
                </a:solidFill>
                <a:latin typeface="Arial"/>
                <a:ea typeface="Arial"/>
                <a:cs typeface="Arial"/>
              </a:defRPr>
            </a:defPPr>
          </a:lstStyle>
          <a:p>
            <a:pPr algn="ctr">
              <a:lnSpc>
                <a:spcPct val="103000"/>
              </a:lnSpc>
              <a:buNone/>
              <a:defRPr sz="1875" b="1">
                <a:solidFill>
                  <a:srgbClr val="103B64"/>
                </a:solidFill>
                <a:latin typeface="Arial"/>
                <a:ea typeface="Arial"/>
                <a:cs typeface="Arial"/>
              </a:defRPr>
            </a:pPr>
            <a:r>
              <a:rPr sz="1875" b="1">
                <a:solidFill>
                  <a:srgbClr val="103B64"/>
                </a:solidFill>
                <a:latin typeface="Arial"/>
                <a:ea typeface="Arial"/>
                <a:cs typeface="Arial"/>
              </a:rPr>
              <a:t>44 fully coded and quality passed</a:t>
            </a:r>
          </a:p>
        </p:txBody>
      </p:sp>
      <p:sp>
        <p:nvSpPr>
          <p:cNvPr id="10" name="Rectangle 9">
            <a:extLst>
              <a:ext uri="{FF2B5EF4-FFF2-40B4-BE49-F238E27FC236}">
                <a16:creationId xmlns:a16="http://schemas.microsoft.com/office/drawing/2014/main" id="{48EE5798-B746-45C8-81DE-464BA417D9D1}"/>
              </a:ext>
            </a:extLst>
          </p:cNvPr>
          <p:cNvSpPr>
            <a:spLocks noGrp="1"/>
          </p:cNvSpPr>
          <p:nvPr/>
        </p:nvSpPr>
        <p:spPr>
          <a:xfrm>
            <a:off x="590550" y="5210175"/>
            <a:ext cx="5667375" cy="638175"/>
          </a:xfrm>
          <a:prstGeom prst="rect">
            <a:avLst/>
          </a:prstGeom>
          <a:solidFill>
            <a:srgbClr val="EDF5FB"/>
          </a:solidFill>
          <a:ln w="13335">
            <a:solidFill>
              <a:srgbClr val="146BA8"/>
            </a:solidFill>
            <a:prstDash val="solid"/>
          </a:ln>
        </p:spPr>
        <p:txBody>
          <a:bodyPr wrap="square" lIns="114300" tIns="47625" rIns="114300" bIns="47625" anchor="ctr">
            <a:noAutofit/>
          </a:bodyPr>
          <a:lstStyle>
            <a:defPPr algn="ctr">
              <a:defRPr sz="1875" b="1">
                <a:solidFill>
                  <a:srgbClr val="103B64"/>
                </a:solidFill>
                <a:latin typeface="Arial"/>
                <a:ea typeface="Arial"/>
                <a:cs typeface="Arial"/>
              </a:defRPr>
            </a:defPPr>
          </a:lstStyle>
          <a:p>
            <a:pPr algn="ctr">
              <a:lnSpc>
                <a:spcPct val="103000"/>
              </a:lnSpc>
              <a:buNone/>
              <a:defRPr sz="1875" b="1">
                <a:solidFill>
                  <a:srgbClr val="103B64"/>
                </a:solidFill>
                <a:latin typeface="Arial"/>
                <a:ea typeface="Arial"/>
                <a:cs typeface="Arial"/>
              </a:defRPr>
            </a:pPr>
            <a:r>
              <a:rPr sz="1875" b="1">
                <a:solidFill>
                  <a:srgbClr val="103B64"/>
                </a:solidFill>
                <a:latin typeface="Arial"/>
                <a:ea typeface="Arial"/>
                <a:cs typeface="Arial"/>
              </a:rPr>
              <a:t>25 primary studies analysed</a:t>
            </a:r>
          </a:p>
        </p:txBody>
      </p:sp>
      <p:sp>
        <p:nvSpPr>
          <p:cNvPr id="15" name="Rectangle 14">
            <a:extLst>
              <a:ext uri="{FF2B5EF4-FFF2-40B4-BE49-F238E27FC236}">
                <a16:creationId xmlns:a16="http://schemas.microsoft.com/office/drawing/2014/main" id="{F3EBB1D8-C243-467C-B703-FAD3B4480BDC}"/>
              </a:ext>
            </a:extLst>
          </p:cNvPr>
          <p:cNvSpPr>
            <a:spLocks noGrp="1"/>
          </p:cNvSpPr>
          <p:nvPr/>
        </p:nvSpPr>
        <p:spPr>
          <a:xfrm>
            <a:off x="6905625" y="1476375"/>
            <a:ext cx="4695825" cy="638175"/>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725" b="1">
                <a:solidFill>
                  <a:srgbClr val="103B64"/>
                </a:solidFill>
                <a:latin typeface="Arial"/>
                <a:ea typeface="Arial"/>
                <a:cs typeface="Arial"/>
              </a:defRPr>
            </a:defPPr>
          </a:lstStyle>
          <a:p>
            <a:pPr algn="ctr">
              <a:lnSpc>
                <a:spcPct val="103000"/>
              </a:lnSpc>
              <a:buNone/>
              <a:defRPr sz="1725" b="1">
                <a:solidFill>
                  <a:srgbClr val="103B64"/>
                </a:solidFill>
                <a:latin typeface="Arial"/>
                <a:ea typeface="Arial"/>
                <a:cs typeface="Arial"/>
              </a:defRPr>
            </a:pPr>
            <a:r>
              <a:rPr sz="1725" b="1">
                <a:solidFill>
                  <a:srgbClr val="103B64"/>
                </a:solidFill>
                <a:latin typeface="Arial"/>
                <a:ea typeface="Arial"/>
                <a:cs typeface="Arial"/>
              </a:rPr>
              <a:t>1,735 not yet assessed</a:t>
            </a:r>
          </a:p>
          <a:p>
            <a:pPr algn="ctr">
              <a:lnSpc>
                <a:spcPct val="103000"/>
              </a:lnSpc>
              <a:buNone/>
              <a:defRPr sz="1725" b="1">
                <a:solidFill>
                  <a:srgbClr val="103B64"/>
                </a:solidFill>
                <a:latin typeface="Arial"/>
                <a:ea typeface="Arial"/>
                <a:cs typeface="Arial"/>
              </a:defRPr>
            </a:pPr>
            <a:r>
              <a:rPr sz="1725" b="1">
                <a:solidFill>
                  <a:srgbClr val="103B64"/>
                </a:solidFill>
                <a:latin typeface="Arial"/>
                <a:ea typeface="Arial"/>
                <a:cs typeface="Arial"/>
              </a:rPr>
              <a:t>1 report not retrievable</a:t>
            </a:r>
          </a:p>
        </p:txBody>
      </p:sp>
      <p:sp>
        <p:nvSpPr>
          <p:cNvPr id="17" name="Rectangle 16">
            <a:extLst>
              <a:ext uri="{FF2B5EF4-FFF2-40B4-BE49-F238E27FC236}">
                <a16:creationId xmlns:a16="http://schemas.microsoft.com/office/drawing/2014/main" id="{F874DB7A-9CAA-49A1-9991-CA744B57F973}"/>
              </a:ext>
            </a:extLst>
          </p:cNvPr>
          <p:cNvSpPr>
            <a:spLocks noGrp="1"/>
          </p:cNvSpPr>
          <p:nvPr/>
        </p:nvSpPr>
        <p:spPr>
          <a:xfrm>
            <a:off x="6905625" y="2409825"/>
            <a:ext cx="4695825" cy="638175"/>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725" b="1">
                <a:solidFill>
                  <a:srgbClr val="103B64"/>
                </a:solidFill>
                <a:latin typeface="Arial"/>
                <a:ea typeface="Arial"/>
                <a:cs typeface="Arial"/>
              </a:defRPr>
            </a:defPPr>
          </a:lstStyle>
          <a:p>
            <a:pPr algn="ctr">
              <a:lnSpc>
                <a:spcPct val="103000"/>
              </a:lnSpc>
              <a:buNone/>
              <a:defRPr sz="1725" b="1">
                <a:solidFill>
                  <a:srgbClr val="103B64"/>
                </a:solidFill>
                <a:latin typeface="Arial"/>
                <a:ea typeface="Arial"/>
                <a:cs typeface="Arial"/>
              </a:defRPr>
            </a:pPr>
            <a:r>
              <a:rPr sz="1725" b="1">
                <a:solidFill>
                  <a:srgbClr val="103B64"/>
                </a:solidFill>
                <a:latin typeface="Arial"/>
                <a:ea typeface="Arial"/>
                <a:cs typeface="Arial"/>
              </a:rPr>
              <a:t>17 full-text exclusions</a:t>
            </a:r>
          </a:p>
        </p:txBody>
      </p:sp>
      <p:sp>
        <p:nvSpPr>
          <p:cNvPr id="19" name="Rectangle 18">
            <a:extLst>
              <a:ext uri="{FF2B5EF4-FFF2-40B4-BE49-F238E27FC236}">
                <a16:creationId xmlns:a16="http://schemas.microsoft.com/office/drawing/2014/main" id="{C829B022-5A7C-4722-8336-39A86E5B4488}"/>
              </a:ext>
            </a:extLst>
          </p:cNvPr>
          <p:cNvSpPr>
            <a:spLocks noGrp="1"/>
          </p:cNvSpPr>
          <p:nvPr/>
        </p:nvSpPr>
        <p:spPr>
          <a:xfrm>
            <a:off x="6905625" y="3343275"/>
            <a:ext cx="4695825" cy="638175"/>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725" b="1">
                <a:solidFill>
                  <a:srgbClr val="103B64"/>
                </a:solidFill>
                <a:latin typeface="Arial"/>
                <a:ea typeface="Arial"/>
                <a:cs typeface="Arial"/>
              </a:defRPr>
            </a:defPPr>
          </a:lstStyle>
          <a:p>
            <a:pPr algn="ctr">
              <a:lnSpc>
                <a:spcPct val="103000"/>
              </a:lnSpc>
              <a:buNone/>
              <a:defRPr sz="1725" b="1">
                <a:solidFill>
                  <a:srgbClr val="103B64"/>
                </a:solidFill>
                <a:latin typeface="Arial"/>
                <a:ea typeface="Arial"/>
                <a:cs typeface="Arial"/>
              </a:defRPr>
            </a:pPr>
            <a:r>
              <a:rPr sz="1725" b="1">
                <a:solidFill>
                  <a:srgbClr val="103B64"/>
                </a:solidFill>
                <a:latin typeface="Arial"/>
                <a:ea typeface="Arial"/>
                <a:cs typeface="Arial"/>
              </a:rPr>
              <a:t>3 secondary studies for background</a:t>
            </a:r>
          </a:p>
        </p:txBody>
      </p:sp>
      <p:sp>
        <p:nvSpPr>
          <p:cNvPr id="21" name="Rectangle 20">
            <a:extLst>
              <a:ext uri="{FF2B5EF4-FFF2-40B4-BE49-F238E27FC236}">
                <a16:creationId xmlns:a16="http://schemas.microsoft.com/office/drawing/2014/main" id="{9543FB6F-3D85-4348-A320-A24F127ABB1D}"/>
              </a:ext>
            </a:extLst>
          </p:cNvPr>
          <p:cNvSpPr>
            <a:spLocks noGrp="1"/>
          </p:cNvSpPr>
          <p:nvPr/>
        </p:nvSpPr>
        <p:spPr>
          <a:xfrm>
            <a:off x="6905625" y="4276725"/>
            <a:ext cx="4695825" cy="638175"/>
          </a:xfrm>
          <a:prstGeom prst="rect">
            <a:avLst/>
          </a:prstGeom>
          <a:solidFill>
            <a:srgbClr val="FFFFFF"/>
          </a:solidFill>
          <a:ln w="13335">
            <a:solidFill>
              <a:srgbClr val="DCE9F4"/>
            </a:solidFill>
            <a:prstDash val="solid"/>
          </a:ln>
        </p:spPr>
        <p:txBody>
          <a:bodyPr wrap="square" lIns="114300" tIns="47625" rIns="114300" bIns="47625" anchor="ctr">
            <a:noAutofit/>
          </a:bodyPr>
          <a:lstStyle>
            <a:defPPr algn="ctr">
              <a:defRPr sz="1725" b="1">
                <a:solidFill>
                  <a:srgbClr val="103B64"/>
                </a:solidFill>
                <a:latin typeface="Arial"/>
                <a:ea typeface="Arial"/>
                <a:cs typeface="Arial"/>
              </a:defRPr>
            </a:defPPr>
          </a:lstStyle>
          <a:p>
            <a:pPr algn="ctr">
              <a:lnSpc>
                <a:spcPct val="103000"/>
              </a:lnSpc>
              <a:buNone/>
              <a:defRPr sz="1725" b="1">
                <a:solidFill>
                  <a:srgbClr val="103B64"/>
                </a:solidFill>
                <a:latin typeface="Arial"/>
                <a:ea typeface="Arial"/>
                <a:cs typeface="Arial"/>
              </a:defRPr>
            </a:pPr>
            <a:r>
              <a:rPr sz="1725" b="1">
                <a:solidFill>
                  <a:srgbClr val="103B64"/>
                </a:solidFill>
                <a:latin typeface="Arial"/>
                <a:ea typeface="Arial"/>
                <a:cs typeface="Arial"/>
              </a:rPr>
              <a:t>19 supporting references outside the primary corpus</a:t>
            </a:r>
          </a:p>
        </p:txBody>
      </p:sp>
    </p:spTree>
    <p:extLst>
      <p:ext uri="{BB962C8B-B14F-4D97-AF65-F5344CB8AC3E}">
        <p14:creationId xmlns:p14="http://schemas.microsoft.com/office/powerpoint/2010/main" val="946520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headline">
            <a:extLst>
              <a:ext uri="{FF2B5EF4-FFF2-40B4-BE49-F238E27FC236}">
                <a16:creationId xmlns:a16="http://schemas.microsoft.com/office/drawing/2014/main" id="{4728717E-F00F-496E-81CF-1CC10DE63271}"/>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04 QUALITY ASSESSMENT AND EVIDENCE CODING</a:t>
            </a:r>
          </a:p>
        </p:txBody>
      </p:sp>
      <p:sp>
        <p:nvSpPr>
          <p:cNvPr id="2" name="Rectangle 1">
            <a:extLst>
              <a:ext uri="{FF2B5EF4-FFF2-40B4-BE49-F238E27FC236}">
                <a16:creationId xmlns:a16="http://schemas.microsoft.com/office/drawing/2014/main" id="{3EF5DB58-D95B-4FB8-9DAB-28E45D51512E}"/>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1CF1818E-501A-4BC8-9633-675A6D912C83}"/>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Quality inclusion uses QA1–QA4, while QA5–QA8 determine the evidence tier</a:t>
            </a:r>
          </a:p>
        </p:txBody>
      </p:sp>
      <p:sp>
        <p:nvSpPr>
          <p:cNvPr id="4" name="source-footer">
            <a:extLst>
              <a:ext uri="{FF2B5EF4-FFF2-40B4-BE49-F238E27FC236}">
                <a16:creationId xmlns:a16="http://schemas.microsoft.com/office/drawing/2014/main" id="{D5061767-5D8A-4FAF-A520-BA1593BA7AE8}"/>
              </a:ext>
            </a:extLst>
          </p:cNvPr>
          <p:cNvSpPr>
            <a:spLocks noGrp="1"/>
          </p:cNvSpPr>
          <p:nvPr/>
        </p:nvSpPr>
        <p:spPr>
          <a:xfrm>
            <a:off x="590550" y="6477000"/>
            <a:ext cx="10001250" cy="190500"/>
          </a:xfrm>
          <a:prstGeom prst="rect">
            <a:avLst/>
          </a:prstGeom>
          <a:noFill/>
          <a:ln w="0">
            <a:noFill/>
            <a:prstDash val="solid"/>
          </a:ln>
        </p:spPr>
        <p:txBody>
          <a:bodyPr wrap="square" lIns="0" tIns="0" rIns="0" bIns="0" anchor="ctr">
            <a:noAutofit/>
          </a:bodyPr>
          <a:lstStyle>
            <a:defPPr algn="l">
              <a:defRPr sz="975" b="0">
                <a:solidFill>
                  <a:srgbClr val="56718B"/>
                </a:solidFill>
                <a:latin typeface="Arial"/>
                <a:ea typeface="Arial"/>
                <a:cs typeface="Arial"/>
              </a:defRPr>
            </a:defPPr>
          </a:lstStyle>
          <a:p>
            <a:pPr algn="l">
              <a:lnSpc>
                <a:spcPct val="106000"/>
              </a:lnSpc>
              <a:buNone/>
              <a:defRPr sz="975" b="0">
                <a:solidFill>
                  <a:srgbClr val="56718B"/>
                </a:solidFill>
                <a:latin typeface="Arial"/>
                <a:ea typeface="Arial"/>
                <a:cs typeface="Arial"/>
              </a:defRPr>
            </a:pPr>
            <a:r>
              <a:rPr sz="975" b="0">
                <a:solidFill>
                  <a:srgbClr val="56718B"/>
                </a:solidFill>
                <a:latin typeface="Arial"/>
                <a:ea typeface="Arial"/>
                <a:cs typeface="Arial"/>
              </a:rPr>
              <a:t>Report checkpoint: 10 September 2026</a:t>
            </a:r>
          </a:p>
        </p:txBody>
      </p:sp>
      <p:sp>
        <p:nvSpPr>
          <p:cNvPr id="5" name="page-number">
            <a:extLst>
              <a:ext uri="{FF2B5EF4-FFF2-40B4-BE49-F238E27FC236}">
                <a16:creationId xmlns:a16="http://schemas.microsoft.com/office/drawing/2014/main" id="{C1D2C059-7E18-4C74-832B-29FBDF27D113}"/>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10</a:t>
            </a:r>
          </a:p>
        </p:txBody>
      </p:sp>
      <p:graphicFrame>
        <p:nvGraphicFramePr>
          <p:cNvPr id="6" name="Table 5">
            <a:extLst>
              <a:ext uri="{FF2B5EF4-FFF2-40B4-BE49-F238E27FC236}">
                <a16:creationId xmlns:a16="http://schemas.microsoft.com/office/drawing/2014/main" id="{BA44CA7F-5C2A-4C6B-9DB4-610ADE7FC381}"/>
              </a:ext>
            </a:extLst>
          </p:cNvPr>
          <p:cNvGraphicFramePr/>
          <p:nvPr/>
        </p:nvGraphicFramePr>
        <p:xfrm>
          <a:off x="590550" y="1619250"/>
          <a:ext cx="7524750" cy="2800350"/>
        </p:xfrm>
        <a:graphic>
          <a:graphicData uri="http://schemas.openxmlformats.org/drawingml/2006/table">
            <a:tbl>
              <a:tblPr>
                <a:tableStyleId>{5C22544A-7EE6-4342-B048-85BDC9FD1C3A}</a:tableStyleId>
              </a:tblPr>
              <a:tblGrid>
                <a:gridCol w="990600">
                  <a:extLst>
                    <a:ext uri="{9D8B030D-6E8A-4147-A177-3AD203B41FA5}">
                      <a16:colId xmlns:a16="http://schemas.microsoft.com/office/drawing/2014/main" val="20000"/>
                    </a:ext>
                  </a:extLst>
                </a:gridCol>
                <a:gridCol w="6534150">
                  <a:extLst>
                    <a:ext uri="{9D8B030D-6E8A-4147-A177-3AD203B41FA5}">
                      <a16:colId xmlns:a16="http://schemas.microsoft.com/office/drawing/2014/main" val="20001"/>
                    </a:ext>
                  </a:extLst>
                </a:gridCol>
              </a:tblGrid>
              <a:tr h="560070">
                <a:tc>
                  <a:txBody>
                    <a:bodyPr/>
                    <a:lstStyle/>
                    <a:p>
                      <a:pPr algn="l">
                        <a:lnSpc>
                          <a:spcPct val="100000"/>
                        </a:lnSpc>
                        <a:buNone/>
                      </a:pPr>
                      <a:r>
                        <a:rPr sz="1725" b="1">
                          <a:solidFill>
                            <a:srgbClr val="FFFFFF"/>
                          </a:solidFill>
                          <a:latin typeface="Arial"/>
                          <a:ea typeface="Arial"/>
                          <a:cs typeface="Arial"/>
                        </a:rPr>
                        <a:t>Item</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725" b="1">
                          <a:solidFill>
                            <a:srgbClr val="FFFFFF"/>
                          </a:solidFill>
                          <a:latin typeface="Arial"/>
                          <a:ea typeface="Arial"/>
                          <a:cs typeface="Arial"/>
                        </a:rPr>
                        <a:t>Inclusion question</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560070">
                <a:tc>
                  <a:txBody>
                    <a:bodyPr/>
                    <a:lstStyle/>
                    <a:p>
                      <a:pPr algn="l">
                        <a:lnSpc>
                          <a:spcPct val="100000"/>
                        </a:lnSpc>
                        <a:buNone/>
                      </a:pPr>
                      <a:r>
                        <a:rPr sz="1725" b="0">
                          <a:solidFill>
                            <a:srgbClr val="24415C"/>
                          </a:solidFill>
                          <a:latin typeface="Arial"/>
                          <a:ea typeface="Arial"/>
                          <a:cs typeface="Arial"/>
                        </a:rPr>
                        <a:t>QA1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sz="1725" b="0">
                          <a:solidFill>
                            <a:srgbClr val="24415C"/>
                          </a:solidFill>
                          <a:latin typeface="Arial"/>
                          <a:ea typeface="Arial"/>
                          <a:cs typeface="Arial"/>
                        </a:rPr>
                        <a:t>Patient consent or consent-governed healthcare access?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1"/>
                  </a:ext>
                </a:extLst>
              </a:tr>
              <a:tr h="560070">
                <a:tc>
                  <a:txBody>
                    <a:bodyPr/>
                    <a:lstStyle/>
                    <a:p>
                      <a:pPr algn="l">
                        <a:lnSpc>
                          <a:spcPct val="100000"/>
                        </a:lnSpc>
                        <a:buNone/>
                      </a:pPr>
                      <a:r>
                        <a:rPr sz="1725" b="0">
                          <a:solidFill>
                            <a:srgbClr val="24415C"/>
                          </a:solidFill>
                          <a:latin typeface="Arial"/>
                          <a:ea typeface="Arial"/>
                          <a:cs typeface="Arial"/>
                        </a:rPr>
                        <a:t>QA2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725" b="0">
                          <a:solidFill>
                            <a:srgbClr val="24415C"/>
                          </a:solidFill>
                          <a:latin typeface="Arial"/>
                          <a:ea typeface="Arial"/>
                          <a:cs typeface="Arial"/>
                        </a:rPr>
                        <a:t>An authorisation or access-decision mechanism?</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10002"/>
                  </a:ext>
                </a:extLst>
              </a:tr>
              <a:tr h="560070">
                <a:tc>
                  <a:txBody>
                    <a:bodyPr/>
                    <a:lstStyle/>
                    <a:p>
                      <a:pPr algn="l">
                        <a:lnSpc>
                          <a:spcPct val="100000"/>
                        </a:lnSpc>
                        <a:buNone/>
                      </a:pPr>
                      <a:r>
                        <a:rPr sz="1725" b="0">
                          <a:solidFill>
                            <a:srgbClr val="24415C"/>
                          </a:solidFill>
                          <a:latin typeface="Arial"/>
                          <a:ea typeface="Arial"/>
                          <a:cs typeface="Arial"/>
                        </a:rPr>
                        <a:t>QA3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l">
                        <a:lnSpc>
                          <a:spcPct val="100000"/>
                        </a:lnSpc>
                        <a:buNone/>
                      </a:pPr>
                      <a:r>
                        <a:rPr sz="1725" b="0">
                          <a:solidFill>
                            <a:srgbClr val="24415C"/>
                          </a:solidFill>
                          <a:latin typeface="Arial"/>
                          <a:ea typeface="Arial"/>
                          <a:cs typeface="Arial"/>
                        </a:rPr>
                        <a:t>A framework, model, protocol or architecture?</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extLst>
                  <a:ext uri="{0D108BD9-81ED-4DB2-BD59-A6C34878D82A}">
                    <a16:rowId xmlns:a16="http://schemas.microsoft.com/office/drawing/2014/main" val="10003"/>
                  </a:ext>
                </a:extLst>
              </a:tr>
              <a:tr h="560070">
                <a:tc>
                  <a:txBody>
                    <a:bodyPr/>
                    <a:lstStyle/>
                    <a:p>
                      <a:pPr algn="l">
                        <a:lnSpc>
                          <a:spcPct val="100000"/>
                        </a:lnSpc>
                        <a:buNone/>
                      </a:pPr>
                      <a:r>
                        <a:rPr sz="1725" b="0">
                          <a:solidFill>
                            <a:srgbClr val="24415C"/>
                          </a:solidFill>
                          <a:latin typeface="Arial"/>
                          <a:ea typeface="Arial"/>
                          <a:cs typeface="Arial"/>
                        </a:rPr>
                        <a:t>QA4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l">
                        <a:lnSpc>
                          <a:spcPct val="100000"/>
                        </a:lnSpc>
                        <a:buNone/>
                      </a:pPr>
                      <a:r>
                        <a:rPr sz="1725" b="0">
                          <a:solidFill>
                            <a:srgbClr val="24415C"/>
                          </a:solidFill>
                          <a:latin typeface="Arial"/>
                          <a:ea typeface="Arial"/>
                          <a:cs typeface="Arial"/>
                        </a:rPr>
                        <a:t>Validation by proof of concept or implementation?</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extLst>
                  <a:ext uri="{0D108BD9-81ED-4DB2-BD59-A6C34878D82A}">
                    <a16:rowId xmlns:a16="http://schemas.microsoft.com/office/drawing/2014/main" val="10004"/>
                  </a:ext>
                </a:extLst>
              </a:tr>
            </a:tbl>
          </a:graphicData>
        </a:graphic>
      </p:graphicFrame>
      <p:sp>
        <p:nvSpPr>
          <p:cNvPr id="10" name="Rectangle 9">
            <a:extLst>
              <a:ext uri="{FF2B5EF4-FFF2-40B4-BE49-F238E27FC236}">
                <a16:creationId xmlns:a16="http://schemas.microsoft.com/office/drawing/2014/main" id="{FA6E2224-F5A4-4502-86FA-580568C6FEF8}"/>
              </a:ext>
            </a:extLst>
          </p:cNvPr>
          <p:cNvSpPr>
            <a:spLocks noGrp="1"/>
          </p:cNvSpPr>
          <p:nvPr/>
        </p:nvSpPr>
        <p:spPr>
          <a:xfrm>
            <a:off x="590550" y="4800600"/>
            <a:ext cx="11010900" cy="12383"/>
          </a:xfrm>
          <a:prstGeom prst="rect">
            <a:avLst/>
          </a:prstGeom>
          <a:solidFill>
            <a:srgbClr val="DCE9F4"/>
          </a:solidFill>
          <a:ln w="13335">
            <a:solidFill>
              <a:srgbClr val="DCE9F4"/>
            </a:solidFill>
            <a:prstDash val="solid"/>
          </a:ln>
        </p:spPr>
        <p:txBody>
          <a:bodyPr/>
          <a:lstStyle/>
          <a:p>
            <a:endParaRPr lang="en-AU"/>
          </a:p>
        </p:txBody>
      </p:sp>
    </p:spTree>
    <p:extLst>
      <p:ext uri="{BB962C8B-B14F-4D97-AF65-F5344CB8AC3E}">
        <p14:creationId xmlns:p14="http://schemas.microsoft.com/office/powerpoint/2010/main" val="1517065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headline">
            <a:extLst>
              <a:ext uri="{FF2B5EF4-FFF2-40B4-BE49-F238E27FC236}">
                <a16:creationId xmlns:a16="http://schemas.microsoft.com/office/drawing/2014/main" id="{876831A3-4733-4D7B-91B5-947ED7533A80}"/>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SIX RESEARCH STREAMS</a:t>
            </a:r>
          </a:p>
        </p:txBody>
      </p:sp>
      <p:sp>
        <p:nvSpPr>
          <p:cNvPr id="2" name="Rectangle 1">
            <a:extLst>
              <a:ext uri="{FF2B5EF4-FFF2-40B4-BE49-F238E27FC236}">
                <a16:creationId xmlns:a16="http://schemas.microsoft.com/office/drawing/2014/main" id="{EF9F5ECF-5113-4777-A02B-E56D8BDD3AD0}"/>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9591B631-699D-4536-A026-502A38476DA3}"/>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Each of the 25 primary studies belongs to one thematic stream</a:t>
            </a:r>
          </a:p>
        </p:txBody>
      </p:sp>
      <p:sp>
        <p:nvSpPr>
          <p:cNvPr id="4" name="source-footer">
            <a:extLst>
              <a:ext uri="{FF2B5EF4-FFF2-40B4-BE49-F238E27FC236}">
                <a16:creationId xmlns:a16="http://schemas.microsoft.com/office/drawing/2014/main" id="{E7F589D9-ED7A-4EE2-9445-25F7449D3068}"/>
              </a:ext>
            </a:extLst>
          </p:cNvPr>
          <p:cNvSpPr>
            <a:spLocks noGrp="1"/>
          </p:cNvSpPr>
          <p:nvPr/>
        </p:nvSpPr>
        <p:spPr>
          <a:xfrm>
            <a:off x="590550" y="6477000"/>
            <a:ext cx="10001250" cy="190500"/>
          </a:xfrm>
          <a:prstGeom prst="rect">
            <a:avLst/>
          </a:prstGeom>
          <a:noFill/>
          <a:ln w="0">
            <a:noFill/>
            <a:prstDash val="solid"/>
          </a:ln>
        </p:spPr>
        <p:txBody>
          <a:bodyPr wrap="square" lIns="0" tIns="0" rIns="0" bIns="0" anchor="ctr">
            <a:noAutofit/>
          </a:bodyPr>
          <a:lstStyle>
            <a:defPPr algn="l">
              <a:defRPr sz="975" b="0">
                <a:solidFill>
                  <a:srgbClr val="56718B"/>
                </a:solidFill>
                <a:latin typeface="Arial"/>
                <a:ea typeface="Arial"/>
                <a:cs typeface="Arial"/>
              </a:defRPr>
            </a:defPPr>
          </a:lstStyle>
          <a:p>
            <a:pPr algn="l">
              <a:lnSpc>
                <a:spcPct val="106000"/>
              </a:lnSpc>
              <a:buNone/>
              <a:defRPr sz="975" b="0">
                <a:solidFill>
                  <a:srgbClr val="56718B"/>
                </a:solidFill>
                <a:latin typeface="Arial"/>
                <a:ea typeface="Arial"/>
                <a:cs typeface="Arial"/>
              </a:defRPr>
            </a:pPr>
            <a:r>
              <a:rPr sz="975" b="0">
                <a:solidFill>
                  <a:srgbClr val="56718B"/>
                </a:solidFill>
                <a:latin typeface="Arial"/>
                <a:ea typeface="Arial"/>
                <a:cs typeface="Arial"/>
              </a:rPr>
              <a:t>Report checkpoint: 10 September 2026</a:t>
            </a:r>
          </a:p>
        </p:txBody>
      </p:sp>
      <p:sp>
        <p:nvSpPr>
          <p:cNvPr id="5" name="page-number">
            <a:extLst>
              <a:ext uri="{FF2B5EF4-FFF2-40B4-BE49-F238E27FC236}">
                <a16:creationId xmlns:a16="http://schemas.microsoft.com/office/drawing/2014/main" id="{BD3D7B58-3B0C-4E91-B3A3-D54A7B7E80C1}"/>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11</a:t>
            </a:r>
          </a:p>
        </p:txBody>
      </p:sp>
      <p:sp>
        <p:nvSpPr>
          <p:cNvPr id="6" name="text">
            <a:extLst>
              <a:ext uri="{FF2B5EF4-FFF2-40B4-BE49-F238E27FC236}">
                <a16:creationId xmlns:a16="http://schemas.microsoft.com/office/drawing/2014/main" id="{A04A8D79-A05F-445F-9C59-30400DF85CE9}"/>
              </a:ext>
            </a:extLst>
          </p:cNvPr>
          <p:cNvSpPr>
            <a:spLocks noGrp="1"/>
          </p:cNvSpPr>
          <p:nvPr/>
        </p:nvSpPr>
        <p:spPr>
          <a:xfrm>
            <a:off x="590550" y="1619250"/>
            <a:ext cx="1057275" cy="333375"/>
          </a:xfrm>
          <a:prstGeom prst="rect">
            <a:avLst/>
          </a:prstGeom>
          <a:noFill/>
          <a:ln w="0">
            <a:noFill/>
            <a:prstDash val="solid"/>
          </a:ln>
        </p:spPr>
        <p:txBody>
          <a:bodyPr wrap="square" lIns="0" tIns="0" rIns="0" bIns="0" anchor="ctr">
            <a:noAutofit/>
          </a:bodyPr>
          <a:lstStyle>
            <a:defPPr algn="l">
              <a:defRPr sz="1725" b="1">
                <a:solidFill>
                  <a:srgbClr val="146BA8"/>
                </a:solidFill>
                <a:latin typeface="Arial"/>
                <a:ea typeface="Arial"/>
                <a:cs typeface="Arial"/>
              </a:defRPr>
            </a:defPPr>
          </a:lstStyle>
          <a:p>
            <a:pPr algn="l">
              <a:lnSpc>
                <a:spcPct val="106000"/>
              </a:lnSpc>
              <a:buNone/>
              <a:defRPr sz="1725" b="1">
                <a:solidFill>
                  <a:srgbClr val="146BA8"/>
                </a:solidFill>
                <a:latin typeface="Arial"/>
                <a:ea typeface="Arial"/>
                <a:cs typeface="Arial"/>
              </a:defRPr>
            </a:pPr>
            <a:r>
              <a:rPr sz="1725" b="1">
                <a:solidFill>
                  <a:srgbClr val="146BA8"/>
                </a:solidFill>
                <a:latin typeface="Arial"/>
                <a:ea typeface="Arial"/>
                <a:cs typeface="Arial"/>
              </a:rPr>
              <a:t>Req 1</a:t>
            </a:r>
          </a:p>
        </p:txBody>
      </p:sp>
      <p:sp>
        <p:nvSpPr>
          <p:cNvPr id="7" name="text">
            <a:extLst>
              <a:ext uri="{FF2B5EF4-FFF2-40B4-BE49-F238E27FC236}">
                <a16:creationId xmlns:a16="http://schemas.microsoft.com/office/drawing/2014/main" id="{DDB36B46-EE57-4927-9D66-6DEF1AD3C378}"/>
              </a:ext>
            </a:extLst>
          </p:cNvPr>
          <p:cNvSpPr>
            <a:spLocks noGrp="1"/>
          </p:cNvSpPr>
          <p:nvPr/>
        </p:nvSpPr>
        <p:spPr>
          <a:xfrm>
            <a:off x="1809750" y="1619250"/>
            <a:ext cx="3981450" cy="3333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Consent representation</a:t>
            </a:r>
          </a:p>
        </p:txBody>
      </p:sp>
      <p:sp>
        <p:nvSpPr>
          <p:cNvPr id="8" name="text">
            <a:extLst>
              <a:ext uri="{FF2B5EF4-FFF2-40B4-BE49-F238E27FC236}">
                <a16:creationId xmlns:a16="http://schemas.microsoft.com/office/drawing/2014/main" id="{EF046072-2CBF-45D5-A9BB-2DD40358A58B}"/>
              </a:ext>
            </a:extLst>
          </p:cNvPr>
          <p:cNvSpPr>
            <a:spLocks noGrp="1"/>
          </p:cNvSpPr>
          <p:nvPr/>
        </p:nvSpPr>
        <p:spPr>
          <a:xfrm>
            <a:off x="6057900" y="1619250"/>
            <a:ext cx="685800" cy="342900"/>
          </a:xfrm>
          <a:prstGeom prst="rect">
            <a:avLst/>
          </a:prstGeom>
          <a:noFill/>
          <a:ln w="0">
            <a:noFill/>
            <a:prstDash val="solid"/>
          </a:ln>
        </p:spPr>
        <p:txBody>
          <a:bodyPr wrap="square" lIns="0" tIns="0" rIns="0" bIns="0" anchor="ctr">
            <a:noAutofit/>
          </a:bodyPr>
          <a:lstStyle>
            <a:defPPr algn="ctr">
              <a:defRPr sz="2175" b="1">
                <a:solidFill>
                  <a:srgbClr val="146BA8"/>
                </a:solidFill>
                <a:latin typeface="Arial"/>
                <a:ea typeface="Arial"/>
                <a:cs typeface="Arial"/>
              </a:defRPr>
            </a:defPPr>
          </a:lstStyle>
          <a:p>
            <a:pPr algn="ctr">
              <a:lnSpc>
                <a:spcPct val="106000"/>
              </a:lnSpc>
              <a:buNone/>
              <a:defRPr sz="2175" b="1">
                <a:solidFill>
                  <a:srgbClr val="146BA8"/>
                </a:solidFill>
                <a:latin typeface="Arial"/>
                <a:ea typeface="Arial"/>
                <a:cs typeface="Arial"/>
              </a:defRPr>
            </a:pPr>
            <a:r>
              <a:rPr sz="2175" b="1">
                <a:solidFill>
                  <a:srgbClr val="146BA8"/>
                </a:solidFill>
                <a:latin typeface="Arial"/>
                <a:ea typeface="Arial"/>
                <a:cs typeface="Arial"/>
              </a:rPr>
              <a:t>3</a:t>
            </a:r>
          </a:p>
        </p:txBody>
      </p:sp>
      <p:sp>
        <p:nvSpPr>
          <p:cNvPr id="9" name="text">
            <a:extLst>
              <a:ext uri="{FF2B5EF4-FFF2-40B4-BE49-F238E27FC236}">
                <a16:creationId xmlns:a16="http://schemas.microsoft.com/office/drawing/2014/main" id="{245BF9D3-DEB3-4289-ADDF-2F71A3E25EB5}"/>
              </a:ext>
            </a:extLst>
          </p:cNvPr>
          <p:cNvSpPr>
            <a:spLocks noGrp="1"/>
          </p:cNvSpPr>
          <p:nvPr/>
        </p:nvSpPr>
        <p:spPr>
          <a:xfrm>
            <a:off x="7153275" y="1619250"/>
            <a:ext cx="4448175" cy="4857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An evaluable consent object</a:t>
            </a:r>
          </a:p>
        </p:txBody>
      </p:sp>
      <p:sp>
        <p:nvSpPr>
          <p:cNvPr id="10" name="Rectangle 9">
            <a:extLst>
              <a:ext uri="{FF2B5EF4-FFF2-40B4-BE49-F238E27FC236}">
                <a16:creationId xmlns:a16="http://schemas.microsoft.com/office/drawing/2014/main" id="{BF0F71A1-6A6F-4B0F-80AB-43A9651B9058}"/>
              </a:ext>
            </a:extLst>
          </p:cNvPr>
          <p:cNvSpPr>
            <a:spLocks noGrp="1"/>
          </p:cNvSpPr>
          <p:nvPr/>
        </p:nvSpPr>
        <p:spPr>
          <a:xfrm>
            <a:off x="590550" y="2228850"/>
            <a:ext cx="11010900" cy="12383"/>
          </a:xfrm>
          <a:prstGeom prst="rect">
            <a:avLst/>
          </a:prstGeom>
          <a:solidFill>
            <a:srgbClr val="DCE9F4"/>
          </a:solidFill>
          <a:ln w="13335">
            <a:solidFill>
              <a:srgbClr val="DCE9F4"/>
            </a:solidFill>
            <a:prstDash val="solid"/>
          </a:ln>
        </p:spPr>
        <p:txBody>
          <a:bodyPr/>
          <a:lstStyle/>
          <a:p>
            <a:endParaRPr lang="en-AU"/>
          </a:p>
        </p:txBody>
      </p:sp>
      <p:sp>
        <p:nvSpPr>
          <p:cNvPr id="11" name="text">
            <a:extLst>
              <a:ext uri="{FF2B5EF4-FFF2-40B4-BE49-F238E27FC236}">
                <a16:creationId xmlns:a16="http://schemas.microsoft.com/office/drawing/2014/main" id="{ACD853CF-9D64-4010-9D96-0D6A72FD8E0A}"/>
              </a:ext>
            </a:extLst>
          </p:cNvPr>
          <p:cNvSpPr>
            <a:spLocks noGrp="1"/>
          </p:cNvSpPr>
          <p:nvPr/>
        </p:nvSpPr>
        <p:spPr>
          <a:xfrm>
            <a:off x="590550" y="2362200"/>
            <a:ext cx="1057275" cy="333375"/>
          </a:xfrm>
          <a:prstGeom prst="rect">
            <a:avLst/>
          </a:prstGeom>
          <a:noFill/>
          <a:ln w="0">
            <a:noFill/>
            <a:prstDash val="solid"/>
          </a:ln>
        </p:spPr>
        <p:txBody>
          <a:bodyPr wrap="square" lIns="0" tIns="0" rIns="0" bIns="0" anchor="ctr">
            <a:noAutofit/>
          </a:bodyPr>
          <a:lstStyle>
            <a:defPPr algn="l">
              <a:defRPr sz="1725" b="1">
                <a:solidFill>
                  <a:srgbClr val="146BA8"/>
                </a:solidFill>
                <a:latin typeface="Arial"/>
                <a:ea typeface="Arial"/>
                <a:cs typeface="Arial"/>
              </a:defRPr>
            </a:defPPr>
          </a:lstStyle>
          <a:p>
            <a:pPr algn="l">
              <a:lnSpc>
                <a:spcPct val="106000"/>
              </a:lnSpc>
              <a:buNone/>
              <a:defRPr sz="1725" b="1">
                <a:solidFill>
                  <a:srgbClr val="146BA8"/>
                </a:solidFill>
                <a:latin typeface="Arial"/>
                <a:ea typeface="Arial"/>
                <a:cs typeface="Arial"/>
              </a:defRPr>
            </a:pPr>
            <a:r>
              <a:rPr sz="1725" b="1">
                <a:solidFill>
                  <a:srgbClr val="146BA8"/>
                </a:solidFill>
                <a:latin typeface="Arial"/>
                <a:ea typeface="Arial"/>
                <a:cs typeface="Arial"/>
              </a:rPr>
              <a:t>Req 2</a:t>
            </a:r>
          </a:p>
        </p:txBody>
      </p:sp>
      <p:sp>
        <p:nvSpPr>
          <p:cNvPr id="12" name="text">
            <a:extLst>
              <a:ext uri="{FF2B5EF4-FFF2-40B4-BE49-F238E27FC236}">
                <a16:creationId xmlns:a16="http://schemas.microsoft.com/office/drawing/2014/main" id="{8BD8E4B1-B43F-43F8-A966-A01E4BC3DDE9}"/>
              </a:ext>
            </a:extLst>
          </p:cNvPr>
          <p:cNvSpPr>
            <a:spLocks noGrp="1"/>
          </p:cNvSpPr>
          <p:nvPr/>
        </p:nvSpPr>
        <p:spPr>
          <a:xfrm>
            <a:off x="1809750" y="2362200"/>
            <a:ext cx="3981450" cy="3333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Identity and authority</a:t>
            </a:r>
          </a:p>
        </p:txBody>
      </p:sp>
      <p:sp>
        <p:nvSpPr>
          <p:cNvPr id="13" name="text">
            <a:extLst>
              <a:ext uri="{FF2B5EF4-FFF2-40B4-BE49-F238E27FC236}">
                <a16:creationId xmlns:a16="http://schemas.microsoft.com/office/drawing/2014/main" id="{E243785B-2902-40DA-8716-19135FDE3CB9}"/>
              </a:ext>
            </a:extLst>
          </p:cNvPr>
          <p:cNvSpPr>
            <a:spLocks noGrp="1"/>
          </p:cNvSpPr>
          <p:nvPr/>
        </p:nvSpPr>
        <p:spPr>
          <a:xfrm>
            <a:off x="6057900" y="2362200"/>
            <a:ext cx="685800" cy="342900"/>
          </a:xfrm>
          <a:prstGeom prst="rect">
            <a:avLst/>
          </a:prstGeom>
          <a:noFill/>
          <a:ln w="0">
            <a:noFill/>
            <a:prstDash val="solid"/>
          </a:ln>
        </p:spPr>
        <p:txBody>
          <a:bodyPr wrap="square" lIns="0" tIns="0" rIns="0" bIns="0" anchor="ctr">
            <a:noAutofit/>
          </a:bodyPr>
          <a:lstStyle>
            <a:defPPr algn="ctr">
              <a:defRPr sz="2175" b="1">
                <a:solidFill>
                  <a:srgbClr val="146BA8"/>
                </a:solidFill>
                <a:latin typeface="Arial"/>
                <a:ea typeface="Arial"/>
                <a:cs typeface="Arial"/>
              </a:defRPr>
            </a:defPPr>
          </a:lstStyle>
          <a:p>
            <a:pPr algn="ctr">
              <a:lnSpc>
                <a:spcPct val="106000"/>
              </a:lnSpc>
              <a:buNone/>
              <a:defRPr sz="2175" b="1">
                <a:solidFill>
                  <a:srgbClr val="146BA8"/>
                </a:solidFill>
                <a:latin typeface="Arial"/>
                <a:ea typeface="Arial"/>
                <a:cs typeface="Arial"/>
              </a:defRPr>
            </a:pPr>
            <a:r>
              <a:rPr sz="2175" b="1">
                <a:solidFill>
                  <a:srgbClr val="146BA8"/>
                </a:solidFill>
                <a:latin typeface="Arial"/>
                <a:ea typeface="Arial"/>
                <a:cs typeface="Arial"/>
              </a:rPr>
              <a:t>3</a:t>
            </a:r>
          </a:p>
        </p:txBody>
      </p:sp>
      <p:sp>
        <p:nvSpPr>
          <p:cNvPr id="14" name="text">
            <a:extLst>
              <a:ext uri="{FF2B5EF4-FFF2-40B4-BE49-F238E27FC236}">
                <a16:creationId xmlns:a16="http://schemas.microsoft.com/office/drawing/2014/main" id="{C52564C0-F009-4D8C-BB10-5FBBEB17E176}"/>
              </a:ext>
            </a:extLst>
          </p:cNvPr>
          <p:cNvSpPr>
            <a:spLocks noGrp="1"/>
          </p:cNvSpPr>
          <p:nvPr/>
        </p:nvSpPr>
        <p:spPr>
          <a:xfrm>
            <a:off x="7153275" y="2362200"/>
            <a:ext cx="4448175" cy="4857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Participant identity and legitimate role</a:t>
            </a:r>
          </a:p>
        </p:txBody>
      </p:sp>
      <p:sp>
        <p:nvSpPr>
          <p:cNvPr id="15" name="Rectangle 14">
            <a:extLst>
              <a:ext uri="{FF2B5EF4-FFF2-40B4-BE49-F238E27FC236}">
                <a16:creationId xmlns:a16="http://schemas.microsoft.com/office/drawing/2014/main" id="{57792446-7BBB-4632-89ED-60E36927FB08}"/>
              </a:ext>
            </a:extLst>
          </p:cNvPr>
          <p:cNvSpPr>
            <a:spLocks noGrp="1"/>
          </p:cNvSpPr>
          <p:nvPr/>
        </p:nvSpPr>
        <p:spPr>
          <a:xfrm>
            <a:off x="590550" y="2971800"/>
            <a:ext cx="11010900" cy="12383"/>
          </a:xfrm>
          <a:prstGeom prst="rect">
            <a:avLst/>
          </a:prstGeom>
          <a:solidFill>
            <a:srgbClr val="DCE9F4"/>
          </a:solidFill>
          <a:ln w="13335">
            <a:solidFill>
              <a:srgbClr val="DCE9F4"/>
            </a:solidFill>
            <a:prstDash val="solid"/>
          </a:ln>
        </p:spPr>
        <p:txBody>
          <a:bodyPr/>
          <a:lstStyle/>
          <a:p>
            <a:endParaRPr lang="en-AU"/>
          </a:p>
        </p:txBody>
      </p:sp>
      <p:sp>
        <p:nvSpPr>
          <p:cNvPr id="16" name="text">
            <a:extLst>
              <a:ext uri="{FF2B5EF4-FFF2-40B4-BE49-F238E27FC236}">
                <a16:creationId xmlns:a16="http://schemas.microsoft.com/office/drawing/2014/main" id="{E9F55FA6-9554-4DB2-B189-ED10104251A7}"/>
              </a:ext>
            </a:extLst>
          </p:cNvPr>
          <p:cNvSpPr>
            <a:spLocks noGrp="1"/>
          </p:cNvSpPr>
          <p:nvPr/>
        </p:nvSpPr>
        <p:spPr>
          <a:xfrm>
            <a:off x="590550" y="3105150"/>
            <a:ext cx="1057275" cy="333375"/>
          </a:xfrm>
          <a:prstGeom prst="rect">
            <a:avLst/>
          </a:prstGeom>
          <a:noFill/>
          <a:ln w="0">
            <a:noFill/>
            <a:prstDash val="solid"/>
          </a:ln>
        </p:spPr>
        <p:txBody>
          <a:bodyPr wrap="square" lIns="0" tIns="0" rIns="0" bIns="0" anchor="ctr">
            <a:noAutofit/>
          </a:bodyPr>
          <a:lstStyle>
            <a:defPPr algn="l">
              <a:defRPr sz="1725" b="1">
                <a:solidFill>
                  <a:srgbClr val="146BA8"/>
                </a:solidFill>
                <a:latin typeface="Arial"/>
                <a:ea typeface="Arial"/>
                <a:cs typeface="Arial"/>
              </a:defRPr>
            </a:defPPr>
          </a:lstStyle>
          <a:p>
            <a:pPr algn="l">
              <a:lnSpc>
                <a:spcPct val="106000"/>
              </a:lnSpc>
              <a:buNone/>
              <a:defRPr sz="1725" b="1">
                <a:solidFill>
                  <a:srgbClr val="146BA8"/>
                </a:solidFill>
                <a:latin typeface="Arial"/>
                <a:ea typeface="Arial"/>
                <a:cs typeface="Arial"/>
              </a:defRPr>
            </a:pPr>
            <a:r>
              <a:rPr sz="1725" b="1">
                <a:solidFill>
                  <a:srgbClr val="146BA8"/>
                </a:solidFill>
                <a:latin typeface="Arial"/>
                <a:ea typeface="Arial"/>
                <a:cs typeface="Arial"/>
              </a:rPr>
              <a:t>Req 3</a:t>
            </a:r>
          </a:p>
        </p:txBody>
      </p:sp>
      <p:sp>
        <p:nvSpPr>
          <p:cNvPr id="17" name="text">
            <a:extLst>
              <a:ext uri="{FF2B5EF4-FFF2-40B4-BE49-F238E27FC236}">
                <a16:creationId xmlns:a16="http://schemas.microsoft.com/office/drawing/2014/main" id="{D70C0890-A00E-4379-84AC-7F3CC42A7ABE}"/>
              </a:ext>
            </a:extLst>
          </p:cNvPr>
          <p:cNvSpPr>
            <a:spLocks noGrp="1"/>
          </p:cNvSpPr>
          <p:nvPr/>
        </p:nvSpPr>
        <p:spPr>
          <a:xfrm>
            <a:off x="1809750" y="3105150"/>
            <a:ext cx="3981450" cy="3333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Multi-party authorisation</a:t>
            </a:r>
          </a:p>
        </p:txBody>
      </p:sp>
      <p:sp>
        <p:nvSpPr>
          <p:cNvPr id="18" name="text">
            <a:extLst>
              <a:ext uri="{FF2B5EF4-FFF2-40B4-BE49-F238E27FC236}">
                <a16:creationId xmlns:a16="http://schemas.microsoft.com/office/drawing/2014/main" id="{D2525BE1-76FF-4344-82D6-F9D88E58369E}"/>
              </a:ext>
            </a:extLst>
          </p:cNvPr>
          <p:cNvSpPr>
            <a:spLocks noGrp="1"/>
          </p:cNvSpPr>
          <p:nvPr/>
        </p:nvSpPr>
        <p:spPr>
          <a:xfrm>
            <a:off x="6057900" y="3105150"/>
            <a:ext cx="685800" cy="342900"/>
          </a:xfrm>
          <a:prstGeom prst="rect">
            <a:avLst/>
          </a:prstGeom>
          <a:noFill/>
          <a:ln w="0">
            <a:noFill/>
            <a:prstDash val="solid"/>
          </a:ln>
        </p:spPr>
        <p:txBody>
          <a:bodyPr wrap="square" lIns="0" tIns="0" rIns="0" bIns="0" anchor="ctr">
            <a:noAutofit/>
          </a:bodyPr>
          <a:lstStyle>
            <a:defPPr algn="ctr">
              <a:defRPr sz="2175" b="1">
                <a:solidFill>
                  <a:srgbClr val="146BA8"/>
                </a:solidFill>
                <a:latin typeface="Arial"/>
                <a:ea typeface="Arial"/>
                <a:cs typeface="Arial"/>
              </a:defRPr>
            </a:defPPr>
          </a:lstStyle>
          <a:p>
            <a:pPr algn="ctr">
              <a:lnSpc>
                <a:spcPct val="106000"/>
              </a:lnSpc>
              <a:buNone/>
              <a:defRPr sz="2175" b="1">
                <a:solidFill>
                  <a:srgbClr val="146BA8"/>
                </a:solidFill>
                <a:latin typeface="Arial"/>
                <a:ea typeface="Arial"/>
                <a:cs typeface="Arial"/>
              </a:defRPr>
            </a:pPr>
            <a:r>
              <a:rPr sz="2175" b="1">
                <a:solidFill>
                  <a:srgbClr val="146BA8"/>
                </a:solidFill>
                <a:latin typeface="Arial"/>
                <a:ea typeface="Arial"/>
                <a:cs typeface="Arial"/>
              </a:rPr>
              <a:t>7</a:t>
            </a:r>
          </a:p>
        </p:txBody>
      </p:sp>
      <p:sp>
        <p:nvSpPr>
          <p:cNvPr id="19" name="text">
            <a:extLst>
              <a:ext uri="{FF2B5EF4-FFF2-40B4-BE49-F238E27FC236}">
                <a16:creationId xmlns:a16="http://schemas.microsoft.com/office/drawing/2014/main" id="{2EF5E603-3596-4E80-9D0E-6CCC549A9643}"/>
              </a:ext>
            </a:extLst>
          </p:cNvPr>
          <p:cNvSpPr>
            <a:spLocks noGrp="1"/>
          </p:cNvSpPr>
          <p:nvPr/>
        </p:nvSpPr>
        <p:spPr>
          <a:xfrm>
            <a:off x="7153275" y="3105150"/>
            <a:ext cx="4448175" cy="4857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Independent approvals or threshold mechanisms</a:t>
            </a:r>
          </a:p>
        </p:txBody>
      </p:sp>
      <p:sp>
        <p:nvSpPr>
          <p:cNvPr id="20" name="Rectangle 19">
            <a:extLst>
              <a:ext uri="{FF2B5EF4-FFF2-40B4-BE49-F238E27FC236}">
                <a16:creationId xmlns:a16="http://schemas.microsoft.com/office/drawing/2014/main" id="{F6E5A058-8901-43BF-8C5E-35A63CB35DCB}"/>
              </a:ext>
            </a:extLst>
          </p:cNvPr>
          <p:cNvSpPr>
            <a:spLocks noGrp="1"/>
          </p:cNvSpPr>
          <p:nvPr/>
        </p:nvSpPr>
        <p:spPr>
          <a:xfrm>
            <a:off x="590550" y="3714750"/>
            <a:ext cx="11010900" cy="12383"/>
          </a:xfrm>
          <a:prstGeom prst="rect">
            <a:avLst/>
          </a:prstGeom>
          <a:solidFill>
            <a:srgbClr val="DCE9F4"/>
          </a:solidFill>
          <a:ln w="13335">
            <a:solidFill>
              <a:srgbClr val="DCE9F4"/>
            </a:solidFill>
            <a:prstDash val="solid"/>
          </a:ln>
        </p:spPr>
        <p:txBody>
          <a:bodyPr/>
          <a:lstStyle/>
          <a:p>
            <a:endParaRPr lang="en-AU"/>
          </a:p>
        </p:txBody>
      </p:sp>
      <p:sp>
        <p:nvSpPr>
          <p:cNvPr id="21" name="text">
            <a:extLst>
              <a:ext uri="{FF2B5EF4-FFF2-40B4-BE49-F238E27FC236}">
                <a16:creationId xmlns:a16="http://schemas.microsoft.com/office/drawing/2014/main" id="{A093A058-255A-4A50-B9DE-33E1DDBEC7DD}"/>
              </a:ext>
            </a:extLst>
          </p:cNvPr>
          <p:cNvSpPr>
            <a:spLocks noGrp="1"/>
          </p:cNvSpPr>
          <p:nvPr/>
        </p:nvSpPr>
        <p:spPr>
          <a:xfrm>
            <a:off x="590550" y="3848100"/>
            <a:ext cx="1057275" cy="333375"/>
          </a:xfrm>
          <a:prstGeom prst="rect">
            <a:avLst/>
          </a:prstGeom>
          <a:noFill/>
          <a:ln w="0">
            <a:noFill/>
            <a:prstDash val="solid"/>
          </a:ln>
        </p:spPr>
        <p:txBody>
          <a:bodyPr wrap="square" lIns="0" tIns="0" rIns="0" bIns="0" anchor="ctr">
            <a:noAutofit/>
          </a:bodyPr>
          <a:lstStyle>
            <a:defPPr algn="l">
              <a:defRPr sz="1725" b="1">
                <a:solidFill>
                  <a:srgbClr val="146BA8"/>
                </a:solidFill>
                <a:latin typeface="Arial"/>
                <a:ea typeface="Arial"/>
                <a:cs typeface="Arial"/>
              </a:defRPr>
            </a:defPPr>
          </a:lstStyle>
          <a:p>
            <a:pPr algn="l">
              <a:lnSpc>
                <a:spcPct val="106000"/>
              </a:lnSpc>
              <a:buNone/>
              <a:defRPr sz="1725" b="1">
                <a:solidFill>
                  <a:srgbClr val="146BA8"/>
                </a:solidFill>
                <a:latin typeface="Arial"/>
                <a:ea typeface="Arial"/>
                <a:cs typeface="Arial"/>
              </a:defRPr>
            </a:pPr>
            <a:r>
              <a:rPr sz="1725" b="1">
                <a:solidFill>
                  <a:srgbClr val="146BA8"/>
                </a:solidFill>
                <a:latin typeface="Arial"/>
                <a:ea typeface="Arial"/>
                <a:cs typeface="Arial"/>
              </a:rPr>
              <a:t>Req 4</a:t>
            </a:r>
          </a:p>
        </p:txBody>
      </p:sp>
      <p:sp>
        <p:nvSpPr>
          <p:cNvPr id="22" name="text">
            <a:extLst>
              <a:ext uri="{FF2B5EF4-FFF2-40B4-BE49-F238E27FC236}">
                <a16:creationId xmlns:a16="http://schemas.microsoft.com/office/drawing/2014/main" id="{0558B8F9-2571-4158-AF30-80A1AD6C5AE0}"/>
              </a:ext>
            </a:extLst>
          </p:cNvPr>
          <p:cNvSpPr>
            <a:spLocks noGrp="1"/>
          </p:cNvSpPr>
          <p:nvPr/>
        </p:nvSpPr>
        <p:spPr>
          <a:xfrm>
            <a:off x="1809750" y="3848100"/>
            <a:ext cx="3981450" cy="3333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Policy and context</a:t>
            </a:r>
          </a:p>
        </p:txBody>
      </p:sp>
      <p:sp>
        <p:nvSpPr>
          <p:cNvPr id="23" name="text">
            <a:extLst>
              <a:ext uri="{FF2B5EF4-FFF2-40B4-BE49-F238E27FC236}">
                <a16:creationId xmlns:a16="http://schemas.microsoft.com/office/drawing/2014/main" id="{2D04058B-DAE2-45C1-82F3-1219BB692024}"/>
              </a:ext>
            </a:extLst>
          </p:cNvPr>
          <p:cNvSpPr>
            <a:spLocks noGrp="1"/>
          </p:cNvSpPr>
          <p:nvPr/>
        </p:nvSpPr>
        <p:spPr>
          <a:xfrm>
            <a:off x="6057900" y="3848100"/>
            <a:ext cx="685800" cy="342900"/>
          </a:xfrm>
          <a:prstGeom prst="rect">
            <a:avLst/>
          </a:prstGeom>
          <a:noFill/>
          <a:ln w="0">
            <a:noFill/>
            <a:prstDash val="solid"/>
          </a:ln>
        </p:spPr>
        <p:txBody>
          <a:bodyPr wrap="square" lIns="0" tIns="0" rIns="0" bIns="0" anchor="ctr">
            <a:noAutofit/>
          </a:bodyPr>
          <a:lstStyle>
            <a:defPPr algn="ctr">
              <a:defRPr sz="2175" b="1">
                <a:solidFill>
                  <a:srgbClr val="146BA8"/>
                </a:solidFill>
                <a:latin typeface="Arial"/>
                <a:ea typeface="Arial"/>
                <a:cs typeface="Arial"/>
              </a:defRPr>
            </a:defPPr>
          </a:lstStyle>
          <a:p>
            <a:pPr algn="ctr">
              <a:lnSpc>
                <a:spcPct val="106000"/>
              </a:lnSpc>
              <a:buNone/>
              <a:defRPr sz="2175" b="1">
                <a:solidFill>
                  <a:srgbClr val="146BA8"/>
                </a:solidFill>
                <a:latin typeface="Arial"/>
                <a:ea typeface="Arial"/>
                <a:cs typeface="Arial"/>
              </a:defRPr>
            </a:pPr>
            <a:r>
              <a:rPr sz="2175" b="1">
                <a:solidFill>
                  <a:srgbClr val="146BA8"/>
                </a:solidFill>
                <a:latin typeface="Arial"/>
                <a:ea typeface="Arial"/>
                <a:cs typeface="Arial"/>
              </a:rPr>
              <a:t>4</a:t>
            </a:r>
          </a:p>
        </p:txBody>
      </p:sp>
      <p:sp>
        <p:nvSpPr>
          <p:cNvPr id="24" name="text">
            <a:extLst>
              <a:ext uri="{FF2B5EF4-FFF2-40B4-BE49-F238E27FC236}">
                <a16:creationId xmlns:a16="http://schemas.microsoft.com/office/drawing/2014/main" id="{89EBC417-6158-4387-85AE-5B852A2F7FAE}"/>
              </a:ext>
            </a:extLst>
          </p:cNvPr>
          <p:cNvSpPr>
            <a:spLocks noGrp="1"/>
          </p:cNvSpPr>
          <p:nvPr/>
        </p:nvSpPr>
        <p:spPr>
          <a:xfrm>
            <a:off x="7153275" y="3848100"/>
            <a:ext cx="4448175" cy="4857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Purpose and data-scope enforcement</a:t>
            </a:r>
          </a:p>
        </p:txBody>
      </p:sp>
      <p:sp>
        <p:nvSpPr>
          <p:cNvPr id="25" name="Rectangle 24">
            <a:extLst>
              <a:ext uri="{FF2B5EF4-FFF2-40B4-BE49-F238E27FC236}">
                <a16:creationId xmlns:a16="http://schemas.microsoft.com/office/drawing/2014/main" id="{2D459728-C847-4118-9EDA-59CDE5657093}"/>
              </a:ext>
            </a:extLst>
          </p:cNvPr>
          <p:cNvSpPr>
            <a:spLocks noGrp="1"/>
          </p:cNvSpPr>
          <p:nvPr/>
        </p:nvSpPr>
        <p:spPr>
          <a:xfrm>
            <a:off x="590550" y="4457700"/>
            <a:ext cx="11010900" cy="12383"/>
          </a:xfrm>
          <a:prstGeom prst="rect">
            <a:avLst/>
          </a:prstGeom>
          <a:solidFill>
            <a:srgbClr val="DCE9F4"/>
          </a:solidFill>
          <a:ln w="13335">
            <a:solidFill>
              <a:srgbClr val="DCE9F4"/>
            </a:solidFill>
            <a:prstDash val="solid"/>
          </a:ln>
        </p:spPr>
        <p:txBody>
          <a:bodyPr/>
          <a:lstStyle/>
          <a:p>
            <a:endParaRPr lang="en-AU"/>
          </a:p>
        </p:txBody>
      </p:sp>
      <p:sp>
        <p:nvSpPr>
          <p:cNvPr id="26" name="text">
            <a:extLst>
              <a:ext uri="{FF2B5EF4-FFF2-40B4-BE49-F238E27FC236}">
                <a16:creationId xmlns:a16="http://schemas.microsoft.com/office/drawing/2014/main" id="{DA6CB7A2-A00C-4A94-A4E1-0ED64260A908}"/>
              </a:ext>
            </a:extLst>
          </p:cNvPr>
          <p:cNvSpPr>
            <a:spLocks noGrp="1"/>
          </p:cNvSpPr>
          <p:nvPr/>
        </p:nvSpPr>
        <p:spPr>
          <a:xfrm>
            <a:off x="590550" y="4591050"/>
            <a:ext cx="1057275" cy="333375"/>
          </a:xfrm>
          <a:prstGeom prst="rect">
            <a:avLst/>
          </a:prstGeom>
          <a:noFill/>
          <a:ln w="0">
            <a:noFill/>
            <a:prstDash val="solid"/>
          </a:ln>
        </p:spPr>
        <p:txBody>
          <a:bodyPr wrap="square" lIns="0" tIns="0" rIns="0" bIns="0" anchor="ctr">
            <a:noAutofit/>
          </a:bodyPr>
          <a:lstStyle>
            <a:defPPr algn="l">
              <a:defRPr sz="1725" b="1">
                <a:solidFill>
                  <a:srgbClr val="146BA8"/>
                </a:solidFill>
                <a:latin typeface="Arial"/>
                <a:ea typeface="Arial"/>
                <a:cs typeface="Arial"/>
              </a:defRPr>
            </a:defPPr>
          </a:lstStyle>
          <a:p>
            <a:pPr algn="l">
              <a:lnSpc>
                <a:spcPct val="106000"/>
              </a:lnSpc>
              <a:buNone/>
              <a:defRPr sz="1725" b="1">
                <a:solidFill>
                  <a:srgbClr val="146BA8"/>
                </a:solidFill>
                <a:latin typeface="Arial"/>
                <a:ea typeface="Arial"/>
                <a:cs typeface="Arial"/>
              </a:defRPr>
            </a:pPr>
            <a:r>
              <a:rPr sz="1725" b="1">
                <a:solidFill>
                  <a:srgbClr val="146BA8"/>
                </a:solidFill>
                <a:latin typeface="Arial"/>
                <a:ea typeface="Arial"/>
                <a:cs typeface="Arial"/>
              </a:rPr>
              <a:t>Req 5</a:t>
            </a:r>
          </a:p>
        </p:txBody>
      </p:sp>
      <p:sp>
        <p:nvSpPr>
          <p:cNvPr id="27" name="text">
            <a:extLst>
              <a:ext uri="{FF2B5EF4-FFF2-40B4-BE49-F238E27FC236}">
                <a16:creationId xmlns:a16="http://schemas.microsoft.com/office/drawing/2014/main" id="{DAAE91AA-35CF-444E-BEE2-C983209F0A9C}"/>
              </a:ext>
            </a:extLst>
          </p:cNvPr>
          <p:cNvSpPr>
            <a:spLocks noGrp="1"/>
          </p:cNvSpPr>
          <p:nvPr/>
        </p:nvSpPr>
        <p:spPr>
          <a:xfrm>
            <a:off x="1809750" y="4591050"/>
            <a:ext cx="3981450" cy="3333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Temporal and lifecycle</a:t>
            </a:r>
          </a:p>
        </p:txBody>
      </p:sp>
      <p:sp>
        <p:nvSpPr>
          <p:cNvPr id="28" name="text">
            <a:extLst>
              <a:ext uri="{FF2B5EF4-FFF2-40B4-BE49-F238E27FC236}">
                <a16:creationId xmlns:a16="http://schemas.microsoft.com/office/drawing/2014/main" id="{AF33B9C1-83D9-483E-B7F6-D60AC59A364B}"/>
              </a:ext>
            </a:extLst>
          </p:cNvPr>
          <p:cNvSpPr>
            <a:spLocks noGrp="1"/>
          </p:cNvSpPr>
          <p:nvPr/>
        </p:nvSpPr>
        <p:spPr>
          <a:xfrm>
            <a:off x="6057900" y="4591050"/>
            <a:ext cx="685800" cy="342900"/>
          </a:xfrm>
          <a:prstGeom prst="rect">
            <a:avLst/>
          </a:prstGeom>
          <a:noFill/>
          <a:ln w="0">
            <a:noFill/>
            <a:prstDash val="solid"/>
          </a:ln>
        </p:spPr>
        <p:txBody>
          <a:bodyPr wrap="square" lIns="0" tIns="0" rIns="0" bIns="0" anchor="ctr">
            <a:noAutofit/>
          </a:bodyPr>
          <a:lstStyle>
            <a:defPPr algn="ctr">
              <a:defRPr sz="2175" b="1">
                <a:solidFill>
                  <a:srgbClr val="146BA8"/>
                </a:solidFill>
                <a:latin typeface="Arial"/>
                <a:ea typeface="Arial"/>
                <a:cs typeface="Arial"/>
              </a:defRPr>
            </a:defPPr>
          </a:lstStyle>
          <a:p>
            <a:pPr algn="ctr">
              <a:lnSpc>
                <a:spcPct val="106000"/>
              </a:lnSpc>
              <a:buNone/>
              <a:defRPr sz="2175" b="1">
                <a:solidFill>
                  <a:srgbClr val="146BA8"/>
                </a:solidFill>
                <a:latin typeface="Arial"/>
                <a:ea typeface="Arial"/>
                <a:cs typeface="Arial"/>
              </a:defRPr>
            </a:pPr>
            <a:r>
              <a:rPr sz="2175" b="1">
                <a:solidFill>
                  <a:srgbClr val="146BA8"/>
                </a:solidFill>
                <a:latin typeface="Arial"/>
                <a:ea typeface="Arial"/>
                <a:cs typeface="Arial"/>
              </a:rPr>
              <a:t>4</a:t>
            </a:r>
          </a:p>
        </p:txBody>
      </p:sp>
      <p:sp>
        <p:nvSpPr>
          <p:cNvPr id="29" name="text">
            <a:extLst>
              <a:ext uri="{FF2B5EF4-FFF2-40B4-BE49-F238E27FC236}">
                <a16:creationId xmlns:a16="http://schemas.microsoft.com/office/drawing/2014/main" id="{AEC23C51-71A5-468A-AE12-0D309D68E08A}"/>
              </a:ext>
            </a:extLst>
          </p:cNvPr>
          <p:cNvSpPr>
            <a:spLocks noGrp="1"/>
          </p:cNvSpPr>
          <p:nvPr/>
        </p:nvSpPr>
        <p:spPr>
          <a:xfrm>
            <a:off x="7153275" y="4591050"/>
            <a:ext cx="4448175" cy="4857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Expiry, revocation and state control</a:t>
            </a:r>
          </a:p>
        </p:txBody>
      </p:sp>
      <p:sp>
        <p:nvSpPr>
          <p:cNvPr id="30" name="Rectangle 29">
            <a:extLst>
              <a:ext uri="{FF2B5EF4-FFF2-40B4-BE49-F238E27FC236}">
                <a16:creationId xmlns:a16="http://schemas.microsoft.com/office/drawing/2014/main" id="{A2E7BD04-522D-4F94-BEFD-48A36B66859E}"/>
              </a:ext>
            </a:extLst>
          </p:cNvPr>
          <p:cNvSpPr>
            <a:spLocks noGrp="1"/>
          </p:cNvSpPr>
          <p:nvPr/>
        </p:nvSpPr>
        <p:spPr>
          <a:xfrm>
            <a:off x="590550" y="5200650"/>
            <a:ext cx="11010900" cy="12383"/>
          </a:xfrm>
          <a:prstGeom prst="rect">
            <a:avLst/>
          </a:prstGeom>
          <a:solidFill>
            <a:srgbClr val="DCE9F4"/>
          </a:solidFill>
          <a:ln w="13335">
            <a:solidFill>
              <a:srgbClr val="DCE9F4"/>
            </a:solidFill>
            <a:prstDash val="solid"/>
          </a:ln>
        </p:spPr>
        <p:txBody>
          <a:bodyPr/>
          <a:lstStyle/>
          <a:p>
            <a:endParaRPr lang="en-AU"/>
          </a:p>
        </p:txBody>
      </p:sp>
      <p:sp>
        <p:nvSpPr>
          <p:cNvPr id="31" name="text">
            <a:extLst>
              <a:ext uri="{FF2B5EF4-FFF2-40B4-BE49-F238E27FC236}">
                <a16:creationId xmlns:a16="http://schemas.microsoft.com/office/drawing/2014/main" id="{0849EB98-C616-49CA-873D-0B2F42559A83}"/>
              </a:ext>
            </a:extLst>
          </p:cNvPr>
          <p:cNvSpPr>
            <a:spLocks noGrp="1"/>
          </p:cNvSpPr>
          <p:nvPr/>
        </p:nvSpPr>
        <p:spPr>
          <a:xfrm>
            <a:off x="590550" y="5334000"/>
            <a:ext cx="1057275" cy="333375"/>
          </a:xfrm>
          <a:prstGeom prst="rect">
            <a:avLst/>
          </a:prstGeom>
          <a:noFill/>
          <a:ln w="0">
            <a:noFill/>
            <a:prstDash val="solid"/>
          </a:ln>
        </p:spPr>
        <p:txBody>
          <a:bodyPr wrap="square" lIns="0" tIns="0" rIns="0" bIns="0" anchor="ctr">
            <a:noAutofit/>
          </a:bodyPr>
          <a:lstStyle>
            <a:defPPr algn="l">
              <a:defRPr sz="1725" b="1">
                <a:solidFill>
                  <a:srgbClr val="146BA8"/>
                </a:solidFill>
                <a:latin typeface="Arial"/>
                <a:ea typeface="Arial"/>
                <a:cs typeface="Arial"/>
              </a:defRPr>
            </a:defPPr>
          </a:lstStyle>
          <a:p>
            <a:pPr algn="l">
              <a:lnSpc>
                <a:spcPct val="106000"/>
              </a:lnSpc>
              <a:buNone/>
              <a:defRPr sz="1725" b="1">
                <a:solidFill>
                  <a:srgbClr val="146BA8"/>
                </a:solidFill>
                <a:latin typeface="Arial"/>
                <a:ea typeface="Arial"/>
                <a:cs typeface="Arial"/>
              </a:defRPr>
            </a:pPr>
            <a:r>
              <a:rPr sz="1725" b="1">
                <a:solidFill>
                  <a:srgbClr val="146BA8"/>
                </a:solidFill>
                <a:latin typeface="Arial"/>
                <a:ea typeface="Arial"/>
                <a:cs typeface="Arial"/>
              </a:rPr>
              <a:t>Req 6</a:t>
            </a:r>
          </a:p>
        </p:txBody>
      </p:sp>
      <p:sp>
        <p:nvSpPr>
          <p:cNvPr id="32" name="text">
            <a:extLst>
              <a:ext uri="{FF2B5EF4-FFF2-40B4-BE49-F238E27FC236}">
                <a16:creationId xmlns:a16="http://schemas.microsoft.com/office/drawing/2014/main" id="{E3045FFD-BDCF-48ED-B515-501394824DC6}"/>
              </a:ext>
            </a:extLst>
          </p:cNvPr>
          <p:cNvSpPr>
            <a:spLocks noGrp="1"/>
          </p:cNvSpPr>
          <p:nvPr/>
        </p:nvSpPr>
        <p:spPr>
          <a:xfrm>
            <a:off x="1809750" y="5334000"/>
            <a:ext cx="3981450" cy="333375"/>
          </a:xfrm>
          <a:prstGeom prst="rect">
            <a:avLst/>
          </a:prstGeom>
          <a:noFill/>
          <a:ln w="0">
            <a:noFill/>
            <a:prstDash val="solid"/>
          </a:ln>
        </p:spPr>
        <p:txBody>
          <a:bodyPr wrap="square" lIns="0" tIns="0" rIns="0" bIns="0" anchor="ctr">
            <a:noAutofit/>
          </a:bodyPr>
          <a:lstStyle>
            <a:defPPr algn="l">
              <a:defRPr sz="2025" b="1">
                <a:solidFill>
                  <a:srgbClr val="103B64"/>
                </a:solidFill>
                <a:latin typeface="Arial"/>
                <a:ea typeface="Arial"/>
                <a:cs typeface="Arial"/>
              </a:defRPr>
            </a:defPPr>
          </a:lstStyle>
          <a:p>
            <a:pPr algn="l">
              <a:lnSpc>
                <a:spcPct val="106000"/>
              </a:lnSpc>
              <a:buNone/>
              <a:defRPr sz="2025" b="1">
                <a:solidFill>
                  <a:srgbClr val="103B64"/>
                </a:solidFill>
                <a:latin typeface="Arial"/>
                <a:ea typeface="Arial"/>
                <a:cs typeface="Arial"/>
              </a:defRPr>
            </a:pPr>
            <a:r>
              <a:rPr sz="2025" b="1">
                <a:solidFill>
                  <a:srgbClr val="103B64"/>
                </a:solidFill>
                <a:latin typeface="Arial"/>
                <a:ea typeface="Arial"/>
                <a:cs typeface="Arial"/>
              </a:rPr>
              <a:t>Security assurance</a:t>
            </a:r>
          </a:p>
        </p:txBody>
      </p:sp>
      <p:sp>
        <p:nvSpPr>
          <p:cNvPr id="33" name="text">
            <a:extLst>
              <a:ext uri="{FF2B5EF4-FFF2-40B4-BE49-F238E27FC236}">
                <a16:creationId xmlns:a16="http://schemas.microsoft.com/office/drawing/2014/main" id="{9C95DF01-C4E2-4E8E-852E-FA1791EF0B70}"/>
              </a:ext>
            </a:extLst>
          </p:cNvPr>
          <p:cNvSpPr>
            <a:spLocks noGrp="1"/>
          </p:cNvSpPr>
          <p:nvPr/>
        </p:nvSpPr>
        <p:spPr>
          <a:xfrm>
            <a:off x="6057900" y="5334000"/>
            <a:ext cx="685800" cy="342900"/>
          </a:xfrm>
          <a:prstGeom prst="rect">
            <a:avLst/>
          </a:prstGeom>
          <a:noFill/>
          <a:ln w="0">
            <a:noFill/>
            <a:prstDash val="solid"/>
          </a:ln>
        </p:spPr>
        <p:txBody>
          <a:bodyPr wrap="square" lIns="0" tIns="0" rIns="0" bIns="0" anchor="ctr">
            <a:noAutofit/>
          </a:bodyPr>
          <a:lstStyle>
            <a:defPPr algn="ctr">
              <a:defRPr sz="2175" b="1">
                <a:solidFill>
                  <a:srgbClr val="146BA8"/>
                </a:solidFill>
                <a:latin typeface="Arial"/>
                <a:ea typeface="Arial"/>
                <a:cs typeface="Arial"/>
              </a:defRPr>
            </a:defPPr>
          </a:lstStyle>
          <a:p>
            <a:pPr algn="ctr">
              <a:lnSpc>
                <a:spcPct val="106000"/>
              </a:lnSpc>
              <a:buNone/>
              <a:defRPr sz="2175" b="1">
                <a:solidFill>
                  <a:srgbClr val="146BA8"/>
                </a:solidFill>
                <a:latin typeface="Arial"/>
                <a:ea typeface="Arial"/>
                <a:cs typeface="Arial"/>
              </a:defRPr>
            </a:pPr>
            <a:r>
              <a:rPr sz="2175" b="1">
                <a:solidFill>
                  <a:srgbClr val="146BA8"/>
                </a:solidFill>
                <a:latin typeface="Arial"/>
                <a:ea typeface="Arial"/>
                <a:cs typeface="Arial"/>
              </a:rPr>
              <a:t>4</a:t>
            </a:r>
          </a:p>
        </p:txBody>
      </p:sp>
      <p:sp>
        <p:nvSpPr>
          <p:cNvPr id="34" name="text">
            <a:extLst>
              <a:ext uri="{FF2B5EF4-FFF2-40B4-BE49-F238E27FC236}">
                <a16:creationId xmlns:a16="http://schemas.microsoft.com/office/drawing/2014/main" id="{AA53DA67-9FF7-41AD-A930-E575898CDA78}"/>
              </a:ext>
            </a:extLst>
          </p:cNvPr>
          <p:cNvSpPr>
            <a:spLocks noGrp="1"/>
          </p:cNvSpPr>
          <p:nvPr/>
        </p:nvSpPr>
        <p:spPr>
          <a:xfrm>
            <a:off x="7153275" y="5334000"/>
            <a:ext cx="4448175" cy="485775"/>
          </a:xfrm>
          <a:prstGeom prst="rect">
            <a:avLst/>
          </a:prstGeom>
          <a:noFill/>
          <a:ln w="0">
            <a:noFill/>
            <a:prstDash val="solid"/>
          </a:ln>
        </p:spPr>
        <p:txBody>
          <a:bodyPr wrap="square" lIns="0" tIns="0" rIns="0" bIns="0" anchor="ctr">
            <a:noAutofit/>
          </a:bodyPr>
          <a:lstStyle>
            <a:defPPr algn="l">
              <a:defRPr sz="1725" b="0">
                <a:solidFill>
                  <a:srgbClr val="24415C"/>
                </a:solidFill>
                <a:latin typeface="Arial"/>
                <a:ea typeface="Arial"/>
                <a:cs typeface="Arial"/>
              </a:defRPr>
            </a:defPPr>
          </a:lstStyle>
          <a:p>
            <a:pPr algn="l">
              <a:lnSpc>
                <a:spcPct val="106000"/>
              </a:lnSpc>
              <a:buNone/>
              <a:defRPr sz="1725" b="0">
                <a:solidFill>
                  <a:srgbClr val="24415C"/>
                </a:solidFill>
                <a:latin typeface="Arial"/>
                <a:ea typeface="Arial"/>
                <a:cs typeface="Arial"/>
              </a:defRPr>
            </a:pPr>
            <a:r>
              <a:rPr sz="1725" b="0">
                <a:solidFill>
                  <a:srgbClr val="24415C"/>
                </a:solidFill>
                <a:latin typeface="Arial"/>
                <a:ea typeface="Arial"/>
                <a:cs typeface="Arial"/>
              </a:rPr>
              <a:t>Formal arguments and empirical validation</a:t>
            </a:r>
          </a:p>
        </p:txBody>
      </p:sp>
      <p:sp>
        <p:nvSpPr>
          <p:cNvPr id="35" name="text">
            <a:extLst>
              <a:ext uri="{FF2B5EF4-FFF2-40B4-BE49-F238E27FC236}">
                <a16:creationId xmlns:a16="http://schemas.microsoft.com/office/drawing/2014/main" id="{49279AEB-B5F4-4138-8668-457946813A76}"/>
              </a:ext>
            </a:extLst>
          </p:cNvPr>
          <p:cNvSpPr>
            <a:spLocks noGrp="1"/>
          </p:cNvSpPr>
          <p:nvPr/>
        </p:nvSpPr>
        <p:spPr>
          <a:xfrm>
            <a:off x="590550" y="6143625"/>
            <a:ext cx="11010900" cy="257175"/>
          </a:xfrm>
          <a:prstGeom prst="rect">
            <a:avLst/>
          </a:prstGeom>
          <a:noFill/>
          <a:ln w="0">
            <a:noFill/>
            <a:prstDash val="solid"/>
          </a:ln>
        </p:spPr>
        <p:txBody>
          <a:bodyPr wrap="square" lIns="0" tIns="0" rIns="0" bIns="0" anchor="ctr">
            <a:noAutofit/>
          </a:bodyPr>
          <a:lstStyle>
            <a:defPPr algn="l">
              <a:defRPr sz="1500" b="0">
                <a:solidFill>
                  <a:srgbClr val="56718B"/>
                </a:solidFill>
                <a:latin typeface="Arial"/>
                <a:ea typeface="Arial"/>
                <a:cs typeface="Arial"/>
              </a:defRPr>
            </a:defPPr>
          </a:lstStyle>
          <a:p>
            <a:pPr algn="l">
              <a:lnSpc>
                <a:spcPct val="106000"/>
              </a:lnSpc>
              <a:buNone/>
              <a:defRPr sz="1500" b="0">
                <a:solidFill>
                  <a:srgbClr val="56718B"/>
                </a:solidFill>
                <a:latin typeface="Arial"/>
                <a:ea typeface="Arial"/>
                <a:cs typeface="Arial"/>
              </a:defRPr>
            </a:pPr>
            <a:r>
              <a:rPr sz="1500" b="0">
                <a:solidFill>
                  <a:srgbClr val="56718B"/>
                </a:solidFill>
                <a:latin typeface="Arial"/>
                <a:ea typeface="Arial"/>
                <a:cs typeface="Arial"/>
              </a:rPr>
              <a:t>A stream count indicates the topic studied, rather than full satisfaction of a requirement.</a:t>
            </a:r>
          </a:p>
        </p:txBody>
      </p:sp>
    </p:spTree>
    <p:extLst>
      <p:ext uri="{BB962C8B-B14F-4D97-AF65-F5344CB8AC3E}">
        <p14:creationId xmlns:p14="http://schemas.microsoft.com/office/powerpoint/2010/main" val="1135854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headline">
            <a:extLst>
              <a:ext uri="{FF2B5EF4-FFF2-40B4-BE49-F238E27FC236}">
                <a16:creationId xmlns:a16="http://schemas.microsoft.com/office/drawing/2014/main" id="{563E3535-A2C5-4F40-82AB-8A999F903D8D}"/>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REQUIREMENT COVERAGE ACROSS 25 STUDIES</a:t>
            </a:r>
          </a:p>
        </p:txBody>
      </p:sp>
      <p:sp>
        <p:nvSpPr>
          <p:cNvPr id="2" name="Rectangle 1">
            <a:extLst>
              <a:ext uri="{FF2B5EF4-FFF2-40B4-BE49-F238E27FC236}">
                <a16:creationId xmlns:a16="http://schemas.microsoft.com/office/drawing/2014/main" id="{5BBFE20C-506A-4C40-8FFD-CDD8DD61A9AD}"/>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3" name="subtitle">
            <a:extLst>
              <a:ext uri="{FF2B5EF4-FFF2-40B4-BE49-F238E27FC236}">
                <a16:creationId xmlns:a16="http://schemas.microsoft.com/office/drawing/2014/main" id="{0A472B60-0D80-4CC5-A623-6CEBE01B1907}"/>
              </a:ext>
            </a:extLst>
          </p:cNvPr>
          <p:cNvSpPr>
            <a:spLocks noGrp="1"/>
          </p:cNvSpPr>
          <p:nvPr/>
        </p:nvSpPr>
        <p:spPr>
          <a:xfrm>
            <a:off x="590550" y="1047750"/>
            <a:ext cx="11010900" cy="333375"/>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No study received Yes for all six requirements in the report’s coding</a:t>
            </a:r>
          </a:p>
        </p:txBody>
      </p:sp>
      <p:sp>
        <p:nvSpPr>
          <p:cNvPr id="4" name="source-footer">
            <a:extLst>
              <a:ext uri="{FF2B5EF4-FFF2-40B4-BE49-F238E27FC236}">
                <a16:creationId xmlns:a16="http://schemas.microsoft.com/office/drawing/2014/main" id="{5698CAC2-A04E-498F-BB69-B3CB8F7973A2}"/>
              </a:ext>
            </a:extLst>
          </p:cNvPr>
          <p:cNvSpPr>
            <a:spLocks noGrp="1"/>
          </p:cNvSpPr>
          <p:nvPr/>
        </p:nvSpPr>
        <p:spPr>
          <a:xfrm>
            <a:off x="590550" y="6477000"/>
            <a:ext cx="10001250" cy="190500"/>
          </a:xfrm>
          <a:prstGeom prst="rect">
            <a:avLst/>
          </a:prstGeom>
          <a:noFill/>
          <a:ln w="0">
            <a:noFill/>
            <a:prstDash val="solid"/>
          </a:ln>
        </p:spPr>
        <p:txBody>
          <a:bodyPr wrap="square" lIns="0" tIns="0" rIns="0" bIns="0" anchor="ctr">
            <a:noAutofit/>
          </a:bodyPr>
          <a:lstStyle>
            <a:defPPr algn="l">
              <a:defRPr sz="975" b="0">
                <a:solidFill>
                  <a:srgbClr val="56718B"/>
                </a:solidFill>
                <a:latin typeface="Arial"/>
                <a:ea typeface="Arial"/>
                <a:cs typeface="Arial"/>
              </a:defRPr>
            </a:defPPr>
          </a:lstStyle>
          <a:p>
            <a:pPr algn="l">
              <a:lnSpc>
                <a:spcPct val="106000"/>
              </a:lnSpc>
              <a:buNone/>
              <a:defRPr sz="975" b="0">
                <a:solidFill>
                  <a:srgbClr val="56718B"/>
                </a:solidFill>
                <a:latin typeface="Arial"/>
                <a:ea typeface="Arial"/>
                <a:cs typeface="Arial"/>
              </a:defRPr>
            </a:pPr>
            <a:r>
              <a:rPr sz="975" b="0">
                <a:solidFill>
                  <a:srgbClr val="56718B"/>
                </a:solidFill>
                <a:latin typeface="Arial"/>
                <a:ea typeface="Arial"/>
                <a:cs typeface="Arial"/>
              </a:rPr>
              <a:t>Report checkpoint: 10 September 2026</a:t>
            </a:r>
          </a:p>
        </p:txBody>
      </p:sp>
      <p:sp>
        <p:nvSpPr>
          <p:cNvPr id="5" name="page-number">
            <a:extLst>
              <a:ext uri="{FF2B5EF4-FFF2-40B4-BE49-F238E27FC236}">
                <a16:creationId xmlns:a16="http://schemas.microsoft.com/office/drawing/2014/main" id="{94400FF9-DE4F-4AE7-B6FF-1C32F80832DD}"/>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dirty="0">
                <a:solidFill>
                  <a:srgbClr val="146BA8"/>
                </a:solidFill>
                <a:latin typeface="Arial"/>
                <a:ea typeface="Arial"/>
                <a:cs typeface="Arial"/>
              </a:rPr>
              <a:t>12</a:t>
            </a:r>
          </a:p>
        </p:txBody>
      </p:sp>
      <p:graphicFrame>
        <p:nvGraphicFramePr>
          <p:cNvPr id="6" name="Chart">
            <a:extLst>
              <a:ext uri="{FF2B5EF4-FFF2-40B4-BE49-F238E27FC236}">
                <a16:creationId xmlns:a16="http://schemas.microsoft.com/office/drawing/2014/main" id="{A11CEA0A-EA36-4604-8463-841C6A748B41}"/>
              </a:ext>
            </a:extLst>
          </p:cNvPr>
          <p:cNvGraphicFramePr/>
          <p:nvPr/>
        </p:nvGraphicFramePr>
        <p:xfrm>
          <a:off x="590550" y="1685925"/>
          <a:ext cx="8353425" cy="41243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a:extLst>
              <a:ext uri="{FF2B5EF4-FFF2-40B4-BE49-F238E27FC236}">
                <a16:creationId xmlns:a16="http://schemas.microsoft.com/office/drawing/2014/main" id="{ED414338-B03A-43DE-BB1D-C8F3C5F959F7}"/>
              </a:ext>
            </a:extLst>
          </p:cNvPr>
          <p:cNvSpPr>
            <a:spLocks noGrp="1"/>
          </p:cNvSpPr>
          <p:nvPr/>
        </p:nvSpPr>
        <p:spPr>
          <a:xfrm>
            <a:off x="9258300" y="1838325"/>
            <a:ext cx="2343150" cy="723900"/>
          </a:xfrm>
          <a:prstGeom prst="rect">
            <a:avLst/>
          </a:prstGeom>
          <a:noFill/>
          <a:ln w="0">
            <a:noFill/>
            <a:prstDash val="solid"/>
          </a:ln>
        </p:spPr>
        <p:txBody>
          <a:bodyPr wrap="square" lIns="0" tIns="0" rIns="0" bIns="0" anchor="ctr">
            <a:noAutofit/>
          </a:bodyPr>
          <a:lstStyle>
            <a:defPPr algn="l">
              <a:defRPr sz="3600" b="1">
                <a:solidFill>
                  <a:srgbClr val="146BA8"/>
                </a:solidFill>
                <a:latin typeface="Arial"/>
                <a:ea typeface="Arial"/>
                <a:cs typeface="Arial"/>
              </a:defRPr>
            </a:defPPr>
          </a:lstStyle>
          <a:p>
            <a:pPr algn="l">
              <a:lnSpc>
                <a:spcPct val="106000"/>
              </a:lnSpc>
              <a:buNone/>
              <a:defRPr sz="3600" b="1">
                <a:solidFill>
                  <a:srgbClr val="146BA8"/>
                </a:solidFill>
                <a:latin typeface="Arial"/>
                <a:ea typeface="Arial"/>
                <a:cs typeface="Arial"/>
              </a:defRPr>
            </a:pPr>
            <a:r>
              <a:rPr sz="3600" b="1">
                <a:solidFill>
                  <a:srgbClr val="146BA8"/>
                </a:solidFill>
                <a:latin typeface="Arial"/>
                <a:ea typeface="Arial"/>
                <a:cs typeface="Arial"/>
              </a:rPr>
              <a:t>0 / 25</a:t>
            </a:r>
          </a:p>
        </p:txBody>
      </p:sp>
      <p:sp>
        <p:nvSpPr>
          <p:cNvPr id="8" name="text">
            <a:extLst>
              <a:ext uri="{FF2B5EF4-FFF2-40B4-BE49-F238E27FC236}">
                <a16:creationId xmlns:a16="http://schemas.microsoft.com/office/drawing/2014/main" id="{332C3A95-8E48-489D-B2F8-0956EF0051BF}"/>
              </a:ext>
            </a:extLst>
          </p:cNvPr>
          <p:cNvSpPr>
            <a:spLocks noGrp="1"/>
          </p:cNvSpPr>
          <p:nvPr/>
        </p:nvSpPr>
        <p:spPr>
          <a:xfrm>
            <a:off x="9258300" y="2676525"/>
            <a:ext cx="2343150" cy="819150"/>
          </a:xfrm>
          <a:prstGeom prst="rect">
            <a:avLst/>
          </a:prstGeom>
          <a:noFill/>
          <a:ln w="0">
            <a:noFill/>
            <a:prstDash val="solid"/>
          </a:ln>
        </p:spPr>
        <p:txBody>
          <a:bodyPr wrap="square" lIns="0" tIns="0" rIns="0" bIns="0" anchor="ctr">
            <a:noAutofit/>
          </a:bodyPr>
          <a:lstStyle>
            <a:defPPr algn="l">
              <a:defRPr sz="1950" b="1">
                <a:solidFill>
                  <a:srgbClr val="103B64"/>
                </a:solidFill>
                <a:latin typeface="Arial"/>
                <a:ea typeface="Arial"/>
                <a:cs typeface="Arial"/>
              </a:defRPr>
            </a:defPPr>
          </a:lstStyle>
          <a:p>
            <a:pPr algn="l">
              <a:lnSpc>
                <a:spcPct val="106000"/>
              </a:lnSpc>
              <a:buNone/>
              <a:defRPr sz="1950" b="1">
                <a:solidFill>
                  <a:srgbClr val="103B64"/>
                </a:solidFill>
                <a:latin typeface="Arial"/>
                <a:ea typeface="Arial"/>
                <a:cs typeface="Arial"/>
              </a:defRPr>
            </a:pPr>
            <a:r>
              <a:rPr sz="1950" b="1">
                <a:solidFill>
                  <a:srgbClr val="103B64"/>
                </a:solidFill>
                <a:latin typeface="Arial"/>
                <a:ea typeface="Arial"/>
                <a:cs typeface="Arial"/>
              </a:rPr>
              <a:t>satisfy all six requirements</a:t>
            </a:r>
          </a:p>
        </p:txBody>
      </p:sp>
      <p:sp>
        <p:nvSpPr>
          <p:cNvPr id="9" name="text">
            <a:extLst>
              <a:ext uri="{FF2B5EF4-FFF2-40B4-BE49-F238E27FC236}">
                <a16:creationId xmlns:a16="http://schemas.microsoft.com/office/drawing/2014/main" id="{9F008015-C12B-444D-9CBA-7E42A92959EB}"/>
              </a:ext>
            </a:extLst>
          </p:cNvPr>
          <p:cNvSpPr>
            <a:spLocks noGrp="1"/>
          </p:cNvSpPr>
          <p:nvPr/>
        </p:nvSpPr>
        <p:spPr>
          <a:xfrm>
            <a:off x="9258300" y="4048125"/>
            <a:ext cx="2343150" cy="657225"/>
          </a:xfrm>
          <a:prstGeom prst="rect">
            <a:avLst/>
          </a:prstGeom>
          <a:noFill/>
          <a:ln w="0">
            <a:noFill/>
            <a:prstDash val="solid"/>
          </a:ln>
        </p:spPr>
        <p:txBody>
          <a:bodyPr wrap="square" lIns="0" tIns="0" rIns="0" bIns="0" anchor="ctr">
            <a:noAutofit/>
          </a:bodyPr>
          <a:lstStyle>
            <a:defPPr algn="l">
              <a:defRPr sz="2925" b="1">
                <a:solidFill>
                  <a:srgbClr val="146BA8"/>
                </a:solidFill>
                <a:latin typeface="Arial"/>
                <a:ea typeface="Arial"/>
                <a:cs typeface="Arial"/>
              </a:defRPr>
            </a:defPPr>
          </a:lstStyle>
          <a:p>
            <a:pPr algn="l">
              <a:lnSpc>
                <a:spcPct val="106000"/>
              </a:lnSpc>
              <a:buNone/>
              <a:defRPr sz="2925" b="1">
                <a:solidFill>
                  <a:srgbClr val="146BA8"/>
                </a:solidFill>
                <a:latin typeface="Arial"/>
                <a:ea typeface="Arial"/>
                <a:cs typeface="Arial"/>
              </a:defRPr>
            </a:pPr>
            <a:r>
              <a:rPr sz="2925" b="1">
                <a:solidFill>
                  <a:srgbClr val="146BA8"/>
                </a:solidFill>
                <a:latin typeface="Arial"/>
                <a:ea typeface="Arial"/>
                <a:cs typeface="Arial"/>
              </a:rPr>
              <a:t>4 / 25</a:t>
            </a:r>
          </a:p>
        </p:txBody>
      </p:sp>
      <p:sp>
        <p:nvSpPr>
          <p:cNvPr id="10" name="text">
            <a:extLst>
              <a:ext uri="{FF2B5EF4-FFF2-40B4-BE49-F238E27FC236}">
                <a16:creationId xmlns:a16="http://schemas.microsoft.com/office/drawing/2014/main" id="{229B16CC-2F08-4206-B0B9-61602919B045}"/>
              </a:ext>
            </a:extLst>
          </p:cNvPr>
          <p:cNvSpPr>
            <a:spLocks noGrp="1"/>
          </p:cNvSpPr>
          <p:nvPr/>
        </p:nvSpPr>
        <p:spPr>
          <a:xfrm>
            <a:off x="9258300" y="4838700"/>
            <a:ext cx="2343150" cy="733425"/>
          </a:xfrm>
          <a:prstGeom prst="rect">
            <a:avLst/>
          </a:prstGeom>
          <a:noFill/>
          <a:ln w="0">
            <a:noFill/>
            <a:prstDash val="solid"/>
          </a:ln>
        </p:spPr>
        <p:txBody>
          <a:bodyPr wrap="square" lIns="0" tIns="0" rIns="0" bIns="0" anchor="ctr">
            <a:noAutofit/>
          </a:bodyPr>
          <a:lstStyle>
            <a:defPPr algn="l">
              <a:defRPr sz="1875" b="0">
                <a:solidFill>
                  <a:srgbClr val="24415C"/>
                </a:solidFill>
                <a:latin typeface="Arial"/>
                <a:ea typeface="Arial"/>
                <a:cs typeface="Arial"/>
              </a:defRPr>
            </a:defPPr>
          </a:lstStyle>
          <a:p>
            <a:pPr algn="l">
              <a:lnSpc>
                <a:spcPct val="106000"/>
              </a:lnSpc>
              <a:buNone/>
              <a:defRPr sz="1875" b="0">
                <a:solidFill>
                  <a:srgbClr val="24415C"/>
                </a:solidFill>
                <a:latin typeface="Arial"/>
                <a:ea typeface="Arial"/>
                <a:cs typeface="Arial"/>
              </a:defRPr>
            </a:pPr>
            <a:r>
              <a:rPr sz="1875" b="0">
                <a:solidFill>
                  <a:srgbClr val="24415C"/>
                </a:solidFill>
                <a:latin typeface="Arial"/>
                <a:ea typeface="Arial"/>
                <a:cs typeface="Arial"/>
              </a:rPr>
              <a:t>have formal assurance</a:t>
            </a:r>
          </a:p>
        </p:txBody>
      </p:sp>
      <p:sp>
        <p:nvSpPr>
          <p:cNvPr id="11" name="text">
            <a:extLst>
              <a:ext uri="{FF2B5EF4-FFF2-40B4-BE49-F238E27FC236}">
                <a16:creationId xmlns:a16="http://schemas.microsoft.com/office/drawing/2014/main" id="{3946FA9F-6459-4CA2-B430-6564CFCC39CE}"/>
              </a:ext>
            </a:extLst>
          </p:cNvPr>
          <p:cNvSpPr>
            <a:spLocks noGrp="1"/>
          </p:cNvSpPr>
          <p:nvPr/>
        </p:nvSpPr>
        <p:spPr>
          <a:xfrm>
            <a:off x="590550" y="6010275"/>
            <a:ext cx="11010900" cy="323850"/>
          </a:xfrm>
          <a:prstGeom prst="rect">
            <a:avLst/>
          </a:prstGeom>
          <a:noFill/>
          <a:ln w="0">
            <a:noFill/>
            <a:prstDash val="solid"/>
          </a:ln>
        </p:spPr>
        <p:txBody>
          <a:bodyPr wrap="square" lIns="0" tIns="0" rIns="0" bIns="0" anchor="ctr">
            <a:noAutofit/>
          </a:bodyPr>
          <a:lstStyle>
            <a:defPPr algn="l">
              <a:defRPr sz="1575" b="0">
                <a:solidFill>
                  <a:srgbClr val="56718B"/>
                </a:solidFill>
                <a:latin typeface="Arial"/>
                <a:ea typeface="Arial"/>
                <a:cs typeface="Arial"/>
              </a:defRPr>
            </a:defPPr>
          </a:lstStyle>
          <a:p>
            <a:pPr algn="l">
              <a:lnSpc>
                <a:spcPct val="106000"/>
              </a:lnSpc>
              <a:buNone/>
              <a:defRPr sz="1575" b="0">
                <a:solidFill>
                  <a:srgbClr val="56718B"/>
                </a:solidFill>
                <a:latin typeface="Arial"/>
                <a:ea typeface="Arial"/>
                <a:cs typeface="Arial"/>
              </a:defRPr>
            </a:pPr>
            <a:r>
              <a:rPr sz="1575" b="0">
                <a:solidFill>
                  <a:srgbClr val="56718B"/>
                </a:solidFill>
                <a:latin typeface="Arial"/>
                <a:ea typeface="Arial"/>
                <a:cs typeface="Arial"/>
              </a:rPr>
              <a:t>Bars count Yes grades only. Req 6 combines formal or empirical assurance.</a:t>
            </a:r>
          </a:p>
        </p:txBody>
      </p:sp>
    </p:spTree>
    <p:extLst>
      <p:ext uri="{BB962C8B-B14F-4D97-AF65-F5344CB8AC3E}">
        <p14:creationId xmlns:p14="http://schemas.microsoft.com/office/powerpoint/2010/main" val="611500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EAA49FCD-6474-4965-8487-91E512158047}"/>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STUDY COMPARISON: S1–S13</a:t>
            </a:r>
          </a:p>
        </p:txBody>
      </p:sp>
      <p:sp>
        <p:nvSpPr>
          <p:cNvPr id="2" name="Rectangle 1">
            <a:extLst>
              <a:ext uri="{FF2B5EF4-FFF2-40B4-BE49-F238E27FC236}">
                <a16:creationId xmlns:a16="http://schemas.microsoft.com/office/drawing/2014/main" id="{ACEE08DE-4D7D-48D1-B007-0EAB14464BBC}"/>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3D6C3840-BA05-48F8-B96C-AC509D9018B9}"/>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13</a:t>
            </a:r>
          </a:p>
        </p:txBody>
      </p:sp>
      <p:graphicFrame>
        <p:nvGraphicFramePr>
          <p:cNvPr id="6" name="Table 5">
            <a:extLst>
              <a:ext uri="{FF2B5EF4-FFF2-40B4-BE49-F238E27FC236}">
                <a16:creationId xmlns:a16="http://schemas.microsoft.com/office/drawing/2014/main" id="{16758AE8-EE98-4146-B748-D7A6A2A828D3}"/>
              </a:ext>
            </a:extLst>
          </p:cNvPr>
          <p:cNvGraphicFramePr/>
          <p:nvPr/>
        </p:nvGraphicFramePr>
        <p:xfrm>
          <a:off x="590550" y="1504950"/>
          <a:ext cx="11010900" cy="4533900"/>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3850">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3850">
                <a:tc>
                  <a:txBody>
                    <a:bodyPr/>
                    <a:lstStyle/>
                    <a:p>
                      <a:pPr algn="l">
                        <a:lnSpc>
                          <a:spcPct val="100000"/>
                        </a:lnSpc>
                        <a:buNone/>
                      </a:pPr>
                      <a:r>
                        <a:rPr sz="1500" b="0">
                          <a:solidFill>
                            <a:srgbClr val="24415C"/>
                          </a:solidFill>
                          <a:latin typeface="Arial"/>
                          <a:ea typeface="Arial"/>
                          <a:cs typeface="Arial"/>
                        </a:rPr>
                        <a:t>S1 Abbasi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1"/>
                  </a:ext>
                </a:extLst>
              </a:tr>
              <a:tr h="323850">
                <a:tc>
                  <a:txBody>
                    <a:bodyPr/>
                    <a:lstStyle/>
                    <a:p>
                      <a:pPr algn="l">
                        <a:lnSpc>
                          <a:spcPct val="100000"/>
                        </a:lnSpc>
                        <a:buNone/>
                      </a:pPr>
                      <a:r>
                        <a:rPr sz="1500" b="0">
                          <a:solidFill>
                            <a:srgbClr val="24415C"/>
                          </a:solidFill>
                          <a:latin typeface="Arial"/>
                          <a:ea typeface="Arial"/>
                          <a:cs typeface="Arial"/>
                        </a:rPr>
                        <a:t>S2 Albalwy et al. (2021)</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2"/>
                  </a:ext>
                </a:extLst>
              </a:tr>
              <a:tr h="323850">
                <a:tc>
                  <a:txBody>
                    <a:bodyPr/>
                    <a:lstStyle/>
                    <a:p>
                      <a:pPr algn="l">
                        <a:lnSpc>
                          <a:spcPct val="100000"/>
                        </a:lnSpc>
                        <a:buNone/>
                      </a:pPr>
                      <a:r>
                        <a:rPr sz="1500" b="0">
                          <a:solidFill>
                            <a:srgbClr val="24415C"/>
                          </a:solidFill>
                          <a:latin typeface="Arial"/>
                          <a:ea typeface="Arial"/>
                          <a:cs typeface="Arial"/>
                        </a:rPr>
                        <a:t>S3 Al Amin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3850">
                <a:tc>
                  <a:txBody>
                    <a:bodyPr/>
                    <a:lstStyle/>
                    <a:p>
                      <a:pPr algn="l">
                        <a:lnSpc>
                          <a:spcPct val="100000"/>
                        </a:lnSpc>
                        <a:buNone/>
                      </a:pPr>
                      <a:r>
                        <a:rPr sz="1500" b="0">
                          <a:solidFill>
                            <a:srgbClr val="24415C"/>
                          </a:solidFill>
                          <a:latin typeface="Arial"/>
                          <a:ea typeface="Arial"/>
                          <a:cs typeface="Arial"/>
                        </a:rPr>
                        <a:t>S4 Ekholm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3850">
                <a:tc>
                  <a:txBody>
                    <a:bodyPr/>
                    <a:lstStyle/>
                    <a:p>
                      <a:pPr algn="l">
                        <a:lnSpc>
                          <a:spcPct val="100000"/>
                        </a:lnSpc>
                        <a:buNone/>
                      </a:pPr>
                      <a:r>
                        <a:rPr sz="1500" b="0">
                          <a:solidFill>
                            <a:srgbClr val="24415C"/>
                          </a:solidFill>
                          <a:latin typeface="Arial"/>
                          <a:ea typeface="Arial"/>
                          <a:cs typeface="Arial"/>
                        </a:rPr>
                        <a:t>S5 Eneh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3850">
                <a:tc>
                  <a:txBody>
                    <a:bodyPr/>
                    <a:lstStyle/>
                    <a:p>
                      <a:pPr algn="l">
                        <a:lnSpc>
                          <a:spcPct val="100000"/>
                        </a:lnSpc>
                        <a:buNone/>
                      </a:pPr>
                      <a:r>
                        <a:rPr sz="1500" b="0">
                          <a:solidFill>
                            <a:srgbClr val="24415C"/>
                          </a:solidFill>
                          <a:latin typeface="Arial"/>
                          <a:ea typeface="Arial"/>
                          <a:cs typeface="Arial"/>
                        </a:rPr>
                        <a:t>S6 Hagström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6"/>
                  </a:ext>
                </a:extLst>
              </a:tr>
              <a:tr h="323850">
                <a:tc>
                  <a:txBody>
                    <a:bodyPr/>
                    <a:lstStyle/>
                    <a:p>
                      <a:pPr algn="l">
                        <a:lnSpc>
                          <a:spcPct val="100000"/>
                        </a:lnSpc>
                        <a:buNone/>
                      </a:pPr>
                      <a:r>
                        <a:rPr sz="1500" b="0">
                          <a:solidFill>
                            <a:srgbClr val="24415C"/>
                          </a:solidFill>
                          <a:latin typeface="Arial"/>
                          <a:ea typeface="Arial"/>
                          <a:cs typeface="Arial"/>
                        </a:rPr>
                        <a:t>S7 Jaiman and Urovi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7"/>
                  </a:ext>
                </a:extLst>
              </a:tr>
              <a:tr h="323850">
                <a:tc>
                  <a:txBody>
                    <a:bodyPr/>
                    <a:lstStyle/>
                    <a:p>
                      <a:pPr algn="l">
                        <a:lnSpc>
                          <a:spcPct val="100000"/>
                        </a:lnSpc>
                        <a:buNone/>
                      </a:pPr>
                      <a:r>
                        <a:rPr sz="1500" b="0">
                          <a:solidFill>
                            <a:srgbClr val="24415C"/>
                          </a:solidFill>
                          <a:latin typeface="Arial"/>
                          <a:ea typeface="Arial"/>
                          <a:cs typeface="Arial"/>
                        </a:rPr>
                        <a:t>S8 Zhao and Su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8"/>
                  </a:ext>
                </a:extLst>
              </a:tr>
              <a:tr h="323850">
                <a:tc>
                  <a:txBody>
                    <a:bodyPr/>
                    <a:lstStyle/>
                    <a:p>
                      <a:pPr algn="l">
                        <a:lnSpc>
                          <a:spcPct val="100000"/>
                        </a:lnSpc>
                        <a:buNone/>
                      </a:pPr>
                      <a:r>
                        <a:rPr sz="1500" b="0">
                          <a:solidFill>
                            <a:srgbClr val="24415C"/>
                          </a:solidFill>
                          <a:latin typeface="Arial"/>
                          <a:ea typeface="Arial"/>
                          <a:cs typeface="Arial"/>
                        </a:rPr>
                        <a:t>S9 Li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3850">
                <a:tc>
                  <a:txBody>
                    <a:bodyPr/>
                    <a:lstStyle/>
                    <a:p>
                      <a:pPr algn="l">
                        <a:lnSpc>
                          <a:spcPct val="100000"/>
                        </a:lnSpc>
                        <a:buNone/>
                      </a:pPr>
                      <a:r>
                        <a:rPr sz="1500" b="0">
                          <a:solidFill>
                            <a:srgbClr val="24415C"/>
                          </a:solidFill>
                          <a:latin typeface="Arial"/>
                          <a:ea typeface="Arial"/>
                          <a:cs typeface="Arial"/>
                        </a:rPr>
                        <a:t>S10 Madine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3850">
                <a:tc>
                  <a:txBody>
                    <a:bodyPr/>
                    <a:lstStyle/>
                    <a:p>
                      <a:pPr algn="l">
                        <a:lnSpc>
                          <a:spcPct val="100000"/>
                        </a:lnSpc>
                        <a:buNone/>
                      </a:pPr>
                      <a:r>
                        <a:rPr sz="1500" b="0">
                          <a:solidFill>
                            <a:srgbClr val="24415C"/>
                          </a:solidFill>
                          <a:latin typeface="Arial"/>
                          <a:ea typeface="Arial"/>
                          <a:cs typeface="Arial"/>
                        </a:rPr>
                        <a:t>S11 Maruthi and Singh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1"/>
                  </a:ext>
                </a:extLst>
              </a:tr>
              <a:tr h="323850">
                <a:tc>
                  <a:txBody>
                    <a:bodyPr/>
                    <a:lstStyle/>
                    <a:p>
                      <a:pPr algn="l">
                        <a:lnSpc>
                          <a:spcPct val="100000"/>
                        </a:lnSpc>
                        <a:buNone/>
                      </a:pPr>
                      <a:r>
                        <a:rPr sz="1500" b="0">
                          <a:solidFill>
                            <a:srgbClr val="24415C"/>
                          </a:solidFill>
                          <a:latin typeface="Arial"/>
                          <a:ea typeface="Arial"/>
                          <a:cs typeface="Arial"/>
                        </a:rPr>
                        <a:t>S12 Mei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r h="323850">
                <a:tc>
                  <a:txBody>
                    <a:bodyPr/>
                    <a:lstStyle/>
                    <a:p>
                      <a:pPr algn="l">
                        <a:lnSpc>
                          <a:spcPct val="100000"/>
                        </a:lnSpc>
                        <a:buNone/>
                      </a:pPr>
                      <a:r>
                        <a:rPr sz="1500" b="0">
                          <a:solidFill>
                            <a:srgbClr val="24415C"/>
                          </a:solidFill>
                          <a:latin typeface="Arial"/>
                          <a:ea typeface="Arial"/>
                          <a:cs typeface="Arial"/>
                        </a:rPr>
                        <a:t>S13 Panagoulias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131209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adline">
            <a:extLst>
              <a:ext uri="{FF2B5EF4-FFF2-40B4-BE49-F238E27FC236}">
                <a16:creationId xmlns:a16="http://schemas.microsoft.com/office/drawing/2014/main" id="{AA511421-C2D7-4DAB-B54A-F8F48F5EACA4}"/>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6000"/>
              </a:lnSpc>
              <a:buNone/>
              <a:defRPr sz="2700" b="1">
                <a:solidFill>
                  <a:srgbClr val="103B64"/>
                </a:solidFill>
                <a:latin typeface="Arial"/>
                <a:ea typeface="Arial"/>
                <a:cs typeface="Arial"/>
              </a:defRPr>
            </a:pPr>
            <a:r>
              <a:rPr sz="2700" b="1">
                <a:solidFill>
                  <a:srgbClr val="103B64"/>
                </a:solidFill>
                <a:latin typeface="Arial"/>
                <a:ea typeface="Arial"/>
                <a:cs typeface="Arial"/>
              </a:rPr>
              <a:t>STUDY COMPARISON: S14–S25</a:t>
            </a:r>
          </a:p>
        </p:txBody>
      </p:sp>
      <p:sp>
        <p:nvSpPr>
          <p:cNvPr id="2" name="Rectangle 1">
            <a:extLst>
              <a:ext uri="{FF2B5EF4-FFF2-40B4-BE49-F238E27FC236}">
                <a16:creationId xmlns:a16="http://schemas.microsoft.com/office/drawing/2014/main" id="{A28DCFC6-31A9-4DCA-A70D-F8A51ADDCE00}"/>
              </a:ext>
            </a:extLst>
          </p:cNvPr>
          <p:cNvSpPr>
            <a:spLocks noGrp="1"/>
          </p:cNvSpPr>
          <p:nvPr/>
        </p:nvSpPr>
        <p:spPr>
          <a:xfrm>
            <a:off x="590550" y="866775"/>
            <a:ext cx="11010900" cy="12383"/>
          </a:xfrm>
          <a:prstGeom prst="rect">
            <a:avLst/>
          </a:prstGeom>
          <a:solidFill>
            <a:srgbClr val="DCE9F4"/>
          </a:solidFill>
          <a:ln w="13335">
            <a:solidFill>
              <a:srgbClr val="DCE9F4"/>
            </a:solidFill>
            <a:prstDash val="solid"/>
          </a:ln>
        </p:spPr>
        <p:txBody>
          <a:bodyPr/>
          <a:lstStyle/>
          <a:p>
            <a:endParaRPr lang="en-AU"/>
          </a:p>
        </p:txBody>
      </p:sp>
      <p:sp>
        <p:nvSpPr>
          <p:cNvPr id="5" name="page-number">
            <a:extLst>
              <a:ext uri="{FF2B5EF4-FFF2-40B4-BE49-F238E27FC236}">
                <a16:creationId xmlns:a16="http://schemas.microsoft.com/office/drawing/2014/main" id="{96C21CB9-8A5F-402E-8B04-538D1272CDDA}"/>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6000"/>
              </a:lnSpc>
              <a:buNone/>
              <a:defRPr sz="975" b="0">
                <a:solidFill>
                  <a:srgbClr val="146BA8"/>
                </a:solidFill>
                <a:latin typeface="Arial"/>
                <a:ea typeface="Arial"/>
                <a:cs typeface="Arial"/>
              </a:defRPr>
            </a:pPr>
            <a:r>
              <a:rPr sz="975" b="0">
                <a:solidFill>
                  <a:srgbClr val="146BA8"/>
                </a:solidFill>
                <a:latin typeface="Arial"/>
                <a:ea typeface="Arial"/>
                <a:cs typeface="Arial"/>
              </a:rPr>
              <a:t>14</a:t>
            </a:r>
          </a:p>
        </p:txBody>
      </p:sp>
      <p:graphicFrame>
        <p:nvGraphicFramePr>
          <p:cNvPr id="6" name="Table 5">
            <a:extLst>
              <a:ext uri="{FF2B5EF4-FFF2-40B4-BE49-F238E27FC236}">
                <a16:creationId xmlns:a16="http://schemas.microsoft.com/office/drawing/2014/main" id="{6F239629-C9A4-46DC-B36D-8A6DCDED3378}"/>
              </a:ext>
            </a:extLst>
          </p:cNvPr>
          <p:cNvGraphicFramePr/>
          <p:nvPr>
            <p:extLst>
              <p:ext uri="{D42A27DB-BD31-4B8C-83A1-F6EECF244321}">
                <p14:modId xmlns:p14="http://schemas.microsoft.com/office/powerpoint/2010/main" val="3399124918"/>
              </p:ext>
            </p:extLst>
          </p:nvPr>
        </p:nvGraphicFramePr>
        <p:xfrm>
          <a:off x="590550" y="1504950"/>
          <a:ext cx="11010900" cy="4267198"/>
        </p:xfrm>
        <a:graphic>
          <a:graphicData uri="http://schemas.openxmlformats.org/drawingml/2006/table">
            <a:tbl>
              <a:tblPr>
                <a:tableStyleId>{5C22544A-7EE6-4342-B048-85BDC9FD1C3A}</a:tableStyleId>
              </a:tblPr>
              <a:tblGrid>
                <a:gridCol w="37528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1209675">
                  <a:extLst>
                    <a:ext uri="{9D8B030D-6E8A-4147-A177-3AD203B41FA5}">
                      <a16:colId xmlns:a16="http://schemas.microsoft.com/office/drawing/2014/main" val="20006"/>
                    </a:ext>
                  </a:extLst>
                </a:gridCol>
              </a:tblGrid>
              <a:tr h="328246">
                <a:tc>
                  <a:txBody>
                    <a:bodyPr/>
                    <a:lstStyle/>
                    <a:p>
                      <a:pPr algn="l">
                        <a:lnSpc>
                          <a:spcPct val="100000"/>
                        </a:lnSpc>
                        <a:buNone/>
                      </a:pPr>
                      <a:r>
                        <a:rPr sz="1500" b="1">
                          <a:solidFill>
                            <a:srgbClr val="FFFFFF"/>
                          </a:solidFill>
                          <a:latin typeface="Arial"/>
                          <a:ea typeface="Arial"/>
                          <a:cs typeface="Arial"/>
                        </a:rPr>
                        <a:t>Study</a:t>
                      </a:r>
                    </a:p>
                  </a:txBody>
                  <a:tcPr marL="76200" marR="76200" marT="38100" marB="38100" anchor="ctr">
                    <a:lnL w="6668">
                      <a:solidFill>
                        <a:srgbClr val="DCE9F4"/>
                      </a:solidFill>
                      <a:prstDash val="soli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1</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2</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3</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4</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5</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tc>
                  <a:txBody>
                    <a:bodyPr/>
                    <a:lstStyle/>
                    <a:p>
                      <a:pPr algn="ctr">
                        <a:lnSpc>
                          <a:spcPct val="100000"/>
                        </a:lnSpc>
                        <a:buNone/>
                      </a:pPr>
                      <a:r>
                        <a:rPr sz="1500" b="1">
                          <a:solidFill>
                            <a:srgbClr val="FFFFFF"/>
                          </a:solidFill>
                          <a:latin typeface="Arial"/>
                          <a:ea typeface="Arial"/>
                          <a:cs typeface="Arial"/>
                        </a:rPr>
                        <a:t>Req 6</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a:solidFill>
                        <a:srgbClr val="DCE9F4"/>
                      </a:solidFill>
                      <a:prstDash val="solid"/>
                    </a:lnT>
                    <a:lnB w="6668">
                      <a:solidFill>
                        <a:srgbClr val="DCE9F4"/>
                      </a:solidFill>
                      <a:prstDash val="solid"/>
                    </a:lnB>
                    <a:solidFill>
                      <a:srgbClr val="103B64"/>
                    </a:solidFill>
                  </a:tcPr>
                </a:tc>
                <a:extLst>
                  <a:ext uri="{0D108BD9-81ED-4DB2-BD59-A6C34878D82A}">
                    <a16:rowId xmlns:a16="http://schemas.microsoft.com/office/drawing/2014/main" val="10000"/>
                  </a:ext>
                </a:extLst>
              </a:tr>
              <a:tr h="328246">
                <a:tc>
                  <a:txBody>
                    <a:bodyPr/>
                    <a:lstStyle/>
                    <a:p>
                      <a:pPr algn="l">
                        <a:lnSpc>
                          <a:spcPct val="100000"/>
                        </a:lnSpc>
                        <a:buNone/>
                      </a:pPr>
                      <a:r>
                        <a:rPr sz="1500" b="0">
                          <a:solidFill>
                            <a:srgbClr val="24415C"/>
                          </a:solidFill>
                          <a:latin typeface="Arial"/>
                          <a:ea typeface="Arial"/>
                          <a:cs typeface="Arial"/>
                        </a:rPr>
                        <a:t>S14 Phuyal et al. (2026b)</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01"/>
                  </a:ext>
                </a:extLst>
              </a:tr>
              <a:tr h="328246">
                <a:tc>
                  <a:txBody>
                    <a:bodyPr/>
                    <a:lstStyle/>
                    <a:p>
                      <a:pPr algn="l">
                        <a:lnSpc>
                          <a:spcPct val="100000"/>
                        </a:lnSpc>
                        <a:buNone/>
                      </a:pPr>
                      <a:r>
                        <a:rPr sz="1500" b="0">
                          <a:solidFill>
                            <a:srgbClr val="24415C"/>
                          </a:solidFill>
                          <a:latin typeface="Arial"/>
                          <a:ea typeface="Arial"/>
                          <a:cs typeface="Arial"/>
                        </a:rPr>
                        <a:t>S15 Phuyal et al. (2026a)</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dirty="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dirty="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2"/>
                  </a:ext>
                </a:extLst>
              </a:tr>
              <a:tr h="328246">
                <a:tc>
                  <a:txBody>
                    <a:bodyPr/>
                    <a:lstStyle/>
                    <a:p>
                      <a:pPr algn="l">
                        <a:lnSpc>
                          <a:spcPct val="100000"/>
                        </a:lnSpc>
                        <a:buNone/>
                      </a:pPr>
                      <a:r>
                        <a:rPr sz="1500" b="0">
                          <a:solidFill>
                            <a:srgbClr val="24415C"/>
                          </a:solidFill>
                          <a:latin typeface="Arial"/>
                          <a:ea typeface="Arial"/>
                          <a:cs typeface="Arial"/>
                        </a:rPr>
                        <a:t>S16 Punia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lang="en-AU" sz="1500" b="0" dirty="0">
                          <a:solidFill>
                            <a:srgbClr val="24415C"/>
                          </a:solidFill>
                          <a:latin typeface="Arial"/>
                          <a:ea typeface="Arial"/>
                          <a:cs typeface="Arial"/>
                        </a:rPr>
                        <a:t>No</a:t>
                      </a:r>
                      <a:endParaRPr sz="1500" b="0" dirty="0">
                        <a:solidFill>
                          <a:srgbClr val="56718B"/>
                        </a:solidFill>
                        <a:latin typeface="Arial"/>
                        <a:ea typeface="Arial"/>
                        <a:cs typeface="Arial"/>
                      </a:endParaRP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3"/>
                  </a:ext>
                </a:extLst>
              </a:tr>
              <a:tr h="328246">
                <a:tc>
                  <a:txBody>
                    <a:bodyPr/>
                    <a:lstStyle/>
                    <a:p>
                      <a:pPr algn="l">
                        <a:lnSpc>
                          <a:spcPct val="100000"/>
                        </a:lnSpc>
                        <a:buNone/>
                      </a:pPr>
                      <a:r>
                        <a:rPr sz="1500" b="0">
                          <a:solidFill>
                            <a:srgbClr val="24415C"/>
                          </a:solidFill>
                          <a:latin typeface="Arial"/>
                          <a:ea typeface="Arial"/>
                          <a:cs typeface="Arial"/>
                        </a:rPr>
                        <a:t>S17 Román-Martínez et al. (2023)</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4"/>
                  </a:ext>
                </a:extLst>
              </a:tr>
              <a:tr h="328246">
                <a:tc>
                  <a:txBody>
                    <a:bodyPr/>
                    <a:lstStyle/>
                    <a:p>
                      <a:pPr algn="l">
                        <a:lnSpc>
                          <a:spcPct val="100000"/>
                        </a:lnSpc>
                        <a:buNone/>
                      </a:pPr>
                      <a:r>
                        <a:rPr sz="1500" b="0">
                          <a:solidFill>
                            <a:srgbClr val="24415C"/>
                          </a:solidFill>
                          <a:latin typeface="Arial"/>
                          <a:ea typeface="Arial"/>
                          <a:cs typeface="Arial"/>
                        </a:rPr>
                        <a:t>S18 Hema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5"/>
                  </a:ext>
                </a:extLst>
              </a:tr>
              <a:tr h="328246">
                <a:tc>
                  <a:txBody>
                    <a:bodyPr/>
                    <a:lstStyle/>
                    <a:p>
                      <a:pPr algn="l">
                        <a:lnSpc>
                          <a:spcPct val="100000"/>
                        </a:lnSpc>
                        <a:buNone/>
                      </a:pPr>
                      <a:r>
                        <a:rPr sz="1500" b="0">
                          <a:solidFill>
                            <a:srgbClr val="24415C"/>
                          </a:solidFill>
                          <a:latin typeface="Arial"/>
                          <a:ea typeface="Arial"/>
                          <a:cs typeface="Arial"/>
                        </a:rPr>
                        <a:t>S19 SooHoo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6"/>
                  </a:ext>
                </a:extLst>
              </a:tr>
              <a:tr h="328246">
                <a:tc>
                  <a:txBody>
                    <a:bodyPr/>
                    <a:lstStyle/>
                    <a:p>
                      <a:pPr algn="l">
                        <a:lnSpc>
                          <a:spcPct val="100000"/>
                        </a:lnSpc>
                        <a:buNone/>
                      </a:pPr>
                      <a:r>
                        <a:rPr sz="1500" b="0">
                          <a:solidFill>
                            <a:srgbClr val="24415C"/>
                          </a:solidFill>
                          <a:latin typeface="Arial"/>
                          <a:ea typeface="Arial"/>
                          <a:cs typeface="Arial"/>
                        </a:rPr>
                        <a:t>S20 Tan et al. (2024)</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7"/>
                  </a:ext>
                </a:extLst>
              </a:tr>
              <a:tr h="328246">
                <a:tc>
                  <a:txBody>
                    <a:bodyPr/>
                    <a:lstStyle/>
                    <a:p>
                      <a:pPr algn="l">
                        <a:lnSpc>
                          <a:spcPct val="100000"/>
                        </a:lnSpc>
                        <a:buNone/>
                      </a:pPr>
                      <a:r>
                        <a:rPr sz="1500" b="0">
                          <a:solidFill>
                            <a:srgbClr val="24415C"/>
                          </a:solidFill>
                          <a:latin typeface="Arial"/>
                          <a:ea typeface="Arial"/>
                          <a:cs typeface="Arial"/>
                        </a:rPr>
                        <a:t>S21 Tith et al. (2020)</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8"/>
                  </a:ext>
                </a:extLst>
              </a:tr>
              <a:tr h="328246">
                <a:tc>
                  <a:txBody>
                    <a:bodyPr/>
                    <a:lstStyle/>
                    <a:p>
                      <a:pPr algn="l">
                        <a:lnSpc>
                          <a:spcPct val="100000"/>
                        </a:lnSpc>
                        <a:buNone/>
                      </a:pPr>
                      <a:r>
                        <a:rPr sz="1500" b="0">
                          <a:solidFill>
                            <a:srgbClr val="24415C"/>
                          </a:solidFill>
                          <a:latin typeface="Arial"/>
                          <a:ea typeface="Arial"/>
                          <a:cs typeface="Arial"/>
                        </a:rPr>
                        <a:t>S22 Tremper et al. (2026)</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09"/>
                  </a:ext>
                </a:extLst>
              </a:tr>
              <a:tr h="328246">
                <a:tc>
                  <a:txBody>
                    <a:bodyPr/>
                    <a:lstStyle/>
                    <a:p>
                      <a:pPr algn="l">
                        <a:lnSpc>
                          <a:spcPct val="100000"/>
                        </a:lnSpc>
                        <a:buNone/>
                      </a:pPr>
                      <a:r>
                        <a:rPr sz="1500" b="0">
                          <a:solidFill>
                            <a:srgbClr val="24415C"/>
                          </a:solidFill>
                          <a:latin typeface="Arial"/>
                          <a:ea typeface="Arial"/>
                          <a:cs typeface="Arial"/>
                        </a:rPr>
                        <a:t>S23 Tseng et al.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0"/>
                  </a:ext>
                </a:extLst>
              </a:tr>
              <a:tr h="328246">
                <a:tc>
                  <a:txBody>
                    <a:bodyPr/>
                    <a:lstStyle/>
                    <a:p>
                      <a:pPr algn="l">
                        <a:lnSpc>
                          <a:spcPct val="100000"/>
                        </a:lnSpc>
                        <a:buNone/>
                      </a:pPr>
                      <a:r>
                        <a:rPr sz="1500" b="0">
                          <a:solidFill>
                            <a:srgbClr val="24415C"/>
                          </a:solidFill>
                          <a:latin typeface="Arial"/>
                          <a:ea typeface="Arial"/>
                          <a:cs typeface="Arial"/>
                        </a:rPr>
                        <a:t>S24 Wu et al. (2022)</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tc>
                  <a:txBody>
                    <a:bodyPr/>
                    <a:lstStyle/>
                    <a:p>
                      <a:pPr algn="ctr">
                        <a:lnSpc>
                          <a:spcPct val="100000"/>
                        </a:lnSpc>
                        <a:buNone/>
                      </a:pPr>
                      <a:r>
                        <a:rPr sz="1500" b="0">
                          <a:solidFill>
                            <a:srgbClr val="56718B"/>
                          </a:solidFill>
                          <a:latin typeface="Arial"/>
                          <a:ea typeface="Arial"/>
                          <a:cs typeface="Arial"/>
                        </a:rPr>
                        <a:t>Partial</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EFF4F8"/>
                    </a:solidFill>
                  </a:tcPr>
                </a:tc>
                <a:extLst>
                  <a:ext uri="{0D108BD9-81ED-4DB2-BD59-A6C34878D82A}">
                    <a16:rowId xmlns:a16="http://schemas.microsoft.com/office/drawing/2014/main" val="10011"/>
                  </a:ext>
                </a:extLst>
              </a:tr>
              <a:tr h="328246">
                <a:tc>
                  <a:txBody>
                    <a:bodyPr/>
                    <a:lstStyle/>
                    <a:p>
                      <a:pPr algn="l">
                        <a:lnSpc>
                          <a:spcPct val="100000"/>
                        </a:lnSpc>
                        <a:buNone/>
                      </a:pPr>
                      <a:r>
                        <a:rPr sz="1500" b="0">
                          <a:solidFill>
                            <a:srgbClr val="24415C"/>
                          </a:solidFill>
                          <a:latin typeface="Arial"/>
                          <a:ea typeface="Arial"/>
                          <a:cs typeface="Arial"/>
                        </a:rPr>
                        <a:t>S25 Wu and Zhang (2025)</a:t>
                      </a:r>
                    </a:p>
                  </a:txBody>
                  <a:tcPr marL="76200" marR="76200" marT="38100" marB="38100" anchor="ctr">
                    <a:lnL w="6668">
                      <a:solidFill>
                        <a:srgbClr val="DCE9F4"/>
                      </a:solidFill>
                      <a:prstDash val="soli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4F8FC"/>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1">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0">
                          <a:solidFill>
                            <a:srgbClr val="24415C"/>
                          </a:solidFill>
                          <a:latin typeface="Arial"/>
                          <a:ea typeface="Arial"/>
                          <a:cs typeface="Arial"/>
                        </a:rPr>
                        <a:t>No</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FFFFFF"/>
                    </a:solidFill>
                  </a:tcPr>
                </a:tc>
                <a:tc>
                  <a:txBody>
                    <a:bodyPr/>
                    <a:lstStyle/>
                    <a:p>
                      <a:pPr algn="ctr">
                        <a:lnSpc>
                          <a:spcPct val="100000"/>
                        </a:lnSpc>
                        <a:buNone/>
                      </a:pPr>
                      <a:r>
                        <a:rPr sz="1500" b="1" dirty="0">
                          <a:solidFill>
                            <a:srgbClr val="146BA8"/>
                          </a:solidFill>
                          <a:latin typeface="Arial"/>
                          <a:ea typeface="Arial"/>
                          <a:cs typeface="Arial"/>
                        </a:rPr>
                        <a:t>Yes</a:t>
                      </a:r>
                    </a:p>
                  </a:txBody>
                  <a:tcPr marL="76200" marR="76200" marT="38100" marB="38100" anchor="ctr">
                    <a:lnL w="6668" cap="flat" cmpd="sng" algn="ctr">
                      <a:solidFill>
                        <a:srgbClr val="DCE9F4"/>
                      </a:solidFill>
                      <a:prstDash val="solid"/>
                      <a:round/>
                      <a:headEnd type="none" w="med" len="med"/>
                      <a:tailEnd type="none" w="med" len="med"/>
                    </a:lnL>
                    <a:lnR w="6668">
                      <a:solidFill>
                        <a:srgbClr val="DCE9F4"/>
                      </a:solidFill>
                      <a:prstDash val="solid"/>
                    </a:lnR>
                    <a:lnT w="6668" cap="flat" cmpd="sng" algn="ctr">
                      <a:solidFill>
                        <a:srgbClr val="DCE9F4"/>
                      </a:solidFill>
                      <a:prstDash val="solid"/>
                      <a:round/>
                      <a:headEnd type="none" w="med" len="med"/>
                      <a:tailEnd type="none" w="med" len="med"/>
                    </a:lnT>
                    <a:lnB w="6668">
                      <a:solidFill>
                        <a:srgbClr val="DCE9F4"/>
                      </a:solidFill>
                      <a:prstDash val="solid"/>
                    </a:lnB>
                    <a:solidFill>
                      <a:srgbClr val="DDEEF8"/>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500754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LITERATURE REVIEW: WHAT I FOUND</a:t>
            </a:r>
            <a:endParaRPr lang="en-US" sz="3000" dirty="0"/>
          </a:p>
        </p:txBody>
      </p:sp>
      <p:sp>
        <p:nvSpPr>
          <p:cNvPr id="4" name="F5 panel"/>
          <p:cNvSpPr/>
          <p:nvPr/>
        </p:nvSpPr>
        <p:spPr>
          <a:xfrm>
            <a:off x="640080" y="1097280"/>
            <a:ext cx="6949440" cy="5440680"/>
          </a:xfrm>
          <a:prstGeom prst="roundRect">
            <a:avLst>
              <a:gd name="adj" fmla="val 201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5" descr="/tmp/deck/img/F5.png"/>
          <p:cNvPicPr>
            <a:picLocks noChangeAspect="1"/>
          </p:cNvPicPr>
          <p:nvPr/>
        </p:nvPicPr>
        <p:blipFill>
          <a:blip r:embed="rId3"/>
          <a:stretch>
            <a:fillRect/>
          </a:stretch>
        </p:blipFill>
        <p:spPr>
          <a:xfrm>
            <a:off x="749808" y="2129189"/>
            <a:ext cx="6729984" cy="3376861"/>
          </a:xfrm>
          <a:prstGeom prst="rect">
            <a:avLst/>
          </a:prstGeom>
        </p:spPr>
      </p:pic>
      <p:sp>
        <p:nvSpPr>
          <p:cNvPr id="6" name="card Conjunction gap"/>
          <p:cNvSpPr/>
          <p:nvPr/>
        </p:nvSpPr>
        <p:spPr>
          <a:xfrm>
            <a:off x="7863840" y="1280160"/>
            <a:ext cx="3657600" cy="2377440"/>
          </a:xfrm>
          <a:prstGeom prst="roundRect">
            <a:avLst>
              <a:gd name="adj" fmla="val 3846"/>
            </a:avLst>
          </a:prstGeom>
          <a:solidFill>
            <a:srgbClr val="FFFFFF">
              <a:alpha val="92000"/>
            </a:srgbClr>
          </a:solidFill>
          <a:ln w="19050">
            <a:solidFill>
              <a:srgbClr val="1FB5D6"/>
            </a:solidFill>
            <a:prstDash val="solid"/>
          </a:ln>
        </p:spPr>
        <p:txBody>
          <a:bodyPr/>
          <a:lstStyle/>
          <a:p>
            <a:endParaRPr lang="en-AU"/>
          </a:p>
        </p:txBody>
      </p:sp>
      <p:sp>
        <p:nvSpPr>
          <p:cNvPr id="7" name="card text Conjunction gap"/>
          <p:cNvSpPr txBox="1"/>
          <p:nvPr/>
        </p:nvSpPr>
        <p:spPr>
          <a:xfrm>
            <a:off x="8001000" y="1371600"/>
            <a:ext cx="3383280" cy="2194560"/>
          </a:xfrm>
          <a:prstGeom prst="rect">
            <a:avLst/>
          </a:prstGeom>
          <a:noFill/>
          <a:ln/>
        </p:spPr>
        <p:txBody>
          <a:bodyPr wrap="square" rtlCol="0" anchor="t"/>
          <a:lstStyle/>
          <a:p>
            <a:pPr marL="0" indent="0">
              <a:spcAft>
                <a:spcPts val="400"/>
              </a:spcAft>
              <a:buNone/>
            </a:pPr>
            <a:r>
              <a:rPr lang="en-US" sz="1900" b="1" dirty="0">
                <a:solidFill>
                  <a:srgbClr val="0B2A4A"/>
                </a:solidFill>
              </a:rPr>
              <a:t>Conjunction gap</a:t>
            </a:r>
            <a:endParaRPr lang="en-US" sz="1900" dirty="0"/>
          </a:p>
          <a:p>
            <a:pPr marL="0" indent="0">
              <a:spcAft>
                <a:spcPts val="400"/>
              </a:spcAft>
              <a:buNone/>
            </a:pPr>
            <a:r>
              <a:rPr lang="en-US" sz="1600" dirty="0">
                <a:solidFill>
                  <a:srgbClr val="0B1F33"/>
                </a:solidFill>
              </a:rPr>
              <a:t>Each condition exists somewhere, but no study joins identity, authority, approval, policy and time in one decision.</a:t>
            </a:r>
            <a:endParaRPr lang="en-US" sz="1900" dirty="0"/>
          </a:p>
        </p:txBody>
      </p:sp>
      <p:sp>
        <p:nvSpPr>
          <p:cNvPr id="8" name="card Assurance gap"/>
          <p:cNvSpPr/>
          <p:nvPr/>
        </p:nvSpPr>
        <p:spPr>
          <a:xfrm>
            <a:off x="7863840" y="3931920"/>
            <a:ext cx="3657600" cy="2377440"/>
          </a:xfrm>
          <a:prstGeom prst="roundRect">
            <a:avLst>
              <a:gd name="adj" fmla="val 3846"/>
            </a:avLst>
          </a:prstGeom>
          <a:solidFill>
            <a:srgbClr val="FFFFFF">
              <a:alpha val="92000"/>
            </a:srgbClr>
          </a:solidFill>
          <a:ln w="19050">
            <a:solidFill>
              <a:srgbClr val="F2A900"/>
            </a:solidFill>
            <a:prstDash val="solid"/>
          </a:ln>
        </p:spPr>
        <p:txBody>
          <a:bodyPr/>
          <a:lstStyle/>
          <a:p>
            <a:endParaRPr lang="en-AU"/>
          </a:p>
        </p:txBody>
      </p:sp>
      <p:sp>
        <p:nvSpPr>
          <p:cNvPr id="9" name="card text Assurance gap"/>
          <p:cNvSpPr txBox="1"/>
          <p:nvPr/>
        </p:nvSpPr>
        <p:spPr>
          <a:xfrm>
            <a:off x="8001000" y="4023360"/>
            <a:ext cx="3383280" cy="2194560"/>
          </a:xfrm>
          <a:prstGeom prst="rect">
            <a:avLst/>
          </a:prstGeom>
          <a:noFill/>
          <a:ln/>
        </p:spPr>
        <p:txBody>
          <a:bodyPr wrap="square" rtlCol="0" anchor="t"/>
          <a:lstStyle/>
          <a:p>
            <a:pPr marL="0" indent="0">
              <a:spcAft>
                <a:spcPts val="400"/>
              </a:spcAft>
              <a:buNone/>
            </a:pPr>
            <a:r>
              <a:rPr lang="en-US" sz="1900" b="1" dirty="0">
                <a:solidFill>
                  <a:srgbClr val="0B2A4A"/>
                </a:solidFill>
              </a:rPr>
              <a:t>Assurance gap</a:t>
            </a:r>
            <a:endParaRPr lang="en-US" sz="1900" dirty="0"/>
          </a:p>
          <a:p>
            <a:pPr marL="0" indent="0">
              <a:spcAft>
                <a:spcPts val="400"/>
              </a:spcAft>
              <a:buNone/>
            </a:pPr>
            <a:r>
              <a:rPr lang="en-US" sz="1600" dirty="0">
                <a:solidFill>
                  <a:srgbClr val="0B1F33"/>
                </a:solidFill>
              </a:rPr>
              <a:t>The whole decision is neither formally proved nor systematically tested. Proofs exist in only 4 of 25 studies.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GAP</a:t>
            </a:r>
            <a:endParaRPr lang="en-US" sz="3000" dirty="0"/>
          </a:p>
        </p:txBody>
      </p:sp>
      <p:sp>
        <p:nvSpPr>
          <p:cNvPr id="4" name="gap box"/>
          <p:cNvSpPr/>
          <p:nvPr/>
        </p:nvSpPr>
        <p:spPr>
          <a:xfrm>
            <a:off x="822960" y="1371600"/>
            <a:ext cx="10515600" cy="4572000"/>
          </a:xfrm>
          <a:prstGeom prst="roundRect">
            <a:avLst>
              <a:gd name="adj" fmla="val 2400"/>
            </a:avLst>
          </a:prstGeom>
          <a:solidFill>
            <a:srgbClr val="0B2A4A">
              <a:alpha val="85000"/>
            </a:srgbClr>
          </a:solidFill>
          <a:ln w="25400">
            <a:solidFill>
              <a:srgbClr val="1FB5D6"/>
            </a:solidFill>
            <a:prstDash val="solid"/>
          </a:ln>
        </p:spPr>
        <p:txBody>
          <a:bodyPr/>
          <a:lstStyle/>
          <a:p>
            <a:endParaRPr lang="en-AU"/>
          </a:p>
        </p:txBody>
      </p:sp>
      <p:sp>
        <p:nvSpPr>
          <p:cNvPr id="5" name="gap text"/>
          <p:cNvSpPr txBox="1"/>
          <p:nvPr/>
        </p:nvSpPr>
        <p:spPr>
          <a:xfrm>
            <a:off x="1188720" y="1554480"/>
            <a:ext cx="9784080" cy="4206240"/>
          </a:xfrm>
          <a:prstGeom prst="rect">
            <a:avLst/>
          </a:prstGeom>
          <a:noFill/>
          <a:ln/>
        </p:spPr>
        <p:txBody>
          <a:bodyPr wrap="square" rtlCol="0" anchor="ctr"/>
          <a:lstStyle/>
          <a:p>
            <a:pPr algn="ctr"/>
            <a:r>
              <a:rPr lang="en-US" sz="2400" i="1" dirty="0">
                <a:solidFill>
                  <a:srgbClr val="FFFFFF"/>
                </a:solidFill>
              </a:rPr>
              <a:t>Existing research on healthcare consent and access control provides many of the building blocks, but there is still a need for an integrated Trust Computing framework that treats patient consent as an evaluable </a:t>
            </a:r>
            <a:r>
              <a:rPr lang="en-US" sz="2400" i="1" dirty="0" err="1">
                <a:solidFill>
                  <a:srgbClr val="FFFFFF"/>
                </a:solidFill>
              </a:rPr>
              <a:t>authorisation</a:t>
            </a:r>
            <a:r>
              <a:rPr lang="en-US" sz="2400" i="1" dirty="0">
                <a:solidFill>
                  <a:srgbClr val="FFFFFF"/>
                </a:solidFill>
              </a:rPr>
              <a:t> object. Such a framework should:</a:t>
            </a:r>
          </a:p>
          <a:p>
            <a:pPr algn="ctr"/>
            <a:endParaRPr lang="en-US" sz="2400" i="1" dirty="0">
              <a:solidFill>
                <a:srgbClr val="FFFFFF"/>
              </a:solidFill>
            </a:endParaRPr>
          </a:p>
          <a:p>
            <a:pPr algn="ctr"/>
            <a:r>
              <a:rPr lang="en-US" sz="2400" i="1" dirty="0">
                <a:solidFill>
                  <a:srgbClr val="FFFFFF"/>
                </a:solidFill>
              </a:rPr>
              <a:t>• represent the trust conditions of the consent</a:t>
            </a:r>
          </a:p>
          <a:p>
            <a:pPr algn="ctr"/>
            <a:r>
              <a:rPr lang="en-US" sz="2400" i="1" dirty="0">
                <a:solidFill>
                  <a:srgbClr val="FFFFFF"/>
                </a:solidFill>
              </a:rPr>
              <a:t>• verify the participants and their authority</a:t>
            </a:r>
          </a:p>
          <a:p>
            <a:pPr algn="ctr"/>
            <a:r>
              <a:rPr lang="en-US" sz="2400" i="1" dirty="0">
                <a:solidFill>
                  <a:srgbClr val="FFFFFF"/>
                </a:solidFill>
              </a:rPr>
              <a:t>• establish collective </a:t>
            </a:r>
            <a:r>
              <a:rPr lang="en-US" sz="2400" i="1" dirty="0" err="1">
                <a:solidFill>
                  <a:srgbClr val="FFFFFF"/>
                </a:solidFill>
              </a:rPr>
              <a:t>authorisation</a:t>
            </a:r>
            <a:r>
              <a:rPr lang="en-US" sz="2400" i="1" dirty="0">
                <a:solidFill>
                  <a:srgbClr val="FFFFFF"/>
                </a:solidFill>
              </a:rPr>
              <a:t> where required</a:t>
            </a:r>
          </a:p>
          <a:p>
            <a:pPr algn="ctr"/>
            <a:r>
              <a:rPr lang="en-US" sz="2400" i="1" dirty="0">
                <a:solidFill>
                  <a:srgbClr val="FFFFFF"/>
                </a:solidFill>
              </a:rPr>
              <a:t>• enforce the policy and data-scope constraints of the consent</a:t>
            </a:r>
          </a:p>
          <a:p>
            <a:pPr algn="ctr"/>
            <a:r>
              <a:rPr lang="en-US" sz="2400" i="1" dirty="0">
                <a:solidFill>
                  <a:srgbClr val="FFFFFF"/>
                </a:solidFill>
              </a:rPr>
              <a:t>• enforce the time window and lifecycle state of the consent</a:t>
            </a:r>
            <a:endParaRPr lang="en-US" sz="2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390BC-FCFF-B076-DC7B-52BCE0B82E6F}"/>
              </a:ext>
            </a:extLst>
          </p:cNvPr>
          <p:cNvSpPr>
            <a:spLocks noGrp="1"/>
          </p:cNvSpPr>
          <p:nvPr>
            <p:ph type="title" idx="100"/>
          </p:nvPr>
        </p:nvSpPr>
        <p:spPr/>
        <p:txBody>
          <a:bodyPr/>
          <a:lstStyle/>
          <a:p>
            <a:r>
              <a:rPr lang="en-US" dirty="0"/>
              <a:t>MAIN RESEARCH QUESTION</a:t>
            </a:r>
            <a:endParaRPr lang="en-AU" dirty="0"/>
          </a:p>
        </p:txBody>
      </p:sp>
      <p:sp>
        <p:nvSpPr>
          <p:cNvPr id="7" name="rq box">
            <a:extLst>
              <a:ext uri="{FF2B5EF4-FFF2-40B4-BE49-F238E27FC236}">
                <a16:creationId xmlns:a16="http://schemas.microsoft.com/office/drawing/2014/main" id="{D7CDB2B0-CA62-B143-896E-D49C9A8F2F26}"/>
              </a:ext>
            </a:extLst>
          </p:cNvPr>
          <p:cNvSpPr/>
          <p:nvPr/>
        </p:nvSpPr>
        <p:spPr>
          <a:xfrm>
            <a:off x="640080" y="2766060"/>
            <a:ext cx="10698480" cy="1325880"/>
          </a:xfrm>
          <a:prstGeom prst="roundRect">
            <a:avLst>
              <a:gd name="adj" fmla="val 8276"/>
            </a:avLst>
          </a:prstGeom>
          <a:solidFill>
            <a:srgbClr val="0B2A4A">
              <a:alpha val="85000"/>
            </a:srgbClr>
          </a:solidFill>
          <a:ln w="25400">
            <a:solidFill>
              <a:srgbClr val="1FB5D6"/>
            </a:solidFill>
            <a:prstDash val="solid"/>
          </a:ln>
        </p:spPr>
        <p:txBody>
          <a:bodyPr/>
          <a:lstStyle/>
          <a:p>
            <a:pPr algn="ctr"/>
            <a:r>
              <a:rPr lang="en-US" i="1" dirty="0">
                <a:solidFill>
                  <a:srgbClr val="FFFFFF"/>
                </a:solidFill>
              </a:rPr>
              <a:t>How can a trust-oriented computing framework establish and enforce trustworthy multi-party consent for </a:t>
            </a:r>
            <a:r>
              <a:rPr lang="en-US" i="1" dirty="0" err="1">
                <a:solidFill>
                  <a:srgbClr val="FFFFFF"/>
                </a:solidFill>
              </a:rPr>
              <a:t>decentralised</a:t>
            </a:r>
            <a:r>
              <a:rPr lang="en-US" i="1" dirty="0">
                <a:solidFill>
                  <a:srgbClr val="FFFFFF"/>
                </a:solidFill>
              </a:rPr>
              <a:t> healthcare data sharing under identity, authority, and policy constraints?</a:t>
            </a:r>
            <a:endParaRPr lang="en-US" dirty="0"/>
          </a:p>
          <a:p>
            <a:pPr algn="ctr"/>
            <a:endParaRPr lang="en-AU" dirty="0"/>
          </a:p>
        </p:txBody>
      </p:sp>
    </p:spTree>
    <p:extLst>
      <p:ext uri="{BB962C8B-B14F-4D97-AF65-F5344CB8AC3E}">
        <p14:creationId xmlns:p14="http://schemas.microsoft.com/office/powerpoint/2010/main" val="2640977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SUB RESEARCH QUESTIONS</a:t>
            </a:r>
            <a:endParaRPr lang="en-US" sz="3000" dirty="0"/>
          </a:p>
        </p:txBody>
      </p:sp>
      <p:sp>
        <p:nvSpPr>
          <p:cNvPr id="6" name="card RQ1"/>
          <p:cNvSpPr/>
          <p:nvPr/>
        </p:nvSpPr>
        <p:spPr>
          <a:xfrm>
            <a:off x="73152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7" name="card text RQ1"/>
          <p:cNvSpPr txBox="1"/>
          <p:nvPr/>
        </p:nvSpPr>
        <p:spPr>
          <a:xfrm>
            <a:off x="86868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RQ1</a:t>
            </a:r>
            <a:endParaRPr lang="en-US" sz="1900" dirty="0"/>
          </a:p>
          <a:p>
            <a:pPr marL="0" indent="0">
              <a:spcAft>
                <a:spcPts val="400"/>
              </a:spcAft>
              <a:buNone/>
            </a:pPr>
            <a:r>
              <a:rPr lang="en-US" sz="1100" dirty="0">
                <a:solidFill>
                  <a:srgbClr val="0B1F33"/>
                </a:solidFill>
              </a:rPr>
              <a:t>How can patient consent be modelled as a trust-aware authorisation object that explicitly represents identity, authority requirements, policy constraints, and authorisation evidence?</a:t>
            </a:r>
            <a:endParaRPr lang="en-US" sz="1900" dirty="0"/>
          </a:p>
        </p:txBody>
      </p:sp>
      <p:sp>
        <p:nvSpPr>
          <p:cNvPr id="8" name="card RQ2"/>
          <p:cNvSpPr/>
          <p:nvPr/>
        </p:nvSpPr>
        <p:spPr>
          <a:xfrm>
            <a:off x="434340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9" name="card text RQ2"/>
          <p:cNvSpPr txBox="1"/>
          <p:nvPr/>
        </p:nvSpPr>
        <p:spPr>
          <a:xfrm>
            <a:off x="448056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RQ2</a:t>
            </a:r>
            <a:endParaRPr lang="en-US" sz="1900" dirty="0"/>
          </a:p>
          <a:p>
            <a:pPr marL="0" indent="0">
              <a:spcAft>
                <a:spcPts val="400"/>
              </a:spcAft>
              <a:buNone/>
            </a:pPr>
            <a:r>
              <a:rPr lang="en-US" sz="1100" dirty="0">
                <a:solidFill>
                  <a:srgbClr val="0B1F33"/>
                </a:solidFill>
              </a:rPr>
              <a:t>How can decentralised identities and verifiable credentials establish trustworthy participants while explicitly separating identity authentication from authorisation authority?</a:t>
            </a:r>
            <a:endParaRPr lang="en-US" sz="1900" dirty="0"/>
          </a:p>
        </p:txBody>
      </p:sp>
      <p:sp>
        <p:nvSpPr>
          <p:cNvPr id="10" name="card RQ3"/>
          <p:cNvSpPr/>
          <p:nvPr/>
        </p:nvSpPr>
        <p:spPr>
          <a:xfrm>
            <a:off x="7955280" y="149213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1" name="card text RQ3"/>
          <p:cNvSpPr txBox="1"/>
          <p:nvPr/>
        </p:nvSpPr>
        <p:spPr>
          <a:xfrm>
            <a:off x="8092440" y="158357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RQ3</a:t>
            </a:r>
            <a:endParaRPr lang="en-US" sz="1900" dirty="0"/>
          </a:p>
          <a:p>
            <a:pPr marL="0" indent="0">
              <a:spcAft>
                <a:spcPts val="400"/>
              </a:spcAft>
              <a:buNone/>
            </a:pPr>
            <a:r>
              <a:rPr lang="en-US" sz="1100" dirty="0">
                <a:solidFill>
                  <a:srgbClr val="0B1F33"/>
                </a:solidFill>
              </a:rPr>
              <a:t>How can multiple independently verified participants jointly establish a trustworthy consent decision without allowing a single participant to unilaterally authorise sensitive healthcare data access?</a:t>
            </a:r>
            <a:endParaRPr lang="en-US" sz="1900" dirty="0"/>
          </a:p>
        </p:txBody>
      </p:sp>
      <p:sp>
        <p:nvSpPr>
          <p:cNvPr id="12" name="card RQ4"/>
          <p:cNvSpPr/>
          <p:nvPr/>
        </p:nvSpPr>
        <p:spPr>
          <a:xfrm>
            <a:off x="731520" y="341237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3" name="card text RQ4"/>
          <p:cNvSpPr txBox="1"/>
          <p:nvPr/>
        </p:nvSpPr>
        <p:spPr>
          <a:xfrm>
            <a:off x="86868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RQ4</a:t>
            </a:r>
            <a:endParaRPr lang="en-US" sz="1900" dirty="0"/>
          </a:p>
          <a:p>
            <a:pPr marL="0" indent="0">
              <a:spcAft>
                <a:spcPts val="400"/>
              </a:spcAft>
              <a:buNone/>
            </a:pPr>
            <a:r>
              <a:rPr lang="en-US" sz="1100" dirty="0">
                <a:solidFill>
                  <a:srgbClr val="0B1F33"/>
                </a:solidFill>
              </a:rPr>
              <a:t>How can policy, purpose, and data-scope constraints be incorporated into authorisation decisions so that valid identities and sufficient approvals cannot be used to obtain unauthorised healthcare data?</a:t>
            </a:r>
            <a:endParaRPr lang="en-US" sz="1900" dirty="0"/>
          </a:p>
        </p:txBody>
      </p:sp>
      <p:sp>
        <p:nvSpPr>
          <p:cNvPr id="14" name="card RQ5"/>
          <p:cNvSpPr/>
          <p:nvPr/>
        </p:nvSpPr>
        <p:spPr>
          <a:xfrm>
            <a:off x="4343400" y="341237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5" name="card text RQ5"/>
          <p:cNvSpPr txBox="1"/>
          <p:nvPr/>
        </p:nvSpPr>
        <p:spPr>
          <a:xfrm>
            <a:off x="448056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RQ5</a:t>
            </a:r>
            <a:endParaRPr lang="en-US" sz="1900" dirty="0"/>
          </a:p>
          <a:p>
            <a:pPr marL="0" indent="0">
              <a:spcAft>
                <a:spcPts val="400"/>
              </a:spcAft>
              <a:buNone/>
            </a:pPr>
            <a:r>
              <a:rPr lang="en-US" sz="1100" dirty="0">
                <a:solidFill>
                  <a:srgbClr val="0B1F33"/>
                </a:solidFill>
              </a:rPr>
              <a:t>How can temporal validity and consent lifecycle controls ensure that an authorisation remains valid only within its permitted time interval and lifecycle state, and is rejected after expiration, revocation, or an unauthorised state transition?</a:t>
            </a:r>
            <a:endParaRPr lang="en-US" sz="1900" dirty="0"/>
          </a:p>
        </p:txBody>
      </p:sp>
      <p:sp>
        <p:nvSpPr>
          <p:cNvPr id="16" name="card RQ6"/>
          <p:cNvSpPr/>
          <p:nvPr/>
        </p:nvSpPr>
        <p:spPr>
          <a:xfrm>
            <a:off x="7955280" y="3412374"/>
            <a:ext cx="3429000" cy="1828800"/>
          </a:xfrm>
          <a:prstGeom prst="roundRect">
            <a:avLst>
              <a:gd name="adj" fmla="val 5000"/>
            </a:avLst>
          </a:prstGeom>
          <a:solidFill>
            <a:srgbClr val="FFFFFF">
              <a:alpha val="92000"/>
            </a:srgbClr>
          </a:solidFill>
          <a:ln w="19050">
            <a:solidFill>
              <a:srgbClr val="1FB5D6"/>
            </a:solidFill>
            <a:prstDash val="solid"/>
          </a:ln>
        </p:spPr>
        <p:txBody>
          <a:bodyPr/>
          <a:lstStyle/>
          <a:p>
            <a:endParaRPr lang="en-AU"/>
          </a:p>
        </p:txBody>
      </p:sp>
      <p:sp>
        <p:nvSpPr>
          <p:cNvPr id="17" name="card text RQ6"/>
          <p:cNvSpPr txBox="1"/>
          <p:nvPr/>
        </p:nvSpPr>
        <p:spPr>
          <a:xfrm>
            <a:off x="8092440" y="3503814"/>
            <a:ext cx="3154680" cy="1645920"/>
          </a:xfrm>
          <a:prstGeom prst="rect">
            <a:avLst/>
          </a:prstGeom>
          <a:noFill/>
          <a:ln/>
        </p:spPr>
        <p:txBody>
          <a:bodyPr wrap="square" rtlCol="0" anchor="t"/>
          <a:lstStyle/>
          <a:p>
            <a:pPr marL="0" indent="0">
              <a:spcAft>
                <a:spcPts val="400"/>
              </a:spcAft>
              <a:buNone/>
            </a:pPr>
            <a:r>
              <a:rPr lang="en-US" sz="1900" b="1" dirty="0">
                <a:solidFill>
                  <a:srgbClr val="0B2A4A"/>
                </a:solidFill>
              </a:rPr>
              <a:t>RQ6</a:t>
            </a:r>
            <a:endParaRPr lang="en-US" sz="1900" dirty="0"/>
          </a:p>
          <a:p>
            <a:pPr marL="0" indent="0">
              <a:spcAft>
                <a:spcPts val="400"/>
              </a:spcAft>
              <a:buNone/>
            </a:pPr>
            <a:r>
              <a:rPr lang="en-US" sz="1100" dirty="0">
                <a:solidFill>
                  <a:srgbClr val="0B1F33"/>
                </a:solidFill>
              </a:rPr>
              <a:t>How can the security properties of the proposed trust-oriented authorisation mechanism be formally defined and empirically evaluated to demonstrate that the implemented framework correctly enforces authorised and unauthorised healthcare data-access decisions?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OBJECTIVES</a:t>
            </a:r>
            <a:endParaRPr lang="en-US" sz="3000" dirty="0"/>
          </a:p>
        </p:txBody>
      </p:sp>
      <p:graphicFrame>
        <p:nvGraphicFramePr>
          <p:cNvPr id="10" name="table"/>
          <p:cNvGraphicFramePr>
            <a:graphicFrameLocks noGrp="1"/>
          </p:cNvGraphicFramePr>
          <p:nvPr>
            <p:extLst>
              <p:ext uri="{D42A27DB-BD31-4B8C-83A1-F6EECF244321}">
                <p14:modId xmlns:p14="http://schemas.microsoft.com/office/powerpoint/2010/main" val="1978928434"/>
              </p:ext>
            </p:extLst>
          </p:nvPr>
        </p:nvGraphicFramePr>
        <p:xfrm>
          <a:off x="731519" y="1188720"/>
          <a:ext cx="9401525" cy="5120640"/>
        </p:xfrm>
        <a:graphic>
          <a:graphicData uri="http://schemas.openxmlformats.org/drawingml/2006/table">
            <a:tbl>
              <a:tblPr/>
              <a:tblGrid>
                <a:gridCol w="3133842">
                  <a:extLst>
                    <a:ext uri="{9D8B030D-6E8A-4147-A177-3AD203B41FA5}">
                      <a16:colId xmlns:a16="http://schemas.microsoft.com/office/drawing/2014/main" val="20000"/>
                    </a:ext>
                  </a:extLst>
                </a:gridCol>
                <a:gridCol w="6267683">
                  <a:extLst>
                    <a:ext uri="{9D8B030D-6E8A-4147-A177-3AD203B41FA5}">
                      <a16:colId xmlns:a16="http://schemas.microsoft.com/office/drawing/2014/main" val="20001"/>
                    </a:ext>
                  </a:extLst>
                </a:gridCol>
              </a:tblGrid>
              <a:tr h="731520">
                <a:tc>
                  <a:txBody>
                    <a:bodyPr/>
                    <a:lstStyle/>
                    <a:p>
                      <a:pPr marL="0" indent="0">
                        <a:buNone/>
                      </a:pPr>
                      <a:r>
                        <a:rPr lang="en-US" sz="1300" b="1" dirty="0">
                          <a:solidFill>
                            <a:srgbClr val="FFFFFF"/>
                          </a:solidFill>
                        </a:rPr>
                        <a:t>Objective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buNone/>
                      </a:pPr>
                      <a:r>
                        <a:rPr lang="en-US" sz="1300" b="1" dirty="0">
                          <a:solidFill>
                            <a:srgbClr val="0B1F33"/>
                          </a:solidFill>
                        </a:rPr>
                        <a:t>RO1 – Trust-Centric Consent Model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To develop a trust-aware consent model that represents patient consent as a structured and evaluable authorisation object.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300" b="1" dirty="0">
                          <a:solidFill>
                            <a:srgbClr val="0B1F33"/>
                          </a:solidFill>
                        </a:rPr>
                        <a:t>RO2 – Decentralised Identity and Authority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To develop a decentralised identity and authority verification mechanism using decentralised identifiers and verifiable credentials.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300" b="1" dirty="0">
                          <a:solidFill>
                            <a:srgbClr val="0B1F33"/>
                          </a:solidFill>
                        </a:rPr>
                        <a:t>RO3 – Trustworthy Multi-Party Authorisation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To develop a threshold-based multi-party authorisation mechanism through which multiple independently verified participants and guardians can jointly establish a trustworthy consent 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300" b="1" dirty="0">
                          <a:solidFill>
                            <a:srgbClr val="0B1F33"/>
                          </a:solidFill>
                        </a:rPr>
                        <a:t>RO4 – Policy- and Context-Aware Access Control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To develop a policy-aware authorisation mechanism that evaluates the purpose and data scope of a requested operation against the constraints defined by the 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buNone/>
                      </a:pPr>
                      <a:r>
                        <a:rPr lang="en-US" sz="1300" b="1" dirty="0">
                          <a:solidFill>
                            <a:srgbClr val="0B1F33"/>
                          </a:solidFill>
                        </a:rPr>
                        <a:t>RO5 – Temporal and Lifecycle Trust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To extend the trust-oriented framework with temporal validity and consent lifecycle controls.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buNone/>
                      </a:pPr>
                      <a:r>
                        <a:rPr lang="en-US" sz="1300" b="1" dirty="0">
                          <a:solidFill>
                            <a:srgbClr val="0B1F33"/>
                          </a:solidFill>
                        </a:rPr>
                        <a:t>RO6 – Formal Security Assurance and Empirical Validation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To formally analyse and empirically evaluate whether the implemented framework satisfies its defined trust and authorisation properties under representative healthcare data-sharing scenarios.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METHODOLOGY</a:t>
            </a:r>
            <a:endParaRPr lang="en-US" sz="3000" dirty="0"/>
          </a:p>
        </p:txBody>
      </p:sp>
      <p:sp>
        <p:nvSpPr>
          <p:cNvPr id="4" name="step number 1"/>
          <p:cNvSpPr/>
          <p:nvPr/>
        </p:nvSpPr>
        <p:spPr>
          <a:xfrm>
            <a:off x="987552" y="1554480"/>
            <a:ext cx="548640" cy="548640"/>
          </a:xfrm>
          <a:prstGeom prst="ellipse">
            <a:avLst/>
          </a:prstGeom>
          <a:solidFill>
            <a:srgbClr val="1FB5D6"/>
          </a:solidFill>
          <a:ln w="19050">
            <a:solidFill>
              <a:srgbClr val="FFFFFF"/>
            </a:solidFill>
            <a:prstDash val="solid"/>
          </a:ln>
        </p:spPr>
        <p:txBody>
          <a:bodyPr/>
          <a:lstStyle/>
          <a:p>
            <a:endParaRPr lang="en-AU"/>
          </a:p>
        </p:txBody>
      </p:sp>
      <p:sp>
        <p:nvSpPr>
          <p:cNvPr id="5" name="step num text 1"/>
          <p:cNvSpPr txBox="1"/>
          <p:nvPr/>
        </p:nvSpPr>
        <p:spPr>
          <a:xfrm>
            <a:off x="987552" y="1554480"/>
            <a:ext cx="548640" cy="548640"/>
          </a:xfrm>
          <a:prstGeom prst="rect">
            <a:avLst/>
          </a:prstGeom>
          <a:noFill/>
          <a:ln/>
        </p:spPr>
        <p:txBody>
          <a:bodyPr wrap="square" rtlCol="0" anchor="ctr"/>
          <a:lstStyle/>
          <a:p>
            <a:pPr marL="0" indent="0" algn="ctr">
              <a:buNone/>
            </a:pPr>
            <a:r>
              <a:rPr lang="en-US" sz="2000" b="1" dirty="0">
                <a:solidFill>
                  <a:srgbClr val="FFFFFF"/>
                </a:solidFill>
              </a:rPr>
              <a:t>1</a:t>
            </a:r>
            <a:endParaRPr lang="en-US" sz="2000" dirty="0"/>
          </a:p>
        </p:txBody>
      </p:sp>
      <p:sp>
        <p:nvSpPr>
          <p:cNvPr id="6" name="step box 1"/>
          <p:cNvSpPr/>
          <p:nvPr/>
        </p:nvSpPr>
        <p:spPr>
          <a:xfrm>
            <a:off x="502920" y="2286000"/>
            <a:ext cx="1517904" cy="2926080"/>
          </a:xfrm>
          <a:prstGeom prst="roundRect">
            <a:avLst>
              <a:gd name="adj" fmla="val 6024"/>
            </a:avLst>
          </a:prstGeom>
          <a:solidFill>
            <a:srgbClr val="FFFFFF"/>
          </a:solidFill>
          <a:ln w="19050">
            <a:solidFill>
              <a:srgbClr val="1FB5D6"/>
            </a:solidFill>
            <a:prstDash val="solid"/>
          </a:ln>
        </p:spPr>
        <p:txBody>
          <a:bodyPr/>
          <a:lstStyle/>
          <a:p>
            <a:endParaRPr lang="en-AU"/>
          </a:p>
        </p:txBody>
      </p:sp>
      <p:sp>
        <p:nvSpPr>
          <p:cNvPr id="7" name="step text 1"/>
          <p:cNvSpPr txBox="1"/>
          <p:nvPr/>
        </p:nvSpPr>
        <p:spPr>
          <a:xfrm>
            <a:off x="548640" y="2377440"/>
            <a:ext cx="1426464" cy="2743200"/>
          </a:xfrm>
          <a:prstGeom prst="rect">
            <a:avLst/>
          </a:prstGeom>
          <a:noFill/>
          <a:ln/>
        </p:spPr>
        <p:txBody>
          <a:bodyPr wrap="square" rtlCol="0" anchor="t"/>
          <a:lstStyle/>
          <a:p>
            <a:pPr marL="0" indent="0" algn="ctr">
              <a:spcAft>
                <a:spcPts val="800"/>
              </a:spcAft>
              <a:buNone/>
            </a:pPr>
            <a:r>
              <a:rPr lang="en-US" sz="1400" b="1" dirty="0">
                <a:solidFill>
                  <a:srgbClr val="0B2A4A"/>
                </a:solidFill>
              </a:rPr>
              <a:t>Problem</a:t>
            </a:r>
            <a:endParaRPr lang="en-US" sz="1400" dirty="0"/>
          </a:p>
          <a:p>
            <a:pPr marL="0" indent="0" algn="ctr">
              <a:spcAft>
                <a:spcPts val="800"/>
              </a:spcAft>
              <a:buNone/>
            </a:pPr>
            <a:r>
              <a:rPr lang="en-US" sz="1300" dirty="0">
                <a:solidFill>
                  <a:srgbClr val="0B1F33"/>
                </a:solidFill>
              </a:rPr>
              <a:t>Consent is a passive record; no single trusted decision</a:t>
            </a:r>
            <a:endParaRPr lang="en-US" sz="1400" dirty="0"/>
          </a:p>
        </p:txBody>
      </p:sp>
      <p:sp>
        <p:nvSpPr>
          <p:cNvPr id="8" name="step number 2"/>
          <p:cNvSpPr/>
          <p:nvPr/>
        </p:nvSpPr>
        <p:spPr>
          <a:xfrm>
            <a:off x="2615184" y="1554480"/>
            <a:ext cx="548640" cy="548640"/>
          </a:xfrm>
          <a:prstGeom prst="ellipse">
            <a:avLst/>
          </a:prstGeom>
          <a:solidFill>
            <a:srgbClr val="1FB5D6"/>
          </a:solidFill>
          <a:ln w="19050">
            <a:solidFill>
              <a:srgbClr val="FFFFFF"/>
            </a:solidFill>
            <a:prstDash val="solid"/>
          </a:ln>
        </p:spPr>
        <p:txBody>
          <a:bodyPr/>
          <a:lstStyle/>
          <a:p>
            <a:endParaRPr lang="en-AU"/>
          </a:p>
        </p:txBody>
      </p:sp>
      <p:sp>
        <p:nvSpPr>
          <p:cNvPr id="9" name="step num text 2"/>
          <p:cNvSpPr txBox="1"/>
          <p:nvPr/>
        </p:nvSpPr>
        <p:spPr>
          <a:xfrm>
            <a:off x="2615184" y="1554480"/>
            <a:ext cx="548640" cy="548640"/>
          </a:xfrm>
          <a:prstGeom prst="rect">
            <a:avLst/>
          </a:prstGeom>
          <a:noFill/>
          <a:ln/>
        </p:spPr>
        <p:txBody>
          <a:bodyPr wrap="square" rtlCol="0" anchor="ctr"/>
          <a:lstStyle/>
          <a:p>
            <a:pPr marL="0" indent="0" algn="ctr">
              <a:buNone/>
            </a:pPr>
            <a:r>
              <a:rPr lang="en-US" sz="2000" b="1" dirty="0">
                <a:solidFill>
                  <a:srgbClr val="FFFFFF"/>
                </a:solidFill>
              </a:rPr>
              <a:t>2</a:t>
            </a:r>
            <a:endParaRPr lang="en-US" sz="2000" dirty="0"/>
          </a:p>
        </p:txBody>
      </p:sp>
      <p:sp>
        <p:nvSpPr>
          <p:cNvPr id="10" name="step box 2"/>
          <p:cNvSpPr/>
          <p:nvPr/>
        </p:nvSpPr>
        <p:spPr>
          <a:xfrm>
            <a:off x="2130552" y="2286000"/>
            <a:ext cx="1517904" cy="2926080"/>
          </a:xfrm>
          <a:prstGeom prst="roundRect">
            <a:avLst>
              <a:gd name="adj" fmla="val 6024"/>
            </a:avLst>
          </a:prstGeom>
          <a:solidFill>
            <a:srgbClr val="FFFFFF"/>
          </a:solidFill>
          <a:ln w="19050">
            <a:solidFill>
              <a:srgbClr val="1FB5D6"/>
            </a:solidFill>
            <a:prstDash val="solid"/>
          </a:ln>
        </p:spPr>
        <p:txBody>
          <a:bodyPr/>
          <a:lstStyle/>
          <a:p>
            <a:endParaRPr lang="en-AU"/>
          </a:p>
        </p:txBody>
      </p:sp>
      <p:sp>
        <p:nvSpPr>
          <p:cNvPr id="11" name="step text 2"/>
          <p:cNvSpPr txBox="1"/>
          <p:nvPr/>
        </p:nvSpPr>
        <p:spPr>
          <a:xfrm>
            <a:off x="2176272" y="2377440"/>
            <a:ext cx="1426464" cy="2743200"/>
          </a:xfrm>
          <a:prstGeom prst="rect">
            <a:avLst/>
          </a:prstGeom>
          <a:noFill/>
          <a:ln/>
        </p:spPr>
        <p:txBody>
          <a:bodyPr wrap="square" rtlCol="0" anchor="t"/>
          <a:lstStyle/>
          <a:p>
            <a:pPr marL="0" indent="0" algn="ctr">
              <a:spcAft>
                <a:spcPts val="800"/>
              </a:spcAft>
              <a:buNone/>
            </a:pPr>
            <a:r>
              <a:rPr lang="en-US" sz="1400" b="1" dirty="0">
                <a:solidFill>
                  <a:srgbClr val="0B2A4A"/>
                </a:solidFill>
              </a:rPr>
              <a:t>Literature review</a:t>
            </a:r>
            <a:endParaRPr lang="en-US" sz="1400" dirty="0"/>
          </a:p>
          <a:p>
            <a:pPr marL="0" indent="0" algn="ctr">
              <a:spcAft>
                <a:spcPts val="800"/>
              </a:spcAft>
              <a:buNone/>
            </a:pPr>
            <a:r>
              <a:rPr lang="en-US" sz="1300" dirty="0">
                <a:solidFill>
                  <a:srgbClr val="0B1F33"/>
                </a:solidFill>
              </a:rPr>
              <a:t>PRISMA 2020; 25 primary studies</a:t>
            </a:r>
            <a:endParaRPr lang="en-US" sz="1400" dirty="0"/>
          </a:p>
        </p:txBody>
      </p:sp>
      <p:sp>
        <p:nvSpPr>
          <p:cNvPr id="12" name="step number 3"/>
          <p:cNvSpPr/>
          <p:nvPr/>
        </p:nvSpPr>
        <p:spPr>
          <a:xfrm>
            <a:off x="4242816" y="1554480"/>
            <a:ext cx="548640" cy="548640"/>
          </a:xfrm>
          <a:prstGeom prst="ellipse">
            <a:avLst/>
          </a:prstGeom>
          <a:solidFill>
            <a:srgbClr val="1FB5D6"/>
          </a:solidFill>
          <a:ln w="19050">
            <a:solidFill>
              <a:srgbClr val="FFFFFF"/>
            </a:solidFill>
            <a:prstDash val="solid"/>
          </a:ln>
        </p:spPr>
        <p:txBody>
          <a:bodyPr/>
          <a:lstStyle/>
          <a:p>
            <a:endParaRPr lang="en-AU"/>
          </a:p>
        </p:txBody>
      </p:sp>
      <p:sp>
        <p:nvSpPr>
          <p:cNvPr id="13" name="step num text 3"/>
          <p:cNvSpPr txBox="1"/>
          <p:nvPr/>
        </p:nvSpPr>
        <p:spPr>
          <a:xfrm>
            <a:off x="4242816" y="1554480"/>
            <a:ext cx="548640" cy="548640"/>
          </a:xfrm>
          <a:prstGeom prst="rect">
            <a:avLst/>
          </a:prstGeom>
          <a:noFill/>
          <a:ln/>
        </p:spPr>
        <p:txBody>
          <a:bodyPr wrap="square" rtlCol="0" anchor="ctr"/>
          <a:lstStyle/>
          <a:p>
            <a:pPr marL="0" indent="0" algn="ctr">
              <a:buNone/>
            </a:pPr>
            <a:r>
              <a:rPr lang="en-US" sz="2000" b="1" dirty="0">
                <a:solidFill>
                  <a:srgbClr val="FFFFFF"/>
                </a:solidFill>
              </a:rPr>
              <a:t>3</a:t>
            </a:r>
            <a:endParaRPr lang="en-US" sz="2000" dirty="0"/>
          </a:p>
        </p:txBody>
      </p:sp>
      <p:sp>
        <p:nvSpPr>
          <p:cNvPr id="14" name="step box 3"/>
          <p:cNvSpPr/>
          <p:nvPr/>
        </p:nvSpPr>
        <p:spPr>
          <a:xfrm>
            <a:off x="3758184" y="2286000"/>
            <a:ext cx="1517904" cy="2926080"/>
          </a:xfrm>
          <a:prstGeom prst="roundRect">
            <a:avLst>
              <a:gd name="adj" fmla="val 6024"/>
            </a:avLst>
          </a:prstGeom>
          <a:solidFill>
            <a:srgbClr val="FFFFFF"/>
          </a:solidFill>
          <a:ln w="19050">
            <a:solidFill>
              <a:srgbClr val="1FB5D6"/>
            </a:solidFill>
            <a:prstDash val="solid"/>
          </a:ln>
        </p:spPr>
        <p:txBody>
          <a:bodyPr/>
          <a:lstStyle/>
          <a:p>
            <a:endParaRPr lang="en-AU"/>
          </a:p>
        </p:txBody>
      </p:sp>
      <p:sp>
        <p:nvSpPr>
          <p:cNvPr id="15" name="step text 3"/>
          <p:cNvSpPr txBox="1"/>
          <p:nvPr/>
        </p:nvSpPr>
        <p:spPr>
          <a:xfrm>
            <a:off x="3803904" y="2377440"/>
            <a:ext cx="1426464" cy="2743200"/>
          </a:xfrm>
          <a:prstGeom prst="rect">
            <a:avLst/>
          </a:prstGeom>
          <a:noFill/>
          <a:ln/>
        </p:spPr>
        <p:txBody>
          <a:bodyPr wrap="square" rtlCol="0" anchor="t"/>
          <a:lstStyle/>
          <a:p>
            <a:pPr marL="0" indent="0" algn="ctr">
              <a:spcAft>
                <a:spcPts val="800"/>
              </a:spcAft>
              <a:buNone/>
            </a:pPr>
            <a:r>
              <a:rPr lang="en-US" sz="1400" b="1" dirty="0">
                <a:solidFill>
                  <a:srgbClr val="0B2A4A"/>
                </a:solidFill>
              </a:rPr>
              <a:t>Gap and questions</a:t>
            </a:r>
            <a:endParaRPr lang="en-US" sz="1400" dirty="0"/>
          </a:p>
          <a:p>
            <a:pPr marL="0" indent="0" algn="ctr">
              <a:spcAft>
                <a:spcPts val="800"/>
              </a:spcAft>
              <a:buNone/>
            </a:pPr>
            <a:r>
              <a:rPr lang="en-US" sz="1300" dirty="0">
                <a:solidFill>
                  <a:srgbClr val="0B1F33"/>
                </a:solidFill>
              </a:rPr>
              <a:t>Research gap; RQ1 to RQ6</a:t>
            </a:r>
            <a:endParaRPr lang="en-US" sz="1400" dirty="0"/>
          </a:p>
        </p:txBody>
      </p:sp>
      <p:sp>
        <p:nvSpPr>
          <p:cNvPr id="16" name="step number 4"/>
          <p:cNvSpPr/>
          <p:nvPr/>
        </p:nvSpPr>
        <p:spPr>
          <a:xfrm>
            <a:off x="5870448" y="1554480"/>
            <a:ext cx="548640" cy="548640"/>
          </a:xfrm>
          <a:prstGeom prst="ellipse">
            <a:avLst/>
          </a:prstGeom>
          <a:solidFill>
            <a:srgbClr val="1FB5D6"/>
          </a:solidFill>
          <a:ln w="19050">
            <a:solidFill>
              <a:srgbClr val="FFFFFF"/>
            </a:solidFill>
            <a:prstDash val="solid"/>
          </a:ln>
        </p:spPr>
        <p:txBody>
          <a:bodyPr/>
          <a:lstStyle/>
          <a:p>
            <a:endParaRPr lang="en-AU"/>
          </a:p>
        </p:txBody>
      </p:sp>
      <p:sp>
        <p:nvSpPr>
          <p:cNvPr id="17" name="step num text 4"/>
          <p:cNvSpPr txBox="1"/>
          <p:nvPr/>
        </p:nvSpPr>
        <p:spPr>
          <a:xfrm>
            <a:off x="5870448" y="1554480"/>
            <a:ext cx="548640" cy="548640"/>
          </a:xfrm>
          <a:prstGeom prst="rect">
            <a:avLst/>
          </a:prstGeom>
          <a:noFill/>
          <a:ln/>
        </p:spPr>
        <p:txBody>
          <a:bodyPr wrap="square" rtlCol="0" anchor="ctr"/>
          <a:lstStyle/>
          <a:p>
            <a:pPr marL="0" indent="0" algn="ctr">
              <a:buNone/>
            </a:pPr>
            <a:r>
              <a:rPr lang="en-US" sz="2000" b="1" dirty="0">
                <a:solidFill>
                  <a:srgbClr val="FFFFFF"/>
                </a:solidFill>
              </a:rPr>
              <a:t>4</a:t>
            </a:r>
            <a:endParaRPr lang="en-US" sz="2000" dirty="0"/>
          </a:p>
        </p:txBody>
      </p:sp>
      <p:sp>
        <p:nvSpPr>
          <p:cNvPr id="18" name="step box 4"/>
          <p:cNvSpPr/>
          <p:nvPr/>
        </p:nvSpPr>
        <p:spPr>
          <a:xfrm>
            <a:off x="5385816" y="2286000"/>
            <a:ext cx="1517904" cy="2926080"/>
          </a:xfrm>
          <a:prstGeom prst="roundRect">
            <a:avLst>
              <a:gd name="adj" fmla="val 6024"/>
            </a:avLst>
          </a:prstGeom>
          <a:solidFill>
            <a:srgbClr val="FFFFFF"/>
          </a:solidFill>
          <a:ln w="19050">
            <a:solidFill>
              <a:srgbClr val="1FB5D6"/>
            </a:solidFill>
            <a:prstDash val="solid"/>
          </a:ln>
        </p:spPr>
        <p:txBody>
          <a:bodyPr/>
          <a:lstStyle/>
          <a:p>
            <a:endParaRPr lang="en-AU"/>
          </a:p>
        </p:txBody>
      </p:sp>
      <p:sp>
        <p:nvSpPr>
          <p:cNvPr id="19" name="step text 4"/>
          <p:cNvSpPr txBox="1"/>
          <p:nvPr/>
        </p:nvSpPr>
        <p:spPr>
          <a:xfrm>
            <a:off x="5431536" y="2377440"/>
            <a:ext cx="1426464" cy="2743200"/>
          </a:xfrm>
          <a:prstGeom prst="rect">
            <a:avLst/>
          </a:prstGeom>
          <a:noFill/>
          <a:ln/>
        </p:spPr>
        <p:txBody>
          <a:bodyPr wrap="square" rtlCol="0" anchor="t"/>
          <a:lstStyle/>
          <a:p>
            <a:pPr marL="0" indent="0" algn="ctr">
              <a:spcAft>
                <a:spcPts val="800"/>
              </a:spcAft>
              <a:buNone/>
            </a:pPr>
            <a:r>
              <a:rPr lang="en-US" sz="1400" b="1" dirty="0">
                <a:solidFill>
                  <a:srgbClr val="0B2A4A"/>
                </a:solidFill>
              </a:rPr>
              <a:t>Objectives</a:t>
            </a:r>
            <a:endParaRPr lang="en-US" sz="1400" dirty="0"/>
          </a:p>
          <a:p>
            <a:pPr marL="0" indent="0" algn="ctr">
              <a:spcAft>
                <a:spcPts val="800"/>
              </a:spcAft>
              <a:buNone/>
            </a:pPr>
            <a:r>
              <a:rPr lang="en-US" sz="1300" dirty="0">
                <a:solidFill>
                  <a:srgbClr val="0B1F33"/>
                </a:solidFill>
              </a:rPr>
              <a:t>RO1 to RO6</a:t>
            </a:r>
            <a:endParaRPr lang="en-US" sz="1400" dirty="0"/>
          </a:p>
        </p:txBody>
      </p:sp>
      <p:sp>
        <p:nvSpPr>
          <p:cNvPr id="20" name="step number 5"/>
          <p:cNvSpPr/>
          <p:nvPr/>
        </p:nvSpPr>
        <p:spPr>
          <a:xfrm>
            <a:off x="7498080" y="1554480"/>
            <a:ext cx="548640" cy="548640"/>
          </a:xfrm>
          <a:prstGeom prst="ellipse">
            <a:avLst/>
          </a:prstGeom>
          <a:solidFill>
            <a:srgbClr val="1FB5D6"/>
          </a:solidFill>
          <a:ln w="19050">
            <a:solidFill>
              <a:srgbClr val="FFFFFF"/>
            </a:solidFill>
            <a:prstDash val="solid"/>
          </a:ln>
        </p:spPr>
        <p:txBody>
          <a:bodyPr/>
          <a:lstStyle/>
          <a:p>
            <a:endParaRPr lang="en-AU"/>
          </a:p>
        </p:txBody>
      </p:sp>
      <p:sp>
        <p:nvSpPr>
          <p:cNvPr id="21" name="step num text 5"/>
          <p:cNvSpPr txBox="1"/>
          <p:nvPr/>
        </p:nvSpPr>
        <p:spPr>
          <a:xfrm>
            <a:off x="7498080" y="1554480"/>
            <a:ext cx="548640" cy="548640"/>
          </a:xfrm>
          <a:prstGeom prst="rect">
            <a:avLst/>
          </a:prstGeom>
          <a:noFill/>
          <a:ln/>
        </p:spPr>
        <p:txBody>
          <a:bodyPr wrap="square" rtlCol="0" anchor="ctr"/>
          <a:lstStyle/>
          <a:p>
            <a:pPr marL="0" indent="0" algn="ctr">
              <a:buNone/>
            </a:pPr>
            <a:r>
              <a:rPr lang="en-US" sz="2000" b="1" dirty="0">
                <a:solidFill>
                  <a:srgbClr val="FFFFFF"/>
                </a:solidFill>
              </a:rPr>
              <a:t>5</a:t>
            </a:r>
            <a:endParaRPr lang="en-US" sz="2000" dirty="0"/>
          </a:p>
        </p:txBody>
      </p:sp>
      <p:sp>
        <p:nvSpPr>
          <p:cNvPr id="22" name="step box 5"/>
          <p:cNvSpPr/>
          <p:nvPr/>
        </p:nvSpPr>
        <p:spPr>
          <a:xfrm>
            <a:off x="7013448" y="2286000"/>
            <a:ext cx="1517904" cy="2926080"/>
          </a:xfrm>
          <a:prstGeom prst="roundRect">
            <a:avLst>
              <a:gd name="adj" fmla="val 6024"/>
            </a:avLst>
          </a:prstGeom>
          <a:solidFill>
            <a:srgbClr val="FFFFFF"/>
          </a:solidFill>
          <a:ln w="19050">
            <a:solidFill>
              <a:srgbClr val="1FB5D6"/>
            </a:solidFill>
            <a:prstDash val="solid"/>
          </a:ln>
        </p:spPr>
        <p:txBody>
          <a:bodyPr/>
          <a:lstStyle/>
          <a:p>
            <a:endParaRPr lang="en-AU"/>
          </a:p>
        </p:txBody>
      </p:sp>
      <p:sp>
        <p:nvSpPr>
          <p:cNvPr id="23" name="step text 5"/>
          <p:cNvSpPr txBox="1"/>
          <p:nvPr/>
        </p:nvSpPr>
        <p:spPr>
          <a:xfrm>
            <a:off x="7059168" y="2377440"/>
            <a:ext cx="1426464" cy="2743200"/>
          </a:xfrm>
          <a:prstGeom prst="rect">
            <a:avLst/>
          </a:prstGeom>
          <a:noFill/>
          <a:ln/>
        </p:spPr>
        <p:txBody>
          <a:bodyPr wrap="square" rtlCol="0" anchor="t"/>
          <a:lstStyle/>
          <a:p>
            <a:pPr marL="0" indent="0" algn="ctr">
              <a:spcAft>
                <a:spcPts val="800"/>
              </a:spcAft>
              <a:buNone/>
            </a:pPr>
            <a:r>
              <a:rPr lang="en-US" sz="1400" b="1" dirty="0">
                <a:solidFill>
                  <a:srgbClr val="0B2A4A"/>
                </a:solidFill>
              </a:rPr>
              <a:t>Design</a:t>
            </a:r>
            <a:endParaRPr lang="en-US" sz="1400" dirty="0"/>
          </a:p>
          <a:p>
            <a:pPr marL="0" indent="0" algn="ctr">
              <a:spcAft>
                <a:spcPts val="800"/>
              </a:spcAft>
              <a:buNone/>
            </a:pPr>
            <a:r>
              <a:rPr lang="en-US" sz="1300" dirty="0">
                <a:solidFill>
                  <a:srgbClr val="0B1F33"/>
                </a:solidFill>
              </a:rPr>
              <a:t>MVC architecture, consent object C, Algorithms 1 to 4</a:t>
            </a:r>
            <a:endParaRPr lang="en-US" sz="1400" dirty="0"/>
          </a:p>
        </p:txBody>
      </p:sp>
      <p:sp>
        <p:nvSpPr>
          <p:cNvPr id="24" name="step number 6"/>
          <p:cNvSpPr/>
          <p:nvPr/>
        </p:nvSpPr>
        <p:spPr>
          <a:xfrm>
            <a:off x="9125712" y="1554480"/>
            <a:ext cx="548640" cy="548640"/>
          </a:xfrm>
          <a:prstGeom prst="ellipse">
            <a:avLst/>
          </a:prstGeom>
          <a:solidFill>
            <a:srgbClr val="1FB5D6"/>
          </a:solidFill>
          <a:ln w="19050">
            <a:solidFill>
              <a:srgbClr val="FFFFFF"/>
            </a:solidFill>
            <a:prstDash val="solid"/>
          </a:ln>
        </p:spPr>
        <p:txBody>
          <a:bodyPr/>
          <a:lstStyle/>
          <a:p>
            <a:endParaRPr lang="en-AU"/>
          </a:p>
        </p:txBody>
      </p:sp>
      <p:sp>
        <p:nvSpPr>
          <p:cNvPr id="25" name="step num text 6"/>
          <p:cNvSpPr txBox="1"/>
          <p:nvPr/>
        </p:nvSpPr>
        <p:spPr>
          <a:xfrm>
            <a:off x="9125712" y="1554480"/>
            <a:ext cx="548640" cy="548640"/>
          </a:xfrm>
          <a:prstGeom prst="rect">
            <a:avLst/>
          </a:prstGeom>
          <a:noFill/>
          <a:ln/>
        </p:spPr>
        <p:txBody>
          <a:bodyPr wrap="square" rtlCol="0" anchor="ctr"/>
          <a:lstStyle/>
          <a:p>
            <a:pPr marL="0" indent="0" algn="ctr">
              <a:buNone/>
            </a:pPr>
            <a:r>
              <a:rPr lang="en-US" sz="2000" b="1" dirty="0">
                <a:solidFill>
                  <a:srgbClr val="FFFFFF"/>
                </a:solidFill>
              </a:rPr>
              <a:t>6</a:t>
            </a:r>
            <a:endParaRPr lang="en-US" sz="2000" dirty="0"/>
          </a:p>
        </p:txBody>
      </p:sp>
      <p:sp>
        <p:nvSpPr>
          <p:cNvPr id="26" name="step box 6"/>
          <p:cNvSpPr/>
          <p:nvPr/>
        </p:nvSpPr>
        <p:spPr>
          <a:xfrm>
            <a:off x="8641080" y="2286000"/>
            <a:ext cx="1517904" cy="2926080"/>
          </a:xfrm>
          <a:prstGeom prst="roundRect">
            <a:avLst>
              <a:gd name="adj" fmla="val 6024"/>
            </a:avLst>
          </a:prstGeom>
          <a:solidFill>
            <a:srgbClr val="FFFFFF"/>
          </a:solidFill>
          <a:ln w="19050">
            <a:solidFill>
              <a:srgbClr val="1FB5D6"/>
            </a:solidFill>
            <a:prstDash val="solid"/>
          </a:ln>
        </p:spPr>
        <p:txBody>
          <a:bodyPr/>
          <a:lstStyle/>
          <a:p>
            <a:endParaRPr lang="en-AU"/>
          </a:p>
        </p:txBody>
      </p:sp>
      <p:sp>
        <p:nvSpPr>
          <p:cNvPr id="27" name="step text 6"/>
          <p:cNvSpPr txBox="1"/>
          <p:nvPr/>
        </p:nvSpPr>
        <p:spPr>
          <a:xfrm>
            <a:off x="8686800" y="2377440"/>
            <a:ext cx="1426464" cy="2743200"/>
          </a:xfrm>
          <a:prstGeom prst="rect">
            <a:avLst/>
          </a:prstGeom>
          <a:noFill/>
          <a:ln/>
        </p:spPr>
        <p:txBody>
          <a:bodyPr wrap="square" rtlCol="0" anchor="t"/>
          <a:lstStyle/>
          <a:p>
            <a:pPr marL="0" indent="0" algn="ctr">
              <a:spcAft>
                <a:spcPts val="800"/>
              </a:spcAft>
              <a:buNone/>
            </a:pPr>
            <a:r>
              <a:rPr lang="en-US" sz="1400" b="1" dirty="0">
                <a:solidFill>
                  <a:srgbClr val="0B2A4A"/>
                </a:solidFill>
              </a:rPr>
              <a:t>Prototype</a:t>
            </a:r>
            <a:endParaRPr lang="en-US" sz="1400" dirty="0"/>
          </a:p>
          <a:p>
            <a:pPr marL="0" indent="0" algn="ctr">
              <a:spcAft>
                <a:spcPts val="800"/>
              </a:spcAft>
              <a:buNone/>
            </a:pPr>
            <a:r>
              <a:rPr lang="en-US" sz="1300" dirty="0">
                <a:solidFill>
                  <a:srgbClr val="0B1F33"/>
                </a:solidFill>
              </a:rPr>
              <a:t>HALAH; ConsentSBTv3 on Sepolia</a:t>
            </a:r>
            <a:endParaRPr lang="en-US" sz="1400" dirty="0"/>
          </a:p>
        </p:txBody>
      </p:sp>
      <p:sp>
        <p:nvSpPr>
          <p:cNvPr id="28" name="step number 7"/>
          <p:cNvSpPr/>
          <p:nvPr/>
        </p:nvSpPr>
        <p:spPr>
          <a:xfrm>
            <a:off x="10753344" y="1554480"/>
            <a:ext cx="548640" cy="548640"/>
          </a:xfrm>
          <a:prstGeom prst="ellipse">
            <a:avLst/>
          </a:prstGeom>
          <a:solidFill>
            <a:srgbClr val="6D5BA8"/>
          </a:solidFill>
          <a:ln w="19050">
            <a:solidFill>
              <a:srgbClr val="FFFFFF"/>
            </a:solidFill>
            <a:prstDash val="solid"/>
          </a:ln>
        </p:spPr>
        <p:txBody>
          <a:bodyPr/>
          <a:lstStyle/>
          <a:p>
            <a:endParaRPr lang="en-AU"/>
          </a:p>
        </p:txBody>
      </p:sp>
      <p:sp>
        <p:nvSpPr>
          <p:cNvPr id="29" name="step num text 7"/>
          <p:cNvSpPr txBox="1"/>
          <p:nvPr/>
        </p:nvSpPr>
        <p:spPr>
          <a:xfrm>
            <a:off x="10753344" y="1554480"/>
            <a:ext cx="548640" cy="548640"/>
          </a:xfrm>
          <a:prstGeom prst="rect">
            <a:avLst/>
          </a:prstGeom>
          <a:noFill/>
          <a:ln/>
        </p:spPr>
        <p:txBody>
          <a:bodyPr wrap="square" rtlCol="0" anchor="ctr"/>
          <a:lstStyle/>
          <a:p>
            <a:pPr marL="0" indent="0" algn="ctr">
              <a:buNone/>
            </a:pPr>
            <a:r>
              <a:rPr lang="en-US" sz="2000" b="1" dirty="0">
                <a:solidFill>
                  <a:srgbClr val="FFFFFF"/>
                </a:solidFill>
              </a:rPr>
              <a:t>7</a:t>
            </a:r>
            <a:endParaRPr lang="en-US" sz="2000" dirty="0"/>
          </a:p>
        </p:txBody>
      </p:sp>
      <p:sp>
        <p:nvSpPr>
          <p:cNvPr id="30" name="step box 7"/>
          <p:cNvSpPr/>
          <p:nvPr/>
        </p:nvSpPr>
        <p:spPr>
          <a:xfrm>
            <a:off x="10268712" y="2286000"/>
            <a:ext cx="1517904" cy="2926080"/>
          </a:xfrm>
          <a:prstGeom prst="roundRect">
            <a:avLst>
              <a:gd name="adj" fmla="val 6024"/>
            </a:avLst>
          </a:prstGeom>
          <a:solidFill>
            <a:srgbClr val="FFFFFF"/>
          </a:solidFill>
          <a:ln w="19050">
            <a:solidFill>
              <a:srgbClr val="1FB5D6"/>
            </a:solidFill>
            <a:prstDash val="solid"/>
          </a:ln>
        </p:spPr>
        <p:txBody>
          <a:bodyPr/>
          <a:lstStyle/>
          <a:p>
            <a:endParaRPr lang="en-AU"/>
          </a:p>
        </p:txBody>
      </p:sp>
      <p:sp>
        <p:nvSpPr>
          <p:cNvPr id="31" name="step text 7"/>
          <p:cNvSpPr txBox="1"/>
          <p:nvPr/>
        </p:nvSpPr>
        <p:spPr>
          <a:xfrm>
            <a:off x="10314432" y="2377440"/>
            <a:ext cx="1426464" cy="2743200"/>
          </a:xfrm>
          <a:prstGeom prst="rect">
            <a:avLst/>
          </a:prstGeom>
          <a:noFill/>
          <a:ln/>
        </p:spPr>
        <p:txBody>
          <a:bodyPr wrap="square" rtlCol="0" anchor="t"/>
          <a:lstStyle/>
          <a:p>
            <a:pPr marL="0" indent="0" algn="ctr">
              <a:spcAft>
                <a:spcPts val="800"/>
              </a:spcAft>
              <a:buNone/>
            </a:pPr>
            <a:r>
              <a:rPr lang="en-US" sz="1400" b="1" dirty="0">
                <a:solidFill>
                  <a:srgbClr val="0B2A4A"/>
                </a:solidFill>
              </a:rPr>
              <a:t>Evaluation</a:t>
            </a:r>
            <a:endParaRPr lang="en-US" sz="1400" dirty="0"/>
          </a:p>
          <a:p>
            <a:pPr marL="0" indent="0" algn="ctr">
              <a:spcAft>
                <a:spcPts val="800"/>
              </a:spcAft>
              <a:buNone/>
            </a:pPr>
            <a:r>
              <a:rPr lang="en-US" sz="1300" dirty="0">
                <a:solidFill>
                  <a:srgbClr val="0B1F33"/>
                </a:solidFill>
              </a:rPr>
              <a:t>Live scenarios, measurements and 13 attack tests; formal proofs next</a:t>
            </a:r>
            <a:endParaRPr lang="en-US" sz="1400" dirty="0"/>
          </a:p>
        </p:txBody>
      </p:sp>
      <p:sp>
        <p:nvSpPr>
          <p:cNvPr id="32" name="process arrow"/>
          <p:cNvSpPr/>
          <p:nvPr/>
        </p:nvSpPr>
        <p:spPr>
          <a:xfrm>
            <a:off x="502920" y="5486400"/>
            <a:ext cx="11247120" cy="411480"/>
          </a:xfrm>
          <a:prstGeom prst="rightArrow">
            <a:avLst/>
          </a:prstGeom>
          <a:solidFill>
            <a:srgbClr val="1FB5D6">
              <a:alpha val="75000"/>
            </a:srgbClr>
          </a:solidFill>
          <a:ln w="12700">
            <a:solidFill>
              <a:srgbClr val="1FB5D6"/>
            </a:solidFill>
            <a:prstDash val="solid"/>
          </a:ln>
        </p:spPr>
        <p:txBody>
          <a:bodyPr/>
          <a:lstStyle/>
          <a:p>
            <a:endParaRPr lang="en-AU"/>
          </a:p>
        </p:txBody>
      </p:sp>
      <p:sp>
        <p:nvSpPr>
          <p:cNvPr id="33" name="arrow label"/>
          <p:cNvSpPr txBox="1"/>
          <p:nvPr/>
        </p:nvSpPr>
        <p:spPr>
          <a:xfrm>
            <a:off x="731520" y="5486400"/>
            <a:ext cx="10515600" cy="411480"/>
          </a:xfrm>
          <a:prstGeom prst="rect">
            <a:avLst/>
          </a:prstGeom>
          <a:noFill/>
          <a:ln/>
        </p:spPr>
        <p:txBody>
          <a:bodyPr wrap="square" rtlCol="0" anchor="ctr"/>
          <a:lstStyle/>
          <a:p>
            <a:pPr marL="0" indent="0" algn="ctr">
              <a:buNone/>
            </a:pPr>
            <a:r>
              <a:rPr lang="en-US" sz="1400" b="1" dirty="0">
                <a:solidFill>
                  <a:srgbClr val="FFFFFF"/>
                </a:solidFill>
              </a:rPr>
              <a:t>From the problem to the evaluated prototype</a:t>
            </a:r>
            <a:endParaRPr lang="en-US" sz="1400" dirty="0"/>
          </a:p>
        </p:txBody>
      </p:sp>
      <p:sp>
        <p:nvSpPr>
          <p:cNvPr id="3"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53" name="Straight Arrow Connector 52">
            <a:extLst>
              <a:ext uri="{FF2B5EF4-FFF2-40B4-BE49-F238E27FC236}">
                <a16:creationId xmlns:a16="http://schemas.microsoft.com/office/drawing/2014/main" id="{03822886-BADF-4599-B087-E62B58670523}"/>
              </a:ext>
            </a:extLst>
          </p:cNvPr>
          <p:cNvCxnSpPr>
            <a:stCxn id="50" idx="2"/>
            <a:endCxn id="4" idx="0"/>
          </p:cNvCxnSpPr>
          <p:nvPr/>
        </p:nvCxnSpPr>
        <p:spPr>
          <a:xfrm flipH="1">
            <a:off x="1600200" y="1648302"/>
            <a:ext cx="1" cy="685323"/>
          </a:xfrm>
          <a:prstGeom prst="straightConnector1">
            <a:avLst/>
          </a:prstGeom>
          <a:ln w="18098">
            <a:solidFill>
              <a:srgbClr val="146BA8"/>
            </a:solidFill>
            <a:prstDash val="dash"/>
            <a:tailEnd type="triangle" w="med" len="med"/>
          </a:ln>
        </p:spPr>
      </p:cxnSp>
      <p:cxnSp>
        <p:nvCxnSpPr>
          <p:cNvPr id="52" name="Straight Arrow Connector 51">
            <a:extLst>
              <a:ext uri="{FF2B5EF4-FFF2-40B4-BE49-F238E27FC236}">
                <a16:creationId xmlns:a16="http://schemas.microsoft.com/office/drawing/2014/main" id="{29179580-C06A-4D49-A58E-01E742D0CA15}"/>
              </a:ext>
            </a:extLst>
          </p:cNvPr>
          <p:cNvCxnSpPr>
            <a:stCxn id="49" idx="1"/>
            <a:endCxn id="50" idx="3"/>
          </p:cNvCxnSpPr>
          <p:nvPr/>
        </p:nvCxnSpPr>
        <p:spPr>
          <a:xfrm flipH="1">
            <a:off x="1600677" y="1647826"/>
            <a:ext cx="8990647" cy="0"/>
          </a:xfrm>
          <a:prstGeom prst="straightConnector1">
            <a:avLst/>
          </a:prstGeom>
          <a:ln w="18098">
            <a:solidFill>
              <a:srgbClr val="146BA8"/>
            </a:solidFill>
            <a:prstDash val="dash"/>
          </a:ln>
        </p:spPr>
      </p:cxnSp>
      <p:cxnSp>
        <p:nvCxnSpPr>
          <p:cNvPr id="51" name="Straight Arrow Connector 50">
            <a:extLst>
              <a:ext uri="{FF2B5EF4-FFF2-40B4-BE49-F238E27FC236}">
                <a16:creationId xmlns:a16="http://schemas.microsoft.com/office/drawing/2014/main" id="{58281C3F-273F-4C42-8F7E-D74296F1CB85}"/>
              </a:ext>
            </a:extLst>
          </p:cNvPr>
          <p:cNvCxnSpPr>
            <a:stCxn id="28" idx="0"/>
            <a:endCxn id="49" idx="2"/>
          </p:cNvCxnSpPr>
          <p:nvPr/>
        </p:nvCxnSpPr>
        <p:spPr>
          <a:xfrm flipV="1">
            <a:off x="10591800" y="1648302"/>
            <a:ext cx="1" cy="685323"/>
          </a:xfrm>
          <a:prstGeom prst="straightConnector1">
            <a:avLst/>
          </a:prstGeom>
          <a:ln w="18098">
            <a:solidFill>
              <a:srgbClr val="146BA8"/>
            </a:solidFill>
            <a:prstDash val="dash"/>
          </a:ln>
        </p:spPr>
      </p:cxnSp>
      <p:cxnSp>
        <p:nvCxnSpPr>
          <p:cNvPr id="42" name="Straight Arrow Connector 41">
            <a:extLst>
              <a:ext uri="{FF2B5EF4-FFF2-40B4-BE49-F238E27FC236}">
                <a16:creationId xmlns:a16="http://schemas.microsoft.com/office/drawing/2014/main" id="{55FE4649-F898-443F-B6B9-2FE8563F7454}"/>
              </a:ext>
            </a:extLst>
          </p:cNvPr>
          <p:cNvCxnSpPr>
            <a:stCxn id="28" idx="2"/>
            <a:endCxn id="32" idx="0"/>
          </p:cNvCxnSpPr>
          <p:nvPr/>
        </p:nvCxnSpPr>
        <p:spPr>
          <a:xfrm>
            <a:off x="10591800" y="4143375"/>
            <a:ext cx="0" cy="542925"/>
          </a:xfrm>
          <a:prstGeom prst="straightConnector1">
            <a:avLst/>
          </a:prstGeom>
          <a:ln w="19050">
            <a:solidFill>
              <a:srgbClr val="146BA8"/>
            </a:solidFill>
            <a:prstDash val="solid"/>
            <a:tailEnd type="triangle" w="med" len="med"/>
          </a:ln>
        </p:spPr>
      </p:cxnSp>
      <p:cxnSp>
        <p:nvCxnSpPr>
          <p:cNvPr id="41" name="Straight Arrow Connector 40">
            <a:extLst>
              <a:ext uri="{FF2B5EF4-FFF2-40B4-BE49-F238E27FC236}">
                <a16:creationId xmlns:a16="http://schemas.microsoft.com/office/drawing/2014/main" id="{642DDECE-D97E-461B-892B-692607EF50D8}"/>
              </a:ext>
            </a:extLst>
          </p:cNvPr>
          <p:cNvCxnSpPr>
            <a:stCxn id="22" idx="2"/>
            <a:endCxn id="26" idx="0"/>
          </p:cNvCxnSpPr>
          <p:nvPr/>
        </p:nvCxnSpPr>
        <p:spPr>
          <a:xfrm>
            <a:off x="8343900" y="4143375"/>
            <a:ext cx="0" cy="542925"/>
          </a:xfrm>
          <a:prstGeom prst="straightConnector1">
            <a:avLst/>
          </a:prstGeom>
          <a:ln w="19050">
            <a:solidFill>
              <a:srgbClr val="146BA8"/>
            </a:solidFill>
            <a:prstDash val="solid"/>
            <a:tailEnd type="triangle" w="med" len="med"/>
          </a:ln>
        </p:spPr>
      </p:cxnSp>
      <p:cxnSp>
        <p:nvCxnSpPr>
          <p:cNvPr id="40" name="Straight Arrow Connector 39">
            <a:extLst>
              <a:ext uri="{FF2B5EF4-FFF2-40B4-BE49-F238E27FC236}">
                <a16:creationId xmlns:a16="http://schemas.microsoft.com/office/drawing/2014/main" id="{3A2D12C7-EEB3-427C-9370-D41D212A99A1}"/>
              </a:ext>
            </a:extLst>
          </p:cNvPr>
          <p:cNvCxnSpPr>
            <a:stCxn id="16" idx="2"/>
            <a:endCxn id="20" idx="0"/>
          </p:cNvCxnSpPr>
          <p:nvPr/>
        </p:nvCxnSpPr>
        <p:spPr>
          <a:xfrm>
            <a:off x="6096000" y="4143375"/>
            <a:ext cx="0" cy="542925"/>
          </a:xfrm>
          <a:prstGeom prst="straightConnector1">
            <a:avLst/>
          </a:prstGeom>
          <a:ln w="19050">
            <a:solidFill>
              <a:srgbClr val="146BA8"/>
            </a:solidFill>
            <a:prstDash val="solid"/>
            <a:tailEnd type="triangle" w="med" len="med"/>
          </a:ln>
        </p:spPr>
      </p:cxnSp>
      <p:cxnSp>
        <p:nvCxnSpPr>
          <p:cNvPr id="39" name="Straight Arrow Connector 38">
            <a:extLst>
              <a:ext uri="{FF2B5EF4-FFF2-40B4-BE49-F238E27FC236}">
                <a16:creationId xmlns:a16="http://schemas.microsoft.com/office/drawing/2014/main" id="{0B500F2A-7F3B-410C-88ED-F81AE1889CFB}"/>
              </a:ext>
            </a:extLst>
          </p:cNvPr>
          <p:cNvCxnSpPr>
            <a:stCxn id="10" idx="2"/>
            <a:endCxn id="14" idx="0"/>
          </p:cNvCxnSpPr>
          <p:nvPr/>
        </p:nvCxnSpPr>
        <p:spPr>
          <a:xfrm>
            <a:off x="3848100" y="4143375"/>
            <a:ext cx="0" cy="542925"/>
          </a:xfrm>
          <a:prstGeom prst="straightConnector1">
            <a:avLst/>
          </a:prstGeom>
          <a:ln w="19050">
            <a:solidFill>
              <a:srgbClr val="146BA8"/>
            </a:solidFill>
            <a:prstDash val="solid"/>
            <a:tailEnd type="triangle" w="med" len="med"/>
          </a:ln>
        </p:spPr>
      </p:cxnSp>
      <p:cxnSp>
        <p:nvCxnSpPr>
          <p:cNvPr id="38" name="Straight Arrow Connector 37">
            <a:extLst>
              <a:ext uri="{FF2B5EF4-FFF2-40B4-BE49-F238E27FC236}">
                <a16:creationId xmlns:a16="http://schemas.microsoft.com/office/drawing/2014/main" id="{F98C51EB-747D-4539-8321-F7CA0ABD3494}"/>
              </a:ext>
            </a:extLst>
          </p:cNvPr>
          <p:cNvCxnSpPr>
            <a:stCxn id="4" idx="2"/>
            <a:endCxn id="8" idx="0"/>
          </p:cNvCxnSpPr>
          <p:nvPr/>
        </p:nvCxnSpPr>
        <p:spPr>
          <a:xfrm>
            <a:off x="1600200" y="4143375"/>
            <a:ext cx="0" cy="542925"/>
          </a:xfrm>
          <a:prstGeom prst="straightConnector1">
            <a:avLst/>
          </a:prstGeom>
          <a:ln w="19050">
            <a:solidFill>
              <a:srgbClr val="146BA8"/>
            </a:solidFill>
            <a:prstDash val="solid"/>
            <a:tailEnd type="triangle" w="med" len="med"/>
          </a:ln>
        </p:spPr>
      </p:cxnSp>
      <p:cxnSp>
        <p:nvCxnSpPr>
          <p:cNvPr id="37" name="Straight Arrow Connector 36">
            <a:extLst>
              <a:ext uri="{FF2B5EF4-FFF2-40B4-BE49-F238E27FC236}">
                <a16:creationId xmlns:a16="http://schemas.microsoft.com/office/drawing/2014/main" id="{A73DD747-FCB8-4E84-AFA8-ED34A16ECD84}"/>
              </a:ext>
            </a:extLst>
          </p:cNvPr>
          <p:cNvCxnSpPr>
            <a:stCxn id="22" idx="3"/>
            <a:endCxn id="28" idx="1"/>
          </p:cNvCxnSpPr>
          <p:nvPr/>
        </p:nvCxnSpPr>
        <p:spPr>
          <a:xfrm>
            <a:off x="9353550" y="3238500"/>
            <a:ext cx="228600" cy="0"/>
          </a:xfrm>
          <a:prstGeom prst="straightConnector1">
            <a:avLst/>
          </a:prstGeom>
          <a:ln w="19050">
            <a:solidFill>
              <a:srgbClr val="146BA8"/>
            </a:solidFill>
            <a:prstDash val="solid"/>
            <a:tailEnd type="triangle" w="med" len="med"/>
          </a:ln>
        </p:spPr>
      </p:cxnSp>
      <p:cxnSp>
        <p:nvCxnSpPr>
          <p:cNvPr id="36" name="Straight Arrow Connector 35">
            <a:extLst>
              <a:ext uri="{FF2B5EF4-FFF2-40B4-BE49-F238E27FC236}">
                <a16:creationId xmlns:a16="http://schemas.microsoft.com/office/drawing/2014/main" id="{6273276A-9C08-4EFC-BEE8-84A9922C4259}"/>
              </a:ext>
            </a:extLst>
          </p:cNvPr>
          <p:cNvCxnSpPr>
            <a:stCxn id="16" idx="3"/>
            <a:endCxn id="22" idx="1"/>
          </p:cNvCxnSpPr>
          <p:nvPr/>
        </p:nvCxnSpPr>
        <p:spPr>
          <a:xfrm>
            <a:off x="7105650" y="3238500"/>
            <a:ext cx="228600" cy="0"/>
          </a:xfrm>
          <a:prstGeom prst="straightConnector1">
            <a:avLst/>
          </a:prstGeom>
          <a:ln w="19050">
            <a:solidFill>
              <a:srgbClr val="146BA8"/>
            </a:solidFill>
            <a:prstDash val="solid"/>
            <a:tailEnd type="triangle" w="med" len="med"/>
          </a:ln>
        </p:spPr>
      </p:cxnSp>
      <p:cxnSp>
        <p:nvCxnSpPr>
          <p:cNvPr id="35" name="Straight Arrow Connector 34">
            <a:extLst>
              <a:ext uri="{FF2B5EF4-FFF2-40B4-BE49-F238E27FC236}">
                <a16:creationId xmlns:a16="http://schemas.microsoft.com/office/drawing/2014/main" id="{A507F68B-7AD5-48C7-B592-9192A26CC502}"/>
              </a:ext>
            </a:extLst>
          </p:cNvPr>
          <p:cNvCxnSpPr>
            <a:stCxn id="10" idx="3"/>
            <a:endCxn id="16" idx="1"/>
          </p:cNvCxnSpPr>
          <p:nvPr/>
        </p:nvCxnSpPr>
        <p:spPr>
          <a:xfrm>
            <a:off x="4857750" y="3238500"/>
            <a:ext cx="228600" cy="0"/>
          </a:xfrm>
          <a:prstGeom prst="straightConnector1">
            <a:avLst/>
          </a:prstGeom>
          <a:ln w="19050">
            <a:solidFill>
              <a:srgbClr val="146BA8"/>
            </a:solidFill>
            <a:prstDash val="solid"/>
            <a:tailEnd type="triangle" w="med" len="med"/>
          </a:ln>
        </p:spPr>
      </p:cxnSp>
      <p:cxnSp>
        <p:nvCxnSpPr>
          <p:cNvPr id="34" name="Straight Arrow Connector 33">
            <a:extLst>
              <a:ext uri="{FF2B5EF4-FFF2-40B4-BE49-F238E27FC236}">
                <a16:creationId xmlns:a16="http://schemas.microsoft.com/office/drawing/2014/main" id="{7BA14B3B-37F4-4DC4-B469-1D0C0F7474DE}"/>
              </a:ext>
            </a:extLst>
          </p:cNvPr>
          <p:cNvCxnSpPr>
            <a:stCxn id="4" idx="3"/>
            <a:endCxn id="10" idx="1"/>
          </p:cNvCxnSpPr>
          <p:nvPr/>
        </p:nvCxnSpPr>
        <p:spPr>
          <a:xfrm>
            <a:off x="2609850" y="3238500"/>
            <a:ext cx="228600" cy="0"/>
          </a:xfrm>
          <a:prstGeom prst="straightConnector1">
            <a:avLst/>
          </a:prstGeom>
          <a:ln w="19050">
            <a:solidFill>
              <a:srgbClr val="146BA8"/>
            </a:solidFill>
            <a:prstDash val="solid"/>
            <a:tailEnd type="triangle" w="med" len="med"/>
          </a:ln>
        </p:spPr>
      </p:cxnSp>
      <p:sp>
        <p:nvSpPr>
          <p:cNvPr id="58" name="headline">
            <a:extLst>
              <a:ext uri="{FF2B5EF4-FFF2-40B4-BE49-F238E27FC236}">
                <a16:creationId xmlns:a16="http://schemas.microsoft.com/office/drawing/2014/main" id="{412A6C18-6D3D-4783-90C6-63B7F7AEDA08}"/>
              </a:ext>
            </a:extLst>
          </p:cNvPr>
          <p:cNvSpPr>
            <a:spLocks noGrp="1"/>
          </p:cNvSpPr>
          <p:nvPr/>
        </p:nvSpPr>
        <p:spPr>
          <a:xfrm>
            <a:off x="590550" y="238125"/>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4000"/>
              </a:lnSpc>
              <a:buNone/>
              <a:defRPr sz="2700" b="1">
                <a:solidFill>
                  <a:srgbClr val="103B64"/>
                </a:solidFill>
                <a:latin typeface="Arial"/>
                <a:ea typeface="Arial"/>
                <a:cs typeface="Arial"/>
              </a:defRPr>
            </a:pPr>
            <a:r>
              <a:rPr sz="2700" b="1" dirty="0">
                <a:solidFill>
                  <a:srgbClr val="103B64"/>
                </a:solidFill>
                <a:latin typeface="Arial"/>
                <a:ea typeface="Arial"/>
                <a:cs typeface="Arial"/>
              </a:rPr>
              <a:t>RESEARCH METHODOLOGY: DSR</a:t>
            </a:r>
          </a:p>
        </p:txBody>
      </p:sp>
      <p:sp>
        <p:nvSpPr>
          <p:cNvPr id="2" name="heading-rule">
            <a:extLst>
              <a:ext uri="{FF2B5EF4-FFF2-40B4-BE49-F238E27FC236}">
                <a16:creationId xmlns:a16="http://schemas.microsoft.com/office/drawing/2014/main" id="{56DE6900-26D7-48B1-ABC8-1669AB15CFCA}"/>
              </a:ext>
            </a:extLst>
          </p:cNvPr>
          <p:cNvSpPr>
            <a:spLocks noGrp="1"/>
          </p:cNvSpPr>
          <p:nvPr/>
        </p:nvSpPr>
        <p:spPr>
          <a:xfrm>
            <a:off x="590550" y="866775"/>
            <a:ext cx="11010900" cy="12383"/>
          </a:xfrm>
          <a:prstGeom prst="rect">
            <a:avLst/>
          </a:prstGeom>
          <a:solidFill>
            <a:srgbClr val="DCE9F4"/>
          </a:solidFill>
          <a:ln w="15240">
            <a:solidFill>
              <a:srgbClr val="DCE9F4"/>
            </a:solidFill>
            <a:prstDash val="solid"/>
          </a:ln>
        </p:spPr>
        <p:txBody>
          <a:bodyPr/>
          <a:lstStyle/>
          <a:p>
            <a:endParaRPr lang="en-AU"/>
          </a:p>
        </p:txBody>
      </p:sp>
      <p:sp>
        <p:nvSpPr>
          <p:cNvPr id="4" name="dsr-phase-1">
            <a:extLst>
              <a:ext uri="{FF2B5EF4-FFF2-40B4-BE49-F238E27FC236}">
                <a16:creationId xmlns:a16="http://schemas.microsoft.com/office/drawing/2014/main" id="{D2921BD1-2613-4C7E-80AE-A6FFF52E21F7}"/>
              </a:ext>
            </a:extLst>
          </p:cNvPr>
          <p:cNvSpPr>
            <a:spLocks noGrp="1"/>
          </p:cNvSpPr>
          <p:nvPr/>
        </p:nvSpPr>
        <p:spPr>
          <a:xfrm>
            <a:off x="590550" y="2333625"/>
            <a:ext cx="2019300" cy="1809750"/>
          </a:xfrm>
          <a:prstGeom prst="rect">
            <a:avLst/>
          </a:prstGeom>
          <a:solidFill>
            <a:srgbClr val="F3F8FC"/>
          </a:solidFill>
          <a:ln w="15240">
            <a:solidFill>
              <a:srgbClr val="146BA8"/>
            </a:solidFill>
            <a:prstDash val="solid"/>
          </a:ln>
        </p:spPr>
        <p:txBody>
          <a:bodyPr/>
          <a:lstStyle/>
          <a:p>
            <a:endParaRPr lang="en-AU"/>
          </a:p>
        </p:txBody>
      </p:sp>
      <p:sp>
        <p:nvSpPr>
          <p:cNvPr id="5" name="phase-heading-1">
            <a:extLst>
              <a:ext uri="{FF2B5EF4-FFF2-40B4-BE49-F238E27FC236}">
                <a16:creationId xmlns:a16="http://schemas.microsoft.com/office/drawing/2014/main" id="{EABD0C2F-5698-4A13-BE07-611C1FD15160}"/>
              </a:ext>
            </a:extLst>
          </p:cNvPr>
          <p:cNvSpPr>
            <a:spLocks noGrp="1"/>
          </p:cNvSpPr>
          <p:nvPr/>
        </p:nvSpPr>
        <p:spPr>
          <a:xfrm>
            <a:off x="590550" y="2333625"/>
            <a:ext cx="2019300" cy="581025"/>
          </a:xfrm>
          <a:prstGeom prst="rect">
            <a:avLst/>
          </a:prstGeom>
          <a:solidFill>
            <a:srgbClr val="146BA8"/>
          </a:solidFill>
          <a:ln w="15240">
            <a:solidFill>
              <a:srgbClr val="146BA8"/>
            </a:solidFill>
            <a:prstDash val="solid"/>
          </a:ln>
        </p:spPr>
        <p:txBody>
          <a:bodyPr/>
          <a:lstStyle/>
          <a:p>
            <a:endParaRPr lang="en-AU"/>
          </a:p>
        </p:txBody>
      </p:sp>
      <p:sp>
        <p:nvSpPr>
          <p:cNvPr id="6" name="phase-title-1">
            <a:extLst>
              <a:ext uri="{FF2B5EF4-FFF2-40B4-BE49-F238E27FC236}">
                <a16:creationId xmlns:a16="http://schemas.microsoft.com/office/drawing/2014/main" id="{D53AAF33-45C4-402A-9947-0781342C9F35}"/>
              </a:ext>
            </a:extLst>
          </p:cNvPr>
          <p:cNvSpPr>
            <a:spLocks noGrp="1"/>
          </p:cNvSpPr>
          <p:nvPr/>
        </p:nvSpPr>
        <p:spPr>
          <a:xfrm>
            <a:off x="685800" y="2381250"/>
            <a:ext cx="1828800" cy="466725"/>
          </a:xfrm>
          <a:prstGeom prst="rect">
            <a:avLst/>
          </a:prstGeom>
          <a:noFill/>
          <a:ln w="0">
            <a:noFill/>
            <a:prstDash val="solid"/>
          </a:ln>
        </p:spPr>
        <p:txBody>
          <a:bodyPr wrap="square" lIns="0" tIns="0" rIns="0" bIns="0" anchor="ctr">
            <a:noAutofit/>
          </a:bodyPr>
          <a:lstStyle>
            <a:defPPr algn="ctr">
              <a:defRPr sz="1650" b="1">
                <a:solidFill>
                  <a:srgbClr val="FFFFFF"/>
                </a:solidFill>
                <a:latin typeface="Arial"/>
                <a:ea typeface="Arial"/>
                <a:cs typeface="Arial"/>
              </a:defRPr>
            </a:defP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Awareness of</a:t>
            </a:r>
          </a:p>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problem</a:t>
            </a:r>
          </a:p>
        </p:txBody>
      </p:sp>
      <p:sp>
        <p:nvSpPr>
          <p:cNvPr id="7" name="phase-activity-1">
            <a:extLst>
              <a:ext uri="{FF2B5EF4-FFF2-40B4-BE49-F238E27FC236}">
                <a16:creationId xmlns:a16="http://schemas.microsoft.com/office/drawing/2014/main" id="{1412441E-6A33-4494-AFD1-FF10EAC10CEF}"/>
              </a:ext>
            </a:extLst>
          </p:cNvPr>
          <p:cNvSpPr>
            <a:spLocks noGrp="1"/>
          </p:cNvSpPr>
          <p:nvPr/>
        </p:nvSpPr>
        <p:spPr>
          <a:xfrm>
            <a:off x="704850" y="3019425"/>
            <a:ext cx="1790700" cy="1019175"/>
          </a:xfrm>
          <a:prstGeom prst="rect">
            <a:avLst/>
          </a:prstGeom>
          <a:noFill/>
          <a:ln w="0">
            <a:noFill/>
            <a:prstDash val="solid"/>
          </a:ln>
        </p:spPr>
        <p:txBody>
          <a:bodyPr wrap="square" lIns="0" tIns="0" rIns="0" bIns="0" anchor="ctr">
            <a:noAutofit/>
          </a:bodyPr>
          <a:lstStyle>
            <a:defPPr algn="ctr">
              <a:defRPr sz="1500" b="0">
                <a:solidFill>
                  <a:srgbClr val="103B64"/>
                </a:solidFill>
                <a:latin typeface="Arial"/>
                <a:ea typeface="Arial"/>
                <a:cs typeface="Arial"/>
              </a:defRPr>
            </a:defPPr>
          </a:lstStyle>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Fragmented trust</a:t>
            </a:r>
          </a:p>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conditions</a:t>
            </a:r>
          </a:p>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SLR: 25 primary studies</a:t>
            </a:r>
          </a:p>
        </p:txBody>
      </p:sp>
      <p:sp>
        <p:nvSpPr>
          <p:cNvPr id="8" name="phase-output-1">
            <a:extLst>
              <a:ext uri="{FF2B5EF4-FFF2-40B4-BE49-F238E27FC236}">
                <a16:creationId xmlns:a16="http://schemas.microsoft.com/office/drawing/2014/main" id="{C4658635-8F03-4572-8188-E163CE82762C}"/>
              </a:ext>
            </a:extLst>
          </p:cNvPr>
          <p:cNvSpPr>
            <a:spLocks noGrp="1"/>
          </p:cNvSpPr>
          <p:nvPr/>
        </p:nvSpPr>
        <p:spPr>
          <a:xfrm>
            <a:off x="676275" y="4686300"/>
            <a:ext cx="1847850" cy="723900"/>
          </a:xfrm>
          <a:prstGeom prst="ellipse">
            <a:avLst/>
          </a:prstGeom>
          <a:solidFill>
            <a:srgbClr val="FFFFFF"/>
          </a:solidFill>
          <a:ln w="15240">
            <a:solidFill>
              <a:srgbClr val="146BA8"/>
            </a:solidFill>
            <a:prstDash val="solid"/>
          </a:ln>
        </p:spPr>
        <p:txBody>
          <a:bodyPr/>
          <a:lstStyle/>
          <a:p>
            <a:endParaRPr lang="en-AU"/>
          </a:p>
        </p:txBody>
      </p:sp>
      <p:sp>
        <p:nvSpPr>
          <p:cNvPr id="9" name="output-label-1">
            <a:extLst>
              <a:ext uri="{FF2B5EF4-FFF2-40B4-BE49-F238E27FC236}">
                <a16:creationId xmlns:a16="http://schemas.microsoft.com/office/drawing/2014/main" id="{727B1F37-F2E4-430C-876F-5F4E083202DC}"/>
              </a:ext>
            </a:extLst>
          </p:cNvPr>
          <p:cNvSpPr>
            <a:spLocks noGrp="1"/>
          </p:cNvSpPr>
          <p:nvPr/>
        </p:nvSpPr>
        <p:spPr>
          <a:xfrm>
            <a:off x="762000" y="4819650"/>
            <a:ext cx="1676400" cy="466725"/>
          </a:xfrm>
          <a:prstGeom prst="rect">
            <a:avLst/>
          </a:prstGeom>
          <a:noFill/>
          <a:ln w="0">
            <a:noFill/>
            <a:prstDash val="solid"/>
          </a:ln>
        </p:spPr>
        <p:txBody>
          <a:bodyPr wrap="square" lIns="0" tIns="0" rIns="0" bIns="0" anchor="ctr">
            <a:noAutofit/>
          </a:bodyPr>
          <a:lstStyle>
            <a:defPPr algn="ctr">
              <a:defRPr sz="1650" b="0">
                <a:solidFill>
                  <a:srgbClr val="103B64"/>
                </a:solidFill>
                <a:latin typeface="Arial"/>
                <a:ea typeface="Arial"/>
                <a:cs typeface="Arial"/>
              </a:defRPr>
            </a:defPPr>
          </a:lstStyle>
          <a:p>
            <a:pPr algn="ctr">
              <a:lnSpc>
                <a:spcPct val="104000"/>
              </a:lnSpc>
              <a:buNone/>
              <a:defRPr sz="1650" b="0">
                <a:solidFill>
                  <a:srgbClr val="103B64"/>
                </a:solidFill>
                <a:latin typeface="Arial"/>
                <a:ea typeface="Arial"/>
                <a:cs typeface="Arial"/>
              </a:defRPr>
            </a:pPr>
            <a:r>
              <a:rPr lang="en-US" sz="1650" dirty="0">
                <a:solidFill>
                  <a:srgbClr val="103B64"/>
                </a:solidFill>
                <a:latin typeface="Arial"/>
                <a:ea typeface="Arial"/>
                <a:cs typeface="Arial"/>
              </a:rPr>
              <a:t>Proposal</a:t>
            </a:r>
            <a:r>
              <a:rPr lang="en-US" sz="1650" b="0" dirty="0">
                <a:solidFill>
                  <a:srgbClr val="103B64"/>
                </a:solidFill>
                <a:latin typeface="Arial"/>
                <a:ea typeface="Arial"/>
                <a:cs typeface="Arial"/>
              </a:rPr>
              <a:t> </a:t>
            </a:r>
            <a:endParaRPr sz="1650" b="0" dirty="0">
              <a:solidFill>
                <a:srgbClr val="103B64"/>
              </a:solidFill>
              <a:latin typeface="Arial"/>
              <a:ea typeface="Arial"/>
              <a:cs typeface="Arial"/>
            </a:endParaRPr>
          </a:p>
        </p:txBody>
      </p:sp>
      <p:sp>
        <p:nvSpPr>
          <p:cNvPr id="10" name="dsr-phase-2">
            <a:extLst>
              <a:ext uri="{FF2B5EF4-FFF2-40B4-BE49-F238E27FC236}">
                <a16:creationId xmlns:a16="http://schemas.microsoft.com/office/drawing/2014/main" id="{0CAC0C68-F5E0-4103-BFE2-081CA48BF113}"/>
              </a:ext>
            </a:extLst>
          </p:cNvPr>
          <p:cNvSpPr>
            <a:spLocks noGrp="1"/>
          </p:cNvSpPr>
          <p:nvPr/>
        </p:nvSpPr>
        <p:spPr>
          <a:xfrm>
            <a:off x="2838450" y="2333625"/>
            <a:ext cx="2019300" cy="1809750"/>
          </a:xfrm>
          <a:prstGeom prst="rect">
            <a:avLst/>
          </a:prstGeom>
          <a:solidFill>
            <a:srgbClr val="F3F8FC"/>
          </a:solidFill>
          <a:ln w="15240">
            <a:solidFill>
              <a:srgbClr val="146BA8"/>
            </a:solidFill>
            <a:prstDash val="solid"/>
          </a:ln>
        </p:spPr>
        <p:txBody>
          <a:bodyPr/>
          <a:lstStyle/>
          <a:p>
            <a:endParaRPr lang="en-AU"/>
          </a:p>
        </p:txBody>
      </p:sp>
      <p:sp>
        <p:nvSpPr>
          <p:cNvPr id="11" name="phase-heading-2">
            <a:extLst>
              <a:ext uri="{FF2B5EF4-FFF2-40B4-BE49-F238E27FC236}">
                <a16:creationId xmlns:a16="http://schemas.microsoft.com/office/drawing/2014/main" id="{F175E974-830C-4426-B6AB-BF17142CA6BA}"/>
              </a:ext>
            </a:extLst>
          </p:cNvPr>
          <p:cNvSpPr>
            <a:spLocks noGrp="1"/>
          </p:cNvSpPr>
          <p:nvPr/>
        </p:nvSpPr>
        <p:spPr>
          <a:xfrm>
            <a:off x="2838450" y="2333625"/>
            <a:ext cx="2019300" cy="581025"/>
          </a:xfrm>
          <a:prstGeom prst="rect">
            <a:avLst/>
          </a:prstGeom>
          <a:solidFill>
            <a:srgbClr val="146BA8"/>
          </a:solidFill>
          <a:ln w="15240">
            <a:solidFill>
              <a:srgbClr val="146BA8"/>
            </a:solidFill>
            <a:prstDash val="solid"/>
          </a:ln>
        </p:spPr>
        <p:txBody>
          <a:bodyPr/>
          <a:lstStyle/>
          <a:p>
            <a:endParaRPr lang="en-AU"/>
          </a:p>
        </p:txBody>
      </p:sp>
      <p:sp>
        <p:nvSpPr>
          <p:cNvPr id="12" name="phase-title-2">
            <a:extLst>
              <a:ext uri="{FF2B5EF4-FFF2-40B4-BE49-F238E27FC236}">
                <a16:creationId xmlns:a16="http://schemas.microsoft.com/office/drawing/2014/main" id="{D21F6306-26BD-4B7C-9DD2-9D86447C91C3}"/>
              </a:ext>
            </a:extLst>
          </p:cNvPr>
          <p:cNvSpPr>
            <a:spLocks noGrp="1"/>
          </p:cNvSpPr>
          <p:nvPr/>
        </p:nvSpPr>
        <p:spPr>
          <a:xfrm>
            <a:off x="2933700" y="2381250"/>
            <a:ext cx="1828800" cy="466725"/>
          </a:xfrm>
          <a:prstGeom prst="rect">
            <a:avLst/>
          </a:prstGeom>
          <a:noFill/>
          <a:ln w="0">
            <a:noFill/>
            <a:prstDash val="solid"/>
          </a:ln>
        </p:spPr>
        <p:txBody>
          <a:bodyPr wrap="square" lIns="0" tIns="0" rIns="0" bIns="0" anchor="ctr">
            <a:noAutofit/>
          </a:bodyPr>
          <a:lstStyle>
            <a:defPPr algn="ctr">
              <a:defRPr sz="1650" b="1">
                <a:solidFill>
                  <a:srgbClr val="FFFFFF"/>
                </a:solidFill>
                <a:latin typeface="Arial"/>
                <a:ea typeface="Arial"/>
                <a:cs typeface="Arial"/>
              </a:defRPr>
            </a:defP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Suggestion</a:t>
            </a:r>
          </a:p>
        </p:txBody>
      </p:sp>
      <p:sp>
        <p:nvSpPr>
          <p:cNvPr id="13" name="phase-activity-2">
            <a:extLst>
              <a:ext uri="{FF2B5EF4-FFF2-40B4-BE49-F238E27FC236}">
                <a16:creationId xmlns:a16="http://schemas.microsoft.com/office/drawing/2014/main" id="{F0405FB5-C0B8-428B-AC9C-2C970DEF19CC}"/>
              </a:ext>
            </a:extLst>
          </p:cNvPr>
          <p:cNvSpPr>
            <a:spLocks noGrp="1"/>
          </p:cNvSpPr>
          <p:nvPr/>
        </p:nvSpPr>
        <p:spPr>
          <a:xfrm>
            <a:off x="2952750" y="3019425"/>
            <a:ext cx="1790700" cy="1019175"/>
          </a:xfrm>
          <a:prstGeom prst="rect">
            <a:avLst/>
          </a:prstGeom>
          <a:noFill/>
          <a:ln w="0">
            <a:noFill/>
            <a:prstDash val="solid"/>
          </a:ln>
        </p:spPr>
        <p:txBody>
          <a:bodyPr wrap="square" lIns="0" tIns="0" rIns="0" bIns="0" anchor="ctr">
            <a:noAutofit/>
          </a:bodyPr>
          <a:lstStyle>
            <a:defPPr algn="ctr">
              <a:defRPr sz="1500" b="0">
                <a:solidFill>
                  <a:srgbClr val="103B64"/>
                </a:solidFill>
                <a:latin typeface="Arial"/>
                <a:ea typeface="Arial"/>
                <a:cs typeface="Arial"/>
              </a:defRPr>
            </a:defPPr>
          </a:lstStyle>
          <a:p>
            <a:pPr algn="ctr">
              <a:lnSpc>
                <a:spcPct val="104000"/>
              </a:lnSpc>
              <a:buNone/>
              <a:defRPr sz="1500" b="0">
                <a:solidFill>
                  <a:srgbClr val="103B64"/>
                </a:solidFill>
                <a:latin typeface="Arial"/>
                <a:ea typeface="Arial"/>
                <a:cs typeface="Arial"/>
              </a:defRPr>
            </a:pPr>
            <a:r>
              <a:rPr sz="1500" b="0" dirty="0">
                <a:solidFill>
                  <a:srgbClr val="103B64"/>
                </a:solidFill>
                <a:latin typeface="Arial"/>
                <a:ea typeface="Arial"/>
                <a:cs typeface="Arial"/>
              </a:rPr>
              <a:t>RQ1–RQ6</a:t>
            </a:r>
          </a:p>
          <a:p>
            <a:pPr algn="ctr">
              <a:lnSpc>
                <a:spcPct val="104000"/>
              </a:lnSpc>
              <a:buNone/>
              <a:defRPr sz="1500" b="0">
                <a:solidFill>
                  <a:srgbClr val="103B64"/>
                </a:solidFill>
                <a:latin typeface="Arial"/>
                <a:ea typeface="Arial"/>
                <a:cs typeface="Arial"/>
              </a:defRPr>
            </a:pPr>
            <a:r>
              <a:rPr sz="1500" b="0" dirty="0">
                <a:solidFill>
                  <a:srgbClr val="103B64"/>
                </a:solidFill>
                <a:latin typeface="Arial"/>
                <a:ea typeface="Arial"/>
                <a:cs typeface="Arial"/>
              </a:rPr>
              <a:t>RO1–RO6</a:t>
            </a:r>
          </a:p>
          <a:p>
            <a:pPr algn="ctr">
              <a:lnSpc>
                <a:spcPct val="104000"/>
              </a:lnSpc>
              <a:buNone/>
              <a:defRPr sz="1500" b="0">
                <a:solidFill>
                  <a:srgbClr val="103B64"/>
                </a:solidFill>
                <a:latin typeface="Arial"/>
                <a:ea typeface="Arial"/>
                <a:cs typeface="Arial"/>
              </a:defRPr>
            </a:pPr>
            <a:r>
              <a:rPr sz="1500" b="0" dirty="0">
                <a:solidFill>
                  <a:srgbClr val="103B64"/>
                </a:solidFill>
                <a:latin typeface="Arial"/>
                <a:ea typeface="Arial"/>
                <a:cs typeface="Arial"/>
              </a:rPr>
              <a:t>Integrated trust model</a:t>
            </a:r>
          </a:p>
        </p:txBody>
      </p:sp>
      <p:sp>
        <p:nvSpPr>
          <p:cNvPr id="14" name="phase-output-2">
            <a:extLst>
              <a:ext uri="{FF2B5EF4-FFF2-40B4-BE49-F238E27FC236}">
                <a16:creationId xmlns:a16="http://schemas.microsoft.com/office/drawing/2014/main" id="{A3CD0948-EF88-4729-A9C4-0B04BED84F27}"/>
              </a:ext>
            </a:extLst>
          </p:cNvPr>
          <p:cNvSpPr>
            <a:spLocks noGrp="1"/>
          </p:cNvSpPr>
          <p:nvPr/>
        </p:nvSpPr>
        <p:spPr>
          <a:xfrm>
            <a:off x="2924175" y="4686300"/>
            <a:ext cx="1847850" cy="723900"/>
          </a:xfrm>
          <a:prstGeom prst="ellipse">
            <a:avLst/>
          </a:prstGeom>
          <a:solidFill>
            <a:srgbClr val="FFFFFF"/>
          </a:solidFill>
          <a:ln w="15240">
            <a:solidFill>
              <a:srgbClr val="146BA8"/>
            </a:solidFill>
            <a:prstDash val="solid"/>
          </a:ln>
        </p:spPr>
        <p:txBody>
          <a:bodyPr/>
          <a:lstStyle/>
          <a:p>
            <a:endParaRPr lang="en-AU"/>
          </a:p>
        </p:txBody>
      </p:sp>
      <p:sp>
        <p:nvSpPr>
          <p:cNvPr id="15" name="output-label-2">
            <a:extLst>
              <a:ext uri="{FF2B5EF4-FFF2-40B4-BE49-F238E27FC236}">
                <a16:creationId xmlns:a16="http://schemas.microsoft.com/office/drawing/2014/main" id="{31EE73B0-D4D0-40F3-9F9C-B8A01647A2E3}"/>
              </a:ext>
            </a:extLst>
          </p:cNvPr>
          <p:cNvSpPr>
            <a:spLocks noGrp="1"/>
          </p:cNvSpPr>
          <p:nvPr/>
        </p:nvSpPr>
        <p:spPr>
          <a:xfrm>
            <a:off x="3009900" y="4819650"/>
            <a:ext cx="1676400" cy="466725"/>
          </a:xfrm>
          <a:prstGeom prst="rect">
            <a:avLst/>
          </a:prstGeom>
          <a:noFill/>
          <a:ln w="0">
            <a:noFill/>
            <a:prstDash val="solid"/>
          </a:ln>
        </p:spPr>
        <p:txBody>
          <a:bodyPr wrap="square" lIns="0" tIns="0" rIns="0" bIns="0" anchor="ctr">
            <a:noAutofit/>
          </a:bodyPr>
          <a:lstStyle>
            <a:defPPr algn="ctr">
              <a:defRPr sz="1650" b="0">
                <a:solidFill>
                  <a:srgbClr val="103B64"/>
                </a:solidFill>
                <a:latin typeface="Arial"/>
                <a:ea typeface="Arial"/>
                <a:cs typeface="Arial"/>
              </a:defRPr>
            </a:defPPr>
          </a:lstStyle>
          <a:p>
            <a:pPr algn="ctr">
              <a:lnSpc>
                <a:spcPct val="104000"/>
              </a:lnSpc>
              <a:buNone/>
              <a:defRPr sz="1650" b="0">
                <a:solidFill>
                  <a:srgbClr val="103B64"/>
                </a:solidFill>
                <a:latin typeface="Arial"/>
                <a:ea typeface="Arial"/>
                <a:cs typeface="Arial"/>
              </a:defRPr>
            </a:pPr>
            <a:r>
              <a:rPr lang="en-US" sz="1650" dirty="0">
                <a:solidFill>
                  <a:srgbClr val="103B64"/>
                </a:solidFill>
                <a:latin typeface="Arial"/>
                <a:ea typeface="Arial"/>
                <a:cs typeface="Arial"/>
              </a:rPr>
              <a:t>D</a:t>
            </a:r>
            <a:r>
              <a:rPr sz="1650" b="0" dirty="0">
                <a:solidFill>
                  <a:srgbClr val="103B64"/>
                </a:solidFill>
                <a:latin typeface="Arial"/>
                <a:ea typeface="Arial"/>
                <a:cs typeface="Arial"/>
              </a:rPr>
              <a:t>esign</a:t>
            </a:r>
          </a:p>
        </p:txBody>
      </p:sp>
      <p:sp>
        <p:nvSpPr>
          <p:cNvPr id="16" name="dsr-phase-3">
            <a:extLst>
              <a:ext uri="{FF2B5EF4-FFF2-40B4-BE49-F238E27FC236}">
                <a16:creationId xmlns:a16="http://schemas.microsoft.com/office/drawing/2014/main" id="{DA02E9BD-FA37-464D-972C-9CC5723B5ED3}"/>
              </a:ext>
            </a:extLst>
          </p:cNvPr>
          <p:cNvSpPr>
            <a:spLocks noGrp="1"/>
          </p:cNvSpPr>
          <p:nvPr/>
        </p:nvSpPr>
        <p:spPr>
          <a:xfrm>
            <a:off x="5086350" y="2333625"/>
            <a:ext cx="2019300" cy="1809750"/>
          </a:xfrm>
          <a:prstGeom prst="rect">
            <a:avLst/>
          </a:prstGeom>
          <a:solidFill>
            <a:srgbClr val="F3F8FC"/>
          </a:solidFill>
          <a:ln w="15240">
            <a:solidFill>
              <a:srgbClr val="146BA8"/>
            </a:solidFill>
            <a:prstDash val="solid"/>
          </a:ln>
        </p:spPr>
        <p:txBody>
          <a:bodyPr/>
          <a:lstStyle/>
          <a:p>
            <a:endParaRPr lang="en-AU"/>
          </a:p>
        </p:txBody>
      </p:sp>
      <p:sp>
        <p:nvSpPr>
          <p:cNvPr id="17" name="phase-heading-3">
            <a:extLst>
              <a:ext uri="{FF2B5EF4-FFF2-40B4-BE49-F238E27FC236}">
                <a16:creationId xmlns:a16="http://schemas.microsoft.com/office/drawing/2014/main" id="{F49E1BCB-DBC7-41FB-B80B-D8D9C32EE758}"/>
              </a:ext>
            </a:extLst>
          </p:cNvPr>
          <p:cNvSpPr>
            <a:spLocks noGrp="1"/>
          </p:cNvSpPr>
          <p:nvPr/>
        </p:nvSpPr>
        <p:spPr>
          <a:xfrm>
            <a:off x="5086350" y="2333625"/>
            <a:ext cx="2019300" cy="581025"/>
          </a:xfrm>
          <a:prstGeom prst="rect">
            <a:avLst/>
          </a:prstGeom>
          <a:solidFill>
            <a:srgbClr val="146BA8"/>
          </a:solidFill>
          <a:ln w="15240">
            <a:solidFill>
              <a:srgbClr val="146BA8"/>
            </a:solidFill>
            <a:prstDash val="solid"/>
          </a:ln>
        </p:spPr>
        <p:txBody>
          <a:bodyPr/>
          <a:lstStyle/>
          <a:p>
            <a:endParaRPr lang="en-AU"/>
          </a:p>
        </p:txBody>
      </p:sp>
      <p:sp>
        <p:nvSpPr>
          <p:cNvPr id="18" name="phase-title-3">
            <a:extLst>
              <a:ext uri="{FF2B5EF4-FFF2-40B4-BE49-F238E27FC236}">
                <a16:creationId xmlns:a16="http://schemas.microsoft.com/office/drawing/2014/main" id="{FFACB7FD-7806-411B-89E7-D8D027AB27D9}"/>
              </a:ext>
            </a:extLst>
          </p:cNvPr>
          <p:cNvSpPr>
            <a:spLocks noGrp="1"/>
          </p:cNvSpPr>
          <p:nvPr/>
        </p:nvSpPr>
        <p:spPr>
          <a:xfrm>
            <a:off x="5181600" y="2381250"/>
            <a:ext cx="1828800" cy="466725"/>
          </a:xfrm>
          <a:prstGeom prst="rect">
            <a:avLst/>
          </a:prstGeom>
          <a:noFill/>
          <a:ln w="0">
            <a:noFill/>
            <a:prstDash val="solid"/>
          </a:ln>
        </p:spPr>
        <p:txBody>
          <a:bodyPr wrap="square" lIns="0" tIns="0" rIns="0" bIns="0" anchor="ctr">
            <a:noAutofit/>
          </a:bodyPr>
          <a:lstStyle>
            <a:defPPr algn="ctr">
              <a:defRPr sz="1650" b="1">
                <a:solidFill>
                  <a:srgbClr val="FFFFFF"/>
                </a:solidFill>
                <a:latin typeface="Arial"/>
                <a:ea typeface="Arial"/>
                <a:cs typeface="Arial"/>
              </a:defRPr>
            </a:defP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Design and</a:t>
            </a:r>
          </a:p>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development</a:t>
            </a:r>
          </a:p>
        </p:txBody>
      </p:sp>
      <p:sp>
        <p:nvSpPr>
          <p:cNvPr id="19" name="phase-activity-3">
            <a:extLst>
              <a:ext uri="{FF2B5EF4-FFF2-40B4-BE49-F238E27FC236}">
                <a16:creationId xmlns:a16="http://schemas.microsoft.com/office/drawing/2014/main" id="{EA027293-FA64-4595-80F1-25C42DB16F62}"/>
              </a:ext>
            </a:extLst>
          </p:cNvPr>
          <p:cNvSpPr>
            <a:spLocks noGrp="1"/>
          </p:cNvSpPr>
          <p:nvPr/>
        </p:nvSpPr>
        <p:spPr>
          <a:xfrm>
            <a:off x="5200650" y="3019425"/>
            <a:ext cx="1790700" cy="1019175"/>
          </a:xfrm>
          <a:prstGeom prst="rect">
            <a:avLst/>
          </a:prstGeom>
          <a:noFill/>
          <a:ln w="0">
            <a:noFill/>
            <a:prstDash val="solid"/>
          </a:ln>
        </p:spPr>
        <p:txBody>
          <a:bodyPr wrap="square" lIns="0" tIns="0" rIns="0" bIns="0" anchor="ctr">
            <a:noAutofit/>
          </a:bodyPr>
          <a:lstStyle>
            <a:defPPr algn="ctr">
              <a:defRPr sz="1500" b="0">
                <a:solidFill>
                  <a:srgbClr val="103B64"/>
                </a:solidFill>
                <a:latin typeface="Arial"/>
                <a:ea typeface="Arial"/>
                <a:cs typeface="Arial"/>
              </a:defRPr>
            </a:defPPr>
          </a:lstStyle>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Consent object and MVC</a:t>
            </a:r>
          </a:p>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Algorithms 1–6</a:t>
            </a:r>
          </a:p>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HALAH on Sepolia</a:t>
            </a:r>
          </a:p>
        </p:txBody>
      </p:sp>
      <p:sp>
        <p:nvSpPr>
          <p:cNvPr id="20" name="phase-output-3">
            <a:extLst>
              <a:ext uri="{FF2B5EF4-FFF2-40B4-BE49-F238E27FC236}">
                <a16:creationId xmlns:a16="http://schemas.microsoft.com/office/drawing/2014/main" id="{66F9EB70-633C-4955-8CAD-C078CAFB64E5}"/>
              </a:ext>
            </a:extLst>
          </p:cNvPr>
          <p:cNvSpPr>
            <a:spLocks noGrp="1"/>
          </p:cNvSpPr>
          <p:nvPr/>
        </p:nvSpPr>
        <p:spPr>
          <a:xfrm>
            <a:off x="5172075" y="4686300"/>
            <a:ext cx="1847850" cy="723900"/>
          </a:xfrm>
          <a:prstGeom prst="ellipse">
            <a:avLst/>
          </a:prstGeom>
          <a:solidFill>
            <a:srgbClr val="FFFFFF"/>
          </a:solidFill>
          <a:ln w="15240">
            <a:solidFill>
              <a:srgbClr val="146BA8"/>
            </a:solidFill>
            <a:prstDash val="solid"/>
          </a:ln>
        </p:spPr>
        <p:txBody>
          <a:bodyPr/>
          <a:lstStyle/>
          <a:p>
            <a:endParaRPr lang="en-AU"/>
          </a:p>
        </p:txBody>
      </p:sp>
      <p:sp>
        <p:nvSpPr>
          <p:cNvPr id="21" name="output-label-3">
            <a:extLst>
              <a:ext uri="{FF2B5EF4-FFF2-40B4-BE49-F238E27FC236}">
                <a16:creationId xmlns:a16="http://schemas.microsoft.com/office/drawing/2014/main" id="{967A1692-B8D7-4323-9EDF-BDADFBCEA7F6}"/>
              </a:ext>
            </a:extLst>
          </p:cNvPr>
          <p:cNvSpPr>
            <a:spLocks noGrp="1"/>
          </p:cNvSpPr>
          <p:nvPr/>
        </p:nvSpPr>
        <p:spPr>
          <a:xfrm>
            <a:off x="5257800" y="4819650"/>
            <a:ext cx="1676400" cy="466725"/>
          </a:xfrm>
          <a:prstGeom prst="rect">
            <a:avLst/>
          </a:prstGeom>
          <a:noFill/>
          <a:ln w="0">
            <a:noFill/>
            <a:prstDash val="solid"/>
          </a:ln>
        </p:spPr>
        <p:txBody>
          <a:bodyPr wrap="square" lIns="0" tIns="0" rIns="0" bIns="0" anchor="ctr">
            <a:noAutofit/>
          </a:bodyPr>
          <a:lstStyle>
            <a:defPPr algn="ctr">
              <a:defRPr sz="1650" b="0">
                <a:solidFill>
                  <a:srgbClr val="103B64"/>
                </a:solidFill>
                <a:latin typeface="Arial"/>
                <a:ea typeface="Arial"/>
                <a:cs typeface="Arial"/>
              </a:defRPr>
            </a:defPPr>
          </a:lstStyle>
          <a:p>
            <a:pPr algn="ctr">
              <a:lnSpc>
                <a:spcPct val="104000"/>
              </a:lnSpc>
              <a:buNone/>
              <a:defRPr sz="1650" b="0">
                <a:solidFill>
                  <a:srgbClr val="103B64"/>
                </a:solidFill>
                <a:latin typeface="Arial"/>
                <a:ea typeface="Arial"/>
                <a:cs typeface="Arial"/>
              </a:defRPr>
            </a:pPr>
            <a:r>
              <a:rPr sz="1650" b="0" dirty="0">
                <a:solidFill>
                  <a:srgbClr val="103B64"/>
                </a:solidFill>
                <a:latin typeface="Arial"/>
                <a:ea typeface="Arial"/>
                <a:cs typeface="Arial"/>
              </a:rPr>
              <a:t>HALAH</a:t>
            </a:r>
          </a:p>
          <a:p>
            <a:pPr algn="ctr">
              <a:lnSpc>
                <a:spcPct val="104000"/>
              </a:lnSpc>
              <a:buNone/>
              <a:defRPr sz="1650" b="0">
                <a:solidFill>
                  <a:srgbClr val="103B64"/>
                </a:solidFill>
                <a:latin typeface="Arial"/>
                <a:ea typeface="Arial"/>
                <a:cs typeface="Arial"/>
              </a:defRPr>
            </a:pPr>
            <a:r>
              <a:rPr sz="1650" b="0" dirty="0">
                <a:solidFill>
                  <a:srgbClr val="103B64"/>
                </a:solidFill>
                <a:latin typeface="Arial"/>
                <a:ea typeface="Arial"/>
                <a:cs typeface="Arial"/>
              </a:rPr>
              <a:t>art</a:t>
            </a:r>
            <a:r>
              <a:rPr lang="en-US" sz="1650" b="0" dirty="0">
                <a:solidFill>
                  <a:srgbClr val="103B64"/>
                </a:solidFill>
                <a:latin typeface="Arial"/>
                <a:ea typeface="Arial"/>
                <a:cs typeface="Arial"/>
              </a:rPr>
              <a:t>i</a:t>
            </a:r>
            <a:r>
              <a:rPr sz="1650" b="0" dirty="0">
                <a:solidFill>
                  <a:srgbClr val="103B64"/>
                </a:solidFill>
                <a:latin typeface="Arial"/>
                <a:ea typeface="Arial"/>
                <a:cs typeface="Arial"/>
              </a:rPr>
              <a:t>fact</a:t>
            </a:r>
          </a:p>
        </p:txBody>
      </p:sp>
      <p:sp>
        <p:nvSpPr>
          <p:cNvPr id="22" name="dsr-phase-4">
            <a:extLst>
              <a:ext uri="{FF2B5EF4-FFF2-40B4-BE49-F238E27FC236}">
                <a16:creationId xmlns:a16="http://schemas.microsoft.com/office/drawing/2014/main" id="{C324C6AE-C212-40FB-9625-D9A09CE80EF5}"/>
              </a:ext>
            </a:extLst>
          </p:cNvPr>
          <p:cNvSpPr>
            <a:spLocks noGrp="1"/>
          </p:cNvSpPr>
          <p:nvPr/>
        </p:nvSpPr>
        <p:spPr>
          <a:xfrm>
            <a:off x="7334250" y="2333625"/>
            <a:ext cx="2019300" cy="1809750"/>
          </a:xfrm>
          <a:prstGeom prst="rect">
            <a:avLst/>
          </a:prstGeom>
          <a:solidFill>
            <a:srgbClr val="F3F8FC"/>
          </a:solidFill>
          <a:ln w="15240">
            <a:solidFill>
              <a:srgbClr val="146BA8"/>
            </a:solidFill>
            <a:prstDash val="solid"/>
          </a:ln>
        </p:spPr>
        <p:txBody>
          <a:bodyPr/>
          <a:lstStyle/>
          <a:p>
            <a:endParaRPr lang="en-AU"/>
          </a:p>
        </p:txBody>
      </p:sp>
      <p:sp>
        <p:nvSpPr>
          <p:cNvPr id="23" name="phase-heading-4">
            <a:extLst>
              <a:ext uri="{FF2B5EF4-FFF2-40B4-BE49-F238E27FC236}">
                <a16:creationId xmlns:a16="http://schemas.microsoft.com/office/drawing/2014/main" id="{BAC9D8FA-277F-4614-9E6D-C97D71C69529}"/>
              </a:ext>
            </a:extLst>
          </p:cNvPr>
          <p:cNvSpPr>
            <a:spLocks noGrp="1"/>
          </p:cNvSpPr>
          <p:nvPr/>
        </p:nvSpPr>
        <p:spPr>
          <a:xfrm>
            <a:off x="7334250" y="2333625"/>
            <a:ext cx="2019300" cy="581025"/>
          </a:xfrm>
          <a:prstGeom prst="rect">
            <a:avLst/>
          </a:prstGeom>
          <a:solidFill>
            <a:srgbClr val="146BA8"/>
          </a:solidFill>
          <a:ln w="15240">
            <a:solidFill>
              <a:srgbClr val="146BA8"/>
            </a:solidFill>
            <a:prstDash val="solid"/>
          </a:ln>
        </p:spPr>
        <p:txBody>
          <a:bodyPr/>
          <a:lstStyle/>
          <a:p>
            <a:endParaRPr lang="en-AU"/>
          </a:p>
        </p:txBody>
      </p:sp>
      <p:sp>
        <p:nvSpPr>
          <p:cNvPr id="24" name="phase-title-4">
            <a:extLst>
              <a:ext uri="{FF2B5EF4-FFF2-40B4-BE49-F238E27FC236}">
                <a16:creationId xmlns:a16="http://schemas.microsoft.com/office/drawing/2014/main" id="{A78112D9-0D7F-4CC8-AE89-308B2020D2E3}"/>
              </a:ext>
            </a:extLst>
          </p:cNvPr>
          <p:cNvSpPr>
            <a:spLocks noGrp="1"/>
          </p:cNvSpPr>
          <p:nvPr/>
        </p:nvSpPr>
        <p:spPr>
          <a:xfrm>
            <a:off x="7429500" y="2381250"/>
            <a:ext cx="1828800" cy="466725"/>
          </a:xfrm>
          <a:prstGeom prst="rect">
            <a:avLst/>
          </a:prstGeom>
          <a:noFill/>
          <a:ln w="0">
            <a:noFill/>
            <a:prstDash val="solid"/>
          </a:ln>
        </p:spPr>
        <p:txBody>
          <a:bodyPr wrap="square" lIns="0" tIns="0" rIns="0" bIns="0" anchor="ctr">
            <a:noAutofit/>
          </a:bodyPr>
          <a:lstStyle>
            <a:defPPr algn="ctr">
              <a:defRPr sz="1650" b="1">
                <a:solidFill>
                  <a:srgbClr val="FFFFFF"/>
                </a:solidFill>
                <a:latin typeface="Arial"/>
                <a:ea typeface="Arial"/>
                <a:cs typeface="Arial"/>
              </a:defRPr>
            </a:defP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Evaluation</a:t>
            </a:r>
          </a:p>
        </p:txBody>
      </p:sp>
      <p:sp>
        <p:nvSpPr>
          <p:cNvPr id="25" name="phase-activity-4">
            <a:extLst>
              <a:ext uri="{FF2B5EF4-FFF2-40B4-BE49-F238E27FC236}">
                <a16:creationId xmlns:a16="http://schemas.microsoft.com/office/drawing/2014/main" id="{DE0A34B2-901F-421F-9B05-DCC285CFAA12}"/>
              </a:ext>
            </a:extLst>
          </p:cNvPr>
          <p:cNvSpPr>
            <a:spLocks noGrp="1"/>
          </p:cNvSpPr>
          <p:nvPr/>
        </p:nvSpPr>
        <p:spPr>
          <a:xfrm>
            <a:off x="7448550" y="3019425"/>
            <a:ext cx="1790700" cy="1019175"/>
          </a:xfrm>
          <a:prstGeom prst="rect">
            <a:avLst/>
          </a:prstGeom>
          <a:noFill/>
          <a:ln w="0">
            <a:noFill/>
            <a:prstDash val="solid"/>
          </a:ln>
        </p:spPr>
        <p:txBody>
          <a:bodyPr wrap="square" lIns="0" tIns="0" rIns="0" bIns="0" anchor="ctr">
            <a:noAutofit/>
          </a:bodyPr>
          <a:lstStyle>
            <a:defPPr algn="ctr">
              <a:defRPr sz="1500" b="0">
                <a:solidFill>
                  <a:srgbClr val="103B64"/>
                </a:solidFill>
                <a:latin typeface="Arial"/>
                <a:ea typeface="Arial"/>
                <a:cs typeface="Arial"/>
              </a:defRPr>
            </a:defPPr>
          </a:lstStyle>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Access scenarios</a:t>
            </a:r>
          </a:p>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46 automated tests</a:t>
            </a:r>
          </a:p>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13 attack scenarios</a:t>
            </a:r>
          </a:p>
          <a:p>
            <a:pPr algn="ctr">
              <a:lnSpc>
                <a:spcPct val="104000"/>
              </a:lnSpc>
              <a:buNone/>
              <a:defRPr sz="1500" b="0">
                <a:solidFill>
                  <a:srgbClr val="103B64"/>
                </a:solidFill>
                <a:latin typeface="Arial"/>
                <a:ea typeface="Arial"/>
                <a:cs typeface="Arial"/>
              </a:defRPr>
            </a:pPr>
            <a:r>
              <a:rPr sz="1500" b="0">
                <a:solidFill>
                  <a:srgbClr val="103B64"/>
                </a:solidFill>
                <a:latin typeface="Arial"/>
                <a:ea typeface="Arial"/>
                <a:cs typeface="Arial"/>
              </a:rPr>
              <a:t>Gas and timing</a:t>
            </a:r>
          </a:p>
        </p:txBody>
      </p:sp>
      <p:sp>
        <p:nvSpPr>
          <p:cNvPr id="26" name="phase-output-4">
            <a:extLst>
              <a:ext uri="{FF2B5EF4-FFF2-40B4-BE49-F238E27FC236}">
                <a16:creationId xmlns:a16="http://schemas.microsoft.com/office/drawing/2014/main" id="{78B8EF73-5022-4D88-B449-251343CFA124}"/>
              </a:ext>
            </a:extLst>
          </p:cNvPr>
          <p:cNvSpPr>
            <a:spLocks noGrp="1"/>
          </p:cNvSpPr>
          <p:nvPr/>
        </p:nvSpPr>
        <p:spPr>
          <a:xfrm>
            <a:off x="7419975" y="4686300"/>
            <a:ext cx="1847850" cy="723900"/>
          </a:xfrm>
          <a:prstGeom prst="ellipse">
            <a:avLst/>
          </a:prstGeom>
          <a:solidFill>
            <a:srgbClr val="FFFFFF"/>
          </a:solidFill>
          <a:ln w="15240">
            <a:solidFill>
              <a:srgbClr val="146BA8"/>
            </a:solidFill>
            <a:prstDash val="solid"/>
          </a:ln>
        </p:spPr>
        <p:txBody>
          <a:bodyPr/>
          <a:lstStyle/>
          <a:p>
            <a:endParaRPr lang="en-AU"/>
          </a:p>
        </p:txBody>
      </p:sp>
      <p:sp>
        <p:nvSpPr>
          <p:cNvPr id="27" name="output-label-4">
            <a:extLst>
              <a:ext uri="{FF2B5EF4-FFF2-40B4-BE49-F238E27FC236}">
                <a16:creationId xmlns:a16="http://schemas.microsoft.com/office/drawing/2014/main" id="{228531E7-3158-443D-8074-64B2439122A4}"/>
              </a:ext>
            </a:extLst>
          </p:cNvPr>
          <p:cNvSpPr>
            <a:spLocks noGrp="1"/>
          </p:cNvSpPr>
          <p:nvPr/>
        </p:nvSpPr>
        <p:spPr>
          <a:xfrm>
            <a:off x="7505700" y="4819650"/>
            <a:ext cx="1676400" cy="466725"/>
          </a:xfrm>
          <a:prstGeom prst="rect">
            <a:avLst/>
          </a:prstGeom>
          <a:noFill/>
          <a:ln w="0">
            <a:noFill/>
            <a:prstDash val="solid"/>
          </a:ln>
        </p:spPr>
        <p:txBody>
          <a:bodyPr wrap="square" lIns="0" tIns="0" rIns="0" bIns="0" anchor="ctr">
            <a:noAutofit/>
          </a:bodyPr>
          <a:lstStyle>
            <a:defPPr algn="ctr">
              <a:defRPr sz="1650" b="0">
                <a:solidFill>
                  <a:srgbClr val="103B64"/>
                </a:solidFill>
                <a:latin typeface="Arial"/>
                <a:ea typeface="Arial"/>
                <a:cs typeface="Arial"/>
              </a:defRPr>
            </a:defPPr>
          </a:lstStyle>
          <a:p>
            <a:pPr algn="ctr">
              <a:lnSpc>
                <a:spcPct val="104000"/>
              </a:lnSpc>
              <a:defRPr sz="1650" b="0">
                <a:solidFill>
                  <a:srgbClr val="103B64"/>
                </a:solidFill>
                <a:latin typeface="Arial"/>
                <a:ea typeface="Arial"/>
                <a:cs typeface="Arial"/>
              </a:defRPr>
            </a:pPr>
            <a:r>
              <a:rPr lang="en-US" sz="1650" b="0" dirty="0">
                <a:solidFill>
                  <a:srgbClr val="103B64"/>
                </a:solidFill>
                <a:latin typeface="Arial"/>
                <a:ea typeface="Arial"/>
                <a:cs typeface="Arial"/>
              </a:rPr>
              <a:t>Performance measure</a:t>
            </a:r>
            <a:endParaRPr sz="1650" b="0" dirty="0">
              <a:solidFill>
                <a:srgbClr val="103B64"/>
              </a:solidFill>
              <a:latin typeface="Arial"/>
              <a:ea typeface="Arial"/>
              <a:cs typeface="Arial"/>
            </a:endParaRPr>
          </a:p>
        </p:txBody>
      </p:sp>
      <p:sp>
        <p:nvSpPr>
          <p:cNvPr id="28" name="dsr-phase-5">
            <a:extLst>
              <a:ext uri="{FF2B5EF4-FFF2-40B4-BE49-F238E27FC236}">
                <a16:creationId xmlns:a16="http://schemas.microsoft.com/office/drawing/2014/main" id="{F76B3A5E-FF92-4AE6-965E-46527E65AB73}"/>
              </a:ext>
            </a:extLst>
          </p:cNvPr>
          <p:cNvSpPr>
            <a:spLocks noGrp="1"/>
          </p:cNvSpPr>
          <p:nvPr/>
        </p:nvSpPr>
        <p:spPr>
          <a:xfrm>
            <a:off x="9582150" y="2333625"/>
            <a:ext cx="2019300" cy="1809750"/>
          </a:xfrm>
          <a:prstGeom prst="rect">
            <a:avLst/>
          </a:prstGeom>
          <a:solidFill>
            <a:srgbClr val="F3F8FC"/>
          </a:solidFill>
          <a:ln w="15240">
            <a:solidFill>
              <a:srgbClr val="146BA8"/>
            </a:solidFill>
            <a:prstDash val="solid"/>
          </a:ln>
        </p:spPr>
        <p:txBody>
          <a:bodyPr/>
          <a:lstStyle/>
          <a:p>
            <a:endParaRPr lang="en-AU" dirty="0"/>
          </a:p>
        </p:txBody>
      </p:sp>
      <p:sp>
        <p:nvSpPr>
          <p:cNvPr id="29" name="phase-heading-5">
            <a:extLst>
              <a:ext uri="{FF2B5EF4-FFF2-40B4-BE49-F238E27FC236}">
                <a16:creationId xmlns:a16="http://schemas.microsoft.com/office/drawing/2014/main" id="{69F24C15-6249-40B6-ABA4-E21BDAF4D103}"/>
              </a:ext>
            </a:extLst>
          </p:cNvPr>
          <p:cNvSpPr>
            <a:spLocks noGrp="1"/>
          </p:cNvSpPr>
          <p:nvPr/>
        </p:nvSpPr>
        <p:spPr>
          <a:xfrm>
            <a:off x="9582150" y="2333625"/>
            <a:ext cx="2019300" cy="581025"/>
          </a:xfrm>
          <a:prstGeom prst="rect">
            <a:avLst/>
          </a:prstGeom>
          <a:solidFill>
            <a:srgbClr val="146BA8"/>
          </a:solidFill>
          <a:ln w="15240">
            <a:solidFill>
              <a:srgbClr val="146BA8"/>
            </a:solidFill>
            <a:prstDash val="solid"/>
          </a:ln>
        </p:spPr>
        <p:txBody>
          <a:bodyPr/>
          <a:lstStyle/>
          <a:p>
            <a:endParaRPr lang="en-AU"/>
          </a:p>
        </p:txBody>
      </p:sp>
      <p:sp>
        <p:nvSpPr>
          <p:cNvPr id="30" name="phase-title-5">
            <a:extLst>
              <a:ext uri="{FF2B5EF4-FFF2-40B4-BE49-F238E27FC236}">
                <a16:creationId xmlns:a16="http://schemas.microsoft.com/office/drawing/2014/main" id="{0DE637BA-27C5-474B-B5C3-EB8CBAF0F0D0}"/>
              </a:ext>
            </a:extLst>
          </p:cNvPr>
          <p:cNvSpPr>
            <a:spLocks noGrp="1"/>
          </p:cNvSpPr>
          <p:nvPr/>
        </p:nvSpPr>
        <p:spPr>
          <a:xfrm>
            <a:off x="9677400" y="2381250"/>
            <a:ext cx="1828800" cy="466725"/>
          </a:xfrm>
          <a:prstGeom prst="rect">
            <a:avLst/>
          </a:prstGeom>
          <a:noFill/>
          <a:ln w="0">
            <a:noFill/>
            <a:prstDash val="solid"/>
          </a:ln>
        </p:spPr>
        <p:txBody>
          <a:bodyPr wrap="square" lIns="0" tIns="0" rIns="0" bIns="0" anchor="ctr">
            <a:noAutofit/>
          </a:bodyPr>
          <a:lstStyle>
            <a:defPPr algn="ctr">
              <a:defRPr sz="1650" b="1">
                <a:solidFill>
                  <a:srgbClr val="FFFFFF"/>
                </a:solidFill>
                <a:latin typeface="Arial"/>
                <a:ea typeface="Arial"/>
                <a:cs typeface="Arial"/>
              </a:defRPr>
            </a:defP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Conclusion</a:t>
            </a:r>
          </a:p>
        </p:txBody>
      </p:sp>
      <p:sp>
        <p:nvSpPr>
          <p:cNvPr id="32" name="phase-output-5">
            <a:extLst>
              <a:ext uri="{FF2B5EF4-FFF2-40B4-BE49-F238E27FC236}">
                <a16:creationId xmlns:a16="http://schemas.microsoft.com/office/drawing/2014/main" id="{7C6CB26A-1518-4ADA-BAF1-6E767A2B0E04}"/>
              </a:ext>
            </a:extLst>
          </p:cNvPr>
          <p:cNvSpPr>
            <a:spLocks noGrp="1"/>
          </p:cNvSpPr>
          <p:nvPr/>
        </p:nvSpPr>
        <p:spPr>
          <a:xfrm>
            <a:off x="9667875" y="4686300"/>
            <a:ext cx="1847850" cy="723900"/>
          </a:xfrm>
          <a:prstGeom prst="ellipse">
            <a:avLst/>
          </a:prstGeom>
          <a:solidFill>
            <a:srgbClr val="FFFFFF"/>
          </a:solidFill>
          <a:ln w="15240">
            <a:solidFill>
              <a:srgbClr val="146BA8"/>
            </a:solidFill>
            <a:prstDash val="solid"/>
          </a:ln>
        </p:spPr>
        <p:txBody>
          <a:bodyPr/>
          <a:lstStyle/>
          <a:p>
            <a:pPr algn="ctr"/>
            <a:r>
              <a:rPr lang="en-US" sz="1650" dirty="0">
                <a:solidFill>
                  <a:srgbClr val="103B64"/>
                </a:solidFill>
                <a:latin typeface="Arial"/>
                <a:cs typeface="Arial"/>
              </a:rPr>
              <a:t>Results</a:t>
            </a:r>
            <a:r>
              <a:rPr lang="en-US" dirty="0"/>
              <a:t> </a:t>
            </a:r>
            <a:endParaRPr lang="en-AU" dirty="0"/>
          </a:p>
        </p:txBody>
      </p:sp>
      <p:sp>
        <p:nvSpPr>
          <p:cNvPr id="33" name="output-label-5">
            <a:extLst>
              <a:ext uri="{FF2B5EF4-FFF2-40B4-BE49-F238E27FC236}">
                <a16:creationId xmlns:a16="http://schemas.microsoft.com/office/drawing/2014/main" id="{A49BB676-F982-44B7-A6C7-44D7DD894705}"/>
              </a:ext>
            </a:extLst>
          </p:cNvPr>
          <p:cNvSpPr>
            <a:spLocks noGrp="1"/>
          </p:cNvSpPr>
          <p:nvPr/>
        </p:nvSpPr>
        <p:spPr>
          <a:xfrm>
            <a:off x="9753600" y="4819650"/>
            <a:ext cx="1676400" cy="466725"/>
          </a:xfrm>
          <a:prstGeom prst="rect">
            <a:avLst/>
          </a:prstGeom>
          <a:noFill/>
          <a:ln w="0">
            <a:noFill/>
            <a:prstDash val="solid"/>
          </a:ln>
        </p:spPr>
        <p:txBody>
          <a:bodyPr wrap="square" lIns="0" tIns="0" rIns="0" bIns="0" anchor="ctr">
            <a:noAutofit/>
          </a:bodyPr>
          <a:lstStyle>
            <a:defPPr algn="ctr">
              <a:defRPr sz="1650" b="0">
                <a:solidFill>
                  <a:srgbClr val="103B64"/>
                </a:solidFill>
                <a:latin typeface="Arial"/>
                <a:ea typeface="Arial"/>
                <a:cs typeface="Arial"/>
              </a:defRPr>
            </a:defPPr>
          </a:lstStyle>
          <a:p>
            <a:pPr algn="ctr">
              <a:lnSpc>
                <a:spcPct val="104000"/>
              </a:lnSpc>
              <a:buNone/>
              <a:defRPr sz="1650" b="0">
                <a:solidFill>
                  <a:srgbClr val="103B64"/>
                </a:solidFill>
                <a:latin typeface="Arial"/>
                <a:ea typeface="Arial"/>
                <a:cs typeface="Arial"/>
              </a:defRPr>
            </a:pPr>
            <a:endParaRPr sz="1650" b="0" dirty="0">
              <a:solidFill>
                <a:srgbClr val="103B64"/>
              </a:solidFill>
              <a:latin typeface="Arial"/>
              <a:ea typeface="Arial"/>
              <a:cs typeface="Arial"/>
            </a:endParaRPr>
          </a:p>
        </p:txBody>
      </p:sp>
      <p:sp>
        <p:nvSpPr>
          <p:cNvPr id="43" name="evaluation-feedback-turn-a">
            <a:extLst>
              <a:ext uri="{FF2B5EF4-FFF2-40B4-BE49-F238E27FC236}">
                <a16:creationId xmlns:a16="http://schemas.microsoft.com/office/drawing/2014/main" id="{F4B17103-5855-46E0-B820-ABD555AADB43}"/>
              </a:ext>
            </a:extLst>
          </p:cNvPr>
          <p:cNvSpPr>
            <a:spLocks noGrp="1"/>
          </p:cNvSpPr>
          <p:nvPr/>
        </p:nvSpPr>
        <p:spPr>
          <a:xfrm>
            <a:off x="8343424" y="2037874"/>
            <a:ext cx="953" cy="953"/>
          </a:xfrm>
          <a:prstGeom prst="rect">
            <a:avLst/>
          </a:prstGeom>
          <a:noFill/>
          <a:ln w="0">
            <a:noFill/>
            <a:prstDash val="solid"/>
          </a:ln>
        </p:spPr>
        <p:txBody>
          <a:bodyPr/>
          <a:lstStyle/>
          <a:p>
            <a:endParaRPr lang="en-AU"/>
          </a:p>
        </p:txBody>
      </p:sp>
      <p:sp>
        <p:nvSpPr>
          <p:cNvPr id="44" name="evaluation-feedback-turn-b">
            <a:extLst>
              <a:ext uri="{FF2B5EF4-FFF2-40B4-BE49-F238E27FC236}">
                <a16:creationId xmlns:a16="http://schemas.microsoft.com/office/drawing/2014/main" id="{98D2509E-751E-4455-AFC9-2407286CF70F}"/>
              </a:ext>
            </a:extLst>
          </p:cNvPr>
          <p:cNvSpPr>
            <a:spLocks noGrp="1"/>
          </p:cNvSpPr>
          <p:nvPr/>
        </p:nvSpPr>
        <p:spPr>
          <a:xfrm>
            <a:off x="6095524" y="2037874"/>
            <a:ext cx="953" cy="953"/>
          </a:xfrm>
          <a:prstGeom prst="rect">
            <a:avLst/>
          </a:prstGeom>
          <a:noFill/>
          <a:ln w="0">
            <a:noFill/>
            <a:prstDash val="solid"/>
          </a:ln>
        </p:spPr>
        <p:txBody>
          <a:bodyPr/>
          <a:lstStyle/>
          <a:p>
            <a:endParaRPr lang="en-AU"/>
          </a:p>
        </p:txBody>
      </p:sp>
      <p:sp>
        <p:nvSpPr>
          <p:cNvPr id="49" name="knowledge-feedback-turn-a">
            <a:extLst>
              <a:ext uri="{FF2B5EF4-FFF2-40B4-BE49-F238E27FC236}">
                <a16:creationId xmlns:a16="http://schemas.microsoft.com/office/drawing/2014/main" id="{E02977D8-DF73-43FF-95E7-B1D52C74884F}"/>
              </a:ext>
            </a:extLst>
          </p:cNvPr>
          <p:cNvSpPr>
            <a:spLocks noGrp="1"/>
          </p:cNvSpPr>
          <p:nvPr/>
        </p:nvSpPr>
        <p:spPr>
          <a:xfrm>
            <a:off x="10591324" y="1647349"/>
            <a:ext cx="953" cy="953"/>
          </a:xfrm>
          <a:prstGeom prst="rect">
            <a:avLst/>
          </a:prstGeom>
          <a:noFill/>
          <a:ln w="0">
            <a:noFill/>
            <a:prstDash val="solid"/>
          </a:ln>
        </p:spPr>
        <p:txBody>
          <a:bodyPr/>
          <a:lstStyle/>
          <a:p>
            <a:endParaRPr lang="en-AU"/>
          </a:p>
        </p:txBody>
      </p:sp>
      <p:sp>
        <p:nvSpPr>
          <p:cNvPr id="50" name="knowledge-feedback-turn-b">
            <a:extLst>
              <a:ext uri="{FF2B5EF4-FFF2-40B4-BE49-F238E27FC236}">
                <a16:creationId xmlns:a16="http://schemas.microsoft.com/office/drawing/2014/main" id="{91D6D01F-1E22-4AE6-BFE6-0E87B784CE44}"/>
              </a:ext>
            </a:extLst>
          </p:cNvPr>
          <p:cNvSpPr>
            <a:spLocks noGrp="1"/>
          </p:cNvSpPr>
          <p:nvPr/>
        </p:nvSpPr>
        <p:spPr>
          <a:xfrm>
            <a:off x="1599724" y="1647349"/>
            <a:ext cx="953" cy="953"/>
          </a:xfrm>
          <a:prstGeom prst="rect">
            <a:avLst/>
          </a:prstGeom>
          <a:noFill/>
          <a:ln w="0">
            <a:noFill/>
            <a:prstDash val="solid"/>
          </a:ln>
        </p:spPr>
        <p:txBody>
          <a:bodyPr/>
          <a:lstStyle/>
          <a:p>
            <a:endParaRPr lang="en-AU"/>
          </a:p>
        </p:txBody>
      </p:sp>
      <p:sp>
        <p:nvSpPr>
          <p:cNvPr id="54" name="knowledge-feedback-label">
            <a:extLst>
              <a:ext uri="{FF2B5EF4-FFF2-40B4-BE49-F238E27FC236}">
                <a16:creationId xmlns:a16="http://schemas.microsoft.com/office/drawing/2014/main" id="{A490D7B4-10CC-4E6A-8CDE-2CB20723CAD3}"/>
              </a:ext>
            </a:extLst>
          </p:cNvPr>
          <p:cNvSpPr>
            <a:spLocks noGrp="1"/>
          </p:cNvSpPr>
          <p:nvPr/>
        </p:nvSpPr>
        <p:spPr>
          <a:xfrm>
            <a:off x="4305300" y="1409700"/>
            <a:ext cx="3581400" cy="238125"/>
          </a:xfrm>
          <a:prstGeom prst="rect">
            <a:avLst/>
          </a:prstGeom>
          <a:solidFill>
            <a:srgbClr val="FFFFFF"/>
          </a:solidFill>
          <a:ln w="0">
            <a:noFill/>
            <a:prstDash val="solid"/>
          </a:ln>
        </p:spPr>
        <p:txBody>
          <a:bodyPr wrap="square" lIns="0" tIns="0" rIns="0" bIns="0" anchor="ctr">
            <a:noAutofit/>
          </a:bodyPr>
          <a:lstStyle>
            <a:defPPr algn="ctr">
              <a:defRPr sz="1350" b="0">
                <a:solidFill>
                  <a:srgbClr val="56718B"/>
                </a:solidFill>
                <a:latin typeface="Arial"/>
                <a:ea typeface="Arial"/>
                <a:cs typeface="Arial"/>
              </a:defRPr>
            </a:defPPr>
          </a:lstStyle>
          <a:p>
            <a:pPr algn="ctr">
              <a:lnSpc>
                <a:spcPct val="104000"/>
              </a:lnSpc>
              <a:buNone/>
              <a:defRPr sz="1350" b="0">
                <a:solidFill>
                  <a:srgbClr val="56718B"/>
                </a:solidFill>
                <a:latin typeface="Arial"/>
                <a:ea typeface="Arial"/>
                <a:cs typeface="Arial"/>
              </a:defRPr>
            </a:pPr>
            <a:r>
              <a:rPr lang="en-US" sz="1350" dirty="0">
                <a:solidFill>
                  <a:srgbClr val="56718B"/>
                </a:solidFill>
                <a:latin typeface="Arial"/>
                <a:ea typeface="Arial"/>
                <a:cs typeface="Arial"/>
              </a:rPr>
              <a:t>Goal Knowledge </a:t>
            </a:r>
            <a:endParaRPr sz="1350" b="0" dirty="0">
              <a:solidFill>
                <a:srgbClr val="56718B"/>
              </a:solidFill>
              <a:latin typeface="Arial"/>
              <a:ea typeface="Arial"/>
              <a:cs typeface="Arial"/>
            </a:endParaRPr>
          </a:p>
        </p:txBody>
      </p:sp>
      <p:sp>
        <p:nvSpPr>
          <p:cNvPr id="55" name="stage-status">
            <a:extLst>
              <a:ext uri="{FF2B5EF4-FFF2-40B4-BE49-F238E27FC236}">
                <a16:creationId xmlns:a16="http://schemas.microsoft.com/office/drawing/2014/main" id="{52C08EAC-6A21-4FB8-A8F9-1237B9398ACE}"/>
              </a:ext>
            </a:extLst>
          </p:cNvPr>
          <p:cNvSpPr>
            <a:spLocks noGrp="1"/>
          </p:cNvSpPr>
          <p:nvPr/>
        </p:nvSpPr>
        <p:spPr>
          <a:xfrm>
            <a:off x="590550" y="5638800"/>
            <a:ext cx="11010900" cy="323850"/>
          </a:xfrm>
          <a:prstGeom prst="rect">
            <a:avLst/>
          </a:prstGeom>
          <a:noFill/>
          <a:ln w="0">
            <a:noFill/>
            <a:prstDash val="solid"/>
          </a:ln>
        </p:spPr>
        <p:txBody>
          <a:bodyPr wrap="square" lIns="0" tIns="0" rIns="0" bIns="0" anchor="ctr">
            <a:noAutofit/>
          </a:bodyPr>
          <a:lstStyle>
            <a:defPPr algn="l">
              <a:defRPr sz="1725" b="0">
                <a:solidFill>
                  <a:srgbClr val="56718B"/>
                </a:solidFill>
                <a:latin typeface="Arial"/>
                <a:ea typeface="Arial"/>
                <a:cs typeface="Arial"/>
              </a:defRPr>
            </a:defPPr>
          </a:lstStyle>
          <a:p>
            <a:pPr algn="l">
              <a:lnSpc>
                <a:spcPct val="104000"/>
              </a:lnSpc>
              <a:buNone/>
              <a:defRPr sz="1725" b="0">
                <a:solidFill>
                  <a:srgbClr val="56718B"/>
                </a:solidFill>
                <a:latin typeface="Arial"/>
                <a:ea typeface="Arial"/>
                <a:cs typeface="Arial"/>
              </a:defRPr>
            </a:pPr>
            <a:endParaRPr sz="1725" b="0" dirty="0">
              <a:solidFill>
                <a:srgbClr val="56718B"/>
              </a:solidFill>
              <a:latin typeface="Arial"/>
              <a:ea typeface="Arial"/>
              <a:cs typeface="Arial"/>
            </a:endParaRPr>
          </a:p>
        </p:txBody>
      </p:sp>
      <p:sp>
        <p:nvSpPr>
          <p:cNvPr id="56" name="method-source">
            <a:extLst>
              <a:ext uri="{FF2B5EF4-FFF2-40B4-BE49-F238E27FC236}">
                <a16:creationId xmlns:a16="http://schemas.microsoft.com/office/drawing/2014/main" id="{2D0415EC-1693-43B1-A992-F39BB6193DC6}"/>
              </a:ext>
            </a:extLst>
          </p:cNvPr>
          <p:cNvSpPr>
            <a:spLocks noGrp="1"/>
          </p:cNvSpPr>
          <p:nvPr/>
        </p:nvSpPr>
        <p:spPr>
          <a:xfrm>
            <a:off x="590550" y="6076950"/>
            <a:ext cx="11010900" cy="247650"/>
          </a:xfrm>
          <a:prstGeom prst="rect">
            <a:avLst/>
          </a:prstGeom>
          <a:noFill/>
          <a:ln w="0">
            <a:noFill/>
            <a:prstDash val="solid"/>
          </a:ln>
        </p:spPr>
        <p:txBody>
          <a:bodyPr wrap="square" lIns="0" tIns="0" rIns="0" bIns="0" anchor="ctr">
            <a:noAutofit/>
          </a:bodyPr>
          <a:lstStyle>
            <a:defPPr algn="l">
              <a:defRPr sz="1200" b="0">
                <a:solidFill>
                  <a:srgbClr val="56718B"/>
                </a:solidFill>
                <a:latin typeface="Arial"/>
                <a:ea typeface="Arial"/>
                <a:cs typeface="Arial"/>
              </a:defRPr>
            </a:defPPr>
          </a:lstStyle>
          <a:p>
            <a:pPr>
              <a:lnSpc>
                <a:spcPct val="104000"/>
              </a:lnSpc>
              <a:defRPr sz="1200" b="0">
                <a:solidFill>
                  <a:srgbClr val="56718B"/>
                </a:solidFill>
                <a:latin typeface="Arial"/>
                <a:ea typeface="Arial"/>
                <a:cs typeface="Arial"/>
              </a:defRPr>
            </a:pPr>
            <a:r>
              <a:rPr lang="en-US" sz="800" dirty="0">
                <a:solidFill>
                  <a:srgbClr val="FFFFFF"/>
                </a:solidFill>
              </a:rPr>
              <a:t>)</a:t>
            </a:r>
            <a:r>
              <a:rPr lang="en-US" sz="1200" dirty="0"/>
              <a:t> Design Science Research Methodology Process Model</a:t>
            </a:r>
            <a:endParaRPr sz="1200" b="0" dirty="0">
              <a:solidFill>
                <a:srgbClr val="56718B"/>
              </a:solidFill>
              <a:latin typeface="Arial"/>
              <a:ea typeface="Arial"/>
              <a:cs typeface="Arial"/>
            </a:endParaRPr>
          </a:p>
        </p:txBody>
      </p:sp>
      <p:sp>
        <p:nvSpPr>
          <p:cNvPr id="57" name="page-number">
            <a:extLst>
              <a:ext uri="{FF2B5EF4-FFF2-40B4-BE49-F238E27FC236}">
                <a16:creationId xmlns:a16="http://schemas.microsoft.com/office/drawing/2014/main" id="{9EE070EC-31DA-484A-97AE-F3BAF86C6F08}"/>
              </a:ext>
            </a:extLst>
          </p:cNvPr>
          <p:cNvSpPr>
            <a:spLocks noGrp="1"/>
          </p:cNvSpPr>
          <p:nvPr/>
        </p:nvSpPr>
        <p:spPr>
          <a:xfrm>
            <a:off x="11477625" y="6477000"/>
            <a:ext cx="333375" cy="190500"/>
          </a:xfrm>
          <a:prstGeom prst="rect">
            <a:avLst/>
          </a:prstGeom>
          <a:noFill/>
          <a:ln w="0">
            <a:noFill/>
            <a:prstDash val="solid"/>
          </a:ln>
        </p:spPr>
        <p:txBody>
          <a:bodyPr wrap="square" lIns="0" tIns="0" rIns="0" bIns="0" anchor="ctr">
            <a:noAutofit/>
          </a:bodyPr>
          <a:lstStyle>
            <a:defPPr algn="r">
              <a:defRPr sz="975" b="0">
                <a:solidFill>
                  <a:srgbClr val="146BA8"/>
                </a:solidFill>
                <a:latin typeface="Arial"/>
                <a:ea typeface="Arial"/>
                <a:cs typeface="Arial"/>
              </a:defRPr>
            </a:defPPr>
          </a:lstStyle>
          <a:p>
            <a:pPr algn="r">
              <a:lnSpc>
                <a:spcPct val="104000"/>
              </a:lnSpc>
              <a:buNone/>
              <a:defRPr sz="975" b="0">
                <a:solidFill>
                  <a:srgbClr val="146BA8"/>
                </a:solidFill>
                <a:latin typeface="Arial"/>
                <a:ea typeface="Arial"/>
                <a:cs typeface="Arial"/>
              </a:defRPr>
            </a:pPr>
            <a:r>
              <a:rPr sz="975" b="0">
                <a:solidFill>
                  <a:srgbClr val="146BA8"/>
                </a:solidFill>
                <a:latin typeface="Arial"/>
                <a:ea typeface="Arial"/>
                <a:cs typeface="Arial"/>
              </a:rPr>
              <a:t>20</a:t>
            </a:r>
          </a:p>
        </p:txBody>
      </p:sp>
    </p:spTree>
    <p:extLst>
      <p:ext uri="{BB962C8B-B14F-4D97-AF65-F5344CB8AC3E}">
        <p14:creationId xmlns:p14="http://schemas.microsoft.com/office/powerpoint/2010/main" val="2129373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A1B15-59C9-36C1-905F-AABC3A7AD8B6}"/>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dirty="0">
                <a:solidFill>
                  <a:srgbClr val="FFFFFF"/>
                </a:solidFill>
              </a:rPr>
              <a:t>Research Methodology </a:t>
            </a:r>
          </a:p>
        </p:txBody>
      </p:sp>
      <p:sp>
        <p:nvSpPr>
          <p:cNvPr id="10" name="Content Placeholder 9">
            <a:extLst>
              <a:ext uri="{FF2B5EF4-FFF2-40B4-BE49-F238E27FC236}">
                <a16:creationId xmlns:a16="http://schemas.microsoft.com/office/drawing/2014/main" id="{825BDCBB-AFEF-640F-2B5D-DA2F84BD2A61}"/>
              </a:ext>
            </a:extLst>
          </p:cNvPr>
          <p:cNvSpPr>
            <a:spLocks noGrp="1"/>
          </p:cNvSpPr>
          <p:nvPr>
            <p:ph idx="1"/>
          </p:nvPr>
        </p:nvSpPr>
        <p:spPr>
          <a:xfrm>
            <a:off x="2993341" y="5790205"/>
            <a:ext cx="5658290" cy="415226"/>
          </a:xfrm>
        </p:spPr>
        <p:txBody>
          <a:bodyPr vert="horz" lIns="91440" tIns="45720" rIns="91440" bIns="45720" rtlCol="0" anchor="ctr">
            <a:normAutofit fontScale="25000" lnSpcReduction="20000"/>
          </a:bodyPr>
          <a:lstStyle/>
          <a:p>
            <a:pPr marL="0" indent="0">
              <a:buNone/>
            </a:pPr>
            <a:r>
              <a:rPr lang="en-US" sz="1700" dirty="0">
                <a:solidFill>
                  <a:srgbClr val="FFFFFF"/>
                </a:solidFill>
              </a:rPr>
              <a:t>)</a:t>
            </a:r>
            <a:r>
              <a:rPr lang="en-US" sz="5600" dirty="0"/>
              <a:t> Design Science Research Methodology Process Model (Peffers et al. </a:t>
            </a:r>
            <a:r>
              <a:rPr lang="ar-SA" sz="5600" dirty="0"/>
              <a:t>2007</a:t>
            </a:r>
            <a:endParaRPr lang="en-US" sz="1700" dirty="0">
              <a:solidFill>
                <a:srgbClr val="FFFFFF"/>
              </a:solidFill>
            </a:endParaRPr>
          </a:p>
        </p:txBody>
      </p:sp>
      <p:pic>
        <p:nvPicPr>
          <p:cNvPr id="4" name="Content Placeholder 3">
            <a:extLst>
              <a:ext uri="{FF2B5EF4-FFF2-40B4-BE49-F238E27FC236}">
                <a16:creationId xmlns:a16="http://schemas.microsoft.com/office/drawing/2014/main" id="{F0A85399-6ED2-C74D-67C7-37CF31F7EF4F}"/>
              </a:ext>
            </a:extLst>
          </p:cNvPr>
          <p:cNvPicPr>
            <a:picLocks noChangeAspect="1"/>
          </p:cNvPicPr>
          <p:nvPr/>
        </p:nvPicPr>
        <p:blipFill>
          <a:blip r:embed="rId3"/>
          <a:stretch>
            <a:fillRect/>
          </a:stretch>
        </p:blipFill>
        <p:spPr>
          <a:xfrm>
            <a:off x="715747" y="2082019"/>
            <a:ext cx="10496203" cy="3708186"/>
          </a:xfrm>
          <a:prstGeom prst="rect">
            <a:avLst/>
          </a:prstGeom>
        </p:spPr>
      </p:pic>
      <p:sp>
        <p:nvSpPr>
          <p:cNvPr id="5" name="headline">
            <a:extLst>
              <a:ext uri="{FF2B5EF4-FFF2-40B4-BE49-F238E27FC236}">
                <a16:creationId xmlns:a16="http://schemas.microsoft.com/office/drawing/2014/main" id="{A9BE2E39-AE25-8DAC-EF8A-FDED92D5277B}"/>
              </a:ext>
            </a:extLst>
          </p:cNvPr>
          <p:cNvSpPr>
            <a:spLocks noGrp="1"/>
          </p:cNvSpPr>
          <p:nvPr/>
        </p:nvSpPr>
        <p:spPr>
          <a:xfrm>
            <a:off x="590550" y="781607"/>
            <a:ext cx="11010900" cy="504825"/>
          </a:xfrm>
          <a:prstGeom prst="rect">
            <a:avLst/>
          </a:prstGeom>
          <a:noFill/>
          <a:ln w="0">
            <a:noFill/>
            <a:prstDash val="solid"/>
          </a:ln>
        </p:spPr>
        <p:txBody>
          <a:bodyPr wrap="square" lIns="0" tIns="0" rIns="0" bIns="0" anchor="ctr">
            <a:noAutofit/>
          </a:bodyPr>
          <a:lstStyle>
            <a:defPPr algn="l">
              <a:defRPr sz="2700" b="1">
                <a:solidFill>
                  <a:srgbClr val="103B64"/>
                </a:solidFill>
                <a:latin typeface="Arial"/>
                <a:ea typeface="Arial"/>
                <a:cs typeface="Arial"/>
              </a:defRPr>
            </a:defPPr>
          </a:lstStyle>
          <a:p>
            <a:pPr algn="l">
              <a:lnSpc>
                <a:spcPct val="104000"/>
              </a:lnSpc>
              <a:buNone/>
              <a:defRPr sz="2700" b="1">
                <a:solidFill>
                  <a:srgbClr val="103B64"/>
                </a:solidFill>
                <a:latin typeface="Arial"/>
                <a:ea typeface="Arial"/>
                <a:cs typeface="Arial"/>
              </a:defRPr>
            </a:pPr>
            <a:r>
              <a:rPr sz="2700" b="1" dirty="0">
                <a:solidFill>
                  <a:srgbClr val="103B64"/>
                </a:solidFill>
                <a:latin typeface="Arial"/>
                <a:ea typeface="Arial"/>
                <a:cs typeface="Arial"/>
              </a:rPr>
              <a:t>RESEARCH METHODOLOGY: DSR</a:t>
            </a:r>
          </a:p>
        </p:txBody>
      </p:sp>
    </p:spTree>
    <p:extLst>
      <p:ext uri="{BB962C8B-B14F-4D97-AF65-F5344CB8AC3E}">
        <p14:creationId xmlns:p14="http://schemas.microsoft.com/office/powerpoint/2010/main" val="1259510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FRAMEWORK: ARCHITECTURE</a:t>
            </a:r>
            <a:endParaRPr lang="en-US" sz="3000" dirty="0"/>
          </a:p>
        </p:txBody>
      </p:sp>
      <p:sp>
        <p:nvSpPr>
          <p:cNvPr id="4" name="F6 panel"/>
          <p:cNvSpPr/>
          <p:nvPr/>
        </p:nvSpPr>
        <p:spPr>
          <a:xfrm>
            <a:off x="1737360" y="1097280"/>
            <a:ext cx="8695944" cy="5440680"/>
          </a:xfrm>
          <a:prstGeom prst="roundRect">
            <a:avLst>
              <a:gd name="adj" fmla="val 201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6" descr="/tmp/deck/img/F6.png"/>
          <p:cNvPicPr>
            <a:picLocks noChangeAspect="1"/>
          </p:cNvPicPr>
          <p:nvPr/>
        </p:nvPicPr>
        <p:blipFill>
          <a:blip r:embed="rId3"/>
          <a:stretch>
            <a:fillRect/>
          </a:stretch>
        </p:blipFill>
        <p:spPr>
          <a:xfrm>
            <a:off x="1849371" y="1207008"/>
            <a:ext cx="8471922" cy="522122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FRAMEWORK: THE DECISION RULE</a:t>
            </a:r>
            <a:endParaRPr lang="en-US" sz="3000" dirty="0"/>
          </a:p>
        </p:txBody>
      </p:sp>
      <p:sp>
        <p:nvSpPr>
          <p:cNvPr id="4" name="decision box"/>
          <p:cNvSpPr/>
          <p:nvPr/>
        </p:nvSpPr>
        <p:spPr>
          <a:xfrm>
            <a:off x="731520" y="1188720"/>
            <a:ext cx="10698480" cy="1097280"/>
          </a:xfrm>
          <a:prstGeom prst="roundRect">
            <a:avLst>
              <a:gd name="adj" fmla="val 8333"/>
            </a:avLst>
          </a:prstGeom>
          <a:solidFill>
            <a:srgbClr val="0B2A4A">
              <a:alpha val="85000"/>
            </a:srgbClr>
          </a:solidFill>
          <a:ln w="19050">
            <a:solidFill>
              <a:srgbClr val="1FB5D6"/>
            </a:solidFill>
            <a:prstDash val="solid"/>
          </a:ln>
        </p:spPr>
        <p:txBody>
          <a:bodyPr/>
          <a:lstStyle/>
          <a:p>
            <a:endParaRPr lang="en-AU"/>
          </a:p>
        </p:txBody>
      </p:sp>
      <p:sp>
        <p:nvSpPr>
          <p:cNvPr id="5" name="decision text"/>
          <p:cNvSpPr txBox="1"/>
          <p:nvPr/>
        </p:nvSpPr>
        <p:spPr>
          <a:xfrm>
            <a:off x="822960" y="1234440"/>
            <a:ext cx="10515600" cy="10058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Decision(C, R, t) = ALLOW  ⟺  VI(u) ∧ VA(C) ∧ VP(C, R) ∧ VT(C, t) ∧ VL(C)</a:t>
            </a:r>
            <a:endParaRPr lang="en-US" sz="2000" dirty="0"/>
          </a:p>
        </p:txBody>
      </p:sp>
      <p:sp>
        <p:nvSpPr>
          <p:cNvPr id="6" name="card VI"/>
          <p:cNvSpPr/>
          <p:nvPr/>
        </p:nvSpPr>
        <p:spPr>
          <a:xfrm>
            <a:off x="731520"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7" name="card text VI"/>
          <p:cNvSpPr txBox="1"/>
          <p:nvPr/>
        </p:nvSpPr>
        <p:spPr>
          <a:xfrm>
            <a:off x="868680"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VI</a:t>
            </a:r>
            <a:endParaRPr lang="en-US" sz="1900" dirty="0"/>
          </a:p>
          <a:p>
            <a:pPr marL="0" indent="0">
              <a:spcAft>
                <a:spcPts val="400"/>
              </a:spcAft>
              <a:buNone/>
            </a:pPr>
            <a:r>
              <a:rPr lang="en-US" sz="1600" dirty="0">
                <a:solidFill>
                  <a:srgbClr val="0B1F33"/>
                </a:solidFill>
              </a:rPr>
              <a:t>Identity and authority validity</a:t>
            </a:r>
            <a:endParaRPr lang="en-US" sz="1900" dirty="0"/>
          </a:p>
        </p:txBody>
      </p:sp>
      <p:sp>
        <p:nvSpPr>
          <p:cNvPr id="8" name="card VA"/>
          <p:cNvSpPr/>
          <p:nvPr/>
        </p:nvSpPr>
        <p:spPr>
          <a:xfrm>
            <a:off x="2898648"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9" name="card text VA"/>
          <p:cNvSpPr txBox="1"/>
          <p:nvPr/>
        </p:nvSpPr>
        <p:spPr>
          <a:xfrm>
            <a:off x="3035808"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VA</a:t>
            </a:r>
            <a:endParaRPr lang="en-US" sz="1900" dirty="0"/>
          </a:p>
          <a:p>
            <a:pPr marL="0" indent="0">
              <a:spcAft>
                <a:spcPts val="400"/>
              </a:spcAft>
              <a:buNone/>
            </a:pPr>
            <a:r>
              <a:rPr lang="en-US" sz="1600" dirty="0">
                <a:solidFill>
                  <a:srgbClr val="0B1F33"/>
                </a:solidFill>
              </a:rPr>
              <a:t>Collective authorisation validity</a:t>
            </a:r>
            <a:endParaRPr lang="en-US" sz="1900" dirty="0"/>
          </a:p>
        </p:txBody>
      </p:sp>
      <p:sp>
        <p:nvSpPr>
          <p:cNvPr id="10" name="card VP"/>
          <p:cNvSpPr/>
          <p:nvPr/>
        </p:nvSpPr>
        <p:spPr>
          <a:xfrm>
            <a:off x="5065776"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1" name="card text VP"/>
          <p:cNvSpPr txBox="1"/>
          <p:nvPr/>
        </p:nvSpPr>
        <p:spPr>
          <a:xfrm>
            <a:off x="5202936"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VP</a:t>
            </a:r>
            <a:endParaRPr lang="en-US" sz="1900" dirty="0"/>
          </a:p>
          <a:p>
            <a:pPr marL="0" indent="0">
              <a:spcAft>
                <a:spcPts val="400"/>
              </a:spcAft>
              <a:buNone/>
            </a:pPr>
            <a:r>
              <a:rPr lang="en-US" sz="1600" dirty="0">
                <a:solidFill>
                  <a:srgbClr val="0B1F33"/>
                </a:solidFill>
              </a:rPr>
              <a:t>Policy and contextual compliance</a:t>
            </a:r>
            <a:endParaRPr lang="en-US" sz="1900" dirty="0"/>
          </a:p>
        </p:txBody>
      </p:sp>
      <p:sp>
        <p:nvSpPr>
          <p:cNvPr id="12" name="card VT"/>
          <p:cNvSpPr/>
          <p:nvPr/>
        </p:nvSpPr>
        <p:spPr>
          <a:xfrm>
            <a:off x="7232904"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3" name="card text VT"/>
          <p:cNvSpPr txBox="1"/>
          <p:nvPr/>
        </p:nvSpPr>
        <p:spPr>
          <a:xfrm>
            <a:off x="7370064"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VT</a:t>
            </a:r>
            <a:endParaRPr lang="en-US" sz="1900" dirty="0"/>
          </a:p>
          <a:p>
            <a:pPr marL="0" indent="0">
              <a:spcAft>
                <a:spcPts val="400"/>
              </a:spcAft>
              <a:buNone/>
            </a:pPr>
            <a:r>
              <a:rPr lang="en-US" sz="1600" dirty="0">
                <a:solidFill>
                  <a:srgbClr val="0B1F33"/>
                </a:solidFill>
              </a:rPr>
              <a:t>Temporal validity</a:t>
            </a:r>
            <a:endParaRPr lang="en-US" sz="1900" dirty="0"/>
          </a:p>
        </p:txBody>
      </p:sp>
      <p:sp>
        <p:nvSpPr>
          <p:cNvPr id="14" name="card VL"/>
          <p:cNvSpPr/>
          <p:nvPr/>
        </p:nvSpPr>
        <p:spPr>
          <a:xfrm>
            <a:off x="9400032" y="2606040"/>
            <a:ext cx="2011680" cy="1600200"/>
          </a:xfrm>
          <a:prstGeom prst="roundRect">
            <a:avLst>
              <a:gd name="adj" fmla="val 5714"/>
            </a:avLst>
          </a:prstGeom>
          <a:solidFill>
            <a:srgbClr val="FFFFFF">
              <a:alpha val="92000"/>
            </a:srgbClr>
          </a:solidFill>
          <a:ln w="19050">
            <a:solidFill>
              <a:srgbClr val="1FB5D6"/>
            </a:solidFill>
            <a:prstDash val="solid"/>
          </a:ln>
        </p:spPr>
        <p:txBody>
          <a:bodyPr/>
          <a:lstStyle/>
          <a:p>
            <a:endParaRPr lang="en-AU"/>
          </a:p>
        </p:txBody>
      </p:sp>
      <p:sp>
        <p:nvSpPr>
          <p:cNvPr id="15" name="card text VL"/>
          <p:cNvSpPr txBox="1"/>
          <p:nvPr/>
        </p:nvSpPr>
        <p:spPr>
          <a:xfrm>
            <a:off x="9537192" y="2697480"/>
            <a:ext cx="1737360" cy="1417320"/>
          </a:xfrm>
          <a:prstGeom prst="rect">
            <a:avLst/>
          </a:prstGeom>
          <a:noFill/>
          <a:ln/>
        </p:spPr>
        <p:txBody>
          <a:bodyPr wrap="square" rtlCol="0" anchor="t"/>
          <a:lstStyle/>
          <a:p>
            <a:pPr marL="0" indent="0">
              <a:spcAft>
                <a:spcPts val="400"/>
              </a:spcAft>
              <a:buNone/>
            </a:pPr>
            <a:r>
              <a:rPr lang="en-US" sz="1900" b="1" dirty="0">
                <a:solidFill>
                  <a:srgbClr val="0B2A4A"/>
                </a:solidFill>
              </a:rPr>
              <a:t>VL</a:t>
            </a:r>
            <a:endParaRPr lang="en-US" sz="1900" dirty="0"/>
          </a:p>
          <a:p>
            <a:pPr marL="0" indent="0">
              <a:spcAft>
                <a:spcPts val="400"/>
              </a:spcAft>
              <a:buNone/>
            </a:pPr>
            <a:r>
              <a:rPr lang="en-US" sz="1600" dirty="0">
                <a:solidFill>
                  <a:srgbClr val="0B1F33"/>
                </a:solidFill>
              </a:rPr>
              <a:t>Consent lifecycle validity</a:t>
            </a:r>
            <a:endParaRPr lang="en-US" sz="1900" dirty="0"/>
          </a:p>
        </p:txBody>
      </p:sp>
      <p:sp>
        <p:nvSpPr>
          <p:cNvPr id="16" name="bullets"/>
          <p:cNvSpPr txBox="1"/>
          <p:nvPr/>
        </p:nvSpPr>
        <p:spPr>
          <a:xfrm>
            <a:off x="822960" y="4480560"/>
            <a:ext cx="10515600" cy="1828800"/>
          </a:xfrm>
          <a:prstGeom prst="rect">
            <a:avLst/>
          </a:prstGeom>
          <a:noFill/>
          <a:ln/>
        </p:spPr>
        <p:txBody>
          <a:bodyPr wrap="square" rtlCol="0" anchor="t"/>
          <a:lstStyle/>
          <a:p>
            <a:pPr marL="342900" indent="-342900">
              <a:spcAft>
                <a:spcPts val="1000"/>
              </a:spcAft>
              <a:buSzPct val="100000"/>
              <a:buChar char="•"/>
            </a:pPr>
            <a:r>
              <a:rPr lang="en-US" sz="1800" dirty="0">
                <a:solidFill>
                  <a:srgbClr val="FFFFFF"/>
                </a:solidFill>
              </a:rPr>
              <a:t>One failed check is enough to say DENY.</a:t>
            </a:r>
            <a:endParaRPr lang="en-US" sz="1800" dirty="0"/>
          </a:p>
          <a:p>
            <a:pPr marL="342900" indent="-342900">
              <a:spcAft>
                <a:spcPts val="1000"/>
              </a:spcAft>
              <a:buSzPct val="100000"/>
              <a:buChar char="•"/>
            </a:pPr>
            <a:r>
              <a:rPr lang="en-US" sz="1800" dirty="0">
                <a:solidFill>
                  <a:srgbClr val="FFFFFF"/>
                </a:solidFill>
              </a:rPr>
              <a:t>A Groth16 zero-knowledge proof must also verify before any data is released.</a:t>
            </a:r>
            <a:endParaRPr lang="en-US" sz="1800" dirty="0"/>
          </a:p>
          <a:p>
            <a:pPr marL="342900" indent="-342900">
              <a:spcAft>
                <a:spcPts val="1000"/>
              </a:spcAft>
              <a:buSzPct val="100000"/>
              <a:buChar char="•"/>
            </a:pPr>
            <a:r>
              <a:rPr lang="en-US" sz="1800" dirty="0">
                <a:solidFill>
                  <a:srgbClr val="FFFFFF"/>
                </a:solidFill>
              </a:rPr>
              <a:t>Every access decision, allowed or denied, is written to the off-chain audit ledger with its decision matrix.</a:t>
            </a:r>
            <a:endParaRPr lang="en-US" sz="18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1</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chooses the doctor, the guardians, the data modules, and the start and expiry time.</a:t>
            </a:r>
            <a:endParaRPr lang="en-US" sz="1600" dirty="0"/>
          </a:p>
          <a:p>
            <a:pPr marL="342900" indent="-342900">
              <a:spcAft>
                <a:spcPts val="1000"/>
              </a:spcAft>
              <a:buSzPct val="100000"/>
              <a:buChar char="•"/>
            </a:pPr>
            <a:r>
              <a:rPr lang="en-US" sz="1600" dirty="0">
                <a:solidFill>
                  <a:srgbClr val="FFFFFF"/>
                </a:solidFill>
              </a:rPr>
              <a:t>In this prototype the purpose is fixed to Treatment.</a:t>
            </a:r>
            <a:endParaRPr lang="en-US" sz="1600" dirty="0"/>
          </a:p>
          <a:p>
            <a:pPr marL="342900" indent="-342900">
              <a:spcAft>
                <a:spcPts val="1000"/>
              </a:spcAft>
              <a:buSzPct val="100000"/>
              <a:buChar char="•"/>
            </a:pPr>
            <a:r>
              <a:rPr lang="en-US" sz="1600" dirty="0">
                <a:solidFill>
                  <a:srgbClr val="FFFFFF"/>
                </a:solidFill>
              </a:rPr>
              <a:t>Bad input is rejected, for example an empty data scope or a malformed guardian DID.</a:t>
            </a:r>
            <a:endParaRPr lang="en-US" sz="1600" dirty="0"/>
          </a:p>
          <a:p>
            <a:pPr marL="342900" indent="-342900">
              <a:spcAft>
                <a:spcPts val="1000"/>
              </a:spcAft>
              <a:buSzPct val="100000"/>
              <a:buChar char="•"/>
            </a:pPr>
            <a:r>
              <a:rPr lang="en-US" sz="1600" dirty="0">
                <a:solidFill>
                  <a:srgbClr val="FFFFFF"/>
                </a:solidFill>
              </a:rPr>
              <a:t>The system creates the consent object, assigns a consent identifier, persists the record, and records the creation event in the audit layer.</a:t>
            </a:r>
            <a:endParaRPr lang="en-US" sz="1600" dirty="0"/>
          </a:p>
        </p:txBody>
      </p:sp>
      <p:sp>
        <p:nvSpPr>
          <p:cNvPr id="8" name="ALG1 panel"/>
          <p:cNvSpPr/>
          <p:nvPr/>
        </p:nvSpPr>
        <p:spPr>
          <a:xfrm>
            <a:off x="6035040" y="1745454"/>
            <a:ext cx="5715000" cy="3961452"/>
          </a:xfrm>
          <a:prstGeom prst="roundRect">
            <a:avLst>
              <a:gd name="adj" fmla="val 277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1" descr="/tmp/deck/img/ALG1.png"/>
          <p:cNvPicPr>
            <a:picLocks noChangeAspect="1"/>
          </p:cNvPicPr>
          <p:nvPr/>
        </p:nvPicPr>
        <p:blipFill>
          <a:blip r:embed="rId3"/>
          <a:stretch>
            <a:fillRect/>
          </a:stretch>
        </p:blipFill>
        <p:spPr>
          <a:xfrm>
            <a:off x="6144768" y="1855182"/>
            <a:ext cx="5495544" cy="374199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26</a:t>
            </a:fld>
            <a:endParaRPr lang="en-US"/>
          </a:p>
        </p:txBody>
      </p:sp>
      <p:sp>
        <p:nvSpPr>
          <p:cNvPr id="10" name="Text 0">
            <a:extLst>
              <a:ext uri="{FF2B5EF4-FFF2-40B4-BE49-F238E27FC236}">
                <a16:creationId xmlns:a16="http://schemas.microsoft.com/office/drawing/2014/main" id="{2FF9D90F-9048-7A63-763E-E468C996F28E}"/>
              </a:ext>
            </a:extLst>
          </p:cNvPr>
          <p:cNvSpPr txBox="1">
            <a:spLocks/>
          </p:cNvSpPr>
          <p:nvPr/>
        </p:nvSpPr>
        <p:spPr>
          <a:xfrm>
            <a:off x="341376" y="960120"/>
            <a:ext cx="5169408" cy="73152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400" i="1">
                <a:solidFill>
                  <a:srgbClr val="1FB5D6"/>
                </a:solidFill>
              </a:rPr>
              <a:t>RO1: Trust-Centric Consent Model</a:t>
            </a:r>
            <a:endParaRPr lang="en-AU" sz="1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RO1: Trust-Centric Consent Model</a:t>
            </a:r>
            <a:endParaRPr lang="en-US" sz="3200" dirty="0"/>
          </a:p>
        </p:txBody>
      </p:sp>
      <p:sp>
        <p:nvSpPr>
          <p:cNvPr id="6" name="F10 panel"/>
          <p:cNvSpPr/>
          <p:nvPr/>
        </p:nvSpPr>
        <p:spPr>
          <a:xfrm>
            <a:off x="4743972" y="960120"/>
            <a:ext cx="2703751" cy="5532120"/>
          </a:xfrm>
          <a:prstGeom prst="roundRect">
            <a:avLst>
              <a:gd name="adj" fmla="val 405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0" descr="/tmp/deck/img/F10.png"/>
          <p:cNvPicPr>
            <a:picLocks noChangeAspect="1"/>
          </p:cNvPicPr>
          <p:nvPr/>
        </p:nvPicPr>
        <p:blipFill>
          <a:blip r:embed="rId3"/>
          <a:stretch>
            <a:fillRect/>
          </a:stretch>
        </p:blipFill>
        <p:spPr>
          <a:xfrm>
            <a:off x="4853700" y="1069848"/>
            <a:ext cx="248429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2</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rPr>
              <a:t>Identity is checked through the DID; authority through a verifiable credential.</a:t>
            </a:r>
            <a:endParaRPr lang="en-US" sz="1500" dirty="0"/>
          </a:p>
          <a:p>
            <a:pPr marL="342900" indent="-342900">
              <a:spcAft>
                <a:spcPts val="1000"/>
              </a:spcAft>
              <a:buSzPct val="100000"/>
              <a:buChar char="•"/>
            </a:pPr>
            <a:r>
              <a:rPr lang="en-US" sz="1500" dirty="0">
                <a:solidFill>
                  <a:srgbClr val="FFFFFF"/>
                </a:solidFill>
              </a:rPr>
              <a:t>Identity is not authority: a valid DID alone never gives access.</a:t>
            </a:r>
            <a:endParaRPr lang="en-US" sz="1500" dirty="0"/>
          </a:p>
          <a:p>
            <a:pPr marL="342900" indent="-342900">
              <a:spcAft>
                <a:spcPts val="1000"/>
              </a:spcAft>
              <a:buSzPct val="100000"/>
              <a:buChar char="•"/>
            </a:pPr>
            <a:r>
              <a:rPr lang="en-US" sz="1500" dirty="0">
                <a:solidFill>
                  <a:srgbClr val="FFFFFF"/>
                </a:solidFill>
              </a:rPr>
              <a:t>In the HALAH implementation, the Guardian workflow uses a selected guardian DID and invokes VC verification before adding the guardian's signature to the consent.</a:t>
            </a:r>
            <a:endParaRPr lang="en-US" sz="1500" dirty="0"/>
          </a:p>
          <a:p>
            <a:pPr marL="342900" indent="-342900">
              <a:spcAft>
                <a:spcPts val="1000"/>
              </a:spcAft>
              <a:buSzPct val="100000"/>
              <a:buChar char="•"/>
            </a:pPr>
            <a:r>
              <a:rPr lang="en-US" sz="1500" dirty="0">
                <a:solidFill>
                  <a:srgbClr val="FFFFFF"/>
                </a:solidFill>
              </a:rPr>
              <a:t>Full DID resolution is planned for the next stage.</a:t>
            </a:r>
            <a:endParaRPr lang="en-US" sz="1500" dirty="0"/>
          </a:p>
        </p:txBody>
      </p:sp>
      <p:sp>
        <p:nvSpPr>
          <p:cNvPr id="8" name="ALG2 panel"/>
          <p:cNvSpPr/>
          <p:nvPr/>
        </p:nvSpPr>
        <p:spPr>
          <a:xfrm>
            <a:off x="6296033" y="960120"/>
            <a:ext cx="5193014" cy="5532120"/>
          </a:xfrm>
          <a:prstGeom prst="roundRect">
            <a:avLst>
              <a:gd name="adj" fmla="val 211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2" descr="/tmp/deck/img/ALG2.png"/>
          <p:cNvPicPr>
            <a:picLocks noChangeAspect="1"/>
          </p:cNvPicPr>
          <p:nvPr/>
        </p:nvPicPr>
        <p:blipFill>
          <a:blip r:embed="rId3"/>
          <a:stretch>
            <a:fillRect/>
          </a:stretch>
        </p:blipFill>
        <p:spPr>
          <a:xfrm>
            <a:off x="6405761" y="1069848"/>
            <a:ext cx="497355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28</a:t>
            </a:fld>
            <a:endParaRPr lang="en-US"/>
          </a:p>
        </p:txBody>
      </p:sp>
      <p:sp>
        <p:nvSpPr>
          <p:cNvPr id="26" name="Text 0">
            <a:extLst>
              <a:ext uri="{FF2B5EF4-FFF2-40B4-BE49-F238E27FC236}">
                <a16:creationId xmlns:a16="http://schemas.microsoft.com/office/drawing/2014/main" id="{D928237E-07D0-0CDC-A5E0-8C863F76329B}"/>
              </a:ext>
            </a:extLst>
          </p:cNvPr>
          <p:cNvSpPr txBox="1">
            <a:spLocks/>
          </p:cNvSpPr>
          <p:nvPr/>
        </p:nvSpPr>
        <p:spPr>
          <a:xfrm>
            <a:off x="0" y="1197033"/>
            <a:ext cx="5622174" cy="34913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RO2: </a:t>
            </a:r>
            <a:r>
              <a:rPr lang="en-US" sz="1400" i="1" dirty="0" err="1">
                <a:solidFill>
                  <a:srgbClr val="1FB5D6"/>
                </a:solidFill>
              </a:rPr>
              <a:t>Decentralised</a:t>
            </a:r>
            <a:r>
              <a:rPr lang="en-US" sz="1400" i="1" dirty="0">
                <a:solidFill>
                  <a:srgbClr val="1FB5D6"/>
                </a:solidFill>
              </a:rPr>
              <a:t> Identity and Authority Trust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RO2: </a:t>
            </a:r>
            <a:r>
              <a:rPr lang="en-US" sz="3200" i="1" dirty="0" err="1">
                <a:solidFill>
                  <a:srgbClr val="1FB5D6"/>
                </a:solidFill>
              </a:rPr>
              <a:t>Decentralised</a:t>
            </a:r>
            <a:r>
              <a:rPr lang="en-US" sz="3200" i="1" dirty="0">
                <a:solidFill>
                  <a:srgbClr val="1FB5D6"/>
                </a:solidFill>
              </a:rPr>
              <a:t> Identity and Authority Trust</a:t>
            </a:r>
            <a:endParaRPr lang="en-US" sz="3200" dirty="0"/>
          </a:p>
        </p:txBody>
      </p:sp>
      <p:sp>
        <p:nvSpPr>
          <p:cNvPr id="6" name="F12 panel"/>
          <p:cNvSpPr/>
          <p:nvPr/>
        </p:nvSpPr>
        <p:spPr>
          <a:xfrm>
            <a:off x="4203067" y="960120"/>
            <a:ext cx="3785562" cy="5532120"/>
          </a:xfrm>
          <a:prstGeom prst="roundRect">
            <a:avLst>
              <a:gd name="adj" fmla="val 28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2" descr="/tmp/deck/img/F12.png"/>
          <p:cNvPicPr>
            <a:picLocks noChangeAspect="1"/>
          </p:cNvPicPr>
          <p:nvPr/>
        </p:nvPicPr>
        <p:blipFill>
          <a:blip r:embed="rId3"/>
          <a:stretch>
            <a:fillRect/>
          </a:stretch>
        </p:blipFill>
        <p:spPr>
          <a:xfrm>
            <a:off x="4312795" y="1069848"/>
            <a:ext cx="3566106"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3</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450" dirty="0">
                <a:solidFill>
                  <a:srgbClr val="FFFFFF"/>
                </a:solidFill>
              </a:rPr>
              <a:t>The guardian set G is fixed when the consent is created.</a:t>
            </a:r>
            <a:endParaRPr lang="en-US" sz="1450" dirty="0"/>
          </a:p>
          <a:p>
            <a:pPr marL="342900" indent="-342900">
              <a:spcAft>
                <a:spcPts val="1000"/>
              </a:spcAft>
              <a:buSzPct val="100000"/>
              <a:buChar char="•"/>
            </a:pPr>
            <a:r>
              <a:rPr lang="en-US" sz="1450" dirty="0">
                <a:solidFill>
                  <a:srgbClr val="FFFFFF"/>
                </a:solidFill>
              </a:rPr>
              <a:t>Each guardian signs an EIP-712 approval; the system recovers the signer and checks it is in G.</a:t>
            </a:r>
            <a:endParaRPr lang="en-US" sz="1450" dirty="0"/>
          </a:p>
          <a:p>
            <a:pPr marL="342900" indent="-342900">
              <a:spcAft>
                <a:spcPts val="1000"/>
              </a:spcAft>
              <a:buSzPct val="100000"/>
              <a:buChar char="•"/>
            </a:pPr>
            <a:r>
              <a:rPr lang="en-US" sz="1450" dirty="0">
                <a:solidFill>
                  <a:srgbClr val="FFFFFF"/>
                </a:solidFill>
              </a:rPr>
              <a:t>Approvals from outsiders and duplicates are not counted; a signature replayed from another consent fails the identity check.</a:t>
            </a:r>
            <a:endParaRPr lang="en-US" sz="1450" dirty="0"/>
          </a:p>
          <a:p>
            <a:pPr marL="342900" indent="-342900">
              <a:spcAft>
                <a:spcPts val="1000"/>
              </a:spcAft>
              <a:buSzPct val="100000"/>
              <a:buChar char="•"/>
            </a:pPr>
            <a:r>
              <a:rPr lang="en-US" sz="1450" dirty="0">
                <a:solidFill>
                  <a:srgbClr val="FFFFFF"/>
                </a:solidFill>
              </a:rPr>
              <a:t>N-of-N rule: every listed guardian must sign (2-of-2 in the demo).</a:t>
            </a:r>
            <a:endParaRPr lang="en-US" sz="1450" dirty="0"/>
          </a:p>
          <a:p>
            <a:pPr marL="342900" indent="-342900">
              <a:spcAft>
                <a:spcPts val="1000"/>
              </a:spcAft>
              <a:buSzPct val="100000"/>
              <a:buChar char="•"/>
            </a:pPr>
            <a:r>
              <a:rPr lang="en-US" sz="1450" dirty="0">
                <a:solidFill>
                  <a:srgbClr val="FFFFFF"/>
                </a:solidFill>
              </a:rPr>
              <a:t>When all have signed, a soulbound token is minted on Sepolia in the background.</a:t>
            </a:r>
            <a:endParaRPr lang="en-US" sz="1450" dirty="0"/>
          </a:p>
          <a:p>
            <a:pPr marL="342900" indent="-342900">
              <a:spcAft>
                <a:spcPts val="1000"/>
              </a:spcAft>
              <a:buSzPct val="100000"/>
              <a:buChar char="•"/>
            </a:pPr>
            <a:r>
              <a:rPr lang="en-US" sz="1450" dirty="0">
                <a:solidFill>
                  <a:srgbClr val="FFFFFF"/>
                </a:solidFill>
              </a:rPr>
              <a:t>In the prototype the guardian keys are derived from the guardian DIDs; wallet-held keys are for the next stage.</a:t>
            </a:r>
            <a:endParaRPr lang="en-US" sz="1450" dirty="0"/>
          </a:p>
        </p:txBody>
      </p:sp>
      <p:sp>
        <p:nvSpPr>
          <p:cNvPr id="8" name="ALG3 panel"/>
          <p:cNvSpPr/>
          <p:nvPr/>
        </p:nvSpPr>
        <p:spPr>
          <a:xfrm>
            <a:off x="6632236" y="960120"/>
            <a:ext cx="4520608" cy="5532120"/>
          </a:xfrm>
          <a:prstGeom prst="roundRect">
            <a:avLst>
              <a:gd name="adj" fmla="val 242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3" descr="/tmp/deck/img/ALG3.png"/>
          <p:cNvPicPr>
            <a:picLocks noChangeAspect="1"/>
          </p:cNvPicPr>
          <p:nvPr/>
        </p:nvPicPr>
        <p:blipFill>
          <a:blip r:embed="rId3"/>
          <a:stretch>
            <a:fillRect/>
          </a:stretch>
        </p:blipFill>
        <p:spPr>
          <a:xfrm>
            <a:off x="6741964" y="1069848"/>
            <a:ext cx="4301152"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30</a:t>
            </a:fld>
            <a:endParaRPr lang="en-US"/>
          </a:p>
        </p:txBody>
      </p:sp>
      <p:sp>
        <p:nvSpPr>
          <p:cNvPr id="3" name="Text 0">
            <a:extLst>
              <a:ext uri="{FF2B5EF4-FFF2-40B4-BE49-F238E27FC236}">
                <a16:creationId xmlns:a16="http://schemas.microsoft.com/office/drawing/2014/main" id="{445DAE5C-E091-9851-AE46-0D49EFB69D20}"/>
              </a:ext>
            </a:extLst>
          </p:cNvPr>
          <p:cNvSpPr txBox="1">
            <a:spLocks/>
          </p:cNvSpPr>
          <p:nvPr/>
        </p:nvSpPr>
        <p:spPr>
          <a:xfrm>
            <a:off x="0" y="1190106"/>
            <a:ext cx="6168044" cy="410094"/>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AU" sz="1600" i="1" dirty="0">
                <a:solidFill>
                  <a:srgbClr val="1FB5D6"/>
                </a:solidFill>
              </a:rPr>
              <a:t>RO3: Trustworthy Multi-Party Authorisation</a:t>
            </a:r>
            <a:endParaRPr lang="en-AU"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RO3: Trustworthy Multi-Party </a:t>
            </a:r>
            <a:r>
              <a:rPr lang="en-US" sz="3200" i="1" dirty="0" err="1">
                <a:solidFill>
                  <a:srgbClr val="1FB5D6"/>
                </a:solidFill>
              </a:rPr>
              <a:t>Authorisation</a:t>
            </a:r>
            <a:endParaRPr lang="en-US" sz="3200" dirty="0"/>
          </a:p>
        </p:txBody>
      </p:sp>
      <p:sp>
        <p:nvSpPr>
          <p:cNvPr id="4"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5"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6" name="F13 panel"/>
          <p:cNvSpPr/>
          <p:nvPr/>
        </p:nvSpPr>
        <p:spPr>
          <a:xfrm>
            <a:off x="4266250" y="960120"/>
            <a:ext cx="3659194" cy="5532120"/>
          </a:xfrm>
          <a:prstGeom prst="roundRect">
            <a:avLst>
              <a:gd name="adj" fmla="val 2999"/>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3" descr="/tmp/deck/img/F13.png"/>
          <p:cNvPicPr>
            <a:picLocks noChangeAspect="1"/>
          </p:cNvPicPr>
          <p:nvPr/>
        </p:nvPicPr>
        <p:blipFill>
          <a:blip r:embed="rId3"/>
          <a:stretch>
            <a:fillRect/>
          </a:stretch>
        </p:blipFill>
        <p:spPr>
          <a:xfrm>
            <a:off x="4375978" y="1069848"/>
            <a:ext cx="3439738"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4</a:t>
            </a:r>
          </a:p>
        </p:txBody>
      </p:sp>
      <p:sp>
        <p:nvSpPr>
          <p:cNvPr id="5" name="status chip"/>
          <p:cNvSpPr/>
          <p:nvPr/>
        </p:nvSpPr>
        <p:spPr>
          <a:xfrm>
            <a:off x="548640" y="1783080"/>
            <a:ext cx="2377440" cy="411480"/>
          </a:xfrm>
          <a:prstGeom prst="roundRect">
            <a:avLst>
              <a:gd name="adj" fmla="val 44444"/>
            </a:avLst>
          </a:prstGeom>
          <a:solidFill>
            <a:srgbClr val="2E7D32"/>
          </a:solidFill>
          <a:ln w="12700">
            <a:solidFill>
              <a:srgbClr val="2E7D32"/>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Done</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550" dirty="0">
                <a:solidFill>
                  <a:srgbClr val="FFFFFF"/>
                </a:solidFill>
              </a:rPr>
              <a:t>The requested data must be a non-empty subset of the agreed data scope.</a:t>
            </a:r>
            <a:endParaRPr lang="en-US" sz="1550" dirty="0"/>
          </a:p>
          <a:p>
            <a:pPr marL="342900" indent="-342900">
              <a:spcAft>
                <a:spcPts val="1000"/>
              </a:spcAft>
              <a:buSzPct val="100000"/>
              <a:buChar char="•"/>
            </a:pPr>
            <a:r>
              <a:rPr lang="en-US" sz="1550" dirty="0">
                <a:solidFill>
                  <a:srgbClr val="FFFFFF"/>
                </a:solidFill>
              </a:rPr>
              <a:t>The purpose must be a supported purpose of the consent.</a:t>
            </a:r>
            <a:endParaRPr lang="en-US" sz="1550" dirty="0"/>
          </a:p>
          <a:p>
            <a:pPr marL="342900" indent="-342900">
              <a:spcAft>
                <a:spcPts val="1000"/>
              </a:spcAft>
              <a:buSzPct val="100000"/>
              <a:buChar char="•"/>
            </a:pPr>
            <a:r>
              <a:rPr lang="en-US" sz="1550" dirty="0">
                <a:solidFill>
                  <a:srgbClr val="FFFFFF"/>
                </a:solidFill>
              </a:rPr>
              <a:t>Time and the lifecycle state are checked in the same decision.</a:t>
            </a:r>
            <a:endParaRPr lang="en-US" sz="1550" dirty="0"/>
          </a:p>
          <a:p>
            <a:pPr marL="342900" indent="-342900">
              <a:spcAft>
                <a:spcPts val="1000"/>
              </a:spcAft>
              <a:buSzPct val="100000"/>
              <a:buChar char="•"/>
            </a:pPr>
            <a:r>
              <a:rPr lang="en-US" sz="1550" dirty="0">
                <a:solidFill>
                  <a:srgbClr val="FFFFFF"/>
                </a:solidFill>
              </a:rPr>
              <a:t>A Groth16 proof must verify before any data is retrieved.</a:t>
            </a:r>
            <a:endParaRPr lang="en-US" sz="1550" dirty="0"/>
          </a:p>
          <a:p>
            <a:pPr marL="342900" indent="-342900">
              <a:spcAft>
                <a:spcPts val="1000"/>
              </a:spcAft>
              <a:buSzPct val="100000"/>
              <a:buChar char="•"/>
            </a:pPr>
            <a:r>
              <a:rPr lang="en-US" sz="1550" dirty="0">
                <a:solidFill>
                  <a:srgbClr val="FFFFFF"/>
                </a:solidFill>
              </a:rPr>
              <a:t>Example: asking for Procedure when only Observation and Medication were agreed gives DENY.</a:t>
            </a:r>
            <a:endParaRPr lang="en-US" sz="1550" dirty="0"/>
          </a:p>
        </p:txBody>
      </p:sp>
      <p:sp>
        <p:nvSpPr>
          <p:cNvPr id="8" name="ALG4 panel"/>
          <p:cNvSpPr/>
          <p:nvPr/>
        </p:nvSpPr>
        <p:spPr>
          <a:xfrm>
            <a:off x="6651819" y="960120"/>
            <a:ext cx="4481441" cy="5532120"/>
          </a:xfrm>
          <a:prstGeom prst="roundRect">
            <a:avLst>
              <a:gd name="adj" fmla="val 2448"/>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ALG4" descr="/tmp/deck/img/ALG4.png"/>
          <p:cNvPicPr>
            <a:picLocks noChangeAspect="1"/>
          </p:cNvPicPr>
          <p:nvPr/>
        </p:nvPicPr>
        <p:blipFill>
          <a:blip r:embed="rId3"/>
          <a:stretch>
            <a:fillRect/>
          </a:stretch>
        </p:blipFill>
        <p:spPr>
          <a:xfrm>
            <a:off x="6761547" y="1069848"/>
            <a:ext cx="4261985"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32</a:t>
            </a:fld>
            <a:endParaRPr lang="en-US"/>
          </a:p>
        </p:txBody>
      </p:sp>
      <p:sp>
        <p:nvSpPr>
          <p:cNvPr id="3" name="Text 0">
            <a:extLst>
              <a:ext uri="{FF2B5EF4-FFF2-40B4-BE49-F238E27FC236}">
                <a16:creationId xmlns:a16="http://schemas.microsoft.com/office/drawing/2014/main" id="{71C1D0AB-311B-2384-02A9-C7E1EB47C4E5}"/>
              </a:ext>
            </a:extLst>
          </p:cNvPr>
          <p:cNvSpPr txBox="1">
            <a:spLocks/>
          </p:cNvSpPr>
          <p:nvPr/>
        </p:nvSpPr>
        <p:spPr>
          <a:xfrm>
            <a:off x="822960" y="997527"/>
            <a:ext cx="4408516" cy="602673"/>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400" i="1" dirty="0">
                <a:solidFill>
                  <a:srgbClr val="1FB5D6"/>
                </a:solidFill>
              </a:rPr>
              <a:t>RO4: Policy- and Context-Aware Access Control</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RO4: Policy- and Context-Aware Access Control</a:t>
            </a:r>
            <a:endParaRPr lang="en-US" sz="3200" dirty="0"/>
          </a:p>
        </p:txBody>
      </p:sp>
      <p:sp>
        <p:nvSpPr>
          <p:cNvPr id="6" name="F14 panel"/>
          <p:cNvSpPr/>
          <p:nvPr/>
        </p:nvSpPr>
        <p:spPr>
          <a:xfrm>
            <a:off x="4903969" y="960120"/>
            <a:ext cx="2383757" cy="5532120"/>
          </a:xfrm>
          <a:prstGeom prst="roundRect">
            <a:avLst>
              <a:gd name="adj" fmla="val 460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4" descr="/tmp/deck/img/F14.png"/>
          <p:cNvPicPr>
            <a:picLocks noChangeAspect="1"/>
          </p:cNvPicPr>
          <p:nvPr/>
        </p:nvPicPr>
        <p:blipFill>
          <a:blip r:embed="rId3"/>
          <a:stretch>
            <a:fillRect/>
          </a:stretch>
        </p:blipFill>
        <p:spPr>
          <a:xfrm>
            <a:off x="5013697" y="1069848"/>
            <a:ext cx="216430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dirty="0"/>
              <a:t>Proposed solution for objective 5</a:t>
            </a:r>
            <a:r>
              <a:rPr lang="ar-SA" sz="3200" dirty="0"/>
              <a:t> مختصر </a:t>
            </a:r>
            <a:endParaRPr lang="en-US" sz="3200" dirty="0"/>
          </a:p>
        </p:txBody>
      </p:sp>
      <p:sp>
        <p:nvSpPr>
          <p:cNvPr id="5" name="status chip"/>
          <p:cNvSpPr/>
          <p:nvPr/>
        </p:nvSpPr>
        <p:spPr>
          <a:xfrm>
            <a:off x="548640" y="1783080"/>
            <a:ext cx="2377440" cy="411480"/>
          </a:xfrm>
          <a:prstGeom prst="roundRect">
            <a:avLst>
              <a:gd name="adj" fmla="val 44444"/>
            </a:avLst>
          </a:prstGeom>
          <a:solidFill>
            <a:srgbClr val="B7791F"/>
          </a:solidFill>
          <a:ln w="12700">
            <a:solidFill>
              <a:srgbClr val="B7791F"/>
            </a:solidFill>
            <a:prstDash val="solid"/>
          </a:ln>
        </p:spPr>
        <p:txBody>
          <a:bodyPr/>
          <a:lstStyle/>
          <a:p>
            <a:endParaRPr lang="en-AU"/>
          </a:p>
        </p:txBody>
      </p:sp>
      <p:sp>
        <p:nvSpPr>
          <p:cNvPr id="6" name="status text"/>
          <p:cNvSpPr txBox="1"/>
          <p:nvPr/>
        </p:nvSpPr>
        <p:spPr>
          <a:xfrm>
            <a:off x="548640" y="1783080"/>
            <a:ext cx="2377440" cy="411480"/>
          </a:xfrm>
          <a:prstGeom prst="rect">
            <a:avLst/>
          </a:prstGeom>
          <a:noFill/>
          <a:ln/>
        </p:spPr>
        <p:txBody>
          <a:bodyPr wrap="square" rtlCol="0" anchor="ctr"/>
          <a:lstStyle/>
          <a:p>
            <a:pPr marL="0" indent="0" algn="ctr">
              <a:buNone/>
            </a:pPr>
            <a:r>
              <a:rPr lang="en-US" sz="1400" b="1" dirty="0">
                <a:solidFill>
                  <a:srgbClr val="FFFFFF"/>
                </a:solidFill>
              </a:rPr>
              <a:t>Status: In Progress</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350" dirty="0">
                <a:solidFill>
                  <a:srgbClr val="FFFFFF"/>
                </a:solidFill>
              </a:rPr>
              <a:t>Working now: the validity window is stored on-chain and checked at every request.</a:t>
            </a:r>
            <a:endParaRPr lang="en-US" sz="1350" dirty="0"/>
          </a:p>
          <a:p>
            <a:pPr marL="342900" indent="-342900">
              <a:spcAft>
                <a:spcPts val="1000"/>
              </a:spcAft>
              <a:buSzPct val="100000"/>
              <a:buChar char="•"/>
            </a:pPr>
            <a:r>
              <a:rPr lang="en-US" sz="1350" dirty="0">
                <a:solidFill>
                  <a:srgbClr val="FFFFFF"/>
                </a:solidFill>
              </a:rPr>
              <a:t>Working now: revocation end to end, including an on-chain revoke transaction.</a:t>
            </a:r>
            <a:endParaRPr lang="en-US" sz="1350" dirty="0"/>
          </a:p>
          <a:p>
            <a:pPr marL="342900" indent="-342900">
              <a:spcAft>
                <a:spcPts val="1000"/>
              </a:spcAft>
              <a:buSzPct val="100000"/>
              <a:buChar char="•"/>
            </a:pPr>
            <a:r>
              <a:rPr lang="en-US" sz="1350" dirty="0">
                <a:solidFill>
                  <a:srgbClr val="FFFFFF"/>
                </a:solidFill>
              </a:rPr>
              <a:t>Design: L is the lifecycle state (CREATED, PENDING, ACTIVE, SUSPENDED, REVOKED, EXPIRED), checked by VL(C) = ValidState(C) ∧ ValidTransition(C).</a:t>
            </a:r>
            <a:endParaRPr lang="en-US" sz="1350" dirty="0"/>
          </a:p>
          <a:p>
            <a:pPr marL="342900" indent="-342900">
              <a:spcAft>
                <a:spcPts val="1000"/>
              </a:spcAft>
              <a:buSzPct val="100000"/>
              <a:buChar char="•"/>
            </a:pPr>
            <a:r>
              <a:rPr lang="en-US" sz="1350" dirty="0">
                <a:solidFill>
                  <a:srgbClr val="FFFFFF"/>
                </a:solidFill>
              </a:rPr>
              <a:t>Working now: a clear lifecycle: PENDING_SIGNATURE, PENDING_TOKEN, NOT_STARTED, ACTIVE, EXPIRED, REVOKED.</a:t>
            </a:r>
            <a:endParaRPr lang="en-US" sz="1350" dirty="0"/>
          </a:p>
          <a:p>
            <a:pPr marL="342900" indent="-342900">
              <a:spcAft>
                <a:spcPts val="1000"/>
              </a:spcAft>
              <a:buSzPct val="100000"/>
              <a:buChar char="•"/>
            </a:pPr>
            <a:r>
              <a:rPr lang="en-US" sz="1350" dirty="0">
                <a:solidFill>
                  <a:srgbClr val="FFFFFF"/>
                </a:solidFill>
              </a:rPr>
              <a:t>Next stage: the SUSPENDED state, the lifecycle transition check, consent modification, delegation, guardian-set changes and a formal lifecycle model.</a:t>
            </a:r>
            <a:endParaRPr lang="en-US" sz="135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34</a:t>
            </a:fld>
            <a:endParaRPr lang="en-US"/>
          </a:p>
        </p:txBody>
      </p:sp>
      <p:sp>
        <p:nvSpPr>
          <p:cNvPr id="3" name="Text 0">
            <a:extLst>
              <a:ext uri="{FF2B5EF4-FFF2-40B4-BE49-F238E27FC236}">
                <a16:creationId xmlns:a16="http://schemas.microsoft.com/office/drawing/2014/main" id="{8E804DD9-5F7C-FDD1-4DA5-2DF8A64F5E48}"/>
              </a:ext>
            </a:extLst>
          </p:cNvPr>
          <p:cNvSpPr txBox="1">
            <a:spLocks/>
          </p:cNvSpPr>
          <p:nvPr/>
        </p:nvSpPr>
        <p:spPr>
          <a:xfrm>
            <a:off x="764726" y="1028700"/>
            <a:ext cx="4049843" cy="640080"/>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800" i="1" dirty="0">
                <a:solidFill>
                  <a:srgbClr val="1FB5D6"/>
                </a:solidFill>
              </a:rPr>
              <a:t>RO5: Temporal and Lifecycle Trust</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3200" i="1" dirty="0">
                <a:solidFill>
                  <a:srgbClr val="1FB5D6"/>
                </a:solidFill>
              </a:rPr>
              <a:t>RO5: Temporal and Lifecycle Trust</a:t>
            </a:r>
            <a:endParaRPr lang="en-US" sz="3200" dirty="0"/>
          </a:p>
        </p:txBody>
      </p:sp>
      <p:sp>
        <p:nvSpPr>
          <p:cNvPr id="6" name="F35 panel"/>
          <p:cNvSpPr/>
          <p:nvPr/>
        </p:nvSpPr>
        <p:spPr>
          <a:xfrm>
            <a:off x="4546506" y="960120"/>
            <a:ext cx="3098683" cy="5532120"/>
          </a:xfrm>
          <a:prstGeom prst="roundRect">
            <a:avLst>
              <a:gd name="adj" fmla="val 3541"/>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35" descr="/tmp/deck/img/F35.png"/>
          <p:cNvPicPr>
            <a:picLocks noChangeAspect="1"/>
          </p:cNvPicPr>
          <p:nvPr/>
        </p:nvPicPr>
        <p:blipFill>
          <a:blip r:embed="rId3"/>
          <a:stretch>
            <a:fillRect/>
          </a:stretch>
        </p:blipFill>
        <p:spPr>
          <a:xfrm>
            <a:off x="4656234" y="1069848"/>
            <a:ext cx="2879227"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2800" dirty="0"/>
              <a:t>Proposed solution for objective 6</a:t>
            </a:r>
          </a:p>
        </p:txBody>
      </p:sp>
      <p:sp>
        <p:nvSpPr>
          <p:cNvPr id="5" name="status chip"/>
          <p:cNvSpPr/>
          <p:nvPr/>
        </p:nvSpPr>
        <p:spPr>
          <a:xfrm>
            <a:off x="548640" y="1783080"/>
            <a:ext cx="3200400" cy="411480"/>
          </a:xfrm>
          <a:prstGeom prst="roundRect">
            <a:avLst>
              <a:gd name="adj" fmla="val 44444"/>
            </a:avLst>
          </a:prstGeom>
          <a:solidFill>
            <a:srgbClr val="6D5BA8"/>
          </a:solidFill>
          <a:ln w="12700">
            <a:solidFill>
              <a:srgbClr val="6D5BA8"/>
            </a:solidFill>
            <a:prstDash val="solid"/>
          </a:ln>
        </p:spPr>
        <p:txBody>
          <a:bodyPr/>
          <a:lstStyle/>
          <a:p>
            <a:endParaRPr lang="en-AU"/>
          </a:p>
        </p:txBody>
      </p:sp>
      <p:sp>
        <p:nvSpPr>
          <p:cNvPr id="6" name="status text"/>
          <p:cNvSpPr txBox="1"/>
          <p:nvPr/>
        </p:nvSpPr>
        <p:spPr>
          <a:xfrm>
            <a:off x="548640" y="1783080"/>
            <a:ext cx="3200400" cy="411480"/>
          </a:xfrm>
          <a:prstGeom prst="rect">
            <a:avLst/>
          </a:prstGeom>
          <a:noFill/>
          <a:ln/>
        </p:spPr>
        <p:txBody>
          <a:bodyPr wrap="square" rtlCol="0" anchor="ctr"/>
          <a:lstStyle/>
          <a:p>
            <a:pPr marL="0" indent="0" algn="ctr">
              <a:buNone/>
            </a:pPr>
            <a:r>
              <a:rPr lang="en-US" sz="1400" b="1" dirty="0">
                <a:solidFill>
                  <a:srgbClr val="FFFFFF"/>
                </a:solidFill>
              </a:rPr>
              <a:t>Status: Partially completed</a:t>
            </a:r>
            <a:endParaRPr lang="en-US" sz="1400" dirty="0"/>
          </a:p>
        </p:txBody>
      </p:sp>
      <p:sp>
        <p:nvSpPr>
          <p:cNvPr id="7" name="bullets"/>
          <p:cNvSpPr txBox="1"/>
          <p:nvPr/>
        </p:nvSpPr>
        <p:spPr>
          <a:xfrm>
            <a:off x="548640" y="2377440"/>
            <a:ext cx="5303520" cy="40690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Done: 46 automated tests pass, including 13 attack scenarios A1 to A13.</a:t>
            </a:r>
            <a:endParaRPr lang="en-US" sz="1600" dirty="0"/>
          </a:p>
          <a:p>
            <a:pPr marL="342900" indent="-342900">
              <a:spcAft>
                <a:spcPts val="1000"/>
              </a:spcAft>
              <a:buSzPct val="100000"/>
              <a:buChar char="•"/>
            </a:pPr>
            <a:r>
              <a:rPr lang="en-US" sz="1600" dirty="0">
                <a:solidFill>
                  <a:srgbClr val="FFFFFF"/>
                </a:solidFill>
              </a:rPr>
              <a:t>Done: gas, confirmation latency and processing time measured.</a:t>
            </a:r>
            <a:endParaRPr lang="en-US" sz="1600" dirty="0"/>
          </a:p>
          <a:p>
            <a:pPr marL="342900" indent="-342900">
              <a:spcAft>
                <a:spcPts val="1000"/>
              </a:spcAft>
              <a:buSzPct val="100000"/>
              <a:buChar char="•"/>
            </a:pPr>
            <a:r>
              <a:rPr lang="en-US" sz="1600" dirty="0">
                <a:solidFill>
                  <a:srgbClr val="FFFFFF"/>
                </a:solidFill>
              </a:rPr>
              <a:t>Next stage: formal proofs or model checking of the security properties, and a larger evaluation under load.</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36</a:t>
            </a:fld>
            <a:endParaRPr lang="en-US"/>
          </a:p>
        </p:txBody>
      </p:sp>
      <p:sp>
        <p:nvSpPr>
          <p:cNvPr id="3" name="Text 0">
            <a:extLst>
              <a:ext uri="{FF2B5EF4-FFF2-40B4-BE49-F238E27FC236}">
                <a16:creationId xmlns:a16="http://schemas.microsoft.com/office/drawing/2014/main" id="{CFF9E547-B108-F639-F60D-8E5E60FC29BF}"/>
              </a:ext>
            </a:extLst>
          </p:cNvPr>
          <p:cNvSpPr txBox="1">
            <a:spLocks/>
          </p:cNvSpPr>
          <p:nvPr/>
        </p:nvSpPr>
        <p:spPr>
          <a:xfrm>
            <a:off x="254922" y="1222601"/>
            <a:ext cx="5841077" cy="400101"/>
          </a:xfrm>
          <a:prstGeom prst="rect">
            <a:avLst/>
          </a:prstGeom>
          <a:noFill/>
          <a:ln/>
        </p:spPr>
        <p:txBody>
          <a:bodyPr wrap="square" rtlCol="0" anchor="ctr"/>
          <a:lstStyle>
            <a:lvl1pPr marL="0" indent="0" algn="ctr" defTabSz="914400" rtl="0" eaLnBrk="1" latinLnBrk="0" hangingPunct="1">
              <a:spcBef>
                <a:spcPct val="0"/>
              </a:spcBef>
              <a:buNone/>
              <a:defRPr lang="en-US" sz="3000" b="1" kern="1200" dirty="0">
                <a:solidFill>
                  <a:srgbClr val="FFFFFF"/>
                </a:solidFill>
                <a:latin typeface="Arial" pitchFamily="34" charset="0"/>
                <a:ea typeface="Arial" pitchFamily="34" charset="-122"/>
                <a:cs typeface="Arial" pitchFamily="34" charset="-120"/>
              </a:defRPr>
            </a:lvl1pPr>
          </a:lstStyle>
          <a:p>
            <a:r>
              <a:rPr lang="en-US" sz="1600" i="1" dirty="0">
                <a:solidFill>
                  <a:srgbClr val="1FB5D6"/>
                </a:solidFill>
              </a:rPr>
              <a:t>RO6: Formal Security Assurance and Empirical Validation</a:t>
            </a:r>
            <a:endParaRPr lang="en-US" sz="1600" dirty="0"/>
          </a:p>
        </p:txBody>
      </p:sp>
      <p:sp>
        <p:nvSpPr>
          <p:cNvPr id="10" name="F16 panel">
            <a:extLst>
              <a:ext uri="{FF2B5EF4-FFF2-40B4-BE49-F238E27FC236}">
                <a16:creationId xmlns:a16="http://schemas.microsoft.com/office/drawing/2014/main" id="{07737720-46D5-B88C-ABBC-FA89282C8FFF}"/>
              </a:ext>
            </a:extLst>
          </p:cNvPr>
          <p:cNvSpPr/>
          <p:nvPr/>
        </p:nvSpPr>
        <p:spPr>
          <a:xfrm>
            <a:off x="6164133" y="1056942"/>
            <a:ext cx="5675087" cy="5532120"/>
          </a:xfrm>
          <a:prstGeom prst="roundRect">
            <a:avLst>
              <a:gd name="adj" fmla="val 198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16" descr="/tmp/deck/img/F16.png">
            <a:extLst>
              <a:ext uri="{FF2B5EF4-FFF2-40B4-BE49-F238E27FC236}">
                <a16:creationId xmlns:a16="http://schemas.microsoft.com/office/drawing/2014/main" id="{1D67FA77-C3AD-4CF8-7021-C79487AC4381}"/>
              </a:ext>
            </a:extLst>
          </p:cNvPr>
          <p:cNvPicPr>
            <a:picLocks noChangeAspect="1"/>
          </p:cNvPicPr>
          <p:nvPr/>
        </p:nvPicPr>
        <p:blipFill>
          <a:blip r:embed="rId3"/>
          <a:stretch>
            <a:fillRect/>
          </a:stretch>
        </p:blipFill>
        <p:spPr>
          <a:xfrm>
            <a:off x="6273861" y="1166670"/>
            <a:ext cx="5455631" cy="53126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THE HALAH PROTOTYPE</a:t>
            </a:r>
            <a:endParaRPr lang="en-US" sz="3000" dirty="0"/>
          </a:p>
        </p:txBody>
      </p:sp>
      <p:sp>
        <p:nvSpPr>
          <p:cNvPr id="5" name="card Four interfaces"/>
          <p:cNvSpPr/>
          <p:nvPr/>
        </p:nvSpPr>
        <p:spPr>
          <a:xfrm>
            <a:off x="64008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6" name="card text Four interfaces"/>
          <p:cNvSpPr txBox="1"/>
          <p:nvPr/>
        </p:nvSpPr>
        <p:spPr>
          <a:xfrm>
            <a:off x="77724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Four interfaces</a:t>
            </a:r>
            <a:endParaRPr lang="en-US" sz="1900" dirty="0"/>
          </a:p>
          <a:p>
            <a:pPr marL="0" indent="0">
              <a:spcAft>
                <a:spcPts val="400"/>
              </a:spcAft>
              <a:buNone/>
            </a:pPr>
            <a:r>
              <a:rPr lang="en-US" sz="1600" dirty="0">
                <a:solidFill>
                  <a:srgbClr val="0B1F33"/>
                </a:solidFill>
              </a:rPr>
              <a:t>Patient, guardian, doctor and auditor</a:t>
            </a:r>
            <a:endParaRPr lang="en-US" sz="1900" dirty="0"/>
          </a:p>
        </p:txBody>
      </p:sp>
      <p:sp>
        <p:nvSpPr>
          <p:cNvPr id="7" name="card Smart contract"/>
          <p:cNvSpPr/>
          <p:nvPr/>
        </p:nvSpPr>
        <p:spPr>
          <a:xfrm>
            <a:off x="434340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8" name="card text Smart contract"/>
          <p:cNvSpPr txBox="1"/>
          <p:nvPr/>
        </p:nvSpPr>
        <p:spPr>
          <a:xfrm>
            <a:off x="448056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Smart contract</a:t>
            </a:r>
            <a:endParaRPr lang="en-US" sz="1900" dirty="0"/>
          </a:p>
          <a:p>
            <a:pPr marL="0" indent="0">
              <a:spcAft>
                <a:spcPts val="400"/>
              </a:spcAft>
              <a:buNone/>
            </a:pPr>
            <a:r>
              <a:rPr lang="en-US" sz="1600" dirty="0">
                <a:solidFill>
                  <a:srgbClr val="0B1F33"/>
                </a:solidFill>
              </a:rPr>
              <a:t>ConsentSBTv3, a soulbound ERC-721 token (ERC-5484) on the Sepolia testnet</a:t>
            </a:r>
            <a:endParaRPr lang="en-US" sz="1900" dirty="0"/>
          </a:p>
        </p:txBody>
      </p:sp>
      <p:sp>
        <p:nvSpPr>
          <p:cNvPr id="9" name="card Guardian approval"/>
          <p:cNvSpPr/>
          <p:nvPr/>
        </p:nvSpPr>
        <p:spPr>
          <a:xfrm>
            <a:off x="8046720" y="155448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0" name="card text Guardian approval"/>
          <p:cNvSpPr txBox="1"/>
          <p:nvPr/>
        </p:nvSpPr>
        <p:spPr>
          <a:xfrm>
            <a:off x="8183880" y="164592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Guardian approval</a:t>
            </a:r>
            <a:endParaRPr lang="en-US" sz="1900" dirty="0"/>
          </a:p>
          <a:p>
            <a:pPr marL="0" indent="0">
              <a:spcAft>
                <a:spcPts val="400"/>
              </a:spcAft>
              <a:buNone/>
            </a:pPr>
            <a:r>
              <a:rPr lang="en-US" sz="1600" dirty="0">
                <a:solidFill>
                  <a:srgbClr val="0B1F33"/>
                </a:solidFill>
              </a:rPr>
              <a:t>EIP-712 typed signatures, verified by signature recovery</a:t>
            </a:r>
            <a:endParaRPr lang="en-US" sz="1900" dirty="0"/>
          </a:p>
        </p:txBody>
      </p:sp>
      <p:sp>
        <p:nvSpPr>
          <p:cNvPr id="11" name="card Access proof"/>
          <p:cNvSpPr/>
          <p:nvPr/>
        </p:nvSpPr>
        <p:spPr>
          <a:xfrm>
            <a:off x="64008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2" name="card text Access proof"/>
          <p:cNvSpPr txBox="1"/>
          <p:nvPr/>
        </p:nvSpPr>
        <p:spPr>
          <a:xfrm>
            <a:off x="77724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Access proof</a:t>
            </a:r>
            <a:endParaRPr lang="en-US" sz="1900" dirty="0"/>
          </a:p>
          <a:p>
            <a:pPr marL="0" indent="0">
              <a:spcAft>
                <a:spcPts val="400"/>
              </a:spcAft>
              <a:buNone/>
            </a:pPr>
            <a:r>
              <a:rPr lang="en-US" sz="1600" dirty="0">
                <a:solidFill>
                  <a:srgbClr val="0B1F33"/>
                </a:solidFill>
              </a:rPr>
              <a:t>Groth16 zero-knowledge proof over a Poseidon commitment</a:t>
            </a:r>
            <a:endParaRPr lang="en-US" sz="1900" dirty="0"/>
          </a:p>
        </p:txBody>
      </p:sp>
      <p:sp>
        <p:nvSpPr>
          <p:cNvPr id="13" name="card Data"/>
          <p:cNvSpPr/>
          <p:nvPr/>
        </p:nvSpPr>
        <p:spPr>
          <a:xfrm>
            <a:off x="434340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4" name="card text Data"/>
          <p:cNvSpPr txBox="1"/>
          <p:nvPr/>
        </p:nvSpPr>
        <p:spPr>
          <a:xfrm>
            <a:off x="448056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Data</a:t>
            </a:r>
            <a:endParaRPr lang="en-US" sz="1900" dirty="0"/>
          </a:p>
          <a:p>
            <a:pPr marL="0" indent="0">
              <a:spcAft>
                <a:spcPts val="400"/>
              </a:spcAft>
              <a:buNone/>
            </a:pPr>
            <a:r>
              <a:rPr lang="en-US" sz="1600" dirty="0">
                <a:solidFill>
                  <a:srgbClr val="0B1F33"/>
                </a:solidFill>
              </a:rPr>
              <a:t>Synthetic Synthea records: Observation, Medication, Condition, Procedure</a:t>
            </a:r>
            <a:endParaRPr lang="en-US" sz="1900" dirty="0"/>
          </a:p>
        </p:txBody>
      </p:sp>
      <p:sp>
        <p:nvSpPr>
          <p:cNvPr id="15" name="card Evidence"/>
          <p:cNvSpPr/>
          <p:nvPr/>
        </p:nvSpPr>
        <p:spPr>
          <a:xfrm>
            <a:off x="8046720" y="3931920"/>
            <a:ext cx="3520440" cy="2103120"/>
          </a:xfrm>
          <a:prstGeom prst="roundRect">
            <a:avLst>
              <a:gd name="adj" fmla="val 4348"/>
            </a:avLst>
          </a:prstGeom>
          <a:solidFill>
            <a:srgbClr val="FFFFFF">
              <a:alpha val="92000"/>
            </a:srgbClr>
          </a:solidFill>
          <a:ln w="19050">
            <a:solidFill>
              <a:srgbClr val="1FB5D6"/>
            </a:solidFill>
            <a:prstDash val="solid"/>
          </a:ln>
        </p:spPr>
        <p:txBody>
          <a:bodyPr/>
          <a:lstStyle/>
          <a:p>
            <a:endParaRPr lang="en-AU"/>
          </a:p>
        </p:txBody>
      </p:sp>
      <p:sp>
        <p:nvSpPr>
          <p:cNvPr id="16" name="card text Evidence"/>
          <p:cNvSpPr txBox="1"/>
          <p:nvPr/>
        </p:nvSpPr>
        <p:spPr>
          <a:xfrm>
            <a:off x="8183880" y="4023360"/>
            <a:ext cx="3246120" cy="1920240"/>
          </a:xfrm>
          <a:prstGeom prst="rect">
            <a:avLst/>
          </a:prstGeom>
          <a:noFill/>
          <a:ln/>
        </p:spPr>
        <p:txBody>
          <a:bodyPr wrap="square" rtlCol="0" anchor="t"/>
          <a:lstStyle/>
          <a:p>
            <a:pPr marL="0" indent="0">
              <a:spcAft>
                <a:spcPts val="400"/>
              </a:spcAft>
              <a:buNone/>
            </a:pPr>
            <a:r>
              <a:rPr lang="en-US" sz="1900" b="1" dirty="0">
                <a:solidFill>
                  <a:srgbClr val="0B2A4A"/>
                </a:solidFill>
              </a:rPr>
              <a:t>Evidence</a:t>
            </a:r>
            <a:endParaRPr lang="en-US" sz="1900" dirty="0"/>
          </a:p>
          <a:p>
            <a:pPr marL="0" indent="0">
              <a:spcAft>
                <a:spcPts val="400"/>
              </a:spcAft>
              <a:buNone/>
            </a:pPr>
            <a:r>
              <a:rPr lang="en-US" sz="1600" dirty="0">
                <a:solidFill>
                  <a:srgbClr val="0B1F33"/>
                </a:solidFill>
              </a:rPr>
              <a:t>Off-chain audit ledger of consent events and access decisions; no medical content on-chain</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1: THE PATIENT CREATES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RO1</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marL="0" indent="0">
              <a:buNone/>
            </a:pPr>
            <a:r>
              <a:rPr lang="en-US" sz="1600" i="1" dirty="0">
                <a:solidFill>
                  <a:srgbClr val="1FB5D6"/>
                </a:solidFill>
              </a:rPr>
              <a:t>Consent as an evaluable object</a:t>
            </a:r>
            <a:endParaRPr lang="en-US" sz="1600" dirty="0"/>
          </a:p>
        </p:txBody>
      </p:sp>
      <p:sp>
        <p:nvSpPr>
          <p:cNvPr id="7" name="F21x panel"/>
          <p:cNvSpPr/>
          <p:nvPr/>
        </p:nvSpPr>
        <p:spPr>
          <a:xfrm>
            <a:off x="640080" y="1600200"/>
            <a:ext cx="6949440" cy="4709160"/>
          </a:xfrm>
          <a:prstGeom prst="roundRect">
            <a:avLst>
              <a:gd name="adj" fmla="val 233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8" name="F21x" descr="/tmp/deck/img/F21x.png"/>
          <p:cNvPicPr>
            <a:picLocks noChangeAspect="1"/>
          </p:cNvPicPr>
          <p:nvPr/>
        </p:nvPicPr>
        <p:blipFill>
          <a:blip r:embed="rId3"/>
          <a:stretch>
            <a:fillRect/>
          </a:stretch>
        </p:blipFill>
        <p:spPr>
          <a:xfrm>
            <a:off x="846698" y="1709928"/>
            <a:ext cx="6536203" cy="4489704"/>
          </a:xfrm>
          <a:prstGeom prst="rect">
            <a:avLst/>
          </a:prstGeom>
        </p:spPr>
      </p:pic>
      <p:sp>
        <p:nvSpPr>
          <p:cNvPr id="9" name="caption"/>
          <p:cNvSpPr txBox="1"/>
          <p:nvPr/>
        </p:nvSpPr>
        <p:spPr>
          <a:xfrm>
            <a:off x="640080" y="6355080"/>
            <a:ext cx="6949440" cy="320040"/>
          </a:xfrm>
          <a:prstGeom prst="rect">
            <a:avLst/>
          </a:prstGeom>
          <a:noFill/>
          <a:ln/>
        </p:spPr>
        <p:txBody>
          <a:bodyPr wrap="square" rtlCol="0" anchor="ctr"/>
          <a:lstStyle/>
          <a:p>
            <a:pPr marL="0" indent="0" algn="ctr">
              <a:buNone/>
            </a:pPr>
            <a:r>
              <a:rPr lang="en-US" sz="1200" i="1" dirty="0">
                <a:solidFill>
                  <a:srgbClr val="FFFFFF"/>
                </a:solidFill>
              </a:rPr>
              <a:t>Patient screen, consent 04da25f5 (shown in two parts)</a:t>
            </a:r>
            <a:endParaRPr lang="en-US" sz="1200" dirty="0"/>
          </a:p>
        </p:txBody>
      </p:sp>
      <p:sp>
        <p:nvSpPr>
          <p:cNvPr id="10" name="bullets"/>
          <p:cNvSpPr txBox="1"/>
          <p:nvPr/>
        </p:nvSpPr>
        <p:spPr>
          <a:xfrm>
            <a:off x="7863840" y="1600200"/>
            <a:ext cx="3749040" cy="4754880"/>
          </a:xfrm>
          <a:prstGeom prst="rect">
            <a:avLst/>
          </a:prstGeom>
          <a:noFill/>
          <a:ln/>
        </p:spPr>
        <p:txBody>
          <a:bodyPr wrap="square" rtlCol="0" anchor="t"/>
          <a:lstStyle/>
          <a:p>
            <a:pPr marL="342900" indent="-342900">
              <a:spcAft>
                <a:spcPts val="1000"/>
              </a:spcAft>
              <a:buSzPct val="100000"/>
              <a:buChar char="•"/>
            </a:pPr>
            <a:r>
              <a:rPr lang="en-US" sz="1600" dirty="0">
                <a:solidFill>
                  <a:srgbClr val="FFFFFF"/>
                </a:solidFill>
              </a:rPr>
              <a:t>The patient enters the doctor's DID, two guardians, the data modules and the end date.</a:t>
            </a:r>
            <a:endParaRPr lang="en-US" sz="1600" dirty="0"/>
          </a:p>
          <a:p>
            <a:pPr marL="342900" indent="-342900">
              <a:spcAft>
                <a:spcPts val="1000"/>
              </a:spcAft>
              <a:buSzPct val="100000"/>
              <a:buChar char="•"/>
            </a:pPr>
            <a:r>
              <a:rPr lang="en-US" sz="1600" dirty="0">
                <a:solidFill>
                  <a:srgbClr val="FFFFFF"/>
                </a:solidFill>
              </a:rPr>
              <a:t>The system saves the consent off-chain and gives it an ID.</a:t>
            </a:r>
            <a:endParaRPr lang="en-US" sz="1600" dirty="0"/>
          </a:p>
          <a:p>
            <a:pPr marL="342900" indent="-342900">
              <a:spcAft>
                <a:spcPts val="1000"/>
              </a:spcAft>
              <a:buSzPct val="100000"/>
              <a:buChar char="•"/>
            </a:pPr>
            <a:r>
              <a:rPr lang="en-US" sz="1600" dirty="0">
                <a:solidFill>
                  <a:srgbClr val="FFFFFF"/>
                </a:solidFill>
              </a:rPr>
              <a:t>The state is PENDING_SIGNATURE, with 0 of 2 signatures.</a:t>
            </a:r>
            <a:endParaRPr lang="en-US" sz="1600" dirty="0"/>
          </a:p>
          <a:p>
            <a:pPr marL="342900" indent="-342900">
              <a:spcAft>
                <a:spcPts val="1000"/>
              </a:spcAft>
              <a:buSzPct val="100000"/>
              <a:buChar char="•"/>
            </a:pPr>
            <a:r>
              <a:rPr lang="en-US" sz="1600" dirty="0">
                <a:solidFill>
                  <a:srgbClr val="FFFFFF"/>
                </a:solidFill>
              </a:rPr>
              <a:t>Nothing is on the blockchain yet.</a:t>
            </a:r>
            <a:endParaRPr lang="en-US" sz="16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2: THE FIRST GUARDIAN APPROVES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RO3</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342900" indent="-342900">
              <a:buSzPct val="100000"/>
              <a:buChar char="•"/>
            </a:pPr>
            <a:r>
              <a:rPr lang="en-US" sz="1400" dirty="0">
                <a:solidFill>
                  <a:srgbClr val="FFFFFF"/>
                </a:solidFill>
              </a:rPr>
              <a:t>Guardian A enters the consent ID and chooses their DID.</a:t>
            </a:r>
            <a:endParaRPr lang="en-US" sz="1400" dirty="0"/>
          </a:p>
          <a:p>
            <a:pPr marL="342900" indent="-342900">
              <a:buSzPct val="100000"/>
              <a:buChar char="•"/>
            </a:pPr>
            <a:r>
              <a:rPr lang="en-US" sz="1400" dirty="0">
                <a:solidFill>
                  <a:srgbClr val="FFFFFF"/>
                </a:solidFill>
              </a:rPr>
              <a:t>The first guardian signs an EIP-712 approval. The system checks the signature and finds the signer's address.</a:t>
            </a:r>
            <a:endParaRPr lang="en-US" sz="1400" dirty="0"/>
          </a:p>
          <a:p>
            <a:pPr marL="342900" indent="-342900">
              <a:buSzPct val="100000"/>
              <a:buChar char="•"/>
            </a:pPr>
            <a:r>
              <a:rPr lang="en-US" sz="1400" dirty="0">
                <a:solidFill>
                  <a:srgbClr val="FFFFFF"/>
                </a:solidFill>
              </a:rPr>
              <a:t>The counter shows 1 of 2. The consent stays pending.</a:t>
            </a:r>
            <a:endParaRPr lang="en-US" sz="1400" dirty="0"/>
          </a:p>
        </p:txBody>
      </p:sp>
      <p:sp>
        <p:nvSpPr>
          <p:cNvPr id="8" name="F22 panel"/>
          <p:cNvSpPr/>
          <p:nvPr/>
        </p:nvSpPr>
        <p:spPr>
          <a:xfrm>
            <a:off x="1197572" y="2514600"/>
            <a:ext cx="9796551"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2" descr="/tmp/deck/img/F22.png"/>
          <p:cNvPicPr>
            <a:picLocks noChangeAspect="1"/>
          </p:cNvPicPr>
          <p:nvPr/>
        </p:nvPicPr>
        <p:blipFill>
          <a:blip r:embed="rId3"/>
          <a:stretch>
            <a:fillRect/>
          </a:stretch>
        </p:blipFill>
        <p:spPr>
          <a:xfrm>
            <a:off x="1307300" y="2624328"/>
            <a:ext cx="9577095" cy="3438144"/>
          </a:xfrm>
          <a:prstGeom prst="rect">
            <a:avLst/>
          </a:prstGeom>
        </p:spPr>
      </p:pic>
      <p:sp>
        <p:nvSpPr>
          <p:cNvPr id="10" name="caption"/>
          <p:cNvSpPr txBox="1"/>
          <p:nvPr/>
        </p:nvSpPr>
        <p:spPr>
          <a:xfrm>
            <a:off x="1197572" y="6217920"/>
            <a:ext cx="9796551" cy="320040"/>
          </a:xfrm>
          <a:prstGeom prst="rect">
            <a:avLst/>
          </a:prstGeom>
          <a:noFill/>
          <a:ln/>
        </p:spPr>
        <p:txBody>
          <a:bodyPr wrap="square" rtlCol="0" anchor="ctr"/>
          <a:lstStyle/>
          <a:p>
            <a:pPr marL="0" indent="0" algn="ctr">
              <a:buNone/>
            </a:pPr>
            <a:r>
              <a:rPr lang="en-US" sz="1200" i="1" dirty="0">
                <a:solidFill>
                  <a:srgbClr val="FFFFFF"/>
                </a:solidFill>
              </a:rPr>
              <a:t>Guardian screen at the first approval: signature verified, 1 of 2 signatures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4: THE DOCTOR IS ALLOWED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RO2 + RO4</a:t>
            </a:r>
            <a:endParaRPr lang="en-US" sz="1400" dirty="0"/>
          </a:p>
        </p:txBody>
      </p:sp>
      <p:sp>
        <p:nvSpPr>
          <p:cNvPr id="7" name="bullets"/>
          <p:cNvSpPr txBox="1"/>
          <p:nvPr/>
        </p:nvSpPr>
        <p:spPr>
          <a:xfrm>
            <a:off x="731520" y="1463040"/>
            <a:ext cx="10789920" cy="914400"/>
          </a:xfrm>
          <a:prstGeom prst="rect">
            <a:avLst/>
          </a:prstGeom>
          <a:noFill/>
          <a:ln/>
        </p:spPr>
        <p:txBody>
          <a:bodyPr wrap="square" rtlCol="0" anchor="t"/>
          <a:lstStyle/>
          <a:p>
            <a:pPr marL="342900" indent="-342900">
              <a:buSzPct val="100000"/>
              <a:buChar char="•"/>
            </a:pPr>
            <a:r>
              <a:rPr lang="en-US" sz="1400" dirty="0">
                <a:solidFill>
                  <a:srgbClr val="FFFFFF"/>
                </a:solidFill>
              </a:rPr>
              <a:t>The doctor opens the consent: patient, consent ID and purpose, Treatment. The state is ACTIVE.</a:t>
            </a:r>
            <a:endParaRPr lang="en-US" sz="1400" dirty="0"/>
          </a:p>
          <a:p>
            <a:pPr marL="342900" indent="-342900">
              <a:buSzPct val="100000"/>
              <a:buChar char="•"/>
            </a:pPr>
            <a:r>
              <a:rPr lang="en-US" sz="1400" dirty="0">
                <a:solidFill>
                  <a:srgbClr val="FFFFFF"/>
                </a:solidFill>
              </a:rPr>
              <a:t>The decision matrix shows VI, VA, VP, VT, VL all PASS, so ALLOW.</a:t>
            </a:r>
            <a:endParaRPr lang="en-US" sz="1400" dirty="0"/>
          </a:p>
          <a:p>
            <a:pPr marL="342900" indent="-342900">
              <a:buSzPct val="100000"/>
              <a:buChar char="•"/>
            </a:pPr>
            <a:r>
              <a:rPr lang="en-US" sz="1400" dirty="0">
                <a:solidFill>
                  <a:srgbClr val="FFFFFF"/>
                </a:solidFill>
              </a:rPr>
              <a:t>VP is the policy check: the purpose is checked here, and the scope when the doctor asks for the data.</a:t>
            </a:r>
            <a:endParaRPr lang="en-US" sz="1400" dirty="0"/>
          </a:p>
        </p:txBody>
      </p:sp>
      <p:sp>
        <p:nvSpPr>
          <p:cNvPr id="8" name="F29m panel"/>
          <p:cNvSpPr/>
          <p:nvPr/>
        </p:nvSpPr>
        <p:spPr>
          <a:xfrm>
            <a:off x="655168" y="2514600"/>
            <a:ext cx="10881360" cy="2955976"/>
          </a:xfrm>
          <a:prstGeom prst="roundRect">
            <a:avLst>
              <a:gd name="adj" fmla="val 371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m" descr="/tmp/deck/img/F29m.png"/>
          <p:cNvPicPr>
            <a:picLocks noChangeAspect="1"/>
          </p:cNvPicPr>
          <p:nvPr/>
        </p:nvPicPr>
        <p:blipFill>
          <a:blip r:embed="rId3"/>
          <a:stretch>
            <a:fillRect/>
          </a:stretch>
        </p:blipFill>
        <p:spPr>
          <a:xfrm>
            <a:off x="764896" y="2624328"/>
            <a:ext cx="10661904" cy="2736520"/>
          </a:xfrm>
          <a:prstGeom prst="rect">
            <a:avLst/>
          </a:prstGeom>
        </p:spPr>
      </p:pic>
      <p:sp>
        <p:nvSpPr>
          <p:cNvPr id="10" name="caption"/>
          <p:cNvSpPr txBox="1"/>
          <p:nvPr/>
        </p:nvSpPr>
        <p:spPr>
          <a:xfrm>
            <a:off x="655168" y="5516296"/>
            <a:ext cx="10881360" cy="320040"/>
          </a:xfrm>
          <a:prstGeom prst="rect">
            <a:avLst/>
          </a:prstGeom>
          <a:noFill/>
          <a:ln/>
        </p:spPr>
        <p:txBody>
          <a:bodyPr wrap="square" rtlCol="0" anchor="ctr"/>
          <a:lstStyle/>
          <a:p>
            <a:pPr marL="0" indent="0" algn="ctr">
              <a:buNone/>
            </a:pPr>
            <a:r>
              <a:rPr lang="en-US" sz="1200" i="1" dirty="0">
                <a:solidFill>
                  <a:srgbClr val="FFFFFF"/>
                </a:solidFill>
              </a:rPr>
              <a:t>Doctor screen, consent 04da25f5 (shown in two parts)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3: SECOND APPROVAL, TOKEN MINTED</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RO3</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marL="0" indent="0">
              <a:buNone/>
            </a:pPr>
            <a:r>
              <a:rPr lang="en-US" sz="1600" i="1" dirty="0">
                <a:solidFill>
                  <a:srgbClr val="1FB5D6"/>
                </a:solidFill>
              </a:rPr>
              <a:t>Threshold reached: 2 of 2, then anchoring in the background</a:t>
            </a:r>
            <a:endParaRPr lang="en-US" sz="16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The second signature is verified. Now 2 of 2 guardians have signed.</a:t>
            </a:r>
            <a:endParaRPr lang="en-US" sz="1400" dirty="0"/>
          </a:p>
          <a:p>
            <a:pPr marL="342900" indent="-342900">
              <a:buSzPct val="100000"/>
              <a:buChar char="•"/>
            </a:pPr>
            <a:r>
              <a:rPr lang="en-US" sz="1400" dirty="0">
                <a:solidFill>
                  <a:srgbClr val="FFFFFF"/>
                </a:solidFill>
              </a:rPr>
              <a:t>A soulbound token is minted on Sepolia in the background. The guardian does not wait.</a:t>
            </a:r>
            <a:endParaRPr lang="en-US" sz="1400" dirty="0"/>
          </a:p>
          <a:p>
            <a:pPr marL="342900" indent="-342900">
              <a:buSzPct val="100000"/>
              <a:buChar char="•"/>
            </a:pPr>
            <a:r>
              <a:rPr lang="en-US" sz="1400" dirty="0">
                <a:solidFill>
                  <a:srgbClr val="FFFFFF"/>
                </a:solidFill>
              </a:rPr>
              <a:t>Later, the same screen says: already anchored on Sepolia, token #2.</a:t>
            </a:r>
            <a:endParaRPr lang="en-US" sz="1400" dirty="0"/>
          </a:p>
        </p:txBody>
      </p:sp>
      <p:sp>
        <p:nvSpPr>
          <p:cNvPr id="8" name="F23 panel"/>
          <p:cNvSpPr/>
          <p:nvPr/>
        </p:nvSpPr>
        <p:spPr>
          <a:xfrm>
            <a:off x="64008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3" descr="/tmp/deck/img/F23.png"/>
          <p:cNvPicPr>
            <a:picLocks noChangeAspect="1"/>
          </p:cNvPicPr>
          <p:nvPr/>
        </p:nvPicPr>
        <p:blipFill>
          <a:blip r:embed="rId3"/>
          <a:stretch>
            <a:fillRect/>
          </a:stretch>
        </p:blipFill>
        <p:spPr>
          <a:xfrm>
            <a:off x="749808" y="2562614"/>
            <a:ext cx="5175504" cy="2372852"/>
          </a:xfrm>
          <a:prstGeom prst="rect">
            <a:avLst/>
          </a:prstGeom>
        </p:spPr>
      </p:pic>
      <p:sp>
        <p:nvSpPr>
          <p:cNvPr id="10" name="caption"/>
          <p:cNvSpPr txBox="1"/>
          <p:nvPr/>
        </p:nvSpPr>
        <p:spPr>
          <a:xfrm>
            <a:off x="640080" y="5166360"/>
            <a:ext cx="5394960" cy="320040"/>
          </a:xfrm>
          <a:prstGeom prst="rect">
            <a:avLst/>
          </a:prstGeom>
          <a:noFill/>
          <a:ln/>
        </p:spPr>
        <p:txBody>
          <a:bodyPr wrap="square" rtlCol="0" anchor="ctr"/>
          <a:lstStyle/>
          <a:p>
            <a:pPr marL="0" indent="0" algn="ctr">
              <a:buNone/>
            </a:pPr>
            <a:r>
              <a:rPr lang="en-US" sz="1200" i="1" dirty="0">
                <a:solidFill>
                  <a:srgbClr val="FFFFFF"/>
                </a:solidFill>
              </a:rPr>
              <a:t>Second approval: 2 of 2, token recorded, anchoring starts</a:t>
            </a:r>
            <a:endParaRPr lang="en-US" sz="1200" dirty="0"/>
          </a:p>
        </p:txBody>
      </p:sp>
      <p:sp>
        <p:nvSpPr>
          <p:cNvPr id="11" name="F25c panel"/>
          <p:cNvSpPr/>
          <p:nvPr/>
        </p:nvSpPr>
        <p:spPr>
          <a:xfrm>
            <a:off x="6172200" y="2377440"/>
            <a:ext cx="5394960" cy="2743200"/>
          </a:xfrm>
          <a:prstGeom prst="roundRect">
            <a:avLst>
              <a:gd name="adj" fmla="val 4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25c" descr="/tmp/deck/img/F25c.png"/>
          <p:cNvPicPr>
            <a:picLocks noChangeAspect="1"/>
          </p:cNvPicPr>
          <p:nvPr/>
        </p:nvPicPr>
        <p:blipFill>
          <a:blip r:embed="rId4"/>
          <a:stretch>
            <a:fillRect/>
          </a:stretch>
        </p:blipFill>
        <p:spPr>
          <a:xfrm>
            <a:off x="6281928" y="2980123"/>
            <a:ext cx="5175504" cy="1537835"/>
          </a:xfrm>
          <a:prstGeom prst="rect">
            <a:avLst/>
          </a:prstGeom>
        </p:spPr>
      </p:pic>
      <p:sp>
        <p:nvSpPr>
          <p:cNvPr id="13" name="caption"/>
          <p:cNvSpPr txBox="1"/>
          <p:nvPr/>
        </p:nvSpPr>
        <p:spPr>
          <a:xfrm>
            <a:off x="6172200" y="5166360"/>
            <a:ext cx="5394960" cy="320040"/>
          </a:xfrm>
          <a:prstGeom prst="rect">
            <a:avLst/>
          </a:prstGeom>
          <a:noFill/>
          <a:ln/>
        </p:spPr>
        <p:txBody>
          <a:bodyPr wrap="square" rtlCol="0" anchor="ctr"/>
          <a:lstStyle/>
          <a:p>
            <a:pPr marL="0" indent="0" algn="ctr">
              <a:buNone/>
            </a:pPr>
            <a:r>
              <a:rPr lang="en-US" sz="1200" i="1" dirty="0">
                <a:solidFill>
                  <a:srgbClr val="FFFFFF"/>
                </a:solidFill>
              </a:rPr>
              <a:t>Same screen later: already anchored on Sepolia, token #2</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5: ONLY THE AUTHORISED RECORDS</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RO4</a:t>
            </a:r>
            <a:endParaRPr lang="en-US" sz="1400" dirty="0"/>
          </a:p>
        </p:txBody>
      </p:sp>
      <p:sp>
        <p:nvSpPr>
          <p:cNvPr id="7" name="bullets"/>
          <p:cNvSpPr txBox="1"/>
          <p:nvPr/>
        </p:nvSpPr>
        <p:spPr>
          <a:xfrm>
            <a:off x="731520" y="1463040"/>
            <a:ext cx="10789920" cy="868680"/>
          </a:xfrm>
          <a:prstGeom prst="rect">
            <a:avLst/>
          </a:prstGeom>
          <a:noFill/>
          <a:ln/>
        </p:spPr>
        <p:txBody>
          <a:bodyPr wrap="square" rtlCol="0" anchor="t"/>
          <a:lstStyle/>
          <a:p>
            <a:pPr marL="342900" indent="-342900">
              <a:buSzPct val="100000"/>
              <a:buChar char="•"/>
            </a:pPr>
            <a:r>
              <a:rPr lang="en-US" sz="1400" dirty="0">
                <a:solidFill>
                  <a:srgbClr val="FFFFFF"/>
                </a:solidFill>
              </a:rPr>
              <a:t>After ALLOW and the proof check, the screen shows the records, one table per module.</a:t>
            </a:r>
            <a:endParaRPr lang="en-US" sz="1400" dirty="0"/>
          </a:p>
          <a:p>
            <a:pPr marL="342900" indent="-342900">
              <a:buSzPct val="100000"/>
              <a:buChar char="•"/>
            </a:pPr>
            <a:r>
              <a:rPr lang="en-US" sz="1400" dirty="0">
                <a:solidFill>
                  <a:srgbClr val="FFFFFF"/>
                </a:solidFill>
              </a:rPr>
              <a:t>Only the four modules in the consent are shown. A request outside the scope is refused (attack test A4).</a:t>
            </a:r>
            <a:endParaRPr lang="en-US" sz="1400" dirty="0"/>
          </a:p>
          <a:p>
            <a:pPr marL="342900" indent="-342900">
              <a:buSzPct val="100000"/>
              <a:buChar char="•"/>
            </a:pPr>
            <a:r>
              <a:rPr lang="en-US" sz="1400" dirty="0">
                <a:solidFill>
                  <a:srgbClr val="FFFFFF"/>
                </a:solidFill>
              </a:rPr>
              <a:t>The data are synthetic Synthea records, not real patients.</a:t>
            </a:r>
            <a:endParaRPr lang="en-US" sz="1400" dirty="0"/>
          </a:p>
        </p:txBody>
      </p:sp>
      <p:sp>
        <p:nvSpPr>
          <p:cNvPr id="8" name="F29r panel"/>
          <p:cNvSpPr/>
          <p:nvPr/>
        </p:nvSpPr>
        <p:spPr>
          <a:xfrm>
            <a:off x="64008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29r" descr="/tmp/deck/img/F29r.png"/>
          <p:cNvPicPr>
            <a:picLocks noChangeAspect="1"/>
          </p:cNvPicPr>
          <p:nvPr/>
        </p:nvPicPr>
        <p:blipFill>
          <a:blip r:embed="rId3"/>
          <a:stretch>
            <a:fillRect/>
          </a:stretch>
        </p:blipFill>
        <p:spPr>
          <a:xfrm>
            <a:off x="1216464" y="2487168"/>
            <a:ext cx="4242192" cy="3438144"/>
          </a:xfrm>
          <a:prstGeom prst="rect">
            <a:avLst/>
          </a:prstGeom>
        </p:spPr>
      </p:pic>
      <p:sp>
        <p:nvSpPr>
          <p:cNvPr id="10" name="caption"/>
          <p:cNvSpPr txBox="1"/>
          <p:nvPr/>
        </p:nvSpPr>
        <p:spPr>
          <a:xfrm>
            <a:off x="64008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Observation and Medication</a:t>
            </a:r>
            <a:endParaRPr lang="en-US" sz="1200" dirty="0"/>
          </a:p>
        </p:txBody>
      </p:sp>
      <p:sp>
        <p:nvSpPr>
          <p:cNvPr id="11" name="F30 panel"/>
          <p:cNvSpPr/>
          <p:nvPr/>
        </p:nvSpPr>
        <p:spPr>
          <a:xfrm>
            <a:off x="6172200" y="2377440"/>
            <a:ext cx="5394960"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2" name="F30" descr="/tmp/deck/img/F30.png"/>
          <p:cNvPicPr>
            <a:picLocks noChangeAspect="1"/>
          </p:cNvPicPr>
          <p:nvPr/>
        </p:nvPicPr>
        <p:blipFill>
          <a:blip r:embed="rId4"/>
          <a:stretch>
            <a:fillRect/>
          </a:stretch>
        </p:blipFill>
        <p:spPr>
          <a:xfrm>
            <a:off x="6784147" y="2487168"/>
            <a:ext cx="4171066" cy="3438144"/>
          </a:xfrm>
          <a:prstGeom prst="rect">
            <a:avLst/>
          </a:prstGeom>
        </p:spPr>
      </p:pic>
      <p:sp>
        <p:nvSpPr>
          <p:cNvPr id="13" name="caption"/>
          <p:cNvSpPr txBox="1"/>
          <p:nvPr/>
        </p:nvSpPr>
        <p:spPr>
          <a:xfrm>
            <a:off x="6172200" y="6080760"/>
            <a:ext cx="5394960" cy="320040"/>
          </a:xfrm>
          <a:prstGeom prst="rect">
            <a:avLst/>
          </a:prstGeom>
          <a:noFill/>
          <a:ln/>
        </p:spPr>
        <p:txBody>
          <a:bodyPr wrap="square" rtlCol="0" anchor="ctr"/>
          <a:lstStyle/>
          <a:p>
            <a:pPr marL="0" indent="0" algn="ctr">
              <a:buNone/>
            </a:pPr>
            <a:r>
              <a:rPr lang="en-US" sz="1200" i="1" dirty="0">
                <a:solidFill>
                  <a:srgbClr val="FFFFFF"/>
                </a:solidFill>
              </a:rPr>
              <a:t>Authorised records: Condition and Procedure</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r>
              <a:rPr lang="en-US" sz="2800" i="1" dirty="0">
                <a:solidFill>
                  <a:srgbClr val="1FB5D6"/>
                </a:solidFill>
              </a:rPr>
              <a:t>RO6: Formal Security Assurance and Empirical Validation</a:t>
            </a:r>
            <a:endParaRPr lang="en-US" sz="2800" dirty="0"/>
          </a:p>
        </p:txBody>
      </p:sp>
      <p:sp>
        <p:nvSpPr>
          <p:cNvPr id="6" name="F16 panel"/>
          <p:cNvSpPr/>
          <p:nvPr/>
        </p:nvSpPr>
        <p:spPr>
          <a:xfrm>
            <a:off x="4023360" y="960120"/>
            <a:ext cx="5675087" cy="5532120"/>
          </a:xfrm>
          <a:prstGeom prst="roundRect">
            <a:avLst>
              <a:gd name="adj" fmla="val 198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16" descr="/tmp/deck/img/F16.png"/>
          <p:cNvPicPr>
            <a:picLocks noChangeAspect="1"/>
          </p:cNvPicPr>
          <p:nvPr/>
        </p:nvPicPr>
        <p:blipFill>
          <a:blip r:embed="rId3"/>
          <a:stretch>
            <a:fillRect/>
          </a:stretch>
        </p:blipFill>
        <p:spPr>
          <a:xfrm>
            <a:off x="4133088" y="1069848"/>
            <a:ext cx="5455631" cy="531266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484632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buNone/>
                      </a:pPr>
                      <a:r>
                        <a:rPr lang="en-US" sz="1400" b="1" dirty="0">
                          <a:solidFill>
                            <a:srgbClr val="FFFFFF"/>
                          </a:solidFill>
                        </a:rPr>
                        <a:t>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What it checks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Pass rule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868680">
                <a:tc>
                  <a:txBody>
                    <a:bodyPr/>
                    <a:lstStyle/>
                    <a:p>
                      <a:pPr marL="0" indent="0">
                        <a:buNone/>
                      </a:pPr>
                      <a:r>
                        <a:rPr lang="en-US" sz="1400" b="1" dirty="0">
                          <a:solidFill>
                            <a:srgbClr val="0B1F33"/>
                          </a:solidFill>
                        </a:rPr>
                        <a:t>Valid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Legitimate requests get access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Observed = expected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Scenarios 1 to 3: consent created, 2-of-2 approval, ALLOW</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400" b="1" dirty="0">
                          <a:solidFill>
                            <a:srgbClr val="0B1F33"/>
                          </a:solidFill>
                        </a:rPr>
                        <a:t>Negative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Wrong requests are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Any failed check gives 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Scenario 5: revoked consent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400" b="1" dirty="0">
                          <a:solidFill>
                            <a:srgbClr val="0B1F33"/>
                          </a:solidFill>
                        </a:rPr>
                        <a:t>Attack scenarios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Deliberate attempts to bypass a check, A1 to A13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Every attack is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12 of 13 refused (A11 neutral: the audit digest is not yet checked)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32 functional tests and 14 adversarial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All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46 of 46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68680">
                <a:tc>
                  <a:txBody>
                    <a:bodyPr/>
                    <a:lstStyle/>
                    <a:p>
                      <a:pPr marL="0" indent="0">
                        <a:buNone/>
                      </a:pPr>
                      <a:r>
                        <a:rPr lang="en-US" sz="1400" b="1" dirty="0">
                          <a:solidFill>
                            <a:srgbClr val="0B1F33"/>
                          </a:solidFill>
                        </a:rPr>
                        <a:t>Independent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On-chain receipts against the local consent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Local state = on-chain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Scenario 6: all checks passed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THE RECORDED DECISIONS</a:t>
            </a:r>
            <a:endParaRPr lang="en-US" sz="3000" dirty="0"/>
          </a:p>
        </p:txBody>
      </p:sp>
      <p:graphicFrame>
        <p:nvGraphicFramePr>
          <p:cNvPr id="27" name="ledger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3017520"/>
        </p:xfrm>
        <a:graphic>
          <a:graphicData uri="http://schemas.openxmlformats.org/drawingml/2006/table">
            <a:tbl>
              <a:tblPr/>
              <a:tblGrid>
                <a:gridCol w="12801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77724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1188720">
                  <a:extLst>
                    <a:ext uri="{9D8B030D-6E8A-4147-A177-3AD203B41FA5}">
                      <a16:colId xmlns:a16="http://schemas.microsoft.com/office/drawing/2014/main" val="20008"/>
                    </a:ext>
                  </a:extLst>
                </a:gridCol>
                <a:gridCol w="1325880">
                  <a:extLst>
                    <a:ext uri="{9D8B030D-6E8A-4147-A177-3AD203B41FA5}">
                      <a16:colId xmlns:a16="http://schemas.microsoft.com/office/drawing/2014/main" val="20009"/>
                    </a:ext>
                  </a:extLst>
                </a:gridCol>
              </a:tblGrid>
              <a:tr h="502920">
                <a:tc>
                  <a:txBody>
                    <a:bodyPr/>
                    <a:lstStyle/>
                    <a:p>
                      <a:pPr marL="0" indent="0" algn="ctr">
                        <a:buNone/>
                      </a:pPr>
                      <a:r>
                        <a:rPr lang="en-US" sz="1300" b="1" dirty="0">
                          <a:solidFill>
                            <a:srgbClr val="FFFFFF"/>
                          </a:solidFill>
                        </a:rPr>
                        <a:t>Time (24 Sep)</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Consent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VI</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VA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VP</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VT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VL</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Decision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Access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300" b="1" dirty="0">
                          <a:solidFill>
                            <a:srgbClr val="FFFFFF"/>
                          </a:solidFill>
                        </a:rPr>
                        <a:t>Proof</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0B1F33"/>
                          </a:solidFill>
                        </a:rPr>
                        <a:t>09:51:36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f050c29a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0B1F33"/>
                          </a:solidFill>
                        </a:rPr>
                        <a:t>09:51:39</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f050c29a</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0B1F33"/>
                          </a:solidFill>
                        </a:rPr>
                        <a:t>11:02:52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0B1F33"/>
                          </a:solidFill>
                        </a:rPr>
                        <a:t>11:04:16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0B1F33"/>
                          </a:solidFill>
                        </a:rPr>
                        <a:t>11:04:26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04da25f5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PASS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ALLOW</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E7D32"/>
                          </a:solidFill>
                        </a:rPr>
                        <a:t>GRANTED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groth16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bullets"/>
          <p:cNvSpPr txBox="1"/>
          <p:nvPr/>
        </p:nvSpPr>
        <p:spPr>
          <a:xfrm>
            <a:off x="640080" y="4892040"/>
            <a:ext cx="10881360" cy="1554480"/>
          </a:xfrm>
          <a:prstGeom prst="rect">
            <a:avLst/>
          </a:prstGeom>
          <a:noFill/>
          <a:ln/>
        </p:spPr>
        <p:txBody>
          <a:bodyPr wrap="square" rtlCol="0" anchor="t"/>
          <a:lstStyle/>
          <a:p>
            <a:pPr marL="342900" indent="-342900">
              <a:spcAft>
                <a:spcPts val="1000"/>
              </a:spcAft>
              <a:buSzPct val="100000"/>
              <a:buChar char="•"/>
            </a:pPr>
            <a:r>
              <a:rPr lang="en-US" sz="1400" dirty="0">
                <a:solidFill>
                  <a:srgbClr val="FFFFFF"/>
                </a:solidFill>
              </a:rPr>
              <a:t>Allowed requests: all five checks PASS, decision ALLOW, access GRANTED, proof mode Groth16 (Scenario 3).</a:t>
            </a:r>
            <a:endParaRPr lang="en-US" sz="1400" dirty="0"/>
          </a:p>
          <a:p>
            <a:pPr marL="342900" indent="-342900">
              <a:spcAft>
                <a:spcPts val="1000"/>
              </a:spcAft>
              <a:buSzPct val="100000"/>
              <a:buChar char="•"/>
            </a:pPr>
            <a:r>
              <a:rPr lang="en-US" sz="1400" dirty="0">
                <a:solidFill>
                  <a:srgbClr val="FFFFFF"/>
                </a:solidFill>
              </a:rPr>
              <a:t>After revocation (Scenario 5) the request was refused before any decision was logged; the prototype now logs these refusals too. The revocation is public on Sepolia, block 11,771,307.</a:t>
            </a:r>
            <a:endParaRPr lang="en-US" sz="14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VALIDATION: THIRTEEN ATTACK SCENARIOS</a:t>
            </a:r>
            <a:endParaRPr lang="en-US" sz="3000" dirty="0"/>
          </a:p>
        </p:txBody>
      </p:sp>
      <p:graphicFrame>
        <p:nvGraphicFramePr>
          <p:cNvPr id="28" name="attack table"/>
          <p:cNvGraphicFramePr>
            <a:graphicFrameLocks noGrp="1"/>
          </p:cNvGraphicFramePr>
          <p:nvPr>
            <p:extLst>
              <p:ext uri="{D42A27DB-BD31-4B8C-83A1-F6EECF244321}">
                <p14:modId xmlns:p14="http://schemas.microsoft.com/office/powerpoint/2010/main" val="4280162720"/>
              </p:ext>
            </p:extLst>
          </p:nvPr>
        </p:nvGraphicFramePr>
        <p:xfrm>
          <a:off x="548640" y="1097280"/>
          <a:ext cx="7315200" cy="4242816"/>
        </p:xfrm>
        <a:graphic>
          <a:graphicData uri="http://schemas.openxmlformats.org/drawingml/2006/table">
            <a:tbl>
              <a:tblPr/>
              <a:tblGrid>
                <a:gridCol w="5486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0040">
                <a:tc>
                  <a:txBody>
                    <a:bodyPr/>
                    <a:lstStyle/>
                    <a:p>
                      <a:pPr marL="0" indent="0" algn="l">
                        <a:buNone/>
                      </a:pPr>
                      <a:r>
                        <a:rPr lang="en-US" sz="1200" b="1" dirty="0">
                          <a:solidFill>
                            <a:srgbClr val="FFFFFF"/>
                          </a:solidFill>
                        </a:rPr>
                        <a:t>ID</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l">
                        <a:buNone/>
                      </a:pPr>
                      <a:r>
                        <a:rPr lang="en-US" sz="1200" b="1" dirty="0">
                          <a:solidFill>
                            <a:srgbClr val="FFFFFF"/>
                          </a:solidFill>
                        </a:rPr>
                        <a:t>Attack</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200" b="1" dirty="0">
                          <a:solidFill>
                            <a:srgbClr val="FFFFFF"/>
                          </a:solidFill>
                        </a:rPr>
                        <a:t>Target</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200" b="1" dirty="0">
                          <a:solidFill>
                            <a:srgbClr val="FFFFFF"/>
                          </a:solidFill>
                        </a:rPr>
                        <a:t>Before hardening</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200" b="1" dirty="0">
                          <a:solidFill>
                            <a:srgbClr val="FFFFFF"/>
                          </a:solidFill>
                        </a:rPr>
                        <a:t>After hardening</a:t>
                      </a:r>
                      <a:endParaRPr lang="en-US" sz="120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320040">
                <a:tc>
                  <a:txBody>
                    <a:bodyPr/>
                    <a:lstStyle/>
                    <a:p>
                      <a:pPr marL="0" indent="0" algn="l">
                        <a:buNone/>
                      </a:pPr>
                      <a:r>
                        <a:rPr lang="en-US" sz="1150" b="1" dirty="0">
                          <a:solidFill>
                            <a:srgbClr val="0B1F33"/>
                          </a:solidFill>
                        </a:rPr>
                        <a:t>A1</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Approval signed by a signer outside G</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A</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50" b="1" dirty="0">
                          <a:solidFill>
                            <a:srgbClr val="0B1F33"/>
                          </a:solidFill>
                        </a:rPr>
                        <a:t>A2</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Guardian signature replayed from another consent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I</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lang="en-US" sz="1150" b="1" dirty="0">
                          <a:solidFill>
                            <a:srgbClr val="0B1F33"/>
                          </a:solidFill>
                        </a:rPr>
                        <a:t>A3</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Same guardian approves twice to reach 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A</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50" b="1" dirty="0">
                          <a:solidFill>
                            <a:srgbClr val="0B1F33"/>
                          </a:solidFill>
                        </a:rPr>
                        <a:t>A4</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Requested scope exceeds the authorised scope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lgn="l">
                        <a:buNone/>
                      </a:pPr>
                      <a:r>
                        <a:rPr lang="en-US" sz="1150" b="1" dirty="0">
                          <a:solidFill>
                            <a:srgbClr val="0B1F33"/>
                          </a:solidFill>
                        </a:rPr>
                        <a:t>A5</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Request with an empty scope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lgn="l">
                        <a:buNone/>
                      </a:pPr>
                      <a:r>
                        <a:rPr lang="en-US" sz="1150" b="1" dirty="0">
                          <a:solidFill>
                            <a:srgbClr val="0B1F33"/>
                          </a:solidFill>
                        </a:rPr>
                        <a:t>A6</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Request before notBefore or after expiry</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lgn="l">
                        <a:buNone/>
                      </a:pPr>
                      <a:r>
                        <a:rPr lang="en-US" sz="1150" b="1" dirty="0">
                          <a:solidFill>
                            <a:srgbClr val="0B1F33"/>
                          </a:solidFill>
                        </a:rPr>
                        <a:t>A7</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Requester declares a different jurisdiction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P</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0040">
                <a:tc>
                  <a:txBody>
                    <a:bodyPr/>
                    <a:lstStyle/>
                    <a:p>
                      <a:pPr marL="0" indent="0" algn="l">
                        <a:buNone/>
                      </a:pPr>
                      <a:r>
                        <a:rPr lang="en-US" sz="1150" b="1" dirty="0">
                          <a:solidFill>
                            <a:srgbClr val="0B1F33"/>
                          </a:solidFill>
                        </a:rPr>
                        <a:t>A8</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Access after revocation</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0040">
                <a:tc>
                  <a:txBody>
                    <a:bodyPr/>
                    <a:lstStyle/>
                    <a:p>
                      <a:pPr marL="0" indent="0" algn="l">
                        <a:buNone/>
                      </a:pPr>
                      <a:r>
                        <a:rPr lang="en-US" sz="1150" b="1" dirty="0">
                          <a:solidFill>
                            <a:srgbClr val="0B1F33"/>
                          </a:solidFill>
                        </a:rPr>
                        <a:t>A9</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Tampered Groth16 proof or public signal</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E</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0040">
                <a:tc>
                  <a:txBody>
                    <a:bodyPr/>
                    <a:lstStyle/>
                    <a:p>
                      <a:pPr marL="0" indent="0" algn="l">
                        <a:buNone/>
                      </a:pPr>
                      <a:r>
                        <a:rPr lang="en-US" sz="1150" b="1" dirty="0">
                          <a:solidFill>
                            <a:srgbClr val="0B1F33"/>
                          </a:solidFill>
                        </a:rPr>
                        <a:t>A10</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Honest proof for an expired consent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0040">
                <a:tc>
                  <a:txBody>
                    <a:bodyPr/>
                    <a:lstStyle/>
                    <a:p>
                      <a:pPr marL="0" indent="0" algn="l">
                        <a:buNone/>
                      </a:pPr>
                      <a:r>
                        <a:rPr lang="en-US" sz="1150" b="1" dirty="0">
                          <a:solidFill>
                            <a:srgbClr val="0B1F33"/>
                          </a:solidFill>
                        </a:rPr>
                        <a:t>A1</a:t>
                      </a:r>
                      <a:r>
                        <a:rPr lang="ar-SA" sz="1150" b="1" dirty="0">
                          <a:solidFill>
                            <a:srgbClr val="0B1F33"/>
                          </a:solidFill>
                        </a:rPr>
                        <a:t>1</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Mint or revoke by a non-owner, or token transfer</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Contract</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20040">
                <a:tc>
                  <a:txBody>
                    <a:bodyPr/>
                    <a:lstStyle/>
                    <a:p>
                      <a:pPr marL="0" indent="0" algn="l">
                        <a:buNone/>
                      </a:pPr>
                      <a:r>
                        <a:rPr lang="en-US" sz="1150" b="1" dirty="0">
                          <a:solidFill>
                            <a:srgbClr val="0B1F33"/>
                          </a:solidFill>
                        </a:rPr>
                        <a:t>A1</a:t>
                      </a:r>
                      <a:r>
                        <a:rPr lang="ar-SA" sz="1150" b="1" dirty="0">
                          <a:solidFill>
                            <a:srgbClr val="0B1F33"/>
                          </a:solidFill>
                        </a:rPr>
                        <a:t>2</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150" dirty="0">
                          <a:solidFill>
                            <a:srgbClr val="0B1F33"/>
                          </a:solidFill>
                        </a:rPr>
                        <a:t>Invalid or forged credential</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0B1F33"/>
                          </a:solidFill>
                        </a:rPr>
                        <a:t>I</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62828"/>
                          </a:solidFill>
                        </a:rPr>
                        <a:t>Accepted‡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32"/>
                          </a:solidFill>
                        </a:rPr>
                        <a:t>Refused</a:t>
                      </a:r>
                      <a:endParaRPr lang="en-US" sz="1150" dirty="0"/>
                    </a:p>
                  </a:txBody>
                  <a:tcPr marL="54864" marR="54864" marT="18288" marB="18288"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EVALUATION: HOW FAST AND HOW MUCH?</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731520" y="1280160"/>
          <a:ext cx="5852160" cy="4279392"/>
        </p:xfrm>
        <a:graphic>
          <a:graphicData uri="http://schemas.openxmlformats.org/drawingml/2006/table">
            <a:tbl>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475488">
                <a:tc>
                  <a:txBody>
                    <a:bodyPr/>
                    <a:lstStyle/>
                    <a:p>
                      <a:pPr marL="0" indent="0">
                        <a:buNone/>
                      </a:pPr>
                      <a:r>
                        <a:rPr lang="en-US" sz="1100" b="1" dirty="0">
                          <a:solidFill>
                            <a:srgbClr val="FFFFFF"/>
                          </a:solidFill>
                        </a:rPr>
                        <a:t>Component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Median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Min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Max</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100" b="1" dirty="0">
                          <a:solidFill>
                            <a:srgbClr val="FFFFFF"/>
                          </a:solidFill>
                        </a:rPr>
                        <a:t>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75488">
                <a:tc>
                  <a:txBody>
                    <a:bodyPr/>
                    <a:lstStyle/>
                    <a:p>
                      <a:pPr marL="0" indent="0">
                        <a:buNone/>
                      </a:pPr>
                      <a:r>
                        <a:rPr lang="en-US" sz="1100" b="1" dirty="0">
                          <a:solidFill>
                            <a:srgbClr val="0B1F33"/>
                          </a:solidFill>
                        </a:rPr>
                        <a:t>Decision rule, five predicates (11 Oct)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5.92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5.36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72.07 µs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1,000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00" b="1" dirty="0">
                          <a:solidFill>
                            <a:srgbClr val="0B1F33"/>
                          </a:solidFill>
                        </a:rPr>
                        <a:t>EIP-712 signature recovery, one signature</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10.93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10.55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15.64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00" b="1" dirty="0">
                          <a:solidFill>
                            <a:srgbClr val="0B1F33"/>
                          </a:solidFill>
                        </a:rPr>
                        <a:t>Credential check, one credential (11 Oct)</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6.42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6.18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8.33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00" b="1" dirty="0">
                          <a:solidFill>
                            <a:srgbClr val="0B1F33"/>
                          </a:solidFill>
                        </a:rPr>
                        <a:t>Groth16 proof generation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1,401.1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1,342.8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5,349.6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100" b="1" dirty="0">
                          <a:solidFill>
                            <a:srgbClr val="0B1F33"/>
                          </a:solidFill>
                        </a:rPr>
                        <a:t>Groth16 proof verification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465.3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441.0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525.1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100" b="1" dirty="0">
                          <a:solidFill>
                            <a:srgbClr val="0B1F33"/>
                          </a:solidFill>
                        </a:rPr>
                        <a:t>On-chain checkValid read</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573.5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568.2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715.5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100" b="1" dirty="0">
                          <a:solidFill>
                            <a:srgbClr val="0B1F33"/>
                          </a:solidFill>
                        </a:rPr>
                        <a:t>On-chain checkValidAt read</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574.6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568.2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745.6 ms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20</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100" b="1" dirty="0">
                          <a:solidFill>
                            <a:srgbClr val="0B1F33"/>
                          </a:solidFill>
                        </a:rPr>
                        <a:t>Anchoring confirmation</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11.5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4.9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22.1 s</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100" dirty="0">
                          <a:solidFill>
                            <a:srgbClr val="0B1F33"/>
                          </a:solidFill>
                        </a:rPr>
                        <a:t>5</a:t>
                      </a:r>
                      <a:endParaRPr lang="en-US" sz="11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gas line"/>
          <p:cNvSpPr txBox="1"/>
          <p:nvPr/>
        </p:nvSpPr>
        <p:spPr>
          <a:xfrm>
            <a:off x="731520" y="5760720"/>
            <a:ext cx="5852160" cy="457200"/>
          </a:xfrm>
          <a:prstGeom prst="rect">
            <a:avLst/>
          </a:prstGeom>
          <a:noFill/>
          <a:ln/>
        </p:spPr>
        <p:txBody>
          <a:bodyPr wrap="square" rtlCol="0" anchor="ctr"/>
          <a:lstStyle/>
          <a:p>
            <a:pPr marL="0" indent="0">
              <a:buNone/>
            </a:pPr>
            <a:r>
              <a:rPr lang="en-US" sz="1400" b="1" dirty="0">
                <a:solidFill>
                  <a:srgbClr val="FFFFFF"/>
                </a:solidFill>
              </a:rPr>
              <a:t>Gas used: mint #1 196,406; revoke #1 32,980. No fee above 0.00021 ETH.</a:t>
            </a:r>
            <a:endParaRPr lang="en-US" sz="1400" dirty="0"/>
          </a:p>
        </p:txBody>
      </p:sp>
      <p:sp>
        <p:nvSpPr>
          <p:cNvPr id="6" name="F42 panel"/>
          <p:cNvSpPr/>
          <p:nvPr/>
        </p:nvSpPr>
        <p:spPr>
          <a:xfrm>
            <a:off x="6812280" y="1280160"/>
            <a:ext cx="4709160" cy="2752344"/>
          </a:xfrm>
          <a:prstGeom prst="roundRect">
            <a:avLst>
              <a:gd name="adj" fmla="val 398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7" name="F42" descr="/tmp/deck/img/F42.png"/>
          <p:cNvPicPr>
            <a:picLocks noChangeAspect="1"/>
          </p:cNvPicPr>
          <p:nvPr/>
        </p:nvPicPr>
        <p:blipFill>
          <a:blip r:embed="rId3"/>
          <a:stretch>
            <a:fillRect/>
          </a:stretch>
        </p:blipFill>
        <p:spPr>
          <a:xfrm>
            <a:off x="6922008" y="1391965"/>
            <a:ext cx="4489704" cy="2528734"/>
          </a:xfrm>
          <a:prstGeom prst="rect">
            <a:avLst/>
          </a:prstGeom>
        </p:spPr>
      </p:pic>
      <p:sp>
        <p:nvSpPr>
          <p:cNvPr id="8" name="caption"/>
          <p:cNvSpPr txBox="1"/>
          <p:nvPr/>
        </p:nvSpPr>
        <p:spPr>
          <a:xfrm>
            <a:off x="6812280" y="4160520"/>
            <a:ext cx="4709160" cy="914400"/>
          </a:xfrm>
          <a:prstGeom prst="rect">
            <a:avLst/>
          </a:prstGeom>
          <a:noFill/>
          <a:ln/>
        </p:spPr>
        <p:txBody>
          <a:bodyPr wrap="square" rtlCol="0" anchor="t"/>
          <a:lstStyle/>
          <a:p>
            <a:pPr marL="0" indent="0" algn="ctr">
              <a:buNone/>
            </a:pPr>
            <a:r>
              <a:rPr lang="en-US" sz="1200" i="1" dirty="0">
                <a:solidFill>
                  <a:srgbClr val="FFFFFF"/>
                </a:solidFill>
              </a:rPr>
              <a:t>Timings measured on 1 October 2026 (decision rule and credential check on 11 October 2026); gas and anchoring from the five Sepolia transactions of September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WHAT IS DIFFERENT FROM TODAY'S SYSTEMS</a:t>
            </a:r>
            <a:endParaRPr lang="en-US" sz="30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5120640"/>
        </p:xfrm>
        <a:graphic>
          <a:graphicData uri="http://schemas.openxmlformats.org/drawingml/2006/table">
            <a:tbl>
              <a:tblPr/>
              <a:tblGrid>
                <a:gridCol w="1828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731520">
                <a:tc>
                  <a:txBody>
                    <a:bodyPr/>
                    <a:lstStyle/>
                    <a:p>
                      <a:pPr marL="0" indent="0">
                        <a:buNone/>
                      </a:pPr>
                      <a:r>
                        <a:rPr lang="en-US" sz="1400" b="1" dirty="0">
                          <a:solidFill>
                            <a:srgbClr val="FFFFFF"/>
                          </a:solidFill>
                        </a:rPr>
                        <a:t>Aspect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Traditional EHR access control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HALAH framework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0B1F33"/>
                          </a:solidFill>
                        </a:rPr>
                        <a:t>Identity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Central identity provider; institution login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DID for every participant; identity kept separate from authority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0B1F33"/>
                          </a:solidFill>
                        </a:rPr>
                        <a:t>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stored record that permission was given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An object C = (I, A, P, T, L, E), checked at every request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0B1F33"/>
                          </a:solidFill>
                        </a:rPr>
                        <a:t>Approval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static permission set by one party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All listed guardians sign (EIP-712); no single party can approve alone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0B1F33"/>
                          </a:solidFill>
                        </a:rPr>
                        <a:t>Access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Log in, then check a static permission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VI ∧ VA ∧ VP ∧ VT ∧ VL, plus a Groth16 proof before data is released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buNone/>
                      </a:pPr>
                      <a:r>
                        <a:rPr lang="en-US" sz="1400" b="1" dirty="0">
                          <a:solidFill>
                            <a:srgbClr val="0B1F33"/>
                          </a:solidFill>
                        </a:rPr>
                        <a:t>Time and revocation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Hard to verify once the permission is stored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Validity window and revocation checked each time; on-chain revoke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buNone/>
                      </a:pPr>
                      <a:r>
                        <a:rPr lang="en-US" sz="1400" b="1" dirty="0">
                          <a:solidFill>
                            <a:srgbClr val="0B1F33"/>
                          </a:solidFill>
                        </a:rPr>
                        <a:t>Audit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record that consent occurred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Every access decision, allowed or denied, logged off-chain with its decision matrix; consent state anchored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DATASET</a:t>
            </a:r>
            <a:endParaRPr lang="en-US" sz="300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640080" y="1234440"/>
          <a:ext cx="10881360" cy="4992624"/>
        </p:xfrm>
        <a:graphic>
          <a:graphicData uri="http://schemas.openxmlformats.org/drawingml/2006/table">
            <a:tbl>
              <a:tblPr/>
              <a:tblGrid>
                <a:gridCol w="219456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713232">
                <a:tc>
                  <a:txBody>
                    <a:bodyPr/>
                    <a:lstStyle/>
                    <a:p>
                      <a:pPr marL="0" indent="0">
                        <a:buNone/>
                      </a:pPr>
                      <a:r>
                        <a:rPr lang="en-US" sz="1500" b="1" dirty="0">
                          <a:solidFill>
                            <a:srgbClr val="FFFFFF"/>
                          </a:solidFill>
                        </a:rPr>
                        <a:t>Aspect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500" b="1" dirty="0">
                          <a:solidFill>
                            <a:srgbClr val="FFFFFF"/>
                          </a:solidFill>
                        </a:rPr>
                        <a:t>Key points</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13232">
                <a:tc>
                  <a:txBody>
                    <a:bodyPr/>
                    <a:lstStyle/>
                    <a:p>
                      <a:pPr marL="0" indent="0">
                        <a:buNone/>
                      </a:pPr>
                      <a:r>
                        <a:rPr lang="en-US" sz="1500" b="1" dirty="0">
                          <a:solidFill>
                            <a:srgbClr val="0B1F33"/>
                          </a:solidFill>
                        </a:rPr>
                        <a:t>Data source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500" dirty="0">
                          <a:solidFill>
                            <a:srgbClr val="0B1F33"/>
                          </a:solidFill>
                        </a:rPr>
                        <a:t>Synthea 1K sample of synthetic patient records (synthea.mitre.org), CSV export; a subset of patients with their observations, conditions, medications and procedures. No real patient data is involved.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500" b="1" dirty="0">
                          <a:solidFill>
                            <a:srgbClr val="0B1F33"/>
                          </a:solidFill>
                        </a:rPr>
                        <a:t>Data storage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500" dirty="0">
                          <a:solidFill>
                            <a:srgbClr val="0B1F33"/>
                          </a:solidFill>
                        </a:rPr>
                        <a:t>Medical records stay off-chain in the application. No medical content is written to the chain.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500" b="1" dirty="0">
                          <a:solidFill>
                            <a:srgbClr val="0B1F33"/>
                          </a:solidFill>
                        </a:rPr>
                        <a:t>On-chain record</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500" dirty="0">
                          <a:solidFill>
                            <a:srgbClr val="0B1F33"/>
                          </a:solidFill>
                        </a:rPr>
                        <a:t>Pseudonymous patient and requester addresses, a hash of the purpose, the validity window and a revocation flag.</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500" b="1" dirty="0">
                          <a:solidFill>
                            <a:srgbClr val="0B1F33"/>
                          </a:solidFill>
                        </a:rPr>
                        <a:t>Access to data</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500" dirty="0">
                          <a:solidFill>
                            <a:srgbClr val="0B1F33"/>
                          </a:solidFill>
                        </a:rPr>
                        <a:t>Records are released only on ALLOW and only within the agreed data scope.</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3232">
                <a:tc>
                  <a:txBody>
                    <a:bodyPr/>
                    <a:lstStyle/>
                    <a:p>
                      <a:pPr marL="0" indent="0">
                        <a:buNone/>
                      </a:pPr>
                      <a:r>
                        <a:rPr lang="en-US" sz="1500" b="1" dirty="0">
                          <a:solidFill>
                            <a:srgbClr val="0B1F33"/>
                          </a:solidFill>
                        </a:rPr>
                        <a:t>Audit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500" dirty="0">
                          <a:solidFill>
                            <a:srgbClr val="0B1F33"/>
                          </a:solidFill>
                        </a:rPr>
                        <a:t>Every access decision, allowed or denied, is recorded in the off-chain audit ledger with its decision matrix.</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3232">
                <a:tc>
                  <a:txBody>
                    <a:bodyPr/>
                    <a:lstStyle/>
                    <a:p>
                      <a:pPr marL="0" indent="0">
                        <a:buNone/>
                      </a:pPr>
                      <a:r>
                        <a:rPr lang="en-US" sz="1500" b="1" dirty="0">
                          <a:solidFill>
                            <a:srgbClr val="0B1F33"/>
                          </a:solidFill>
                        </a:rPr>
                        <a:t>Known limitation</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500" dirty="0">
                          <a:solidFill>
                            <a:srgbClr val="0B1F33"/>
                          </a:solidFill>
                        </a:rPr>
                        <a:t>The plaintext purpose is passed in the mint transaction and is visible in the public transaction input.</a:t>
                      </a:r>
                      <a:endParaRPr lang="en-US" sz="15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SIGNIFICANCE OF THE RESEARCH </a:t>
            </a:r>
            <a:r>
              <a:rPr lang="ar-SA" dirty="0"/>
              <a:t>تتغير </a:t>
            </a:r>
            <a:endParaRPr lang="en-US" sz="3000" dirty="0"/>
          </a:p>
        </p:txBody>
      </p:sp>
      <p:sp>
        <p:nvSpPr>
          <p:cNvPr id="4" name="sci heading"/>
          <p:cNvSpPr txBox="1"/>
          <p:nvPr/>
        </p:nvSpPr>
        <p:spPr>
          <a:xfrm>
            <a:off x="822960" y="1051560"/>
            <a:ext cx="10515600" cy="457200"/>
          </a:xfrm>
          <a:prstGeom prst="rect">
            <a:avLst/>
          </a:prstGeom>
          <a:noFill/>
          <a:ln/>
        </p:spPr>
        <p:txBody>
          <a:bodyPr wrap="square" rtlCol="0" anchor="ctr"/>
          <a:lstStyle/>
          <a:p>
            <a:pPr marL="0" indent="0">
              <a:buNone/>
            </a:pPr>
            <a:r>
              <a:rPr lang="en-US" sz="2200" b="1" i="1" dirty="0">
                <a:solidFill>
                  <a:srgbClr val="1FB5D6"/>
                </a:solidFill>
              </a:rPr>
              <a:t>Scientific Significance</a:t>
            </a:r>
            <a:endParaRPr lang="en-US" sz="2200" dirty="0"/>
          </a:p>
        </p:txBody>
      </p:sp>
      <p:sp>
        <p:nvSpPr>
          <p:cNvPr id="5" name="numbered points"/>
          <p:cNvSpPr txBox="1"/>
          <p:nvPr/>
        </p:nvSpPr>
        <p:spPr>
          <a:xfrm>
            <a:off x="822960" y="1691640"/>
            <a:ext cx="10515600" cy="4754880"/>
          </a:xfrm>
          <a:prstGeom prst="rect">
            <a:avLst/>
          </a:prstGeom>
          <a:noFill/>
          <a:ln/>
        </p:spPr>
        <p:txBody>
          <a:bodyPr wrap="square" rtlCol="0" anchor="t"/>
          <a:lstStyle/>
          <a:p>
            <a:pPr marL="342900" indent="-342900">
              <a:spcAft>
                <a:spcPts val="2000"/>
              </a:spcAft>
              <a:buSzPct val="100000"/>
              <a:buFont typeface="+mj-lt"/>
              <a:buAutoNum type="arabicPeriod"/>
            </a:pPr>
            <a:r>
              <a:rPr lang="en-US" sz="2000" dirty="0">
                <a:solidFill>
                  <a:srgbClr val="FFFFFF"/>
                </a:solidFill>
              </a:rPr>
              <a:t>This research </a:t>
            </a:r>
            <a:r>
              <a:rPr lang="en-US" sz="2000" b="1" dirty="0">
                <a:solidFill>
                  <a:srgbClr val="FFFFFF"/>
                </a:solidFill>
              </a:rPr>
              <a:t>shifts the focus</a:t>
            </a:r>
            <a:r>
              <a:rPr lang="en-US" sz="2000" dirty="0">
                <a:solidFill>
                  <a:srgbClr val="FFFFFF"/>
                </a:solidFill>
              </a:rPr>
              <a:t> from determining </a:t>
            </a:r>
            <a:r>
              <a:rPr lang="en-US" sz="2000" b="1" dirty="0">
                <a:solidFill>
                  <a:srgbClr val="FFFFFF"/>
                </a:solidFill>
              </a:rPr>
              <a:t>whether consent has merely been recorded</a:t>
            </a:r>
            <a:r>
              <a:rPr lang="en-US" sz="2000" dirty="0">
                <a:solidFill>
                  <a:srgbClr val="FFFFFF"/>
                </a:solidFill>
              </a:rPr>
              <a:t> towards determining whether a data-access decision has been generated under </a:t>
            </a:r>
            <a:r>
              <a:rPr lang="en-US" sz="2000" b="1" dirty="0">
                <a:solidFill>
                  <a:srgbClr val="FFFFFF"/>
                </a:solidFill>
              </a:rPr>
              <a:t>sufficient and independently verifiable trust conditions</a:t>
            </a:r>
            <a:r>
              <a:rPr lang="en-US" sz="2000" dirty="0">
                <a:solidFill>
                  <a:srgbClr val="FFFFFF"/>
                </a:solidFill>
              </a:rPr>
              <a:t>.</a:t>
            </a:r>
            <a:endParaRPr lang="en-US" sz="2000" dirty="0"/>
          </a:p>
          <a:p>
            <a:pPr marL="342900" indent="-342900">
              <a:spcAft>
                <a:spcPts val="2000"/>
              </a:spcAft>
              <a:buSzPct val="100000"/>
              <a:buFont typeface="+mj-lt"/>
              <a:buAutoNum type="arabicPeriod"/>
            </a:pPr>
            <a:r>
              <a:rPr lang="en-US" sz="2000" dirty="0">
                <a:solidFill>
                  <a:srgbClr val="FFFFFF"/>
                </a:solidFill>
              </a:rPr>
              <a:t>It brings </a:t>
            </a:r>
            <a:r>
              <a:rPr lang="en-US" sz="2000" b="1" dirty="0">
                <a:solidFill>
                  <a:srgbClr val="FFFFFF"/>
                </a:solidFill>
              </a:rPr>
              <a:t>identity, authority, multi-party approval, policy, time and lifecycle</a:t>
            </a:r>
            <a:r>
              <a:rPr lang="en-US" sz="2000" dirty="0">
                <a:solidFill>
                  <a:srgbClr val="FFFFFF"/>
                </a:solidFill>
              </a:rPr>
              <a:t> together in </a:t>
            </a:r>
            <a:r>
              <a:rPr lang="en-US" sz="2000" b="1" dirty="0">
                <a:solidFill>
                  <a:srgbClr val="FFFFFF"/>
                </a:solidFill>
              </a:rPr>
              <a:t>one access decision</a:t>
            </a:r>
            <a:r>
              <a:rPr lang="en-US" sz="2000" dirty="0">
                <a:solidFill>
                  <a:srgbClr val="FFFFFF"/>
                </a:solidFill>
              </a:rPr>
              <a:t> that is checked at </a:t>
            </a:r>
            <a:r>
              <a:rPr lang="en-US" sz="2000" b="1" dirty="0">
                <a:solidFill>
                  <a:srgbClr val="FFFFFF"/>
                </a:solidFill>
              </a:rPr>
              <a:t>every request</a:t>
            </a:r>
            <a:r>
              <a:rPr lang="en-US" sz="2000" dirty="0">
                <a:solidFill>
                  <a:srgbClr val="FFFFFF"/>
                </a:solidFill>
              </a:rPr>
              <a:t>.</a:t>
            </a:r>
            <a:endParaRPr lang="en-US" sz="2000" dirty="0"/>
          </a:p>
          <a:p>
            <a:pPr marL="342900" indent="-342900">
              <a:spcAft>
                <a:spcPts val="2000"/>
              </a:spcAft>
              <a:buSzPct val="100000"/>
              <a:buFont typeface="+mj-lt"/>
              <a:buAutoNum type="arabicPeriod"/>
            </a:pPr>
            <a:r>
              <a:rPr lang="en-US" sz="2000" dirty="0">
                <a:solidFill>
                  <a:srgbClr val="FFFFFF"/>
                </a:solidFill>
              </a:rPr>
              <a:t>It makes </a:t>
            </a:r>
            <a:r>
              <a:rPr lang="en-US" sz="2000" b="1" dirty="0">
                <a:solidFill>
                  <a:srgbClr val="FFFFFF"/>
                </a:solidFill>
              </a:rPr>
              <a:t>multi-party approval</a:t>
            </a:r>
            <a:r>
              <a:rPr lang="en-US" sz="2000" dirty="0">
                <a:solidFill>
                  <a:srgbClr val="FFFFFF"/>
                </a:solidFill>
              </a:rPr>
              <a:t> a standing condition of access: </a:t>
            </a:r>
            <a:r>
              <a:rPr lang="en-US" sz="2000" b="1" dirty="0">
                <a:solidFill>
                  <a:srgbClr val="FFFFFF"/>
                </a:solidFill>
              </a:rPr>
              <a:t>every listed guardian</a:t>
            </a:r>
            <a:r>
              <a:rPr lang="en-US" sz="2000" dirty="0">
                <a:solidFill>
                  <a:srgbClr val="FFFFFF"/>
                </a:solidFill>
              </a:rPr>
              <a:t> must sign with </a:t>
            </a:r>
            <a:r>
              <a:rPr lang="en-US" sz="2000" b="1" dirty="0">
                <a:solidFill>
                  <a:srgbClr val="FFFFFF"/>
                </a:solidFill>
              </a:rPr>
              <a:t>EIP-712</a:t>
            </a:r>
            <a:r>
              <a:rPr lang="en-US" sz="2000" dirty="0">
                <a:solidFill>
                  <a:srgbClr val="FFFFFF"/>
                </a:solidFill>
              </a:rPr>
              <a:t>, and </a:t>
            </a:r>
            <a:r>
              <a:rPr lang="en-US" sz="2000" b="1" dirty="0">
                <a:solidFill>
                  <a:srgbClr val="FFFFFF"/>
                </a:solidFill>
              </a:rPr>
              <a:t>no single party</a:t>
            </a:r>
            <a:r>
              <a:rPr lang="en-US" sz="2000" dirty="0">
                <a:solidFill>
                  <a:srgbClr val="FFFFFF"/>
                </a:solidFill>
              </a:rPr>
              <a:t> can authorise alone.</a:t>
            </a:r>
            <a:endParaRPr lang="en-US" sz="2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SIGNIFICANCE OF THE RESEARCH</a:t>
            </a:r>
            <a:r>
              <a:rPr lang="ar-SA" sz="3000" b="1" dirty="0">
                <a:solidFill>
                  <a:srgbClr val="FFFFFF"/>
                </a:solidFill>
                <a:latin typeface="Arial" pitchFamily="34" charset="0"/>
                <a:ea typeface="Arial" pitchFamily="34" charset="-122"/>
                <a:cs typeface="Arial" pitchFamily="34" charset="-120"/>
              </a:rPr>
              <a:t>تتغير </a:t>
            </a:r>
            <a:endParaRPr lang="en-US" sz="3000" dirty="0"/>
          </a:p>
        </p:txBody>
      </p:sp>
      <p:sp>
        <p:nvSpPr>
          <p:cNvPr id="4" name="soc heading"/>
          <p:cNvSpPr txBox="1"/>
          <p:nvPr/>
        </p:nvSpPr>
        <p:spPr>
          <a:xfrm>
            <a:off x="822960" y="1051560"/>
            <a:ext cx="10515600" cy="457200"/>
          </a:xfrm>
          <a:prstGeom prst="rect">
            <a:avLst/>
          </a:prstGeom>
          <a:noFill/>
          <a:ln/>
        </p:spPr>
        <p:txBody>
          <a:bodyPr wrap="square" rtlCol="0" anchor="ctr"/>
          <a:lstStyle/>
          <a:p>
            <a:pPr marL="0" indent="0">
              <a:buNone/>
            </a:pPr>
            <a:r>
              <a:rPr lang="en-US" sz="2200" b="1" i="1" dirty="0">
                <a:solidFill>
                  <a:srgbClr val="1FB5D6"/>
                </a:solidFill>
              </a:rPr>
              <a:t>Social Contributions</a:t>
            </a:r>
            <a:endParaRPr lang="en-US" sz="2200" dirty="0"/>
          </a:p>
        </p:txBody>
      </p:sp>
      <p:sp>
        <p:nvSpPr>
          <p:cNvPr id="5" name="numbered points"/>
          <p:cNvSpPr txBox="1"/>
          <p:nvPr/>
        </p:nvSpPr>
        <p:spPr>
          <a:xfrm>
            <a:off x="822960" y="1691640"/>
            <a:ext cx="10515600" cy="4754880"/>
          </a:xfrm>
          <a:prstGeom prst="rect">
            <a:avLst/>
          </a:prstGeom>
          <a:noFill/>
          <a:ln/>
        </p:spPr>
        <p:txBody>
          <a:bodyPr wrap="square" rtlCol="0" anchor="t"/>
          <a:lstStyle/>
          <a:p>
            <a:pPr marL="342900" indent="-342900">
              <a:spcAft>
                <a:spcPts val="2000"/>
              </a:spcAft>
              <a:buSzPct val="100000"/>
              <a:buFont typeface="+mj-lt"/>
              <a:buAutoNum type="arabicPeriod"/>
            </a:pPr>
            <a:r>
              <a:rPr lang="en-US" sz="2000" dirty="0">
                <a:solidFill>
                  <a:srgbClr val="FFFFFF"/>
                </a:solidFill>
              </a:rPr>
              <a:t>This research gives </a:t>
            </a:r>
            <a:r>
              <a:rPr lang="en-US" sz="2000" b="1" dirty="0">
                <a:solidFill>
                  <a:srgbClr val="FFFFFF"/>
                </a:solidFill>
              </a:rPr>
              <a:t>patients and their guardians</a:t>
            </a:r>
            <a:r>
              <a:rPr lang="en-US" sz="2000" dirty="0">
                <a:solidFill>
                  <a:srgbClr val="FFFFFF"/>
                </a:solidFill>
              </a:rPr>
              <a:t> a direct role in deciding </a:t>
            </a:r>
            <a:r>
              <a:rPr lang="en-US" sz="2000" b="1" dirty="0">
                <a:solidFill>
                  <a:srgbClr val="FFFFFF"/>
                </a:solidFill>
              </a:rPr>
              <a:t>who can see the patient's data</a:t>
            </a:r>
            <a:r>
              <a:rPr lang="en-US" sz="2000" dirty="0">
                <a:solidFill>
                  <a:srgbClr val="FFFFFF"/>
                </a:solidFill>
              </a:rPr>
              <a:t>.</a:t>
            </a:r>
            <a:endParaRPr lang="en-US" sz="2000" dirty="0"/>
          </a:p>
          <a:p>
            <a:pPr marL="342900" indent="-342900">
              <a:spcAft>
                <a:spcPts val="2000"/>
              </a:spcAft>
              <a:buSzPct val="100000"/>
              <a:buFont typeface="+mj-lt"/>
              <a:buAutoNum type="arabicPeriod"/>
            </a:pPr>
            <a:r>
              <a:rPr lang="en-US" sz="2000" dirty="0">
                <a:solidFill>
                  <a:srgbClr val="FFFFFF"/>
                </a:solidFill>
              </a:rPr>
              <a:t>It prevents </a:t>
            </a:r>
            <a:r>
              <a:rPr lang="en-US" sz="2000" b="1" dirty="0">
                <a:solidFill>
                  <a:srgbClr val="FFFFFF"/>
                </a:solidFill>
              </a:rPr>
              <a:t>a single person</a:t>
            </a:r>
            <a:r>
              <a:rPr lang="en-US" sz="2000" dirty="0">
                <a:solidFill>
                  <a:srgbClr val="FFFFFF"/>
                </a:solidFill>
              </a:rPr>
              <a:t> from authorising access to </a:t>
            </a:r>
            <a:r>
              <a:rPr lang="en-US" sz="2000" b="1" dirty="0">
                <a:solidFill>
                  <a:srgbClr val="FFFFFF"/>
                </a:solidFill>
              </a:rPr>
              <a:t>sensitive health data alone</a:t>
            </a:r>
            <a:r>
              <a:rPr lang="en-US" sz="2000" dirty="0">
                <a:solidFill>
                  <a:srgbClr val="FFFFFF"/>
                </a:solidFill>
              </a:rPr>
              <a:t>.</a:t>
            </a:r>
            <a:endParaRPr lang="en-US" sz="2000" dirty="0"/>
          </a:p>
          <a:p>
            <a:pPr marL="342900" indent="-342900">
              <a:spcAft>
                <a:spcPts val="2000"/>
              </a:spcAft>
              <a:buSzPct val="100000"/>
              <a:buFont typeface="+mj-lt"/>
              <a:buAutoNum type="arabicPeriod"/>
            </a:pPr>
            <a:r>
              <a:rPr lang="en-US" sz="2000" dirty="0">
                <a:solidFill>
                  <a:srgbClr val="FFFFFF"/>
                </a:solidFill>
              </a:rPr>
              <a:t>It makes every access decision </a:t>
            </a:r>
            <a:r>
              <a:rPr lang="en-US" sz="2000" b="1" dirty="0">
                <a:solidFill>
                  <a:srgbClr val="FFFFFF"/>
                </a:solidFill>
              </a:rPr>
              <a:t>explainable to auditors</a:t>
            </a:r>
            <a:r>
              <a:rPr lang="en-US" sz="2000" dirty="0">
                <a:solidFill>
                  <a:srgbClr val="FFFFFF"/>
                </a:solidFill>
              </a:rPr>
              <a:t>: which check </a:t>
            </a:r>
            <a:r>
              <a:rPr lang="en-US" sz="2000" b="1" dirty="0">
                <a:solidFill>
                  <a:srgbClr val="FFFFFF"/>
                </a:solidFill>
              </a:rPr>
              <a:t>passed</a:t>
            </a:r>
            <a:r>
              <a:rPr lang="en-US" sz="2000" dirty="0">
                <a:solidFill>
                  <a:srgbClr val="FFFFFF"/>
                </a:solidFill>
              </a:rPr>
              <a:t> and which </a:t>
            </a:r>
            <a:r>
              <a:rPr lang="en-US" sz="2000" b="1" dirty="0">
                <a:solidFill>
                  <a:srgbClr val="FFFFFF"/>
                </a:solidFill>
              </a:rPr>
              <a:t>failed</a:t>
            </a:r>
            <a:r>
              <a:rPr lang="en-US" sz="2000" dirty="0">
                <a:solidFill>
                  <a:srgbClr val="FFFFFF"/>
                </a:solidFill>
              </a:rPr>
              <a:t>.</a:t>
            </a:r>
            <a:endParaRPr lang="en-US" sz="2000" dirty="0"/>
          </a:p>
          <a:p>
            <a:pPr marL="342900" indent="-342900">
              <a:spcAft>
                <a:spcPts val="2000"/>
              </a:spcAft>
              <a:buSzPct val="100000"/>
              <a:buFont typeface="+mj-lt"/>
              <a:buAutoNum type="arabicPeriod"/>
            </a:pPr>
            <a:r>
              <a:rPr lang="en-US" sz="2000" dirty="0">
                <a:solidFill>
                  <a:srgbClr val="FFFFFF"/>
                </a:solidFill>
              </a:rPr>
              <a:t>It keeps </a:t>
            </a:r>
            <a:r>
              <a:rPr lang="en-US" sz="2000" b="1" dirty="0">
                <a:solidFill>
                  <a:srgbClr val="FFFFFF"/>
                </a:solidFill>
              </a:rPr>
              <a:t>medical records off-chain</a:t>
            </a:r>
            <a:r>
              <a:rPr lang="en-US" sz="2000" dirty="0">
                <a:solidFill>
                  <a:srgbClr val="FFFFFF"/>
                </a:solidFill>
              </a:rPr>
              <a:t>, so only </a:t>
            </a:r>
            <a:r>
              <a:rPr lang="en-US" sz="2000" b="1" dirty="0">
                <a:solidFill>
                  <a:srgbClr val="FFFFFF"/>
                </a:solidFill>
              </a:rPr>
              <a:t>consent evidence</a:t>
            </a:r>
            <a:r>
              <a:rPr lang="en-US" sz="2000" dirty="0">
                <a:solidFill>
                  <a:srgbClr val="FFFFFF"/>
                </a:solidFill>
              </a:rPr>
              <a:t> is shared on the blockchain.</a:t>
            </a:r>
            <a:endParaRPr lang="en-US" sz="2000" dirty="0"/>
          </a:p>
          <a:p>
            <a:pPr marL="342900" indent="-342900">
              <a:spcAft>
                <a:spcPts val="2000"/>
              </a:spcAft>
              <a:buSzPct val="100000"/>
              <a:buFont typeface="+mj-lt"/>
              <a:buAutoNum type="arabicPeriod"/>
            </a:pPr>
            <a:r>
              <a:rPr lang="en-US" sz="2000" dirty="0">
                <a:solidFill>
                  <a:srgbClr val="FFFFFF"/>
                </a:solidFill>
              </a:rPr>
              <a:t>It can support </a:t>
            </a:r>
            <a:r>
              <a:rPr lang="en-US" sz="2000" b="1" dirty="0">
                <a:solidFill>
                  <a:srgbClr val="FFFFFF"/>
                </a:solidFill>
              </a:rPr>
              <a:t>trust between hospitals</a:t>
            </a:r>
            <a:r>
              <a:rPr lang="en-US" sz="2000" dirty="0">
                <a:solidFill>
                  <a:srgbClr val="FFFFFF"/>
                </a:solidFill>
              </a:rPr>
              <a:t> and other </a:t>
            </a:r>
            <a:r>
              <a:rPr lang="en-US" sz="2000" b="1" dirty="0">
                <a:solidFill>
                  <a:srgbClr val="FFFFFF"/>
                </a:solidFill>
              </a:rPr>
              <a:t>independent parties</a:t>
            </a:r>
            <a:r>
              <a:rPr lang="en-US" sz="2000" dirty="0">
                <a:solidFill>
                  <a:srgbClr val="FFFFFF"/>
                </a:solidFill>
              </a:rPr>
              <a:t> when health data are shared.</a:t>
            </a:r>
            <a:endParaRPr lang="en-US" sz="2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WHAT IS STILL OPEN</a:t>
            </a:r>
            <a:endParaRPr lang="en-US" sz="3000" dirty="0"/>
          </a:p>
        </p:txBody>
      </p:sp>
      <p:sp>
        <p:nvSpPr>
          <p:cNvPr id="4" name="card Identity and keys"/>
          <p:cNvSpPr/>
          <p:nvPr/>
        </p:nvSpPr>
        <p:spPr>
          <a:xfrm>
            <a:off x="640080" y="1280160"/>
            <a:ext cx="3520440" cy="2240280"/>
          </a:xfrm>
          <a:prstGeom prst="roundRect">
            <a:avLst>
              <a:gd name="adj" fmla="val 4082"/>
            </a:avLst>
          </a:prstGeom>
          <a:solidFill>
            <a:srgbClr val="FFFFFF">
              <a:alpha val="92000"/>
            </a:srgbClr>
          </a:solidFill>
          <a:ln w="19050">
            <a:solidFill>
              <a:srgbClr val="1FB5D6"/>
            </a:solidFill>
            <a:prstDash val="solid"/>
          </a:ln>
        </p:spPr>
        <p:txBody>
          <a:bodyPr/>
          <a:lstStyle/>
          <a:p>
            <a:endParaRPr lang="en-AU"/>
          </a:p>
        </p:txBody>
      </p:sp>
      <p:sp>
        <p:nvSpPr>
          <p:cNvPr id="5" name="card text Identity and keys"/>
          <p:cNvSpPr txBox="1"/>
          <p:nvPr/>
        </p:nvSpPr>
        <p:spPr>
          <a:xfrm>
            <a:off x="777240" y="1371600"/>
            <a:ext cx="3246120" cy="2057400"/>
          </a:xfrm>
          <a:prstGeom prst="rect">
            <a:avLst/>
          </a:prstGeom>
          <a:noFill/>
          <a:ln/>
        </p:spPr>
        <p:txBody>
          <a:bodyPr wrap="square" rtlCol="0" anchor="t"/>
          <a:lstStyle/>
          <a:p>
            <a:pPr marL="0" indent="0">
              <a:spcAft>
                <a:spcPts val="400"/>
              </a:spcAft>
              <a:buNone/>
            </a:pPr>
            <a:r>
              <a:rPr lang="en-US" sz="1900" b="1" dirty="0">
                <a:solidFill>
                  <a:srgbClr val="0B2A4A"/>
                </a:solidFill>
              </a:rPr>
              <a:t>Identity and keys</a:t>
            </a:r>
            <a:endParaRPr lang="en-US" sz="1900" dirty="0"/>
          </a:p>
          <a:p>
            <a:pPr marL="0" indent="0">
              <a:spcAft>
                <a:spcPts val="400"/>
              </a:spcAft>
              <a:buNone/>
            </a:pPr>
            <a:r>
              <a:rPr lang="en-US" sz="1600" dirty="0">
                <a:solidFill>
                  <a:srgbClr val="0B1F33"/>
                </a:solidFill>
              </a:rPr>
              <a:t>Full DID resolution, proof that the user controls the DID, and wallet-held keys. Today: demo-issuer credentials, signature recovery, keys made from the DIDs (RO2, RO3).</a:t>
            </a:r>
            <a:endParaRPr lang="en-US" sz="1900" dirty="0"/>
          </a:p>
        </p:txBody>
      </p:sp>
      <p:sp>
        <p:nvSpPr>
          <p:cNvPr id="6" name="card Purpose on-chain"/>
          <p:cNvSpPr/>
          <p:nvPr/>
        </p:nvSpPr>
        <p:spPr>
          <a:xfrm>
            <a:off x="4343400" y="1280160"/>
            <a:ext cx="3520440" cy="2240280"/>
          </a:xfrm>
          <a:prstGeom prst="roundRect">
            <a:avLst>
              <a:gd name="adj" fmla="val 4082"/>
            </a:avLst>
          </a:prstGeom>
          <a:solidFill>
            <a:srgbClr val="FFFFFF">
              <a:alpha val="92000"/>
            </a:srgbClr>
          </a:solidFill>
          <a:ln w="19050">
            <a:solidFill>
              <a:srgbClr val="1FB5D6"/>
            </a:solidFill>
            <a:prstDash val="solid"/>
          </a:ln>
        </p:spPr>
        <p:txBody>
          <a:bodyPr/>
          <a:lstStyle/>
          <a:p>
            <a:endParaRPr lang="en-AU"/>
          </a:p>
        </p:txBody>
      </p:sp>
      <p:sp>
        <p:nvSpPr>
          <p:cNvPr id="7" name="card text Purpose on-chain"/>
          <p:cNvSpPr txBox="1"/>
          <p:nvPr/>
        </p:nvSpPr>
        <p:spPr>
          <a:xfrm>
            <a:off x="4480560" y="1371600"/>
            <a:ext cx="3246120" cy="2057400"/>
          </a:xfrm>
          <a:prstGeom prst="rect">
            <a:avLst/>
          </a:prstGeom>
          <a:noFill/>
          <a:ln/>
        </p:spPr>
        <p:txBody>
          <a:bodyPr wrap="square" rtlCol="0" anchor="t"/>
          <a:lstStyle/>
          <a:p>
            <a:pPr marL="0" indent="0">
              <a:spcAft>
                <a:spcPts val="400"/>
              </a:spcAft>
              <a:buNone/>
            </a:pPr>
            <a:r>
              <a:rPr lang="en-US" sz="1900" b="1" dirty="0">
                <a:solidFill>
                  <a:srgbClr val="0B2A4A"/>
                </a:solidFill>
              </a:rPr>
              <a:t>Purpose on-chain</a:t>
            </a:r>
            <a:endParaRPr lang="en-US" sz="1900" dirty="0"/>
          </a:p>
          <a:p>
            <a:pPr marL="0" indent="0">
              <a:spcAft>
                <a:spcPts val="400"/>
              </a:spcAft>
              <a:buNone/>
            </a:pPr>
            <a:r>
              <a:rPr lang="en-US" sz="1600" dirty="0">
                <a:solidFill>
                  <a:srgbClr val="0B1F33"/>
                </a:solidFill>
              </a:rPr>
              <a:t>The plaintext purpose is visible in the mint transaction input.</a:t>
            </a:r>
            <a:endParaRPr lang="en-US" sz="1900" dirty="0"/>
          </a:p>
        </p:txBody>
      </p:sp>
      <p:sp>
        <p:nvSpPr>
          <p:cNvPr id="8" name="card Lifecycle"/>
          <p:cNvSpPr/>
          <p:nvPr/>
        </p:nvSpPr>
        <p:spPr>
          <a:xfrm>
            <a:off x="8046720" y="1280160"/>
            <a:ext cx="3520440" cy="2240280"/>
          </a:xfrm>
          <a:prstGeom prst="roundRect">
            <a:avLst>
              <a:gd name="adj" fmla="val 4082"/>
            </a:avLst>
          </a:prstGeom>
          <a:solidFill>
            <a:srgbClr val="FFFFFF">
              <a:alpha val="92000"/>
            </a:srgbClr>
          </a:solidFill>
          <a:ln w="19050">
            <a:solidFill>
              <a:srgbClr val="F2A900"/>
            </a:solidFill>
            <a:prstDash val="solid"/>
          </a:ln>
        </p:spPr>
        <p:txBody>
          <a:bodyPr/>
          <a:lstStyle/>
          <a:p>
            <a:endParaRPr lang="en-AU"/>
          </a:p>
        </p:txBody>
      </p:sp>
      <p:sp>
        <p:nvSpPr>
          <p:cNvPr id="9" name="card text Lifecycle"/>
          <p:cNvSpPr txBox="1"/>
          <p:nvPr/>
        </p:nvSpPr>
        <p:spPr>
          <a:xfrm>
            <a:off x="8183880" y="1371600"/>
            <a:ext cx="3246120" cy="2057400"/>
          </a:xfrm>
          <a:prstGeom prst="rect">
            <a:avLst/>
          </a:prstGeom>
          <a:noFill/>
          <a:ln/>
        </p:spPr>
        <p:txBody>
          <a:bodyPr wrap="square" rtlCol="0" anchor="t"/>
          <a:lstStyle/>
          <a:p>
            <a:pPr marL="0" indent="0">
              <a:spcAft>
                <a:spcPts val="400"/>
              </a:spcAft>
              <a:buNone/>
            </a:pPr>
            <a:r>
              <a:rPr lang="en-US" sz="1900" b="1" dirty="0">
                <a:solidFill>
                  <a:srgbClr val="0B2A4A"/>
                </a:solidFill>
              </a:rPr>
              <a:t>Lifecycle</a:t>
            </a:r>
            <a:endParaRPr lang="en-US" sz="1900" dirty="0"/>
          </a:p>
          <a:p>
            <a:pPr marL="0" indent="0">
              <a:spcAft>
                <a:spcPts val="400"/>
              </a:spcAft>
              <a:buNone/>
            </a:pPr>
            <a:r>
              <a:rPr lang="en-US" sz="1600" dirty="0">
                <a:solidFill>
                  <a:srgbClr val="0B1F33"/>
                </a:solidFill>
              </a:rPr>
              <a:t>The SUSPENDED state, the lifecycle transition check, consent modification, delegation and guardian-set changes, with a formal lifecycle model (RO5).</a:t>
            </a:r>
            <a:endParaRPr lang="en-US" sz="1900" dirty="0"/>
          </a:p>
        </p:txBody>
      </p:sp>
      <p:sp>
        <p:nvSpPr>
          <p:cNvPr id="10" name="card Formal proofs"/>
          <p:cNvSpPr/>
          <p:nvPr/>
        </p:nvSpPr>
        <p:spPr>
          <a:xfrm>
            <a:off x="640080" y="3794760"/>
            <a:ext cx="3520440" cy="2240280"/>
          </a:xfrm>
          <a:prstGeom prst="roundRect">
            <a:avLst>
              <a:gd name="adj" fmla="val 4082"/>
            </a:avLst>
          </a:prstGeom>
          <a:solidFill>
            <a:srgbClr val="FFFFFF">
              <a:alpha val="92000"/>
            </a:srgbClr>
          </a:solidFill>
          <a:ln w="19050">
            <a:solidFill>
              <a:srgbClr val="F2A900"/>
            </a:solidFill>
            <a:prstDash val="solid"/>
          </a:ln>
        </p:spPr>
        <p:txBody>
          <a:bodyPr/>
          <a:lstStyle/>
          <a:p>
            <a:endParaRPr lang="en-AU"/>
          </a:p>
        </p:txBody>
      </p:sp>
      <p:sp>
        <p:nvSpPr>
          <p:cNvPr id="11" name="card text Formal proofs"/>
          <p:cNvSpPr txBox="1"/>
          <p:nvPr/>
        </p:nvSpPr>
        <p:spPr>
          <a:xfrm>
            <a:off x="777240" y="3886200"/>
            <a:ext cx="3246120" cy="2057400"/>
          </a:xfrm>
          <a:prstGeom prst="rect">
            <a:avLst/>
          </a:prstGeom>
          <a:noFill/>
          <a:ln/>
        </p:spPr>
        <p:txBody>
          <a:bodyPr wrap="square" rtlCol="0" anchor="t"/>
          <a:lstStyle/>
          <a:p>
            <a:pPr marL="0" indent="0">
              <a:spcAft>
                <a:spcPts val="400"/>
              </a:spcAft>
              <a:buNone/>
            </a:pPr>
            <a:r>
              <a:rPr lang="en-US" sz="1900" b="1" dirty="0">
                <a:solidFill>
                  <a:srgbClr val="0B2A4A"/>
                </a:solidFill>
              </a:rPr>
              <a:t>Formal proofs</a:t>
            </a:r>
            <a:endParaRPr lang="en-US" sz="1900" dirty="0"/>
          </a:p>
          <a:p>
            <a:pPr marL="0" indent="0">
              <a:spcAft>
                <a:spcPts val="400"/>
              </a:spcAft>
              <a:buNone/>
            </a:pPr>
            <a:r>
              <a:rPr lang="en-US" sz="1600" dirty="0">
                <a:solidFill>
                  <a:srgbClr val="0B1F33"/>
                </a:solidFill>
              </a:rPr>
              <a:t>The security properties are tested, not yet proved. Next: a formal model and model checking or proofs (RO6).</a:t>
            </a:r>
            <a:endParaRPr lang="en-US" sz="1900" dirty="0"/>
          </a:p>
        </p:txBody>
      </p:sp>
      <p:sp>
        <p:nvSpPr>
          <p:cNvPr id="12" name="card Attack A11"/>
          <p:cNvSpPr/>
          <p:nvPr/>
        </p:nvSpPr>
        <p:spPr>
          <a:xfrm>
            <a:off x="4343400" y="3794760"/>
            <a:ext cx="3520440" cy="2240280"/>
          </a:xfrm>
          <a:prstGeom prst="roundRect">
            <a:avLst>
              <a:gd name="adj" fmla="val 4082"/>
            </a:avLst>
          </a:prstGeom>
          <a:solidFill>
            <a:srgbClr val="FFFFFF">
              <a:alpha val="92000"/>
            </a:srgbClr>
          </a:solidFill>
          <a:ln w="19050">
            <a:solidFill>
              <a:srgbClr val="1FB5D6"/>
            </a:solidFill>
            <a:prstDash val="solid"/>
          </a:ln>
        </p:spPr>
        <p:txBody>
          <a:bodyPr/>
          <a:lstStyle/>
          <a:p>
            <a:endParaRPr lang="en-AU"/>
          </a:p>
        </p:txBody>
      </p:sp>
      <p:sp>
        <p:nvSpPr>
          <p:cNvPr id="13" name="card text Attack A11"/>
          <p:cNvSpPr txBox="1"/>
          <p:nvPr/>
        </p:nvSpPr>
        <p:spPr>
          <a:xfrm>
            <a:off x="4480560" y="3886200"/>
            <a:ext cx="3246120" cy="2057400"/>
          </a:xfrm>
          <a:prstGeom prst="rect">
            <a:avLst/>
          </a:prstGeom>
          <a:noFill/>
          <a:ln/>
        </p:spPr>
        <p:txBody>
          <a:bodyPr wrap="square" rtlCol="0" anchor="t"/>
          <a:lstStyle/>
          <a:p>
            <a:pPr marL="0" indent="0">
              <a:spcAft>
                <a:spcPts val="400"/>
              </a:spcAft>
              <a:buNone/>
            </a:pPr>
            <a:r>
              <a:rPr lang="en-US" sz="1900" b="1" dirty="0">
                <a:solidFill>
                  <a:srgbClr val="0B2A4A"/>
                </a:solidFill>
              </a:rPr>
              <a:t>Attack A11</a:t>
            </a:r>
            <a:endParaRPr lang="en-US" sz="1900" dirty="0"/>
          </a:p>
          <a:p>
            <a:pPr marL="0" indent="0">
              <a:spcAft>
                <a:spcPts val="400"/>
              </a:spcAft>
              <a:buNone/>
            </a:pPr>
            <a:r>
              <a:rPr lang="en-US" sz="1600" dirty="0">
                <a:solidFill>
                  <a:srgbClr val="0B1F33"/>
                </a:solidFill>
              </a:rPr>
              <a:t>Rewriting the result of an audit event changes its digest, but nothing checks the digest yet. It is marked neutral, not refused.</a:t>
            </a:r>
            <a:endParaRPr lang="en-US" sz="1900" dirty="0"/>
          </a:p>
        </p:txBody>
      </p:sp>
      <p:sp>
        <p:nvSpPr>
          <p:cNvPr id="14" name="card Scale"/>
          <p:cNvSpPr/>
          <p:nvPr/>
        </p:nvSpPr>
        <p:spPr>
          <a:xfrm>
            <a:off x="8046720" y="3794760"/>
            <a:ext cx="3520440" cy="2240280"/>
          </a:xfrm>
          <a:prstGeom prst="roundRect">
            <a:avLst>
              <a:gd name="adj" fmla="val 4082"/>
            </a:avLst>
          </a:prstGeom>
          <a:solidFill>
            <a:srgbClr val="FFFFFF">
              <a:alpha val="92000"/>
            </a:srgbClr>
          </a:solidFill>
          <a:ln w="19050">
            <a:solidFill>
              <a:srgbClr val="1FB5D6"/>
            </a:solidFill>
            <a:prstDash val="solid"/>
          </a:ln>
        </p:spPr>
        <p:txBody>
          <a:bodyPr/>
          <a:lstStyle/>
          <a:p>
            <a:endParaRPr lang="en-AU"/>
          </a:p>
        </p:txBody>
      </p:sp>
      <p:sp>
        <p:nvSpPr>
          <p:cNvPr id="15" name="card text Scale"/>
          <p:cNvSpPr txBox="1"/>
          <p:nvPr/>
        </p:nvSpPr>
        <p:spPr>
          <a:xfrm>
            <a:off x="8183880" y="3886200"/>
            <a:ext cx="3246120" cy="2057400"/>
          </a:xfrm>
          <a:prstGeom prst="rect">
            <a:avLst/>
          </a:prstGeom>
          <a:noFill/>
          <a:ln/>
        </p:spPr>
        <p:txBody>
          <a:bodyPr wrap="square" rtlCol="0" anchor="t"/>
          <a:lstStyle/>
          <a:p>
            <a:pPr marL="0" indent="0">
              <a:spcAft>
                <a:spcPts val="400"/>
              </a:spcAft>
              <a:buNone/>
            </a:pPr>
            <a:r>
              <a:rPr lang="en-US" sz="1900" b="1" dirty="0">
                <a:solidFill>
                  <a:srgbClr val="0B2A4A"/>
                </a:solidFill>
              </a:rPr>
              <a:t>Scale</a:t>
            </a:r>
            <a:endParaRPr lang="en-US" sz="1900" dirty="0"/>
          </a:p>
          <a:p>
            <a:pPr marL="0" indent="0">
              <a:spcAft>
                <a:spcPts val="400"/>
              </a:spcAft>
              <a:buNone/>
            </a:pPr>
            <a:r>
              <a:rPr lang="en-US" sz="1600" dirty="0">
                <a:solidFill>
                  <a:srgbClr val="0B1F33"/>
                </a:solidFill>
              </a:rPr>
              <a:t>A larger evaluation under load, with more users, consents and concurrent requests.</a:t>
            </a:r>
            <a:endParaRPr lang="en-US" sz="19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PUBLICATIONS</a:t>
            </a:r>
            <a:endParaRPr lang="en-US" sz="3000" dirty="0"/>
          </a:p>
        </p:txBody>
      </p:sp>
      <p:graphicFrame>
        <p:nvGraphicFramePr>
          <p:cNvPr id="35" name="publications table"/>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4663440"/>
        </p:xfrm>
        <a:graphic>
          <a:graphicData uri="http://schemas.openxmlformats.org/drawingml/2006/table">
            <a:tbl>
              <a:tblPr/>
              <a:tblGrid>
                <a:gridCol w="4572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777240">
                <a:tc>
                  <a:txBody>
                    <a:bodyPr/>
                    <a:lstStyle/>
                    <a:p>
                      <a:pPr marL="0" indent="0" algn="ctr">
                        <a:buNone/>
                      </a:pPr>
                      <a:r>
                        <a:rPr lang="en-US" sz="1400" b="1" dirty="0">
                          <a:solidFill>
                            <a:srgbClr val="FFFFFF"/>
                          </a:solidFill>
                        </a:rPr>
                        <a:t>#</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l">
                        <a:buNone/>
                      </a:pPr>
                      <a:r>
                        <a:rPr lang="en-US" sz="1400" b="1" dirty="0">
                          <a:solidFill>
                            <a:srgbClr val="FFFFFF"/>
                          </a:solidFill>
                        </a:rPr>
                        <a:t>Title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l">
                        <a:buNone/>
                      </a:pPr>
                      <a:r>
                        <a:rPr lang="en-US" sz="1400" b="1" dirty="0">
                          <a:solidFill>
                            <a:srgbClr val="FFFFFF"/>
                          </a:solidFill>
                        </a:rPr>
                        <a:t>Venue</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Year</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lgn="ctr">
                        <a:buNone/>
                      </a:pPr>
                      <a:r>
                        <a:rPr lang="en-US" sz="1400" b="1" dirty="0">
                          <a:solidFill>
                            <a:srgbClr val="FFFFFF"/>
                          </a:solidFill>
                        </a:rPr>
                        <a:t>Status</a:t>
                      </a:r>
                      <a:endParaRPr lang="en-US" sz="140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lgn="ctr">
                        <a:buNone/>
                      </a:pPr>
                      <a:r>
                        <a:rPr lang="en-US" sz="1350" b="1" dirty="0">
                          <a:solidFill>
                            <a:srgbClr val="0B1F33"/>
                          </a:solidFill>
                        </a:rPr>
                        <a:t>1</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A Blockchain-Based Framework for Evaluating User Identity Trustworthiness in Real Estate</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2025 IEEE International Conference on E-Business Engineering (ICEBE)</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0B1F33"/>
                          </a:solidFill>
                        </a:rPr>
                        <a:t>2025</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2E7D32"/>
                          </a:solidFill>
                        </a:rPr>
                        <a:t>Published</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ctr">
                        <a:buNone/>
                      </a:pPr>
                      <a:r>
                        <a:rPr lang="en-US" sz="1350" b="1" dirty="0">
                          <a:solidFill>
                            <a:srgbClr val="0B1F33"/>
                          </a:solidFill>
                        </a:rPr>
                        <a:t>2</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Blockchain-Based Reputation Borrowing Model to Address the Cold Start Problem for New Users in Real Estate</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2025 IEEE International Conference on E-Business Engineering (ICEBE)</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0B1F33"/>
                          </a:solidFill>
                        </a:rPr>
                        <a:t>2025</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2E7D32"/>
                          </a:solidFill>
                        </a:rPr>
                        <a:t>Published</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ctr">
                        <a:buNone/>
                      </a:pPr>
                      <a:r>
                        <a:rPr lang="en-US" sz="1350" b="1" dirty="0">
                          <a:solidFill>
                            <a:srgbClr val="0B1F33"/>
                          </a:solidFill>
                        </a:rPr>
                        <a:t>3</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A Smart Contract-Governed Lifecycle Protocol for Reputation Borrowing in Blockchain-Based Real Estate Platforms</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ICEBE 2026</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0B1F33"/>
                          </a:solidFill>
                        </a:rPr>
                        <a:t>2026</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F6FB0"/>
                          </a:solidFill>
                        </a:rPr>
                        <a:t>Accepted</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ctr">
                        <a:buNone/>
                      </a:pPr>
                      <a:r>
                        <a:rPr lang="en-US" sz="1350" b="1" dirty="0">
                          <a:solidFill>
                            <a:srgbClr val="0B1F33"/>
                          </a:solidFill>
                        </a:rPr>
                        <a:t>4</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A Trusted Multi-Party Consent Governance Framework for Decentralized Multi-Stakeholder Data Sharing</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BWCCA 2026</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0B1F33"/>
                          </a:solidFill>
                        </a:rPr>
                        <a:t>2026</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F6FB0"/>
                          </a:solidFill>
                        </a:rPr>
                        <a:t>Accepted</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lgn="ctr">
                        <a:buNone/>
                      </a:pPr>
                      <a:r>
                        <a:rPr lang="en-US" sz="1350" b="1" dirty="0">
                          <a:solidFill>
                            <a:srgbClr val="0B1F33"/>
                          </a:solidFill>
                        </a:rPr>
                        <a:t>5</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Blockchain-Based Reputation Provenance Tracing for Newcomer Bootstrapping in Real Estate</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B1F33"/>
                          </a:solidFill>
                        </a:rPr>
                        <a:t>BWCCA 2026</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0B1F33"/>
                          </a:solidFill>
                        </a:rPr>
                        <a:t>2026</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F6FB0"/>
                          </a:solidFill>
                        </a:rPr>
                        <a:t>Accepted</a:t>
                      </a:r>
                      <a:endParaRPr lang="en-US" sz="1350" dirty="0"/>
                    </a:p>
                  </a:txBody>
                  <a:tcPr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PLAN</a:t>
            </a:r>
            <a:endParaRPr lang="en-US" sz="3000" dirty="0"/>
          </a:p>
        </p:txBody>
      </p:sp>
      <p:graphicFrame>
        <p:nvGraphicFramePr>
          <p:cNvPr id="36" name="table"/>
          <p:cNvGraphicFramePr>
            <a:graphicFrameLocks noGrp="1"/>
          </p:cNvGraphicFramePr>
          <p:nvPr>
            <p:extLst>
              <p:ext uri="{D42A27DB-BD31-4B8C-83A1-F6EECF244321}">
                <p14:modId xmlns:p14="http://schemas.microsoft.com/office/powerpoint/2010/main" val="2731205209"/>
              </p:ext>
            </p:extLst>
          </p:nvPr>
        </p:nvGraphicFramePr>
        <p:xfrm>
          <a:off x="731520" y="1097280"/>
          <a:ext cx="10698480" cy="5486400"/>
        </p:xfrm>
        <a:graphic>
          <a:graphicData uri="http://schemas.openxmlformats.org/drawingml/2006/table">
            <a:tbl>
              <a:tblPr/>
              <a:tblGrid>
                <a:gridCol w="173736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57200">
                <a:tc>
                  <a:txBody>
                    <a:bodyPr/>
                    <a:lstStyle/>
                    <a:p>
                      <a:pPr marL="0" indent="0">
                        <a:buNone/>
                      </a:pPr>
                      <a:r>
                        <a:rPr lang="en-US" sz="1300" b="1" dirty="0">
                          <a:solidFill>
                            <a:srgbClr val="FFFFFF"/>
                          </a:solidFill>
                        </a:rPr>
                        <a:t>Task</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300" b="1" dirty="0">
                          <a:solidFill>
                            <a:srgbClr val="FFFFFF"/>
                          </a:solidFill>
                        </a:rPr>
                        <a:t>Description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300" b="1" dirty="0">
                          <a:solidFill>
                            <a:srgbClr val="FFFFFF"/>
                          </a:solidFill>
                        </a:rPr>
                        <a:t>Target date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300" b="1" dirty="0">
                          <a:solidFill>
                            <a:srgbClr val="FFFFFF"/>
                          </a:solidFill>
                        </a:rPr>
                        <a:t>Status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0B1F33"/>
                          </a:solidFill>
                        </a:rPr>
                        <a:t>Chapters 1–4</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Introduction, SLR, Research Questions and Objectives, Research Methodology</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Completed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0B1F33"/>
                          </a:solidFill>
                        </a:rPr>
                        <a:t>Chapter 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Research Architecture (MVC) and framework design</a:t>
                      </a:r>
                      <a:r>
                        <a:rPr lang="ar-SA" sz="1300" dirty="0">
                          <a:solidFill>
                            <a:srgbClr val="0B1F33"/>
                          </a:solidFill>
                        </a:rPr>
                        <a:t>  </a:t>
                      </a:r>
                      <a:r>
                        <a:rPr lang="en-US" sz="1300" dirty="0">
                          <a:solidFill>
                            <a:srgbClr val="0B1F33"/>
                          </a:solidFill>
                        </a:rPr>
                        <a:t>RO1 AND RO2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May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0B1F33"/>
                          </a:solidFill>
                        </a:rPr>
                        <a:t>Chapter 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Proposed solution for RO3 to  and the HALAH prototype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Jul–Oct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b="1" dirty="0">
                          <a:solidFill>
                            <a:srgbClr val="0B1F33"/>
                          </a:solidFill>
                        </a:rPr>
                        <a:t>Publication 1</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Conference paper submission, BWCCA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Sep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Done</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b="1" dirty="0">
                          <a:solidFill>
                            <a:srgbClr val="0B1F33"/>
                          </a:solidFill>
                        </a:rPr>
                        <a:t>Publication 2</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SLR paper journal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Oct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In Progress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b="1" dirty="0">
                          <a:solidFill>
                            <a:srgbClr val="0B1F33"/>
                          </a:solidFill>
                        </a:rPr>
                        <a:t>Chapter 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Proposed solution for RO4</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Nov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300" b="1" dirty="0">
                          <a:solidFill>
                            <a:srgbClr val="0B1F33"/>
                          </a:solidFill>
                        </a:rPr>
                        <a:t>Publication 3</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Journal paper on formal security assurance, lifecycle trust and the evaluation of HALAH</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300" b="1" dirty="0">
                          <a:solidFill>
                            <a:srgbClr val="0B1F33"/>
                          </a:solidFill>
                        </a:rPr>
                        <a:t>Chapter 8</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Proposed solution for RO5</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Dec 2026</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dirty="0">
                          <a:solidFill>
                            <a:srgbClr val="0B1F33"/>
                          </a:solidFill>
                        </a:rPr>
                        <a:t>Chapter 9</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t>CONCLUSION AND FUTURE WORK </a:t>
                      </a:r>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solidFill>
                            <a:srgbClr val="0B1F33"/>
                          </a:solidFill>
                        </a:rPr>
                        <a:t>Dec 2026</a:t>
                      </a:r>
                      <a:endParaRPr lang="en-US" sz="1300" dirty="0"/>
                    </a:p>
                    <a:p>
                      <a:pPr marL="0" indent="0">
                        <a:buNone/>
                      </a:pP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4141386650"/>
                  </a:ext>
                </a:extLst>
              </a:tr>
              <a:tr h="457200">
                <a:tc>
                  <a:txBody>
                    <a:bodyPr/>
                    <a:lstStyle/>
                    <a:p>
                      <a:pPr marL="0" indent="0">
                        <a:buNone/>
                      </a:pPr>
                      <a:r>
                        <a:rPr lang="en-US" sz="1300" b="1" dirty="0">
                          <a:solidFill>
                            <a:srgbClr val="0B1F33"/>
                          </a:solidFill>
                        </a:rPr>
                        <a:t>Final assessment</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candidature assessment 3</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Jan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57200">
                <a:tc>
                  <a:txBody>
                    <a:bodyPr/>
                    <a:lstStyle/>
                    <a:p>
                      <a:pPr marL="0" indent="0">
                        <a:buNone/>
                      </a:pPr>
                      <a:r>
                        <a:rPr lang="en-US" sz="1300" b="1" dirty="0">
                          <a:solidFill>
                            <a:srgbClr val="0B1F33"/>
                          </a:solidFill>
                        </a:rPr>
                        <a:t>Thesis</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Complete thesis submission</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Mar 2027</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300" dirty="0">
                          <a:solidFill>
                            <a:srgbClr val="0B1F33"/>
                          </a:solidFill>
                        </a:rPr>
                        <a:t>Planned</a:t>
                      </a:r>
                      <a:endParaRPr lang="en-US" sz="13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RESEARCH TIMELINE</a:t>
            </a:r>
            <a:endParaRPr lang="en-US" sz="3000" dirty="0"/>
          </a:p>
        </p:txBody>
      </p:sp>
      <p:sp>
        <p:nvSpPr>
          <p:cNvPr id="4" name="Fplan panel"/>
          <p:cNvSpPr/>
          <p:nvPr/>
        </p:nvSpPr>
        <p:spPr>
          <a:xfrm>
            <a:off x="731520" y="1280160"/>
            <a:ext cx="10698480" cy="4937760"/>
          </a:xfrm>
          <a:prstGeom prst="roundRect">
            <a:avLst>
              <a:gd name="adj" fmla="val 2222"/>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5" name="Fplan" descr="/tmp/deck/img/Fplan.png"/>
          <p:cNvPicPr>
            <a:picLocks noChangeAspect="1"/>
          </p:cNvPicPr>
          <p:nvPr/>
        </p:nvPicPr>
        <p:blipFill>
          <a:blip r:embed="rId3"/>
          <a:stretch>
            <a:fillRect/>
          </a:stretch>
        </p:blipFill>
        <p:spPr>
          <a:xfrm>
            <a:off x="841248" y="1440972"/>
            <a:ext cx="10479024" cy="4616136"/>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6: THE AUDITOR FOLLOWS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RO6 (part)</a:t>
            </a:r>
            <a:endParaRPr lang="en-US" sz="1400" dirty="0"/>
          </a:p>
        </p:txBody>
      </p:sp>
      <p:sp>
        <p:nvSpPr>
          <p:cNvPr id="8" name="F39a panel"/>
          <p:cNvSpPr/>
          <p:nvPr/>
        </p:nvSpPr>
        <p:spPr>
          <a:xfrm>
            <a:off x="1192795" y="2514600"/>
            <a:ext cx="9806106" cy="3657600"/>
          </a:xfrm>
          <a:prstGeom prst="roundRect">
            <a:avLst>
              <a:gd name="adj" fmla="val 3000"/>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9" name="F39a" descr="/tmp/deck/img/F39a.png"/>
          <p:cNvPicPr>
            <a:picLocks noChangeAspect="1"/>
          </p:cNvPicPr>
          <p:nvPr/>
        </p:nvPicPr>
        <p:blipFill>
          <a:blip r:embed="rId3"/>
          <a:stretch>
            <a:fillRect/>
          </a:stretch>
        </p:blipFill>
        <p:spPr>
          <a:xfrm>
            <a:off x="1302523" y="2624328"/>
            <a:ext cx="9586650" cy="3438144"/>
          </a:xfrm>
          <a:prstGeom prst="rect">
            <a:avLst/>
          </a:prstGeom>
        </p:spPr>
      </p:pic>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DEMO 7 (OPTIONAL): REVOKING THE CONSENT</a:t>
            </a:r>
            <a:endParaRPr lang="en-US" sz="3000" dirty="0"/>
          </a:p>
        </p:txBody>
      </p:sp>
      <p:sp>
        <p:nvSpPr>
          <p:cNvPr id="4" name="status chip"/>
          <p:cNvSpPr/>
          <p:nvPr/>
        </p:nvSpPr>
        <p:spPr>
          <a:xfrm>
            <a:off x="731520" y="1005840"/>
            <a:ext cx="2377440" cy="411480"/>
          </a:xfrm>
          <a:prstGeom prst="roundRect">
            <a:avLst>
              <a:gd name="adj" fmla="val 44444"/>
            </a:avLst>
          </a:prstGeom>
          <a:solidFill>
            <a:srgbClr val="2F6FB0"/>
          </a:solidFill>
          <a:ln w="12700">
            <a:solidFill>
              <a:srgbClr val="2F6FB0"/>
            </a:solidFill>
            <a:prstDash val="solid"/>
          </a:ln>
        </p:spPr>
        <p:txBody>
          <a:bodyPr/>
          <a:lstStyle/>
          <a:p>
            <a:endParaRPr lang="en-AU"/>
          </a:p>
        </p:txBody>
      </p:sp>
      <p:sp>
        <p:nvSpPr>
          <p:cNvPr id="5" name="status text"/>
          <p:cNvSpPr txBox="1"/>
          <p:nvPr/>
        </p:nvSpPr>
        <p:spPr>
          <a:xfrm>
            <a:off x="731520" y="1005840"/>
            <a:ext cx="2377440" cy="411480"/>
          </a:xfrm>
          <a:prstGeom prst="rect">
            <a:avLst/>
          </a:prstGeom>
          <a:noFill/>
          <a:ln/>
        </p:spPr>
        <p:txBody>
          <a:bodyPr wrap="square" rtlCol="0" anchor="ctr"/>
          <a:lstStyle/>
          <a:p>
            <a:pPr marL="0" indent="0" algn="ctr">
              <a:buNone/>
            </a:pPr>
            <a:r>
              <a:rPr lang="en-US" sz="1400" b="1" dirty="0">
                <a:solidFill>
                  <a:srgbClr val="FFFFFF"/>
                </a:solidFill>
              </a:rPr>
              <a:t>RO5</a:t>
            </a:r>
            <a:endParaRPr lang="en-US" sz="1400" dirty="0"/>
          </a:p>
        </p:txBody>
      </p:sp>
      <p:sp>
        <p:nvSpPr>
          <p:cNvPr id="6" name="ro label"/>
          <p:cNvSpPr txBox="1"/>
          <p:nvPr/>
        </p:nvSpPr>
        <p:spPr>
          <a:xfrm>
            <a:off x="3291840" y="1005840"/>
            <a:ext cx="8229600" cy="411480"/>
          </a:xfrm>
          <a:prstGeom prst="rect">
            <a:avLst/>
          </a:prstGeom>
          <a:noFill/>
          <a:ln/>
        </p:spPr>
        <p:txBody>
          <a:bodyPr wrap="square" rtlCol="0" anchor="ctr"/>
          <a:lstStyle/>
          <a:p>
            <a:pPr marL="0" indent="0">
              <a:buNone/>
            </a:pPr>
            <a:r>
              <a:rPr lang="en-US" sz="1600" i="1" dirty="0">
                <a:solidFill>
                  <a:srgbClr val="1FB5D6"/>
                </a:solidFill>
              </a:rPr>
              <a:t>Revocation on Sepolia, then access is refused</a:t>
            </a:r>
            <a:endParaRPr lang="en-US" sz="1600" dirty="0"/>
          </a:p>
        </p:txBody>
      </p:sp>
      <p:sp>
        <p:nvSpPr>
          <p:cNvPr id="7" name="F39b panel"/>
          <p:cNvSpPr/>
          <p:nvPr/>
        </p:nvSpPr>
        <p:spPr>
          <a:xfrm>
            <a:off x="640080" y="1554480"/>
            <a:ext cx="10881360" cy="1664208"/>
          </a:xfrm>
          <a:prstGeom prst="roundRect">
            <a:avLst>
              <a:gd name="adj" fmla="val 659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8" name="F39b" descr="/tmp/deck/img/F39b.png"/>
          <p:cNvPicPr>
            <a:picLocks noChangeAspect="1"/>
          </p:cNvPicPr>
          <p:nvPr/>
        </p:nvPicPr>
        <p:blipFill>
          <a:blip r:embed="rId3"/>
          <a:stretch>
            <a:fillRect/>
          </a:stretch>
        </p:blipFill>
        <p:spPr>
          <a:xfrm>
            <a:off x="749808" y="1665556"/>
            <a:ext cx="10661904" cy="1442055"/>
          </a:xfrm>
          <a:prstGeom prst="rect">
            <a:avLst/>
          </a:prstGeom>
        </p:spPr>
      </p:pic>
      <p:sp>
        <p:nvSpPr>
          <p:cNvPr id="9" name="caption"/>
          <p:cNvSpPr txBox="1"/>
          <p:nvPr/>
        </p:nvSpPr>
        <p:spPr>
          <a:xfrm>
            <a:off x="640080" y="3255264"/>
            <a:ext cx="10881360" cy="320040"/>
          </a:xfrm>
          <a:prstGeom prst="rect">
            <a:avLst/>
          </a:prstGeom>
          <a:noFill/>
          <a:ln/>
        </p:spPr>
        <p:txBody>
          <a:bodyPr wrap="square" rtlCol="0" anchor="ctr"/>
          <a:lstStyle/>
          <a:p>
            <a:pPr marL="0" indent="0" algn="ctr">
              <a:buNone/>
            </a:pPr>
            <a:r>
              <a:rPr lang="en-US" sz="1200" i="1" dirty="0">
                <a:solidFill>
                  <a:srgbClr val="FFFFFF"/>
                </a:solidFill>
              </a:rPr>
              <a:t>Audit ledger, rows 47 and 48: the patient revokes, then the revoke transaction goes on Sepolia</a:t>
            </a:r>
            <a:endParaRPr lang="en-US" sz="1200" dirty="0"/>
          </a:p>
        </p:txBody>
      </p:sp>
      <p:sp>
        <p:nvSpPr>
          <p:cNvPr id="10" name="F37t panel"/>
          <p:cNvSpPr/>
          <p:nvPr/>
        </p:nvSpPr>
        <p:spPr>
          <a:xfrm>
            <a:off x="640080" y="3657600"/>
            <a:ext cx="6035040" cy="2551176"/>
          </a:xfrm>
          <a:prstGeom prst="roundRect">
            <a:avLst>
              <a:gd name="adj" fmla="val 4301"/>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1" name="F37t" descr="/tmp/deck/img/F37t.png"/>
          <p:cNvPicPr>
            <a:picLocks noChangeAspect="1"/>
          </p:cNvPicPr>
          <p:nvPr/>
        </p:nvPicPr>
        <p:blipFill>
          <a:blip r:embed="rId4"/>
          <a:stretch>
            <a:fillRect/>
          </a:stretch>
        </p:blipFill>
        <p:spPr>
          <a:xfrm>
            <a:off x="749808" y="3767763"/>
            <a:ext cx="5815584" cy="2330849"/>
          </a:xfrm>
          <a:prstGeom prst="rect">
            <a:avLst/>
          </a:prstGeom>
        </p:spPr>
      </p:pic>
      <p:sp>
        <p:nvSpPr>
          <p:cNvPr id="12" name="caption"/>
          <p:cNvSpPr txBox="1"/>
          <p:nvPr/>
        </p:nvSpPr>
        <p:spPr>
          <a:xfrm>
            <a:off x="640080" y="6245352"/>
            <a:ext cx="6035040" cy="320040"/>
          </a:xfrm>
          <a:prstGeom prst="rect">
            <a:avLst/>
          </a:prstGeom>
          <a:noFill/>
          <a:ln/>
        </p:spPr>
        <p:txBody>
          <a:bodyPr wrap="square" rtlCol="0" anchor="ctr"/>
          <a:lstStyle/>
          <a:p>
            <a:pPr marL="0" indent="0" algn="ctr">
              <a:buNone/>
            </a:pPr>
            <a:r>
              <a:rPr lang="en-US" sz="1200" i="1" dirty="0">
                <a:solidFill>
                  <a:srgbClr val="FFFFFF"/>
                </a:solidFill>
              </a:rPr>
              <a:t>Sepolia Etherscan: Revoke, Success, block 11,771,307</a:t>
            </a:r>
            <a:endParaRPr lang="en-US" sz="1200" dirty="0"/>
          </a:p>
        </p:txBody>
      </p:sp>
      <p:sp>
        <p:nvSpPr>
          <p:cNvPr id="13" name="F36m panel"/>
          <p:cNvSpPr/>
          <p:nvPr/>
        </p:nvSpPr>
        <p:spPr>
          <a:xfrm>
            <a:off x="6858000" y="3657600"/>
            <a:ext cx="4663440" cy="1271016"/>
          </a:xfrm>
          <a:prstGeom prst="roundRect">
            <a:avLst>
              <a:gd name="adj" fmla="val 8633"/>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pic>
        <p:nvPicPr>
          <p:cNvPr id="14" name="F36m" descr="/tmp/deck/img/F36m.png"/>
          <p:cNvPicPr>
            <a:picLocks noChangeAspect="1"/>
          </p:cNvPicPr>
          <p:nvPr/>
        </p:nvPicPr>
        <p:blipFill>
          <a:blip r:embed="rId5"/>
          <a:stretch>
            <a:fillRect/>
          </a:stretch>
        </p:blipFill>
        <p:spPr>
          <a:xfrm>
            <a:off x="6967728" y="3769622"/>
            <a:ext cx="4443984" cy="1046973"/>
          </a:xfrm>
          <a:prstGeom prst="rect">
            <a:avLst/>
          </a:prstGeom>
        </p:spPr>
      </p:pic>
      <p:sp>
        <p:nvSpPr>
          <p:cNvPr id="15" name="caption"/>
          <p:cNvSpPr txBox="1"/>
          <p:nvPr/>
        </p:nvSpPr>
        <p:spPr>
          <a:xfrm>
            <a:off x="6858000" y="4965192"/>
            <a:ext cx="4663440" cy="320040"/>
          </a:xfrm>
          <a:prstGeom prst="rect">
            <a:avLst/>
          </a:prstGeom>
          <a:noFill/>
          <a:ln/>
        </p:spPr>
        <p:txBody>
          <a:bodyPr wrap="square" rtlCol="0" anchor="ctr"/>
          <a:lstStyle/>
          <a:p>
            <a:pPr marL="0" indent="0" algn="ctr">
              <a:buNone/>
            </a:pPr>
            <a:r>
              <a:rPr lang="en-US" sz="1200" i="1" dirty="0">
                <a:solidFill>
                  <a:srgbClr val="FFFFFF"/>
                </a:solidFill>
              </a:rPr>
              <a:t>Doctor screen after the revocation: access refused</a:t>
            </a:r>
            <a:endParaRPr lang="en-US" sz="1200" dirty="0"/>
          </a:p>
        </p:txBody>
      </p:sp>
      <p:sp>
        <p:nvSpPr>
          <p:cNvPr id="16" name="bullets"/>
          <p:cNvSpPr txBox="1"/>
          <p:nvPr/>
        </p:nvSpPr>
        <p:spPr>
          <a:xfrm>
            <a:off x="6858000" y="5440680"/>
            <a:ext cx="4663440" cy="1097280"/>
          </a:xfrm>
          <a:prstGeom prst="rect">
            <a:avLst/>
          </a:prstGeom>
          <a:noFill/>
          <a:ln/>
        </p:spPr>
        <p:txBody>
          <a:bodyPr wrap="square" rtlCol="0" anchor="t"/>
          <a:lstStyle/>
          <a:p>
            <a:pPr marL="342900" indent="-342900">
              <a:spcAft>
                <a:spcPts val="1000"/>
              </a:spcAft>
              <a:buSzPct val="100000"/>
              <a:buChar char="•"/>
            </a:pPr>
            <a:r>
              <a:rPr lang="en-US" sz="1300" dirty="0">
                <a:solidFill>
                  <a:srgbClr val="FFFFFF"/>
                </a:solidFill>
              </a:rPr>
              <a:t>The revoke transaction is public on Sepolia, in block 11,771,307.</a:t>
            </a:r>
            <a:endParaRPr lang="en-US" sz="1300" dirty="0"/>
          </a:p>
          <a:p>
            <a:pPr marL="342900" indent="-342900">
              <a:spcAft>
                <a:spcPts val="1000"/>
              </a:spcAft>
              <a:buSzPct val="100000"/>
              <a:buChar char="•"/>
            </a:pPr>
            <a:r>
              <a:rPr lang="en-US" sz="1300" dirty="0">
                <a:solidFill>
                  <a:srgbClr val="FFFFFF"/>
                </a:solidFill>
              </a:rPr>
              <a:t>The doctor opens the consent again and is refused: the state is REVOKED.</a:t>
            </a:r>
            <a:endParaRPr lang="en-US" sz="13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REFERENCES</a:t>
            </a:r>
            <a:endParaRPr lang="en-US" sz="3000" dirty="0"/>
          </a:p>
        </p:txBody>
      </p:sp>
      <p:sp>
        <p:nvSpPr>
          <p:cNvPr id="4" name="references panel"/>
          <p:cNvSpPr/>
          <p:nvPr/>
        </p:nvSpPr>
        <p:spPr>
          <a:xfrm>
            <a:off x="640080" y="1051560"/>
            <a:ext cx="10881360" cy="5257800"/>
          </a:xfrm>
          <a:prstGeom prst="roundRect">
            <a:avLst>
              <a:gd name="adj" fmla="val 2087"/>
            </a:avLst>
          </a:prstGeom>
          <a:solidFill>
            <a:srgbClr val="FFFFFF"/>
          </a:solidFill>
          <a:ln w="12700">
            <a:solidFill>
              <a:srgbClr val="FFFFFF"/>
            </a:solidFill>
            <a:prstDash val="solid"/>
          </a:ln>
          <a:effectLst>
            <a:outerShdw blurRad="101600" dist="38100" dir="5400000" algn="bl" rotWithShape="0">
              <a:srgbClr val="000000">
                <a:alpha val="35000"/>
              </a:srgbClr>
            </a:outerShdw>
          </a:effectLst>
        </p:spPr>
        <p:txBody>
          <a:bodyPr/>
          <a:lstStyle/>
          <a:p>
            <a:endParaRPr lang="en-AU"/>
          </a:p>
        </p:txBody>
      </p:sp>
      <p:sp>
        <p:nvSpPr>
          <p:cNvPr id="5" name="reference list"/>
          <p:cNvSpPr txBox="1"/>
          <p:nvPr/>
        </p:nvSpPr>
        <p:spPr>
          <a:xfrm>
            <a:off x="822960" y="1143000"/>
            <a:ext cx="10515600" cy="5074920"/>
          </a:xfrm>
          <a:prstGeom prst="rect">
            <a:avLst/>
          </a:prstGeom>
          <a:noFill/>
          <a:ln/>
        </p:spPr>
        <p:txBody>
          <a:bodyPr wrap="square" rtlCol="0" anchor="t"/>
          <a:lstStyle/>
          <a:p>
            <a:pPr marL="0" indent="0">
              <a:spcAft>
                <a:spcPts val="400"/>
              </a:spcAft>
              <a:buNone/>
            </a:pPr>
            <a:r>
              <a:rPr lang="en-US" sz="1000" dirty="0">
                <a:solidFill>
                  <a:srgbClr val="0B1F33"/>
                </a:solidFill>
              </a:rPr>
              <a:t>Bloemen, R., Logvinov, L. &amp; Evans, J. 2017, </a:t>
            </a:r>
            <a:r>
              <a:rPr lang="en-US" sz="1000" i="1" dirty="0">
                <a:solidFill>
                  <a:srgbClr val="0B1F33"/>
                </a:solidFill>
              </a:rPr>
              <a:t>EIP-712: Typed structured data hashing and signing</a:t>
            </a:r>
            <a:r>
              <a:rPr lang="en-US" sz="1000" dirty="0">
                <a:solidFill>
                  <a:srgbClr val="0B1F33"/>
                </a:solidFill>
              </a:rPr>
              <a:t>, Ethereum Improvement Proposals, no. 712, viewed 6 October 2026, &lt;https://eips.ethereum.org/EIPS/eip-712&gt;.</a:t>
            </a:r>
            <a:endParaRPr lang="en-US" sz="1000" dirty="0"/>
          </a:p>
          <a:p>
            <a:pPr marL="0" indent="0">
              <a:spcAft>
                <a:spcPts val="400"/>
              </a:spcAft>
              <a:buNone/>
            </a:pPr>
            <a:r>
              <a:rPr lang="en-US" sz="1000" dirty="0">
                <a:solidFill>
                  <a:srgbClr val="0B1F33"/>
                </a:solidFill>
              </a:rPr>
              <a:t>Cai, B. 2022, </a:t>
            </a:r>
            <a:r>
              <a:rPr lang="en-US" sz="1000" i="1" dirty="0">
                <a:solidFill>
                  <a:srgbClr val="0B1F33"/>
                </a:solidFill>
              </a:rPr>
              <a:t>ERC-5484: Consensual soulbound tokens</a:t>
            </a:r>
            <a:r>
              <a:rPr lang="en-US" sz="1000" dirty="0">
                <a:solidFill>
                  <a:srgbClr val="0B1F33"/>
                </a:solidFill>
              </a:rPr>
              <a:t>, Ethereum Improvement Proposals, no. 5484, viewed 6 October 2026, &lt;https://eips.ethereum.org/EIPS/eip-5484&gt;.</a:t>
            </a:r>
            <a:endParaRPr lang="en-US" sz="1000" dirty="0"/>
          </a:p>
          <a:p>
            <a:pPr marL="0" indent="0">
              <a:spcAft>
                <a:spcPts val="400"/>
              </a:spcAft>
              <a:buNone/>
            </a:pPr>
            <a:r>
              <a:rPr lang="en-US" sz="1000" dirty="0">
                <a:solidFill>
                  <a:srgbClr val="0B1F33"/>
                </a:solidFill>
              </a:rPr>
              <a:t>Entriken, W., Shirley, D., Evans, J. &amp; Sachs, N. 2018, </a:t>
            </a:r>
            <a:r>
              <a:rPr lang="en-US" sz="1000" i="1" dirty="0">
                <a:solidFill>
                  <a:srgbClr val="0B1F33"/>
                </a:solidFill>
              </a:rPr>
              <a:t>ERC-721: Non-fungible token standard</a:t>
            </a:r>
            <a:r>
              <a:rPr lang="en-US" sz="1000" dirty="0">
                <a:solidFill>
                  <a:srgbClr val="0B1F33"/>
                </a:solidFill>
              </a:rPr>
              <a:t>, Ethereum Improvement Proposals, no. 721, viewed 6 October 2026, &lt;https://eips.ethereum.org/EIPS/eip-721&gt;.</a:t>
            </a:r>
            <a:endParaRPr lang="en-US" sz="1000" dirty="0"/>
          </a:p>
          <a:p>
            <a:pPr marL="0" indent="0">
              <a:spcAft>
                <a:spcPts val="400"/>
              </a:spcAft>
              <a:buNone/>
            </a:pPr>
            <a:r>
              <a:rPr lang="en-US" sz="1000" dirty="0">
                <a:solidFill>
                  <a:srgbClr val="0B1F33"/>
                </a:solidFill>
              </a:rPr>
              <a:t>Ethereum Foundation 2026b, </a:t>
            </a:r>
            <a:r>
              <a:rPr lang="en-US" sz="1000" i="1" dirty="0">
                <a:solidFill>
                  <a:srgbClr val="0B1F33"/>
                </a:solidFill>
              </a:rPr>
              <a:t>Networks</a:t>
            </a:r>
            <a:r>
              <a:rPr lang="en-US" sz="1000" dirty="0">
                <a:solidFill>
                  <a:srgbClr val="0B1F33"/>
                </a:solidFill>
              </a:rPr>
              <a:t>, ethereum.org developer documentation, viewed 7 October 2026, &lt;https://ethereum.org/en/developers/docs/networks/&gt;.</a:t>
            </a:r>
            <a:endParaRPr lang="en-US" sz="1000" dirty="0"/>
          </a:p>
          <a:p>
            <a:pPr marL="0" indent="0">
              <a:spcAft>
                <a:spcPts val="400"/>
              </a:spcAft>
              <a:buNone/>
            </a:pPr>
            <a:r>
              <a:rPr lang="en-US" sz="1000" dirty="0">
                <a:solidFill>
                  <a:srgbClr val="0B1F33"/>
                </a:solidFill>
              </a:rPr>
              <a:t>Grassi, L., Khovratovich, D., Rechberger, C., Roy, A. &amp; Schofnegger, M. 2021, 'Poseidon: A new hash function for zero-knowledge proof systems', </a:t>
            </a:r>
            <a:r>
              <a:rPr lang="en-US" sz="1000" i="1" dirty="0">
                <a:solidFill>
                  <a:srgbClr val="0B1F33"/>
                </a:solidFill>
              </a:rPr>
              <a:t>Proceedings of the 30th USENIX Security Symposium</a:t>
            </a:r>
            <a:r>
              <a:rPr lang="en-US" sz="1000" dirty="0">
                <a:solidFill>
                  <a:srgbClr val="0B1F33"/>
                </a:solidFill>
              </a:rPr>
              <a:t>, pp. 519–535.</a:t>
            </a:r>
            <a:endParaRPr lang="en-US" sz="1000" dirty="0"/>
          </a:p>
          <a:p>
            <a:pPr marL="0" indent="0">
              <a:spcAft>
                <a:spcPts val="400"/>
              </a:spcAft>
              <a:buNone/>
            </a:pPr>
            <a:r>
              <a:rPr lang="en-US" sz="1000" dirty="0">
                <a:solidFill>
                  <a:srgbClr val="0B1F33"/>
                </a:solidFill>
              </a:rPr>
              <a:t>Groth, J. 2016, 'On the size of pairing-based non-interactive arguments', </a:t>
            </a:r>
            <a:r>
              <a:rPr lang="en-US" sz="1000" i="1" dirty="0">
                <a:solidFill>
                  <a:srgbClr val="0B1F33"/>
                </a:solidFill>
              </a:rPr>
              <a:t>Advances in Cryptology – EUROCRYPT 2016, LNCS</a:t>
            </a:r>
            <a:r>
              <a:rPr lang="en-US" sz="1000" dirty="0">
                <a:solidFill>
                  <a:srgbClr val="0B1F33"/>
                </a:solidFill>
              </a:rPr>
              <a:t>, vol. 9666, pp. 305–326, Springer, &lt;https://doi.org/10.1007/978-3-662-49896-5_11&gt;.</a:t>
            </a:r>
            <a:endParaRPr lang="en-US" sz="1000" dirty="0"/>
          </a:p>
          <a:p>
            <a:pPr marL="0" indent="0">
              <a:spcAft>
                <a:spcPts val="400"/>
              </a:spcAft>
              <a:buNone/>
            </a:pPr>
            <a:r>
              <a:rPr lang="en-US" sz="1000" dirty="0">
                <a:solidFill>
                  <a:srgbClr val="0B1F33"/>
                </a:solidFill>
              </a:rPr>
              <a:t>Page, M.J., McKenzie, J.E., Bossuyt, P.M., Boutron, I., Hoffmann, T.C., Mulrow, C.D. et al. 2021, 'The PRISMA 2020 statement: An updated guideline for reporting systematic reviews', </a:t>
            </a:r>
            <a:r>
              <a:rPr lang="en-US" sz="1000" i="1" dirty="0">
                <a:solidFill>
                  <a:srgbClr val="0B1F33"/>
                </a:solidFill>
              </a:rPr>
              <a:t>BMJ</a:t>
            </a:r>
            <a:r>
              <a:rPr lang="en-US" sz="1000" dirty="0">
                <a:solidFill>
                  <a:srgbClr val="0B1F33"/>
                </a:solidFill>
              </a:rPr>
              <a:t>, vol. 372, p. n71, &lt;https://doi.org/10.1136/bmj.n71&gt;.</a:t>
            </a:r>
            <a:endParaRPr lang="en-US" sz="1000" dirty="0"/>
          </a:p>
          <a:p>
            <a:pPr marL="0" indent="0">
              <a:spcAft>
                <a:spcPts val="400"/>
              </a:spcAft>
              <a:buNone/>
            </a:pPr>
            <a:r>
              <a:rPr lang="en-US" sz="1000" dirty="0">
                <a:solidFill>
                  <a:srgbClr val="0B1F33"/>
                </a:solidFill>
              </a:rPr>
              <a:t>Walonoski, J., Kramer, M., Nichols, J., Quina, A., Moesel, C., Hall, D. et al. 2018, 'Synthea: An approach, method, and software mechanism for generating synthetic patients and the synthetic electronic health care record', </a:t>
            </a:r>
            <a:r>
              <a:rPr lang="en-US" sz="1000" i="1" dirty="0">
                <a:solidFill>
                  <a:srgbClr val="0B1F33"/>
                </a:solidFill>
              </a:rPr>
              <a:t>Journal of the American Medical Informatics Association</a:t>
            </a:r>
            <a:r>
              <a:rPr lang="en-US" sz="1000" dirty="0">
                <a:solidFill>
                  <a:srgbClr val="0B1F33"/>
                </a:solidFill>
              </a:rPr>
              <a:t>, vol. 25, no. 3, pp. 230–238, &lt;https://doi.org/10.1093/jamia/ocx079&gt;.</a:t>
            </a:r>
            <a:endParaRPr lang="en-US" sz="1000" dirty="0"/>
          </a:p>
          <a:p>
            <a:pPr marL="0" indent="0">
              <a:spcAft>
                <a:spcPts val="400"/>
              </a:spcAft>
              <a:buNone/>
            </a:pPr>
            <a:r>
              <a:rPr lang="en-US" sz="1000" dirty="0">
                <a:solidFill>
                  <a:srgbClr val="0B1F33"/>
                </a:solidFill>
              </a:rPr>
              <a:t>Wood, G. 2014, </a:t>
            </a:r>
            <a:r>
              <a:rPr lang="en-US" sz="1000" i="1" dirty="0">
                <a:solidFill>
                  <a:srgbClr val="0B1F33"/>
                </a:solidFill>
              </a:rPr>
              <a:t>Ethereum: A secure decentralised generalised transaction ledger</a:t>
            </a:r>
            <a:r>
              <a:rPr lang="en-US" sz="1000" dirty="0">
                <a:solidFill>
                  <a:srgbClr val="0B1F33"/>
                </a:solidFill>
              </a:rPr>
              <a:t>, Ethereum Project Yellow Paper.</a:t>
            </a:r>
            <a:endParaRPr lang="en-US" sz="10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hanks"/>
          <p:cNvSpPr txBox="1"/>
          <p:nvPr/>
        </p:nvSpPr>
        <p:spPr>
          <a:xfrm>
            <a:off x="2286000" y="2377440"/>
            <a:ext cx="7589520" cy="128016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RO1 VALIDATION: TRUST-CENTRIC CONSENT MODEL</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361188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buNone/>
                      </a:pPr>
                      <a:r>
                        <a:rPr lang="en-US" sz="1400" b="1" dirty="0">
                          <a:solidFill>
                            <a:srgbClr val="FFFFFF"/>
                          </a:solidFill>
                        </a:rPr>
                        <a:t>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What it checks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Pass rule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0B1F33"/>
                          </a:solidFill>
                        </a:rPr>
                        <a:t>Live scenario 1 (Demo 1)</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The patient creates the consent object C: doctor, guardians, data scope, start and expiry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Consent created in state PENDING_SIGNATURE, nothing anchored yet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Scenario 1: consent created, creation event recorded in the audit ledger</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Input validation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Bad input: empty data scope, malformed guardian DID, expiry before start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Request rejected, no consent created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Rejected in the interface and in the service layer (A5 empty scope refused after hardening)</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Audit 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Every consent event is recorded with the consent id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Event present in the ledger</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Ledger of 24 September: 8 consent events in 60 events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Consent creation and the six components of C = (I, A, P, T, L, 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All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Pass (part of the 46 passing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Validation asks: does the consent model do what it should? The evidence comes from the live scenario of 24 September 2026, the input checks, the audit ledger and the automated tests.</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RO1 EVALUATION: TRUST-CENTRIC CONSENT MODEL</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2395728"/>
        </p:xfrm>
        <a:graphic>
          <a:graphicData uri="http://schemas.openxmlformats.org/drawingml/2006/table">
            <a:tbl>
              <a:tblPr/>
              <a:tblGrid>
                <a:gridCol w="3740467">
                  <a:extLst>
                    <a:ext uri="{9D8B030D-6E8A-4147-A177-3AD203B41FA5}">
                      <a16:colId xmlns:a16="http://schemas.microsoft.com/office/drawing/2014/main" val="20000"/>
                    </a:ext>
                  </a:extLst>
                </a:gridCol>
                <a:gridCol w="2210276">
                  <a:extLst>
                    <a:ext uri="{9D8B030D-6E8A-4147-A177-3AD203B41FA5}">
                      <a16:colId xmlns:a16="http://schemas.microsoft.com/office/drawing/2014/main" val="20001"/>
                    </a:ext>
                  </a:extLst>
                </a:gridCol>
                <a:gridCol w="1870233">
                  <a:extLst>
                    <a:ext uri="{9D8B030D-6E8A-4147-A177-3AD203B41FA5}">
                      <a16:colId xmlns:a16="http://schemas.microsoft.com/office/drawing/2014/main" val="20002"/>
                    </a:ext>
                  </a:extLst>
                </a:gridCol>
                <a:gridCol w="1870233">
                  <a:extLst>
                    <a:ext uri="{9D8B030D-6E8A-4147-A177-3AD203B41FA5}">
                      <a16:colId xmlns:a16="http://schemas.microsoft.com/office/drawing/2014/main" val="20003"/>
                    </a:ext>
                  </a:extLst>
                </a:gridCol>
                <a:gridCol w="1190148">
                  <a:extLst>
                    <a:ext uri="{9D8B030D-6E8A-4147-A177-3AD203B41FA5}">
                      <a16:colId xmlns:a16="http://schemas.microsoft.com/office/drawing/2014/main" val="20004"/>
                    </a:ext>
                  </a:extLst>
                </a:gridCol>
              </a:tblGrid>
              <a:tr h="475488">
                <a:tc>
                  <a:txBody>
                    <a:bodyPr/>
                    <a:lstStyle/>
                    <a:p>
                      <a:pPr marL="0" indent="0">
                        <a:buNone/>
                      </a:pPr>
                      <a:r>
                        <a:rPr lang="en-US" sz="1400" b="1" dirty="0">
                          <a:solidFill>
                            <a:srgbClr val="FFFFFF"/>
                          </a:solidFill>
                        </a:rPr>
                        <a:t>Component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Median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Min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Max</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0B1F33"/>
                          </a:solidFill>
                        </a:rPr>
                        <a:t>Decision rule over C, five predicates (11 Oct)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5.92 µs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5.36 µs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72.07 µs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1,000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B1F33"/>
                          </a:solidFill>
                        </a:rPr>
                        <a:t>On-chain checkValid read of the anchored 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573.5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568.2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715.5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B1F33"/>
                          </a:solidFill>
                        </a:rPr>
                        <a:t>On-chain checkValidAt read of the anchored 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574.6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568.2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745.6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Creating a consent costs nothing on-chain: the record is stored off-chain and anchored only after all guardians approve (see RO3). Evaluating the consent object takes about 6 microseconds; reading it back from Sepolia takes about 0.6 seconds.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47</a:t>
            </a:fld>
            <a:endParaRPr lang="en-US"/>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RO2 VALIDATION: DECENTRALISED IDENTITY AND AUTHORITY</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361188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buNone/>
                      </a:pPr>
                      <a:r>
                        <a:rPr lang="en-US" sz="1400" b="1" dirty="0">
                          <a:solidFill>
                            <a:srgbClr val="FFFFFF"/>
                          </a:solidFill>
                        </a:rPr>
                        <a:t>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What it checks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Pass rule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0B1F33"/>
                          </a:solidFill>
                        </a:rPr>
                        <a:t>Credential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Credential of each guardian before signing and of the doctor at access: signature, issuer, subject, validity time and role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Invalid credential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Refused (A13 invalid or forged credential, 11 October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Replayed signature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guardian signature taken from another 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Identity check fails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A2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Requester binding</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The DID entered by the doctor must hold a doctor credential and be the doctor named in the consent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VI fails otherwise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Refused and recorded in the ledger (11 October 2026)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Automated tests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7 credential tests, A2 and A13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All 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Pass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Identity (who are you) and authority (what may you do) are checked separately. Full DID resolution is planned for the next stage.</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RO2 EVALUATION: DECENTRALISED IDENTITY AND AUTHORITY</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1755648"/>
        </p:xfrm>
        <a:graphic>
          <a:graphicData uri="http://schemas.openxmlformats.org/drawingml/2006/table">
            <a:tbl>
              <a:tblPr/>
              <a:tblGrid>
                <a:gridCol w="3740467">
                  <a:extLst>
                    <a:ext uri="{9D8B030D-6E8A-4147-A177-3AD203B41FA5}">
                      <a16:colId xmlns:a16="http://schemas.microsoft.com/office/drawing/2014/main" val="20000"/>
                    </a:ext>
                  </a:extLst>
                </a:gridCol>
                <a:gridCol w="2210276">
                  <a:extLst>
                    <a:ext uri="{9D8B030D-6E8A-4147-A177-3AD203B41FA5}">
                      <a16:colId xmlns:a16="http://schemas.microsoft.com/office/drawing/2014/main" val="20001"/>
                    </a:ext>
                  </a:extLst>
                </a:gridCol>
                <a:gridCol w="1870233">
                  <a:extLst>
                    <a:ext uri="{9D8B030D-6E8A-4147-A177-3AD203B41FA5}">
                      <a16:colId xmlns:a16="http://schemas.microsoft.com/office/drawing/2014/main" val="20002"/>
                    </a:ext>
                  </a:extLst>
                </a:gridCol>
                <a:gridCol w="1870233">
                  <a:extLst>
                    <a:ext uri="{9D8B030D-6E8A-4147-A177-3AD203B41FA5}">
                      <a16:colId xmlns:a16="http://schemas.microsoft.com/office/drawing/2014/main" val="20003"/>
                    </a:ext>
                  </a:extLst>
                </a:gridCol>
                <a:gridCol w="1190148">
                  <a:extLst>
                    <a:ext uri="{9D8B030D-6E8A-4147-A177-3AD203B41FA5}">
                      <a16:colId xmlns:a16="http://schemas.microsoft.com/office/drawing/2014/main" val="20004"/>
                    </a:ext>
                  </a:extLst>
                </a:gridCol>
              </a:tblGrid>
              <a:tr h="475488">
                <a:tc>
                  <a:txBody>
                    <a:bodyPr/>
                    <a:lstStyle/>
                    <a:p>
                      <a:pPr marL="0" indent="0">
                        <a:buNone/>
                      </a:pPr>
                      <a:r>
                        <a:rPr lang="en-US" sz="1400" b="1" dirty="0">
                          <a:solidFill>
                            <a:srgbClr val="FFFFFF"/>
                          </a:solidFill>
                        </a:rPr>
                        <a:t>Component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Median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Min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Max</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0B1F33"/>
                          </a:solidFill>
                        </a:rPr>
                        <a:t>Credential check, one credential (11 Oct)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6.42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6.18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8.33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B1F33"/>
                          </a:solidFill>
                        </a:rPr>
                        <a:t>EIP-712 signature recovery, one signature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10.93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10.55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15.64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Checking one credential takes about 6 milliseconds and recovering one guardian signature about 11 milliseconds. Both are small next to the Groth16 proof of RO4. Measured on 11 October 2026 (credential) and 1 October 2026 (signature);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47</a:t>
            </a:fld>
            <a:endParaRPr lang="en-US"/>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RO3 VALIDATION: TRUSTWORTHY MULTI-PARTY AUTHORISATION</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438912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buNone/>
                      </a:pPr>
                      <a:r>
                        <a:rPr lang="en-US" sz="1400" b="1" dirty="0">
                          <a:solidFill>
                            <a:srgbClr val="FFFFFF"/>
                          </a:solidFill>
                        </a:rPr>
                        <a:t>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What it checks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Pass rule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0B1F33"/>
                          </a:solidFill>
                        </a:rPr>
                        <a:t>Live scenario 2 (Demo 2 and 3)</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Both guardians sign with EIP-712; the threshold N = |G| is reached and the token is minted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 of 2 signatures, token anchored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Scenario 2: 2 of 2 signed, token minted, anchored in the background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Signer outside G</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An approval signed by someone who is not a listed guardian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Not counted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A1 refused after hardening</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Duplicate approval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The same guardian approves twice to reach 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Not counted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A3 refused after hardening</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Contract ownership</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Mint or revoke by a non-owner, or a token transfer</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Transaction reverts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A12 refused (in-memory EVM)</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Independent check</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On-chain token state against the local consent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Local state = on-chain state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Scenario 6: all checks passed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No single guardian can approve alone when G has more than one member: every listed guardian must sign. In the prototype the guardian keys are derived from the guardian DIDs; wallet-held keys are for the next stage.</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RO3 EVALUATION: TRUSTWORTHY MULTI-PARTY AUTHORISATION</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1755648"/>
        </p:xfrm>
        <a:graphic>
          <a:graphicData uri="http://schemas.openxmlformats.org/drawingml/2006/table">
            <a:tbl>
              <a:tblPr/>
              <a:tblGrid>
                <a:gridCol w="3740467">
                  <a:extLst>
                    <a:ext uri="{9D8B030D-6E8A-4147-A177-3AD203B41FA5}">
                      <a16:colId xmlns:a16="http://schemas.microsoft.com/office/drawing/2014/main" val="20000"/>
                    </a:ext>
                  </a:extLst>
                </a:gridCol>
                <a:gridCol w="2210276">
                  <a:extLst>
                    <a:ext uri="{9D8B030D-6E8A-4147-A177-3AD203B41FA5}">
                      <a16:colId xmlns:a16="http://schemas.microsoft.com/office/drawing/2014/main" val="20001"/>
                    </a:ext>
                  </a:extLst>
                </a:gridCol>
                <a:gridCol w="1870233">
                  <a:extLst>
                    <a:ext uri="{9D8B030D-6E8A-4147-A177-3AD203B41FA5}">
                      <a16:colId xmlns:a16="http://schemas.microsoft.com/office/drawing/2014/main" val="20002"/>
                    </a:ext>
                  </a:extLst>
                </a:gridCol>
                <a:gridCol w="1870233">
                  <a:extLst>
                    <a:ext uri="{9D8B030D-6E8A-4147-A177-3AD203B41FA5}">
                      <a16:colId xmlns:a16="http://schemas.microsoft.com/office/drawing/2014/main" val="20003"/>
                    </a:ext>
                  </a:extLst>
                </a:gridCol>
                <a:gridCol w="1190148">
                  <a:extLst>
                    <a:ext uri="{9D8B030D-6E8A-4147-A177-3AD203B41FA5}">
                      <a16:colId xmlns:a16="http://schemas.microsoft.com/office/drawing/2014/main" val="20004"/>
                    </a:ext>
                  </a:extLst>
                </a:gridCol>
              </a:tblGrid>
              <a:tr h="475488">
                <a:tc>
                  <a:txBody>
                    <a:bodyPr/>
                    <a:lstStyle/>
                    <a:p>
                      <a:pPr marL="0" indent="0">
                        <a:buNone/>
                      </a:pPr>
                      <a:r>
                        <a:rPr lang="en-US" sz="1400" b="1" dirty="0">
                          <a:solidFill>
                            <a:srgbClr val="FFFFFF"/>
                          </a:solidFill>
                        </a:rPr>
                        <a:t>Component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Median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Min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Max</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0B1F33"/>
                          </a:solidFill>
                        </a:rPr>
                        <a:t>EIP-712 signature recovery, one signature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10.93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10.55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15.64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B1F33"/>
                          </a:solidFill>
                        </a:rPr>
                        <a:t>Anchoring confirmation on Sepolia</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11.5 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4.9 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22.1 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Gas used: mint #1 196,406; revoke #1 32,980. No fee above 0.00021 ETH. The mint runs in the background, so the guardians and the doctor do not wait for the block. Gas and anchoring from the five Sepolia transactions of September 2026;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RO4 VALIDATION: POLICY- AND CONTEXT-AWARE ACCESS CONTROL</a:t>
            </a:r>
            <a:endParaRPr lang="en-US" sz="3000" dirty="0"/>
          </a:p>
        </p:txBody>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640080" y="1188720"/>
          <a:ext cx="10881360" cy="438912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502920">
                <a:tc>
                  <a:txBody>
                    <a:bodyPr/>
                    <a:lstStyle/>
                    <a:p>
                      <a:pPr marL="0" indent="0">
                        <a:buNone/>
                      </a:pPr>
                      <a:r>
                        <a:rPr lang="en-US" sz="1400" b="1" dirty="0">
                          <a:solidFill>
                            <a:srgbClr val="FFFFFF"/>
                          </a:solidFill>
                        </a:rPr>
                        <a:t>Evidence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What it checks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Pass rule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Result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0B1F33"/>
                          </a:solidFill>
                        </a:rPr>
                        <a:t>Live scenario 3 (Demo 4 and 5)</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doctor request inside the agreed purpose and data scope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All five checks PASS and the Groth16 proof verifies: ALLOW, GRANTED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Five ledger rows of 24 September: all PASS, ALLOW, GRANTED, groth16</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Over-scope request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Requested data outside the authorised scope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A4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Empty scope</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request with no data module selected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A5 refused after hardening</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Policy context mismatch</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Requester declares a different jurisdiction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A7 refused; one live refusal on 24 September (Scenario 4)</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B1F33"/>
                          </a:solidFill>
                        </a:rPr>
                        <a:t>Tampered proof</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 changed Groth16 proof or public signal</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DENY</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A9 refused</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Only the records inside the authorised scope are released, and only after the proof verifies. Every decision, allowed or denied, is recorded with its decision matrix.</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44</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822960" y="228600"/>
            <a:ext cx="10515600" cy="73152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RO4 EVALUATION: POLICY- AND CONTEXT-AWARE ACCESS CONTROL</a:t>
            </a:r>
            <a:endParaRPr lang="en-US" sz="30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2395728"/>
        </p:xfrm>
        <a:graphic>
          <a:graphicData uri="http://schemas.openxmlformats.org/drawingml/2006/table">
            <a:tbl>
              <a:tblPr/>
              <a:tblGrid>
                <a:gridCol w="3740467">
                  <a:extLst>
                    <a:ext uri="{9D8B030D-6E8A-4147-A177-3AD203B41FA5}">
                      <a16:colId xmlns:a16="http://schemas.microsoft.com/office/drawing/2014/main" val="20000"/>
                    </a:ext>
                  </a:extLst>
                </a:gridCol>
                <a:gridCol w="2210276">
                  <a:extLst>
                    <a:ext uri="{9D8B030D-6E8A-4147-A177-3AD203B41FA5}">
                      <a16:colId xmlns:a16="http://schemas.microsoft.com/office/drawing/2014/main" val="20001"/>
                    </a:ext>
                  </a:extLst>
                </a:gridCol>
                <a:gridCol w="1870233">
                  <a:extLst>
                    <a:ext uri="{9D8B030D-6E8A-4147-A177-3AD203B41FA5}">
                      <a16:colId xmlns:a16="http://schemas.microsoft.com/office/drawing/2014/main" val="20002"/>
                    </a:ext>
                  </a:extLst>
                </a:gridCol>
                <a:gridCol w="1870233">
                  <a:extLst>
                    <a:ext uri="{9D8B030D-6E8A-4147-A177-3AD203B41FA5}">
                      <a16:colId xmlns:a16="http://schemas.microsoft.com/office/drawing/2014/main" val="20003"/>
                    </a:ext>
                  </a:extLst>
                </a:gridCol>
                <a:gridCol w="1190148">
                  <a:extLst>
                    <a:ext uri="{9D8B030D-6E8A-4147-A177-3AD203B41FA5}">
                      <a16:colId xmlns:a16="http://schemas.microsoft.com/office/drawing/2014/main" val="20004"/>
                    </a:ext>
                  </a:extLst>
                </a:gridCol>
              </a:tblGrid>
              <a:tr h="475488">
                <a:tc>
                  <a:txBody>
                    <a:bodyPr/>
                    <a:lstStyle/>
                    <a:p>
                      <a:pPr marL="0" indent="0">
                        <a:buNone/>
                      </a:pPr>
                      <a:r>
                        <a:rPr lang="en-US" sz="1400" b="1" dirty="0">
                          <a:solidFill>
                            <a:srgbClr val="FFFFFF"/>
                          </a:solidFill>
                        </a:rPr>
                        <a:t>Component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Median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Min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Max</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tc>
                  <a:txBody>
                    <a:bodyPr/>
                    <a:lstStyle/>
                    <a:p>
                      <a:pPr marL="0" indent="0">
                        <a:buNone/>
                      </a:pPr>
                      <a:r>
                        <a:rPr lang="en-US" sz="1400" b="1" dirty="0">
                          <a:solidFill>
                            <a:srgbClr val="FFFFFF"/>
                          </a:solidFill>
                        </a:rPr>
                        <a:t>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0B2A4A"/>
                    </a:solidFill>
                  </a:tcPr>
                </a:tc>
                <a:extLst>
                  <a:ext uri="{0D108BD9-81ED-4DB2-BD59-A6C34878D82A}">
                    <a16:rowId xmlns:a16="http://schemas.microsoft.com/office/drawing/2014/main" val="10000"/>
                  </a:ext>
                </a:extLst>
              </a:tr>
              <a:tr h="640080">
                <a:tc>
                  <a:txBody>
                    <a:bodyPr/>
                    <a:lstStyle/>
                    <a:p>
                      <a:pPr marL="0" indent="0">
                        <a:buNone/>
                      </a:pPr>
                      <a:r>
                        <a:rPr lang="en-US" sz="1400" b="1" dirty="0">
                          <a:solidFill>
                            <a:srgbClr val="0B1F33"/>
                          </a:solidFill>
                        </a:rPr>
                        <a:t>Decision rule, five predicates (11 Oct)</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5.92 µs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5.36 µs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72.07 µs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1,000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B1F33"/>
                          </a:solidFill>
                        </a:rPr>
                        <a:t>Groth16 proof generation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1,401.1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1,342.8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5,349.6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400" b="1" dirty="0">
                          <a:solidFill>
                            <a:srgbClr val="0B1F33"/>
                          </a:solidFill>
                        </a:rPr>
                        <a:t>Groth16 proof verification</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465.3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441.0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525.1 ms</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tc>
                  <a:txBody>
                    <a:bodyPr/>
                    <a:lstStyle/>
                    <a:p>
                      <a:pPr marL="0" indent="0">
                        <a:buNone/>
                      </a:pPr>
                      <a:r>
                        <a:rPr lang="en-US" sz="1400" dirty="0">
                          <a:solidFill>
                            <a:srgbClr val="0B1F33"/>
                          </a:solidFill>
                        </a:rPr>
                        <a:t>20</a:t>
                      </a:r>
                      <a:endParaRPr lang="en-US" sz="1400" dirty="0"/>
                    </a:p>
                  </a:txBody>
                  <a:tcPr marL="73152" marR="73152" marT="27432" marB="27432" anchor="ctr">
                    <a:lnL w="9525" cap="flat" cmpd="sng" algn="ctr">
                      <a:solidFill>
                        <a:srgbClr val="9FB3C8"/>
                      </a:solidFill>
                      <a:prstDash val="solid"/>
                      <a:round/>
                      <a:headEnd type="none" w="med" len="med"/>
                      <a:tailEnd type="none" w="med" len="med"/>
                    </a:lnL>
                    <a:lnR w="9525" cap="flat" cmpd="sng" algn="ctr">
                      <a:solidFill>
                        <a:srgbClr val="9FB3C8"/>
                      </a:solidFill>
                      <a:prstDash val="solid"/>
                      <a:round/>
                      <a:headEnd type="none" w="med" len="med"/>
                      <a:tailEnd type="none" w="med" len="med"/>
                    </a:lnR>
                    <a:lnT w="9525" cap="flat" cmpd="sng" algn="ctr">
                      <a:solidFill>
                        <a:srgbClr val="9FB3C8"/>
                      </a:solidFill>
                      <a:prstDash val="solid"/>
                      <a:round/>
                      <a:headEnd type="none" w="med" len="med"/>
                      <a:tailEnd type="none" w="med" len="med"/>
                    </a:lnT>
                    <a:lnB w="9525" cap="flat" cmpd="sng" algn="ctr">
                      <a:solidFill>
                        <a:srgbClr val="9FB3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8" name="caption"/>
          <p:cNvSpPr txBox="1"/>
          <p:nvPr/>
        </p:nvSpPr>
        <p:spPr>
          <a:xfrm>
            <a:off x="640080" y="5852160"/>
            <a:ext cx="10881360" cy="822960"/>
          </a:xfrm>
          <a:prstGeom prst="rect">
            <a:avLst/>
          </a:prstGeom>
          <a:noFill/>
          <a:ln/>
        </p:spPr>
        <p:txBody>
          <a:bodyPr wrap="square" rtlCol="0" anchor="t"/>
          <a:lstStyle/>
          <a:p>
            <a:pPr marL="0" indent="0" algn="ctr">
              <a:buNone/>
            </a:pPr>
            <a:r>
              <a:rPr lang="en-US" sz="1200" i="1" dirty="0">
                <a:solidFill>
                  <a:srgbClr val="FFFFFF"/>
                </a:solidFill>
              </a:rPr>
              <a:t>The decision rule itself is negligible; the Groth16 proof dominates an access request, about 1.9 seconds to generate and verify. Measured on 1 October 2026 (proof) and 11 October 2026 (decision rule); indicative only.</a:t>
            </a:r>
            <a:endParaRPr lang="en-US" sz="1200" dirty="0"/>
          </a:p>
        </p:txBody>
      </p:sp>
      <p:sp>
        <p:nvSpPr>
          <p:cNvPr id="25" name="Slide Number Placeholder 0"/>
          <p:cNvSpPr>
            <a:spLocks noGrp="1"/>
          </p:cNvSpPr>
          <p:nvPr>
            <p:ph type="sldNum" sz="quarter" idx="4294967295"/>
          </p:nvPr>
        </p:nvSpPr>
        <p:spPr>
          <a:xfrm>
            <a:off x="1138428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100">
                <a:solidFill>
                  <a:srgbClr val="FFFFFF"/>
                </a:solidFill>
              </a:defRPr>
            </a:lvl1pPr>
          </a:lstStyle>
          <a:p>
            <a:pPr algn="r"/>
            <a:fld id="{F7021451-1387-4CA6-816F-3879F97B5CBC}" type="slidenum">
              <a:rPr lang="en-US" b="0"/>
              <a:t>47</a:t>
            </a:fld>
            <a:endParaRPr lang="en-US"/>
          </a:p>
        </p:txBody>
      </p:sp>
    </p:spTree>
  </p:cSld>
  <p:clrMapOvr>
    <a:masterClrMapping/>
  </p:clrMapOvr>
</p:sld>
</file>

<file path=ppt/theme/theme1.xml><?xml version="1.0" encoding="utf-8"?>
<a:theme xmlns:a="http://schemas.openxmlformats.org/drawingml/2006/main" name="Trust Consent">
  <a:themeElements>
    <a:clrScheme name="Trust Consent">
      <a:dk1>
        <a:srgbClr val="0B1F33"/>
      </a:dk1>
      <a:lt1>
        <a:srgbClr val="FFFFFF"/>
      </a:lt1>
      <a:dk2>
        <a:srgbClr val="0B2A4A"/>
      </a:dk2>
      <a:lt2>
        <a:srgbClr val="E8F4F8"/>
      </a:lt2>
      <a:accent1>
        <a:srgbClr val="1FB5D6"/>
      </a:accent1>
      <a:accent2>
        <a:srgbClr val="0B2A4A"/>
      </a:accent2>
      <a:accent3>
        <a:srgbClr val="2E7D32"/>
      </a:accent3>
      <a:accent4>
        <a:srgbClr val="F2A900"/>
      </a:accent4>
      <a:accent5>
        <a:srgbClr val="C62828"/>
      </a:accent5>
      <a:accent6>
        <a:srgbClr val="5B6B7A"/>
      </a:accent6>
      <a:hlink>
        <a:srgbClr val="1FB5D6"/>
      </a:hlink>
      <a:folHlink>
        <a:srgbClr val="5B6B7A"/>
      </a:folHlink>
    </a:clrScheme>
    <a:fontScheme name="Trust Cons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565</TotalTime>
  <Words>21618</Words>
  <Application>Microsoft Office PowerPoint</Application>
  <PresentationFormat>Widescreen</PresentationFormat>
  <Paragraphs>1356</Paragraphs>
  <Slides>59</Slides>
  <Notes>58</Notes>
  <HiddenSlides>12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59</vt:i4>
      </vt:variant>
    </vt:vector>
  </HeadingPairs>
  <TitlesOfParts>
    <vt:vector size="64" baseType="lpstr">
      <vt:lpstr>Arial</vt:lpstr>
      <vt:lpstr>Calibri</vt:lpstr>
      <vt:lpstr>Cambria</vt:lpstr>
      <vt:lpstr>Times New Roman</vt:lpstr>
      <vt:lpstr>Trust Consent</vt:lpstr>
      <vt:lpstr>PowerPoint Presentation</vt:lpstr>
      <vt:lpstr>OUTLINE</vt:lpstr>
      <vt:lpstr>THE PROBLEM</vt:lpstr>
      <vt:lpstr>THE KEY IDEA</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LITERATURE REVIEW: WHAT I FOUND</vt:lpstr>
      <vt:lpstr>RESEARCH GAP</vt:lpstr>
      <vt:lpstr>MAIN RESEARCH QUESTION</vt:lpstr>
      <vt:lpstr>SUB RESEARCH QUESTIONS</vt:lpstr>
      <vt:lpstr>RESEARCH OBJECTIVES</vt:lpstr>
      <vt:lpstr>RESEARCH METHODOLOGY</vt:lpstr>
      <vt:lpstr>PowerPoint Presentation</vt:lpstr>
      <vt:lpstr>Research Methodology </vt:lpstr>
      <vt:lpstr>THE FRAMEWORK: ARCHITECTURE</vt:lpstr>
      <vt:lpstr>THE FRAMEWORK: THE DECISION RULE</vt:lpstr>
      <vt:lpstr>Proposed solution for objective 1</vt:lpstr>
      <vt:lpstr>RO1: Trust-Centric Consent Model</vt:lpstr>
      <vt:lpstr>Proposed solution for objective 2</vt:lpstr>
      <vt:lpstr>RO2: Decentralised Identity and Authority Trust</vt:lpstr>
      <vt:lpstr>Proposed solution for objective 3</vt:lpstr>
      <vt:lpstr>RO3: Trustworthy Multi-Party Authorisation</vt:lpstr>
      <vt:lpstr>Proposed solution for objective 4</vt:lpstr>
      <vt:lpstr>RO4: Policy- and Context-Aware Access Control</vt:lpstr>
      <vt:lpstr>Proposed solution for objective 5 مختصر </vt:lpstr>
      <vt:lpstr>RO5: Temporal and Lifecycle Trust</vt:lpstr>
      <vt:lpstr>Proposed solution for objective 6</vt:lpstr>
      <vt:lpstr>THE HALAH PROTOTYPE</vt:lpstr>
      <vt:lpstr>DEMO 1: THE PATIENT CREATES THE CONSENT</vt:lpstr>
      <vt:lpstr>DEMO 2: THE FIRST GUARDIAN APPROVES</vt:lpstr>
      <vt:lpstr>DEMO 4: THE DOCTOR IS ALLOWED</vt:lpstr>
      <vt:lpstr>DEMO 3: SECOND APPROVAL, TOKEN MINTED</vt:lpstr>
      <vt:lpstr>DEMO 5: ONLY THE AUTHORISED RECORDS</vt:lpstr>
      <vt:lpstr>RO6: Formal Security Assurance and Empirical Validation</vt:lpstr>
      <vt:lpstr>VALIDATION</vt:lpstr>
      <vt:lpstr>VALIDATION: THE RECORDED DECISIONS</vt:lpstr>
      <vt:lpstr>VALIDATION: THIRTEEN ATTACK SCENARIOS</vt:lpstr>
      <vt:lpstr>EVALUATION: HOW FAST AND HOW MUCH?</vt:lpstr>
      <vt:lpstr>WHAT IS DIFFERENT FROM TODAY'S SYSTEMS</vt:lpstr>
      <vt:lpstr>DATASET</vt:lpstr>
      <vt:lpstr>SIGNIFICANCE OF THE RESEARCH تتغير </vt:lpstr>
      <vt:lpstr>SIGNIFICANCE OF THE RESEARCHتتغير </vt:lpstr>
      <vt:lpstr>WHAT IS STILL OPEN</vt:lpstr>
      <vt:lpstr>RESEARCH PUBLICATIONS</vt:lpstr>
      <vt:lpstr>RESEARCH PLAN</vt:lpstr>
      <vt:lpstr>RESEARCH TIMELINE</vt:lpstr>
      <vt:lpstr>DEMO 6: THE AUDITOR FOLLOWS THE CONSENT</vt:lpstr>
      <vt:lpstr>DEMO 7 (OPTIONAL): REVOKING THE CONSENT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Trusted Authorisation Framework for Multi-Party Patient Consent in Healthcare Data Sharing</dc:title>
  <dc:subject>Candidature Reassessment</dc:subject>
  <dc:creator>Yasir Dhaifallah O Alyoubi</dc:creator>
  <cp:lastModifiedBy>Yasir Dhaifallah O Alyoubi</cp:lastModifiedBy>
  <cp:revision>11</cp:revision>
  <dcterms:created xsi:type="dcterms:W3CDTF">2026-10-12T13:53:28Z</dcterms:created>
  <dcterms:modified xsi:type="dcterms:W3CDTF">2026-10-13T15:53:14Z</dcterms:modified>
</cp:coreProperties>
</file>
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8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942778-0A59-C3A1-24F4-DFEFB294A139}">
          <p14:sldIdLst>
            <p14:sldId id="256"/>
            <p14:sldId id="257"/>
          </p14:sldIdLst>
        </p14:section>
        <p14:section name="The Problem" id="{96F6FDF1-3C7D-C7BC-4CB4-44E808112E56}">
          <p14:sldIdLst>
            <p14:sldId id="258"/>
            <p14:sldId id="259"/>
          </p14:sldIdLst>
        </p14:section>
        <p14:section name="Literature Review" id="{AA021B7A-1D89-DD7B-6EEA-931123681486}">
          <p14:sldIdLst>
            <p14:sldId id="415"/>
            <p14:sldId id="305"/>
            <p14:sldId id="306"/>
            <p14:sldId id="309"/>
            <p14:sldId id="414"/>
            <p14:sldId id="312"/>
            <p14:sldId id="313"/>
          </p14:sldIdLst>
        </p14:section>
        <p14:section name="Gap, Questions and Objectives" id="{ACB741F8-7344-E54E-3520-6B498F895C17}">
          <p14:sldIdLst>
            <p14:sldId id="262"/>
            <p14:sldId id="302"/>
            <p14:sldId id="263"/>
            <p14:sldId id="264"/>
            <p14:sldId id="410"/>
          </p14:sldIdLst>
        </p14:section>
        <p14:section name="The Framework" id="{4674AA55-3218-DA15-E297-A596FB9CE1A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</p14:sldIdLst>
        </p14:section>
        <p14:section name="Demo: The HALAH Prototype" id="{611104C4-4282-3E95-1D48-D00FE3F4F3EA}">
          <p14:sldIdLst>
            <p14:sldId id="413"/>
            <p14:sldId id="293"/>
            <p14:sldId id="294"/>
            <p14:sldId id="295"/>
            <p14:sldId id="296"/>
            <p14:sldId id="297"/>
          </p14:sldIdLst>
        </p14:section>
        <p14:section name="Validation and Evaluation" id="{38214D88-01AF-845D-D65A-C9A4BC2C85DF}">
          <p14:sldIdLst>
            <p14:sldId id="280"/>
            <p14:sldId id="281"/>
            <p14:sldId id="282"/>
          </p14:sldIdLst>
        </p14:section>
        <p14:section name="Contribution" id="{EB11EB97-8735-E73D-577A-B2BB861A5EB4}">
          <p14:sldIdLst>
            <p14:sldId id="284"/>
            <p14:sldId id="416"/>
            <p14:sldId id="412"/>
            <p14:sldId id="411"/>
          </p14:sldIdLst>
        </p14:section>
        <p14:section name="Research Plan" id="{1F39EFB8-3D03-66B5-86E7-768BA670C7C2}">
          <p14:sldIdLst>
            <p14:sldId id="289"/>
            <p14:sldId id="290"/>
            <p14:sldId id="291"/>
          </p14:sldIdLst>
        </p14:section>
        <p14:section name="References" id="{40AA16BB-153B-BBB1-53BB-0EB6F21829F3}">
          <p14:sldIdLst>
            <p14:sldId id="300"/>
          </p14:sldIdLst>
        </p14:section>
        <p14:section name="Thank You" id="{FD86D728-DF0D-F8E8-99EB-24A0646BFE0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8954" autoAdjust="0"/>
  </p:normalViewPr>
  <p:slideViewPr>
    <p:cSldViewPr snapToGrid="0" snapToObjects="1">
      <p:cViewPr varScale="1">
        <p:scale>
          <a:sx n="65" d="100"/>
          <a:sy n="65" d="100"/>
        </p:scale>
        <p:origin x="470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8467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9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lists the technologies used in the HALAH prototype, grouped by type.</a:t>
            </a:r>
          </a:p>
          <a:p>
            <a:r>
              <a:t>The system is written in Python, with a Streamlit web interface and an SQLite database, and it runs in GitHub Codespaces. Identities use DIDs and verifiable credentials, guardians sign with EIP-712, and the access proof is a Groth16 proof built with circom and snarkjs. The consent state is also recorded on the Ethereum Sepolia test network.</a:t>
            </a:r>
          </a:p>
          <a:p>
            <a:r>
              <a:t>The data are the synthetic Synthea records, and the system is tested with pytest: 46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376-6A6A-8841-B7E4-1F35C224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F4E9-2DE5-D7EB-95B3-8E54FB2A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98B3-BB9B-B6BB-C9C0-D35E1106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13-ADD8-45A6-BA20-4C35DCF1F406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D850-541D-4EC8-9030-D6F5264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99EC-2238-CBDA-CDDF-7C2C97A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ADC8E-7141-4E37-96AF-0E1D097C06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6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TECHNOLOGIES USED IN THE HALAH PROTOTYPE</a:t>
            </a:r>
            <a:endParaRPr lang="en-US" sz="30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32798"/>
              </p:ext>
            </p:extLst>
          </p:nvPr>
        </p:nvGraphicFramePr>
        <p:xfrm>
          <a:off x="640080" y="1280160"/>
          <a:ext cx="10881360" cy="4930000"/>
        </p:xfrm>
        <a:graphic>
          <a:graphicData uri="http://schemas.openxmlformats.org/drawingml/2006/table">
            <a:tbl>
              <a:tblPr/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1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Used in HALAH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Used to write the code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Python (the system), Solidity (the smart contract), circom (the proof circuit)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Platform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Where the system runs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GitHub Codespaces (Linux cloud), Python 3.11 and Node.js 20 runtimes, web browser, Ethereum Sepolia test network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Software used to build, run or test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Streamlit (interface), SQLite (database), snarkjs (proof), pytest (46 tests), Playwright (screen runs), Remix IDE, MetaMask, Etherscan, eth-tester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Library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Ready-made code inside the system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pandas, web3.py, eth-account, OpenZeppelin, circomlib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Protocol / standard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Agreed rules for how something works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DID and VC (W3C identity), EIP-712 (signed approval), Groth16 (zero-knowledge proof), ERC-721 and ERC-5484 (soulbound token)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A calculation method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SHA-256 (audit digest), Poseidon (hash inside the proof)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Design pattern, data and file format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MVC (architecture pattern), Synthea 1K (synthetic dataset), CSV (file format)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 Consent">
  <a:themeElements>
    <a:clrScheme name="Trust Consent">
      <a:dk1>
        <a:srgbClr val="0B1F33"/>
      </a:dk1>
      <a:lt1>
        <a:srgbClr val="FFFFFF"/>
      </a:lt1>
      <a:dk2>
        <a:srgbClr val="0B2A4A"/>
      </a:dk2>
      <a:lt2>
        <a:srgbClr val="E8F4F8"/>
      </a:lt2>
      <a:accent1>
        <a:srgbClr val="1FB5D6"/>
      </a:accent1>
      <a:accent2>
        <a:srgbClr val="0B2A4A"/>
      </a:accent2>
      <a:accent3>
        <a:srgbClr val="2E7D32"/>
      </a:accent3>
      <a:accent4>
        <a:srgbClr val="F2A900"/>
      </a:accent4>
      <a:accent5>
        <a:srgbClr val="C62828"/>
      </a:accent5>
      <a:accent6>
        <a:srgbClr val="5B6B7A"/>
      </a:accent6>
      <a:hlink>
        <a:srgbClr val="1FB5D6"/>
      </a:hlink>
      <a:folHlink>
        <a:srgbClr val="5B6B7A"/>
      </a:folHlink>
    </a:clrScheme>
    <a:fontScheme name="Trust Cons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11256</Words>
  <Application>Microsoft Office PowerPoint</Application>
  <PresentationFormat>Widescreen</PresentationFormat>
  <Paragraphs>1047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Cambria</vt:lpstr>
      <vt:lpstr>Trust Consent</vt:lpstr>
      <vt:lpstr>PowerPoint Presentation</vt:lpstr>
      <vt:lpstr>OUTLINE</vt:lpstr>
      <vt:lpstr>THE RESEARCH PROBLEM</vt:lpstr>
      <vt:lpstr>THE KEY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MAIN RESEARCH QUESTION</vt:lpstr>
      <vt:lpstr>SUB-RESEARCH QUESTIONS</vt:lpstr>
      <vt:lpstr>RESEARCH OBJECTIVES</vt:lpstr>
      <vt:lpstr>Research Methodology </vt:lpstr>
      <vt:lpstr>FRAMEWORK ARCHITECTURE</vt:lpstr>
      <vt:lpstr>THE DECISION RULE</vt:lpstr>
      <vt:lpstr>Proposed solution for objective 1</vt:lpstr>
      <vt:lpstr>RO1: Trust-Centric Consent Model</vt:lpstr>
      <vt:lpstr>Proposed solution for objective 2</vt:lpstr>
      <vt:lpstr>RO2: Decentralised Identity and Authority Trust</vt:lpstr>
      <vt:lpstr>Proposed solution for objective 3</vt:lpstr>
      <vt:lpstr>RO3: Trustworthy Multi-Party Authorisation</vt:lpstr>
      <vt:lpstr>Proposed solution for objective 4</vt:lpstr>
      <vt:lpstr>RO4: Policy- and Context-Aware Access Control</vt:lpstr>
      <vt:lpstr>Proposed solution for objective 5</vt:lpstr>
      <vt:lpstr>Proposed solution for objective 6</vt:lpstr>
      <vt:lpstr>THE HALAH PROTOTYPE</vt:lpstr>
      <vt:lpstr>DEMO 1: THE PATIENT CREATES THE CONSENT</vt:lpstr>
      <vt:lpstr>DEMO 2: THE FIRST GUARDIAN APPROVES</vt:lpstr>
      <vt:lpstr>DEMO 3: SECOND APPROVAL, TOKEN MINTED</vt:lpstr>
      <vt:lpstr>DEMO 4: THE DOCTOR IS ALLOWED</vt:lpstr>
      <vt:lpstr>DEMO 5: ONLY THE AUTHORISED RECORDS</vt:lpstr>
      <vt:lpstr>VALIDATION</vt:lpstr>
      <vt:lpstr>VALIDATION: THE RECORDED DECISIONS</vt:lpstr>
      <vt:lpstr>VALIDATION: ATTACK SCENARIOS</vt:lpstr>
      <vt:lpstr>Traditional EHR vs. HALAH Framework</vt:lpstr>
      <vt:lpstr>DATASET OVERVIEW</vt:lpstr>
      <vt:lpstr>RESEARCH CONTRIBUTIONS </vt:lpstr>
      <vt:lpstr>RESEARCH CONTRIBUTIONS </vt:lpstr>
      <vt:lpstr>RESEARCH PUBLICATIONS</vt:lpstr>
      <vt:lpstr>RESEARCH PLAN</vt:lpstr>
      <vt:lpstr>RESEARCH TIMELINE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Trusted Authorisation Framework for Multi-Party Patient Consent in Healthcare Data Sharing</dc:title>
  <dc:subject>Candidature Reassessment</dc:subject>
  <dc:creator>Yasir Dhaifallah O Alyoubi</dc:creator>
  <cp:lastModifiedBy>Yasir Dhaifallah O Alyoubi</cp:lastModifiedBy>
  <cp:revision>31</cp:revision>
  <dcterms:created xsi:type="dcterms:W3CDTF">2026-10-12T13:53:28Z</dcterms:created>
  <dcterms:modified xsi:type="dcterms:W3CDTF">2026-10-15T07:20:08Z</dcterms:modified>
</cp:coreProperties>
</file>
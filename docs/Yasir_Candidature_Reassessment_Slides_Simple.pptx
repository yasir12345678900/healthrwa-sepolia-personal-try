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0db63924-dfcb-8bae-babd-4e9c94812126}">
          <p14:sldIdLst>
            <p14:sldId id="256"/>
            <p14:sldId id="257"/>
          </p14:sldIdLst>
        </p14:section>
        <p14:section name="The Problem" id="{14a23cb0-6751-192d-2f4f-a2e7394b16e4}">
          <p14:sldIdLst>
            <p14:sldId id="258"/>
            <p14:sldId id="259"/>
          </p14:sldIdLst>
        </p14:section>
        <p14:section name="Literature Review" id="{0a52b76f-aadc-1d39-26f1-0dc2f89b0ec6}">
          <p14:sldIdLst>
            <p14:sldId id="260"/>
            <p14:sldId id="261"/>
          </p14:sldIdLst>
        </p14:section>
        <p14:section name="Gap, Questions and Objectives" id="{8d11a26d-e524-9514-13e8-46619ba2237a}">
          <p14:sldIdLst>
            <p14:sldId id="262"/>
            <p14:sldId id="263"/>
            <p14:sldId id="264"/>
            <p14:sldId id="265"/>
          </p14:sldIdLst>
        </p14:section>
        <p14:section name="The Framework" id="{311715b6-ab4b-fd84-5e94-c02667e32161}">
          <p14:sldIdLst>
            <p14:sldId id="266"/>
            <p14:sldId id="267"/>
            <p14:sldId id="268"/>
            <p14:sldId id="269"/>
            <p14:sldId id="270"/>
            <p14:sldId id="271"/>
            <p14:sldId id="272"/>
            <p14:sldId id="273"/>
          </p14:sldIdLst>
        </p14:section>
        <p14:section name="Validation and Evaluation" id="{85334130-bb6a-6e81-9210-34a141bc93d5}">
          <p14:sldIdLst>
            <p14:sldId id="274"/>
            <p14:sldId id="275"/>
            <p14:sldId id="276"/>
            <p14:sldId id="277"/>
          </p14:sldIdLst>
        </p14:section>
        <p14:section name="Contribution" id="{4982ce8c-8a31-80a3-8c1b-634e9bcc6179}">
          <p14:sldIdLst>
            <p14:sldId id="278"/>
            <p14:sldId id="279"/>
            <p14:sldId id="280"/>
            <p14:sldId id="281"/>
          </p14:sldIdLst>
        </p14:section>
        <p14:section name="What is Still Open" id="{8b5e0d9c-21de-53c3-b98c-dbc38bc9adb7}">
          <p14:sldIdLst>
            <p14:sldId id="282"/>
          </p14:sldIdLst>
        </p14:section>
        <p14:section name="Research Plan" id="{f14daec4-52af-fb44-aa4b-ef5f3435f932}">
          <p14:sldIdLst>
            <p14:sldId id="283"/>
            <p14:sldId id="284"/>
          </p14:sldIdLst>
        </p14:section>
        <p14:section name="Demo: The HALAH Prototype" id="{8ad298e1-1bf6-8533-0433-f6a9ce147196}">
          <p14:sldIdLst>
            <p14:sldId id="285"/>
            <p14:sldId id="286"/>
            <p14:sldId id="287"/>
            <p14:sldId id="288"/>
            <p14:sldId id="289"/>
            <p14:sldId id="290"/>
            <p14:sldId id="291"/>
            <p14:sldId id="292"/>
            <p14:sldId id="293"/>
            <p14:sldId id="294"/>
          </p14:sldIdLst>
        </p14:section>
        <p14:section name="References" id="{26f894d1-f828-f810-c924-419676b386d0}">
          <p14:sldIdLst>
            <p14:sldId id="295"/>
            <p14:sldId id="296"/>
            <p14:sldId id="297"/>
          </p14:sldIdLst>
        </p14:section>
        <p14:section name="Thank You" id="{6ea36308-9283-ce72-e602-7420fec40360}">
          <p14:sldIdLst>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 the questions and the objectives. After that, the framework and its six steps. Then the validation and the evaluation results, and the significance of the research. Then I talk about what is still open and the research plan. At the end, I show a demonstration of the prototype through the slides: the life of a consent, from the day it is created to the day it is revoked, with real screens from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has been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authorisation: which guardians must approve, and how many. P is policy: the purpose and the data that was agreed. T is time: when the consent starts and when it ends. L is lifecycle: the state of the consent, from creation to expiry or revocation.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went on to the abstract stage, and 2,541 of them were screened. Then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The suspended state, the transition check,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research gap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 If any one check fails, the answer is DENY. In the prototype, a Groth16 zero-knowledge proof must also pass before any data is released. And every access decision, allowed or denied, is written to the off-chain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and the start and end time. The system checks every field. For example, an empty data scope or a bad guardian DID is rejected. Then the system creates the consent object, assigns a consent identifier, persists the record, and records the creation event in the audit layer.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In the HALAH implementation, the guardian workflow uses a selected guardian DID and invokes VC verification before adding the guardian's signature to the consent. Full DID resolution is planned for the next stage.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and duplicates are not counted, and a signature replayed from another consent fails the identity check.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lifecycle state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In the design, L is the lifecycle state: created, pending, active, suspended, revoked or expired, and VL checks a valid state and a valid transition. What is still open: the suspended state,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46 automated tests pass, including thirteen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was refused. Attack scenarios: twelve of thirteen attacks are refused. Automated tests: all 46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All five rows are allowed requests: all five checks PASS, the decision is ALLOW, access is GRANTED, and the proof mode is Groth16. 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thirteen times, A1 to A13.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five checks of the decision rule take about 6 microseconds, and checking one credential about 6 milliseconds. 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 The timings were measured on the first of October 2026; the decision rule and the credential check on the eleventh of October, after the credential check was added.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access decision, allowed or denied, is logged off-chain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pseudonymous addresses, a hash of the purpose, the validity window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the life of a consent, from creation to revocation, with real screens from the prototype.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and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Then the five checks run: VI, VA, VP, VT and VL.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six.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seven.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eight.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nine,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Lifecycle</a:t>
            </a:r>
            <a:endParaRPr lang="en-US" sz="1900" dirty="0"/>
          </a:p>
          <a:p>
            <a:pPr indent="0" marL="0">
              <a:spcAft>
                <a:spcPts val="400"/>
              </a:spcAft>
              <a:buNone/>
            </a:pPr>
            <a:r>
              <a:rPr lang="en-US" sz="1600" dirty="0">
                <a:solidFill>
                  <a:srgbClr val="0B1F33"/>
                </a:solidFill>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RO1: </a:t>
            </a:r>
            <a:r>
              <a:rPr lang="en-US" sz="1700" b="1" i="1" dirty="0">
                <a:solidFill>
                  <a:srgbClr val="1FB5D6"/>
                </a:solidFill>
              </a:rPr>
              <a:t>Trust-Centric Consent Model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FFFFFF"/>
                </a:solidFill>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8156448" y="1005840"/>
            <a:ext cx="2706624" cy="5532120"/>
          </a:xfrm>
          <a:prstGeom prst="roundRect">
            <a:avLst>
              <a:gd name="adj" fmla="val 405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RO2: </a:t>
            </a:r>
            <a:r>
              <a:rPr lang="en-US" sz="1700" b="1" i="1" dirty="0">
                <a:solidFill>
                  <a:srgbClr val="1FB5D6"/>
                </a:solidFill>
              </a:rPr>
              <a:t>Decentralised Identity and Authority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FFFFFF"/>
                </a:solidFill>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RO3: </a:t>
            </a:r>
            <a:r>
              <a:rPr lang="en-US" sz="1700" b="1" i="1" dirty="0">
                <a:solidFill>
                  <a:srgbClr val="1FB5D6"/>
                </a:solidFill>
              </a:rPr>
              <a:t>Trustworthy Multi-Party Authorisation</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and duplicates are not counted; a signature replayed from another consent fails the identity check.</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RO4: </a:t>
            </a:r>
            <a:r>
              <a:rPr lang="en-US" sz="1700" b="1" i="1" dirty="0">
                <a:solidFill>
                  <a:srgbClr val="1FB5D6"/>
                </a:solidFill>
              </a:rPr>
              <a:t>Policy- and Context-Aware Access Control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FFFFFF"/>
                </a:solidFill>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8321040" y="1005840"/>
            <a:ext cx="2386584" cy="5532120"/>
          </a:xfrm>
          <a:prstGeom prst="roundRect">
            <a:avLst>
              <a:gd name="adj" fmla="val 459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432181"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RO5: </a:t>
            </a:r>
            <a:r>
              <a:rPr lang="en-US" sz="1700" b="1" i="1" dirty="0">
                <a:solidFill>
                  <a:srgbClr val="1FB5D6"/>
                </a:solidFill>
              </a:rPr>
              <a:t>Temporal and Lifecycle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FFFFFF"/>
                </a:solidFill>
              </a:rPr>
              <a:t>the SUSPENDED state,</a:t>
            </a:r>
            <a:r>
              <a:rPr lang="en-US" sz="1600" dirty="0">
                <a:solidFill>
                  <a:srgbClr val="FFFFFF"/>
                </a:solidFill>
              </a:rPr>
              <a:t> the lifecycle transition check, consent modification, delegation, guardian-set changes and a formal lifecycle model.</a:t>
            </a:r>
            <a:endParaRPr lang="en-US" sz="1600" dirty="0"/>
          </a:p>
        </p:txBody>
      </p:sp>
      <p:sp>
        <p:nvSpPr>
          <p:cNvPr id="8" name="F35 panel"/>
          <p:cNvSpPr/>
          <p:nvPr/>
        </p:nvSpPr>
        <p:spPr>
          <a:xfrm>
            <a:off x="7964424" y="1005840"/>
            <a:ext cx="3099816" cy="5532120"/>
          </a:xfrm>
          <a:prstGeom prst="roundRect">
            <a:avLst>
              <a:gd name="adj" fmla="val 354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8074719"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RO6: </a:t>
            </a:r>
            <a:r>
              <a:rPr lang="en-US" sz="1700" b="1" i="1" dirty="0">
                <a:solidFill>
                  <a:srgbClr val="1FB5D6"/>
                </a:solidFill>
              </a:rPr>
              <a:t>Formal Security Assurance and Empirical Validation</a:t>
            </a:r>
            <a:endParaRPr lang="en-US" sz="17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46 automated tests pass, including 13 attack scenarios A1 to A13.</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810512"/>
            <a:ext cx="4023360" cy="3922776"/>
          </a:xfrm>
          <a:prstGeom prst="roundRect">
            <a:avLst>
              <a:gd name="adj" fmla="val 279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8271" y="1920240"/>
            <a:ext cx="3802979" cy="3703320"/>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THIRTEEN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38328">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38328">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86868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FFFFFF"/>
                </a:solidFill>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FFFFFF"/>
                </a:solidFill>
              </a:rPr>
              <a:t>A authorisation</a:t>
            </a:r>
            <a:r>
              <a:rPr lang="en-US" sz="950" i="1" dirty="0">
                <a:solidFill>
                  <a:srgbClr val="FFFFFF"/>
                </a:solidFill>
              </a:rPr>
              <a:t>, P policy and scope, T time, </a:t>
            </a:r>
            <a:r>
              <a:rPr lang="en-US" sz="950" i="1" dirty="0">
                <a:solidFill>
                  <a:srgbClr val="FFFFFF"/>
                </a:solidFill>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a:t>
            </a:r>
            <a:r>
              <a:rPr lang="en-US" sz="2000" b="1" dirty="0">
                <a:solidFill>
                  <a:srgbClr val="FFFFFF"/>
                </a:solidFill>
              </a:rPr>
              <a:t>shifts the focus</a:t>
            </a:r>
            <a:r>
              <a:rPr lang="en-US" sz="2000" dirty="0">
                <a:solidFill>
                  <a:srgbClr val="FFFFFF"/>
                </a:solidFill>
              </a:rPr>
              <a:t> from determining </a:t>
            </a:r>
            <a:r>
              <a:rPr lang="en-US" sz="2000" b="1" dirty="0">
                <a:solidFill>
                  <a:srgbClr val="FFFFFF"/>
                </a:solidFill>
              </a:rPr>
              <a:t>whether consent has merely been recorded</a:t>
            </a:r>
            <a:r>
              <a:rPr lang="en-US" sz="2000" dirty="0">
                <a:solidFill>
                  <a:srgbClr val="FFFFFF"/>
                </a:solidFill>
              </a:rPr>
              <a:t> towards determining whether a data-access decision has been generated under </a:t>
            </a:r>
            <a:r>
              <a:rPr lang="en-US" sz="2000" b="1" dirty="0">
                <a:solidFill>
                  <a:srgbClr val="FFFFFF"/>
                </a:solidFill>
              </a:rPr>
              <a:t>sufficient and independently verifiable trust conditions</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brings </a:t>
            </a:r>
            <a:r>
              <a:rPr lang="en-US" sz="2000" b="1" dirty="0">
                <a:solidFill>
                  <a:srgbClr val="FFFFFF"/>
                </a:solidFill>
              </a:rPr>
              <a:t>identity, authority, multi-party approval, policy, time and lifecycle</a:t>
            </a:r>
            <a:r>
              <a:rPr lang="en-US" sz="2000" dirty="0">
                <a:solidFill>
                  <a:srgbClr val="FFFFFF"/>
                </a:solidFill>
              </a:rPr>
              <a:t> together in </a:t>
            </a:r>
            <a:r>
              <a:rPr lang="en-US" sz="2000" b="1" dirty="0">
                <a:solidFill>
                  <a:srgbClr val="FFFFFF"/>
                </a:solidFill>
              </a:rPr>
              <a:t>one access decision</a:t>
            </a:r>
            <a:r>
              <a:rPr lang="en-US" sz="2000" dirty="0">
                <a:solidFill>
                  <a:srgbClr val="FFFFFF"/>
                </a:solidFill>
              </a:rPr>
              <a:t> that is checked at </a:t>
            </a:r>
            <a:r>
              <a:rPr lang="en-US" sz="2000" b="1" dirty="0">
                <a:solidFill>
                  <a:srgbClr val="FFFFFF"/>
                </a:solidFill>
              </a:rPr>
              <a:t>every request</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a:t>
            </a:r>
            <a:r>
              <a:rPr lang="en-US" sz="2000" b="1" dirty="0">
                <a:solidFill>
                  <a:srgbClr val="FFFFFF"/>
                </a:solidFill>
              </a:rPr>
              <a:t>multi-party approval</a:t>
            </a:r>
            <a:r>
              <a:rPr lang="en-US" sz="2000" dirty="0">
                <a:solidFill>
                  <a:srgbClr val="FFFFFF"/>
                </a:solidFill>
              </a:rPr>
              <a:t> a standing condition of access: </a:t>
            </a:r>
            <a:r>
              <a:rPr lang="en-US" sz="2000" b="1" dirty="0">
                <a:solidFill>
                  <a:srgbClr val="FFFFFF"/>
                </a:solidFill>
              </a:rPr>
              <a:t>every listed guardian</a:t>
            </a:r>
            <a:r>
              <a:rPr lang="en-US" sz="2000" dirty="0">
                <a:solidFill>
                  <a:srgbClr val="FFFFFF"/>
                </a:solidFill>
              </a:rPr>
              <a:t> must sign with </a:t>
            </a:r>
            <a:r>
              <a:rPr lang="en-US" sz="2000" b="1" dirty="0">
                <a:solidFill>
                  <a:srgbClr val="FFFFFF"/>
                </a:solidFill>
              </a:rPr>
              <a:t>EIP-712</a:t>
            </a:r>
            <a:r>
              <a:rPr lang="en-US" sz="2000" dirty="0">
                <a:solidFill>
                  <a:srgbClr val="FFFFFF"/>
                </a:solidFill>
              </a:rPr>
              <a:t>, and </a:t>
            </a:r>
            <a:r>
              <a:rPr lang="en-US" sz="2000" b="1" dirty="0">
                <a:solidFill>
                  <a:srgbClr val="FFFFFF"/>
                </a:solidFill>
              </a:rPr>
              <a:t>no single party</a:t>
            </a:r>
            <a:r>
              <a:rPr lang="en-US" sz="2000" dirty="0">
                <a:solidFill>
                  <a:srgbClr val="FFFFFF"/>
                </a:solidFill>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It is built on a </a:t>
            </a:r>
            <a:r>
              <a:rPr lang="en-US" sz="2000" b="1" dirty="0">
                <a:solidFill>
                  <a:srgbClr val="FFFFFF"/>
                </a:solidFill>
              </a:rPr>
              <a:t>PRISMA 2020 review of 25 studies</a:t>
            </a:r>
            <a:r>
              <a:rPr lang="en-US" sz="2000" dirty="0">
                <a:solidFill>
                  <a:srgbClr val="FFFFFF"/>
                </a:solidFill>
              </a:rPr>
              <a:t> and tested in a </a:t>
            </a:r>
            <a:r>
              <a:rPr lang="en-US" sz="2000" b="1" dirty="0">
                <a:solidFill>
                  <a:srgbClr val="FFFFFF"/>
                </a:solidFill>
              </a:rPr>
              <a:t>working prototype on Sepolia</a:t>
            </a:r>
            <a:r>
              <a:rPr lang="en-US" sz="2000" dirty="0">
                <a:solidFill>
                  <a:srgbClr val="FFFFFF"/>
                </a:solidFill>
              </a:rPr>
              <a:t>, with </a:t>
            </a:r>
            <a:r>
              <a:rPr lang="en-US" sz="2000" b="1" dirty="0">
                <a:solidFill>
                  <a:srgbClr val="FFFFFF"/>
                </a:solidFill>
              </a:rPr>
              <a:t>measurements</a:t>
            </a:r>
            <a:r>
              <a:rPr lang="en-US" sz="2000" dirty="0">
                <a:solidFill>
                  <a:srgbClr val="FFFFFF"/>
                </a:solidFill>
              </a:rPr>
              <a:t> and </a:t>
            </a:r>
            <a:r>
              <a:rPr lang="en-US" sz="2000" b="1" dirty="0">
                <a:solidFill>
                  <a:srgbClr val="FFFFFF"/>
                </a:solidFill>
              </a:rPr>
              <a:t>thirteen attack scenarios</a:t>
            </a:r>
            <a:r>
              <a:rPr lang="en-US" sz="2000" dirty="0">
                <a:solidFill>
                  <a:srgbClr val="FFFFFF"/>
                </a:solidFill>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gives </a:t>
            </a:r>
            <a:r>
              <a:rPr lang="en-US" sz="2000" b="1" dirty="0">
                <a:solidFill>
                  <a:srgbClr val="FFFFFF"/>
                </a:solidFill>
              </a:rPr>
              <a:t>patients and their guardians</a:t>
            </a:r>
            <a:r>
              <a:rPr lang="en-US" sz="2000" dirty="0">
                <a:solidFill>
                  <a:srgbClr val="FFFFFF"/>
                </a:solidFill>
              </a:rPr>
              <a:t> a direct role in deciding </a:t>
            </a:r>
            <a:r>
              <a:rPr lang="en-US" sz="2000" b="1" dirty="0">
                <a:solidFill>
                  <a:srgbClr val="FFFFFF"/>
                </a:solidFill>
              </a:rPr>
              <a:t>who can see the patient's data</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prevents </a:t>
            </a:r>
            <a:r>
              <a:rPr lang="en-US" sz="2000" b="1" dirty="0">
                <a:solidFill>
                  <a:srgbClr val="FFFFFF"/>
                </a:solidFill>
              </a:rPr>
              <a:t>a single person</a:t>
            </a:r>
            <a:r>
              <a:rPr lang="en-US" sz="2000" dirty="0">
                <a:solidFill>
                  <a:srgbClr val="FFFFFF"/>
                </a:solidFill>
              </a:rPr>
              <a:t> from authorising access to </a:t>
            </a:r>
            <a:r>
              <a:rPr lang="en-US" sz="2000" b="1" dirty="0">
                <a:solidFill>
                  <a:srgbClr val="FFFFFF"/>
                </a:solidFill>
              </a:rPr>
              <a:t>sensitive health data alone</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every access decision </a:t>
            </a:r>
            <a:r>
              <a:rPr lang="en-US" sz="2000" b="1" dirty="0">
                <a:solidFill>
                  <a:srgbClr val="FFFFFF"/>
                </a:solidFill>
              </a:rPr>
              <a:t>explainable to auditors</a:t>
            </a:r>
            <a:r>
              <a:rPr lang="en-US" sz="2000" dirty="0">
                <a:solidFill>
                  <a:srgbClr val="FFFFFF"/>
                </a:solidFill>
              </a:rPr>
              <a:t>: which check </a:t>
            </a:r>
            <a:r>
              <a:rPr lang="en-US" sz="2000" b="1" dirty="0">
                <a:solidFill>
                  <a:srgbClr val="FFFFFF"/>
                </a:solidFill>
              </a:rPr>
              <a:t>passed</a:t>
            </a:r>
            <a:r>
              <a:rPr lang="en-US" sz="2000" dirty="0">
                <a:solidFill>
                  <a:srgbClr val="FFFFFF"/>
                </a:solidFill>
              </a:rPr>
              <a:t> and which </a:t>
            </a:r>
            <a:r>
              <a:rPr lang="en-US" sz="2000" b="1" dirty="0">
                <a:solidFill>
                  <a:srgbClr val="FFFFFF"/>
                </a:solidFill>
              </a:rPr>
              <a:t>failed</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keeps </a:t>
            </a:r>
            <a:r>
              <a:rPr lang="en-US" sz="2000" b="1" dirty="0">
                <a:solidFill>
                  <a:srgbClr val="FFFFFF"/>
                </a:solidFill>
              </a:rPr>
              <a:t>medical records off-chain</a:t>
            </a:r>
            <a:r>
              <a:rPr lang="en-US" sz="2000" dirty="0">
                <a:solidFill>
                  <a:srgbClr val="FFFFFF"/>
                </a:solidFill>
              </a:rPr>
              <a:t>, so only </a:t>
            </a:r>
            <a:r>
              <a:rPr lang="en-US" sz="2000" b="1" dirty="0">
                <a:solidFill>
                  <a:srgbClr val="FFFFFF"/>
                </a:solidFill>
              </a:rPr>
              <a:t>consent evidence</a:t>
            </a:r>
            <a:r>
              <a:rPr lang="en-US" sz="2000" dirty="0">
                <a:solidFill>
                  <a:srgbClr val="FFFFFF"/>
                </a:solidFill>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It can support </a:t>
            </a:r>
            <a:r>
              <a:rPr lang="en-US" sz="2000" b="1" dirty="0">
                <a:solidFill>
                  <a:srgbClr val="FFFFFF"/>
                </a:solidFill>
              </a:rPr>
              <a:t>trust between hospitals</a:t>
            </a:r>
            <a:r>
              <a:rPr lang="en-US" sz="2000" dirty="0">
                <a:solidFill>
                  <a:srgbClr val="FFFFFF"/>
                </a:solidFill>
              </a:rPr>
              <a:t> and other </a:t>
            </a:r>
            <a:r>
              <a:rPr lang="en-US" sz="2000" b="1" dirty="0">
                <a:solidFill>
                  <a:srgbClr val="FFFFFF"/>
                </a:solidFill>
              </a:rPr>
              <a:t>independent parties</a:t>
            </a:r>
            <a:r>
              <a:rPr lang="en-US" sz="2000" dirty="0">
                <a:solidFill>
                  <a:srgbClr val="FFFFFF"/>
                </a:solidFill>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Identity and keys</a:t>
            </a:r>
            <a:endParaRPr lang="en-US" sz="1900" dirty="0"/>
          </a:p>
          <a:p>
            <a:pPr indent="0" marL="0">
              <a:spcAft>
                <a:spcPts val="400"/>
              </a:spcAft>
              <a:buNone/>
            </a:pPr>
            <a:r>
              <a:rPr lang="en-US" sz="1600" dirty="0">
                <a:solidFill>
                  <a:srgbClr val="0B1F33"/>
                </a:solidFill>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Lifecycle</a:t>
            </a:r>
            <a:endParaRPr lang="en-US" sz="1900" dirty="0"/>
          </a:p>
          <a:p>
            <a:pPr indent="0" marL="0">
              <a:spcAft>
                <a:spcPts val="400"/>
              </a:spcAft>
              <a:buNone/>
            </a:pPr>
            <a:r>
              <a:rPr lang="en-US" sz="1600" dirty="0">
                <a:solidFill>
                  <a:srgbClr val="0B1F33"/>
                </a:solidFill>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Attack A11</a:t>
            </a:r>
            <a:endParaRPr lang="en-US" sz="1900" dirty="0"/>
          </a:p>
          <a:p>
            <a:pPr indent="0" marL="0">
              <a:spcAft>
                <a:spcPts val="400"/>
              </a:spcAft>
              <a:buNone/>
            </a:pPr>
            <a:r>
              <a:rPr lang="en-US" sz="1600" dirty="0">
                <a:solidFill>
                  <a:srgbClr val="0B1F33"/>
                </a:solidFill>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Real screens from the prototype,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every access decision</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a:t>
            </a:r>
            <a:r>
              <a:rPr lang="en-US" sz="1600" dirty="0">
                <a:solidFill>
                  <a:srgbClr val="FFFFFF"/>
                </a:solidFill>
              </a:rPr>
              <a:t>and</a:t>
            </a:r>
            <a:r>
              <a:rPr lang="en-US" sz="1600" dirty="0">
                <a:solidFill>
                  <a:srgbClr val="FFFFFF"/>
                </a:solidFill>
              </a:rPr>
              <a:t> the validity time.</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a:t>
            </a:r>
            <a:r>
              <a:rPr lang="en-US" sz="1600" dirty="0">
                <a:solidFill>
                  <a:srgbClr val="FFFFFF"/>
                </a:solidFill>
              </a:rPr>
              <a:t>and</a:t>
            </a:r>
            <a:r>
              <a:rPr lang="en-US" sz="1600" dirty="0">
                <a:solidFill>
                  <a:srgbClr val="FFFFFF"/>
                </a:solidFill>
              </a:rPr>
              <a:t> time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a:t>
            </a:r>
            <a:r>
              <a:rPr lang="en-US" sz="3000" b="1" dirty="0">
                <a:solidFill>
                  <a:srgbClr val="FFFFFF"/>
                </a:solidFill>
                <a:latin typeface="Arial" pitchFamily="34" charset="0"/>
                <a:ea typeface="Arial" pitchFamily="34" charset="-122"/>
                <a:cs typeface="Arial" pitchFamily="34" charset="-120"/>
              </a:rPr>
              <a:t>: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a:t>
            </a:r>
            <a:r>
              <a:rPr lang="en-US" sz="3000" b="1" dirty="0">
                <a:solidFill>
                  <a:srgbClr val="FFFFFF"/>
                </a:solidFill>
                <a:latin typeface="Arial" pitchFamily="34" charset="0"/>
                <a:ea typeface="Arial" pitchFamily="34" charset="-122"/>
                <a:cs typeface="Arial" pitchFamily="34" charset="-120"/>
              </a:rPr>
              <a:t>: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a:t>
            </a:r>
            <a:r>
              <a:rPr lang="en-US" sz="3000" b="1" dirty="0">
                <a:solidFill>
                  <a:srgbClr val="FFFFFF"/>
                </a:solidFill>
                <a:latin typeface="Arial" pitchFamily="34" charset="0"/>
                <a:ea typeface="Arial" pitchFamily="34" charset="-122"/>
                <a:cs typeface="Arial" pitchFamily="34" charset="-120"/>
              </a:rPr>
              <a:t>: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a:t>
            </a:r>
            <a:r>
              <a:rPr lang="en-US" sz="3000" b="1" dirty="0">
                <a:solidFill>
                  <a:srgbClr val="FFFFFF"/>
                </a:solidFill>
                <a:latin typeface="Arial" pitchFamily="34" charset="0"/>
                <a:ea typeface="Arial" pitchFamily="34" charset="-122"/>
                <a:cs typeface="Arial" pitchFamily="34" charset="-120"/>
              </a:rPr>
              <a:t>: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2026-10-11T18:20:49Z</dcterms:created>
  <dcterms:modified xsi:type="dcterms:W3CDTF">2026-10-11T18:20:49Z</dcterms:modified>
</cp:coreProperties>
</file>
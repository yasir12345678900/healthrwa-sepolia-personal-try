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415" r:id="rId6"/>
    <p:sldId id="305" r:id="rId7"/>
    <p:sldId id="306" r:id="rId8"/>
    <p:sldId id="309" r:id="rId9"/>
    <p:sldId id="414" r:id="rId10"/>
    <p:sldId id="312" r:id="rId11"/>
    <p:sldId id="313" r:id="rId12"/>
    <p:sldId id="262" r:id="rId13"/>
    <p:sldId id="302" r:id="rId14"/>
    <p:sldId id="263" r:id="rId15"/>
    <p:sldId id="264" r:id="rId16"/>
    <p:sldId id="410" r:id="rId17"/>
    <p:sldId id="266" r:id="rId18"/>
    <p:sldId id="267" r:id="rId19"/>
    <p:sldId id="268" r:id="rId20"/>
    <p:sldId id="269" r:id="rId21"/>
    <p:sldId id="270" r:id="rId22"/>
    <p:sldId id="271" r:id="rId23"/>
    <p:sldId id="272" r:id="rId24"/>
    <p:sldId id="273" r:id="rId25"/>
    <p:sldId id="274" r:id="rId26"/>
    <p:sldId id="275" r:id="rId27"/>
    <p:sldId id="276" r:id="rId28"/>
    <p:sldId id="278" r:id="rId29"/>
    <p:sldId id="413" r:id="rId30"/>
    <p:sldId id="293" r:id="rId31"/>
    <p:sldId id="294" r:id="rId32"/>
    <p:sldId id="295" r:id="rId33"/>
    <p:sldId id="296" r:id="rId34"/>
    <p:sldId id="297" r:id="rId35"/>
    <p:sldId id="280" r:id="rId36"/>
    <p:sldId id="417" r:id="rId37"/>
    <p:sldId id="281" r:id="rId38"/>
    <p:sldId id="282" r:id="rId39"/>
    <p:sldId id="284" r:id="rId40"/>
    <p:sldId id="416" r:id="rId41"/>
    <p:sldId id="412" r:id="rId42"/>
    <p:sldId id="411" r:id="rId43"/>
    <p:sldId id="289" r:id="rId44"/>
    <p:sldId id="290" r:id="rId45"/>
    <p:sldId id="291" r:id="rId46"/>
    <p:sldId id="300" r:id="rId47"/>
    <p:sldId id="301" r:id="rId48"/>
    <p:sldId id="418"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415"/>
            <p14:sldId id="305"/>
            <p14:sldId id="306"/>
            <p14:sldId id="309"/>
            <p14:sldId id="414"/>
            <p14:sldId id="312"/>
            <p14:sldId id="313"/>
          </p14:sldIdLst>
        </p14:section>
        <p14:section name="Gap, Questions and Objectives" id="{ACB741F8-7344-E54E-3520-6B498F895C17}">
          <p14:sldIdLst>
            <p14:sldId id="262"/>
            <p14:sldId id="302"/>
            <p14:sldId id="263"/>
            <p14:sldId id="26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8"/>
          </p14:sldIdLst>
        </p14:section>
        <p14:section name="Demo: The HALAH Prototype" id="{611104C4-4282-3E95-1D48-D00FE3F4F3EA}">
          <p14:sldIdLst>
            <p14:sldId id="413"/>
            <p14:sldId id="293"/>
            <p14:sldId id="294"/>
            <p14:sldId id="295"/>
            <p14:sldId id="296"/>
            <p14:sldId id="297"/>
          </p14:sldIdLst>
        </p14:section>
        <p14:section name="Validation and Evaluation" id="{38214D88-01AF-845D-D65A-C9A4BC2C85DF}">
          <p14:sldIdLst>
            <p14:sldId id="280"/>
            <p14:sldId id="417"/>
            <p14:sldId id="281"/>
            <p14:sldId id="282"/>
          </p14:sldIdLst>
        </p14:section>
        <p14:section name="Contribution" id="{EB11EB97-8735-E73D-577A-B2BB861A5EB4}">
          <p14:sldIdLst>
            <p14:sldId id="284"/>
            <p14:sldId id="416"/>
            <p14:sldId id="412"/>
            <p14:sldId id="411"/>
          </p14:sldIdLst>
        </p14:section>
        <p14:section name="Research Plan" id="{1F39EFB8-3D03-66B5-86E7-768BA670C7C2}">
          <p14:sldIdLst>
            <p14:sldId id="289"/>
            <p14:sldId id="290"/>
            <p14:sldId id="291"/>
          </p14:sldIdLst>
        </p14:section>
        <p14:section name="References" id="{40AA16BB-153B-BBB1-53BB-0EB6F21829F3}">
          <p14:sldIdLst>
            <p14:sldId id="300"/>
          </p14:sldIdLst>
        </p14:section>
        <p14:section name="Thank You" id="{FD86D728-DF0D-F8E8-99EB-24A0646BFE01}">
          <p14:sldIdLst>
            <p14:sldId id="301"/>
            <p14:sldId id="4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2976" autoAdjust="0"/>
  </p:normalViewPr>
  <p:slideViewPr>
    <p:cSldViewPr snapToGrid="0" snapToObjects="1">
      <p:cViewPr>
        <p:scale>
          <a:sx n="66" d="100"/>
          <a:sy n="66" d="100"/>
        </p:scale>
        <p:origin x="442" y="38"/>
      </p:cViewPr>
      <p:guideLst/>
    </p:cSldViewPr>
  </p:slideViewPr>
  <p:notesTextViewPr>
    <p:cViewPr>
      <p:scale>
        <a:sx n="125" d="100"/>
        <a:sy n="125" d="100"/>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Records</c:v>
                </c:pt>
              </c:strCache>
            </c:strRef>
          </c:tx>
          <c:spPr>
            <a:solidFill>
              <a:srgbClr val="146BA8"/>
            </a:solidFill>
            <a:ln w="0">
              <a:noFill/>
              <a:prstDash val="solid"/>
            </a:ln>
          </c:spPr>
          <c:invertIfNegative val="0"/>
          <c:dLbls>
            <c:numFmt formatCode="#,##0" sourceLinked="0"/>
            <c:spPr>
              <a:noFill/>
              <a:ln>
                <a:noFill/>
              </a:ln>
              <a:effectLst/>
            </c:spPr>
            <c:txPr>
              <a:bodyPr anchorCtr="1"/>
              <a:lstStyle/>
              <a:p>
                <a:pPr>
                  <a:defRPr sz="1575" b="1">
                    <a:solidFill>
                      <a:srgbClr val="103B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ACM Digital Library</c:v>
                </c:pt>
                <c:pt idx="1">
                  <c:v>ScienceDirect</c:v>
                </c:pt>
                <c:pt idx="2">
                  <c:v>Web of Science</c:v>
                </c:pt>
                <c:pt idx="3">
                  <c:v>ProQuest</c:v>
                </c:pt>
                <c:pt idx="4">
                  <c:v>IEEE Xplore</c:v>
                </c:pt>
                <c:pt idx="5">
                  <c:v>Scopus</c:v>
                </c:pt>
                <c:pt idx="6">
                  <c:v>SpringerLink</c:v>
                </c:pt>
              </c:strCache>
            </c:strRef>
          </c:cat>
          <c:val>
            <c:numRef>
              <c:f>Sheet1!$B$2:$B$8</c:f>
              <c:numCache>
                <c:formatCode>General</c:formatCode>
                <c:ptCount val="7"/>
                <c:pt idx="0">
                  <c:v>11</c:v>
                </c:pt>
                <c:pt idx="1">
                  <c:v>14</c:v>
                </c:pt>
                <c:pt idx="2">
                  <c:v>19</c:v>
                </c:pt>
                <c:pt idx="3">
                  <c:v>24</c:v>
                </c:pt>
                <c:pt idx="4">
                  <c:v>27</c:v>
                </c:pt>
                <c:pt idx="5">
                  <c:v>38</c:v>
                </c:pt>
                <c:pt idx="6">
                  <c:v>46</c:v>
                </c:pt>
              </c:numCache>
            </c:numRef>
          </c:val>
          <c:extLst>
            <c:ext xmlns:c16="http://schemas.microsoft.com/office/drawing/2014/chart" uri="{C3380CC4-5D6E-409C-BE32-E72D297353CC}">
              <c16:uniqueId val="{00000000-E386-47AE-AE7D-FC61AB4A690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500">
                <a:solidFill>
                  <a:srgbClr val="24415C"/>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1"/>
        <c:axPos val="b"/>
        <c:majorGridlines>
          <c:spPr>
            <a:ln w="9525">
              <a:solidFill>
                <a:srgbClr val="DCE9F4"/>
              </a:solidFill>
              <a:prstDash val="solid"/>
            </a:ln>
          </c:spPr>
        </c:majorGridlines>
        <c:numFmt formatCode="General" sourceLinked="1"/>
        <c:majorTickMark val="none"/>
        <c:minorTickMark val="none"/>
        <c:tickLblPos val="nextTo"/>
        <c:crossAx val="48650112"/>
        <c:crosses val="autoZero"/>
        <c:crossBetween val="between"/>
        <c:majorUnit val="1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t>
            </a:r>
            <a:r>
              <a:rPr lang="en-US" dirty="0"/>
              <a:t>afternoon</a:t>
            </a:r>
            <a:r>
              <a:rPr dirty="0"/>
              <a:t> everyone. My name is Yasir Alyoubi. My principal supervisor is Professor Farookh Hussain, and my co-supervisor is Dr Firas Al-</a:t>
            </a:r>
            <a:r>
              <a:rPr dirty="0" err="1"/>
              <a:t>Doghman</a:t>
            </a:r>
            <a:r>
              <a:rPr dirty="0"/>
              <a:t>.</a:t>
            </a:r>
          </a:p>
          <a:p>
            <a:r>
              <a:rPr dirty="0"/>
              <a:t>My research asks one simple question: when a doctor asks for a patient's data, how can the system be sure the request is really allowed? Not only who is asking, but also: did the patient and the guardians agree, and is the request still inside what they agreed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a:t>
            </a:r>
            <a:r>
              <a:rPr lang="en-US" dirty="0">
                <a:solidFill>
                  <a:srgbClr val="FF0000"/>
                </a:solidFill>
              </a:rPr>
              <a:t>outline.</a:t>
            </a:r>
            <a:r>
              <a:rPr lang="en-US" dirty="0"/>
              <a:t> I start with the research problem, then the literature review and the research gap. Then I present the research questions and objectives, and the research methodology. After that, I give an overview of the solution for each objective, with the prototype and its validation. I finish with the research contributions, my publications and my research plan.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me start with the problem. Health data is shared between many independent parties: the patient, the guardians, the doctor and the hospital.</a:t>
            </a:r>
          </a:p>
          <a:p>
            <a:r>
              <a:rPr dirty="0"/>
              <a:t>Today, consent is usually just a stored record. It says that permission was given, but it does not check anything when someone asks for the data.</a:t>
            </a:r>
          </a:p>
          <a:p>
            <a:r>
              <a:rPr dirty="0"/>
              <a:t>A valid login does not prove you have the right to see this patient's data. A request can also ask for more data than agreed, or come after the consent has expired or been revoked.</a:t>
            </a:r>
          </a:p>
          <a:p>
            <a:r>
              <a:rPr dirty="0"/>
              <a:t>So the main problem is: there is no trusted mechanism that checks all these conditions together, in one decision, with evidence that it is secure.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My key idea is simple. Consent should not be a record that we store. It should be an object that the system checks at every request.</a:t>
            </a:r>
          </a:p>
          <a:p>
            <a:r>
              <a:rPr dirty="0"/>
              <a:t>I call this object C, and it has six parts. I is identity: who the patient, doctor and guardians are. A is </a:t>
            </a:r>
            <a:r>
              <a:rPr dirty="0" err="1"/>
              <a:t>authorisation</a:t>
            </a:r>
            <a:r>
              <a:rPr dirty="0"/>
              <a:t>: </a:t>
            </a:r>
            <a:r>
              <a:rPr dirty="0">
                <a:solidFill>
                  <a:srgbClr val="FF0000"/>
                </a:solidFill>
              </a:rPr>
              <a:t>the guardian set G</a:t>
            </a:r>
            <a:r>
              <a:rPr dirty="0"/>
              <a:t> and how many approvals are needed. P is policy: the purpose and the data scope. T is time: when the consent starts and ends. L is lifecycle: the current state of the consent. E is evidence: signatures, the token, and the revocation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how I selected the studies for my literature review.</a:t>
            </a:r>
          </a:p>
          <a:p>
            <a:r>
              <a:rPr lang="en-AU" dirty="0"/>
              <a:t>First, I identified 179 records.</a:t>
            </a:r>
          </a:p>
          <a:p>
            <a:r>
              <a:rPr lang="en-AU" dirty="0"/>
              <a:t>I removed 21 duplicates, leaving 158 records.</a:t>
            </a:r>
          </a:p>
          <a:p>
            <a:r>
              <a:rPr lang="en-AU" dirty="0"/>
              <a:t>Next, I screened the titles and excluded 76 records.</a:t>
            </a:r>
          </a:p>
          <a:p>
            <a:r>
              <a:rPr lang="en-AU" dirty="0"/>
              <a:t>Then, I screened 82 abstracts and excluded 43 records.</a:t>
            </a:r>
          </a:p>
          <a:p>
            <a:r>
              <a:rPr lang="en-AU" dirty="0"/>
              <a:t>After that, I assessed 39 full-text studies and excluded 14.</a:t>
            </a:r>
          </a:p>
          <a:p>
            <a:r>
              <a:rPr lang="en-AU" dirty="0"/>
              <a:t>Finally, I included 25 studies in my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my database search results.</a:t>
            </a:r>
          </a:p>
          <a:p>
            <a:r>
              <a:rPr lang="en-AU" dirty="0"/>
              <a:t>First, I searched seven academic databases.</a:t>
            </a:r>
          </a:p>
          <a:p>
            <a:r>
              <a:rPr lang="en-AU" dirty="0"/>
              <a:t>I found 179 records before removing duplicates.</a:t>
            </a:r>
          </a:p>
          <a:p>
            <a:r>
              <a:rPr lang="en-AU" dirty="0"/>
              <a:t>SpringerLink gave the most results, with 46 records.</a:t>
            </a:r>
          </a:p>
          <a:p>
            <a:r>
              <a:rPr lang="en-AU" dirty="0"/>
              <a:t>Scopus gave 38, and IEEE Xplore gave 27.</a:t>
            </a:r>
          </a:p>
          <a:p>
            <a:r>
              <a:rPr lang="en-AU" dirty="0"/>
              <a:t>The other four databases gave 68 records.</a:t>
            </a:r>
          </a:p>
          <a:p>
            <a:r>
              <a:rPr lang="en-AU" dirty="0"/>
              <a:t>I included studies published from 2020 to 2026.</a:t>
            </a:r>
          </a:p>
          <a:p>
            <a:r>
              <a:rPr lang="en-AU" dirty="0"/>
              <a:t>I used search words about healthcare, consent, authorisation, trust, and multi-party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Step two is the inclusion and exclusion criteria. They were defined before screening.</a:t>
            </a:r>
          </a:p>
          <a:p>
            <a:r>
              <a:rPr dirty="0"/>
              <a:t>A study was included if it was about healthcare data sharing, dealt with consent or </a:t>
            </a:r>
            <a:r>
              <a:rPr dirty="0" err="1"/>
              <a:t>authorisation</a:t>
            </a:r>
            <a:r>
              <a:rPr dirty="0"/>
              <a:t> for data access, proposed a model, system or evaluation, and was a peer-reviewed English paper with full text, published between 2020 and 2026.</a:t>
            </a:r>
          </a:p>
          <a:p>
            <a:r>
              <a:rPr dirty="0"/>
              <a:t>I excluded studies outside healthcare, studies about authentication only or with only a superficial mention of consent, non-peer-reviewed work, and duplicate publications.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Step four is quality assessment. Each study was checked with four questions. QA1: is it about patient consent or consent-governed access? QA2: does it have an access-decision mechanism? QA3: does it propose a real framework, model or architecture? QA4: is it validated with a proof of concept or an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the list of the 25 primary studies in the comparative analysis, from S1 to S25.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table compares studies S1 to S13 against my six requirements. Yes means the study fully meets the requirement. </a:t>
            </a:r>
            <a:r>
              <a:rPr lang="en-US" dirty="0"/>
              <a:t>NO</a:t>
            </a:r>
            <a:r>
              <a:rPr dirty="0"/>
              <a:t> means it does not fully meet it.</a:t>
            </a:r>
          </a:p>
          <a:p>
            <a:r>
              <a:rPr dirty="0"/>
              <a:t>You can see that each study is strong in some areas but weak in others. For example, Madine and colleagues meet four requirements, but not policy and assurance. No row is Yes across all six columns.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second half of the comparison, studies S14 to S25. The pattern is the same. Multi-party approval, in the Req 3 column, is mostly missing.</a:t>
            </a:r>
          </a:p>
          <a:p>
            <a:r>
              <a:rPr dirty="0"/>
              <a:t>For example, Phuyal and colleagues are strong on identity and assurance, but consent is given by one patient only, with no multi-party approval. So no single study meets all six requirements, and this is the gap my research addresses.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leads to the research gap. Existing research gives us many of the building blocks. But we still need one integrated Trust Computing framework that treats patient consent as a verifiable authorisation object.</a:t>
            </a:r>
          </a:p>
          <a:p>
            <a:r>
              <a:t>This framework must verify identity, trust and authority, support multi-party authorisation, and enforce the access policy and the data scope of the consent.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From this gap comes my main research question: How can a trust-oriented computing framework establish and enforce trustworthy multi-party consent for </a:t>
            </a:r>
            <a:r>
              <a:rPr dirty="0" err="1"/>
              <a:t>decentralised</a:t>
            </a:r>
            <a:r>
              <a:rPr dirty="0"/>
              <a:t> healthcare data sharing, under identity, authority and policy constraints?</a:t>
            </a:r>
            <a:endParaRPr lang="ar-SA" dirty="0"/>
          </a:p>
          <a:p>
            <a:r>
              <a:rPr lang="ar-SA" dirty="0"/>
              <a:t>----------------------------------------------------------------------------------------------------------------------------------------------</a:t>
            </a:r>
            <a:endParaRPr dirty="0"/>
          </a:p>
          <a:p>
            <a:r>
              <a:rPr dirty="0"/>
              <a:t>Establish means creating trusted participants and a collective decision. Enforce means checking these conditions every time someone asks for 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question is divided into six sub-questions, one for each requirement.</a:t>
            </a:r>
          </a:p>
          <a:p>
            <a:pPr marL="0" marR="0" lvl="0" indent="0" algn="l" defTabSz="914400" rtl="0" eaLnBrk="1" fontAlgn="auto" latinLnBrk="0" hangingPunct="1">
              <a:lnSpc>
                <a:spcPct val="100000"/>
              </a:lnSpc>
              <a:spcBef>
                <a:spcPts val="0"/>
              </a:spcBef>
              <a:spcAft>
                <a:spcPts val="0"/>
              </a:spcAft>
              <a:buClrTx/>
              <a:buSzTx/>
              <a:buFontTx/>
              <a:buNone/>
              <a:tabLst/>
              <a:defRPr/>
            </a:pPr>
            <a:r>
              <a:rPr b="1" dirty="0"/>
              <a:t>RQ1</a:t>
            </a:r>
            <a:r>
              <a:rPr dirty="0"/>
              <a:t> </a:t>
            </a:r>
            <a:r>
              <a:rPr lang="en-US" sz="1200" dirty="0">
                <a:solidFill>
                  <a:srgbClr val="0B1F33"/>
                </a:solidFill>
              </a:rPr>
              <a:t>How can patient consent be modelled as a trust-aware </a:t>
            </a:r>
            <a:r>
              <a:rPr lang="en-US" sz="1200" dirty="0" err="1">
                <a:solidFill>
                  <a:srgbClr val="0B1F33"/>
                </a:solidFill>
              </a:rPr>
              <a:t>authorisation</a:t>
            </a:r>
            <a:r>
              <a:rPr lang="en-US" sz="1200" dirty="0">
                <a:solidFill>
                  <a:srgbClr val="0B1F33"/>
                </a:solidFill>
              </a:rPr>
              <a:t> object that explicitly represents identity, authority requirements, policy constraints, and </a:t>
            </a:r>
            <a:r>
              <a:rPr lang="en-US" sz="1200" dirty="0" err="1">
                <a:solidFill>
                  <a:srgbClr val="0B1F33"/>
                </a:solidFill>
              </a:rPr>
              <a:t>authorisation</a:t>
            </a:r>
            <a:r>
              <a:rPr lang="en-US" sz="1200" dirty="0">
                <a:solidFill>
                  <a:srgbClr val="0B1F33"/>
                </a:solidFill>
              </a:rPr>
              <a:t> evidence?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 </a:t>
            </a:r>
            <a:r>
              <a:rPr b="1" dirty="0"/>
              <a:t>RQ2</a:t>
            </a:r>
            <a:r>
              <a:rPr dirty="0"/>
              <a:t> </a:t>
            </a:r>
            <a:r>
              <a:rPr lang="en-US" sz="1200" dirty="0">
                <a:solidFill>
                  <a:srgbClr val="0B1F33"/>
                </a:solidFill>
              </a:rPr>
              <a:t>How can </a:t>
            </a:r>
            <a:r>
              <a:rPr lang="en-US" sz="1200" dirty="0" err="1">
                <a:solidFill>
                  <a:srgbClr val="0B1F33"/>
                </a:solidFill>
              </a:rPr>
              <a:t>decentralised</a:t>
            </a:r>
            <a:r>
              <a:rPr lang="en-US" sz="1200" dirty="0">
                <a:solidFill>
                  <a:srgbClr val="0B1F33"/>
                </a:solidFill>
              </a:rPr>
              <a:t> identities and verifiable credentials establish trustworthy participants while explicitly separating identity authentication from </a:t>
            </a:r>
            <a:r>
              <a:rPr lang="en-US" sz="1200" dirty="0" err="1">
                <a:solidFill>
                  <a:srgbClr val="0B1F33"/>
                </a:solidFill>
              </a:rPr>
              <a:t>authorisation</a:t>
            </a:r>
            <a:r>
              <a:rPr lang="en-US" sz="1200" dirty="0">
                <a:solidFill>
                  <a:srgbClr val="0B1F33"/>
                </a:solidFill>
              </a:rPr>
              <a:t> authority?</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 </a:t>
            </a:r>
            <a:r>
              <a:rPr b="1" dirty="0"/>
              <a:t>RQ3</a:t>
            </a:r>
            <a:r>
              <a:rPr dirty="0"/>
              <a:t> </a:t>
            </a:r>
            <a:r>
              <a:rPr lang="en-US" sz="1200" dirty="0">
                <a:solidFill>
                  <a:srgbClr val="0B1F33"/>
                </a:solidFill>
              </a:rPr>
              <a:t>How can multiple independently verified participants jointly establish a trustworthy consent decision without allowing a single participant to unilaterally </a:t>
            </a:r>
            <a:r>
              <a:rPr lang="en-US" sz="1200" dirty="0" err="1">
                <a:solidFill>
                  <a:srgbClr val="0B1F33"/>
                </a:solidFill>
              </a:rPr>
              <a:t>authorise</a:t>
            </a:r>
            <a:r>
              <a:rPr lang="en-US" sz="1200" dirty="0">
                <a:solidFill>
                  <a:srgbClr val="0B1F33"/>
                </a:solidFill>
              </a:rPr>
              <a:t> sensitive healthcare data access?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b="1" dirty="0"/>
              <a:t>. RQ4 </a:t>
            </a:r>
            <a:r>
              <a:rPr lang="en-US" sz="1200" dirty="0">
                <a:solidFill>
                  <a:srgbClr val="0B1F33"/>
                </a:solidFill>
              </a:rPr>
              <a:t>How can policy, purpose, and data-scope constraints be incorporated into </a:t>
            </a:r>
            <a:r>
              <a:rPr lang="en-US" sz="1200" dirty="0" err="1">
                <a:solidFill>
                  <a:srgbClr val="0B1F33"/>
                </a:solidFill>
              </a:rPr>
              <a:t>authorisation</a:t>
            </a:r>
            <a:r>
              <a:rPr lang="en-US" sz="1200" dirty="0">
                <a:solidFill>
                  <a:srgbClr val="0B1F33"/>
                </a:solidFill>
              </a:rPr>
              <a:t> decisions so that valid identities and sufficient approvals cannot be used to obtain </a:t>
            </a:r>
            <a:r>
              <a:rPr lang="en-US" sz="1200" dirty="0" err="1">
                <a:solidFill>
                  <a:srgbClr val="0B1F33"/>
                </a:solidFill>
              </a:rPr>
              <a:t>unauthorised</a:t>
            </a:r>
            <a:r>
              <a:rPr lang="en-US" sz="1200" dirty="0">
                <a:solidFill>
                  <a:srgbClr val="0B1F33"/>
                </a:solidFill>
              </a:rPr>
              <a:t> healthcare data?</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b="1" dirty="0"/>
              <a:t>. RQ5 </a:t>
            </a:r>
            <a:r>
              <a:rPr lang="en-US" sz="1200" b="1" dirty="0">
                <a:solidFill>
                  <a:srgbClr val="0B1F33"/>
                </a:solidFill>
              </a:rPr>
              <a:t>How </a:t>
            </a:r>
            <a:r>
              <a:rPr lang="en-US" sz="1200" dirty="0">
                <a:solidFill>
                  <a:srgbClr val="0B1F33"/>
                </a:solidFill>
              </a:rPr>
              <a:t>can temporal validity and consent lifecycle controls ensure that an </a:t>
            </a:r>
            <a:r>
              <a:rPr lang="en-US" sz="1200" dirty="0" err="1">
                <a:solidFill>
                  <a:srgbClr val="0B1F33"/>
                </a:solidFill>
              </a:rPr>
              <a:t>authorisation</a:t>
            </a:r>
            <a:r>
              <a:rPr lang="en-US" sz="1200" dirty="0">
                <a:solidFill>
                  <a:srgbClr val="0B1F33"/>
                </a:solidFill>
              </a:rPr>
              <a:t> remains valid only within its permitted time interval and lifecycle state, and is rejected after expiration, revocation, or an </a:t>
            </a:r>
            <a:r>
              <a:rPr lang="en-US" sz="1200" dirty="0" err="1">
                <a:solidFill>
                  <a:srgbClr val="0B1F33"/>
                </a:solidFill>
              </a:rPr>
              <a:t>unauthorised</a:t>
            </a:r>
            <a:r>
              <a:rPr lang="en-US" sz="1200" dirty="0">
                <a:solidFill>
                  <a:srgbClr val="0B1F33"/>
                </a:solidFill>
              </a:rPr>
              <a:t> state transition</a:t>
            </a:r>
            <a:r>
              <a:rPr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 </a:t>
            </a:r>
            <a:r>
              <a:rPr b="1" dirty="0"/>
              <a:t>RQ6 </a:t>
            </a:r>
            <a:r>
              <a:rPr lang="en-US" sz="1200" b="1" dirty="0">
                <a:solidFill>
                  <a:srgbClr val="0B1F33"/>
                </a:solidFill>
              </a:rPr>
              <a:t>How </a:t>
            </a:r>
            <a:r>
              <a:rPr lang="en-US" sz="1200" dirty="0">
                <a:solidFill>
                  <a:srgbClr val="0B1F33"/>
                </a:solidFill>
              </a:rPr>
              <a:t>can the security properties of the proposed trust-oriented </a:t>
            </a:r>
            <a:r>
              <a:rPr lang="en-US" sz="1200" dirty="0" err="1">
                <a:solidFill>
                  <a:srgbClr val="0B1F33"/>
                </a:solidFill>
              </a:rPr>
              <a:t>authorisation</a:t>
            </a:r>
            <a:r>
              <a:rPr lang="en-US" sz="1200" dirty="0">
                <a:solidFill>
                  <a:srgbClr val="0B1F33"/>
                </a:solidFill>
              </a:rPr>
              <a:t> mechanism be formally defined and empirically evaluated to demonstrate that the implemented framework correctly enforces </a:t>
            </a:r>
            <a:r>
              <a:rPr lang="en-US" sz="1200" dirty="0" err="1">
                <a:solidFill>
                  <a:srgbClr val="0B1F33"/>
                </a:solidFill>
              </a:rPr>
              <a:t>authorised</a:t>
            </a:r>
            <a:r>
              <a:rPr lang="en-US" sz="1200" dirty="0">
                <a:solidFill>
                  <a:srgbClr val="0B1F33"/>
                </a:solidFill>
              </a:rPr>
              <a:t> and </a:t>
            </a:r>
            <a:r>
              <a:rPr lang="en-US" sz="1200" dirty="0" err="1">
                <a:solidFill>
                  <a:srgbClr val="0B1F33"/>
                </a:solidFill>
              </a:rPr>
              <a:t>unauthorised</a:t>
            </a:r>
            <a:r>
              <a:rPr lang="en-US" sz="1200" dirty="0">
                <a:solidFill>
                  <a:srgbClr val="0B1F33"/>
                </a:solidFill>
              </a:rPr>
              <a:t> healthcare data-access decisions?</a:t>
            </a:r>
            <a:endParaRPr lang="en-US" sz="2400"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Each research question has one objective.</a:t>
            </a:r>
          </a:p>
          <a:p>
            <a:r>
              <a:rPr dirty="0"/>
              <a:t>RO1 builds the consent model. RO2 verifies identity and authority with DIDs and verifiable credentials. RO3 builds the multi-party approval with a threshold. RO4 checks the purpose and the data scope of each request. RO5 adds time and lifecycle controls. RO6 analyses and tests the security of the whole framework.</a:t>
            </a:r>
            <a:endParaRPr lang="en-US" dirty="0"/>
          </a:p>
          <a:p>
            <a:r>
              <a:rPr lang="en-US" dirty="0"/>
              <a:t>--------------------------------------------------------------------------------------------------------------------------</a:t>
            </a:r>
          </a:p>
          <a:p>
            <a:r>
              <a:rPr lang="en-AU" dirty="0"/>
              <a:t>RO1 turns consent from a stored record into an object with six parts: identity, authorisation, policy, time, lifecycle and evidence. At every request, the system checks the request against these parts. For example, if the consent allows only Observation and Medication, a request for Procedure is denied, even from the right doctor.”</a:t>
            </a:r>
          </a:p>
          <a:p>
            <a:r>
              <a:rPr lang="en-AU" dirty="0"/>
              <a:t>--------------------------------------------------------------------------------------------------------------------------------</a:t>
            </a:r>
          </a:p>
          <a:p>
            <a:r>
              <a:rPr lang="en-AU" dirty="0"/>
              <a:t>“RO2 separates identity from authority. The DID shows who the participant is, and the verifiable credential shows what they are allowed to do, for example that they are a doctor or a guardian. A valid DID alone never gives access. In the prototype, each guardian’s credential is checked before their signature is accepted, and the doctor’s credential is checked at every request, together with a check that this is the doctor named in the consent. Full DID resolution is planned for the next stage.”</a:t>
            </a:r>
          </a:p>
          <a:p>
            <a:r>
              <a:rPr lang="en-AU" dirty="0"/>
              <a:t>---------------------------------------------------------------------------------------------------------------------</a:t>
            </a:r>
          </a:p>
          <a:p>
            <a:r>
              <a:rPr lang="en-AU" dirty="0"/>
              <a:t>“RO3 makes consent a collective decision. The patient defines a guardian set G, and the consent becomes active only when the required number of guardians approve. </a:t>
            </a:r>
            <a:r>
              <a:rPr lang="en-AU" dirty="0">
                <a:solidFill>
                  <a:srgbClr val="FF0000"/>
                </a:solidFill>
              </a:rPr>
              <a:t>Each guardian signs a digital approval</a:t>
            </a:r>
            <a:r>
              <a:rPr lang="en-AU" dirty="0"/>
              <a:t>, and the system checks that the signer is in G. Approvals from outsiders and repeated approvals are not counted, so no single person can activate the consent alone. In the prototype, every listed guardian must sign: two of two in the demo.”</a:t>
            </a:r>
          </a:p>
          <a:p>
            <a:r>
              <a:rPr lang="en-AU" dirty="0"/>
              <a:t>------------------------------------------------------------------------------------------------------------------------</a:t>
            </a:r>
            <a:endParaRPr lang="ar-SA" dirty="0"/>
          </a:p>
          <a:p>
            <a:r>
              <a:rPr lang="en-AU" dirty="0"/>
              <a:t>“The rule is N-of-N, so every guardian in G must sign. The prototype accepts more than two guardians, but I </a:t>
            </a:r>
            <a:r>
              <a:rPr lang="en-AU" b="1" dirty="0"/>
              <a:t>showed</a:t>
            </a:r>
            <a:r>
              <a:rPr lang="en-AU" dirty="0"/>
              <a:t> and </a:t>
            </a:r>
            <a:r>
              <a:rPr lang="en-AU" b="1" dirty="0"/>
              <a:t>tested</a:t>
            </a:r>
            <a:r>
              <a:rPr lang="en-AU" dirty="0"/>
              <a:t> it with two, so two of two.”</a:t>
            </a:r>
          </a:p>
          <a:p>
            <a:r>
              <a:rPr lang="en-AU" dirty="0"/>
              <a:t>-------------------------------------------</a:t>
            </a:r>
          </a:p>
          <a:p>
            <a:r>
              <a:rPr lang="en-AU" dirty="0"/>
              <a:t>RO3 makes consent a collective decision. The patient chooses a guardian set G, and the consent becomes active only when every guardian in G signs. </a:t>
            </a:r>
            <a:r>
              <a:rPr lang="en-AU" dirty="0">
                <a:solidFill>
                  <a:srgbClr val="FF0000"/>
                </a:solidFill>
              </a:rPr>
              <a:t>Each guardian signs a digital approval</a:t>
            </a:r>
            <a:r>
              <a:rPr lang="en-AU" dirty="0"/>
              <a:t>, and the system checks that the signer is in G. Approvals from outsiders and repeated approvals are not counted, so no single person can activate the consent alone. I tested it with two guardians, so two of two. </a:t>
            </a:r>
            <a:r>
              <a:rPr lang="en-AU" dirty="0">
                <a:solidFill>
                  <a:srgbClr val="FF0000"/>
                </a:solidFill>
              </a:rPr>
              <a:t>Then the consent becomes active.</a:t>
            </a:r>
            <a:r>
              <a:rPr lang="en-AU" dirty="0"/>
              <a:t>”</a:t>
            </a:r>
          </a:p>
          <a:p>
            <a:r>
              <a:rPr lang="en-AU" dirty="0"/>
              <a:t>----------------------------------------------------------------</a:t>
            </a:r>
          </a:p>
          <a:p>
            <a:r>
              <a:rPr lang="en-AU" dirty="0"/>
              <a:t>“RO4 checks each request against the consent policy. A valid identity and all the approvals are still not enough. The requested data must be inside the scope the patient agreed to, and the purpose must be a supported purpose. For example, if the consent allows only Observation and Medication, a request for Procedure is denied. An empty request is also denied. In the prototype, the request uses the consent’s own purpose, so comparing a separate request purpose is planned for the next stage.”</a:t>
            </a:r>
          </a:p>
          <a:p>
            <a:r>
              <a:rPr lang="en-AU" dirty="0"/>
              <a:t>------------------------------------------------------------------------</a:t>
            </a:r>
          </a:p>
          <a:p>
            <a:r>
              <a:rPr lang="en-AU" dirty="0"/>
              <a:t>“RO5 adds time and lifecycle. A consent is not valid forever. It has a start and an end time, and a state such as pending, active, expired or revoked. At every request, the system checks the time window and the state, and access is allowed only when the consent is ACTIVE. Today, the validity window is stored on-chain, and revocation works end to end, with an on-chain revoke transaction. In the next stage I will add the SUSPENDED state, the transition check, consent changes and a formal lifecycle model.”</a:t>
            </a:r>
          </a:p>
          <a:p>
            <a:r>
              <a:rPr lang="en-AU" dirty="0"/>
              <a:t>-----------------------------------------------------------------------------------------</a:t>
            </a:r>
          </a:p>
          <a:p>
            <a:r>
              <a:rPr lang="en-AU" dirty="0"/>
              <a:t>“RO6 checks that the framework really does what it should, in two ways. The testing part is done: 46 automated tests pass, including twelve attack scenarios, and all attacks are refused. </a:t>
            </a:r>
            <a:r>
              <a:rPr lang="en-AU" dirty="0">
                <a:solidFill>
                  <a:srgbClr val="FF0000"/>
                </a:solidFill>
              </a:rPr>
              <a:t>I also measured the processing time of each check.</a:t>
            </a:r>
            <a:r>
              <a:rPr lang="en-AU" dirty="0"/>
              <a:t> The formal part is for the next stage: proofs or model checking, to show that no path in the system can give access when a condition fails.”</a:t>
            </a:r>
            <a:endParaRPr lang="ar-SA" dirty="0"/>
          </a:p>
          <a:p>
            <a:r>
              <a:rPr lang="ar-S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six objectives build on each other to answer one question: is this data request really allowed? Take a patient, Ahmed, who is a minor. In RO1, Ahmed creates a consent as an object, not just a record: it names Dr Khalid, two guardians, the purpose Treatment, only Observation and Medication data, and a time window from October to December. In RO2, the system checks each person’s identity with a DID and their authority with a verifiable credential, and identity alone never gives access. In RO3, the consent becomes active only when both guardians sign, so no single person can approve alone. In RO4, when Dr Khalid asks for data, a request for Observation is allowed, but a request for Procedure is denied. In RO5, if he asks in January after the consent has expired, or after Ahmed revokes it, the request is denied. In RO6, I showed that all of this works: 46 tests pass and all twelve attacks are refused, and formal proofs come in the next stage. So Dr Khalid sees the data only when every condition is true at the same time.”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My research methodology is Design Science Research, based on the process model of Peffers and colleagues, 2007.</a:t>
            </a:r>
          </a:p>
          <a:p>
            <a:r>
              <a:rPr dirty="0"/>
              <a:t>It has five </a:t>
            </a:r>
            <a:r>
              <a:rPr dirty="0" err="1">
                <a:solidFill>
                  <a:srgbClr val="FF0000"/>
                </a:solidFill>
              </a:rPr>
              <a:t>stages. First, awareness</a:t>
            </a:r>
            <a:r>
              <a:rPr dirty="0" err="1"/>
              <a:t> of the problem came from the systematic review, and its output is the research proposal.</a:t>
            </a:r>
            <a:endParaRPr lang="en-US" dirty="0"/>
          </a:p>
          <a:p>
            <a:r>
              <a:rPr lang="en-US" b="1" dirty="0" err="1">
                <a:solidFill>
                  <a:srgbClr val="FF0000"/>
                </a:solidFill>
              </a:rPr>
              <a:t>Second, suggestion</a:t>
            </a:r>
            <a:r>
              <a:rPr lang="en-US" b="1" dirty="0" err="1"/>
              <a:t> gives a tentative design: the questions, the objectives and the trust model. </a:t>
            </a:r>
            <a:endParaRPr lang="en-US" dirty="0"/>
          </a:p>
          <a:p>
            <a:r>
              <a:rPr lang="en-US" b="1" dirty="0">
                <a:solidFill>
                  <a:srgbClr val="FF0000"/>
                </a:solidFill>
              </a:rPr>
              <a:t>Third, design</a:t>
            </a:r>
            <a:r>
              <a:rPr lang="en-US" b="1" dirty="0"/>
              <a:t> and development gives the artifact: the framework and the HALAH prototype. </a:t>
            </a:r>
            <a:endParaRPr lang="en-US" dirty="0"/>
          </a:p>
          <a:p>
            <a:r>
              <a:rPr lang="en-US" b="1" dirty="0">
                <a:solidFill>
                  <a:srgbClr val="FF0000"/>
                </a:solidFill>
              </a:rPr>
              <a:t>Fourth, evaluation gives performance measures: scenarios, attack tests and processing time.</a:t>
            </a:r>
            <a:r>
              <a:rPr lang="en-US" b="1" dirty="0"/>
              <a:t> </a:t>
            </a:r>
            <a:endParaRPr lang="ar-SA" dirty="0"/>
          </a:p>
          <a:p>
            <a:r>
              <a:rPr lang="en-US" b="1" dirty="0">
                <a:solidFill>
                  <a:srgbClr val="FF0000"/>
                </a:solidFill>
              </a:rPr>
              <a:t>Finally, conclusion</a:t>
            </a:r>
            <a:r>
              <a:rPr lang="en-US" b="1" dirty="0"/>
              <a:t> gives the results.</a:t>
            </a:r>
            <a:endParaRPr lang="ar-SA" dirty="0"/>
          </a:p>
          <a:p>
            <a:r>
              <a:rPr lang="ar-SA" dirty="0"/>
              <a:t>----------------------------------------------------------------------------------------------------------------------</a:t>
            </a:r>
            <a:endParaRPr dirty="0"/>
          </a:p>
          <a:p>
            <a:r>
              <a:rPr dirty="0"/>
              <a:t>The arrows show that knowledge from each stage goes back into the process, so the design improves in each iteration.</a:t>
            </a:r>
          </a:p>
        </p:txBody>
      </p:sp>
      <p:sp>
        <p:nvSpPr>
          <p:cNvPr id="4" name="Slide Number Placeholder 3"/>
          <p:cNvSpPr>
            <a:spLocks noGrp="1"/>
          </p:cNvSpPr>
          <p:nvPr>
            <p:ph type="sldNum" sz="quarter" idx="5"/>
          </p:nvPr>
        </p:nvSpPr>
        <p:spPr/>
        <p:txBody>
          <a:bodyPr/>
          <a:lstStyle/>
          <a:p>
            <a:fld id="{C65C87FE-7F56-4B2A-AEE0-F5C409B9B5DE}" type="slidenum">
              <a:rPr lang="en-AU" smtClean="0"/>
              <a:t>16</a:t>
            </a:fld>
            <a:endParaRPr lang="en-AU"/>
          </a:p>
        </p:txBody>
      </p:sp>
    </p:spTree>
    <p:extLst>
      <p:ext uri="{BB962C8B-B14F-4D97-AF65-F5344CB8AC3E}">
        <p14:creationId xmlns:p14="http://schemas.microsoft.com/office/powerpoint/2010/main" val="208959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architecture of the framework. It uses the Model-View-Controller pattern.</a:t>
            </a:r>
          </a:p>
          <a:p>
            <a:r>
              <a:rPr b="1" dirty="0"/>
              <a:t>The View </a:t>
            </a:r>
            <a:r>
              <a:rPr dirty="0"/>
              <a:t>is the four interfaces: patient, guardian, doctor and auditor. The View never decides on access.</a:t>
            </a:r>
          </a:p>
          <a:p>
            <a:pPr rtl="0"/>
            <a:r>
              <a:rPr lang="en-AU" b="1" dirty="0"/>
              <a:t>The Controller </a:t>
            </a:r>
            <a:r>
              <a:rPr lang="en-AU" dirty="0"/>
              <a:t>is the security boundary. It checks identity, authority, approvals, policy, </a:t>
            </a:r>
            <a:r>
              <a:rPr lang="en-AU" b="1" dirty="0"/>
              <a:t>time and lifecycle</a:t>
            </a:r>
            <a:r>
              <a:rPr lang="en-AU" dirty="0"/>
              <a:t>, makes the final decision, and records the audit evidence.</a:t>
            </a:r>
          </a:p>
          <a:p>
            <a:r>
              <a:rPr b="1" dirty="0"/>
              <a:t>The Model </a:t>
            </a:r>
            <a:r>
              <a:rPr dirty="0"/>
              <a:t>holds the state: identities, credentials, the consent object, approvals, policy, evidence and lifecycle. The medical data sit outside, and can only be reached through the Controller.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kern="1200" dirty="0">
                <a:solidFill>
                  <a:srgbClr val="FFFFFF"/>
                </a:solidFill>
                <a:latin typeface="+mn-lt"/>
                <a:ea typeface="+mn-ea"/>
                <a:cs typeface="+mn-cs"/>
              </a:rPr>
              <a:t>This is the heart of the framework. Access is allowed only when five checks are all true.</a:t>
            </a:r>
          </a:p>
          <a:p>
            <a:r>
              <a:rPr lang="en-AU" sz="1400" dirty="0"/>
              <a:t>VI checks identity and authority. VA checks that all required guardians approved. VP checks the purpose and data scope. VT checks the time window. VL checks the lifecycle state.</a:t>
            </a:r>
            <a:br>
              <a:rPr lang="en-AU" sz="1400" dirty="0"/>
            </a:br>
            <a:r>
              <a:rPr lang="en-AU" sz="1400" dirty="0"/>
              <a:t>If any one check fails, the answer is DENY. </a:t>
            </a:r>
            <a:r>
              <a:rPr lang="en-AU" sz="1400" dirty="0">
                <a:solidFill>
                  <a:srgbClr val="FF0000"/>
                </a:solidFill>
              </a:rPr>
              <a:t>Every decision, allowed or denied, is written to the audit ledger.</a:t>
            </a:r>
            <a:endParaRPr lang="ar-SA" sz="1400" dirty="0"/>
          </a:p>
          <a:p>
            <a:r>
              <a:rPr lang="ar-SA" sz="1400" kern="1200" dirty="0">
                <a:solidFill>
                  <a:srgbClr val="FFFFFF"/>
                </a:solidFill>
                <a:latin typeface="+mn-lt"/>
                <a:ea typeface="+mn-ea"/>
                <a:cs typeface="+mn-cs"/>
              </a:rPr>
              <a:t>------------------------------------------------------------------------</a:t>
            </a:r>
          </a:p>
          <a:p>
            <a:r>
              <a:rPr lang="en-US" sz="1200" kern="1200" dirty="0">
                <a:solidFill>
                  <a:srgbClr val="FFFFFF"/>
                </a:solidFill>
                <a:latin typeface="+mn-lt"/>
                <a:ea typeface="+mn-ea"/>
                <a:cs typeface="+mn-cs"/>
              </a:rPr>
              <a:t>C	The consent object C = (I, A, P, T, L, E): who is involved, which guardians must approve, the purpose and data scope, the time window, the lifecycle state and the evidence.</a:t>
            </a:r>
          </a:p>
          <a:p>
            <a:r>
              <a:rPr lang="en-US" sz="1200" kern="1200" dirty="0">
                <a:solidFill>
                  <a:srgbClr val="FFFFFF"/>
                </a:solidFill>
                <a:latin typeface="+mn-lt"/>
                <a:ea typeface="+mn-ea"/>
                <a:cs typeface="+mn-cs"/>
              </a:rPr>
              <a:t>R	The access request: what the doctor asks for, meaning the data modules (S_R) and the purpose.</a:t>
            </a:r>
          </a:p>
          <a:p>
            <a:r>
              <a:rPr lang="en-US" sz="1200" kern="1200" dirty="0">
                <a:solidFill>
                  <a:srgbClr val="FFFFFF"/>
                </a:solidFill>
                <a:latin typeface="+mn-lt"/>
                <a:ea typeface="+mn-ea"/>
                <a:cs typeface="+mn-cs"/>
              </a:rPr>
              <a:t>t	The time of the request: the moment the doctor asks for the data.</a:t>
            </a:r>
          </a:p>
          <a:p>
            <a:r>
              <a:rPr lang="en-US" sz="1200" kern="1200" dirty="0">
                <a:solidFill>
                  <a:srgbClr val="FFFFFF"/>
                </a:solidFill>
                <a:latin typeface="+mn-lt"/>
                <a:ea typeface="+mn-ea"/>
                <a:cs typeface="+mn-cs"/>
              </a:rPr>
              <a:t>u	The requesting participant, for example the doctor.</a:t>
            </a:r>
          </a:p>
          <a:p>
            <a:endParaRPr lang="en-US" sz="1200" kern="1200" dirty="0">
              <a:solidFill>
                <a:srgbClr val="FFFFFF"/>
              </a:solidFill>
              <a:latin typeface="+mn-lt"/>
              <a:ea typeface="+mn-ea"/>
              <a:cs typeface="+mn-cs"/>
            </a:endParaRPr>
          </a:p>
          <a:p>
            <a:r>
              <a:rPr lang="en-AU" b="1" dirty="0"/>
              <a:t>“t </a:t>
            </a:r>
            <a:r>
              <a:rPr lang="en-AU" dirty="0"/>
              <a:t>is the time of the request.</a:t>
            </a:r>
            <a:r>
              <a:rPr lang="en-AU" b="1" dirty="0"/>
              <a:t> VT </a:t>
            </a:r>
            <a:r>
              <a:rPr lang="en-AU" dirty="0"/>
              <a:t>is the check that uses it: it compares t with the consent’s validity window T, and passes only when t is between the start and the end time.”</a:t>
            </a:r>
            <a:endParaRPr sz="1200" kern="1200" dirty="0">
              <a:solidFill>
                <a:srgbClr val="FFFFFF"/>
              </a:solidFill>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Objective one: the consent model. It is done.</a:t>
            </a:r>
            <a:endParaRPr lang="en-US" sz="1200" dirty="0"/>
          </a:p>
          <a:p>
            <a:r>
              <a:rPr dirty="0"/>
              <a:t>The patient chooses the doctor, the guardians, the data modules, and the start and expiry time. In this prototype, the purpose is fixed to Treatment.</a:t>
            </a:r>
          </a:p>
          <a:p>
            <a:r>
              <a:rPr dirty="0"/>
              <a:t>Bad input is rejected, for example an empty data scope or a malformed guardian </a:t>
            </a:r>
            <a:r>
              <a:rPr dirty="0">
                <a:solidFill>
                  <a:srgbClr val="FF0000"/>
                </a:solidFill>
              </a:rPr>
              <a:t>DID, which is a decentralised identifier.</a:t>
            </a:r>
            <a:r>
              <a:rPr dirty="0"/>
              <a:t> Then the system creates the consent object, gives it an ID, saves it, and records the event in the audit log.</a:t>
            </a:r>
            <a:endParaRPr lang="en-US" dirty="0"/>
          </a:p>
          <a:p>
            <a:endParaRPr lang="en-US" dirty="0"/>
          </a:p>
          <a:p>
            <a:r>
              <a:rPr lang="en-US" dirty="0"/>
              <a:t>--------------------------------------------------------------------------------------------------------------------------------------------
Inputs and Output
Require: Patient identity </a:t>
            </a:r>
            <a:r>
              <a:rPr lang="en-US" dirty="0" err="1"/>
              <a:t>I_p</a:t>
            </a:r>
            <a:r>
              <a:rPr lang="en-US" dirty="0"/>
              <a:t>, </a:t>
            </a:r>
            <a:r>
              <a:rPr lang="en-US" dirty="0" err="1"/>
              <a:t>authorised</a:t>
            </a:r>
            <a:r>
              <a:rPr lang="en-US" dirty="0"/>
              <a:t> doctor D, guardian set G, purpose </a:t>
            </a:r>
            <a:r>
              <a:rPr lang="en-US" dirty="0" err="1"/>
              <a:t>P_u</a:t>
            </a:r>
            <a:r>
              <a:rPr lang="en-US" dirty="0"/>
              <a:t>, data scope S_C, validity interval T
Explanation: The algorithm starts by receiving the information required to create a consent.
Ensure: Consent object C or rejection
Explanation: The algorithm either creates a valid consent or rejects the request.
Step-by-Step Explanation
Line 1: Validate </a:t>
            </a:r>
            <a:r>
              <a:rPr lang="en-US" dirty="0" err="1"/>
              <a:t>I_p</a:t>
            </a:r>
            <a:r>
              <a:rPr lang="en-US" dirty="0"/>
              <a:t>
First, we verify the patient’s identity.
Line 2: if </a:t>
            </a:r>
            <a:r>
              <a:rPr lang="en-US" dirty="0" err="1"/>
              <a:t>I_p</a:t>
            </a:r>
            <a:r>
              <a:rPr lang="en-US" dirty="0"/>
              <a:t> is invalid then
We check whether the patient’s identity is invalid.
Line 3: return REJECT
If the identity is invalid, the request is rejected.
Line 4: end if
This completes the identity validation check.
Line 5: Validate </a:t>
            </a:r>
            <a:r>
              <a:rPr lang="en-US" dirty="0" err="1"/>
              <a:t>authorised</a:t>
            </a:r>
            <a:r>
              <a:rPr lang="en-US" dirty="0"/>
              <a:t> doctor D, guardian set G, purpose </a:t>
            </a:r>
            <a:r>
              <a:rPr lang="en-US" dirty="0" err="1"/>
              <a:t>P_u</a:t>
            </a:r>
            <a:r>
              <a:rPr lang="en-US" dirty="0"/>
              <a:t> and data scope S_C
Next, we check the other parts of the consent: that the doctor is </a:t>
            </a:r>
            <a:r>
              <a:rPr lang="en-US" dirty="0" err="1"/>
              <a:t>authorised</a:t>
            </a:r>
            <a:r>
              <a:rPr lang="en-US" dirty="0"/>
              <a:t>, that the guardians are valid, that the purpose of using the patient’s data is valid, and that the data scope, which is the patient data that can be accessed, is valid.
Line 6: if any of them is invalid then
We check whether any of these four parts is invalid.
Line 7: return REJECT
If one of them is invalid, the request is rejected, and no consent is created.
Line 8: end if
This completes these four checks.
Line 9: Validate validity interval T = (</a:t>
            </a:r>
            <a:r>
              <a:rPr lang="en-US" dirty="0" err="1"/>
              <a:t>t_s</a:t>
            </a:r>
            <a:r>
              <a:rPr lang="en-US" dirty="0"/>
              <a:t>, </a:t>
            </a:r>
            <a:r>
              <a:rPr lang="en-US" dirty="0" err="1"/>
              <a:t>t_e</a:t>
            </a:r>
            <a:r>
              <a:rPr lang="en-US" dirty="0"/>
              <a:t>)
We check the consent’s start and end times.
Line 10: if </a:t>
            </a:r>
            <a:r>
              <a:rPr lang="en-US" dirty="0" err="1"/>
              <a:t>t_e</a:t>
            </a:r>
            <a:r>
              <a:rPr lang="en-US" dirty="0"/>
              <a:t> ≤ </a:t>
            </a:r>
            <a:r>
              <a:rPr lang="en-US" dirty="0" err="1"/>
              <a:t>t_s</a:t>
            </a:r>
            <a:r>
              <a:rPr lang="en-US" dirty="0"/>
              <a:t> then
We check whether the end time is earlier than or equal to the start time.
Line 11: return REJECT
If the time interval is invalid, the request is rejected.
Line 12: end if
This completes the time validation check.
Line 13: Define </a:t>
            </a:r>
            <a:r>
              <a:rPr lang="en-US" dirty="0" err="1"/>
              <a:t>authorisation</a:t>
            </a:r>
            <a:r>
              <a:rPr lang="en-US" dirty="0"/>
              <a:t> requirement A
We define the conditions that must be met later before access can be granted, such as the required guardian approvals.
Line 14: Generate consent identifier </a:t>
            </a:r>
            <a:r>
              <a:rPr lang="en-US" dirty="0" err="1"/>
              <a:t>id_C</a:t>
            </a:r>
            <a:r>
              <a:rPr lang="en-US" dirty="0"/>
              <a:t>
We generate a unique identifier for the consent.
Line 15: Construct C = (I, A, P, T, L, E)
We build the consent object from its six parts: identity I, </a:t>
            </a:r>
            <a:r>
              <a:rPr lang="en-US" dirty="0" err="1"/>
              <a:t>authorisation</a:t>
            </a:r>
            <a:r>
              <a:rPr lang="en-US" dirty="0"/>
              <a:t> requirements A, policy P (the purpose and the data scope), time T (the validity interval), the lifecycle state L, which starts as pending until the guardians approve, and evidence E.
Line 16: Persist C
We store the newly created consent object.
Line 17: Record consent creation evidence
We record evidence of the consent creation for auditing and traceability.
Line 18: return C
Finally, we return the successfully created consent object.
Note: In the prototype, the purpose is fixed to Treatment. </a:t>
            </a:r>
            <a:r>
              <a:rPr lang="en-US" dirty="0">
                <a:solidFill>
                  <a:srgbClr val="FF0000"/>
                </a:solidFill>
              </a:rPr>
              <a:t>The consent is saved in the state PENDING_SIGNATURE until all guardians approve.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flowchart shows Algorithm 1 in a simpler form. The system collects the inputs and validates them. If something is invalid, the request is rejected. Otherwise, it creates the consent, gives it an identifier, saves it, and records the creation event.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Objective two: identity and authority. It is done.</a:t>
            </a:r>
            <a:endParaRPr lang="en-US" dirty="0"/>
          </a:p>
          <a:p>
            <a:r>
              <a:rPr dirty="0"/>
              <a:t>I separate two questions: who are you, and what are you allowed to do? The DID answers the first question. The verifiable credential answers the second. A valid DID alone never gives access.</a:t>
            </a:r>
          </a:p>
          <a:p>
            <a:r>
              <a:rPr dirty="0"/>
              <a:t>In the prototype, the guardian's credential is checked before the signature is added. Full DID resolution is planned for the next stage.</a:t>
            </a:r>
            <a:endParaRPr lang="en-US" dirty="0"/>
          </a:p>
          <a:p>
            <a:r>
              <a:rPr lang="en-US" dirty="0"/>
              <a:t>------------------------------------------------------------------------------------------------------------------</a:t>
            </a:r>
          </a:p>
          <a:p>
            <a:endParaRPr lang="en-US" dirty="0"/>
          </a:p>
          <a:p>
            <a:r>
              <a:rPr lang="en-US" dirty="0"/>
              <a:t>Inputs and Output
Require: Participant u, consent object C
Explanation: The algorithm starts by receiving the participant who wants to take part and the consent object that defines the required authority.
Ensure: Verification result V_I(u)
Explanation: The algorithm returns VALID if both the participant’s identity and authority are verified, or INVALID otherwise. This result is not an access decision by itself; the later stages use it.
Step-by-Step Explanation
Line 1: Resolve DID of u
First, we resolve the participant’s DID to find their DID document.
Line 2: if DID resolution fails then
We check whether the DID could not be resolved.
Line 3: return INVALID
If the DID cannot be resolved, the participant is invalid and the process stops.
Line 4: end if
This completes the DID resolution check.
Line 5: Verify DID document and associated identity information
Next, we check that the DID document is well formed and that its keys can be trusted.
Line 6: if DID verification fails then
We check whether the DID verification failed.
Line 7: return INVALID
If it failed, we return INVALID.
Line 8: end if
This completes the DID verification check.
Line 9: Retrieve VC associated with u
Then, we retrieve the participant’s verifiable credential, which holds claims such as their role.
Line 10: if VC retrieval fails then
We check whether a credential could not be found.
Line 11: return INVALID
Without a credential, the participant cannot show any authority, so we return INVALID.
Line 12: end if
This completes the credential retrieval check.
Line 13: Verify VC signature, issuer, subject, and validity
We check that the signature is correct, the issuer is trusted, the credential belongs to this participant, and it is still within its valid time period.
Line 14: if VC verification fails then
We check whether any of these four checks failed.
Line 15: return INVALID
If any check fails, we return INVALID.
Line 16: end if
This completes the credential verification check.
Line 17: Extract role and authority claims from VC
Next, we read the role and authority claims from the credential, for example doctor or guardian.
Line 18: if claims do not satisfy the authority requirements of C then
We compare these claims with the </a:t>
            </a:r>
            <a:r>
              <a:rPr lang="en-US" dirty="0" err="1"/>
              <a:t>authorisation</a:t>
            </a:r>
            <a:r>
              <a:rPr lang="en-US" dirty="0"/>
              <a:t> requirements of consent C.
Line 19: return INVALID
If the claims do not meet the requirements, we return INVALID. A valid identity alone never gives access.
Line 20: end if
This completes the authority check.
Line 21: Record identity and authority verification evidence
We record the evidence, such as the DID, the credential, the issuer, the claims and the time, for auditing.
Line 22: return VALID
Finally, we return VALID, which means the participant’s identity and authority are both verified.
Note: Today, the guardian workflow verifies the guardian’s credential before adding the signature to the consent. Full DID resolution, in lines 1 to 8, is planned for the next stage.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flowchart shows Algorithm 2. The system checks the DID, then retrieves and verifies the credential, then checks that the role matches what the consent requires. If any step fails, the participant is rejected. If all pass, the evidence is recorded.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Objective three: multi-party approval. It is done. No single person can approve alone.</a:t>
            </a:r>
            <a:br>
              <a:rPr lang="en-AU" dirty="0"/>
            </a:br>
            <a:r>
              <a:rPr lang="en-AU" dirty="0"/>
              <a:t>The guardian set G is fixed when the consent is created. Each guardian signs a digital approval. The system checks who signed and that this person is in G. Approvals from outsiders and duplicate approvals are not counted.</a:t>
            </a:r>
            <a:br>
              <a:rPr lang="en-AU" dirty="0"/>
            </a:br>
            <a:r>
              <a:rPr lang="en-AU" dirty="0"/>
              <a:t>In the prototype, every listed guardian must sign: two of two in the demo. Then the consent becomes active.</a:t>
            </a:r>
            <a:br>
              <a:rPr lang="en-AU" dirty="0"/>
            </a:br>
            <a:r>
              <a:rPr lang="en-AU" dirty="0"/>
              <a:t>One limitation: guardian keys are currently derived from the DIDs. Wallet-held keys come in the next stage.</a:t>
            </a:r>
            <a:endParaRPr lang="ar-SA" dirty="0"/>
          </a:p>
          <a:p>
            <a:r>
              <a:rPr lang="en-US" dirty="0"/>
              <a:t>---------------------------------------------------------------------------------------------------------------------------------</a:t>
            </a:r>
          </a:p>
          <a:p>
            <a:r>
              <a:rPr lang="en-AU" dirty="0"/>
              <a:t>Note: In the prototype, N is the number of guardians, so the demo needs 2-of-2. When the threshold is met, </a:t>
            </a:r>
            <a:r>
              <a:rPr lang="en-AU" dirty="0">
                <a:solidFill>
                  <a:srgbClr val="FF0000"/>
                </a:solidFill>
              </a:rPr>
              <a:t>a local token is recorded and the consent becomes active.</a:t>
            </a:r>
            <a:endParaRPr lang="ar-SA" dirty="0"/>
          </a:p>
          <a:p>
            <a:r>
              <a:rPr lang="ar-SA" dirty="0"/>
              <a:t>--------------------------------------------------------------------------------------------------------------------------------------</a:t>
            </a:r>
            <a:endParaRPr lang="en-US" dirty="0"/>
          </a:p>
          <a:p>
            <a:r>
              <a:rPr lang="en-US" dirty="0"/>
              <a:t>
Inputs and Output
Require: Consent object C, participant approval a, threshold N
Explanation: The algorithm receives the consent, one approval from a participant, and the number of valid approvals that are needed.
Ensure: </a:t>
            </a:r>
            <a:r>
              <a:rPr lang="en-US" dirty="0" err="1"/>
              <a:t>Authorisation</a:t>
            </a:r>
            <a:r>
              <a:rPr lang="en-US" dirty="0"/>
              <a:t> result
Explanation: The algorithm returns ALLOW, PENDING or DENY for this approval.
Step-by-Step Explanation
Line 1: Retrieve required participant set G
First, we retrieve the set G of participants who are allowed to approve this consent, for example the guardians.
Line 2: Verify identity and authority of participant submitting a
Next, we verify the identity and authority of the person who submitted the approval. This can use the DID and VC check from Algorithm 2.
Line 3: if verification fails then
We check whether this verification has failed.
Line 4: Record invalid approval
If it failed, we record the approval as invalid.
Line 5: return DENY
The approval is denied, and it does not count towards the threshold.
Line 6: end if
This completes the identity and authority check.
Line 7: if participant is not in G then
Then, we check whether the participant is outside the required participant set G.
Line 8: Record </a:t>
            </a:r>
            <a:r>
              <a:rPr lang="en-US" dirty="0" err="1"/>
              <a:t>unauthorised</a:t>
            </a:r>
            <a:r>
              <a:rPr lang="en-US" dirty="0"/>
              <a:t> approval attempt
If so, we record it as an </a:t>
            </a:r>
            <a:r>
              <a:rPr lang="en-US" dirty="0" err="1"/>
              <a:t>unauthorised</a:t>
            </a:r>
            <a:r>
              <a:rPr lang="en-US" dirty="0"/>
              <a:t> approval attempt.
Line 9: return DENY
The approval is denied, because only members of G can be counted.
Line 10: end if
This completes the membership check.
Line 11: if participant has already approved C then
Next, we check whether this participant has already approved this consent.
Line 12: Record duplicate approval
If so, we record a duplicate approval.
Line 13: return DENY
The extra approval is denied, so one person cannot be counted twice.
Line 14: end if
This completes the duplicate check.
Line 15: Record valid approval a
The approval has passed all three checks, so we record it as valid.
Line 16: Update valid approval set </a:t>
            </a:r>
            <a:r>
              <a:rPr lang="en-US" dirty="0" err="1"/>
              <a:t>A_v</a:t>
            </a:r>
            <a:r>
              <a:rPr lang="en-US" dirty="0"/>
              <a:t>
We add this approval to the set of valid approvals, </a:t>
            </a:r>
            <a:r>
              <a:rPr lang="en-US" dirty="0" err="1"/>
              <a:t>A_v</a:t>
            </a:r>
            <a:r>
              <a:rPr lang="en-US" dirty="0"/>
              <a:t>.
Line 17: if |</a:t>
            </a:r>
            <a:r>
              <a:rPr lang="en-US" dirty="0" err="1"/>
              <a:t>A_v</a:t>
            </a:r>
            <a:r>
              <a:rPr lang="en-US" dirty="0"/>
              <a:t>| ≥ N then
We check whether the number of valid approvals has reached the threshold N.
Line 18: Activate </a:t>
            </a:r>
            <a:r>
              <a:rPr lang="en-US" dirty="0" err="1"/>
              <a:t>authorisation</a:t>
            </a:r>
            <a:r>
              <a:rPr lang="en-US" dirty="0"/>
              <a:t>
If it has, we activate the </a:t>
            </a:r>
            <a:r>
              <a:rPr lang="en-US" dirty="0" err="1"/>
              <a:t>authorisation</a:t>
            </a:r>
            <a:r>
              <a:rPr lang="en-US" dirty="0"/>
              <a:t>, so the consent can move on to the access-control stage.
Line 19: Generate activation or token evidence
We generate evidence of the activation, such as a consent token. It can include the consent identifier, the threshold N and the approving participants.
Line 20: Record threshold-satisfied event
We record in the audit log that the threshold was met, for traceability.
Line 21: return ALLOW
The result is ALLOW.
Line 22: else
Otherwise, the threshold has not been reached yet.
Line 23: Keep consent in pending state
We keep the consent in the pending state, so access is not activated.
Line 24: Record threshold-pending event
We record a threshold-pending event, so we can see later how many approvals are still needed.
Line 25: return PENDING
The result is PENDING, and the consent waits for more approvals.
Line 26: end if
Finally, this completes the threshold check, and the algorithm ends.
Note: In the prototype, N is the number of guardians, so the demo needs 2-of-2. When the threshold is met, </a:t>
            </a:r>
            <a:r>
              <a:rPr lang="en-US" dirty="0">
                <a:solidFill>
                  <a:srgbClr val="FF0000"/>
                </a:solidFill>
              </a:rPr>
              <a:t>a local token is recorded and the consent becomes active.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flowchart shows Algorithm 3. Each approval goes through three checks: is the signer verified, is the signer in G, and has the signer already approved? Only approvals that pass all three are counted. When the count reaches the threshold, the consent is activated and a consent token is recorded. Otherwise, it stays pending.</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Objective four: policy and data scope. It is done.</a:t>
            </a:r>
            <a:br>
              <a:rPr lang="en-AU" dirty="0"/>
            </a:br>
            <a:r>
              <a:rPr lang="en-AU" dirty="0"/>
              <a:t>A valid identity and all approvals are still not enough. The requested data must be inside the agreed scope. For example, if the consent covers Observation and Medication, a request for Procedure is denied.</a:t>
            </a:r>
            <a:br>
              <a:rPr lang="en-AU" dirty="0"/>
            </a:br>
            <a:r>
              <a:rPr lang="en-AU" dirty="0"/>
              <a:t>The purpose must also be a supported purpose. Time and lifecycle are checked in the same decision, and the access evidence must be verified before any data is returned.</a:t>
            </a:r>
            <a:endParaRPr lang="en-US" dirty="0"/>
          </a:p>
          <a:p>
            <a:r>
              <a:rPr lang="en-US" dirty="0"/>
              <a:t>----------------------------------------------------------------------------------------------------------------------------------</a:t>
            </a:r>
          </a:p>
          <a:p>
            <a:r>
              <a:rPr lang="en-US" dirty="0"/>
              <a:t>
Inputs and Output
Require: Consent object C, access request R, requesting participant u
Explanation: The algorithm starts with the patient’s consent, the request for data, and the participant who makes the request, for example a doctor.
Ensure: Access decision
Explanation: The algorithm returns one decision, ALLOW or DENY, and it records that decision.
Step-by-Step Explanation
Line 1: Verify DID and VC of u
First, we verify the </a:t>
            </a:r>
            <a:r>
              <a:rPr lang="en-US" dirty="0" err="1"/>
              <a:t>decentralised</a:t>
            </a:r>
            <a:r>
              <a:rPr lang="en-US" dirty="0"/>
              <a:t> identifier and the verifiable credential of the requester. This uses the identity check from Algorithm 2.
Line 2: if identity or authority verification fails then
We check whether the identity or authority check for the requester has failed.
Line 3: Record denied decision
If it has failed, we record the denied decision for auditing.
Line 4: return DENY
The request is denied and stops here.
Line 5: end if
This completes the identity and authority check.
Line 6: Evaluate consent state
Next, we check the current state of the consent. It must be active, within its validity period, and not revoked.
Line 7: if consent is not active then
We check whether the consent is not active.
Line 8: Record denied decision
If the consent is not active, we record the denied decision.
Line 9: return DENY
The request is denied.
Line 10: end if
This completes the consent state check.
Line 11: Verify multi-party </a:t>
            </a:r>
            <a:r>
              <a:rPr lang="en-US" dirty="0" err="1"/>
              <a:t>authorisation</a:t>
            </a:r>
            <a:r>
              <a:rPr lang="en-US" dirty="0"/>
              <a:t>
Then, we verify the multi-party </a:t>
            </a:r>
            <a:r>
              <a:rPr lang="en-US" dirty="0" err="1"/>
              <a:t>authorisation</a:t>
            </a:r>
            <a:r>
              <a:rPr lang="en-US" dirty="0"/>
              <a:t>. We compare the number of valid approvals, |</a:t>
            </a:r>
            <a:r>
              <a:rPr lang="en-US" dirty="0" err="1"/>
              <a:t>A_v</a:t>
            </a:r>
            <a:r>
              <a:rPr lang="en-US" dirty="0"/>
              <a:t>|, with the required threshold N.
Line 12: if threshold is not satisfied then
We check whether there are fewer valid approvals than the threshold.
Line 13: Record denied decision
If there are not enough approvals, we record the denied decision.
Line 14: return DENY
The request is denied.
Line 15: end if
This completes the multi-party </a:t>
            </a:r>
            <a:r>
              <a:rPr lang="en-US" dirty="0" err="1"/>
              <a:t>authorisation</a:t>
            </a:r>
            <a:r>
              <a:rPr lang="en-US" dirty="0"/>
              <a:t> check.
Line 16: Evaluate requested purpose
Next, we compare the purpose of the request with the purpose the patient allowed in the consent.
Line 17: if purpose is incompatible with consent then
We check whether the purpose does not match the consent. This stops valid credentials from being used for a purpose the patient did not allow.
Line 18: Record denied decision
If the purpose does not match, we record the denied decision.
Line 19: return DENY
The request is denied.
Line 20: end if
This completes the purpose check.
Line 21: Evaluate requested data scope
We look at the data the request asks for, S_R, and the data the patient allowed, S_C.
Line 22: if S_R ⊈ S_C then
We check whether the request asks for data outside the allowed scope. For example, the request may ask for Procedure records when only Observation and Medication records are allowed.
Line 23: Record denied decision
If the request goes outside the scope, we record the denied decision.
Line 24: return DENY
The request is denied.
Line 25: end if
This completes the data scope check.
Line 26: Generate or verify access evidence
All checks have passed, so we generate or verify the evidence for this decision. </a:t>
            </a:r>
            <a:r>
              <a:rPr lang="en-US" dirty="0">
                <a:solidFill>
                  <a:srgbClr val="FF0000"/>
                </a:solidFill>
              </a:rPr>
              <a:t>It must be valid before any data is released.</a:t>
            </a:r>
            <a:r>
              <a:rPr lang="en-US" dirty="0"/>
              <a:t>
Line 27: Retrieve </a:t>
            </a:r>
            <a:r>
              <a:rPr lang="en-US" dirty="0" err="1"/>
              <a:t>authorised</a:t>
            </a:r>
            <a:r>
              <a:rPr lang="en-US" dirty="0"/>
              <a:t> healthcare data
Then, we retrieve only the data inside the </a:t>
            </a:r>
            <a:r>
              <a:rPr lang="en-US" dirty="0" err="1"/>
              <a:t>authorised</a:t>
            </a:r>
            <a:r>
              <a:rPr lang="en-US" dirty="0"/>
              <a:t> scope, and nothing more.
Line 28: Record granted decision
We record the granted decision, so an auditor can see why and when access was given.
Line 29: return ALLOW
Finally, we return ALLOW, and the requester receives the </a:t>
            </a:r>
            <a:r>
              <a:rPr lang="en-US" dirty="0" err="1"/>
              <a:t>authorised</a:t>
            </a:r>
            <a:r>
              <a:rPr lang="en-US" dirty="0"/>
              <a:t> data.
Note: In the prototype, the request uses the consent’s own purpose, so the purpose check confirms that it is a supported healthcare purpose. The requested scope must also be non-empty.</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0000"/>
                </a:solidFill>
              </a:rPr>
              <a:t>This flowchart shows Algorithm 4. It checks the consent state, then the identity, then the approvals, then the purpose, then the data scope, then the time window, and finally the access proof. Any failure gives DENY and is recorded. Only when everything passes does the system return the </a:t>
            </a:r>
            <a:r>
              <a:rPr lang="en-US" dirty="0" err="1">
                <a:solidFill>
                  <a:srgbClr val="FF0000"/>
                </a:solidFill>
              </a:rPr>
              <a:t>authorised</a:t>
            </a:r>
            <a:r>
              <a:rPr lang="en-US" dirty="0">
                <a:solidFill>
                  <a:srgbClr val="FF0000"/>
                </a:solidFill>
              </a:rPr>
              <a:t> data.</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Objective five: time and lifecycle. This is in progress.</a:t>
            </a:r>
          </a:p>
          <a:p>
            <a:r>
              <a:rPr dirty="0"/>
              <a:t>What works now: the validity window is stored on-chain and checked at every request. Revocation works end to end, including an on-chain revoke transaction. The prototype has clear states, such as PENDING_SIGNATURE, ACTIVE, EXPIRED and REVOKED, and access is allowed only when the consent is ACTIVE.</a:t>
            </a:r>
          </a:p>
          <a:p>
            <a:r>
              <a:rPr dirty="0"/>
              <a:t>Next stage: the SUSPENDED state, the transition check, consent modification, delegation, guardian changes, and a formal lifecycle model.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Objective six: security assurance and validation. It is partially completed.</a:t>
            </a:r>
            <a:br>
              <a:rPr lang="en-AU" dirty="0"/>
            </a:br>
            <a:r>
              <a:rPr lang="en-AU" dirty="0"/>
              <a:t>The testing part is done: 46 automated tests pass, including the attack scenarios. I also measured the processing time of each check.</a:t>
            </a:r>
            <a:br>
              <a:rPr lang="en-AU" dirty="0"/>
            </a:br>
            <a:r>
              <a:rPr lang="en-AU" dirty="0"/>
              <a:t>The flowchart shows the process: define the security properties, run valid and attack scenarios, compare the results with what we expect, and improve the framework when something fails.</a:t>
            </a:r>
            <a:br>
              <a:rPr lang="en-AU" dirty="0"/>
            </a:br>
            <a:r>
              <a:rPr lang="en-AU" dirty="0"/>
              <a:t>The next stage adds formal proofs or model checking, and a larger evaluation under load.</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the prototype. HALAH means History Access Link for </a:t>
            </a:r>
            <a:r>
              <a:rPr lang="en-US" dirty="0" err="1"/>
              <a:t>Authorised</a:t>
            </a:r>
            <a:r>
              <a:rPr lang="en-US" dirty="0"/>
              <a:t> Healthcare.</a:t>
            </a:r>
          </a:p>
          <a:p>
            <a:r>
              <a:rPr lang="en-US" dirty="0"/>
              <a:t>It has four interfaces: patient, guardian, doctor and auditor. Every participant has a DID, and a verifiable credential is checked before access or approval. Every listed guardian must sign, and the consent becomes active only when all have signed. The decision engine checks the five conditions at every request, and one failed check gives DENY. The data are synthetic Synthea records. The audit ledger keeps all events, and the medical records stay inside the application.</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the patient screen. The patient enters the doctor’s DID, two guardians, the data modules and the end date.</a:t>
            </a:r>
            <a:br>
              <a:rPr lang="en-AU" dirty="0"/>
            </a:br>
            <a:r>
              <a:rPr lang="en-AU" dirty="0"/>
              <a:t>The system saves the consent and gives it an ID. The state is PENDING_SIGNATURE, with zero of two signatures. The consent is not active yet.</a:t>
            </a:r>
            <a:endParaRPr lang="ar-SA" dirty="0"/>
          </a:p>
          <a:p>
            <a:r>
              <a:rPr lang="ar-SA" dirty="0"/>
              <a:t>--------------------------------------------------------------------------------------</a:t>
            </a:r>
          </a:p>
          <a:p>
            <a:pPr rtl="1"/>
            <a:r>
              <a:rPr lang="en-AU" dirty="0"/>
              <a:t>:</a:t>
            </a:r>
          </a:p>
          <a:p>
            <a:pPr rtl="1"/>
            <a:r>
              <a:rPr lang="en-AU" b="1" dirty="0" err="1"/>
              <a:t>لو</a:t>
            </a:r>
            <a:r>
              <a:rPr lang="en-AU" b="1" dirty="0"/>
              <a:t> </a:t>
            </a:r>
            <a:r>
              <a:rPr lang="en-AU" b="1" dirty="0" err="1"/>
              <a:t>سألوا</a:t>
            </a:r>
            <a:r>
              <a:rPr lang="en-AU" b="1" dirty="0"/>
              <a:t> "</a:t>
            </a:r>
            <a:r>
              <a:rPr lang="en-AU" b="1" dirty="0" err="1">
                <a:solidFill>
                  <a:srgbClr val="FF0000"/>
                </a:solidFill>
              </a:rPr>
              <a:t>ليش الموافقة مو فعالة؟</a:t>
            </a:r>
            <a:r>
              <a:rPr lang="en-AU" b="1" dirty="0" err="1"/>
              <a:t>":</a:t>
            </a:r>
            <a:br>
              <a:rPr lang="en-AU" dirty="0"/>
            </a:br>
            <a:r>
              <a:rPr lang="en-AU" dirty="0"/>
              <a:t>“</a:t>
            </a:r>
            <a:r>
              <a:rPr lang="en-AU" dirty="0">
                <a:solidFill>
                  <a:srgbClr val="FF0000"/>
                </a:solidFill>
              </a:rPr>
              <a:t>It is pending until both guardians approve. Only then does it become active.</a:t>
            </a:r>
            <a:r>
              <a:rPr lang="en-AU" dirty="0"/>
              <a:t>”</a:t>
            </a:r>
          </a:p>
          <a:p>
            <a:pPr rtl="1"/>
            <a:r>
              <a:rPr lang="en-AU" b="1" dirty="0" err="1"/>
              <a:t>لو</a:t>
            </a:r>
            <a:r>
              <a:rPr lang="en-AU" b="1" dirty="0"/>
              <a:t> </a:t>
            </a:r>
            <a:r>
              <a:rPr lang="en-AU" b="1" dirty="0" err="1"/>
              <a:t>سألوا</a:t>
            </a:r>
            <a:r>
              <a:rPr lang="en-AU" b="1" dirty="0"/>
              <a:t> "</a:t>
            </a:r>
            <a:r>
              <a:rPr lang="en-AU" b="1" dirty="0" err="1"/>
              <a:t>وين</a:t>
            </a:r>
            <a:r>
              <a:rPr lang="en-AU" b="1" dirty="0"/>
              <a:t> RO1 </a:t>
            </a:r>
            <a:r>
              <a:rPr lang="en-AU" b="1" dirty="0" err="1"/>
              <a:t>هنا</a:t>
            </a:r>
            <a:r>
              <a:rPr lang="en-AU" b="1" dirty="0"/>
              <a:t>؟":</a:t>
            </a:r>
            <a:br>
              <a:rPr lang="en-AU" dirty="0"/>
            </a:br>
            <a:r>
              <a:rPr lang="en-AU" dirty="0"/>
              <a:t>“This is RO1. The consent is created as a structured object with identity, guardians, data scope and time, so it can be checked at every request later.”</a:t>
            </a:r>
          </a:p>
          <a:p>
            <a:pPr rtl="1"/>
            <a:r>
              <a:rPr lang="en-AU" b="1" dirty="0" err="1"/>
              <a:t>لو</a:t>
            </a:r>
            <a:r>
              <a:rPr lang="en-AU" b="1" dirty="0"/>
              <a:t> </a:t>
            </a:r>
            <a:r>
              <a:rPr lang="en-AU" b="1" dirty="0" err="1"/>
              <a:t>سألوا</a:t>
            </a:r>
            <a:r>
              <a:rPr lang="en-AU" b="1" dirty="0"/>
              <a:t> "</a:t>
            </a:r>
            <a:r>
              <a:rPr lang="en-AU" b="1" dirty="0" err="1"/>
              <a:t>هل</a:t>
            </a:r>
            <a:r>
              <a:rPr lang="en-AU" b="1" dirty="0"/>
              <a:t> </a:t>
            </a:r>
            <a:r>
              <a:rPr lang="en-AU" b="1" dirty="0" err="1"/>
              <a:t>النظام</a:t>
            </a:r>
            <a:r>
              <a:rPr lang="en-AU" b="1" dirty="0"/>
              <a:t> </a:t>
            </a:r>
            <a:r>
              <a:rPr lang="en-AU" b="1" dirty="0" err="1"/>
              <a:t>يتحقق</a:t>
            </a:r>
            <a:r>
              <a:rPr lang="en-AU" b="1" dirty="0"/>
              <a:t> </a:t>
            </a:r>
            <a:r>
              <a:rPr lang="en-AU" b="1" dirty="0" err="1"/>
              <a:t>من</a:t>
            </a:r>
            <a:r>
              <a:rPr lang="en-AU" b="1" dirty="0"/>
              <a:t> </a:t>
            </a:r>
            <a:r>
              <a:rPr lang="en-AU" b="1" dirty="0" err="1"/>
              <a:t>المدخلات</a:t>
            </a:r>
            <a:r>
              <a:rPr lang="en-AU" b="1" dirty="0"/>
              <a:t>؟":</a:t>
            </a:r>
            <a:br>
              <a:rPr lang="en-AU" dirty="0"/>
            </a:br>
            <a:r>
              <a:rPr lang="en-AU" dirty="0"/>
              <a:t>“Yes. Bad input is rejected, for example an empty data scope, a malformed DID, or an end date before the start date.”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the guardian screen. The first guardian enters the consent ID and chooses their DID. The guardian signs a digital approval, and the system checks the signature and finds who signed.</a:t>
            </a:r>
            <a:br>
              <a:rPr lang="en-AU" dirty="0"/>
            </a:br>
            <a:r>
              <a:rPr lang="en-AU" dirty="0"/>
              <a:t>The counter now shows one of two. One signature is not enough, so the consent stays pending.</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the second guardian signs. The signature is verified, and two of two guardians have signed, </a:t>
            </a:r>
            <a:r>
              <a:rPr dirty="0">
                <a:solidFill>
                  <a:srgbClr val="FF0000"/>
                </a:solidFill>
              </a:rPr>
              <a:t>so the threshold is reached and the consent becomes active.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doctor screen for the same consent. At the top you see the patient, the consent ID and the purpose, Treatment. The state is ACTIVE.</a:t>
            </a:r>
          </a:p>
          <a:p>
            <a:r>
              <a:t>The decision matrix shows all checks PASS, so the decision is ALLOW. The purpose is checked here, and the data scope is checked when the doctor asks for the data.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ALLOW and the proof check, the doctor sees the records, one table per module. Only the four modules in the consent are shown.</a:t>
            </a:r>
          </a:p>
          <a:p>
            <a:r>
              <a:t>If the doctor asks for data outside the scope, the request is refused, as attack test A4 shows. These are synthetic Synthea records, not real patients.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Validation asks one question: does the system do what it should?</a:t>
            </a:r>
          </a:p>
          <a:p>
            <a:r>
              <a:rPr>
                <a:solidFill>
                  <a:srgbClr val="FF0000"/>
                </a:solidFill>
              </a:rPr>
              <a:t>I used four kinds of evidence.</a:t>
            </a:r>
            <a:r>
              <a:t> Valid scenarios: correct requests were allowed. Negative scenarios: wrong requests were refused, for example a revoked consent. Attack scenarios: all twelve deliberate attempts to bypass a check were refused. Automated tests: all 46 pass.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table comes directly from the audit ledger of 24 September. Each row is one real request, with the five checks and the decision. All five requests passed every check, so access was granted.</a:t>
            </a:r>
          </a:p>
          <a:p>
            <a:r>
              <a:rPr dirty="0"/>
              <a:t>After revocation, the request was refused. At that time the refusal was not logged, but the prototype now logs these refusals too. The revocation is public on </a:t>
            </a:r>
            <a:r>
              <a:rPr dirty="0" err="1"/>
              <a:t>Sepolia</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table comes directly from the audit ledger. The first five rows are real requests from 24 September. All five passed every check, so access was granted.</a:t>
            </a:r>
          </a:p>
          <a:p>
            <a:r>
              <a:rPr dirty="0">
                <a:solidFill>
                  <a:srgbClr val="FF0000"/>
                </a:solidFill>
              </a:rPr>
              <a:t>After the revocation of 24 September, the request was refused, but at that time the refusal was not logged.</a:t>
            </a:r>
          </a:p>
          <a:p>
            <a:r>
              <a:rPr dirty="0"/>
              <a:t>The prototype now logs these refusals too. The last two rows are from a local test run on 11 October. In the first, a doctor who is not named in the consent asked for the data, so VI failed. In the second, the patient revoked the consent, so VA and VL failed. Both decisions were DENY, and both refusals were recorded.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also attacked my own system. This table shows each attack, the part of the consent it targets, and the result before and after hardening.</a:t>
            </a:r>
            <a:br>
              <a:rPr lang="en-AU" dirty="0"/>
            </a:br>
            <a:r>
              <a:rPr lang="en-AU" dirty="0"/>
              <a:t>Some attacks, marked Accepted, passed at unit level before the hardening, when the service function was called directly. For A1, A3 and A5, the interface already blocked them. A12 was accepted before the credential check was added. After hardening, all twelve attacks in this table are refused.</a:t>
            </a:r>
            <a:endParaRPr lang="ar-SA" dirty="0"/>
          </a:p>
          <a:p>
            <a:r>
              <a:rPr lang="en-AU" dirty="0"/>
              <a:t>-------------------------------------------------------------------------------------------------------------------</a:t>
            </a:r>
          </a:p>
          <a:p>
            <a:r>
              <a:rPr lang="en-AU" dirty="0"/>
              <a:t>A11 attacks the smart contract itself. An account that is not the owner tries to mint a consent token, revoke someone else’s consent, or transfer the token. All three are refused: only the owner can mint or revoke, and the token is </a:t>
            </a:r>
            <a:r>
              <a:rPr lang="en-AU" dirty="0" err="1"/>
              <a:t>soulbound</a:t>
            </a:r>
            <a:r>
              <a:rPr lang="en-AU" dirty="0"/>
              <a:t>, so it cannot be transferred. This test runs the contract code on a local test chain, not on </a:t>
            </a:r>
            <a:r>
              <a:rPr lang="en-AU" dirty="0" err="1"/>
              <a:t>Sepolia</a:t>
            </a:r>
            <a:r>
              <a:rPr lang="en-AU" dirty="0"/>
              <a:t>.</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difference in plain words. In a traditional EHR system, a central provider logs you in, and a static permission decides. Consent is just a saved record.</a:t>
            </a:r>
          </a:p>
          <a:p>
            <a:r>
              <a:t>In HALAH, every participant has a DID, and identity is separate from authority. Consent is an object checked at every request. All guardians must sign, so no single party can approve alone. Time and revocation are checked every time, and every decision is logged with its reasons.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the dataset used in my research.</a:t>
            </a:r>
          </a:p>
          <a:p>
            <a:r>
              <a:rPr lang="en-AU" dirty="0"/>
              <a:t>I used Synthea 1K, a public synthetic healthcare dataset.</a:t>
            </a:r>
          </a:p>
          <a:p>
            <a:r>
              <a:rPr lang="en-AU" dirty="0"/>
              <a:t>It contains 1,000 simulated patient records.</a:t>
            </a:r>
          </a:p>
          <a:p>
            <a:r>
              <a:rPr lang="en-AU" dirty="0"/>
              <a:t>The data includes patient information, medical conditions, medications, and procedures.</a:t>
            </a:r>
          </a:p>
          <a:p>
            <a:r>
              <a:rPr lang="en-AU" dirty="0"/>
              <a:t>The data is stored in CSV files.</a:t>
            </a:r>
          </a:p>
          <a:p>
            <a:r>
              <a:rPr lang="en-AU" dirty="0"/>
              <a:t>I used this dataset to test healthcare data access in my prototype.</a:t>
            </a:r>
          </a:p>
          <a:p>
            <a:r>
              <a:rPr lang="en-AU" dirty="0"/>
              <a:t>No real patient data was used.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contributions of this research. On the scientific side, it proposes three things.</a:t>
            </a:r>
          </a:p>
          <a:p>
            <a:r>
              <a:t>First, a trust-centric consent model that brings identity, authority, multi-party approval and policy into one healthcare authorisation framework.</a:t>
            </a:r>
          </a:p>
          <a:p>
            <a:r>
              <a:t>Second, a multi-party authorisation mechanism: access needs approval from several verified participants when collective consent is required.</a:t>
            </a:r>
          </a:p>
          <a:p>
            <a:r>
              <a:t>Third, a trust-aware authorisation approach that checks identity, authority, collective approval and policy compliance before giving access to healthcare data.</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social side, the research has three aims.</a:t>
            </a:r>
          </a:p>
          <a:p>
            <a:r>
              <a:t>It helps patients and their guardians manage consent, so they have more control over who can access their health data.</a:t>
            </a:r>
          </a:p>
          <a:p>
            <a:r>
              <a:t>It supports patient privacy, because access is limited to the agreed purpose and data scope.</a:t>
            </a:r>
          </a:p>
          <a:p>
            <a:r>
              <a:t>And it supports transparency and accountability, because every consent activity and access decision has a verifiable record.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my publications. Two papers were published in 2025 at the IEEE ICEBE conference. Three more papers were accepted in 2026: one at ICEBE 2026 and two at BWCCA 2026. Paper 4, on trusted multi-party consent governance, comes directly from this research.</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my research plan. Chapters one to four are done: introduction, literature review, research questions and objectives, and methodology. Chapters 5, 6 and 7 are done: the architecture and the solutions for RO2, RO3 and RO4. The BWCCA conference paper is done, and the SLR journal paper is ready for submission.</a:t>
            </a:r>
          </a:p>
          <a:p>
            <a:r>
              <a:t>In progress: Chapter 8, the solution for RO5.</a:t>
            </a:r>
          </a:p>
          <a:p>
            <a:r>
              <a:t>Planned: Chapter 9 with the conclusion in December, the journal paper on formal assurance in January 2027, the next candidature assessment in February 2027, and thesis submission in May 2027.</a:t>
            </a:r>
          </a:p>
          <a:p>
            <a:r>
              <a:t>-------------------------------------------------------------------------------------------</a:t>
            </a:r>
          </a:p>
          <a:p>
            <a:r>
              <a:t> yes I am confident to finish my PhD research on time I have a clear research plan and time plan . </a:t>
            </a:r>
          </a:p>
          <a:p>
            <a:r>
              <a:t> اذا الجواب no </a:t>
            </a:r>
          </a:p>
          <a:p>
            <a:r>
              <a:t>I believe I can finish on time but if I need more time I can apply for an extension </a:t>
            </a:r>
          </a:p>
          <a:p>
            <a:endParaRPr/>
          </a:p>
          <a:p>
            <a:r>
              <a:t>Ca3 gap thesis </a:t>
            </a:r>
          </a:p>
          <a:p>
            <a:r>
              <a:t>Get the feedback from my supervisor  then proofread my thesis and prepare for final submission  </a:t>
            </a:r>
          </a:p>
          <a:p>
            <a:r>
              <a:t>I need 3 months for addressing my supervisor  feedback and proofread my thesis before final submission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my research timeline. Chapters one to seven and the BWCCA conference paper are done. The SLR journal paper is ready for submission, and Chapter 8 on RO5 is in progress. In December, Chapter 9 with the conclusion. In January 2027, the journal paper on formal assurance. Then the next candidature assessment in February 2027, and thesis submission in May 2027.</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solidFill>
                  <a:srgbClr val="FF0000"/>
                </a:solidFill>
              </a:rPr>
              <a:t>These are the references I used in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Thank you for your attention. </a:t>
            </a:r>
          </a:p>
          <a:p>
            <a:endParaRPr dirty="0"/>
          </a:p>
          <a:p>
            <a:r>
              <a:rPr dirty="0"/>
              <a:t>Likely questions and short answers:</a:t>
            </a:r>
          </a:p>
          <a:p>
            <a:r>
              <a:rPr dirty="0"/>
              <a:t>1. Why blockchain, if the data stays off-chain? </a:t>
            </a:r>
          </a:p>
          <a:p>
            <a:r>
              <a:rPr dirty="0"/>
              <a:t>It gives a shared record that cannot be changed quietly: the consent state and the revocation. No medical data is on the chain.</a:t>
            </a:r>
          </a:p>
          <a:p>
            <a:r>
              <a:rPr dirty="0"/>
              <a:t>2. What is new? </a:t>
            </a:r>
          </a:p>
          <a:p>
            <a:r>
              <a:rPr dirty="0"/>
              <a:t>The consent object carries all the conditions. Multi-party approval is a condition of every access, not a backup path. And the whole decision is tested against attacks.</a:t>
            </a:r>
          </a:p>
          <a:p>
            <a:r>
              <a:rPr dirty="0"/>
              <a:t>3. Why is RO6 only partly done?</a:t>
            </a:r>
          </a:p>
          <a:p>
            <a:r>
              <a:rPr dirty="0"/>
              <a:t> The testing is done. The formal proofs are the next stage.</a:t>
            </a:r>
          </a:p>
          <a:p>
            <a:r>
              <a:rPr dirty="0"/>
              <a:t>4. Why Groth16? </a:t>
            </a:r>
          </a:p>
          <a:p>
            <a:r>
              <a:rPr dirty="0"/>
              <a:t>It proves the consent has not expired without showing the secret. Today the prover and verifier run on the same server, so it shows the ZK step works; it is not yet an extra privacy guarantee.</a:t>
            </a:r>
          </a:p>
          <a:p>
            <a:r>
              <a:rPr dirty="0"/>
              <a:t>5. Why did some attacks pass before the hardening?</a:t>
            </a:r>
          </a:p>
          <a:p>
            <a:r>
              <a:rPr dirty="0"/>
              <a:t> Only when the service functions were called directly, not through the screens. The checks are now in the service layer, so they are refused on every path.</a:t>
            </a:r>
          </a:p>
          <a:p>
            <a:r>
              <a:rPr dirty="0"/>
              <a:t>6. The guardian keys come from the DIDs. Can someone else sign?</a:t>
            </a:r>
          </a:p>
          <a:p>
            <a:r>
              <a:rPr dirty="0"/>
              <a:t> In the prototype, yes in principle. That is a known limitation. Wallet-held keys and full DID resolution are planned for the next stage.</a:t>
            </a:r>
          </a:p>
          <a:p>
            <a:r>
              <a:rPr dirty="0"/>
              <a:t>7. Why N-of-N and not k-of-n?</a:t>
            </a:r>
          </a:p>
          <a:p>
            <a:r>
              <a:rPr dirty="0"/>
              <a:t> N-of-N is the safest setting: no guardian can be bypassed. k-of-n is a direct </a:t>
            </a:r>
            <a:r>
              <a:rPr dirty="0" err="1"/>
              <a:t>generalisation</a:t>
            </a:r>
            <a:r>
              <a:rPr dirty="0"/>
              <a:t> for future work.</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15/10/2026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doi.org/10.2753/MIS0742-1222240302"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txBody>
          <a:bodyPr/>
          <a:lstStyle/>
          <a:p>
            <a:endParaRPr lang="en-AU"/>
          </a:p>
        </p:txBody>
      </p:sp>
      <p:pic>
        <p:nvPicPr>
          <p:cNvPr id="3" name="UTS logo" descr="/tmp/deck/img/uts.png"/>
          <p:cNvPicPr>
            <a:picLocks noChangeAspect="1"/>
          </p:cNvPicPr>
          <p:nvPr/>
        </p:nvPicPr>
        <p:blipFill>
          <a:blip r:embed="rId3"/>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marL="0" indent="0" algn="ctr">
              <a:buNone/>
            </a:pPr>
            <a:r>
              <a:rPr lang="en-US" sz="32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200" dirty="0"/>
          </a:p>
        </p:txBody>
      </p:sp>
      <p:sp>
        <p:nvSpPr>
          <p:cNvPr id="6" name="people"/>
          <p:cNvSpPr txBox="1"/>
          <p:nvPr/>
        </p:nvSpPr>
        <p:spPr>
          <a:xfrm>
            <a:off x="2194560" y="3840480"/>
            <a:ext cx="7772400" cy="1737360"/>
          </a:xfrm>
          <a:prstGeom prst="rect">
            <a:avLst/>
          </a:prstGeom>
          <a:noFill/>
          <a:ln/>
        </p:spPr>
        <p:txBody>
          <a:bodyPr wrap="square" rtlCol="0" anchor="ctr"/>
          <a:lstStyle/>
          <a:p>
            <a:pPr marL="0" indent="0" algn="ctr">
              <a:spcAft>
                <a:spcPts val="400"/>
              </a:spcAft>
              <a:buNone/>
            </a:pPr>
            <a:r>
              <a:rPr lang="en-US" sz="1800" b="1" i="1" dirty="0">
                <a:solidFill>
                  <a:srgbClr val="FFFFFF"/>
                </a:solidFill>
              </a:rPr>
              <a:t>Principal Supervisor: Professor Farookh Hussain</a:t>
            </a:r>
            <a:endParaRPr lang="en-US" sz="1800" dirty="0"/>
          </a:p>
          <a:p>
            <a:pPr marL="0" indent="0" algn="ctr">
              <a:spcAft>
                <a:spcPts val="400"/>
              </a:spcAft>
              <a:buNone/>
            </a:pPr>
            <a:r>
              <a:rPr lang="en-US" sz="1800" b="1" i="1" dirty="0">
                <a:solidFill>
                  <a:srgbClr val="FFFFFF"/>
                </a:solidFill>
              </a:rPr>
              <a:t>Co-Supervisor: Dr. Firas Al-Doghman</a:t>
            </a:r>
            <a:endParaRPr lang="en-US" sz="1800" dirty="0"/>
          </a:p>
          <a:p>
            <a:pPr marL="0" indent="0" algn="ctr">
              <a:spcAft>
                <a:spcPts val="400"/>
              </a:spcAft>
              <a:buNone/>
            </a:pPr>
            <a:r>
              <a:rPr lang="en-US" sz="1800" b="1" i="1" dirty="0">
                <a:solidFill>
                  <a:srgbClr val="FFFFFF"/>
                </a:solidFill>
              </a:rPr>
              <a:t>Presenter: Yasir Dhaifallah O Alyoubi</a:t>
            </a:r>
            <a:endParaRPr lang="en-US" sz="1800" dirty="0"/>
          </a:p>
          <a:p>
            <a:pPr marL="0" indent="0" algn="ctr">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cube 01"/>
          <p:cNvSpPr/>
          <p:nvPr/>
        </p:nvSpPr>
        <p:spPr>
          <a:xfrm>
            <a:off x="1060704" y="1965960"/>
            <a:ext cx="1097280" cy="731520"/>
          </a:xfrm>
          <a:prstGeom prst="cube">
            <a:avLst/>
          </a:prstGeom>
          <a:solidFill>
            <a:srgbClr val="285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5" name="number 01"/>
          <p:cNvSpPr txBox="1"/>
          <p:nvPr/>
        </p:nvSpPr>
        <p:spPr>
          <a:xfrm>
            <a:off x="1060704" y="2148840"/>
            <a:ext cx="914400" cy="54864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6" name="item 01"/>
          <p:cNvSpPr txBox="1"/>
          <p:nvPr/>
        </p:nvSpPr>
        <p:spPr>
          <a:xfrm>
            <a:off x="2340864" y="2148840"/>
            <a:ext cx="4114800" cy="548640"/>
          </a:xfrm>
          <a:prstGeom prst="rect">
            <a:avLst/>
          </a:prstGeom>
          <a:noFill/>
          <a:ln/>
        </p:spPr>
        <p:txBody>
          <a:bodyPr wrap="square" rtlCol="0" anchor="ctr"/>
          <a:lstStyle/>
          <a:p>
            <a:pPr marL="0" indent="0">
              <a:buNone/>
            </a:pPr>
            <a:r>
              <a:rPr lang="en-US" sz="1800" b="1" dirty="0">
                <a:solidFill>
                  <a:srgbClr val="FFFFFF"/>
                </a:solidFill>
              </a:rPr>
              <a:t>RESEARCH PROBLEM </a:t>
            </a:r>
            <a:endParaRPr lang="en-US" sz="1800" dirty="0"/>
          </a:p>
        </p:txBody>
      </p:sp>
      <p:sp>
        <p:nvSpPr>
          <p:cNvPr id="7" name="cube 02"/>
          <p:cNvSpPr/>
          <p:nvPr/>
        </p:nvSpPr>
        <p:spPr>
          <a:xfrm>
            <a:off x="1060704" y="2743200"/>
            <a:ext cx="1097280" cy="731520"/>
          </a:xfrm>
          <a:prstGeom prst="cube">
            <a:avLst/>
          </a:prstGeom>
          <a:solidFill>
            <a:srgbClr val="286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8" name="number 02"/>
          <p:cNvSpPr txBox="1"/>
          <p:nvPr/>
        </p:nvSpPr>
        <p:spPr>
          <a:xfrm>
            <a:off x="1060704" y="2926080"/>
            <a:ext cx="914400" cy="54864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9" name="item 02"/>
          <p:cNvSpPr txBox="1"/>
          <p:nvPr/>
        </p:nvSpPr>
        <p:spPr>
          <a:xfrm>
            <a:off x="2340864" y="2926080"/>
            <a:ext cx="4114800" cy="548640"/>
          </a:xfrm>
          <a:prstGeom prst="rect">
            <a:avLst/>
          </a:prstGeom>
          <a:noFill/>
          <a:ln/>
        </p:spPr>
        <p:txBody>
          <a:bodyPr wrap="square" rtlCol="0" anchor="ctr"/>
          <a:lstStyle/>
          <a:p>
            <a:pPr marL="0" indent="0">
              <a:buNone/>
            </a:pPr>
            <a:r>
              <a:rPr lang="en-US" sz="1800" b="1" dirty="0">
                <a:solidFill>
                  <a:srgbClr val="FFFFFF"/>
                </a:solidFill>
              </a:rPr>
              <a:t>LITERATURE REVIEW</a:t>
            </a:r>
            <a:endParaRPr lang="en-US" sz="1800" dirty="0"/>
          </a:p>
        </p:txBody>
      </p:sp>
      <p:sp>
        <p:nvSpPr>
          <p:cNvPr id="10" name="cube 03"/>
          <p:cNvSpPr/>
          <p:nvPr/>
        </p:nvSpPr>
        <p:spPr>
          <a:xfrm>
            <a:off x="1060704" y="3520440"/>
            <a:ext cx="1097280" cy="731520"/>
          </a:xfrm>
          <a:prstGeom prst="cube">
            <a:avLst/>
          </a:prstGeom>
          <a:solidFill>
            <a:srgbClr val="286E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1" name="number 03"/>
          <p:cNvSpPr txBox="1"/>
          <p:nvPr/>
        </p:nvSpPr>
        <p:spPr>
          <a:xfrm>
            <a:off x="1060704" y="3703320"/>
            <a:ext cx="914400" cy="54864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2" name="item 03"/>
          <p:cNvSpPr txBox="1"/>
          <p:nvPr/>
        </p:nvSpPr>
        <p:spPr>
          <a:xfrm>
            <a:off x="2340864" y="3703320"/>
            <a:ext cx="4114800" cy="548640"/>
          </a:xfrm>
          <a:prstGeom prst="rect">
            <a:avLst/>
          </a:prstGeom>
          <a:noFill/>
          <a:ln/>
        </p:spPr>
        <p:txBody>
          <a:bodyPr wrap="square" rtlCol="0" anchor="ctr"/>
          <a:lstStyle/>
          <a:p>
            <a:pPr marL="0" indent="0">
              <a:buNone/>
            </a:pPr>
            <a:r>
              <a:rPr lang="en-US" sz="1800" b="1" dirty="0">
                <a:solidFill>
                  <a:srgbClr val="FFFFFF"/>
                </a:solidFill>
              </a:rPr>
              <a:t>RESEARCH GAP</a:t>
            </a:r>
            <a:endParaRPr lang="en-US" sz="1800" dirty="0"/>
          </a:p>
        </p:txBody>
      </p:sp>
      <p:sp>
        <p:nvSpPr>
          <p:cNvPr id="13" name="cube 04"/>
          <p:cNvSpPr/>
          <p:nvPr/>
        </p:nvSpPr>
        <p:spPr>
          <a:xfrm>
            <a:off x="1060704" y="4297680"/>
            <a:ext cx="1097280" cy="731520"/>
          </a:xfrm>
          <a:prstGeom prst="cube">
            <a:avLst/>
          </a:prstGeom>
          <a:solidFill>
            <a:srgbClr val="2878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4" name="number 04"/>
          <p:cNvSpPr txBox="1"/>
          <p:nvPr/>
        </p:nvSpPr>
        <p:spPr>
          <a:xfrm>
            <a:off x="1060704" y="4480560"/>
            <a:ext cx="914400" cy="548640"/>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15" name="item 04"/>
          <p:cNvSpPr txBox="1"/>
          <p:nvPr/>
        </p:nvSpPr>
        <p:spPr>
          <a:xfrm>
            <a:off x="2340864" y="4480560"/>
            <a:ext cx="4114800" cy="548640"/>
          </a:xfrm>
          <a:prstGeom prst="rect">
            <a:avLst/>
          </a:prstGeom>
          <a:noFill/>
          <a:ln/>
        </p:spPr>
        <p:txBody>
          <a:bodyPr wrap="square" rtlCol="0" anchor="ctr"/>
          <a:lstStyle/>
          <a:p>
            <a:r>
              <a:rPr lang="en-US" b="1" dirty="0">
                <a:solidFill>
                  <a:srgbClr val="FFFFFF"/>
                </a:solidFill>
              </a:rPr>
              <a:t>RESEARCH QUESTIONS AND OBJECTIVES</a:t>
            </a:r>
            <a:endParaRPr lang="en-US" sz="1800" dirty="0"/>
          </a:p>
        </p:txBody>
      </p:sp>
      <p:sp>
        <p:nvSpPr>
          <p:cNvPr id="16" name="cube 05"/>
          <p:cNvSpPr/>
          <p:nvPr/>
        </p:nvSpPr>
        <p:spPr>
          <a:xfrm>
            <a:off x="1060704" y="5074920"/>
            <a:ext cx="1097280" cy="731520"/>
          </a:xfrm>
          <a:prstGeom prst="cube">
            <a:avLst/>
          </a:prstGeom>
          <a:solidFill>
            <a:srgbClr val="2882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7" name="number 05"/>
          <p:cNvSpPr txBox="1"/>
          <p:nvPr/>
        </p:nvSpPr>
        <p:spPr>
          <a:xfrm>
            <a:off x="1060704" y="5257800"/>
            <a:ext cx="914400" cy="548640"/>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18" name="item 05"/>
          <p:cNvSpPr txBox="1"/>
          <p:nvPr/>
        </p:nvSpPr>
        <p:spPr>
          <a:xfrm>
            <a:off x="2340864" y="5257800"/>
            <a:ext cx="4114800" cy="548640"/>
          </a:xfrm>
          <a:prstGeom prst="rect">
            <a:avLst/>
          </a:prstGeom>
          <a:noFill/>
          <a:ln/>
        </p:spPr>
        <p:txBody>
          <a:bodyPr wrap="square" rtlCol="0" anchor="ctr"/>
          <a:lstStyle/>
          <a:p>
            <a:r>
              <a:rPr lang="en-US" b="1" dirty="0">
                <a:solidFill>
                  <a:srgbClr val="FFFFFF"/>
                </a:solidFill>
              </a:rPr>
              <a:t>RESEARCH METHODOLOGY</a:t>
            </a:r>
            <a:endParaRPr lang="en-US" sz="1800" dirty="0"/>
          </a:p>
        </p:txBody>
      </p:sp>
      <p:sp>
        <p:nvSpPr>
          <p:cNvPr id="19" name="cube 06"/>
          <p:cNvSpPr/>
          <p:nvPr/>
        </p:nvSpPr>
        <p:spPr>
          <a:xfrm>
            <a:off x="6547104" y="1965960"/>
            <a:ext cx="1097280" cy="731520"/>
          </a:xfrm>
          <a:prstGeom prst="cube">
            <a:avLst/>
          </a:prstGeom>
          <a:solidFill>
            <a:srgbClr val="288C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0" name="number 06"/>
          <p:cNvSpPr txBox="1"/>
          <p:nvPr/>
        </p:nvSpPr>
        <p:spPr>
          <a:xfrm>
            <a:off x="6547104" y="2148840"/>
            <a:ext cx="914400" cy="548640"/>
          </a:xfrm>
          <a:prstGeom prst="rect">
            <a:avLst/>
          </a:prstGeom>
          <a:noFill/>
          <a:ln/>
        </p:spPr>
        <p:txBody>
          <a:bodyPr wrap="square" rtlCol="0" anchor="ctr"/>
          <a:lstStyle/>
          <a:p>
            <a:pPr marL="0" indent="0" algn="ctr">
              <a:buNone/>
            </a:pPr>
            <a:r>
              <a:rPr lang="en-US" sz="1600" b="1" dirty="0">
                <a:solidFill>
                  <a:srgbClr val="FFFFFF"/>
                </a:solidFill>
              </a:rPr>
              <a:t>06</a:t>
            </a:r>
            <a:endParaRPr lang="en-US" sz="1600" dirty="0"/>
          </a:p>
        </p:txBody>
      </p:sp>
      <p:sp>
        <p:nvSpPr>
          <p:cNvPr id="21" name="item 06"/>
          <p:cNvSpPr txBox="1"/>
          <p:nvPr/>
        </p:nvSpPr>
        <p:spPr>
          <a:xfrm>
            <a:off x="7827264" y="2148840"/>
            <a:ext cx="4206240" cy="548640"/>
          </a:xfrm>
          <a:prstGeom prst="rect">
            <a:avLst/>
          </a:prstGeom>
          <a:noFill/>
          <a:ln/>
        </p:spPr>
        <p:txBody>
          <a:bodyPr wrap="square" rtlCol="0" anchor="ctr"/>
          <a:lstStyle/>
          <a:p>
            <a:r>
              <a:rPr lang="en-US" b="1" dirty="0">
                <a:solidFill>
                  <a:srgbClr val="FFFFFF"/>
                </a:solidFill>
              </a:rPr>
              <a:t>OVERVIEW SOLUTION OF OBJECTIVES </a:t>
            </a:r>
            <a:endParaRPr lang="en-US" sz="1800" dirty="0"/>
          </a:p>
        </p:txBody>
      </p:sp>
      <p:sp>
        <p:nvSpPr>
          <p:cNvPr id="22" name="cube 07"/>
          <p:cNvSpPr/>
          <p:nvPr/>
        </p:nvSpPr>
        <p:spPr>
          <a:xfrm>
            <a:off x="6547104" y="2743200"/>
            <a:ext cx="1097280" cy="731520"/>
          </a:xfrm>
          <a:prstGeom prst="cube">
            <a:avLst/>
          </a:prstGeom>
          <a:solidFill>
            <a:srgbClr val="2896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3" name="number 07"/>
          <p:cNvSpPr txBox="1"/>
          <p:nvPr/>
        </p:nvSpPr>
        <p:spPr>
          <a:xfrm>
            <a:off x="6547104" y="2926080"/>
            <a:ext cx="914400" cy="548640"/>
          </a:xfrm>
          <a:prstGeom prst="rect">
            <a:avLst/>
          </a:prstGeom>
          <a:noFill/>
          <a:ln/>
        </p:spPr>
        <p:txBody>
          <a:bodyPr wrap="square" rtlCol="0" anchor="ctr"/>
          <a:lstStyle/>
          <a:p>
            <a:pPr marL="0" indent="0" algn="ctr">
              <a:buNone/>
            </a:pPr>
            <a:r>
              <a:rPr lang="en-US" sz="1600" b="1" dirty="0">
                <a:solidFill>
                  <a:srgbClr val="FFFFFF"/>
                </a:solidFill>
              </a:rPr>
              <a:t>07</a:t>
            </a:r>
            <a:endParaRPr lang="en-US" sz="1600" dirty="0"/>
          </a:p>
        </p:txBody>
      </p:sp>
      <p:sp>
        <p:nvSpPr>
          <p:cNvPr id="24" name="item 07"/>
          <p:cNvSpPr txBox="1"/>
          <p:nvPr/>
        </p:nvSpPr>
        <p:spPr>
          <a:xfrm>
            <a:off x="7827264" y="2926080"/>
            <a:ext cx="4206240" cy="548640"/>
          </a:xfrm>
          <a:prstGeom prst="rect">
            <a:avLst/>
          </a:prstGeom>
          <a:noFill/>
          <a:ln/>
        </p:spPr>
        <p:txBody>
          <a:bodyPr wrap="square" rtlCol="0" anchor="ctr"/>
          <a:lstStyle/>
          <a:p>
            <a:r>
              <a:rPr lang="en-US" b="1" dirty="0">
                <a:solidFill>
                  <a:srgbClr val="FFFFFF"/>
                </a:solidFill>
              </a:rPr>
              <a:t>RESEARCH</a:t>
            </a:r>
            <a:r>
              <a:rPr lang="en-US" b="1" dirty="0">
                <a:solidFill>
                  <a:srgbClr val="FFFFFF"/>
                </a:solidFill>
                <a:latin typeface="Arial" pitchFamily="34" charset="0"/>
                <a:ea typeface="Arial" pitchFamily="34" charset="-122"/>
                <a:cs typeface="Arial" pitchFamily="34" charset="-120"/>
              </a:rPr>
              <a:t> </a:t>
            </a:r>
            <a:r>
              <a:rPr lang="en-US" b="1" dirty="0">
                <a:solidFill>
                  <a:srgbClr val="FFFFFF"/>
                </a:solidFill>
              </a:rPr>
              <a:t>CONTRIBUTIONS</a:t>
            </a:r>
            <a:r>
              <a:rPr lang="ar-SA" b="1" dirty="0">
                <a:solidFill>
                  <a:srgbClr val="FFFFFF"/>
                </a:solidFill>
                <a:latin typeface="Arial" pitchFamily="34" charset="0"/>
                <a:cs typeface="Arial" pitchFamily="34" charset="-120"/>
              </a:rPr>
              <a:t> </a:t>
            </a:r>
            <a:endParaRPr lang="en-US" b="1" dirty="0">
              <a:solidFill>
                <a:srgbClr val="FFFFFF"/>
              </a:solidFill>
              <a:latin typeface="Arial" pitchFamily="34" charset="0"/>
              <a:cs typeface="Arial" pitchFamily="34" charset="-120"/>
            </a:endParaRPr>
          </a:p>
        </p:txBody>
      </p:sp>
      <p:sp>
        <p:nvSpPr>
          <p:cNvPr id="25" name="cube 08"/>
          <p:cNvSpPr/>
          <p:nvPr/>
        </p:nvSpPr>
        <p:spPr>
          <a:xfrm>
            <a:off x="6547104" y="3520440"/>
            <a:ext cx="1097280" cy="731520"/>
          </a:xfrm>
          <a:prstGeom prst="cube">
            <a:avLst/>
          </a:prstGeom>
          <a:solidFill>
            <a:srgbClr val="28A0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6" name="number 08"/>
          <p:cNvSpPr txBox="1"/>
          <p:nvPr/>
        </p:nvSpPr>
        <p:spPr>
          <a:xfrm>
            <a:off x="6547104" y="3703320"/>
            <a:ext cx="914400" cy="548640"/>
          </a:xfrm>
          <a:prstGeom prst="rect">
            <a:avLst/>
          </a:prstGeom>
          <a:noFill/>
          <a:ln/>
        </p:spPr>
        <p:txBody>
          <a:bodyPr wrap="square" rtlCol="0" anchor="ctr"/>
          <a:lstStyle/>
          <a:p>
            <a:pPr marL="0" indent="0" algn="ctr">
              <a:buNone/>
            </a:pPr>
            <a:r>
              <a:rPr lang="en-US" sz="1600" b="1" dirty="0">
                <a:solidFill>
                  <a:srgbClr val="FFFFFF"/>
                </a:solidFill>
              </a:rPr>
              <a:t>08</a:t>
            </a:r>
            <a:endParaRPr lang="en-US" sz="1600" dirty="0"/>
          </a:p>
        </p:txBody>
      </p:sp>
      <p:sp>
        <p:nvSpPr>
          <p:cNvPr id="27" name="item 08"/>
          <p:cNvSpPr txBox="1"/>
          <p:nvPr/>
        </p:nvSpPr>
        <p:spPr>
          <a:xfrm>
            <a:off x="7827264" y="3703320"/>
            <a:ext cx="4206240" cy="548640"/>
          </a:xfrm>
          <a:prstGeom prst="rect">
            <a:avLst/>
          </a:prstGeom>
          <a:noFill/>
          <a:ln/>
        </p:spPr>
        <p:txBody>
          <a:bodyPr wrap="square" rtlCol="0" anchor="ctr"/>
          <a:lstStyle/>
          <a:p>
            <a:pPr marL="0" indent="0">
              <a:buNone/>
            </a:pPr>
            <a:r>
              <a:rPr lang="en-US" sz="1800" b="1" dirty="0">
                <a:solidFill>
                  <a:srgbClr val="FFFFFF"/>
                </a:solidFill>
              </a:rPr>
              <a:t>PUBLICATIONS</a:t>
            </a:r>
            <a:endParaRPr lang="en-US" sz="1800" dirty="0"/>
          </a:p>
        </p:txBody>
      </p:sp>
      <p:sp>
        <p:nvSpPr>
          <p:cNvPr id="28" name="cube 09"/>
          <p:cNvSpPr/>
          <p:nvPr/>
        </p:nvSpPr>
        <p:spPr>
          <a:xfrm>
            <a:off x="6547104" y="4297680"/>
            <a:ext cx="1097280" cy="731520"/>
          </a:xfrm>
          <a:prstGeom prst="cube">
            <a:avLst/>
          </a:prstGeom>
          <a:solidFill>
            <a:srgbClr val="28A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9" name="number 09"/>
          <p:cNvSpPr txBox="1"/>
          <p:nvPr/>
        </p:nvSpPr>
        <p:spPr>
          <a:xfrm>
            <a:off x="6547104" y="4480560"/>
            <a:ext cx="914400" cy="548640"/>
          </a:xfrm>
          <a:prstGeom prst="rect">
            <a:avLst/>
          </a:prstGeom>
          <a:noFill/>
          <a:ln/>
        </p:spPr>
        <p:txBody>
          <a:bodyPr wrap="square" rtlCol="0" anchor="ctr"/>
          <a:lstStyle/>
          <a:p>
            <a:pPr marL="0" indent="0" algn="ctr">
              <a:buNone/>
            </a:pPr>
            <a:r>
              <a:rPr lang="en-US" sz="1600" b="1" dirty="0">
                <a:solidFill>
                  <a:srgbClr val="FFFFFF"/>
                </a:solidFill>
              </a:rPr>
              <a:t>09</a:t>
            </a:r>
            <a:endParaRPr lang="en-US" sz="1600" dirty="0"/>
          </a:p>
        </p:txBody>
      </p:sp>
      <p:sp>
        <p:nvSpPr>
          <p:cNvPr id="30" name="item 09"/>
          <p:cNvSpPr txBox="1"/>
          <p:nvPr/>
        </p:nvSpPr>
        <p:spPr>
          <a:xfrm>
            <a:off x="7827264" y="4480560"/>
            <a:ext cx="4206240" cy="548640"/>
          </a:xfrm>
          <a:prstGeom prst="rect">
            <a:avLst/>
          </a:prstGeom>
          <a:noFill/>
          <a:ln/>
        </p:spPr>
        <p:txBody>
          <a:bodyPr wrap="square" rtlCol="0" anchor="ctr"/>
          <a:lstStyle/>
          <a:p>
            <a:r>
              <a:rPr lang="en-US" b="1" dirty="0">
                <a:solidFill>
                  <a:srgbClr val="FFFFFF"/>
                </a:solidFill>
              </a:rPr>
              <a:t>RESEARCH PLAN</a:t>
            </a:r>
            <a:endParaRPr lang="en-US" sz="1800" dirty="0"/>
          </a:p>
        </p:txBody>
      </p:sp>
      <p:sp>
        <p:nvSpPr>
          <p:cNvPr id="31" name="cube 10"/>
          <p:cNvSpPr/>
          <p:nvPr/>
        </p:nvSpPr>
        <p:spPr>
          <a:xfrm>
            <a:off x="6547104" y="5074920"/>
            <a:ext cx="1097280" cy="731520"/>
          </a:xfrm>
          <a:prstGeom prst="cube">
            <a:avLst/>
          </a:prstGeom>
          <a:solidFill>
            <a:srgbClr val="28B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32" name="number 10"/>
          <p:cNvSpPr txBox="1"/>
          <p:nvPr/>
        </p:nvSpPr>
        <p:spPr>
          <a:xfrm>
            <a:off x="6547104" y="5257800"/>
            <a:ext cx="914400" cy="548640"/>
          </a:xfrm>
          <a:prstGeom prst="rect">
            <a:avLst/>
          </a:prstGeom>
          <a:noFill/>
          <a:ln/>
        </p:spPr>
        <p:txBody>
          <a:bodyPr wrap="square" rtlCol="0" anchor="ctr"/>
          <a:lstStyle/>
          <a:p>
            <a:pPr marL="0" indent="0" algn="ctr">
              <a:buNone/>
            </a:pPr>
            <a:r>
              <a:rPr lang="en-US" sz="1600" b="1" dirty="0">
                <a:solidFill>
                  <a:srgbClr val="FFFFFF"/>
                </a:solidFill>
              </a:rPr>
              <a:t>10</a:t>
            </a:r>
            <a:endParaRPr lang="en-US" sz="1600" dirty="0"/>
          </a:p>
        </p:txBody>
      </p:sp>
      <p:sp>
        <p:nvSpPr>
          <p:cNvPr id="33" name="item 10"/>
          <p:cNvSpPr txBox="1"/>
          <p:nvPr/>
        </p:nvSpPr>
        <p:spPr>
          <a:xfrm>
            <a:off x="7827264" y="5257800"/>
            <a:ext cx="4206240" cy="548640"/>
          </a:xfrm>
          <a:prstGeom prst="rect">
            <a:avLst/>
          </a:prstGeom>
          <a:noFill/>
          <a:ln/>
        </p:spPr>
        <p:txBody>
          <a:bodyPr wrap="square" rtlCol="0" anchor="ctr"/>
          <a:lstStyle/>
          <a:p>
            <a:pPr marL="0" indent="0">
              <a:buNone/>
            </a:pPr>
            <a:r>
              <a:rPr lang="en-US" sz="1800" b="1" dirty="0">
                <a:solidFill>
                  <a:srgbClr val="FFFFFF"/>
                </a:solidFill>
              </a:rPr>
              <a:t>REFERENCES</a:t>
            </a:r>
            <a:endParaRPr lang="en-US" sz="1800" dirty="0"/>
          </a:p>
        </p:txBody>
      </p:sp>
      <p:sp>
        <p:nvSpPr>
          <p:cNvPr id="3"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RESEARCH PROBLEM</a:t>
            </a:r>
            <a:endParaRPr lang="en-US" sz="3000" dirty="0"/>
          </a:p>
        </p:txBody>
      </p:sp>
      <p:sp>
        <p:nvSpPr>
          <p:cNvPr id="4" name="bullets"/>
          <p:cNvSpPr txBox="1"/>
          <p:nvPr/>
        </p:nvSpPr>
        <p:spPr>
          <a:xfrm>
            <a:off x="822960" y="1280160"/>
            <a:ext cx="621792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shared between many independent parties: patient, guardians, doctor, hospital.</a:t>
            </a:r>
            <a:endParaRPr lang="en-US" sz="1900" dirty="0"/>
          </a:p>
          <a:p>
            <a:pPr marL="342900" indent="-342900">
              <a:spcAft>
                <a:spcPts val="1000"/>
              </a:spcAft>
              <a:buSzPct val="100000"/>
              <a:buChar char="•"/>
            </a:pPr>
            <a:r>
              <a:rPr lang="en-US" sz="1900" dirty="0">
                <a:solidFill>
                  <a:srgbClr val="FFFFFF"/>
                </a:solidFill>
              </a:rPr>
              <a:t>Today, consent is a stored record. It shows that permission was given, but it checks nothing at access time.</a:t>
            </a:r>
            <a:endParaRPr lang="en-US" sz="1900" dirty="0"/>
          </a:p>
          <a:p>
            <a:pPr marL="342900" indent="-342900">
              <a:spcAft>
                <a:spcPts val="1000"/>
              </a:spcAft>
              <a:buSzPct val="100000"/>
              <a:buChar char="•"/>
            </a:pPr>
            <a:r>
              <a:rPr lang="en-US" sz="1900" dirty="0">
                <a:solidFill>
                  <a:srgbClr val="FFFFFF"/>
                </a:solidFill>
              </a:rPr>
              <a:t>A valid identity does not prove the right to see this patient's data.</a:t>
            </a:r>
            <a:endParaRPr lang="en-US" sz="1900" dirty="0"/>
          </a:p>
          <a:p>
            <a:pPr marL="342900" indent="-342900">
              <a:spcAft>
                <a:spcPts val="1000"/>
              </a:spcAft>
              <a:buSzPct val="100000"/>
              <a:buChar char="•"/>
            </a:pPr>
            <a:r>
              <a:rPr lang="en-US" sz="1900" dirty="0">
                <a:solidFill>
                  <a:srgbClr val="FFFFFF"/>
                </a:solidFill>
              </a:rPr>
              <a:t>A request can ask for more data than allowed, or arrive after the consent expired or was revoked.</a:t>
            </a:r>
            <a:endParaRPr lang="en-US" sz="1900" dirty="0"/>
          </a:p>
          <a:p>
            <a:pPr marL="342900" indent="-342900">
              <a:spcAft>
                <a:spcPts val="1000"/>
              </a:spcAft>
              <a:buSzPct val="100000"/>
              <a:buChar char="•"/>
            </a:pPr>
            <a:r>
              <a:rPr lang="en-US" sz="1900" dirty="0">
                <a:solidFill>
                  <a:srgbClr val="FFFFFF"/>
                </a:solidFill>
              </a:rPr>
              <a:t>None of the reviewed studies proves or tests the whole decision.</a:t>
            </a:r>
            <a:endParaRPr lang="en-US" sz="1900" dirty="0"/>
          </a:p>
        </p:txBody>
      </p:sp>
      <p:sp>
        <p:nvSpPr>
          <p:cNvPr id="5" name="card In one sentence"/>
          <p:cNvSpPr/>
          <p:nvPr/>
        </p:nvSpPr>
        <p:spPr>
          <a:xfrm>
            <a:off x="882315" y="5108933"/>
            <a:ext cx="9380668" cy="937814"/>
          </a:xfrm>
          <a:prstGeom prst="roundRect">
            <a:avLst>
              <a:gd name="adj" fmla="val 2326"/>
            </a:avLst>
          </a:prstGeom>
          <a:solidFill>
            <a:srgbClr val="FFFFFF">
              <a:alpha val="92000"/>
            </a:srgbClr>
          </a:solidFill>
          <a:ln w="19050">
            <a:solidFill>
              <a:srgbClr val="1FB5D6"/>
            </a:solidFill>
            <a:prstDash val="solid"/>
          </a:ln>
        </p:spPr>
        <p:txBody>
          <a:bodyPr/>
          <a:lstStyle/>
          <a:p>
            <a:endParaRPr lang="en-AU"/>
          </a:p>
        </p:txBody>
      </p:sp>
      <p:sp>
        <p:nvSpPr>
          <p:cNvPr id="6" name="card text In one sentence"/>
          <p:cNvSpPr txBox="1"/>
          <p:nvPr/>
        </p:nvSpPr>
        <p:spPr>
          <a:xfrm>
            <a:off x="1214239" y="5256375"/>
            <a:ext cx="8726202" cy="839097"/>
          </a:xfrm>
          <a:prstGeom prst="rect">
            <a:avLst/>
          </a:prstGeom>
          <a:noFill/>
          <a:ln/>
        </p:spPr>
        <p:txBody>
          <a:bodyPr wrap="square" rtlCol="0" anchor="t"/>
          <a:lstStyle/>
          <a:p>
            <a:pPr marL="0" indent="0">
              <a:spcAft>
                <a:spcPts val="400"/>
              </a:spcAft>
              <a:buNone/>
            </a:pPr>
            <a:r>
              <a:rPr lang="en-US" sz="1600" b="1" i="1" dirty="0">
                <a:solidFill>
                  <a:srgbClr val="0B1F33"/>
                </a:solidFill>
              </a:rPr>
              <a:t>The main problem </a:t>
            </a:r>
            <a:r>
              <a:rPr lang="en-US" sz="1600" dirty="0">
                <a:solidFill>
                  <a:srgbClr val="0B1F33"/>
                </a:solidFill>
              </a:rPr>
              <a:t>is that there is no trusted mechanism that checks identity, authority, multi-party approval, policy, time and lifecycle together in one access decision, with evidence that it is secure.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KEY IDEA</a:t>
            </a:r>
            <a:endParaRPr lang="en-US" sz="3000" dirty="0"/>
          </a:p>
        </p:txBody>
      </p:sp>
      <p:sp>
        <p:nvSpPr>
          <p:cNvPr id="4" name="idea box"/>
          <p:cNvSpPr/>
          <p:nvPr/>
        </p:nvSpPr>
        <p:spPr>
          <a:xfrm>
            <a:off x="822960" y="1188720"/>
            <a:ext cx="10424160" cy="1371600"/>
          </a:xfrm>
          <a:prstGeom prst="roundRect">
            <a:avLst>
              <a:gd name="adj" fmla="val 6667"/>
            </a:avLst>
          </a:prstGeom>
          <a:solidFill>
            <a:srgbClr val="0B2A4A">
              <a:alpha val="85000"/>
            </a:srgbClr>
          </a:solidFill>
          <a:ln w="19050">
            <a:solidFill>
              <a:srgbClr val="1FB5D6"/>
            </a:solidFill>
            <a:prstDash val="solid"/>
          </a:ln>
        </p:spPr>
        <p:txBody>
          <a:bodyPr/>
          <a:lstStyle/>
          <a:p>
            <a:endParaRPr lang="en-AU"/>
          </a:p>
        </p:txBody>
      </p:sp>
      <p:sp>
        <p:nvSpPr>
          <p:cNvPr id="5" name="idea text"/>
          <p:cNvSpPr txBox="1"/>
          <p:nvPr/>
        </p:nvSpPr>
        <p:spPr>
          <a:xfrm>
            <a:off x="1005840" y="1234440"/>
            <a:ext cx="10058400" cy="1280160"/>
          </a:xfrm>
          <a:prstGeom prst="rect">
            <a:avLst/>
          </a:prstGeom>
          <a:noFill/>
          <a:ln/>
        </p:spPr>
        <p:txBody>
          <a:bodyPr wrap="square" rtlCol="0" anchor="ctr"/>
          <a:lstStyle/>
          <a:p>
            <a:pPr marL="0" indent="0" algn="ctr">
              <a:buNone/>
            </a:pPr>
            <a:r>
              <a:rPr lang="en-US" sz="2000" b="1" dirty="0">
                <a:solidFill>
                  <a:srgbClr val="FFFFFF"/>
                </a:solidFill>
              </a:rPr>
              <a:t>Consent is not a stored record. It is an object checked at every request.</a:t>
            </a:r>
            <a:endParaRPr lang="en-US" sz="2000" dirty="0"/>
          </a:p>
          <a:p>
            <a:pPr marL="0" indent="0" algn="ctr">
              <a:buNone/>
            </a:pPr>
            <a:r>
              <a:rPr lang="en-US" sz="2800" b="1" dirty="0">
                <a:solidFill>
                  <a:srgbClr val="1FB5D6"/>
                </a:solidFill>
              </a:rPr>
              <a:t>C = (I, A, P, T, L, E)</a:t>
            </a:r>
            <a:endParaRPr lang="en-US" sz="2000" dirty="0"/>
          </a:p>
        </p:txBody>
      </p:sp>
      <p:sp>
        <p:nvSpPr>
          <p:cNvPr id="6" name="card I  Identity"/>
          <p:cNvSpPr/>
          <p:nvPr/>
        </p:nvSpPr>
        <p:spPr>
          <a:xfrm>
            <a:off x="82296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7" name="card text I  Identity"/>
          <p:cNvSpPr txBox="1"/>
          <p:nvPr/>
        </p:nvSpPr>
        <p:spPr>
          <a:xfrm>
            <a:off x="96012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I  Identity</a:t>
            </a:r>
            <a:endParaRPr lang="en-US" sz="1900" dirty="0"/>
          </a:p>
          <a:p>
            <a:pPr marL="0" indent="0">
              <a:spcAft>
                <a:spcPts val="400"/>
              </a:spcAft>
              <a:buNone/>
            </a:pPr>
            <a:r>
              <a:rPr lang="en-US" sz="1600" dirty="0">
                <a:solidFill>
                  <a:srgbClr val="0B1F33"/>
                </a:solidFill>
              </a:rPr>
              <a:t>Who is the patient, the doctor and each guardian (DID).</a:t>
            </a:r>
            <a:endParaRPr lang="en-US" sz="1900" dirty="0"/>
          </a:p>
        </p:txBody>
      </p:sp>
      <p:sp>
        <p:nvSpPr>
          <p:cNvPr id="8" name="card A  Authorisation"/>
          <p:cNvSpPr/>
          <p:nvPr/>
        </p:nvSpPr>
        <p:spPr>
          <a:xfrm>
            <a:off x="438912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9" name="card text A  Authorisation"/>
          <p:cNvSpPr txBox="1"/>
          <p:nvPr/>
        </p:nvSpPr>
        <p:spPr>
          <a:xfrm>
            <a:off x="452628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A  Authorisation</a:t>
            </a:r>
            <a:endParaRPr lang="en-US" sz="1900" dirty="0"/>
          </a:p>
          <a:p>
            <a:pPr marL="0" indent="0">
              <a:spcAft>
                <a:spcPts val="400"/>
              </a:spcAft>
              <a:buNone/>
            </a:pPr>
            <a:r>
              <a:rPr lang="en-US" sz="1600" dirty="0">
                <a:solidFill>
                  <a:srgbClr val="0B1F33"/>
                </a:solidFill>
              </a:rPr>
              <a:t>The guardian set G and how many approvals are needed (N).</a:t>
            </a:r>
            <a:endParaRPr lang="en-US" sz="1900" dirty="0"/>
          </a:p>
        </p:txBody>
      </p:sp>
      <p:sp>
        <p:nvSpPr>
          <p:cNvPr id="10" name="card P  Policy"/>
          <p:cNvSpPr/>
          <p:nvPr/>
        </p:nvSpPr>
        <p:spPr>
          <a:xfrm>
            <a:off x="795528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1" name="card text P  Policy"/>
          <p:cNvSpPr txBox="1"/>
          <p:nvPr/>
        </p:nvSpPr>
        <p:spPr>
          <a:xfrm>
            <a:off x="809244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P  Policy</a:t>
            </a:r>
            <a:endParaRPr lang="en-US" sz="1900" dirty="0"/>
          </a:p>
          <a:p>
            <a:pPr marL="0" indent="0">
              <a:spcAft>
                <a:spcPts val="400"/>
              </a:spcAft>
              <a:buNone/>
            </a:pPr>
            <a:r>
              <a:rPr lang="en-US" sz="1600" dirty="0">
                <a:solidFill>
                  <a:srgbClr val="0B1F33"/>
                </a:solidFill>
              </a:rPr>
              <a:t>The purpose and the data scope that were agreed.</a:t>
            </a:r>
            <a:endParaRPr lang="en-US" sz="1900" dirty="0"/>
          </a:p>
        </p:txBody>
      </p:sp>
      <p:sp>
        <p:nvSpPr>
          <p:cNvPr id="12" name="card T  Time"/>
          <p:cNvSpPr/>
          <p:nvPr/>
        </p:nvSpPr>
        <p:spPr>
          <a:xfrm>
            <a:off x="82296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3" name="card text T  Time"/>
          <p:cNvSpPr txBox="1"/>
          <p:nvPr/>
        </p:nvSpPr>
        <p:spPr>
          <a:xfrm>
            <a:off x="96012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T  Time</a:t>
            </a:r>
            <a:endParaRPr lang="en-US" sz="1900" dirty="0"/>
          </a:p>
          <a:p>
            <a:pPr marL="0" indent="0">
              <a:spcAft>
                <a:spcPts val="400"/>
              </a:spcAft>
              <a:buNone/>
            </a:pPr>
            <a:r>
              <a:rPr lang="en-US" sz="1600" dirty="0">
                <a:solidFill>
                  <a:srgbClr val="0B1F33"/>
                </a:solidFill>
              </a:rPr>
              <a:t>When the consent starts and when it expires.</a:t>
            </a:r>
            <a:endParaRPr lang="en-US" sz="1900" dirty="0"/>
          </a:p>
        </p:txBody>
      </p:sp>
      <p:sp>
        <p:nvSpPr>
          <p:cNvPr id="14" name="card L  Lifecycle"/>
          <p:cNvSpPr/>
          <p:nvPr/>
        </p:nvSpPr>
        <p:spPr>
          <a:xfrm>
            <a:off x="438912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5" name="card text L  Lifecycle"/>
          <p:cNvSpPr txBox="1"/>
          <p:nvPr/>
        </p:nvSpPr>
        <p:spPr>
          <a:xfrm>
            <a:off x="452628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L  Lifecycle</a:t>
            </a:r>
            <a:endParaRPr lang="en-US" sz="1900" dirty="0"/>
          </a:p>
          <a:p>
            <a:pPr marL="0" indent="0">
              <a:spcAft>
                <a:spcPts val="400"/>
              </a:spcAft>
              <a:buNone/>
            </a:pPr>
            <a:r>
              <a:rPr lang="en-US" sz="1600" dirty="0">
                <a:solidFill>
                  <a:srgbClr val="0B1F33"/>
                </a:solidFill>
              </a:rPr>
              <a:t>The state of the consent, from creation to expiry or revocation.</a:t>
            </a:r>
            <a:endParaRPr lang="en-US" sz="1900" dirty="0"/>
          </a:p>
        </p:txBody>
      </p:sp>
      <p:sp>
        <p:nvSpPr>
          <p:cNvPr id="16" name="card E  Evidence"/>
          <p:cNvSpPr/>
          <p:nvPr/>
        </p:nvSpPr>
        <p:spPr>
          <a:xfrm>
            <a:off x="795528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7" name="card text E  Evidence"/>
          <p:cNvSpPr txBox="1"/>
          <p:nvPr/>
        </p:nvSpPr>
        <p:spPr>
          <a:xfrm>
            <a:off x="809244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E  Evidence</a:t>
            </a:r>
            <a:endParaRPr lang="en-US" sz="1900" dirty="0"/>
          </a:p>
          <a:p>
            <a:pPr marL="0" indent="0">
              <a:spcAft>
                <a:spcPts val="400"/>
              </a:spcAft>
              <a:buNone/>
            </a:pPr>
            <a:r>
              <a:rPr lang="en-US" sz="1600" dirty="0">
                <a:solidFill>
                  <a:srgbClr val="0B1F33"/>
                </a:solidFill>
              </a:rPr>
              <a:t>Signatures, the token, and whether it is revoked.</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B22F05F8-A3EA-4568-A566-9B233E3A9FC5}"/>
              </a:ext>
            </a:extLst>
          </p:cNvPr>
          <p:cNvCxnSpPr>
            <a:stCxn id="9" idx="3"/>
            <a:endCxn id="21" idx="1"/>
          </p:cNvCxnSpPr>
          <p:nvPr/>
        </p:nvCxnSpPr>
        <p:spPr>
          <a:xfrm>
            <a:off x="6877050" y="4638675"/>
            <a:ext cx="981075" cy="0"/>
          </a:xfrm>
          <a:prstGeom prst="straightConnector1">
            <a:avLst/>
          </a:prstGeom>
          <a:ln w="19050">
            <a:solidFill>
              <a:srgbClr val="146BA8"/>
            </a:solidFill>
            <a:prstDash val="solid"/>
            <a:tailEnd type="triangle" w="med" len="med"/>
          </a:ln>
        </p:spPr>
      </p:cxnSp>
      <p:cxnSp>
        <p:nvCxnSpPr>
          <p:cNvPr id="20" name="Straight Arrow Connector 19">
            <a:extLst>
              <a:ext uri="{FF2B5EF4-FFF2-40B4-BE49-F238E27FC236}">
                <a16:creationId xmlns:a16="http://schemas.microsoft.com/office/drawing/2014/main" id="{02632CC2-67F9-4A43-BA60-D784C440AA9A}"/>
              </a:ext>
            </a:extLst>
          </p:cNvPr>
          <p:cNvCxnSpPr>
            <a:stCxn id="8" idx="3"/>
            <a:endCxn id="19" idx="1"/>
          </p:cNvCxnSpPr>
          <p:nvPr/>
        </p:nvCxnSpPr>
        <p:spPr>
          <a:xfrm>
            <a:off x="6877050" y="3686175"/>
            <a:ext cx="981075" cy="0"/>
          </a:xfrm>
          <a:prstGeom prst="straightConnector1">
            <a:avLst/>
          </a:prstGeom>
          <a:ln w="19050">
            <a:solidFill>
              <a:srgbClr val="146BA8"/>
            </a:solidFill>
            <a:prstDash val="solid"/>
            <a:tailEnd type="triangle" w="med" len="med"/>
          </a:ln>
        </p:spPr>
      </p:cxnSp>
      <p:cxnSp>
        <p:nvCxnSpPr>
          <p:cNvPr id="18" name="Straight Arrow Connector 17">
            <a:extLst>
              <a:ext uri="{FF2B5EF4-FFF2-40B4-BE49-F238E27FC236}">
                <a16:creationId xmlns:a16="http://schemas.microsoft.com/office/drawing/2014/main" id="{259845E7-D4C2-4995-AC3B-EE7BB0CAC425}"/>
              </a:ext>
            </a:extLst>
          </p:cNvPr>
          <p:cNvCxnSpPr>
            <a:stCxn id="7" idx="3"/>
            <a:endCxn id="17" idx="1"/>
          </p:cNvCxnSpPr>
          <p:nvPr/>
        </p:nvCxnSpPr>
        <p:spPr>
          <a:xfrm>
            <a:off x="6877050" y="2733675"/>
            <a:ext cx="981075" cy="0"/>
          </a:xfrm>
          <a:prstGeom prst="straightConnector1">
            <a:avLst/>
          </a:prstGeom>
          <a:ln w="19050">
            <a:solidFill>
              <a:srgbClr val="146BA8"/>
            </a:solidFill>
            <a:prstDash val="solid"/>
            <a:tailEnd type="triangle" w="med" len="med"/>
          </a:ln>
        </p:spPr>
      </p:cxnSp>
      <p:cxnSp>
        <p:nvCxnSpPr>
          <p:cNvPr id="16" name="Straight Arrow Connector 15">
            <a:extLst>
              <a:ext uri="{FF2B5EF4-FFF2-40B4-BE49-F238E27FC236}">
                <a16:creationId xmlns:a16="http://schemas.microsoft.com/office/drawing/2014/main" id="{50B23DC6-FB9D-43AC-B2D5-3BA1A0F0D39C}"/>
              </a:ext>
            </a:extLst>
          </p:cNvPr>
          <p:cNvCxnSpPr>
            <a:stCxn id="6" idx="3"/>
            <a:endCxn id="15" idx="1"/>
          </p:cNvCxnSpPr>
          <p:nvPr/>
        </p:nvCxnSpPr>
        <p:spPr>
          <a:xfrm>
            <a:off x="6877050" y="1781175"/>
            <a:ext cx="981075" cy="0"/>
          </a:xfrm>
          <a:prstGeom prst="straightConnector1">
            <a:avLst/>
          </a:prstGeom>
          <a:ln w="19050">
            <a:solidFill>
              <a:srgbClr val="146BA8"/>
            </a:solidFill>
            <a:prstDash val="solid"/>
            <a:tailEnd type="triangle" w="med" len="med"/>
          </a:ln>
        </p:spPr>
      </p:cxnSp>
      <p:cxnSp>
        <p:nvCxnSpPr>
          <p:cNvPr id="14" name="Straight Arrow Connector 13">
            <a:extLst>
              <a:ext uri="{FF2B5EF4-FFF2-40B4-BE49-F238E27FC236}">
                <a16:creationId xmlns:a16="http://schemas.microsoft.com/office/drawing/2014/main" id="{6682747D-6CE3-48FC-B6E9-CF2E02AFADB3}"/>
              </a:ext>
            </a:extLst>
          </p:cNvPr>
          <p:cNvCxnSpPr>
            <a:stCxn id="9" idx="2"/>
            <a:endCxn id="10" idx="0"/>
          </p:cNvCxnSpPr>
          <p:nvPr/>
        </p:nvCxnSpPr>
        <p:spPr>
          <a:xfrm>
            <a:off x="3733800" y="4953000"/>
            <a:ext cx="0" cy="323850"/>
          </a:xfrm>
          <a:prstGeom prst="straightConnector1">
            <a:avLst/>
          </a:prstGeom>
          <a:ln w="19050">
            <a:solidFill>
              <a:srgbClr val="146BA8"/>
            </a:solidFill>
            <a:prstDash val="solid"/>
            <a:tailEnd type="triangle" w="med" len="med"/>
          </a:ln>
        </p:spPr>
      </p:cxnSp>
      <p:cxnSp>
        <p:nvCxnSpPr>
          <p:cNvPr id="13" name="Straight Arrow Connector 12">
            <a:extLst>
              <a:ext uri="{FF2B5EF4-FFF2-40B4-BE49-F238E27FC236}">
                <a16:creationId xmlns:a16="http://schemas.microsoft.com/office/drawing/2014/main" id="{FF37512D-9B62-43F3-944B-B2201423114A}"/>
              </a:ext>
            </a:extLst>
          </p:cNvPr>
          <p:cNvCxnSpPr>
            <a:stCxn id="8" idx="2"/>
            <a:endCxn id="9" idx="0"/>
          </p:cNvCxnSpPr>
          <p:nvPr/>
        </p:nvCxnSpPr>
        <p:spPr>
          <a:xfrm>
            <a:off x="3733800" y="4000500"/>
            <a:ext cx="0" cy="323850"/>
          </a:xfrm>
          <a:prstGeom prst="straightConnector1">
            <a:avLst/>
          </a:prstGeom>
          <a:ln w="19050">
            <a:solidFill>
              <a:srgbClr val="146BA8"/>
            </a:solidFill>
            <a:prstDash val="solid"/>
            <a:tailEnd type="triangle" w="med" len="med"/>
          </a:ln>
        </p:spPr>
      </p:cxnSp>
      <p:cxnSp>
        <p:nvCxnSpPr>
          <p:cNvPr id="12" name="Straight Arrow Connector 11">
            <a:extLst>
              <a:ext uri="{FF2B5EF4-FFF2-40B4-BE49-F238E27FC236}">
                <a16:creationId xmlns:a16="http://schemas.microsoft.com/office/drawing/2014/main" id="{B7901DCA-16DC-4A59-ABE9-8BCD2E294865}"/>
              </a:ext>
            </a:extLst>
          </p:cNvPr>
          <p:cNvCxnSpPr>
            <a:stCxn id="7" idx="2"/>
            <a:endCxn id="8" idx="0"/>
          </p:cNvCxnSpPr>
          <p:nvPr/>
        </p:nvCxnSpPr>
        <p:spPr>
          <a:xfrm>
            <a:off x="3733800" y="3048000"/>
            <a:ext cx="0" cy="323850"/>
          </a:xfrm>
          <a:prstGeom prst="straightConnector1">
            <a:avLst/>
          </a:prstGeom>
          <a:ln w="19050">
            <a:solidFill>
              <a:srgbClr val="146BA8"/>
            </a:solidFill>
            <a:prstDash val="solid"/>
            <a:tailEnd type="triangle" w="med" len="med"/>
          </a:ln>
        </p:spPr>
      </p:cxnSp>
      <p:cxnSp>
        <p:nvCxnSpPr>
          <p:cNvPr id="11" name="Straight Arrow Connector 10">
            <a:extLst>
              <a:ext uri="{FF2B5EF4-FFF2-40B4-BE49-F238E27FC236}">
                <a16:creationId xmlns:a16="http://schemas.microsoft.com/office/drawing/2014/main" id="{4F18893E-8660-4B51-8E7F-88D3101EEE30}"/>
              </a:ext>
            </a:extLst>
          </p:cNvPr>
          <p:cNvCxnSpPr>
            <a:stCxn id="6" idx="2"/>
            <a:endCxn id="7" idx="0"/>
          </p:cNvCxnSpPr>
          <p:nvPr/>
        </p:nvCxnSpPr>
        <p:spPr>
          <a:xfrm>
            <a:off x="3733800" y="2095500"/>
            <a:ext cx="0" cy="323850"/>
          </a:xfrm>
          <a:prstGeom prst="straightConnector1">
            <a:avLst/>
          </a:prstGeom>
          <a:ln w="19050">
            <a:solidFill>
              <a:srgbClr val="146BA8"/>
            </a:solidFill>
            <a:prstDash val="solid"/>
            <a:tailEnd type="triangle" w="med" len="med"/>
          </a:ln>
        </p:spPr>
      </p:cxnSp>
      <p:sp>
        <p:nvSpPr>
          <p:cNvPr id="24" name="headline">
            <a:extLst>
              <a:ext uri="{FF2B5EF4-FFF2-40B4-BE49-F238E27FC236}">
                <a16:creationId xmlns:a16="http://schemas.microsoft.com/office/drawing/2014/main" id="{E50BC571-B394-49B1-9A27-B28976EB4859}"/>
              </a:ext>
            </a:extLst>
          </p:cNvPr>
          <p:cNvSpPr>
            <a:spLocks noGrp="1"/>
          </p:cNvSpPr>
          <p:nvPr/>
        </p:nvSpPr>
        <p:spPr>
          <a:xfrm>
            <a:off x="590550" y="369572"/>
            <a:ext cx="11053762" cy="635316"/>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000" b="1" dirty="0">
                <a:solidFill>
                  <a:srgbClr val="103B64"/>
                </a:solidFill>
                <a:latin typeface="Arial"/>
                <a:ea typeface="Arial"/>
                <a:cs typeface="Arial"/>
              </a:rPr>
              <a:t> </a:t>
            </a:r>
            <a:r>
              <a:rPr lang="en-US" altLang="ko-KR" sz="2000" b="1" dirty="0">
                <a:solidFill>
                  <a:srgbClr val="103B64"/>
                </a:solidFill>
                <a:latin typeface="Arial"/>
                <a:cs typeface="Arial"/>
              </a:rPr>
              <a:t>Systematic Literature Review</a:t>
            </a:r>
          </a:p>
          <a:p>
            <a:pPr algn="l">
              <a:lnSpc>
                <a:spcPct val="106000"/>
              </a:lnSpc>
              <a:buNone/>
              <a:defRPr sz="2700" b="1">
                <a:solidFill>
                  <a:srgbClr val="103B64"/>
                </a:solidFill>
                <a:latin typeface="Arial"/>
                <a:ea typeface="Arial"/>
                <a:cs typeface="Arial"/>
              </a:defRPr>
            </a:pP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032D6FF0-C4FA-4983-B1C3-20158469DBE6}"/>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58807BB0-BCC7-4D10-A656-B0171522959C}"/>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nSpc>
                <a:spcPct val="106000"/>
              </a:lnSpc>
              <a:defRPr sz="1575" b="0">
                <a:solidFill>
                  <a:srgbClr val="56718B"/>
                </a:solidFill>
                <a:latin typeface="Arial"/>
                <a:ea typeface="Arial"/>
                <a:cs typeface="Arial"/>
              </a:defRPr>
            </a:pPr>
            <a:r>
              <a:rPr lang="en-AU" sz="1575" dirty="0">
                <a:solidFill>
                  <a:srgbClr val="FF0000"/>
                </a:solidFill>
                <a:latin typeface="Arial"/>
                <a:ea typeface="Arial"/>
                <a:cs typeface="Arial"/>
              </a:rPr>
              <a:t>Study Selection Process (PRISMA 2020)</a:t>
            </a:r>
            <a:endParaRPr sz="1575" b="0" dirty="0">
              <a:solidFill>
                <a:srgbClr val="56718B"/>
              </a:solidFill>
              <a:latin typeface="Arial"/>
              <a:ea typeface="Arial"/>
              <a:cs typeface="Arial"/>
            </a:endParaRPr>
          </a:p>
        </p:txBody>
      </p:sp>
      <p:sp>
        <p:nvSpPr>
          <p:cNvPr id="5" name="page-number">
            <a:extLst>
              <a:ext uri="{FF2B5EF4-FFF2-40B4-BE49-F238E27FC236}">
                <a16:creationId xmlns:a16="http://schemas.microsoft.com/office/drawing/2014/main" id="{AFCBAA2F-7410-41FA-8314-A7042C8EB874}"/>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FF0000"/>
                </a:solidFill>
                <a:latin typeface="Arial"/>
                <a:ea typeface="Arial"/>
                <a:cs typeface="Arial"/>
              </a:rPr>
              <a:t>5</a:t>
            </a:r>
          </a:p>
        </p:txBody>
      </p:sp>
      <p:sp>
        <p:nvSpPr>
          <p:cNvPr id="6" name="Rectangle 5">
            <a:extLst>
              <a:ext uri="{FF2B5EF4-FFF2-40B4-BE49-F238E27FC236}">
                <a16:creationId xmlns:a16="http://schemas.microsoft.com/office/drawing/2014/main" id="{648FA12C-6297-4A7D-96C9-9FCB8B1D2980}"/>
              </a:ext>
            </a:extLst>
          </p:cNvPr>
          <p:cNvSpPr>
            <a:spLocks noGrp="1"/>
          </p:cNvSpPr>
          <p:nvPr/>
        </p:nvSpPr>
        <p:spPr>
          <a:xfrm>
            <a:off x="590550" y="146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179</a:t>
            </a:r>
            <a:r>
              <a:rPr sz="1800" b="1" dirty="0">
                <a:solidFill>
                  <a:srgbClr val="103B64"/>
                </a:solidFill>
                <a:latin typeface="Arial"/>
                <a:ea typeface="Arial"/>
                <a:cs typeface="Arial"/>
              </a:rPr>
              <a:t> </a:t>
            </a:r>
            <a:r>
              <a:rPr lang="en-US" sz="1800" b="1" dirty="0">
                <a:solidFill>
                  <a:srgbClr val="103B64"/>
                </a:solidFill>
                <a:latin typeface="Arial"/>
                <a:ea typeface="Arial"/>
                <a:cs typeface="Arial"/>
              </a:rPr>
              <a:t>R</a:t>
            </a:r>
            <a:r>
              <a:rPr sz="1800" b="1" dirty="0">
                <a:solidFill>
                  <a:srgbClr val="103B64"/>
                </a:solidFill>
                <a:latin typeface="Arial"/>
                <a:ea typeface="Arial"/>
                <a:cs typeface="Arial"/>
              </a:rPr>
              <a:t>ecords </a:t>
            </a:r>
            <a:r>
              <a:rPr lang="en-US" b="1" dirty="0">
                <a:solidFill>
                  <a:srgbClr val="103B64"/>
                </a:solidFill>
                <a:latin typeface="Arial"/>
                <a:ea typeface="Arial"/>
                <a:cs typeface="Arial"/>
              </a:rPr>
              <a:t>I</a:t>
            </a:r>
            <a:r>
              <a:rPr sz="1800" b="1" dirty="0">
                <a:solidFill>
                  <a:srgbClr val="103B64"/>
                </a:solidFill>
                <a:latin typeface="Arial"/>
                <a:ea typeface="Arial"/>
                <a:cs typeface="Arial"/>
              </a:rPr>
              <a:t>dentified</a:t>
            </a:r>
          </a:p>
        </p:txBody>
      </p:sp>
      <p:sp>
        <p:nvSpPr>
          <p:cNvPr id="7" name="Rectangle 6">
            <a:extLst>
              <a:ext uri="{FF2B5EF4-FFF2-40B4-BE49-F238E27FC236}">
                <a16:creationId xmlns:a16="http://schemas.microsoft.com/office/drawing/2014/main" id="{B13B810A-C52A-4D3B-8B08-A9A20FF83745}"/>
              </a:ext>
            </a:extLst>
          </p:cNvPr>
          <p:cNvSpPr>
            <a:spLocks noGrp="1"/>
          </p:cNvSpPr>
          <p:nvPr/>
        </p:nvSpPr>
        <p:spPr>
          <a:xfrm>
            <a:off x="590550" y="2419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158</a:t>
            </a:r>
            <a:r>
              <a:rPr sz="1800" b="1" dirty="0">
                <a:solidFill>
                  <a:srgbClr val="103B64"/>
                </a:solidFill>
                <a:latin typeface="Arial"/>
                <a:ea typeface="Arial"/>
                <a:cs typeface="Arial"/>
              </a:rPr>
              <a:t> </a:t>
            </a:r>
            <a:r>
              <a:rPr lang="en-AU" sz="1800" b="1" dirty="0">
                <a:solidFill>
                  <a:srgbClr val="103B64"/>
                </a:solidFill>
                <a:latin typeface="Arial"/>
                <a:ea typeface="Arial"/>
                <a:cs typeface="Arial"/>
              </a:rPr>
              <a:t>T</a:t>
            </a:r>
            <a:r>
              <a:rPr lang="en-AU" b="1" dirty="0">
                <a:solidFill>
                  <a:srgbClr val="103B64"/>
                </a:solidFill>
                <a:latin typeface="Arial"/>
                <a:ea typeface="Arial"/>
                <a:cs typeface="Arial"/>
              </a:rPr>
              <a:t>itle</a:t>
            </a:r>
            <a:r>
              <a:rPr lang="en-US" b="1" dirty="0">
                <a:solidFill>
                  <a:srgbClr val="103B64"/>
                </a:solidFill>
                <a:latin typeface="Arial"/>
                <a:ea typeface="Arial"/>
                <a:cs typeface="Arial"/>
              </a:rPr>
              <a:t>s</a:t>
            </a:r>
            <a:r>
              <a:rPr lang="en-AU" b="1" dirty="0">
                <a:solidFill>
                  <a:srgbClr val="103B64"/>
                </a:solidFill>
                <a:latin typeface="Arial"/>
                <a:ea typeface="Arial"/>
                <a:cs typeface="Arial"/>
              </a:rPr>
              <a:t> S</a:t>
            </a:r>
            <a:r>
              <a:rPr sz="1800" b="1" dirty="0" err="1">
                <a:solidFill>
                  <a:srgbClr val="103B64"/>
                </a:solidFill>
                <a:latin typeface="Arial"/>
                <a:ea typeface="Arial"/>
                <a:cs typeface="Arial"/>
              </a:rPr>
              <a:t>creened</a:t>
            </a:r>
            <a:endParaRPr sz="1800" b="1" dirty="0">
              <a:solidFill>
                <a:srgbClr val="103B64"/>
              </a:solidFill>
              <a:latin typeface="Arial"/>
              <a:ea typeface="Arial"/>
              <a:cs typeface="Arial"/>
            </a:endParaRPr>
          </a:p>
        </p:txBody>
      </p:sp>
      <p:sp>
        <p:nvSpPr>
          <p:cNvPr id="8" name="Rectangle 7">
            <a:extLst>
              <a:ext uri="{FF2B5EF4-FFF2-40B4-BE49-F238E27FC236}">
                <a16:creationId xmlns:a16="http://schemas.microsoft.com/office/drawing/2014/main" id="{73655119-B5D0-4FD1-B91A-FD18BD0D65EF}"/>
              </a:ext>
            </a:extLst>
          </p:cNvPr>
          <p:cNvSpPr>
            <a:spLocks noGrp="1"/>
          </p:cNvSpPr>
          <p:nvPr/>
        </p:nvSpPr>
        <p:spPr>
          <a:xfrm>
            <a:off x="590550" y="3371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82</a:t>
            </a:r>
            <a:r>
              <a:rPr sz="1800" b="1" dirty="0">
                <a:solidFill>
                  <a:srgbClr val="103B64"/>
                </a:solidFill>
                <a:latin typeface="Arial"/>
                <a:ea typeface="Arial"/>
                <a:cs typeface="Arial"/>
              </a:rPr>
              <a:t> </a:t>
            </a:r>
            <a:r>
              <a:rPr lang="en-AU" b="1" dirty="0">
                <a:solidFill>
                  <a:srgbClr val="103B64"/>
                </a:solidFill>
                <a:latin typeface="Arial"/>
                <a:ea typeface="Arial"/>
                <a:cs typeface="Arial"/>
              </a:rPr>
              <a:t>Abstracts Screened </a:t>
            </a:r>
            <a:endParaRPr sz="1800" b="1" dirty="0">
              <a:solidFill>
                <a:srgbClr val="103B64"/>
              </a:solidFill>
              <a:latin typeface="Arial"/>
              <a:ea typeface="Arial"/>
              <a:cs typeface="Arial"/>
            </a:endParaRPr>
          </a:p>
        </p:txBody>
      </p:sp>
      <p:sp>
        <p:nvSpPr>
          <p:cNvPr id="9" name="Rectangle 8">
            <a:extLst>
              <a:ext uri="{FF2B5EF4-FFF2-40B4-BE49-F238E27FC236}">
                <a16:creationId xmlns:a16="http://schemas.microsoft.com/office/drawing/2014/main" id="{A7C05603-B0CF-4606-90D5-C4FCB49AF5C1}"/>
              </a:ext>
            </a:extLst>
          </p:cNvPr>
          <p:cNvSpPr>
            <a:spLocks noGrp="1"/>
          </p:cNvSpPr>
          <p:nvPr/>
        </p:nvSpPr>
        <p:spPr>
          <a:xfrm>
            <a:off x="590550" y="4324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b="1" dirty="0">
                <a:solidFill>
                  <a:srgbClr val="103B64"/>
                </a:solidFill>
                <a:latin typeface="Arial"/>
                <a:ea typeface="Arial"/>
                <a:cs typeface="Arial"/>
              </a:rPr>
              <a:t>39</a:t>
            </a:r>
            <a:r>
              <a:rPr lang="en-AU" b="1" dirty="0">
                <a:solidFill>
                  <a:srgbClr val="103B64"/>
                </a:solidFill>
                <a:latin typeface="Arial"/>
                <a:ea typeface="Arial"/>
                <a:cs typeface="Arial"/>
              </a:rPr>
              <a:t> Full-text Studies Assessed</a:t>
            </a:r>
            <a:endParaRPr sz="1800" b="1" dirty="0">
              <a:solidFill>
                <a:srgbClr val="103B64"/>
              </a:solidFill>
              <a:latin typeface="Arial"/>
              <a:ea typeface="Arial"/>
              <a:cs typeface="Arial"/>
            </a:endParaRPr>
          </a:p>
        </p:txBody>
      </p:sp>
      <p:sp>
        <p:nvSpPr>
          <p:cNvPr id="10" name="Rectangle 9">
            <a:extLst>
              <a:ext uri="{FF2B5EF4-FFF2-40B4-BE49-F238E27FC236}">
                <a16:creationId xmlns:a16="http://schemas.microsoft.com/office/drawing/2014/main" id="{1E69E6C1-7E20-43A4-B534-DA3EC6F0F421}"/>
              </a:ext>
            </a:extLst>
          </p:cNvPr>
          <p:cNvSpPr>
            <a:spLocks noGrp="1"/>
          </p:cNvSpPr>
          <p:nvPr/>
        </p:nvSpPr>
        <p:spPr>
          <a:xfrm>
            <a:off x="590550" y="527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en-US" b="1" dirty="0">
                <a:solidFill>
                  <a:srgbClr val="103B64"/>
                </a:solidFill>
                <a:latin typeface="Arial"/>
                <a:ea typeface="Arial"/>
                <a:cs typeface="Arial"/>
              </a:rPr>
              <a:t>25 Studies Included in Analysis </a:t>
            </a:r>
            <a:endParaRPr sz="1800" b="1" dirty="0">
              <a:solidFill>
                <a:srgbClr val="103B64"/>
              </a:solidFill>
              <a:latin typeface="Arial"/>
              <a:ea typeface="Arial"/>
              <a:cs typeface="Arial"/>
            </a:endParaRPr>
          </a:p>
        </p:txBody>
      </p:sp>
      <p:sp>
        <p:nvSpPr>
          <p:cNvPr id="15" name="Rectangle 14">
            <a:extLst>
              <a:ext uri="{FF2B5EF4-FFF2-40B4-BE49-F238E27FC236}">
                <a16:creationId xmlns:a16="http://schemas.microsoft.com/office/drawing/2014/main" id="{41B5B6D5-EEED-428B-8745-2E2CB3162E1F}"/>
              </a:ext>
            </a:extLst>
          </p:cNvPr>
          <p:cNvSpPr>
            <a:spLocks noGrp="1"/>
          </p:cNvSpPr>
          <p:nvPr/>
        </p:nvSpPr>
        <p:spPr>
          <a:xfrm>
            <a:off x="7858125" y="1466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21</a:t>
            </a:r>
            <a:r>
              <a:rPr lang="en-US" sz="1650" b="1" dirty="0">
                <a:solidFill>
                  <a:srgbClr val="103B64"/>
                </a:solidFill>
                <a:latin typeface="Arial"/>
                <a:ea typeface="Arial"/>
                <a:cs typeface="Arial"/>
              </a:rPr>
              <a:t> </a:t>
            </a:r>
            <a:r>
              <a:rPr lang="en-AU" sz="1650" b="1" dirty="0">
                <a:solidFill>
                  <a:srgbClr val="103B64"/>
                </a:solidFill>
                <a:latin typeface="Arial"/>
                <a:ea typeface="Arial"/>
                <a:cs typeface="Arial"/>
              </a:rPr>
              <a:t>D</a:t>
            </a:r>
            <a:r>
              <a:rPr sz="1650" b="1" dirty="0" err="1">
                <a:solidFill>
                  <a:srgbClr val="103B64"/>
                </a:solidFill>
                <a:latin typeface="Arial"/>
                <a:ea typeface="Arial"/>
                <a:cs typeface="Arial"/>
              </a:rPr>
              <a:t>uplicates</a:t>
            </a:r>
            <a:r>
              <a:rPr lang="ar-SA" sz="1650" b="1" dirty="0">
                <a:solidFill>
                  <a:srgbClr val="103B64"/>
                </a:solidFill>
                <a:latin typeface="Arial"/>
                <a:ea typeface="Arial"/>
                <a:cs typeface="Arial"/>
              </a:rPr>
              <a:t> </a:t>
            </a:r>
            <a:r>
              <a:rPr lang="en-US" sz="1650" b="1" dirty="0">
                <a:solidFill>
                  <a:srgbClr val="103B64"/>
                </a:solidFill>
                <a:latin typeface="Arial"/>
                <a:ea typeface="Arial"/>
                <a:cs typeface="Arial"/>
              </a:rPr>
              <a:t>Removed </a:t>
            </a:r>
            <a:endParaRPr sz="1650" b="1" dirty="0">
              <a:solidFill>
                <a:srgbClr val="103B64"/>
              </a:solidFill>
              <a:latin typeface="Arial"/>
              <a:ea typeface="Arial"/>
              <a:cs typeface="Arial"/>
            </a:endParaRPr>
          </a:p>
        </p:txBody>
      </p:sp>
      <p:sp>
        <p:nvSpPr>
          <p:cNvPr id="17" name="Rectangle 16">
            <a:extLst>
              <a:ext uri="{FF2B5EF4-FFF2-40B4-BE49-F238E27FC236}">
                <a16:creationId xmlns:a16="http://schemas.microsoft.com/office/drawing/2014/main" id="{4EE48C45-DFD4-4537-BA42-AE6A170BAB95}"/>
              </a:ext>
            </a:extLst>
          </p:cNvPr>
          <p:cNvSpPr>
            <a:spLocks noGrp="1"/>
          </p:cNvSpPr>
          <p:nvPr/>
        </p:nvSpPr>
        <p:spPr>
          <a:xfrm>
            <a:off x="7858125" y="2419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FF0000"/>
                </a:solidFill>
                <a:latin typeface="Arial"/>
                <a:ea typeface="Arial"/>
                <a:cs typeface="Arial"/>
              </a:rPr>
              <a:t>76 Records Excluded by Title</a:t>
            </a:r>
            <a:endParaRPr sz="1650" b="1" dirty="0">
              <a:solidFill>
                <a:srgbClr val="103B64"/>
              </a:solidFill>
              <a:latin typeface="Arial"/>
              <a:ea typeface="Arial"/>
              <a:cs typeface="Arial"/>
            </a:endParaRPr>
          </a:p>
        </p:txBody>
      </p:sp>
      <p:sp>
        <p:nvSpPr>
          <p:cNvPr id="19" name="Rectangle 18">
            <a:extLst>
              <a:ext uri="{FF2B5EF4-FFF2-40B4-BE49-F238E27FC236}">
                <a16:creationId xmlns:a16="http://schemas.microsoft.com/office/drawing/2014/main" id="{41FF8D69-9C56-4FA7-AD38-950B2BB503C0}"/>
              </a:ext>
            </a:extLst>
          </p:cNvPr>
          <p:cNvSpPr>
            <a:spLocks noGrp="1"/>
          </p:cNvSpPr>
          <p:nvPr/>
        </p:nvSpPr>
        <p:spPr>
          <a:xfrm>
            <a:off x="7858125" y="3371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43</a:t>
            </a:r>
            <a:r>
              <a:rPr lang="en-AU" sz="1650" b="1" dirty="0">
                <a:solidFill>
                  <a:srgbClr val="103B64"/>
                </a:solidFill>
                <a:latin typeface="Arial"/>
                <a:ea typeface="Arial"/>
                <a:cs typeface="Arial"/>
              </a:rPr>
              <a:t> Records Excluded</a:t>
            </a:r>
            <a:endParaRPr sz="1650" b="1" dirty="0">
              <a:solidFill>
                <a:srgbClr val="103B64"/>
              </a:solidFill>
              <a:latin typeface="Arial"/>
              <a:ea typeface="Arial"/>
              <a:cs typeface="Arial"/>
            </a:endParaRPr>
          </a:p>
        </p:txBody>
      </p:sp>
      <p:sp>
        <p:nvSpPr>
          <p:cNvPr id="21" name="Rectangle 20">
            <a:extLst>
              <a:ext uri="{FF2B5EF4-FFF2-40B4-BE49-F238E27FC236}">
                <a16:creationId xmlns:a16="http://schemas.microsoft.com/office/drawing/2014/main" id="{B4E7B3E7-F749-4CFB-BE54-C83E8A315034}"/>
              </a:ext>
            </a:extLst>
          </p:cNvPr>
          <p:cNvSpPr>
            <a:spLocks noGrp="1"/>
          </p:cNvSpPr>
          <p:nvPr/>
        </p:nvSpPr>
        <p:spPr>
          <a:xfrm>
            <a:off x="7858125" y="4324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14</a:t>
            </a:r>
            <a:r>
              <a:rPr lang="en-AU" sz="1650" b="1" dirty="0">
                <a:solidFill>
                  <a:srgbClr val="103B64"/>
                </a:solidFill>
                <a:latin typeface="Arial"/>
                <a:ea typeface="Arial"/>
                <a:cs typeface="Arial"/>
              </a:rPr>
              <a:t> Studies Excluded</a:t>
            </a:r>
            <a:endParaRPr sz="1650" b="1" dirty="0">
              <a:solidFill>
                <a:srgbClr val="103B64"/>
              </a:solidFill>
              <a:latin typeface="Arial"/>
              <a:ea typeface="Arial"/>
              <a:cs typeface="Arial"/>
            </a:endParaRPr>
          </a:p>
        </p:txBody>
      </p:sp>
    </p:spTree>
    <p:extLst>
      <p:ext uri="{BB962C8B-B14F-4D97-AF65-F5344CB8AC3E}">
        <p14:creationId xmlns:p14="http://schemas.microsoft.com/office/powerpoint/2010/main" val="2473626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1A29122A-70AC-437A-AB53-2F51A3C84438}"/>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700" b="1" dirty="0">
                <a:solidFill>
                  <a:srgbClr val="103B64"/>
                </a:solidFill>
                <a:latin typeface="Arial"/>
                <a:ea typeface="Arial"/>
                <a:cs typeface="Arial"/>
              </a:rPr>
              <a:t> </a:t>
            </a:r>
            <a:r>
              <a:rPr lang="en-AU" sz="2700" b="1" dirty="0">
                <a:solidFill>
                  <a:srgbClr val="103B64"/>
                </a:solidFill>
                <a:latin typeface="Arial"/>
                <a:ea typeface="Arial"/>
                <a:cs typeface="Arial"/>
              </a:rPr>
              <a:t>Database Search Results</a:t>
            </a: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FB94088B-AB8B-404B-944D-C5A47B525E1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DA909BAE-EFF5-4A9F-BB4A-2941F0C394EF}"/>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nSpc>
                <a:spcPct val="106000"/>
              </a:lnSpc>
              <a:defRPr sz="1575" b="0">
                <a:solidFill>
                  <a:srgbClr val="56718B"/>
                </a:solidFill>
                <a:latin typeface="Arial"/>
                <a:ea typeface="Arial"/>
                <a:cs typeface="Arial"/>
              </a:defRPr>
            </a:pPr>
            <a:r>
              <a:rPr lang="en-US" sz="1575" dirty="0">
                <a:solidFill>
                  <a:srgbClr val="56718B"/>
                </a:solidFill>
                <a:latin typeface="Arial"/>
                <a:ea typeface="Arial"/>
                <a:cs typeface="Arial"/>
              </a:rPr>
              <a:t>A total of </a:t>
            </a:r>
            <a:r>
              <a:rPr lang="ar-SA" sz="1575" dirty="0">
                <a:solidFill>
                  <a:srgbClr val="56718B"/>
                </a:solidFill>
                <a:latin typeface="Arial"/>
                <a:ea typeface="Arial"/>
                <a:cs typeface="Arial"/>
              </a:rPr>
              <a:t>179</a:t>
            </a:r>
            <a:r>
              <a:rPr lang="en-US" sz="1575" dirty="0">
                <a:solidFill>
                  <a:srgbClr val="56718B"/>
                </a:solidFill>
                <a:latin typeface="Arial"/>
                <a:ea typeface="Arial"/>
                <a:cs typeface="Arial"/>
              </a:rPr>
              <a:t> records were identified from seven academic databases before removing duplicates.</a:t>
            </a:r>
            <a:endParaRPr sz="1575" b="0" dirty="0">
              <a:solidFill>
                <a:srgbClr val="56718B"/>
              </a:solidFill>
              <a:latin typeface="Arial"/>
              <a:ea typeface="Arial"/>
              <a:cs typeface="Arial"/>
            </a:endParaRPr>
          </a:p>
        </p:txBody>
      </p:sp>
      <p:sp>
        <p:nvSpPr>
          <p:cNvPr id="5" name="page-number">
            <a:extLst>
              <a:ext uri="{FF2B5EF4-FFF2-40B4-BE49-F238E27FC236}">
                <a16:creationId xmlns:a16="http://schemas.microsoft.com/office/drawing/2014/main" id="{2D00D979-170C-4EF1-8A27-C52D20EEF3A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6</a:t>
            </a:r>
          </a:p>
        </p:txBody>
      </p:sp>
      <p:graphicFrame>
        <p:nvGraphicFramePr>
          <p:cNvPr id="6" name="Chart">
            <a:extLst>
              <a:ext uri="{FF2B5EF4-FFF2-40B4-BE49-F238E27FC236}">
                <a16:creationId xmlns:a16="http://schemas.microsoft.com/office/drawing/2014/main" id="{B5898507-3625-4B53-8404-BAC299C1933A}"/>
              </a:ext>
            </a:extLst>
          </p:cNvPr>
          <p:cNvGraphicFramePr/>
          <p:nvPr>
            <p:extLst>
              <p:ext uri="{D42A27DB-BD31-4B8C-83A1-F6EECF244321}">
                <p14:modId xmlns:p14="http://schemas.microsoft.com/office/powerpoint/2010/main" val="1014667499"/>
              </p:ext>
            </p:extLst>
          </p:nvPr>
        </p:nvGraphicFramePr>
        <p:xfrm>
          <a:off x="590550" y="1524000"/>
          <a:ext cx="7353300"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7758E988-89CE-45E8-87B7-30F60176080D}"/>
              </a:ext>
            </a:extLst>
          </p:cNvPr>
          <p:cNvSpPr>
            <a:spLocks noGrp="1"/>
          </p:cNvSpPr>
          <p:nvPr/>
        </p:nvSpPr>
        <p:spPr>
          <a:xfrm>
            <a:off x="590550" y="5695950"/>
            <a:ext cx="11010900" cy="12383"/>
          </a:xfrm>
          <a:prstGeom prst="rect">
            <a:avLst/>
          </a:prstGeom>
          <a:solidFill>
            <a:srgbClr val="DCE9F4"/>
          </a:solidFill>
          <a:ln w="13335">
            <a:solidFill>
              <a:srgbClr val="DCE9F4"/>
            </a:solidFill>
            <a:prstDash val="solid"/>
          </a:ln>
        </p:spPr>
        <p:txBody>
          <a:bodyPr/>
          <a:lstStyle/>
          <a:p>
            <a:endParaRPr lang="en-AU"/>
          </a:p>
        </p:txBody>
      </p:sp>
      <p:sp>
        <p:nvSpPr>
          <p:cNvPr id="11" name="text">
            <a:extLst>
              <a:ext uri="{FF2B5EF4-FFF2-40B4-BE49-F238E27FC236}">
                <a16:creationId xmlns:a16="http://schemas.microsoft.com/office/drawing/2014/main" id="{941BB19E-4D01-4C07-BC1A-6FF7EFD27D0F}"/>
              </a:ext>
            </a:extLst>
          </p:cNvPr>
          <p:cNvSpPr>
            <a:spLocks noGrp="1"/>
          </p:cNvSpPr>
          <p:nvPr/>
        </p:nvSpPr>
        <p:spPr>
          <a:xfrm>
            <a:off x="590550" y="5810250"/>
            <a:ext cx="2095500" cy="361950"/>
          </a:xfrm>
          <a:prstGeom prst="rect">
            <a:avLst/>
          </a:prstGeom>
          <a:noFill/>
          <a:ln w="0">
            <a:noFill/>
            <a:prstDash val="solid"/>
          </a:ln>
        </p:spPr>
        <p:txBody>
          <a:bodyPr wrap="square" lIns="0" tIns="0" rIns="0" bIns="0" anchor="ctr">
            <a:noAutofit/>
          </a:bodyPr>
          <a:lstStyle>
            <a:defPPr algn="l">
              <a:defRPr sz="1725" b="1">
                <a:solidFill>
                  <a:srgbClr val="103B64"/>
                </a:solidFill>
                <a:latin typeface="Arial"/>
                <a:ea typeface="Arial"/>
                <a:cs typeface="Arial"/>
              </a:defRPr>
            </a:defPPr>
          </a:lstStyle>
          <a:p>
            <a:pPr>
              <a:lnSpc>
                <a:spcPct val="106000"/>
              </a:lnSpc>
              <a:defRPr sz="1725" b="1">
                <a:solidFill>
                  <a:srgbClr val="103B64"/>
                </a:solidFill>
                <a:latin typeface="Arial"/>
                <a:ea typeface="Arial"/>
                <a:cs typeface="Arial"/>
              </a:defRPr>
            </a:pPr>
            <a:r>
              <a:rPr sz="1725" b="1" dirty="0">
                <a:solidFill>
                  <a:srgbClr val="103B64"/>
                </a:solidFill>
                <a:latin typeface="Arial"/>
                <a:ea typeface="Arial"/>
                <a:cs typeface="Arial"/>
              </a:rPr>
              <a:t>Search</a:t>
            </a:r>
            <a:r>
              <a:rPr lang="en-US" sz="1725" b="1" dirty="0">
                <a:solidFill>
                  <a:srgbClr val="103B64"/>
                </a:solidFill>
                <a:latin typeface="Arial"/>
                <a:ea typeface="Arial"/>
                <a:cs typeface="Arial"/>
              </a:rPr>
              <a:t> String</a:t>
            </a:r>
            <a:r>
              <a:rPr sz="1725" b="1" dirty="0">
                <a:solidFill>
                  <a:srgbClr val="103B64"/>
                </a:solidFill>
                <a:latin typeface="Arial"/>
                <a:ea typeface="Arial"/>
                <a:cs typeface="Arial"/>
              </a:rPr>
              <a:t> </a:t>
            </a:r>
            <a:r>
              <a:rPr lang="en-US" sz="1725" b="1" dirty="0">
                <a:solidFill>
                  <a:srgbClr val="103B64"/>
                </a:solidFill>
                <a:latin typeface="Arial"/>
                <a:ea typeface="Arial"/>
                <a:cs typeface="Arial"/>
              </a:rPr>
              <a:t> </a:t>
            </a:r>
            <a:endParaRPr sz="1725" b="1" dirty="0">
              <a:solidFill>
                <a:srgbClr val="103B64"/>
              </a:solidFill>
              <a:latin typeface="Arial"/>
              <a:ea typeface="Arial"/>
              <a:cs typeface="Arial"/>
            </a:endParaRPr>
          </a:p>
        </p:txBody>
      </p:sp>
      <p:sp>
        <p:nvSpPr>
          <p:cNvPr id="12" name="text">
            <a:extLst>
              <a:ext uri="{FF2B5EF4-FFF2-40B4-BE49-F238E27FC236}">
                <a16:creationId xmlns:a16="http://schemas.microsoft.com/office/drawing/2014/main" id="{74DFB39E-2D43-4881-B469-90A9B5DC5C85}"/>
              </a:ext>
            </a:extLst>
          </p:cNvPr>
          <p:cNvSpPr>
            <a:spLocks noGrp="1"/>
          </p:cNvSpPr>
          <p:nvPr/>
        </p:nvSpPr>
        <p:spPr>
          <a:xfrm>
            <a:off x="2360141" y="5764590"/>
            <a:ext cx="9831859" cy="902910"/>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("Healthcare" OR "Health Data" OR </a:t>
            </a:r>
            <a:r>
              <a:rPr lang="en-US" sz="1725" dirty="0">
                <a:solidFill>
                  <a:srgbClr val="FF0000"/>
                </a:solidFill>
                <a:latin typeface="Arial"/>
                <a:ea typeface="Arial"/>
                <a:cs typeface="Arial"/>
              </a:rPr>
              <a:t>"Medical Records") AND</a:t>
            </a:r>
          </a:p>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("Consent" OR "</a:t>
            </a:r>
            <a:r>
              <a:rPr lang="en-US" sz="1725" dirty="0" err="1">
                <a:solidFill>
                  <a:srgbClr val="24415C"/>
                </a:solidFill>
                <a:latin typeface="Arial"/>
                <a:ea typeface="Arial"/>
                <a:cs typeface="Arial"/>
              </a:rPr>
              <a:t>Authorisation</a:t>
            </a:r>
            <a:r>
              <a:rPr lang="en-US" sz="1725" dirty="0">
                <a:solidFill>
                  <a:srgbClr val="24415C"/>
                </a:solidFill>
                <a:latin typeface="Arial"/>
                <a:ea typeface="Arial"/>
                <a:cs typeface="Arial"/>
              </a:rPr>
              <a:t>" OR "Authorization")</a:t>
            </a:r>
            <a:r>
              <a:rPr lang="ar-SA" sz="1725" dirty="0">
                <a:solidFill>
                  <a:srgbClr val="24415C"/>
                </a:solidFill>
                <a:latin typeface="Arial"/>
                <a:ea typeface="Arial"/>
                <a:cs typeface="Arial"/>
              </a:rPr>
              <a:t> </a:t>
            </a:r>
            <a:r>
              <a:rPr lang="en-US" sz="1725" dirty="0">
                <a:solidFill>
                  <a:srgbClr val="24415C"/>
                </a:solidFill>
                <a:latin typeface="Arial"/>
                <a:ea typeface="Arial"/>
                <a:cs typeface="Arial"/>
              </a:rPr>
              <a:t>AND</a:t>
            </a:r>
          </a:p>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("Trust" OR "Multi-party" OR "Multi-party Approval")</a:t>
            </a:r>
            <a:endParaRPr lang="en-US" sz="1725" b="0" dirty="0">
              <a:solidFill>
                <a:srgbClr val="24415C"/>
              </a:solidFill>
              <a:latin typeface="Arial"/>
              <a:ea typeface="Arial"/>
              <a:cs typeface="Arial"/>
            </a:endParaRPr>
          </a:p>
        </p:txBody>
      </p:sp>
      <p:sp>
        <p:nvSpPr>
          <p:cNvPr id="15" name="TextBox 14">
            <a:extLst>
              <a:ext uri="{FF2B5EF4-FFF2-40B4-BE49-F238E27FC236}">
                <a16:creationId xmlns:a16="http://schemas.microsoft.com/office/drawing/2014/main" id="{C66B4837-D1AB-118B-8931-69B36FDA3CDC}"/>
              </a:ext>
            </a:extLst>
          </p:cNvPr>
          <p:cNvSpPr txBox="1"/>
          <p:nvPr/>
        </p:nvSpPr>
        <p:spPr>
          <a:xfrm>
            <a:off x="8089751" y="5192554"/>
            <a:ext cx="3913094" cy="331053"/>
          </a:xfrm>
          <a:prstGeom prst="rect">
            <a:avLst/>
          </a:prstGeom>
          <a:noFill/>
        </p:spPr>
        <p:txBody>
          <a:bodyPr wrap="square">
            <a:spAutoFit/>
          </a:bodyPr>
          <a:lstStyle/>
          <a:p>
            <a:pPr algn="l">
              <a:lnSpc>
                <a:spcPct val="106000"/>
              </a:lnSpc>
              <a:buNone/>
              <a:defRPr sz="1575" b="0">
                <a:solidFill>
                  <a:srgbClr val="56718B"/>
                </a:solidFill>
                <a:latin typeface="Arial"/>
                <a:ea typeface="Arial"/>
                <a:cs typeface="Arial"/>
              </a:defRPr>
            </a:pPr>
            <a:r>
              <a:rPr lang="en-AU" sz="1575" b="0" dirty="0">
                <a:solidFill>
                  <a:srgbClr val="56718B"/>
                </a:solidFill>
                <a:latin typeface="Arial"/>
                <a:ea typeface="Arial"/>
                <a:cs typeface="Arial"/>
              </a:rPr>
              <a:t>Publication range: 2020–2026</a:t>
            </a:r>
          </a:p>
        </p:txBody>
      </p:sp>
    </p:spTree>
    <p:extLst>
      <p:ext uri="{BB962C8B-B14F-4D97-AF65-F5344CB8AC3E}">
        <p14:creationId xmlns:p14="http://schemas.microsoft.com/office/powerpoint/2010/main" val="1701575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headline">
            <a:extLst>
              <a:ext uri="{FF2B5EF4-FFF2-40B4-BE49-F238E27FC236}">
                <a16:creationId xmlns:a16="http://schemas.microsoft.com/office/drawing/2014/main" id="{3178A9BD-89CF-4F74-906B-0DACE7023475}"/>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400" b="1" dirty="0">
                <a:solidFill>
                  <a:srgbClr val="103B64"/>
                </a:solidFill>
                <a:latin typeface="Arial"/>
                <a:ea typeface="Arial"/>
                <a:cs typeface="Arial"/>
              </a:rPr>
              <a:t> </a:t>
            </a:r>
            <a:r>
              <a:rPr lang="en-US" altLang="ko-KR" sz="2400" b="1" dirty="0">
                <a:solidFill>
                  <a:srgbClr val="103B64"/>
                </a:solidFill>
                <a:latin typeface="Arial"/>
                <a:cs typeface="Arial"/>
              </a:rPr>
              <a:t>Inclusion and exclusion criteria</a:t>
            </a:r>
            <a:endParaRPr sz="2400" b="1" dirty="0">
              <a:solidFill>
                <a:srgbClr val="103B64"/>
              </a:solidFill>
              <a:latin typeface="Arial"/>
              <a:cs typeface="Arial"/>
            </a:endParaRPr>
          </a:p>
        </p:txBody>
      </p:sp>
      <p:sp>
        <p:nvSpPr>
          <p:cNvPr id="2" name="Rectangle 1">
            <a:extLst>
              <a:ext uri="{FF2B5EF4-FFF2-40B4-BE49-F238E27FC236}">
                <a16:creationId xmlns:a16="http://schemas.microsoft.com/office/drawing/2014/main" id="{4651512C-B0FB-4517-A10E-F75514A500F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87B25020-CB7B-477D-8199-F8308EE96C92}"/>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7</a:t>
            </a:r>
          </a:p>
        </p:txBody>
      </p:sp>
      <p:sp>
        <p:nvSpPr>
          <p:cNvPr id="6" name="text">
            <a:extLst>
              <a:ext uri="{FF2B5EF4-FFF2-40B4-BE49-F238E27FC236}">
                <a16:creationId xmlns:a16="http://schemas.microsoft.com/office/drawing/2014/main" id="{60490495-8C9D-4FA2-B4E6-67B3664195E3}"/>
              </a:ext>
            </a:extLst>
          </p:cNvPr>
          <p:cNvSpPr>
            <a:spLocks noGrp="1"/>
          </p:cNvSpPr>
          <p:nvPr/>
        </p:nvSpPr>
        <p:spPr>
          <a:xfrm>
            <a:off x="590550" y="1619250"/>
            <a:ext cx="5048250" cy="400050"/>
          </a:xfrm>
          <a:prstGeom prst="rect">
            <a:avLst/>
          </a:prstGeom>
          <a:noFill/>
          <a:ln w="0">
            <a:noFill/>
            <a:prstDash val="solid"/>
          </a:ln>
        </p:spPr>
        <p:txBody>
          <a:bodyPr wrap="square" lIns="0" tIns="0" rIns="0" bIns="0" anchor="ctr">
            <a:noAutofit/>
          </a:bodyPr>
          <a:lstStyle>
            <a:defPPr algn="l">
              <a:defRPr sz="2250" b="1">
                <a:solidFill>
                  <a:srgbClr val="146BA8"/>
                </a:solidFill>
                <a:latin typeface="Arial"/>
                <a:ea typeface="Arial"/>
                <a:cs typeface="Arial"/>
              </a:defRPr>
            </a:defPPr>
          </a:lstStyle>
          <a:p>
            <a:pPr algn="l">
              <a:lnSpc>
                <a:spcPct val="106000"/>
              </a:lnSpc>
              <a:buNone/>
              <a:defRPr sz="2250" b="1">
                <a:solidFill>
                  <a:srgbClr val="146BA8"/>
                </a:solidFill>
                <a:latin typeface="Arial"/>
                <a:ea typeface="Arial"/>
                <a:cs typeface="Arial"/>
              </a:defRPr>
            </a:pPr>
            <a:r>
              <a:rPr sz="2250" b="1" dirty="0">
                <a:solidFill>
                  <a:srgbClr val="146BA8"/>
                </a:solidFill>
                <a:latin typeface="Arial"/>
                <a:ea typeface="Arial"/>
                <a:cs typeface="Arial"/>
              </a:rPr>
              <a:t>Included</a:t>
            </a:r>
          </a:p>
        </p:txBody>
      </p:sp>
      <p:sp>
        <p:nvSpPr>
          <p:cNvPr id="7" name="text">
            <a:extLst>
              <a:ext uri="{FF2B5EF4-FFF2-40B4-BE49-F238E27FC236}">
                <a16:creationId xmlns:a16="http://schemas.microsoft.com/office/drawing/2014/main" id="{3E724831-B70C-4D58-ADBC-B57648F7BA41}"/>
              </a:ext>
            </a:extLst>
          </p:cNvPr>
          <p:cNvSpPr>
            <a:spLocks noGrp="1"/>
          </p:cNvSpPr>
          <p:nvPr/>
        </p:nvSpPr>
        <p:spPr>
          <a:xfrm>
            <a:off x="790575" y="22669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Healthcare data sharing</a:t>
            </a:r>
          </a:p>
        </p:txBody>
      </p:sp>
      <p:sp>
        <p:nvSpPr>
          <p:cNvPr id="8" name="text">
            <a:extLst>
              <a:ext uri="{FF2B5EF4-FFF2-40B4-BE49-F238E27FC236}">
                <a16:creationId xmlns:a16="http://schemas.microsoft.com/office/drawing/2014/main" id="{9BCF20AD-DA9A-4072-8644-1A41EFD16117}"/>
              </a:ext>
            </a:extLst>
          </p:cNvPr>
          <p:cNvSpPr>
            <a:spLocks noGrp="1"/>
          </p:cNvSpPr>
          <p:nvPr/>
        </p:nvSpPr>
        <p:spPr>
          <a:xfrm>
            <a:off x="790575" y="29527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Consent or authorisation relevant to data access</a:t>
            </a:r>
          </a:p>
        </p:txBody>
      </p:sp>
      <p:sp>
        <p:nvSpPr>
          <p:cNvPr id="9" name="text">
            <a:extLst>
              <a:ext uri="{FF2B5EF4-FFF2-40B4-BE49-F238E27FC236}">
                <a16:creationId xmlns:a16="http://schemas.microsoft.com/office/drawing/2014/main" id="{5686DD4A-7E99-4572-BCA6-E8A2F261587B}"/>
              </a:ext>
            </a:extLst>
          </p:cNvPr>
          <p:cNvSpPr>
            <a:spLocks noGrp="1"/>
          </p:cNvSpPr>
          <p:nvPr/>
        </p:nvSpPr>
        <p:spPr>
          <a:xfrm>
            <a:off x="790575" y="36385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 model, mechanism, system or evaluation that addresses a review question</a:t>
            </a:r>
          </a:p>
        </p:txBody>
      </p:sp>
      <p:sp>
        <p:nvSpPr>
          <p:cNvPr id="10" name="text">
            <a:extLst>
              <a:ext uri="{FF2B5EF4-FFF2-40B4-BE49-F238E27FC236}">
                <a16:creationId xmlns:a16="http://schemas.microsoft.com/office/drawing/2014/main" id="{557BF72B-EAD0-4CC6-8756-576E6E3C1D29}"/>
              </a:ext>
            </a:extLst>
          </p:cNvPr>
          <p:cNvSpPr>
            <a:spLocks noGrp="1"/>
          </p:cNvSpPr>
          <p:nvPr/>
        </p:nvSpPr>
        <p:spPr>
          <a:xfrm>
            <a:off x="790575" y="43243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Peer-reviewed English paper with full text</a:t>
            </a:r>
          </a:p>
        </p:txBody>
      </p:sp>
      <p:sp>
        <p:nvSpPr>
          <p:cNvPr id="11" name="text">
            <a:extLst>
              <a:ext uri="{FF2B5EF4-FFF2-40B4-BE49-F238E27FC236}">
                <a16:creationId xmlns:a16="http://schemas.microsoft.com/office/drawing/2014/main" id="{3172D377-87DD-4500-9DA3-CA51A8294572}"/>
              </a:ext>
            </a:extLst>
          </p:cNvPr>
          <p:cNvSpPr>
            <a:spLocks noGrp="1"/>
          </p:cNvSpPr>
          <p:nvPr/>
        </p:nvSpPr>
        <p:spPr>
          <a:xfrm>
            <a:off x="790575" y="50101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dirty="0">
                <a:solidFill>
                  <a:srgbClr val="24415C"/>
                </a:solidFill>
                <a:latin typeface="Arial"/>
                <a:ea typeface="Arial"/>
                <a:cs typeface="Arial"/>
              </a:rPr>
              <a:t>Publication between 2020 and 2026</a:t>
            </a:r>
          </a:p>
        </p:txBody>
      </p:sp>
      <p:sp>
        <p:nvSpPr>
          <p:cNvPr id="12" name="text">
            <a:extLst>
              <a:ext uri="{FF2B5EF4-FFF2-40B4-BE49-F238E27FC236}">
                <a16:creationId xmlns:a16="http://schemas.microsoft.com/office/drawing/2014/main" id="{BE4F1EB8-82CB-4CD0-8CA5-7D21537B5378}"/>
              </a:ext>
            </a:extLst>
          </p:cNvPr>
          <p:cNvSpPr>
            <a:spLocks noGrp="1"/>
          </p:cNvSpPr>
          <p:nvPr/>
        </p:nvSpPr>
        <p:spPr>
          <a:xfrm>
            <a:off x="6724650" y="1619250"/>
            <a:ext cx="4876800" cy="400050"/>
          </a:xfrm>
          <a:prstGeom prst="rect">
            <a:avLst/>
          </a:prstGeom>
          <a:noFill/>
          <a:ln w="0">
            <a:noFill/>
            <a:prstDash val="solid"/>
          </a:ln>
        </p:spPr>
        <p:txBody>
          <a:bodyPr wrap="square" lIns="0" tIns="0" rIns="0" bIns="0" anchor="ctr">
            <a:noAutofit/>
          </a:bodyPr>
          <a:lstStyle>
            <a:defPPr algn="l">
              <a:defRPr sz="2250" b="1">
                <a:solidFill>
                  <a:srgbClr val="103B64"/>
                </a:solidFill>
                <a:latin typeface="Arial"/>
                <a:ea typeface="Arial"/>
                <a:cs typeface="Arial"/>
              </a:defRPr>
            </a:defPPr>
          </a:lstStyle>
          <a:p>
            <a:pPr algn="l">
              <a:lnSpc>
                <a:spcPct val="106000"/>
              </a:lnSpc>
              <a:buNone/>
              <a:defRPr sz="2250" b="1">
                <a:solidFill>
                  <a:srgbClr val="103B64"/>
                </a:solidFill>
                <a:latin typeface="Arial"/>
                <a:ea typeface="Arial"/>
                <a:cs typeface="Arial"/>
              </a:defRPr>
            </a:pPr>
            <a:r>
              <a:rPr sz="2250" b="1" dirty="0">
                <a:solidFill>
                  <a:srgbClr val="103B64"/>
                </a:solidFill>
                <a:latin typeface="Arial"/>
                <a:ea typeface="Arial"/>
                <a:cs typeface="Arial"/>
              </a:rPr>
              <a:t>Excluded</a:t>
            </a:r>
          </a:p>
        </p:txBody>
      </p:sp>
      <p:sp>
        <p:nvSpPr>
          <p:cNvPr id="13" name="text">
            <a:extLst>
              <a:ext uri="{FF2B5EF4-FFF2-40B4-BE49-F238E27FC236}">
                <a16:creationId xmlns:a16="http://schemas.microsoft.com/office/drawing/2014/main" id="{876B0B42-E470-4353-94F6-8387BD5472A5}"/>
              </a:ext>
            </a:extLst>
          </p:cNvPr>
          <p:cNvSpPr>
            <a:spLocks noGrp="1"/>
          </p:cNvSpPr>
          <p:nvPr/>
        </p:nvSpPr>
        <p:spPr>
          <a:xfrm>
            <a:off x="6724650" y="226695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Outside healthcare or the authorisation scope</a:t>
            </a:r>
          </a:p>
        </p:txBody>
      </p:sp>
      <p:sp>
        <p:nvSpPr>
          <p:cNvPr id="14" name="text">
            <a:extLst>
              <a:ext uri="{FF2B5EF4-FFF2-40B4-BE49-F238E27FC236}">
                <a16:creationId xmlns:a16="http://schemas.microsoft.com/office/drawing/2014/main" id="{0C6E550C-CD51-424B-B5E4-953C9FF5C361}"/>
              </a:ext>
            </a:extLst>
          </p:cNvPr>
          <p:cNvSpPr>
            <a:spLocks noGrp="1"/>
          </p:cNvSpPr>
          <p:nvPr/>
        </p:nvSpPr>
        <p:spPr>
          <a:xfrm>
            <a:off x="6724650" y="320992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Authentication alone or a superficial mention of consent</a:t>
            </a:r>
          </a:p>
        </p:txBody>
      </p:sp>
      <p:sp>
        <p:nvSpPr>
          <p:cNvPr id="15" name="text">
            <a:extLst>
              <a:ext uri="{FF2B5EF4-FFF2-40B4-BE49-F238E27FC236}">
                <a16:creationId xmlns:a16="http://schemas.microsoft.com/office/drawing/2014/main" id="{58CA767E-6B6C-4875-B31F-F186284AC9F8}"/>
              </a:ext>
            </a:extLst>
          </p:cNvPr>
          <p:cNvSpPr>
            <a:spLocks noGrp="1"/>
          </p:cNvSpPr>
          <p:nvPr/>
        </p:nvSpPr>
        <p:spPr>
          <a:xfrm>
            <a:off x="6724650" y="415290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dirty="0">
                <a:solidFill>
                  <a:srgbClr val="24415C"/>
                </a:solidFill>
                <a:latin typeface="Arial"/>
                <a:ea typeface="Arial"/>
                <a:cs typeface="Arial"/>
              </a:rPr>
              <a:t>Non-peer-reviewed work and duplicate publications</a:t>
            </a:r>
          </a:p>
        </p:txBody>
      </p:sp>
      <p:sp>
        <p:nvSpPr>
          <p:cNvPr id="16" name="text">
            <a:extLst>
              <a:ext uri="{FF2B5EF4-FFF2-40B4-BE49-F238E27FC236}">
                <a16:creationId xmlns:a16="http://schemas.microsoft.com/office/drawing/2014/main" id="{255D9708-E4DE-4F62-AA33-6C5B645FFAEE}"/>
              </a:ext>
            </a:extLst>
          </p:cNvPr>
          <p:cNvSpPr>
            <a:spLocks noGrp="1"/>
          </p:cNvSpPr>
          <p:nvPr/>
        </p:nvSpPr>
        <p:spPr>
          <a:xfrm>
            <a:off x="6724650" y="509587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endParaRPr sz="1875" b="0" dirty="0">
              <a:solidFill>
                <a:srgbClr val="24415C"/>
              </a:solidFill>
              <a:latin typeface="Arial"/>
              <a:ea typeface="Arial"/>
              <a:cs typeface="Arial"/>
            </a:endParaRPr>
          </a:p>
        </p:txBody>
      </p:sp>
    </p:spTree>
    <p:extLst>
      <p:ext uri="{BB962C8B-B14F-4D97-AF65-F5344CB8AC3E}">
        <p14:creationId xmlns:p14="http://schemas.microsoft.com/office/powerpoint/2010/main" val="4990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4728717E-F00F-496E-81CF-1CC10DE63271}"/>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 QUALITY ASSESSMENT</a:t>
            </a:r>
          </a:p>
        </p:txBody>
      </p:sp>
      <p:sp>
        <p:nvSpPr>
          <p:cNvPr id="2" name="Rectangle 1">
            <a:extLst>
              <a:ext uri="{FF2B5EF4-FFF2-40B4-BE49-F238E27FC236}">
                <a16:creationId xmlns:a16="http://schemas.microsoft.com/office/drawing/2014/main" id="{3EF5DB58-D95B-4FB8-9DAB-28E45D51512E}"/>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1CF1818E-501A-4BC8-9633-675A6D912C83}"/>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dirty="0">
                <a:solidFill>
                  <a:srgbClr val="56718B"/>
                </a:solidFill>
                <a:latin typeface="Arial"/>
                <a:ea typeface="Arial"/>
                <a:cs typeface="Arial"/>
              </a:rPr>
              <a:t>Quality inclusion uses QA1–QA4</a:t>
            </a:r>
          </a:p>
        </p:txBody>
      </p:sp>
      <p:sp>
        <p:nvSpPr>
          <p:cNvPr id="5" name="page-number">
            <a:extLst>
              <a:ext uri="{FF2B5EF4-FFF2-40B4-BE49-F238E27FC236}">
                <a16:creationId xmlns:a16="http://schemas.microsoft.com/office/drawing/2014/main" id="{C1D2C059-7E18-4C74-832B-29FBDF27D11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FF0000"/>
                </a:solidFill>
                <a:latin typeface="Arial"/>
                <a:ea typeface="Arial"/>
                <a:cs typeface="Arial"/>
              </a:rPr>
              <a:t>8</a:t>
            </a:r>
          </a:p>
        </p:txBody>
      </p:sp>
      <p:graphicFrame>
        <p:nvGraphicFramePr>
          <p:cNvPr id="6" name="Table 5">
            <a:extLst>
              <a:ext uri="{FF2B5EF4-FFF2-40B4-BE49-F238E27FC236}">
                <a16:creationId xmlns:a16="http://schemas.microsoft.com/office/drawing/2014/main" id="{BA44CA7F-5C2A-4C6B-9DB4-610ADE7FC381}"/>
              </a:ext>
            </a:extLst>
          </p:cNvPr>
          <p:cNvGraphicFramePr/>
          <p:nvPr/>
        </p:nvGraphicFramePr>
        <p:xfrm>
          <a:off x="590550" y="1619250"/>
          <a:ext cx="7524750" cy="280035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gridCol w="6534150">
                  <a:extLst>
                    <a:ext uri="{9D8B030D-6E8A-4147-A177-3AD203B41FA5}">
                      <a16:colId xmlns:a16="http://schemas.microsoft.com/office/drawing/2014/main" val="20001"/>
                    </a:ext>
                  </a:extLst>
                </a:gridCol>
              </a:tblGrid>
              <a:tr h="560070">
                <a:tc>
                  <a:txBody>
                    <a:bodyPr/>
                    <a:lstStyle/>
                    <a:p>
                      <a:pPr algn="l">
                        <a:lnSpc>
                          <a:spcPct val="100000"/>
                        </a:lnSpc>
                        <a:buNone/>
                      </a:pPr>
                      <a:r>
                        <a:rPr sz="1725" b="1">
                          <a:solidFill>
                            <a:srgbClr val="FFFFFF"/>
                          </a:solidFill>
                          <a:latin typeface="Arial"/>
                          <a:ea typeface="Arial"/>
                          <a:cs typeface="Arial"/>
                        </a:rPr>
                        <a:t>Item</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725" b="1">
                          <a:solidFill>
                            <a:srgbClr val="FFFFFF"/>
                          </a:solidFill>
                          <a:latin typeface="Arial"/>
                          <a:ea typeface="Arial"/>
                          <a:cs typeface="Arial"/>
                        </a:rPr>
                        <a:t>Inclusion question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560070">
                <a:tc>
                  <a:txBody>
                    <a:bodyPr/>
                    <a:lstStyle/>
                    <a:p>
                      <a:pPr algn="l">
                        <a:lnSpc>
                          <a:spcPct val="100000"/>
                        </a:lnSpc>
                        <a:buNone/>
                      </a:pPr>
                      <a:r>
                        <a:rPr sz="1725" b="0">
                          <a:solidFill>
                            <a:srgbClr val="24415C"/>
                          </a:solidFill>
                          <a:latin typeface="Arial"/>
                          <a:ea typeface="Arial"/>
                          <a:cs typeface="Arial"/>
                        </a:rPr>
                        <a:t>QA1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sz="1725" b="0">
                          <a:solidFill>
                            <a:srgbClr val="24415C"/>
                          </a:solidFill>
                          <a:latin typeface="Arial"/>
                          <a:ea typeface="Arial"/>
                          <a:cs typeface="Arial"/>
                        </a:rPr>
                        <a:t>Patient consent or consent-governed healthcare access?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1"/>
                  </a:ext>
                </a:extLst>
              </a:tr>
              <a:tr h="560070">
                <a:tc>
                  <a:txBody>
                    <a:bodyPr/>
                    <a:lstStyle/>
                    <a:p>
                      <a:pPr algn="l">
                        <a:lnSpc>
                          <a:spcPct val="100000"/>
                        </a:lnSpc>
                        <a:buNone/>
                      </a:pPr>
                      <a:r>
                        <a:rPr sz="1725" b="0">
                          <a:solidFill>
                            <a:srgbClr val="24415C"/>
                          </a:solidFill>
                          <a:latin typeface="Arial"/>
                          <a:ea typeface="Arial"/>
                          <a:cs typeface="Arial"/>
                        </a:rPr>
                        <a:t>QA2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725" b="0">
                          <a:solidFill>
                            <a:srgbClr val="24415C"/>
                          </a:solidFill>
                          <a:latin typeface="Arial"/>
                          <a:ea typeface="Arial"/>
                          <a:cs typeface="Arial"/>
                        </a:rPr>
                        <a:t>An authorisation or access-decision mechanism?</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2"/>
                  </a:ext>
                </a:extLst>
              </a:tr>
              <a:tr h="560070">
                <a:tc>
                  <a:txBody>
                    <a:bodyPr/>
                    <a:lstStyle/>
                    <a:p>
                      <a:pPr algn="l">
                        <a:lnSpc>
                          <a:spcPct val="100000"/>
                        </a:lnSpc>
                        <a:buNone/>
                      </a:pPr>
                      <a:r>
                        <a:rPr sz="1725" b="0">
                          <a:solidFill>
                            <a:srgbClr val="24415C"/>
                          </a:solidFill>
                          <a:latin typeface="Arial"/>
                          <a:ea typeface="Arial"/>
                          <a:cs typeface="Arial"/>
                        </a:rPr>
                        <a:t>QA3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sz="1725" b="0">
                          <a:solidFill>
                            <a:srgbClr val="24415C"/>
                          </a:solidFill>
                          <a:latin typeface="Arial"/>
                          <a:ea typeface="Arial"/>
                          <a:cs typeface="Arial"/>
                        </a:rPr>
                        <a:t>A framework, model, protocol or architecture?</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3"/>
                  </a:ext>
                </a:extLst>
              </a:tr>
              <a:tr h="560070">
                <a:tc>
                  <a:txBody>
                    <a:bodyPr/>
                    <a:lstStyle/>
                    <a:p>
                      <a:pPr algn="l">
                        <a:lnSpc>
                          <a:spcPct val="100000"/>
                        </a:lnSpc>
                        <a:buNone/>
                      </a:pPr>
                      <a:r>
                        <a:rPr sz="1725" b="0">
                          <a:solidFill>
                            <a:srgbClr val="24415C"/>
                          </a:solidFill>
                          <a:latin typeface="Arial"/>
                          <a:ea typeface="Arial"/>
                          <a:cs typeface="Arial"/>
                        </a:rPr>
                        <a:t>QA4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725" b="0">
                          <a:solidFill>
                            <a:srgbClr val="24415C"/>
                          </a:solidFill>
                          <a:latin typeface="Arial"/>
                          <a:ea typeface="Arial"/>
                          <a:cs typeface="Arial"/>
                        </a:rPr>
                        <a:t>Validation by proof of concept or implementation?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4"/>
                  </a:ext>
                </a:extLst>
              </a:tr>
            </a:tbl>
          </a:graphicData>
        </a:graphic>
      </p:graphicFrame>
      <p:sp>
        <p:nvSpPr>
          <p:cNvPr id="10" name="Rectangle 9">
            <a:extLst>
              <a:ext uri="{FF2B5EF4-FFF2-40B4-BE49-F238E27FC236}">
                <a16:creationId xmlns:a16="http://schemas.microsoft.com/office/drawing/2014/main" id="{FA6E2224-F5A4-4502-86FA-580568C6FEF8}"/>
              </a:ext>
            </a:extLst>
          </p:cNvPr>
          <p:cNvSpPr>
            <a:spLocks noGrp="1"/>
          </p:cNvSpPr>
          <p:nvPr/>
        </p:nvSpPr>
        <p:spPr>
          <a:xfrm>
            <a:off x="590550" y="4800600"/>
            <a:ext cx="11010900" cy="12383"/>
          </a:xfrm>
          <a:prstGeom prst="rect">
            <a:avLst/>
          </a:prstGeom>
          <a:solidFill>
            <a:srgbClr val="DCE9F4"/>
          </a:solidFill>
          <a:ln w="13335">
            <a:solidFill>
              <a:srgbClr val="DCE9F4"/>
            </a:solidFill>
            <a:prstDash val="solid"/>
          </a:ln>
        </p:spPr>
        <p:txBody>
          <a:bodyPr/>
          <a:lstStyle/>
          <a:p>
            <a:endParaRPr lang="en-AU"/>
          </a:p>
        </p:txBody>
      </p:sp>
    </p:spTree>
    <p:extLst>
      <p:ext uri="{BB962C8B-B14F-4D97-AF65-F5344CB8AC3E}">
        <p14:creationId xmlns:p14="http://schemas.microsoft.com/office/powerpoint/2010/main" val="1517065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ctr">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LIST OF THE ANALYSED STUDIES</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FF0000"/>
                </a:solidFill>
                <a:latin typeface="Arial"/>
                <a:ea typeface="Arial"/>
                <a:cs typeface="Arial"/>
              </a:rPr>
              <a:t>9</a:t>
            </a:r>
          </a:p>
        </p:txBody>
      </p:sp>
      <p:graphicFrame>
        <p:nvGraphicFramePr>
          <p:cNvPr id="6" name="Table 5">
            <a:extLst>
              <a:ext uri="{FF2B5EF4-FFF2-40B4-BE49-F238E27FC236}">
                <a16:creationId xmlns:a16="http://schemas.microsoft.com/office/drawing/2014/main" id="{16758AE8-EE98-4146-B748-D7A6A2A828D3}"/>
              </a:ext>
            </a:extLst>
          </p:cNvPr>
          <p:cNvGraphicFramePr/>
          <p:nvPr/>
        </p:nvGraphicFramePr>
        <p:xfrm>
          <a:off x="590550" y="1005840"/>
          <a:ext cx="11010900" cy="5335016"/>
        </p:xfrm>
        <a:graphic>
          <a:graphicData uri="http://schemas.openxmlformats.org/drawingml/2006/table">
            <a:tbl>
              <a:tblPr>
                <a:tableStyleId>{5C22544A-7EE6-4342-B048-85BDC9FD1C3A}</a:tableStyleId>
              </a:tblPr>
              <a:tblGrid>
                <a:gridCol w="5943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8267700">
                  <a:extLst>
                    <a:ext uri="{9D8B030D-6E8A-4147-A177-3AD203B41FA5}">
                      <a16:colId xmlns:a16="http://schemas.microsoft.com/office/drawing/2014/main" val="20002"/>
                    </a:ext>
                  </a:extLst>
                </a:gridCol>
              </a:tblGrid>
              <a:tr h="283464">
                <a:tc>
                  <a:txBody>
                    <a:bodyPr/>
                    <a:lstStyle/>
                    <a:p>
                      <a:pPr algn="ctr">
                        <a:lnSpc>
                          <a:spcPct val="100000"/>
                        </a:lnSpc>
                        <a:buNone/>
                      </a:pPr>
                      <a:r>
                        <a:rPr sz="1100" b="1">
                          <a:solidFill>
                            <a:srgbClr val="FFFFFF"/>
                          </a:solidFill>
                          <a:latin typeface="Arial"/>
                          <a:ea typeface="Arial"/>
                          <a:cs typeface="Arial"/>
                        </a:rPr>
                        <a:t>Study</a:t>
                      </a:r>
                    </a:p>
                  </a:txBody>
                  <a:tcPr marL="50800" marR="50800" marT="25400" marB="254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l">
                        <a:lnSpc>
                          <a:spcPct val="100000"/>
                        </a:lnSpc>
                        <a:buNone/>
                      </a:pPr>
                      <a:r>
                        <a:rPr sz="1100" b="1">
                          <a:solidFill>
                            <a:srgbClr val="FFFFFF"/>
                          </a:solidFill>
                          <a:latin typeface="Arial"/>
                          <a:ea typeface="Arial"/>
                          <a:cs typeface="Arial"/>
                        </a:rPr>
                        <a:t>Authors and year</a:t>
                      </a:r>
                    </a:p>
                  </a:txBody>
                  <a:tcPr marL="50800" marR="50800" marT="25400" marB="254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l">
                        <a:lnSpc>
                          <a:spcPct val="100000"/>
                        </a:lnSpc>
                        <a:buNone/>
                      </a:pPr>
                      <a:r>
                        <a:rPr sz="1100" b="1">
                          <a:solidFill>
                            <a:srgbClr val="FFFFFF"/>
                          </a:solidFill>
                          <a:latin typeface="Arial"/>
                          <a:ea typeface="Arial"/>
                          <a:cs typeface="Arial"/>
                        </a:rPr>
                        <a:t>Article title</a:t>
                      </a:r>
                    </a:p>
                  </a:txBody>
                  <a:tcPr marL="50800" marR="50800" marT="25400" marB="254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192024">
                <a:tc>
                  <a:txBody>
                    <a:bodyPr/>
                    <a:lstStyle/>
                    <a:p>
                      <a:pPr algn="ctr">
                        <a:lnSpc>
                          <a:spcPct val="100000"/>
                        </a:lnSpc>
                        <a:buNone/>
                      </a:pPr>
                      <a:r>
                        <a:rPr sz="1000" b="0">
                          <a:solidFill>
                            <a:srgbClr val="24415C"/>
                          </a:solidFill>
                          <a:latin typeface="Arial"/>
                          <a:ea typeface="Arial"/>
                          <a:cs typeface="Arial"/>
                        </a:rPr>
                        <a:t>S1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Abbasi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Nexa: Enabling Secure, Scalable, and Decentralized Management of Electronic Health Records Using Threshold Cryptography and Public Blockchains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192024">
                <a:tc>
                  <a:txBody>
                    <a:bodyPr/>
                    <a:lstStyle/>
                    <a:p>
                      <a:pPr algn="ctr">
                        <a:lnSpc>
                          <a:spcPct val="100000"/>
                        </a:lnSpc>
                        <a:buNone/>
                      </a:pPr>
                      <a:r>
                        <a:rPr sz="1000" b="0">
                          <a:solidFill>
                            <a:srgbClr val="24415C"/>
                          </a:solidFill>
                          <a:latin typeface="Arial"/>
                          <a:ea typeface="Arial"/>
                          <a:cs typeface="Arial"/>
                        </a:rPr>
                        <a:t>S2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Albalwy et al. (2021)</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 Blockchain-based dynamic consent architecture to support clinical genomic data sharing (ConsentChain): Proof-of-concept study</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192024">
                <a:tc>
                  <a:txBody>
                    <a:bodyPr/>
                    <a:lstStyle/>
                    <a:p>
                      <a:pPr algn="ctr">
                        <a:lnSpc>
                          <a:spcPct val="100000"/>
                        </a:lnSpc>
                        <a:buNone/>
                      </a:pPr>
                      <a:r>
                        <a:rPr sz="1000" b="0">
                          <a:solidFill>
                            <a:srgbClr val="24415C"/>
                          </a:solidFill>
                          <a:latin typeface="Arial"/>
                          <a:ea typeface="Arial"/>
                          <a:cs typeface="Arial"/>
                        </a:rPr>
                        <a:t>S3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Al Amin et al. (2023)</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Informed Consent as Patient Driven Policy for Clinical Diagnosis and Treatment: A Smart Contract Based Approach</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393998605"/>
                  </a:ext>
                </a:extLst>
              </a:tr>
              <a:tr h="192024">
                <a:tc>
                  <a:txBody>
                    <a:bodyPr/>
                    <a:lstStyle/>
                    <a:p>
                      <a:pPr algn="ctr">
                        <a:lnSpc>
                          <a:spcPct val="100000"/>
                        </a:lnSpc>
                        <a:buNone/>
                      </a:pPr>
                      <a:r>
                        <a:rPr sz="1000" b="0">
                          <a:solidFill>
                            <a:srgbClr val="24415C"/>
                          </a:solidFill>
                          <a:latin typeface="Arial"/>
                          <a:ea typeface="Arial"/>
                          <a:cs typeface="Arial"/>
                        </a:rPr>
                        <a:t>S4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Ekholm et al. (2025)</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Implementing electronic informed consent in rare disease genomics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631272076"/>
                  </a:ext>
                </a:extLst>
              </a:tr>
              <a:tr h="192024">
                <a:tc>
                  <a:txBody>
                    <a:bodyPr/>
                    <a:lstStyle/>
                    <a:p>
                      <a:pPr algn="ctr">
                        <a:lnSpc>
                          <a:spcPct val="100000"/>
                        </a:lnSpc>
                        <a:buNone/>
                      </a:pPr>
                      <a:r>
                        <a:rPr sz="1000" b="0">
                          <a:solidFill>
                            <a:srgbClr val="24415C"/>
                          </a:solidFill>
                          <a:latin typeface="Arial"/>
                          <a:ea typeface="Arial"/>
                          <a:cs typeface="Arial"/>
                        </a:rPr>
                        <a:t>S5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Eneh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Demo: EdgeConsent: On-Chain Attribute-Based Access Control for Data Consent Management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74290227"/>
                  </a:ext>
                </a:extLst>
              </a:tr>
              <a:tr h="192024">
                <a:tc>
                  <a:txBody>
                    <a:bodyPr/>
                    <a:lstStyle/>
                    <a:p>
                      <a:pPr algn="ctr">
                        <a:lnSpc>
                          <a:spcPct val="100000"/>
                        </a:lnSpc>
                        <a:buNone/>
                      </a:pPr>
                      <a:r>
                        <a:rPr sz="1000" b="0">
                          <a:solidFill>
                            <a:srgbClr val="24415C"/>
                          </a:solidFill>
                          <a:latin typeface="Arial"/>
                          <a:ea typeface="Arial"/>
                          <a:cs typeface="Arial"/>
                        </a:rPr>
                        <a:t>S6</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Hagström et al.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Minors’ and guardian access to and use of a national patient portal: A retrospective comparative case study of Sweden and Finland</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439312405"/>
                  </a:ext>
                </a:extLst>
              </a:tr>
              <a:tr h="192024">
                <a:tc>
                  <a:txBody>
                    <a:bodyPr/>
                    <a:lstStyle/>
                    <a:p>
                      <a:pPr algn="ctr">
                        <a:lnSpc>
                          <a:spcPct val="100000"/>
                        </a:lnSpc>
                        <a:buNone/>
                      </a:pPr>
                      <a:r>
                        <a:rPr sz="1000" b="0">
                          <a:solidFill>
                            <a:srgbClr val="24415C"/>
                          </a:solidFill>
                          <a:latin typeface="Arial"/>
                          <a:ea typeface="Arial"/>
                          <a:cs typeface="Arial"/>
                        </a:rPr>
                        <a:t>S7</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Jaiman and Urovi (2020)</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A Consent Model for Blockchain-Based Health Data Sharing Platforms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88047248"/>
                  </a:ext>
                </a:extLst>
              </a:tr>
              <a:tr h="192024">
                <a:tc>
                  <a:txBody>
                    <a:bodyPr/>
                    <a:lstStyle/>
                    <a:p>
                      <a:pPr algn="ctr">
                        <a:lnSpc>
                          <a:spcPct val="100000"/>
                        </a:lnSpc>
                        <a:buNone/>
                      </a:pPr>
                      <a:r>
                        <a:rPr sz="1000" b="0">
                          <a:solidFill>
                            <a:srgbClr val="24415C"/>
                          </a:solidFill>
                          <a:latin typeface="Arial"/>
                          <a:ea typeface="Arial"/>
                          <a:cs typeface="Arial"/>
                        </a:rPr>
                        <a:t>S8</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Zhao and Su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 threshold traceable delegation authorization scheme for data sharing in healthcare</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967738440"/>
                  </a:ext>
                </a:extLst>
              </a:tr>
              <a:tr h="192024">
                <a:tc>
                  <a:txBody>
                    <a:bodyPr/>
                    <a:lstStyle/>
                    <a:p>
                      <a:pPr algn="ctr">
                        <a:lnSpc>
                          <a:spcPct val="100000"/>
                        </a:lnSpc>
                        <a:buNone/>
                      </a:pPr>
                      <a:r>
                        <a:rPr sz="1000" b="0">
                          <a:solidFill>
                            <a:srgbClr val="24415C"/>
                          </a:solidFill>
                          <a:latin typeface="Arial"/>
                          <a:ea typeface="Arial"/>
                          <a:cs typeface="Arial"/>
                        </a:rPr>
                        <a:t>S9</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Li et al. (2026a)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Privacy-Preserving Fine-Grained EMR Access Control for IoMT: A Hybrid RBAC-Smart Contract Scheme With Attribute-Based Authorization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894139342"/>
                  </a:ext>
                </a:extLst>
              </a:tr>
              <a:tr h="192024">
                <a:tc>
                  <a:txBody>
                    <a:bodyPr/>
                    <a:lstStyle/>
                    <a:p>
                      <a:pPr algn="ctr">
                        <a:lnSpc>
                          <a:spcPct val="100000"/>
                        </a:lnSpc>
                        <a:buNone/>
                      </a:pPr>
                      <a:r>
                        <a:rPr sz="1000" b="0">
                          <a:solidFill>
                            <a:srgbClr val="24415C"/>
                          </a:solidFill>
                          <a:latin typeface="Arial"/>
                          <a:ea typeface="Arial"/>
                          <a:cs typeface="Arial"/>
                        </a:rPr>
                        <a:t>S10</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Madine et al. (2020)</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Fully Decentralized Multi-Party Consent Management for Secure Sharing of Patient Health Records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539882287"/>
                  </a:ext>
                </a:extLst>
              </a:tr>
              <a:tr h="192024">
                <a:tc>
                  <a:txBody>
                    <a:bodyPr/>
                    <a:lstStyle/>
                    <a:p>
                      <a:pPr algn="ctr">
                        <a:lnSpc>
                          <a:spcPct val="100000"/>
                        </a:lnSpc>
                        <a:buNone/>
                      </a:pPr>
                      <a:r>
                        <a:rPr sz="1000" b="0">
                          <a:solidFill>
                            <a:srgbClr val="24415C"/>
                          </a:solidFill>
                          <a:latin typeface="Arial"/>
                          <a:ea typeface="Arial"/>
                          <a:cs typeface="Arial"/>
                        </a:rPr>
                        <a:t>S11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Maruthi and Singh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Enhancing Security and Privacy of IoMT Data for Unconscious Patient With Blockchain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85295131"/>
                  </a:ext>
                </a:extLst>
              </a:tr>
              <a:tr h="192024">
                <a:tc>
                  <a:txBody>
                    <a:bodyPr/>
                    <a:lstStyle/>
                    <a:p>
                      <a:pPr algn="ctr">
                        <a:lnSpc>
                          <a:spcPct val="100000"/>
                        </a:lnSpc>
                        <a:buNone/>
                      </a:pPr>
                      <a:r>
                        <a:rPr sz="1000" b="0">
                          <a:solidFill>
                            <a:srgbClr val="24415C"/>
                          </a:solidFill>
                          <a:latin typeface="Arial"/>
                          <a:ea typeface="Arial"/>
                          <a:cs typeface="Arial"/>
                        </a:rPr>
                        <a:t>S12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Mei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Efficient Dual-Revocation CP-ABE for Secure and Fine-Grained Data Sharing in IoMT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673809460"/>
                  </a:ext>
                </a:extLst>
              </a:tr>
              <a:tr h="192024">
                <a:tc>
                  <a:txBody>
                    <a:bodyPr/>
                    <a:lstStyle/>
                    <a:p>
                      <a:pPr algn="ctr">
                        <a:lnSpc>
                          <a:spcPct val="100000"/>
                        </a:lnSpc>
                        <a:buNone/>
                      </a:pPr>
                      <a:r>
                        <a:rPr sz="1000" b="0">
                          <a:solidFill>
                            <a:srgbClr val="24415C"/>
                          </a:solidFill>
                          <a:latin typeface="Arial"/>
                          <a:ea typeface="Arial"/>
                          <a:cs typeface="Arial"/>
                        </a:rPr>
                        <a:t>S13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Panagoulias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Blockchain-Enabled Trust and Compliance for Clinical AI: Decentralized Governance Without Decentralized Data Storage</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712172628"/>
                  </a:ext>
                </a:extLst>
              </a:tr>
              <a:tr h="192024">
                <a:tc>
                  <a:txBody>
                    <a:bodyPr/>
                    <a:lstStyle/>
                    <a:p>
                      <a:pPr algn="ctr">
                        <a:lnSpc>
                          <a:spcPct val="100000"/>
                        </a:lnSpc>
                        <a:buNone/>
                      </a:pPr>
                      <a:r>
                        <a:rPr sz="1000" b="0">
                          <a:solidFill>
                            <a:srgbClr val="24415C"/>
                          </a:solidFill>
                          <a:latin typeface="Arial"/>
                          <a:ea typeface="Arial"/>
                          <a:cs typeface="Arial"/>
                        </a:rPr>
                        <a:t>S14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Phuyal et al. (2026b)</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Enabling Cross-Institution Health Data Sharing in Norway: EUDI Wallets, On-Chain Consent, and openEHR↔FHIR Translation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4164462473"/>
                  </a:ext>
                </a:extLst>
              </a:tr>
              <a:tr h="192024">
                <a:tc>
                  <a:txBody>
                    <a:bodyPr/>
                    <a:lstStyle/>
                    <a:p>
                      <a:pPr algn="ctr">
                        <a:lnSpc>
                          <a:spcPct val="100000"/>
                        </a:lnSpc>
                        <a:buNone/>
                      </a:pPr>
                      <a:r>
                        <a:rPr sz="1000" b="0">
                          <a:solidFill>
                            <a:srgbClr val="24415C"/>
                          </a:solidFill>
                          <a:latin typeface="Arial"/>
                          <a:ea typeface="Arial"/>
                          <a:cs typeface="Arial"/>
                        </a:rPr>
                        <a:t>S15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Phuyal et al. (2026a)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A Blockchain-Based Architecture for Dynamic and Auditable Patient Consent in Secondary Use of Health Data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73926234"/>
                  </a:ext>
                </a:extLst>
              </a:tr>
              <a:tr h="192024">
                <a:tc>
                  <a:txBody>
                    <a:bodyPr/>
                    <a:lstStyle/>
                    <a:p>
                      <a:pPr algn="ctr">
                        <a:lnSpc>
                          <a:spcPct val="100000"/>
                        </a:lnSpc>
                        <a:buNone/>
                      </a:pPr>
                      <a:r>
                        <a:rPr sz="1000" b="0">
                          <a:solidFill>
                            <a:srgbClr val="24415C"/>
                          </a:solidFill>
                          <a:latin typeface="Arial"/>
                          <a:ea typeface="Arial"/>
                          <a:cs typeface="Arial"/>
                        </a:rPr>
                        <a:t>S16</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Punia et al. (2025)</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An access control system for cloud-based healthcare systems driven by blockchain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627416642"/>
                  </a:ext>
                </a:extLst>
              </a:tr>
              <a:tr h="192024">
                <a:tc>
                  <a:txBody>
                    <a:bodyPr/>
                    <a:lstStyle/>
                    <a:p>
                      <a:pPr algn="ctr">
                        <a:lnSpc>
                          <a:spcPct val="100000"/>
                        </a:lnSpc>
                        <a:buNone/>
                      </a:pPr>
                      <a:r>
                        <a:rPr sz="1000" b="0">
                          <a:solidFill>
                            <a:srgbClr val="24415C"/>
                          </a:solidFill>
                          <a:latin typeface="Arial"/>
                          <a:ea typeface="Arial"/>
                          <a:cs typeface="Arial"/>
                        </a:rPr>
                        <a:t>S17</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Román-Martínez et al. (2023)</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Blockchain-Based Service-Oriented Architecture for Consent Management, Access Control, and Auditing</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097835254"/>
                  </a:ext>
                </a:extLst>
              </a:tr>
              <a:tr h="192024">
                <a:tc>
                  <a:txBody>
                    <a:bodyPr/>
                    <a:lstStyle/>
                    <a:p>
                      <a:pPr algn="ctr">
                        <a:lnSpc>
                          <a:spcPct val="100000"/>
                        </a:lnSpc>
                        <a:buNone/>
                      </a:pPr>
                      <a:r>
                        <a:rPr sz="1000" b="0">
                          <a:solidFill>
                            <a:srgbClr val="24415C"/>
                          </a:solidFill>
                          <a:latin typeface="Arial"/>
                          <a:ea typeface="Arial"/>
                          <a:cs typeface="Arial"/>
                        </a:rPr>
                        <a:t>S18</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Hema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Patient Centric Cryptographic Protection of Cloud Electronic Health Records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185976374"/>
                  </a:ext>
                </a:extLst>
              </a:tr>
              <a:tr h="192024">
                <a:tc>
                  <a:txBody>
                    <a:bodyPr/>
                    <a:lstStyle/>
                    <a:p>
                      <a:pPr algn="ctr">
                        <a:lnSpc>
                          <a:spcPct val="100000"/>
                        </a:lnSpc>
                        <a:buNone/>
                      </a:pPr>
                      <a:r>
                        <a:rPr sz="1000" b="0">
                          <a:solidFill>
                            <a:srgbClr val="24415C"/>
                          </a:solidFill>
                          <a:latin typeface="Arial"/>
                          <a:ea typeface="Arial"/>
                          <a:cs typeface="Arial"/>
                        </a:rPr>
                        <a:t>S19</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SooHoo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Development of the authentication and authorization processes for the iAgree portal, a platform for patient-controlled data sharing across health systems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270074840"/>
                  </a:ext>
                </a:extLst>
              </a:tr>
              <a:tr h="192024">
                <a:tc>
                  <a:txBody>
                    <a:bodyPr/>
                    <a:lstStyle/>
                    <a:p>
                      <a:pPr algn="ctr">
                        <a:lnSpc>
                          <a:spcPct val="100000"/>
                        </a:lnSpc>
                        <a:buNone/>
                      </a:pPr>
                      <a:r>
                        <a:rPr sz="1000" b="0">
                          <a:solidFill>
                            <a:srgbClr val="24415C"/>
                          </a:solidFill>
                          <a:latin typeface="Arial"/>
                          <a:ea typeface="Arial"/>
                          <a:cs typeface="Arial"/>
                        </a:rPr>
                        <a:t>S20</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Tan et al.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Secure and privacy-preserving sharing of personal health records with multi-party pre-authorization verification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627001809"/>
                  </a:ext>
                </a:extLst>
              </a:tr>
              <a:tr h="192024">
                <a:tc>
                  <a:txBody>
                    <a:bodyPr/>
                    <a:lstStyle/>
                    <a:p>
                      <a:pPr algn="ctr">
                        <a:lnSpc>
                          <a:spcPct val="100000"/>
                        </a:lnSpc>
                        <a:buNone/>
                      </a:pPr>
                      <a:r>
                        <a:rPr sz="1000" b="0">
                          <a:solidFill>
                            <a:srgbClr val="24415C"/>
                          </a:solidFill>
                          <a:latin typeface="Arial"/>
                          <a:ea typeface="Arial"/>
                          <a:cs typeface="Arial"/>
                        </a:rPr>
                        <a:t>S21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Tith et al. (2020)</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Patient consent management by a purpose-based consent model for electronic health record based on blockchain technology</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39404043"/>
                  </a:ext>
                </a:extLst>
              </a:tr>
              <a:tr h="192024">
                <a:tc>
                  <a:txBody>
                    <a:bodyPr/>
                    <a:lstStyle/>
                    <a:p>
                      <a:pPr algn="ctr">
                        <a:lnSpc>
                          <a:spcPct val="100000"/>
                        </a:lnSpc>
                        <a:buNone/>
                      </a:pPr>
                      <a:r>
                        <a:rPr sz="1000" b="0">
                          <a:solidFill>
                            <a:srgbClr val="24415C"/>
                          </a:solidFill>
                          <a:latin typeface="Arial"/>
                          <a:ea typeface="Arial"/>
                          <a:cs typeface="Arial"/>
                        </a:rPr>
                        <a:t>S22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Tremper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Mainzelliste: Ten years of pseudonymization, record linkage, and informed consent management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458194092"/>
                  </a:ext>
                </a:extLst>
              </a:tr>
              <a:tr h="192024">
                <a:tc>
                  <a:txBody>
                    <a:bodyPr/>
                    <a:lstStyle/>
                    <a:p>
                      <a:pPr algn="ctr">
                        <a:lnSpc>
                          <a:spcPct val="100000"/>
                        </a:lnSpc>
                        <a:buNone/>
                      </a:pPr>
                      <a:r>
                        <a:rPr sz="1000" b="0">
                          <a:solidFill>
                            <a:srgbClr val="24415C"/>
                          </a:solidFill>
                          <a:latin typeface="Arial"/>
                          <a:ea typeface="Arial"/>
                          <a:cs typeface="Arial"/>
                        </a:rPr>
                        <a:t>S23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Tseng et al.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EMR-Chain: Decentralized Electronic Medical Record Exchange System</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119557954"/>
                  </a:ext>
                </a:extLst>
              </a:tr>
              <a:tr h="192024">
                <a:tc>
                  <a:txBody>
                    <a:bodyPr/>
                    <a:lstStyle/>
                    <a:p>
                      <a:pPr algn="ctr">
                        <a:lnSpc>
                          <a:spcPct val="100000"/>
                        </a:lnSpc>
                        <a:buNone/>
                      </a:pPr>
                      <a:r>
                        <a:rPr sz="1000" b="0">
                          <a:solidFill>
                            <a:srgbClr val="24415C"/>
                          </a:solidFill>
                          <a:latin typeface="Arial"/>
                          <a:ea typeface="Arial"/>
                          <a:cs typeface="Arial"/>
                        </a:rPr>
                        <a:t>S24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Wu et al. (2022)</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Apply Trust Computing and Privacy Preserving Smart Contracts to Manage, Share, and Analyze Multi-site Clinical Trial Data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8307672"/>
                  </a:ext>
                </a:extLst>
              </a:tr>
              <a:tr h="192024">
                <a:tc>
                  <a:txBody>
                    <a:bodyPr/>
                    <a:lstStyle/>
                    <a:p>
                      <a:pPr algn="ctr">
                        <a:lnSpc>
                          <a:spcPct val="100000"/>
                        </a:lnSpc>
                        <a:buNone/>
                      </a:pPr>
                      <a:r>
                        <a:rPr sz="1000" b="0">
                          <a:solidFill>
                            <a:srgbClr val="24415C"/>
                          </a:solidFill>
                          <a:latin typeface="Arial"/>
                          <a:ea typeface="Arial"/>
                          <a:cs typeface="Arial"/>
                        </a:rPr>
                        <a:t>S25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Wu and Zhang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HealthDID: An efficient and authorizable multi-party privacy-preserving EMR sharing system based on DID</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802922229"/>
                  </a:ext>
                </a:extLst>
              </a:tr>
            </a:tbl>
          </a:graphicData>
        </a:graphic>
      </p:graphicFrame>
    </p:spTree>
    <p:extLst>
      <p:ext uri="{BB962C8B-B14F-4D97-AF65-F5344CB8AC3E}">
        <p14:creationId xmlns:p14="http://schemas.microsoft.com/office/powerpoint/2010/main" val="415815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STUDY COMPARISON: S1–S13</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FF0000"/>
                </a:solidFill>
                <a:latin typeface="Arial"/>
                <a:ea typeface="Arial"/>
                <a:cs typeface="Arial"/>
              </a:rPr>
              <a:t>10</a:t>
            </a:r>
          </a:p>
        </p:txBody>
      </p:sp>
      <p:graphicFrame>
        <p:nvGraphicFramePr>
          <p:cNvPr id="6" name="Table 5">
            <a:extLst>
              <a:ext uri="{FF2B5EF4-FFF2-40B4-BE49-F238E27FC236}">
                <a16:creationId xmlns:a16="http://schemas.microsoft.com/office/drawing/2014/main" id="{16758AE8-EE98-4146-B748-D7A6A2A828D3}"/>
              </a:ext>
            </a:extLst>
          </p:cNvPr>
          <p:cNvGraphicFramePr/>
          <p:nvPr>
            <p:extLst>
              <p:ext uri="{D42A27DB-BD31-4B8C-83A1-F6EECF244321}">
                <p14:modId xmlns:p14="http://schemas.microsoft.com/office/powerpoint/2010/main" val="3671327951"/>
              </p:ext>
            </p:extLst>
          </p:nvPr>
        </p:nvGraphicFramePr>
        <p:xfrm>
          <a:off x="590550" y="1504950"/>
          <a:ext cx="11010900" cy="4533900"/>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3850">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3850">
                <a:tc>
                  <a:txBody>
                    <a:bodyPr/>
                    <a:lstStyle/>
                    <a:p>
                      <a:pPr algn="l">
                        <a:lnSpc>
                          <a:spcPct val="100000"/>
                        </a:lnSpc>
                        <a:buNone/>
                      </a:pPr>
                      <a:r>
                        <a:rPr sz="1500" b="0">
                          <a:solidFill>
                            <a:srgbClr val="24415C"/>
                          </a:solidFill>
                          <a:latin typeface="Arial"/>
                          <a:ea typeface="Arial"/>
                          <a:cs typeface="Arial"/>
                        </a:rPr>
                        <a:t>S1 Abbasi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323850">
                <a:tc>
                  <a:txBody>
                    <a:bodyPr/>
                    <a:lstStyle/>
                    <a:p>
                      <a:pPr algn="l">
                        <a:lnSpc>
                          <a:spcPct val="100000"/>
                        </a:lnSpc>
                        <a:buNone/>
                      </a:pPr>
                      <a:r>
                        <a:rPr sz="1500" b="0">
                          <a:solidFill>
                            <a:srgbClr val="24415C"/>
                          </a:solidFill>
                          <a:latin typeface="Arial"/>
                          <a:ea typeface="Arial"/>
                          <a:cs typeface="Arial"/>
                        </a:rPr>
                        <a:t>S2 Albalwy et al. (2021)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2"/>
                  </a:ext>
                </a:extLst>
              </a:tr>
              <a:tr h="323850">
                <a:tc>
                  <a:txBody>
                    <a:bodyPr/>
                    <a:lstStyle/>
                    <a:p>
                      <a:pPr algn="l">
                        <a:lnSpc>
                          <a:spcPct val="100000"/>
                        </a:lnSpc>
                        <a:buNone/>
                      </a:pPr>
                      <a:r>
                        <a:rPr sz="1500" b="0">
                          <a:solidFill>
                            <a:srgbClr val="24415C"/>
                          </a:solidFill>
                          <a:latin typeface="Arial"/>
                          <a:ea typeface="Arial"/>
                          <a:cs typeface="Arial"/>
                        </a:rPr>
                        <a:t>S3 Al Amin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3850">
                <a:tc>
                  <a:txBody>
                    <a:bodyPr/>
                    <a:lstStyle/>
                    <a:p>
                      <a:pPr algn="l">
                        <a:lnSpc>
                          <a:spcPct val="100000"/>
                        </a:lnSpc>
                        <a:buNone/>
                      </a:pPr>
                      <a:r>
                        <a:rPr sz="1500" b="0">
                          <a:solidFill>
                            <a:srgbClr val="24415C"/>
                          </a:solidFill>
                          <a:latin typeface="Arial"/>
                          <a:ea typeface="Arial"/>
                          <a:cs typeface="Arial"/>
                        </a:rPr>
                        <a:t>S4 Ekholm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3850">
                <a:tc>
                  <a:txBody>
                    <a:bodyPr/>
                    <a:lstStyle/>
                    <a:p>
                      <a:pPr algn="l">
                        <a:lnSpc>
                          <a:spcPct val="100000"/>
                        </a:lnSpc>
                        <a:buNone/>
                      </a:pPr>
                      <a:r>
                        <a:rPr sz="1500" b="0">
                          <a:solidFill>
                            <a:srgbClr val="24415C"/>
                          </a:solidFill>
                          <a:latin typeface="Arial"/>
                          <a:ea typeface="Arial"/>
                          <a:cs typeface="Arial"/>
                        </a:rPr>
                        <a:t>S5 Eneh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3850">
                <a:tc>
                  <a:txBody>
                    <a:bodyPr/>
                    <a:lstStyle/>
                    <a:p>
                      <a:pPr algn="l">
                        <a:lnSpc>
                          <a:spcPct val="100000"/>
                        </a:lnSpc>
                        <a:buNone/>
                      </a:pPr>
                      <a:r>
                        <a:rPr sz="1500" b="0">
                          <a:solidFill>
                            <a:srgbClr val="24415C"/>
                          </a:solidFill>
                          <a:latin typeface="Arial"/>
                          <a:ea typeface="Arial"/>
                          <a:cs typeface="Arial"/>
                        </a:rPr>
                        <a:t>S6 Hagström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6"/>
                  </a:ext>
                </a:extLst>
              </a:tr>
              <a:tr h="323850">
                <a:tc>
                  <a:txBody>
                    <a:bodyPr/>
                    <a:lstStyle/>
                    <a:p>
                      <a:pPr algn="l">
                        <a:lnSpc>
                          <a:spcPct val="100000"/>
                        </a:lnSpc>
                        <a:buNone/>
                      </a:pPr>
                      <a:r>
                        <a:rPr sz="1500" b="0">
                          <a:solidFill>
                            <a:srgbClr val="24415C"/>
                          </a:solidFill>
                          <a:latin typeface="Arial"/>
                          <a:ea typeface="Arial"/>
                          <a:cs typeface="Arial"/>
                        </a:rPr>
                        <a:t>S7 Jaiman and Urovi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7"/>
                  </a:ext>
                </a:extLst>
              </a:tr>
              <a:tr h="323850">
                <a:tc>
                  <a:txBody>
                    <a:bodyPr/>
                    <a:lstStyle/>
                    <a:p>
                      <a:pPr algn="l">
                        <a:lnSpc>
                          <a:spcPct val="100000"/>
                        </a:lnSpc>
                        <a:buNone/>
                      </a:pPr>
                      <a:r>
                        <a:rPr sz="1500" b="0">
                          <a:solidFill>
                            <a:srgbClr val="24415C"/>
                          </a:solidFill>
                          <a:latin typeface="Arial"/>
                          <a:ea typeface="Arial"/>
                          <a:cs typeface="Arial"/>
                        </a:rPr>
                        <a:t>S8 Zhao and Su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8"/>
                  </a:ext>
                </a:extLst>
              </a:tr>
              <a:tr h="323850">
                <a:tc>
                  <a:txBody>
                    <a:bodyPr/>
                    <a:lstStyle/>
                    <a:p>
                      <a:pPr algn="l">
                        <a:lnSpc>
                          <a:spcPct val="100000"/>
                        </a:lnSpc>
                        <a:buNone/>
                      </a:pPr>
                      <a:r>
                        <a:rPr sz="1500" b="0">
                          <a:solidFill>
                            <a:srgbClr val="24415C"/>
                          </a:solidFill>
                          <a:latin typeface="Arial"/>
                          <a:ea typeface="Arial"/>
                          <a:cs typeface="Arial"/>
                        </a:rPr>
                        <a:t>S9 Li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3850">
                <a:tc>
                  <a:txBody>
                    <a:bodyPr/>
                    <a:lstStyle/>
                    <a:p>
                      <a:pPr algn="l">
                        <a:lnSpc>
                          <a:spcPct val="100000"/>
                        </a:lnSpc>
                        <a:buNone/>
                      </a:pPr>
                      <a:r>
                        <a:rPr sz="1500" b="0">
                          <a:solidFill>
                            <a:srgbClr val="24415C"/>
                          </a:solidFill>
                          <a:latin typeface="Arial"/>
                          <a:ea typeface="Arial"/>
                          <a:cs typeface="Arial"/>
                        </a:rPr>
                        <a:t>S10 Madine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3850">
                <a:tc>
                  <a:txBody>
                    <a:bodyPr/>
                    <a:lstStyle/>
                    <a:p>
                      <a:pPr algn="l">
                        <a:lnSpc>
                          <a:spcPct val="100000"/>
                        </a:lnSpc>
                        <a:buNone/>
                      </a:pPr>
                      <a:r>
                        <a:rPr sz="1500" b="0">
                          <a:solidFill>
                            <a:srgbClr val="24415C"/>
                          </a:solidFill>
                          <a:latin typeface="Arial"/>
                          <a:ea typeface="Arial"/>
                          <a:cs typeface="Arial"/>
                        </a:rPr>
                        <a:t>S11 Maruthi and Singh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1"/>
                  </a:ext>
                </a:extLst>
              </a:tr>
              <a:tr h="323850">
                <a:tc>
                  <a:txBody>
                    <a:bodyPr/>
                    <a:lstStyle/>
                    <a:p>
                      <a:pPr algn="l">
                        <a:lnSpc>
                          <a:spcPct val="100000"/>
                        </a:lnSpc>
                        <a:buNone/>
                      </a:pPr>
                      <a:r>
                        <a:rPr sz="1500" b="0">
                          <a:solidFill>
                            <a:srgbClr val="24415C"/>
                          </a:solidFill>
                          <a:latin typeface="Arial"/>
                          <a:ea typeface="Arial"/>
                          <a:cs typeface="Arial"/>
                        </a:rPr>
                        <a:t>S12 Mei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r h="323850">
                <a:tc>
                  <a:txBody>
                    <a:bodyPr/>
                    <a:lstStyle/>
                    <a:p>
                      <a:pPr algn="l">
                        <a:lnSpc>
                          <a:spcPct val="100000"/>
                        </a:lnSpc>
                        <a:buNone/>
                      </a:pPr>
                      <a:r>
                        <a:rPr sz="1500" b="0">
                          <a:solidFill>
                            <a:srgbClr val="24415C"/>
                          </a:solidFill>
                          <a:latin typeface="Arial"/>
                          <a:ea typeface="Arial"/>
                          <a:cs typeface="Arial"/>
                        </a:rPr>
                        <a:t>S13 Panagoulias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13120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AA511421-C2D7-4DAB-B54A-F8F48F5EACA4}"/>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STUDY COMPARISON: S14–S25</a:t>
            </a:r>
          </a:p>
        </p:txBody>
      </p:sp>
      <p:sp>
        <p:nvSpPr>
          <p:cNvPr id="2" name="Rectangle 1">
            <a:extLst>
              <a:ext uri="{FF2B5EF4-FFF2-40B4-BE49-F238E27FC236}">
                <a16:creationId xmlns:a16="http://schemas.microsoft.com/office/drawing/2014/main" id="{A28DCFC6-31A9-4DCA-A70D-F8A51ADDCE00}"/>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96C21CB9-8A5F-402E-8B04-538D1272CDDA}"/>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FF0000"/>
                </a:solidFill>
                <a:latin typeface="Arial"/>
                <a:ea typeface="Arial"/>
                <a:cs typeface="Arial"/>
              </a:rPr>
              <a:t>11</a:t>
            </a:r>
          </a:p>
        </p:txBody>
      </p:sp>
      <p:graphicFrame>
        <p:nvGraphicFramePr>
          <p:cNvPr id="6" name="Table 5">
            <a:extLst>
              <a:ext uri="{FF2B5EF4-FFF2-40B4-BE49-F238E27FC236}">
                <a16:creationId xmlns:a16="http://schemas.microsoft.com/office/drawing/2014/main" id="{6F239629-C9A4-46DC-B36D-8A6DCDED3378}"/>
              </a:ext>
            </a:extLst>
          </p:cNvPr>
          <p:cNvGraphicFramePr/>
          <p:nvPr>
            <p:extLst>
              <p:ext uri="{D42A27DB-BD31-4B8C-83A1-F6EECF244321}">
                <p14:modId xmlns:p14="http://schemas.microsoft.com/office/powerpoint/2010/main" val="2961296834"/>
              </p:ext>
            </p:extLst>
          </p:nvPr>
        </p:nvGraphicFramePr>
        <p:xfrm>
          <a:off x="590550" y="1504950"/>
          <a:ext cx="11010900" cy="4267198"/>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8246">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8246">
                <a:tc>
                  <a:txBody>
                    <a:bodyPr/>
                    <a:lstStyle/>
                    <a:p>
                      <a:pPr algn="l">
                        <a:lnSpc>
                          <a:spcPct val="100000"/>
                        </a:lnSpc>
                        <a:buNone/>
                      </a:pPr>
                      <a:r>
                        <a:rPr sz="1500" b="0">
                          <a:solidFill>
                            <a:srgbClr val="24415C"/>
                          </a:solidFill>
                          <a:latin typeface="Arial"/>
                          <a:ea typeface="Arial"/>
                          <a:cs typeface="Arial"/>
                        </a:rPr>
                        <a:t>S14 Phuyal et al. (2026b)</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1"/>
                  </a:ext>
                </a:extLst>
              </a:tr>
              <a:tr h="328246">
                <a:tc>
                  <a:txBody>
                    <a:bodyPr/>
                    <a:lstStyle/>
                    <a:p>
                      <a:pPr algn="l">
                        <a:lnSpc>
                          <a:spcPct val="100000"/>
                        </a:lnSpc>
                        <a:buNone/>
                      </a:pPr>
                      <a:r>
                        <a:rPr sz="1500" b="0">
                          <a:solidFill>
                            <a:srgbClr val="24415C"/>
                          </a:solidFill>
                          <a:latin typeface="Arial"/>
                          <a:ea typeface="Arial"/>
                          <a:cs typeface="Arial"/>
                        </a:rPr>
                        <a:t>S15 Phuyal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328246">
                <a:tc>
                  <a:txBody>
                    <a:bodyPr/>
                    <a:lstStyle/>
                    <a:p>
                      <a:pPr algn="l">
                        <a:lnSpc>
                          <a:spcPct val="100000"/>
                        </a:lnSpc>
                        <a:buNone/>
                      </a:pPr>
                      <a:r>
                        <a:rPr sz="1500" b="0">
                          <a:solidFill>
                            <a:srgbClr val="24415C"/>
                          </a:solidFill>
                          <a:latin typeface="Arial"/>
                          <a:ea typeface="Arial"/>
                          <a:cs typeface="Arial"/>
                        </a:rPr>
                        <a:t>S16 Punia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8246">
                <a:tc>
                  <a:txBody>
                    <a:bodyPr/>
                    <a:lstStyle/>
                    <a:p>
                      <a:pPr algn="l">
                        <a:lnSpc>
                          <a:spcPct val="100000"/>
                        </a:lnSpc>
                        <a:buNone/>
                      </a:pPr>
                      <a:r>
                        <a:rPr sz="1500" b="0">
                          <a:solidFill>
                            <a:srgbClr val="24415C"/>
                          </a:solidFill>
                          <a:latin typeface="Arial"/>
                          <a:ea typeface="Arial"/>
                          <a:cs typeface="Arial"/>
                        </a:rPr>
                        <a:t>S17 Román-Martínez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8246">
                <a:tc>
                  <a:txBody>
                    <a:bodyPr/>
                    <a:lstStyle/>
                    <a:p>
                      <a:pPr algn="l">
                        <a:lnSpc>
                          <a:spcPct val="100000"/>
                        </a:lnSpc>
                        <a:buNone/>
                      </a:pPr>
                      <a:r>
                        <a:rPr sz="1500" b="0">
                          <a:solidFill>
                            <a:srgbClr val="24415C"/>
                          </a:solidFill>
                          <a:latin typeface="Arial"/>
                          <a:ea typeface="Arial"/>
                          <a:cs typeface="Arial"/>
                        </a:rPr>
                        <a:t>S18 Hema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8246">
                <a:tc>
                  <a:txBody>
                    <a:bodyPr/>
                    <a:lstStyle/>
                    <a:p>
                      <a:pPr algn="l">
                        <a:lnSpc>
                          <a:spcPct val="100000"/>
                        </a:lnSpc>
                        <a:buNone/>
                      </a:pPr>
                      <a:r>
                        <a:rPr sz="1500" b="0">
                          <a:solidFill>
                            <a:srgbClr val="24415C"/>
                          </a:solidFill>
                          <a:latin typeface="Arial"/>
                          <a:ea typeface="Arial"/>
                          <a:cs typeface="Arial"/>
                        </a:rPr>
                        <a:t>S19 SooHoo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6"/>
                  </a:ext>
                </a:extLst>
              </a:tr>
              <a:tr h="328246">
                <a:tc>
                  <a:txBody>
                    <a:bodyPr/>
                    <a:lstStyle/>
                    <a:p>
                      <a:pPr algn="l">
                        <a:lnSpc>
                          <a:spcPct val="100000"/>
                        </a:lnSpc>
                        <a:buNone/>
                      </a:pPr>
                      <a:r>
                        <a:rPr sz="1500" b="0">
                          <a:solidFill>
                            <a:srgbClr val="24415C"/>
                          </a:solidFill>
                          <a:latin typeface="Arial"/>
                          <a:ea typeface="Arial"/>
                          <a:cs typeface="Arial"/>
                        </a:rPr>
                        <a:t>S20 Tan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7"/>
                  </a:ext>
                </a:extLst>
              </a:tr>
              <a:tr h="328246">
                <a:tc>
                  <a:txBody>
                    <a:bodyPr/>
                    <a:lstStyle/>
                    <a:p>
                      <a:pPr algn="l">
                        <a:lnSpc>
                          <a:spcPct val="100000"/>
                        </a:lnSpc>
                        <a:buNone/>
                      </a:pPr>
                      <a:r>
                        <a:rPr sz="1500" b="0">
                          <a:solidFill>
                            <a:srgbClr val="24415C"/>
                          </a:solidFill>
                          <a:latin typeface="Arial"/>
                          <a:ea typeface="Arial"/>
                          <a:cs typeface="Arial"/>
                        </a:rPr>
                        <a:t>S21 Tith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8"/>
                  </a:ext>
                </a:extLst>
              </a:tr>
              <a:tr h="328246">
                <a:tc>
                  <a:txBody>
                    <a:bodyPr/>
                    <a:lstStyle/>
                    <a:p>
                      <a:pPr algn="l">
                        <a:lnSpc>
                          <a:spcPct val="100000"/>
                        </a:lnSpc>
                        <a:buNone/>
                      </a:pPr>
                      <a:r>
                        <a:rPr sz="1500" b="0">
                          <a:solidFill>
                            <a:srgbClr val="24415C"/>
                          </a:solidFill>
                          <a:latin typeface="Arial"/>
                          <a:ea typeface="Arial"/>
                          <a:cs typeface="Arial"/>
                        </a:rPr>
                        <a:t>S22 Tremper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8246">
                <a:tc>
                  <a:txBody>
                    <a:bodyPr/>
                    <a:lstStyle/>
                    <a:p>
                      <a:pPr algn="l">
                        <a:lnSpc>
                          <a:spcPct val="100000"/>
                        </a:lnSpc>
                        <a:buNone/>
                      </a:pPr>
                      <a:r>
                        <a:rPr sz="1500" b="0">
                          <a:solidFill>
                            <a:srgbClr val="24415C"/>
                          </a:solidFill>
                          <a:latin typeface="Arial"/>
                          <a:ea typeface="Arial"/>
                          <a:cs typeface="Arial"/>
                        </a:rPr>
                        <a:t>S23 Tseng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8246">
                <a:tc>
                  <a:txBody>
                    <a:bodyPr/>
                    <a:lstStyle/>
                    <a:p>
                      <a:pPr algn="l">
                        <a:lnSpc>
                          <a:spcPct val="100000"/>
                        </a:lnSpc>
                        <a:buNone/>
                      </a:pPr>
                      <a:r>
                        <a:rPr sz="1500" b="0">
                          <a:solidFill>
                            <a:srgbClr val="24415C"/>
                          </a:solidFill>
                          <a:latin typeface="Arial"/>
                          <a:ea typeface="Arial"/>
                          <a:cs typeface="Arial"/>
                        </a:rPr>
                        <a:t>S24 Wu et al. (2022)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1"/>
                  </a:ext>
                </a:extLst>
              </a:tr>
              <a:tr h="328246">
                <a:tc>
                  <a:txBody>
                    <a:bodyPr/>
                    <a:lstStyle/>
                    <a:p>
                      <a:pPr algn="l">
                        <a:lnSpc>
                          <a:spcPct val="100000"/>
                        </a:lnSpc>
                        <a:buNone/>
                      </a:pPr>
                      <a:r>
                        <a:rPr sz="1500" b="0">
                          <a:solidFill>
                            <a:srgbClr val="24415C"/>
                          </a:solidFill>
                          <a:latin typeface="Arial"/>
                          <a:ea typeface="Arial"/>
                          <a:cs typeface="Arial"/>
                        </a:rPr>
                        <a:t>S25 Wu and Zhang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00754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txBody>
          <a:bodyPr/>
          <a:lstStyle/>
          <a:p>
            <a:endParaRPr lang="en-AU"/>
          </a:p>
        </p:txBody>
      </p:sp>
      <p:sp>
        <p:nvSpPr>
          <p:cNvPr id="5" name="gap text"/>
          <p:cNvSpPr txBox="1"/>
          <p:nvPr/>
        </p:nvSpPr>
        <p:spPr>
          <a:xfrm>
            <a:off x="1188720" y="1554480"/>
            <a:ext cx="9784080" cy="4206240"/>
          </a:xfrm>
          <a:prstGeom prst="rect">
            <a:avLst/>
          </a:prstGeom>
          <a:noFill/>
          <a:ln/>
        </p:spPr>
        <p:txBody>
          <a:bodyPr wrap="square" rtlCol="0" anchor="ctr"/>
          <a:lstStyle/>
          <a:p>
            <a:pPr algn="ctr"/>
            <a:r>
              <a:rPr lang="en-US" sz="2800" i="1" dirty="0">
                <a:solidFill>
                  <a:srgbClr val="FFFFFF"/>
                </a:solidFill>
              </a:rPr>
              <a:t>Existing healthcare consent and access-control research provides many of the necessary technological building blocks. However, there is still a need for an integrated Trust Computing framework that treats patient consent as a verifiable </a:t>
            </a:r>
            <a:r>
              <a:rPr lang="en-US" sz="2800" i="1" dirty="0" err="1">
                <a:solidFill>
                  <a:srgbClr val="FFFFFF"/>
                </a:solidFill>
              </a:rPr>
              <a:t>authorisation</a:t>
            </a:r>
            <a:r>
              <a:rPr lang="en-US" sz="2800" i="1" dirty="0">
                <a:solidFill>
                  <a:srgbClr val="FFFFFF"/>
                </a:solidFill>
              </a:rPr>
              <a:t> object, verifies identity, trust, and authority, supports multi-party </a:t>
            </a:r>
            <a:r>
              <a:rPr lang="en-US" sz="2800" i="1" dirty="0" err="1">
                <a:solidFill>
                  <a:srgbClr val="FFFFFF"/>
                </a:solidFill>
              </a:rPr>
              <a:t>authorisation</a:t>
            </a:r>
            <a:r>
              <a:rPr lang="en-US" sz="2800" i="1" dirty="0">
                <a:solidFill>
                  <a:srgbClr val="FFFFFF"/>
                </a:solidFill>
              </a:rPr>
              <a:t>, and enforces access policies and data-scope restrictions.</a:t>
            </a:r>
            <a:endParaRPr lang="en-US" sz="2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90BC-FCFF-B076-DC7B-52BCE0B82E6F}"/>
              </a:ext>
            </a:extLst>
          </p:cNvPr>
          <p:cNvSpPr>
            <a:spLocks noGrp="1"/>
          </p:cNvSpPr>
          <p:nvPr>
            <p:ph type="title" idx="100"/>
          </p:nvPr>
        </p:nvSpPr>
        <p:spPr/>
        <p:txBody>
          <a:bodyPr/>
          <a:lstStyle/>
          <a:p>
            <a:r>
              <a:rPr lang="en-US" dirty="0"/>
              <a:t>MAIN RESEARCH QUESTION</a:t>
            </a:r>
            <a:endParaRPr lang="en-AU" dirty="0"/>
          </a:p>
        </p:txBody>
      </p:sp>
      <p:sp>
        <p:nvSpPr>
          <p:cNvPr id="7" name="rq box">
            <a:extLst>
              <a:ext uri="{FF2B5EF4-FFF2-40B4-BE49-F238E27FC236}">
                <a16:creationId xmlns:a16="http://schemas.microsoft.com/office/drawing/2014/main" id="{D7CDB2B0-CA62-B143-896E-D49C9A8F2F26}"/>
              </a:ext>
            </a:extLst>
          </p:cNvPr>
          <p:cNvSpPr/>
          <p:nvPr/>
        </p:nvSpPr>
        <p:spPr>
          <a:xfrm>
            <a:off x="640080" y="2766060"/>
            <a:ext cx="10698480" cy="1325880"/>
          </a:xfrm>
          <a:prstGeom prst="roundRect">
            <a:avLst>
              <a:gd name="adj" fmla="val 8276"/>
            </a:avLst>
          </a:prstGeom>
          <a:solidFill>
            <a:srgbClr val="0B2A4A">
              <a:alpha val="85000"/>
            </a:srgbClr>
          </a:solidFill>
          <a:ln w="25400">
            <a:solidFill>
              <a:srgbClr val="1FB5D6"/>
            </a:solidFill>
            <a:prstDash val="solid"/>
          </a:ln>
        </p:spPr>
        <p:txBody>
          <a:bodyPr/>
          <a:lstStyle/>
          <a:p>
            <a:pPr algn="ctr"/>
            <a:r>
              <a:rPr lang="en-US" sz="2400" i="1" dirty="0">
                <a:solidFill>
                  <a:srgbClr val="FFFFFF"/>
                </a:solidFill>
              </a:rPr>
              <a:t>How can a trust-oriented computing framework establish and enforce trustworthy multi-party consent for </a:t>
            </a:r>
            <a:r>
              <a:rPr lang="en-US" sz="2400" i="1" dirty="0" err="1">
                <a:solidFill>
                  <a:srgbClr val="FFFFFF"/>
                </a:solidFill>
              </a:rPr>
              <a:t>decentralised</a:t>
            </a:r>
            <a:r>
              <a:rPr lang="en-US" sz="2400" i="1" dirty="0">
                <a:solidFill>
                  <a:srgbClr val="FFFFFF"/>
                </a:solidFill>
              </a:rPr>
              <a:t> healthcare data sharing under identity, authority, and policy constraints?</a:t>
            </a:r>
            <a:endParaRPr lang="en-US" sz="2400" dirty="0"/>
          </a:p>
          <a:p>
            <a:pPr algn="ctr"/>
            <a:endParaRPr lang="en-AU" dirty="0"/>
          </a:p>
        </p:txBody>
      </p:sp>
    </p:spTree>
    <p:extLst>
      <p:ext uri="{BB962C8B-B14F-4D97-AF65-F5344CB8AC3E}">
        <p14:creationId xmlns:p14="http://schemas.microsoft.com/office/powerpoint/2010/main" val="2640977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SUB-RESEARCH QUESTIONS</a:t>
            </a:r>
            <a:endParaRPr lang="en-US" sz="3000" dirty="0"/>
          </a:p>
        </p:txBody>
      </p:sp>
      <p:sp>
        <p:nvSpPr>
          <p:cNvPr id="6" name="card RQ1"/>
          <p:cNvSpPr/>
          <p:nvPr/>
        </p:nvSpPr>
        <p:spPr>
          <a:xfrm>
            <a:off x="73152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7" name="card text RQ1"/>
          <p:cNvSpPr txBox="1"/>
          <p:nvPr/>
        </p:nvSpPr>
        <p:spPr>
          <a:xfrm>
            <a:off x="86868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RQ1</a:t>
            </a:r>
            <a:endParaRPr lang="en-US" sz="1900" dirty="0"/>
          </a:p>
          <a:p>
            <a:pPr marL="0" indent="0">
              <a:spcAft>
                <a:spcPts val="400"/>
              </a:spcAft>
              <a:buNone/>
            </a:pPr>
            <a:r>
              <a:rPr lang="en-US" sz="1400" dirty="0">
                <a:solidFill>
                  <a:srgbClr val="0B1F33"/>
                </a:solidFill>
              </a:rPr>
              <a:t>How can patient consent be modelled as a trust-aware authorisation object that explicitly represents identity, authority requirements, policy constraints, and authorisation evidence?</a:t>
            </a:r>
            <a:endParaRPr lang="en-US" sz="1400" dirty="0"/>
          </a:p>
        </p:txBody>
      </p:sp>
      <p:sp>
        <p:nvSpPr>
          <p:cNvPr id="8" name="card RQ2"/>
          <p:cNvSpPr/>
          <p:nvPr/>
        </p:nvSpPr>
        <p:spPr>
          <a:xfrm>
            <a:off x="434340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9" name="card text RQ2"/>
          <p:cNvSpPr txBox="1"/>
          <p:nvPr/>
        </p:nvSpPr>
        <p:spPr>
          <a:xfrm>
            <a:off x="448056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RQ2</a:t>
            </a:r>
            <a:endParaRPr lang="en-US" sz="1900" dirty="0"/>
          </a:p>
          <a:p>
            <a:pPr marL="0" indent="0">
              <a:spcAft>
                <a:spcPts val="400"/>
              </a:spcAft>
              <a:buNone/>
            </a:pPr>
            <a:r>
              <a:rPr lang="en-US" sz="1400" dirty="0">
                <a:solidFill>
                  <a:srgbClr val="0B1F33"/>
                </a:solidFill>
              </a:rPr>
              <a:t>How can decentralised identities and verifiable credentials establish trustworthy participants while explicitly separating identity authentication from authorisation authority?</a:t>
            </a:r>
            <a:endParaRPr lang="en-US" sz="1400" dirty="0"/>
          </a:p>
        </p:txBody>
      </p:sp>
      <p:sp>
        <p:nvSpPr>
          <p:cNvPr id="10" name="card RQ3"/>
          <p:cNvSpPr/>
          <p:nvPr/>
        </p:nvSpPr>
        <p:spPr>
          <a:xfrm>
            <a:off x="795528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1" name="card text RQ3"/>
          <p:cNvSpPr txBox="1"/>
          <p:nvPr/>
        </p:nvSpPr>
        <p:spPr>
          <a:xfrm>
            <a:off x="8092440" y="1583574"/>
            <a:ext cx="3154680" cy="1694464"/>
          </a:xfrm>
          <a:prstGeom prst="rect">
            <a:avLst/>
          </a:prstGeom>
          <a:noFill/>
          <a:ln/>
        </p:spPr>
        <p:txBody>
          <a:bodyPr wrap="square" rtlCol="0" anchor="t"/>
          <a:lstStyle/>
          <a:p>
            <a:pPr marL="0" indent="0">
              <a:spcAft>
                <a:spcPts val="400"/>
              </a:spcAft>
              <a:buNone/>
            </a:pPr>
            <a:r>
              <a:rPr lang="en-US" sz="1900" b="1" dirty="0">
                <a:solidFill>
                  <a:srgbClr val="0B2A4A"/>
                </a:solidFill>
              </a:rPr>
              <a:t>RQ3</a:t>
            </a:r>
            <a:endParaRPr lang="en-US" sz="1900" dirty="0"/>
          </a:p>
          <a:p>
            <a:pPr marL="0" indent="0">
              <a:spcAft>
                <a:spcPts val="400"/>
              </a:spcAft>
              <a:buNone/>
            </a:pPr>
            <a:r>
              <a:rPr lang="en-US" sz="1400" dirty="0">
                <a:solidFill>
                  <a:srgbClr val="0B1F33"/>
                </a:solidFill>
              </a:rPr>
              <a:t>How can multiple independently verified participants jointly establish a trustworthy consent decision without allowing a single participant to unilaterally authorise sensitive healthcare data access?</a:t>
            </a:r>
            <a:endParaRPr lang="en-US" sz="1400" dirty="0"/>
          </a:p>
        </p:txBody>
      </p:sp>
      <p:sp>
        <p:nvSpPr>
          <p:cNvPr id="12" name="card RQ4"/>
          <p:cNvSpPr/>
          <p:nvPr/>
        </p:nvSpPr>
        <p:spPr>
          <a:xfrm>
            <a:off x="731520" y="3412374"/>
            <a:ext cx="3429000" cy="2226426"/>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3" name="card text RQ4"/>
          <p:cNvSpPr txBox="1"/>
          <p:nvPr/>
        </p:nvSpPr>
        <p:spPr>
          <a:xfrm>
            <a:off x="868680" y="3503814"/>
            <a:ext cx="3154680" cy="1689288"/>
          </a:xfrm>
          <a:prstGeom prst="rect">
            <a:avLst/>
          </a:prstGeom>
          <a:noFill/>
          <a:ln/>
        </p:spPr>
        <p:txBody>
          <a:bodyPr wrap="square" rtlCol="0" anchor="t"/>
          <a:lstStyle/>
          <a:p>
            <a:pPr marL="0" indent="0">
              <a:spcAft>
                <a:spcPts val="400"/>
              </a:spcAft>
              <a:buNone/>
            </a:pPr>
            <a:r>
              <a:rPr lang="en-US" sz="1900" b="1" dirty="0">
                <a:solidFill>
                  <a:srgbClr val="0B2A4A"/>
                </a:solidFill>
              </a:rPr>
              <a:t>RQ4</a:t>
            </a:r>
            <a:endParaRPr lang="en-US" sz="1900" dirty="0"/>
          </a:p>
          <a:p>
            <a:pPr marL="0" indent="0">
              <a:spcAft>
                <a:spcPts val="400"/>
              </a:spcAft>
              <a:buNone/>
            </a:pPr>
            <a:r>
              <a:rPr lang="en-US" sz="1400" dirty="0">
                <a:solidFill>
                  <a:srgbClr val="0B1F33"/>
                </a:solidFill>
              </a:rPr>
              <a:t>How can policy, purpose, and data-scope constraints be incorporated into authorisation decisions so that valid identities and sufficient approvals cannot be used to obtain unauthorised healthcare data?</a:t>
            </a:r>
            <a:endParaRPr lang="en-US" sz="1400" dirty="0"/>
          </a:p>
        </p:txBody>
      </p:sp>
      <p:sp>
        <p:nvSpPr>
          <p:cNvPr id="14" name="card RQ5"/>
          <p:cNvSpPr/>
          <p:nvPr/>
        </p:nvSpPr>
        <p:spPr>
          <a:xfrm>
            <a:off x="4343400" y="3412374"/>
            <a:ext cx="3429000" cy="2226426"/>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5" name="card text RQ5"/>
          <p:cNvSpPr txBox="1"/>
          <p:nvPr/>
        </p:nvSpPr>
        <p:spPr>
          <a:xfrm>
            <a:off x="448056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RQ5</a:t>
            </a:r>
            <a:endParaRPr lang="en-US" sz="1900" dirty="0"/>
          </a:p>
          <a:p>
            <a:pPr marL="0" indent="0">
              <a:spcAft>
                <a:spcPts val="400"/>
              </a:spcAft>
              <a:buNone/>
            </a:pPr>
            <a:r>
              <a:rPr lang="en-US" sz="1400" dirty="0">
                <a:solidFill>
                  <a:srgbClr val="0B1F33"/>
                </a:solidFill>
              </a:rPr>
              <a:t>How can temporal validity and consent lifecycle controls ensure that an authorisation remains valid only within its permitted time interval and lifecycle state, and is rejected after expiration, revocation, or an unauthorised state transition?</a:t>
            </a:r>
            <a:endParaRPr lang="en-US" sz="1400" dirty="0"/>
          </a:p>
        </p:txBody>
      </p:sp>
      <p:sp>
        <p:nvSpPr>
          <p:cNvPr id="16" name="card RQ6"/>
          <p:cNvSpPr/>
          <p:nvPr/>
        </p:nvSpPr>
        <p:spPr>
          <a:xfrm>
            <a:off x="7955280" y="3412374"/>
            <a:ext cx="3429000" cy="2226426"/>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7" name="card text RQ6"/>
          <p:cNvSpPr txBox="1"/>
          <p:nvPr/>
        </p:nvSpPr>
        <p:spPr>
          <a:xfrm>
            <a:off x="809244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RQ6</a:t>
            </a:r>
            <a:endParaRPr lang="en-US" sz="1900" dirty="0"/>
          </a:p>
          <a:p>
            <a:pPr marL="0" indent="0">
              <a:spcAft>
                <a:spcPts val="400"/>
              </a:spcAft>
              <a:buNone/>
            </a:pPr>
            <a:r>
              <a:rPr lang="en-US" sz="1400" dirty="0">
                <a:solidFill>
                  <a:srgbClr val="0B1F33"/>
                </a:solidFill>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4149005746"/>
              </p:ext>
            </p:extLst>
          </p:nvPr>
        </p:nvGraphicFramePr>
        <p:xfrm>
          <a:off x="731519" y="1188720"/>
          <a:ext cx="10832952" cy="5120640"/>
        </p:xfrm>
        <a:graphic>
          <a:graphicData uri="http://schemas.openxmlformats.org/drawingml/2006/table">
            <a:tbl>
              <a:tblPr/>
              <a:tblGrid>
                <a:gridCol w="1000462">
                  <a:extLst>
                    <a:ext uri="{9D8B030D-6E8A-4147-A177-3AD203B41FA5}">
                      <a16:colId xmlns:a16="http://schemas.microsoft.com/office/drawing/2014/main" val="20000"/>
                    </a:ext>
                  </a:extLst>
                </a:gridCol>
                <a:gridCol w="9832490">
                  <a:extLst>
                    <a:ext uri="{9D8B030D-6E8A-4147-A177-3AD203B41FA5}">
                      <a16:colId xmlns:a16="http://schemas.microsoft.com/office/drawing/2014/main" val="20001"/>
                    </a:ext>
                  </a:extLst>
                </a:gridCol>
              </a:tblGrid>
              <a:tr h="731520">
                <a:tc>
                  <a:txBody>
                    <a:bodyPr/>
                    <a:lstStyle/>
                    <a:p>
                      <a:pPr marL="0" indent="0" algn="ctr">
                        <a:buNone/>
                      </a:pPr>
                      <a:r>
                        <a:rPr lang="en-US" sz="1600" b="1" dirty="0">
                          <a:solidFill>
                            <a:srgbClr val="FFFFFF"/>
                          </a:solidFill>
                        </a:rPr>
                        <a:t>Objective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Description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B1F33"/>
                          </a:solidFill>
                        </a:rPr>
                        <a:t>RO1</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trust-aware consent model that represents patient consent as a structured and evaluable authorisation object.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B1F33"/>
                          </a:solidFill>
                        </a:rPr>
                        <a:t>RO2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decentralised identity and authority verification mechanism using decentralised identifiers and verifiable credentials.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B1F33"/>
                          </a:solidFill>
                        </a:rPr>
                        <a:t>RO3</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threshold-based multi-party authorisation mechanism through which multiple independently verified participants and guardians can jointly establish a trustworthy consent decision.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B1F33"/>
                          </a:solidFill>
                        </a:rPr>
                        <a:t>RO4</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policy-aware authorisation mechanism that evaluates the purpose and data scope of a requested operation against the constraints defined by the consent.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0B1F33"/>
                          </a:solidFill>
                        </a:rPr>
                        <a:t>RO5 </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extend the trust-oriented framework with temporal validity and consent lifecycle controls.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0B1F33"/>
                          </a:solidFill>
                        </a:rPr>
                        <a:t>RO6</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formally analyse and empirically evaluate whether the implemented framework satisfies its defined trust and authorisation properties under representative healthcare data-sharing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A1B15-59C9-36C1-905F-AABC3A7AD8B6}"/>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dirty="0">
                <a:solidFill>
                  <a:srgbClr val="FFFFFF"/>
                </a:solidFill>
              </a:rPr>
              <a:t>Research Methodology </a:t>
            </a:r>
          </a:p>
        </p:txBody>
      </p:sp>
      <p:sp>
        <p:nvSpPr>
          <p:cNvPr id="10" name="Content Placeholder 9">
            <a:extLst>
              <a:ext uri="{FF2B5EF4-FFF2-40B4-BE49-F238E27FC236}">
                <a16:creationId xmlns:a16="http://schemas.microsoft.com/office/drawing/2014/main" id="{825BDCBB-AFEF-640F-2B5D-DA2F84BD2A61}"/>
              </a:ext>
            </a:extLst>
          </p:cNvPr>
          <p:cNvSpPr>
            <a:spLocks noGrp="1"/>
          </p:cNvSpPr>
          <p:nvPr>
            <p:ph idx="1"/>
          </p:nvPr>
        </p:nvSpPr>
        <p:spPr>
          <a:xfrm>
            <a:off x="2993341" y="5790205"/>
            <a:ext cx="5658290" cy="415226"/>
          </a:xfrm>
        </p:spPr>
        <p:txBody>
          <a:bodyPr vert="horz" lIns="91440" tIns="45720" rIns="91440" bIns="45720" rtlCol="0" anchor="ctr">
            <a:normAutofit fontScale="25000" lnSpcReduction="20000"/>
          </a:bodyPr>
          <a:lstStyle/>
          <a:p>
            <a:pPr marL="0" indent="0">
              <a:buNone/>
            </a:pPr>
            <a:r>
              <a:rPr lang="en-US" sz="5600" dirty="0"/>
              <a:t>Design Science Research Methodology Process Model (Peffers et al. 2007)</a:t>
            </a:r>
            <a:endParaRPr lang="en-US" sz="1700" dirty="0">
              <a:solidFill>
                <a:srgbClr val="FFFFFF"/>
              </a:solidFill>
            </a:endParaRPr>
          </a:p>
        </p:txBody>
      </p:sp>
      <p:pic>
        <p:nvPicPr>
          <p:cNvPr id="4" name="Content Placeholder 3">
            <a:extLst>
              <a:ext uri="{FF2B5EF4-FFF2-40B4-BE49-F238E27FC236}">
                <a16:creationId xmlns:a16="http://schemas.microsoft.com/office/drawing/2014/main" id="{F0A85399-6ED2-C74D-67C7-37CF31F7EF4F}"/>
              </a:ext>
            </a:extLst>
          </p:cNvPr>
          <p:cNvPicPr>
            <a:picLocks noChangeAspect="1"/>
          </p:cNvPicPr>
          <p:nvPr/>
        </p:nvPicPr>
        <p:blipFill>
          <a:blip r:embed="rId3"/>
          <a:stretch>
            <a:fillRect/>
          </a:stretch>
        </p:blipFill>
        <p:spPr>
          <a:xfrm>
            <a:off x="715747" y="2082019"/>
            <a:ext cx="10496203" cy="3708186"/>
          </a:xfrm>
          <a:prstGeom prst="rect">
            <a:avLst/>
          </a:prstGeom>
        </p:spPr>
      </p:pic>
      <p:sp>
        <p:nvSpPr>
          <p:cNvPr id="5" name="headline">
            <a:extLst>
              <a:ext uri="{FF2B5EF4-FFF2-40B4-BE49-F238E27FC236}">
                <a16:creationId xmlns:a16="http://schemas.microsoft.com/office/drawing/2014/main" id="{A9BE2E39-AE25-8DAC-EF8A-FDED92D5277B}"/>
              </a:ext>
            </a:extLst>
          </p:cNvPr>
          <p:cNvSpPr>
            <a:spLocks noGrp="1"/>
          </p:cNvSpPr>
          <p:nvPr/>
        </p:nvSpPr>
        <p:spPr>
          <a:xfrm>
            <a:off x="590550" y="781607"/>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4000"/>
              </a:lnSpc>
              <a:buNone/>
              <a:defRPr sz="2700" b="1">
                <a:solidFill>
                  <a:srgbClr val="103B64"/>
                </a:solidFill>
                <a:latin typeface="Arial"/>
                <a:ea typeface="Arial"/>
                <a:cs typeface="Arial"/>
              </a:defRPr>
            </a:pPr>
            <a:r>
              <a:rPr sz="2700" b="1" dirty="0">
                <a:solidFill>
                  <a:srgbClr val="103B64"/>
                </a:solidFill>
                <a:latin typeface="Arial"/>
                <a:ea typeface="Arial"/>
                <a:cs typeface="Arial"/>
              </a:rPr>
              <a:t>RESEARCH METHODOLOGY</a:t>
            </a:r>
          </a:p>
        </p:txBody>
      </p:sp>
      <p:sp>
        <p:nvSpPr>
          <p:cNvPr id="6" name="Rectangle 5">
            <a:extLst>
              <a:ext uri="{FF2B5EF4-FFF2-40B4-BE49-F238E27FC236}">
                <a16:creationId xmlns:a16="http://schemas.microsoft.com/office/drawing/2014/main" id="{E9E7DB83-0671-2AD7-7C18-E12C8A37C65B}"/>
              </a:ext>
            </a:extLst>
          </p:cNvPr>
          <p:cNvSpPr/>
          <p:nvPr/>
        </p:nvSpPr>
        <p:spPr>
          <a:xfrm>
            <a:off x="386154" y="1462466"/>
            <a:ext cx="2937958" cy="5048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103B64"/>
                </a:solidFill>
                <a:latin typeface="Arial"/>
                <a:cs typeface="Arial"/>
              </a:rPr>
              <a:t>DSR </a:t>
            </a:r>
            <a:r>
              <a:rPr lang="en-AU" b="1" dirty="0">
                <a:solidFill>
                  <a:srgbClr val="103B64"/>
                </a:solidFill>
                <a:latin typeface="Arial"/>
                <a:cs typeface="Arial"/>
              </a:rPr>
              <a:t>METHODOLOGY</a:t>
            </a:r>
            <a:r>
              <a:rPr lang="en-US" b="1" dirty="0">
                <a:solidFill>
                  <a:srgbClr val="103B64"/>
                </a:solidFill>
                <a:latin typeface="Arial"/>
                <a:cs typeface="Arial"/>
              </a:rPr>
              <a:t> </a:t>
            </a:r>
            <a:endParaRPr lang="en-AU" b="1" dirty="0">
              <a:solidFill>
                <a:srgbClr val="103B64"/>
              </a:solidFill>
              <a:latin typeface="Arial"/>
              <a:cs typeface="Arial"/>
            </a:endParaRPr>
          </a:p>
        </p:txBody>
      </p:sp>
    </p:spTree>
    <p:extLst>
      <p:ext uri="{BB962C8B-B14F-4D97-AF65-F5344CB8AC3E}">
        <p14:creationId xmlns:p14="http://schemas.microsoft.com/office/powerpoint/2010/main" val="1259510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FRAMEWORK ARCHITECTURE</a:t>
            </a:r>
            <a:endParaRPr lang="en-US" sz="3000" dirty="0"/>
          </a:p>
        </p:txBody>
      </p:sp>
      <p:sp>
        <p:nvSpPr>
          <p:cNvPr id="4" name="F6 panel"/>
          <p:cNvSpPr/>
          <p:nvPr/>
        </p:nvSpPr>
        <p:spPr>
          <a:xfrm>
            <a:off x="1737360" y="1097280"/>
            <a:ext cx="8695944" cy="5440680"/>
          </a:xfrm>
          <a:prstGeom prst="roundRect">
            <a:avLst>
              <a:gd name="adj" fmla="val 201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6" descr="/tmp/deck/img/F6.png"/>
          <p:cNvPicPr>
            <a:picLocks noChangeAspect="1"/>
          </p:cNvPicPr>
          <p:nvPr/>
        </p:nvPicPr>
        <p:blipFill>
          <a:blip r:embed="rId3"/>
          <a:stretch>
            <a:fillRect/>
          </a:stretch>
        </p:blipFill>
        <p:spPr>
          <a:xfrm>
            <a:off x="1849371"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DECISION RULE</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txBody>
          <a:bodyPr/>
          <a:lstStyle/>
          <a:p>
            <a:endParaRPr lang="en-AU"/>
          </a:p>
        </p:txBody>
      </p:sp>
      <p:sp>
        <p:nvSpPr>
          <p:cNvPr id="5" name="decision text"/>
          <p:cNvSpPr txBox="1"/>
          <p:nvPr/>
        </p:nvSpPr>
        <p:spPr>
          <a:xfrm>
            <a:off x="822960" y="1234440"/>
            <a:ext cx="10515600" cy="10058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Decision(C, R, t) = ALLOW  ⟺  VI(u) ∧ VA(C) ∧ VP(C, R) ∧ VT(C, t) ∧ VL(C)</a:t>
            </a:r>
            <a:endParaRPr lang="en-US" sz="2000" dirty="0"/>
          </a:p>
        </p:txBody>
      </p:sp>
      <p:sp>
        <p:nvSpPr>
          <p:cNvPr id="6" name="card VI"/>
          <p:cNvSpPr/>
          <p:nvPr/>
        </p:nvSpPr>
        <p:spPr>
          <a:xfrm>
            <a:off x="731520"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7" name="card text VI"/>
          <p:cNvSpPr txBox="1"/>
          <p:nvPr/>
        </p:nvSpPr>
        <p:spPr>
          <a:xfrm>
            <a:off x="868680"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VI</a:t>
            </a:r>
            <a:endParaRPr lang="en-US" sz="1900" dirty="0"/>
          </a:p>
          <a:p>
            <a:pPr marL="0" indent="0">
              <a:spcAft>
                <a:spcPts val="400"/>
              </a:spcAft>
              <a:buNone/>
            </a:pPr>
            <a:r>
              <a:rPr lang="en-US" sz="1600" dirty="0">
                <a:solidFill>
                  <a:srgbClr val="0B1F33"/>
                </a:solidFill>
              </a:rPr>
              <a:t>Identity and authority validity</a:t>
            </a:r>
            <a:endParaRPr lang="en-US" sz="1900" dirty="0"/>
          </a:p>
        </p:txBody>
      </p:sp>
      <p:sp>
        <p:nvSpPr>
          <p:cNvPr id="8" name="card VA"/>
          <p:cNvSpPr/>
          <p:nvPr/>
        </p:nvSpPr>
        <p:spPr>
          <a:xfrm>
            <a:off x="2898648"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9" name="card text VA"/>
          <p:cNvSpPr txBox="1"/>
          <p:nvPr/>
        </p:nvSpPr>
        <p:spPr>
          <a:xfrm>
            <a:off x="3035808"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VA</a:t>
            </a:r>
            <a:endParaRPr lang="en-US" sz="1900" dirty="0"/>
          </a:p>
          <a:p>
            <a:pPr marL="0" indent="0">
              <a:spcAft>
                <a:spcPts val="400"/>
              </a:spcAft>
              <a:buNone/>
            </a:pPr>
            <a:r>
              <a:rPr lang="en-US" sz="1600" dirty="0">
                <a:solidFill>
                  <a:srgbClr val="0B1F33"/>
                </a:solidFill>
              </a:rPr>
              <a:t>Collective authorisation validity</a:t>
            </a:r>
            <a:endParaRPr lang="en-US" sz="1900" dirty="0"/>
          </a:p>
        </p:txBody>
      </p:sp>
      <p:sp>
        <p:nvSpPr>
          <p:cNvPr id="10" name="card VP"/>
          <p:cNvSpPr/>
          <p:nvPr/>
        </p:nvSpPr>
        <p:spPr>
          <a:xfrm>
            <a:off x="5065776"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1" name="card text VP"/>
          <p:cNvSpPr txBox="1"/>
          <p:nvPr/>
        </p:nvSpPr>
        <p:spPr>
          <a:xfrm>
            <a:off x="5202936"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VP</a:t>
            </a:r>
            <a:endParaRPr lang="en-US" sz="1900" dirty="0"/>
          </a:p>
          <a:p>
            <a:pPr marL="0" indent="0">
              <a:spcAft>
                <a:spcPts val="400"/>
              </a:spcAft>
              <a:buNone/>
            </a:pPr>
            <a:r>
              <a:rPr lang="en-US" sz="1600" dirty="0">
                <a:solidFill>
                  <a:srgbClr val="0B1F33"/>
                </a:solidFill>
              </a:rPr>
              <a:t>Policy and contextual compliance</a:t>
            </a:r>
            <a:endParaRPr lang="en-US" sz="1900" dirty="0"/>
          </a:p>
        </p:txBody>
      </p:sp>
      <p:sp>
        <p:nvSpPr>
          <p:cNvPr id="12" name="card VT"/>
          <p:cNvSpPr/>
          <p:nvPr/>
        </p:nvSpPr>
        <p:spPr>
          <a:xfrm>
            <a:off x="7232904"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3" name="card text VT"/>
          <p:cNvSpPr txBox="1"/>
          <p:nvPr/>
        </p:nvSpPr>
        <p:spPr>
          <a:xfrm>
            <a:off x="7370064"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VT</a:t>
            </a:r>
            <a:endParaRPr lang="en-US" sz="1900" dirty="0"/>
          </a:p>
          <a:p>
            <a:pPr marL="0" indent="0">
              <a:spcAft>
                <a:spcPts val="400"/>
              </a:spcAft>
              <a:buNone/>
            </a:pPr>
            <a:r>
              <a:rPr lang="en-US" sz="1600" dirty="0">
                <a:solidFill>
                  <a:srgbClr val="0B1F33"/>
                </a:solidFill>
              </a:rPr>
              <a:t>Temporal validity</a:t>
            </a:r>
            <a:endParaRPr lang="en-US" sz="1900" dirty="0"/>
          </a:p>
        </p:txBody>
      </p:sp>
      <p:sp>
        <p:nvSpPr>
          <p:cNvPr id="14" name="card VL"/>
          <p:cNvSpPr/>
          <p:nvPr/>
        </p:nvSpPr>
        <p:spPr>
          <a:xfrm>
            <a:off x="9400032"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5" name="card text VL"/>
          <p:cNvSpPr txBox="1"/>
          <p:nvPr/>
        </p:nvSpPr>
        <p:spPr>
          <a:xfrm>
            <a:off x="9537192"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VL</a:t>
            </a:r>
            <a:endParaRPr lang="en-US" sz="1900" dirty="0"/>
          </a:p>
          <a:p>
            <a:pPr marL="0" indent="0">
              <a:spcAft>
                <a:spcPts val="400"/>
              </a:spcAft>
              <a:buNone/>
            </a:pPr>
            <a:r>
              <a:rPr lang="en-US" sz="1600" dirty="0">
                <a:solidFill>
                  <a:srgbClr val="0B1F33"/>
                </a:solidFill>
              </a:rPr>
              <a:t>Consent lifecycle validity</a:t>
            </a:r>
            <a:endParaRPr lang="en-US" sz="1900" dirty="0"/>
          </a:p>
        </p:txBody>
      </p:sp>
      <p:sp>
        <p:nvSpPr>
          <p:cNvPr id="16" name="bullets"/>
          <p:cNvSpPr txBox="1"/>
          <p:nvPr/>
        </p:nvSpPr>
        <p:spPr>
          <a:xfrm>
            <a:off x="822960" y="4480560"/>
            <a:ext cx="10515600" cy="182880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One failed check is enough to say DENY.</a:t>
            </a:r>
            <a:endParaRPr lang="en-US" sz="1800" dirty="0"/>
          </a:p>
          <a:p>
            <a:pPr marL="285750" indent="-285750">
              <a:buFont typeface="Arial" panose="020B0604020202020204" pitchFamily="34" charset="0"/>
              <a:buChar char="•"/>
            </a:pPr>
            <a:r>
              <a:rPr lang="en-AU" dirty="0">
                <a:solidFill>
                  <a:srgbClr val="FFFFFF"/>
                </a:solidFill>
              </a:rPr>
              <a:t>Every access decision, allowed or denied, is written to the audit ledger with its decision matrix</a:t>
            </a:r>
            <a:r>
              <a:rPr lang="en-AU" b="1" dirty="0">
                <a:solidFill>
                  <a:schemeClr val="bg1"/>
                </a:solidFill>
              </a:rPr>
              <a:t>.</a:t>
            </a:r>
            <a:endParaRPr lang="en-AU" dirty="0">
              <a:solidFill>
                <a:schemeClr val="bg1"/>
              </a:solidFill>
            </a:endParaRP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1</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the guardians, the data modules, and the start and expiry time.</a:t>
            </a:r>
            <a:endParaRPr lang="en-US" sz="1600" dirty="0"/>
          </a:p>
          <a:p>
            <a:pPr marL="342900" indent="-342900">
              <a:spcAft>
                <a:spcPts val="1000"/>
              </a:spcAft>
              <a:buSzPct val="100000"/>
              <a:buChar char="•"/>
            </a:pPr>
            <a:r>
              <a:rPr lang="en-US" sz="1600" dirty="0">
                <a:solidFill>
                  <a:srgbClr val="FFFFFF"/>
                </a:solidFill>
              </a:rPr>
              <a:t>In this prototype the purpose is fixed to Treatment.</a:t>
            </a:r>
            <a:endParaRPr lang="en-US" sz="1600" dirty="0"/>
          </a:p>
          <a:p>
            <a:pPr marL="342900" indent="-342900">
              <a:spcAft>
                <a:spcPts val="1000"/>
              </a:spcAft>
              <a:buSzPct val="100000"/>
              <a:buChar char="•"/>
            </a:pPr>
            <a:r>
              <a:rPr lang="en-US" sz="1600" dirty="0">
                <a:solidFill>
                  <a:srgbClr val="FFFFFF"/>
                </a:solidFill>
              </a:rPr>
              <a:t>Bad input is rejected, for example an empty data scope or a malformed guardian DID.</a:t>
            </a:r>
            <a:endParaRPr lang="en-US" sz="1600" dirty="0"/>
          </a:p>
          <a:p>
            <a:pPr marL="342900" indent="-342900">
              <a:spcAft>
                <a:spcPts val="1000"/>
              </a:spcAft>
              <a:buSzPct val="100000"/>
              <a:buChar char="•"/>
            </a:pPr>
            <a:r>
              <a:rPr lang="en-US" sz="1600" dirty="0">
                <a:solidFill>
                  <a:srgbClr val="FFFFFF"/>
                </a:solidFill>
              </a:rPr>
              <a:t>The system creates the consent object, assigns a consent identifier, persists the record, and records the creation event in the audit layer.</a:t>
            </a:r>
            <a:endParaRPr lang="en-US" sz="1600" dirty="0"/>
          </a:p>
        </p:txBody>
      </p:sp>
      <p:sp>
        <p:nvSpPr>
          <p:cNvPr id="8" name="ALG1 panel"/>
          <p:cNvSpPr/>
          <p:nvPr/>
        </p:nvSpPr>
        <p:spPr>
          <a:xfrm>
            <a:off x="6035040" y="1745454"/>
            <a:ext cx="5715000" cy="3961452"/>
          </a:xfrm>
          <a:prstGeom prst="roundRect">
            <a:avLst>
              <a:gd name="adj" fmla="val 277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1" descr="/tmp/deck/img/ALG1.png"/>
          <p:cNvPicPr>
            <a:picLocks noChangeAspect="1"/>
          </p:cNvPicPr>
          <p:nvPr/>
        </p:nvPicPr>
        <p:blipFill>
          <a:blip r:embed="rId3"/>
          <a:stretch>
            <a:fillRect/>
          </a:stretch>
        </p:blipFill>
        <p:spPr>
          <a:xfrm>
            <a:off x="6144768" y="1855182"/>
            <a:ext cx="5495544" cy="374199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19</a:t>
            </a:fld>
            <a:endParaRPr lang="en-US"/>
          </a:p>
        </p:txBody>
      </p:sp>
      <p:sp>
        <p:nvSpPr>
          <p:cNvPr id="10" name="Text 0">
            <a:extLst>
              <a:ext uri="{FF2B5EF4-FFF2-40B4-BE49-F238E27FC236}">
                <a16:creationId xmlns:a16="http://schemas.microsoft.com/office/drawing/2014/main" id="{2FF9D90F-9048-7A63-763E-E468C996F28E}"/>
              </a:ext>
            </a:extLst>
          </p:cNvPr>
          <p:cNvSpPr txBox="1">
            <a:spLocks/>
          </p:cNvSpPr>
          <p:nvPr/>
        </p:nvSpPr>
        <p:spPr>
          <a:xfrm>
            <a:off x="341376" y="960120"/>
            <a:ext cx="5169408" cy="73152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400" i="1">
                <a:solidFill>
                  <a:srgbClr val="1FB5D6"/>
                </a:solidFill>
              </a:rPr>
              <a:t>RO1: Trust-Centric Consent Model</a:t>
            </a:r>
            <a:endParaRPr lang="en-AU"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RO1: Trust-Centric Consent Model</a:t>
            </a:r>
            <a:endParaRPr lang="en-US" sz="3200" dirty="0"/>
          </a:p>
        </p:txBody>
      </p:sp>
      <p:sp>
        <p:nvSpPr>
          <p:cNvPr id="6" name="F10 panel"/>
          <p:cNvSpPr/>
          <p:nvPr/>
        </p:nvSpPr>
        <p:spPr>
          <a:xfrm>
            <a:off x="4743972" y="960120"/>
            <a:ext cx="2703751" cy="5532120"/>
          </a:xfrm>
          <a:prstGeom prst="roundRect">
            <a:avLst>
              <a:gd name="adj" fmla="val 405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0" descr="/tmp/deck/img/F10.png"/>
          <p:cNvPicPr>
            <a:picLocks noChangeAspect="1"/>
          </p:cNvPicPr>
          <p:nvPr/>
        </p:nvPicPr>
        <p:blipFill>
          <a:blip r:embed="rId3"/>
          <a:stretch>
            <a:fillRect/>
          </a:stretch>
        </p:blipFill>
        <p:spPr>
          <a:xfrm>
            <a:off x="4853700" y="106984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2</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Identity is checked through the DID; authority through a verifiable credential.</a:t>
            </a:r>
            <a:endParaRPr lang="en-US" sz="1500" dirty="0"/>
          </a:p>
          <a:p>
            <a:pPr marL="342900" indent="-342900">
              <a:spcAft>
                <a:spcPts val="1000"/>
              </a:spcAft>
              <a:buSzPct val="100000"/>
              <a:buChar char="•"/>
            </a:pPr>
            <a:r>
              <a:rPr lang="en-US" sz="1500" dirty="0">
                <a:solidFill>
                  <a:srgbClr val="FFFFFF"/>
                </a:solidFill>
              </a:rPr>
              <a:t>Identity is not authority: a valid DID alone never gives access.</a:t>
            </a:r>
            <a:endParaRPr lang="en-US" sz="1500" dirty="0"/>
          </a:p>
          <a:p>
            <a:pPr marL="342900" indent="-342900">
              <a:spcAft>
                <a:spcPts val="1000"/>
              </a:spcAft>
              <a:buSzPct val="100000"/>
              <a:buChar char="•"/>
            </a:pPr>
            <a:r>
              <a:rPr lang="en-US" sz="1500" dirty="0">
                <a:solidFill>
                  <a:srgbClr val="FFFFFF"/>
                </a:solidFill>
              </a:rPr>
              <a:t>In the HALAH implementation, the Guardian workflow uses a selected guardian DID and invokes VC verification before adding the guardian's signature to the consent.</a:t>
            </a:r>
            <a:endParaRPr lang="en-US" sz="1500" dirty="0"/>
          </a:p>
          <a:p>
            <a:pPr marL="342900" indent="-342900">
              <a:spcAft>
                <a:spcPts val="1000"/>
              </a:spcAft>
              <a:buSzPct val="100000"/>
              <a:buChar char="•"/>
            </a:pPr>
            <a:r>
              <a:rPr lang="en-US" sz="1500" dirty="0">
                <a:solidFill>
                  <a:srgbClr val="FFFFFF"/>
                </a:solidFill>
              </a:rPr>
              <a:t>Full DID resolution is planned for the next stage.</a:t>
            </a:r>
            <a:endParaRPr lang="en-US" sz="1500" dirty="0"/>
          </a:p>
        </p:txBody>
      </p:sp>
      <p:sp>
        <p:nvSpPr>
          <p:cNvPr id="8" name="ALG2 panel"/>
          <p:cNvSpPr/>
          <p:nvPr/>
        </p:nvSpPr>
        <p:spPr>
          <a:xfrm>
            <a:off x="6296033" y="960120"/>
            <a:ext cx="5193014" cy="5532120"/>
          </a:xfrm>
          <a:prstGeom prst="roundRect">
            <a:avLst>
              <a:gd name="adj" fmla="val 211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2" descr="/tmp/deck/img/ALG2.png"/>
          <p:cNvPicPr>
            <a:picLocks noChangeAspect="1"/>
          </p:cNvPicPr>
          <p:nvPr/>
        </p:nvPicPr>
        <p:blipFill>
          <a:blip r:embed="rId3"/>
          <a:stretch>
            <a:fillRect/>
          </a:stretch>
        </p:blipFill>
        <p:spPr>
          <a:xfrm>
            <a:off x="6405761" y="1069848"/>
            <a:ext cx="497355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21</a:t>
            </a:fld>
            <a:endParaRPr lang="en-US"/>
          </a:p>
        </p:txBody>
      </p:sp>
      <p:sp>
        <p:nvSpPr>
          <p:cNvPr id="26" name="Text 0">
            <a:extLst>
              <a:ext uri="{FF2B5EF4-FFF2-40B4-BE49-F238E27FC236}">
                <a16:creationId xmlns:a16="http://schemas.microsoft.com/office/drawing/2014/main" id="{D928237E-07D0-0CDC-A5E0-8C863F76329B}"/>
              </a:ext>
            </a:extLst>
          </p:cNvPr>
          <p:cNvSpPr txBox="1">
            <a:spLocks/>
          </p:cNvSpPr>
          <p:nvPr/>
        </p:nvSpPr>
        <p:spPr>
          <a:xfrm>
            <a:off x="0" y="1197033"/>
            <a:ext cx="5622174" cy="34913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RO2: </a:t>
            </a:r>
            <a:r>
              <a:rPr lang="en-US" sz="1400" i="1" dirty="0" err="1">
                <a:solidFill>
                  <a:srgbClr val="1FB5D6"/>
                </a:solidFill>
              </a:rPr>
              <a:t>Decentralised</a:t>
            </a:r>
            <a:r>
              <a:rPr lang="en-US" sz="1400" i="1" dirty="0">
                <a:solidFill>
                  <a:srgbClr val="1FB5D6"/>
                </a:solidFill>
              </a:rPr>
              <a:t> Identity and Authority Trust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RO2: </a:t>
            </a:r>
            <a:r>
              <a:rPr lang="en-US" sz="3200" i="1" dirty="0" err="1">
                <a:solidFill>
                  <a:srgbClr val="1FB5D6"/>
                </a:solidFill>
              </a:rPr>
              <a:t>Decentralised</a:t>
            </a:r>
            <a:r>
              <a:rPr lang="en-US" sz="3200" i="1" dirty="0">
                <a:solidFill>
                  <a:srgbClr val="1FB5D6"/>
                </a:solidFill>
              </a:rPr>
              <a:t> Identity and Authority Trust</a:t>
            </a:r>
            <a:endParaRPr lang="en-US" sz="3200" dirty="0"/>
          </a:p>
        </p:txBody>
      </p:sp>
      <p:sp>
        <p:nvSpPr>
          <p:cNvPr id="6" name="F12 panel"/>
          <p:cNvSpPr/>
          <p:nvPr/>
        </p:nvSpPr>
        <p:spPr>
          <a:xfrm>
            <a:off x="4203067" y="960120"/>
            <a:ext cx="3785562" cy="5532120"/>
          </a:xfrm>
          <a:prstGeom prst="roundRect">
            <a:avLst>
              <a:gd name="adj" fmla="val 28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2" descr="/tmp/deck/img/F12.png"/>
          <p:cNvPicPr>
            <a:picLocks noChangeAspect="1"/>
          </p:cNvPicPr>
          <p:nvPr/>
        </p:nvPicPr>
        <p:blipFill>
          <a:blip r:embed="rId3"/>
          <a:stretch>
            <a:fillRect/>
          </a:stretch>
        </p:blipFill>
        <p:spPr>
          <a:xfrm>
            <a:off x="4312795" y="106984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3</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285750" indent="-285750">
              <a:spcAft>
                <a:spcPts val="1000"/>
              </a:spcAft>
              <a:buSzPct val="100000"/>
              <a:buFont typeface="Arial" panose="020B0604020202020204" pitchFamily="34" charset="0"/>
              <a:buChar char="•"/>
            </a:pPr>
            <a:r>
              <a:rPr lang="en-US" sz="1450" dirty="0">
                <a:solidFill>
                  <a:srgbClr val="FFFFFF"/>
                </a:solidFill>
              </a:rPr>
              <a:t>The guardian set G is fixed when the consent is created.</a:t>
            </a:r>
            <a:endParaRPr lang="en-US" sz="1450" dirty="0"/>
          </a:p>
          <a:p>
            <a:pPr marL="285750" indent="-285750">
              <a:buFont typeface="Arial" panose="020B0604020202020204" pitchFamily="34" charset="0"/>
              <a:buChar char="•"/>
            </a:pPr>
            <a:r>
              <a:rPr lang="en-AU" sz="1450" dirty="0">
                <a:solidFill>
                  <a:srgbClr val="FFFFFF"/>
                </a:solidFill>
              </a:rPr>
              <a:t>Each guardian signs a digital approval; the system checks who signed and that this person is in G.</a:t>
            </a:r>
            <a:endParaRPr lang="ar-SA" sz="1450" dirty="0">
              <a:solidFill>
                <a:srgbClr val="FFFFFF"/>
              </a:solidFill>
            </a:endParaRPr>
          </a:p>
          <a:p>
            <a:pPr marL="285750" indent="-285750">
              <a:buFont typeface="Arial" panose="020B0604020202020204" pitchFamily="34" charset="0"/>
              <a:buChar char="•"/>
            </a:pPr>
            <a:endParaRPr lang="en-AU" sz="1450" dirty="0">
              <a:solidFill>
                <a:srgbClr val="FFFFFF"/>
              </a:solidFill>
            </a:endParaRPr>
          </a:p>
          <a:p>
            <a:pPr marL="285750" indent="-285750">
              <a:spcAft>
                <a:spcPts val="1000"/>
              </a:spcAft>
              <a:buSzPct val="100000"/>
              <a:buFont typeface="Arial" panose="020B0604020202020204" pitchFamily="34" charset="0"/>
              <a:buChar char="•"/>
            </a:pPr>
            <a:r>
              <a:rPr lang="en-US" sz="1450" dirty="0">
                <a:solidFill>
                  <a:srgbClr val="FFFFFF"/>
                </a:solidFill>
              </a:rPr>
              <a:t>Approvals from outsiders and duplicates are not counted; a signature replayed from another consent fails the identity check.</a:t>
            </a:r>
            <a:endParaRPr lang="en-US" sz="1450" dirty="0"/>
          </a:p>
          <a:p>
            <a:pPr marL="285750" indent="-285750">
              <a:spcAft>
                <a:spcPts val="1000"/>
              </a:spcAft>
              <a:buSzPct val="100000"/>
              <a:buFont typeface="Arial" panose="020B0604020202020204" pitchFamily="34" charset="0"/>
              <a:buChar char="•"/>
            </a:pPr>
            <a:r>
              <a:rPr lang="en-US" sz="1450" dirty="0">
                <a:solidFill>
                  <a:srgbClr val="FFFFFF"/>
                </a:solidFill>
              </a:rPr>
              <a:t>N-of-N rule: every listed guardian must sign (2-of-2 in the demo).</a:t>
            </a:r>
            <a:endParaRPr lang="en-US" sz="1450" dirty="0"/>
          </a:p>
          <a:p>
            <a:pPr marL="285750" indent="-285750">
              <a:buFont typeface="Arial" panose="020B0604020202020204" pitchFamily="34" charset="0"/>
              <a:buChar char="•"/>
            </a:pPr>
            <a:r>
              <a:rPr lang="en-AU" sz="1450" dirty="0">
                <a:solidFill>
                  <a:srgbClr val="FFFFFF"/>
                </a:solidFill>
              </a:rPr>
              <a:t>When all have signed, the consent becomes active.</a:t>
            </a:r>
          </a:p>
          <a:p>
            <a:pPr marL="285750" indent="-285750">
              <a:buFont typeface="Arial" panose="020B0604020202020204" pitchFamily="34" charset="0"/>
              <a:buChar char="•"/>
            </a:pPr>
            <a:endParaRPr lang="en-AU" sz="1450" dirty="0">
              <a:solidFill>
                <a:srgbClr val="FFFFFF"/>
              </a:solidFill>
            </a:endParaRPr>
          </a:p>
          <a:p>
            <a:pPr marL="285750" indent="-285750">
              <a:spcAft>
                <a:spcPts val="1000"/>
              </a:spcAft>
              <a:buSzPct val="100000"/>
              <a:buFont typeface="Arial" panose="020B0604020202020204" pitchFamily="34" charset="0"/>
              <a:buChar char="•"/>
            </a:pPr>
            <a:r>
              <a:rPr lang="en-US" sz="1450" dirty="0">
                <a:solidFill>
                  <a:srgbClr val="FFFFFF"/>
                </a:solidFill>
              </a:rPr>
              <a:t>In the prototype the guardian keys are derived from the guardian DIDs; wallet-held keys are for the next stage.</a:t>
            </a:r>
            <a:endParaRPr lang="en-US" sz="1450" dirty="0"/>
          </a:p>
        </p:txBody>
      </p:sp>
      <p:sp>
        <p:nvSpPr>
          <p:cNvPr id="8" name="ALG3 panel"/>
          <p:cNvSpPr/>
          <p:nvPr/>
        </p:nvSpPr>
        <p:spPr>
          <a:xfrm>
            <a:off x="6632236" y="960120"/>
            <a:ext cx="4520608" cy="5532120"/>
          </a:xfrm>
          <a:prstGeom prst="roundRect">
            <a:avLst>
              <a:gd name="adj" fmla="val 242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3" descr="/tmp/deck/img/ALG3.png"/>
          <p:cNvPicPr>
            <a:picLocks noChangeAspect="1"/>
          </p:cNvPicPr>
          <p:nvPr/>
        </p:nvPicPr>
        <p:blipFill>
          <a:blip r:embed="rId3"/>
          <a:stretch>
            <a:fillRect/>
          </a:stretch>
        </p:blipFill>
        <p:spPr>
          <a:xfrm>
            <a:off x="6741964" y="1069848"/>
            <a:ext cx="4301152"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23</a:t>
            </a:fld>
            <a:endParaRPr lang="en-US"/>
          </a:p>
        </p:txBody>
      </p:sp>
      <p:sp>
        <p:nvSpPr>
          <p:cNvPr id="3" name="Text 0">
            <a:extLst>
              <a:ext uri="{FF2B5EF4-FFF2-40B4-BE49-F238E27FC236}">
                <a16:creationId xmlns:a16="http://schemas.microsoft.com/office/drawing/2014/main" id="{445DAE5C-E091-9851-AE46-0D49EFB69D20}"/>
              </a:ext>
            </a:extLst>
          </p:cNvPr>
          <p:cNvSpPr txBox="1">
            <a:spLocks/>
          </p:cNvSpPr>
          <p:nvPr/>
        </p:nvSpPr>
        <p:spPr>
          <a:xfrm>
            <a:off x="0" y="1190106"/>
            <a:ext cx="6168044" cy="41009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600" i="1" dirty="0">
                <a:solidFill>
                  <a:srgbClr val="1FB5D6"/>
                </a:solidFill>
              </a:rPr>
              <a:t>RO3: Trustworthy Multi-Party Authorisation</a:t>
            </a:r>
            <a:endParaRPr lang="en-AU"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RO3: Trustworthy Multi-Party </a:t>
            </a:r>
            <a:r>
              <a:rPr lang="en-US" sz="3200" i="1" dirty="0" err="1">
                <a:solidFill>
                  <a:srgbClr val="1FB5D6"/>
                </a:solidFill>
              </a:rPr>
              <a:t>Authorisation</a:t>
            </a:r>
            <a:endParaRPr lang="en-US" sz="32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5"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6" name="F13 panel"/>
          <p:cNvSpPr/>
          <p:nvPr/>
        </p:nvSpPr>
        <p:spPr>
          <a:xfrm>
            <a:off x="4266250" y="960120"/>
            <a:ext cx="3659194" cy="5532120"/>
          </a:xfrm>
          <a:prstGeom prst="roundRect">
            <a:avLst>
              <a:gd name="adj" fmla="val 29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3" descr="/tmp/deck/img/F13.png"/>
          <p:cNvPicPr>
            <a:picLocks noChangeAspect="1"/>
          </p:cNvPicPr>
          <p:nvPr/>
        </p:nvPicPr>
        <p:blipFill>
          <a:blip r:embed="rId3"/>
          <a:stretch>
            <a:fillRect/>
          </a:stretch>
        </p:blipFill>
        <p:spPr>
          <a:xfrm>
            <a:off x="4375978" y="106984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4</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50" dirty="0">
                <a:solidFill>
                  <a:srgbClr val="FFFFFF"/>
                </a:solidFill>
              </a:rPr>
              <a:t>The requested data must be a non-empty subset of the agreed data scope.</a:t>
            </a:r>
            <a:endParaRPr lang="en-US" sz="1550" dirty="0"/>
          </a:p>
          <a:p>
            <a:pPr marL="342900" indent="-342900">
              <a:spcAft>
                <a:spcPts val="1000"/>
              </a:spcAft>
              <a:buSzPct val="100000"/>
              <a:buChar char="•"/>
            </a:pPr>
            <a:r>
              <a:rPr lang="en-US" sz="1550" dirty="0">
                <a:solidFill>
                  <a:srgbClr val="FFFFFF"/>
                </a:solidFill>
              </a:rPr>
              <a:t>The purpose must be a supported purpose of the consent.</a:t>
            </a:r>
            <a:endParaRPr lang="en-US" sz="1550" dirty="0"/>
          </a:p>
          <a:p>
            <a:pPr marL="342900" indent="-342900">
              <a:spcAft>
                <a:spcPts val="1000"/>
              </a:spcAft>
              <a:buSzPct val="100000"/>
              <a:buChar char="•"/>
            </a:pPr>
            <a:r>
              <a:rPr lang="en-US" sz="1550" dirty="0">
                <a:solidFill>
                  <a:srgbClr val="FFFFFF"/>
                </a:solidFill>
              </a:rPr>
              <a:t>Time and the lifecycle state are checked in the same decision.</a:t>
            </a:r>
          </a:p>
          <a:p>
            <a:pPr marL="285750" indent="-285750">
              <a:buFont typeface="Arial" panose="020B0604020202020204" pitchFamily="34" charset="0"/>
              <a:buChar char="•"/>
            </a:pPr>
            <a:r>
              <a:rPr lang="en-AU" sz="1550" dirty="0">
                <a:solidFill>
                  <a:srgbClr val="FFFFFF"/>
                </a:solidFill>
              </a:rPr>
              <a:t>Access evidence must be verified before any data is retrieved.</a:t>
            </a:r>
          </a:p>
          <a:p>
            <a:pPr marL="342900" indent="-342900">
              <a:spcAft>
                <a:spcPts val="1000"/>
              </a:spcAft>
              <a:buSzPct val="100000"/>
              <a:buChar char="•"/>
            </a:pPr>
            <a:r>
              <a:rPr lang="en-US" sz="1550" dirty="0">
                <a:solidFill>
                  <a:srgbClr val="FFFFFF"/>
                </a:solidFill>
              </a:rPr>
              <a:t>Example: asking for Procedure when only Observation and Medication were agreed gives DENY.</a:t>
            </a:r>
            <a:endParaRPr lang="en-US" sz="1550" dirty="0"/>
          </a:p>
        </p:txBody>
      </p:sp>
      <p:sp>
        <p:nvSpPr>
          <p:cNvPr id="8" name="ALG4 panel"/>
          <p:cNvSpPr/>
          <p:nvPr/>
        </p:nvSpPr>
        <p:spPr>
          <a:xfrm>
            <a:off x="6651819" y="960120"/>
            <a:ext cx="4481441" cy="5532120"/>
          </a:xfrm>
          <a:prstGeom prst="roundRect">
            <a:avLst>
              <a:gd name="adj" fmla="val 244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4" descr="/tmp/deck/img/ALG4.png"/>
          <p:cNvPicPr>
            <a:picLocks noChangeAspect="1"/>
          </p:cNvPicPr>
          <p:nvPr/>
        </p:nvPicPr>
        <p:blipFill>
          <a:blip r:embed="rId3"/>
          <a:stretch>
            <a:fillRect/>
          </a:stretch>
        </p:blipFill>
        <p:spPr>
          <a:xfrm>
            <a:off x="6761547" y="1069848"/>
            <a:ext cx="426198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25</a:t>
            </a:fld>
            <a:endParaRPr lang="en-US"/>
          </a:p>
        </p:txBody>
      </p:sp>
      <p:sp>
        <p:nvSpPr>
          <p:cNvPr id="3" name="Text 0">
            <a:extLst>
              <a:ext uri="{FF2B5EF4-FFF2-40B4-BE49-F238E27FC236}">
                <a16:creationId xmlns:a16="http://schemas.microsoft.com/office/drawing/2014/main" id="{71C1D0AB-311B-2384-02A9-C7E1EB47C4E5}"/>
              </a:ext>
            </a:extLst>
          </p:cNvPr>
          <p:cNvSpPr txBox="1">
            <a:spLocks/>
          </p:cNvSpPr>
          <p:nvPr/>
        </p:nvSpPr>
        <p:spPr>
          <a:xfrm>
            <a:off x="822960" y="997527"/>
            <a:ext cx="4408516" cy="602673"/>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RO4: Policy- and Context-Aware Access Control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RO4: Policy- and Context-Aware Access Control</a:t>
            </a:r>
            <a:endParaRPr lang="en-US" sz="3200" dirty="0"/>
          </a:p>
        </p:txBody>
      </p:sp>
      <p:sp>
        <p:nvSpPr>
          <p:cNvPr id="6" name="F14 panel"/>
          <p:cNvSpPr/>
          <p:nvPr/>
        </p:nvSpPr>
        <p:spPr>
          <a:xfrm>
            <a:off x="4903969" y="960120"/>
            <a:ext cx="2383757" cy="5532120"/>
          </a:xfrm>
          <a:prstGeom prst="roundRect">
            <a:avLst>
              <a:gd name="adj" fmla="val 460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4" descr="/tmp/deck/img/F14.png"/>
          <p:cNvPicPr>
            <a:picLocks noChangeAspect="1"/>
          </p:cNvPicPr>
          <p:nvPr/>
        </p:nvPicPr>
        <p:blipFill>
          <a:blip r:embed="rId3"/>
          <a:stretch>
            <a:fillRect/>
          </a:stretch>
        </p:blipFill>
        <p:spPr>
          <a:xfrm>
            <a:off x="5013697" y="106984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5</a:t>
            </a:r>
          </a:p>
        </p:txBody>
      </p:sp>
      <p:sp>
        <p:nvSpPr>
          <p:cNvPr id="5" name="status chip"/>
          <p:cNvSpPr/>
          <p:nvPr/>
        </p:nvSpPr>
        <p:spPr>
          <a:xfrm>
            <a:off x="548640" y="1783080"/>
            <a:ext cx="2377440" cy="411480"/>
          </a:xfrm>
          <a:prstGeom prst="roundRect">
            <a:avLst>
              <a:gd name="adj" fmla="val 44444"/>
            </a:avLst>
          </a:prstGeom>
          <a:solidFill>
            <a:srgbClr val="B7791F"/>
          </a:solidFill>
          <a:ln w="12700">
            <a:solidFill>
              <a:srgbClr val="B7791F"/>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In Progress</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350" dirty="0">
                <a:solidFill>
                  <a:srgbClr val="FFFFFF"/>
                </a:solidFill>
              </a:rPr>
              <a:t>Working now: the validity window is stored on-chain and checked at every request.</a:t>
            </a:r>
            <a:endParaRPr lang="en-US" sz="1350" dirty="0"/>
          </a:p>
          <a:p>
            <a:pPr marL="342900" indent="-342900">
              <a:spcAft>
                <a:spcPts val="1000"/>
              </a:spcAft>
              <a:buSzPct val="100000"/>
              <a:buChar char="•"/>
            </a:pPr>
            <a:r>
              <a:rPr lang="en-US" sz="1350" dirty="0">
                <a:solidFill>
                  <a:srgbClr val="FFFFFF"/>
                </a:solidFill>
              </a:rPr>
              <a:t>Working now: revocation end to end, including an on-chain revoke transaction.</a:t>
            </a:r>
            <a:endParaRPr lang="en-US" sz="1350" dirty="0"/>
          </a:p>
          <a:p>
            <a:pPr marL="342900" indent="-342900">
              <a:spcAft>
                <a:spcPts val="1000"/>
              </a:spcAft>
              <a:buSzPct val="100000"/>
              <a:buChar char="•"/>
            </a:pPr>
            <a:r>
              <a:rPr lang="en-US" sz="1350" dirty="0">
                <a:solidFill>
                  <a:srgbClr val="FFFFFF"/>
                </a:solidFill>
              </a:rPr>
              <a:t>Design: L is the lifecycle state (CREATED, PENDING, ACTIVE, SUSPENDED, REVOKED, EXPIRED), checked by VL(C) = ValidState(C) ∧ ValidTransition(C).</a:t>
            </a:r>
            <a:endParaRPr lang="en-US" sz="1350" dirty="0"/>
          </a:p>
          <a:p>
            <a:pPr marL="342900" indent="-342900">
              <a:spcAft>
                <a:spcPts val="1000"/>
              </a:spcAft>
              <a:buSzPct val="100000"/>
              <a:buChar char="•"/>
            </a:pPr>
            <a:r>
              <a:rPr lang="en-US" sz="1350" dirty="0">
                <a:solidFill>
                  <a:srgbClr val="FFFFFF"/>
                </a:solidFill>
              </a:rPr>
              <a:t>Working now: a clear lifecycle: PENDING_SIGNATURE, PENDING_TOKEN, NOT_STARTED, ACTIVE, EXPIRED, REVOKED.</a:t>
            </a:r>
            <a:endParaRPr lang="en-US" sz="1350" dirty="0"/>
          </a:p>
          <a:p>
            <a:pPr marL="342900" indent="-342900">
              <a:spcAft>
                <a:spcPts val="1000"/>
              </a:spcAft>
              <a:buSzPct val="100000"/>
              <a:buChar char="•"/>
            </a:pPr>
            <a:r>
              <a:rPr lang="en-US" sz="1350" dirty="0">
                <a:solidFill>
                  <a:srgbClr val="FFFFFF"/>
                </a:solidFill>
              </a:rPr>
              <a:t>Next stage: the SUSPENDED state, the lifecycle transition check, consent modification, delegation, guardian-set changes and a formal lifecycle model.</a:t>
            </a:r>
            <a:endParaRPr lang="en-US" sz="135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27</a:t>
            </a:fld>
            <a:endParaRPr lang="en-US"/>
          </a:p>
        </p:txBody>
      </p:sp>
      <p:sp>
        <p:nvSpPr>
          <p:cNvPr id="3" name="Text 0">
            <a:extLst>
              <a:ext uri="{FF2B5EF4-FFF2-40B4-BE49-F238E27FC236}">
                <a16:creationId xmlns:a16="http://schemas.microsoft.com/office/drawing/2014/main" id="{8E804DD9-5F7C-FDD1-4DA5-2DF8A64F5E48}"/>
              </a:ext>
            </a:extLst>
          </p:cNvPr>
          <p:cNvSpPr txBox="1">
            <a:spLocks/>
          </p:cNvSpPr>
          <p:nvPr/>
        </p:nvSpPr>
        <p:spPr>
          <a:xfrm>
            <a:off x="764726" y="1028700"/>
            <a:ext cx="4049843" cy="64008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800" i="1" dirty="0">
                <a:solidFill>
                  <a:srgbClr val="1FB5D6"/>
                </a:solidFill>
              </a:rPr>
              <a:t>RO5: Temporal and Lifecycle Trust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dirty="0"/>
              <a:t>Proposed solution for objective 6</a:t>
            </a:r>
          </a:p>
        </p:txBody>
      </p:sp>
      <p:sp>
        <p:nvSpPr>
          <p:cNvPr id="5" name="status chip"/>
          <p:cNvSpPr/>
          <p:nvPr/>
        </p:nvSpPr>
        <p:spPr>
          <a:xfrm>
            <a:off x="548640" y="1783080"/>
            <a:ext cx="3200400" cy="411480"/>
          </a:xfrm>
          <a:prstGeom prst="roundRect">
            <a:avLst>
              <a:gd name="adj" fmla="val 44444"/>
            </a:avLst>
          </a:prstGeom>
          <a:solidFill>
            <a:srgbClr val="6D5BA8"/>
          </a:solidFill>
          <a:ln w="12700">
            <a:solidFill>
              <a:srgbClr val="6D5BA8"/>
            </a:solidFill>
            <a:prstDash val="solid"/>
          </a:ln>
        </p:spPr>
        <p:txBody>
          <a:bodyPr/>
          <a:lstStyle/>
          <a:p>
            <a:endParaRPr lang="en-AU"/>
          </a:p>
        </p:txBody>
      </p:sp>
      <p:sp>
        <p:nvSpPr>
          <p:cNvPr id="6" name="status text"/>
          <p:cNvSpPr txBox="1"/>
          <p:nvPr/>
        </p:nvSpPr>
        <p:spPr>
          <a:xfrm>
            <a:off x="548640" y="1783080"/>
            <a:ext cx="3200400" cy="411480"/>
          </a:xfrm>
          <a:prstGeom prst="rect">
            <a:avLst/>
          </a:prstGeom>
          <a:noFill/>
          <a:ln/>
        </p:spPr>
        <p:txBody>
          <a:bodyPr wrap="square" rtlCol="0" anchor="ctr"/>
          <a:lstStyle/>
          <a:p>
            <a:pPr marL="0" indent="0" algn="ctr">
              <a:buNone/>
            </a:pPr>
            <a:r>
              <a:rPr lang="en-US" sz="1400" b="1" dirty="0">
                <a:solidFill>
                  <a:srgbClr val="FFFFFF"/>
                </a:solidFill>
              </a:rPr>
              <a:t>Status: Partially completed</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Done: 46 automated tests pass, including 12 attack scenarios A1 to A12.</a:t>
            </a:r>
            <a:endParaRPr lang="en-US" sz="1600" dirty="0"/>
          </a:p>
          <a:p>
            <a:pPr marL="342900" indent="-342900">
              <a:spcAft>
                <a:spcPts val="1000"/>
              </a:spcAft>
              <a:buSzPct val="100000"/>
              <a:buChar char="•"/>
            </a:pPr>
            <a:r>
              <a:rPr lang="en-US" sz="1600" dirty="0">
                <a:solidFill>
                  <a:srgbClr val="FF0000"/>
                </a:solidFill>
              </a:rPr>
              <a:t>Done: processing time of each check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28</a:t>
            </a:fld>
            <a:endParaRPr lang="en-US"/>
          </a:p>
        </p:txBody>
      </p:sp>
      <p:sp>
        <p:nvSpPr>
          <p:cNvPr id="3" name="Text 0">
            <a:extLst>
              <a:ext uri="{FF2B5EF4-FFF2-40B4-BE49-F238E27FC236}">
                <a16:creationId xmlns:a16="http://schemas.microsoft.com/office/drawing/2014/main" id="{CFF9E547-B108-F639-F60D-8E5E60FC29BF}"/>
              </a:ext>
            </a:extLst>
          </p:cNvPr>
          <p:cNvSpPr txBox="1">
            <a:spLocks/>
          </p:cNvSpPr>
          <p:nvPr/>
        </p:nvSpPr>
        <p:spPr>
          <a:xfrm>
            <a:off x="254922" y="1222601"/>
            <a:ext cx="5841077" cy="400101"/>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600" i="1" dirty="0">
                <a:solidFill>
                  <a:srgbClr val="1FB5D6"/>
                </a:solidFill>
              </a:rPr>
              <a:t>RO6: Formal Security Assurance and Empirical Validation</a:t>
            </a:r>
            <a:endParaRPr lang="en-US" sz="1600" dirty="0"/>
          </a:p>
        </p:txBody>
      </p:sp>
      <p:sp>
        <p:nvSpPr>
          <p:cNvPr id="10" name="F16 panel">
            <a:extLst>
              <a:ext uri="{FF2B5EF4-FFF2-40B4-BE49-F238E27FC236}">
                <a16:creationId xmlns:a16="http://schemas.microsoft.com/office/drawing/2014/main" id="{07737720-46D5-B88C-ABBC-FA89282C8FFF}"/>
              </a:ext>
            </a:extLst>
          </p:cNvPr>
          <p:cNvSpPr/>
          <p:nvPr/>
        </p:nvSpPr>
        <p:spPr>
          <a:xfrm>
            <a:off x="6164133" y="1056942"/>
            <a:ext cx="5675087" cy="5532120"/>
          </a:xfrm>
          <a:prstGeom prst="roundRect">
            <a:avLst>
              <a:gd name="adj" fmla="val 198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16" descr="/tmp/deck/img/F16.png">
            <a:extLst>
              <a:ext uri="{FF2B5EF4-FFF2-40B4-BE49-F238E27FC236}">
                <a16:creationId xmlns:a16="http://schemas.microsoft.com/office/drawing/2014/main" id="{1D67FA77-C3AD-4CF8-7021-C79487AC4381}"/>
              </a:ext>
            </a:extLst>
          </p:cNvPr>
          <p:cNvPicPr>
            <a:picLocks noChangeAspect="1"/>
          </p:cNvPicPr>
          <p:nvPr/>
        </p:nvPicPr>
        <p:blipFill>
          <a:blip r:embed="rId3"/>
          <a:stretch>
            <a:fillRect/>
          </a:stretch>
        </p:blipFill>
        <p:spPr>
          <a:xfrm>
            <a:off x="6273861" y="1166670"/>
            <a:ext cx="5455631" cy="53126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HALAH PROTOTYPE</a:t>
            </a:r>
            <a:endParaRPr lang="en-US" sz="30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6" name="card text Four interfaces"/>
          <p:cNvSpPr txBox="1"/>
          <p:nvPr/>
        </p:nvSpPr>
        <p:spPr>
          <a:xfrm>
            <a:off x="77724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Four interfaces</a:t>
            </a:r>
            <a:endParaRPr lang="en-US" sz="1900" dirty="0"/>
          </a:p>
          <a:p>
            <a:pPr marL="0" indent="0">
              <a:spcAft>
                <a:spcPts val="400"/>
              </a:spcAft>
              <a:buNone/>
            </a:pPr>
            <a:r>
              <a:rPr lang="en-US" sz="1600" dirty="0">
                <a:solidFill>
                  <a:srgbClr val="0B1F33"/>
                </a:solidFill>
              </a:rPr>
              <a:t>Patient, guardian, doctor and auditor</a:t>
            </a:r>
            <a:endParaRPr lang="en-US" sz="1900" dirty="0"/>
          </a:p>
        </p:txBody>
      </p:sp>
      <p:sp>
        <p:nvSpPr>
          <p:cNvPr id="7" name="card Identity and credentials"/>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8" name="card text Identity and credentials"/>
          <p:cNvSpPr txBox="1"/>
          <p:nvPr/>
        </p:nvSpPr>
        <p:spPr>
          <a:xfrm>
            <a:off x="448056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Identity and credentials</a:t>
            </a:r>
            <a:endParaRPr lang="en-US" sz="1900" dirty="0"/>
          </a:p>
          <a:p>
            <a:pPr marL="0" indent="0">
              <a:spcAft>
                <a:spcPts val="400"/>
              </a:spcAft>
              <a:buNone/>
            </a:pPr>
            <a:r>
              <a:rPr lang="en-US" sz="1600" dirty="0">
                <a:solidFill>
                  <a:srgbClr val="0B1F33"/>
                </a:solidFill>
              </a:rPr>
              <a:t>A DID for every participant; a verifiable credential is checked before access or approval</a:t>
            </a:r>
            <a:endParaRPr lang="en-US" sz="1900" dirty="0"/>
          </a:p>
        </p:txBody>
      </p:sp>
      <p:sp>
        <p:nvSpPr>
          <p:cNvPr id="9" name="card Approval and consent token"/>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0" name="card text Approval and consent token"/>
          <p:cNvSpPr txBox="1"/>
          <p:nvPr/>
        </p:nvSpPr>
        <p:spPr>
          <a:xfrm>
            <a:off x="8183880" y="1645920"/>
            <a:ext cx="3246120" cy="1920240"/>
          </a:xfrm>
          <a:prstGeom prst="rect">
            <a:avLst/>
          </a:prstGeom>
          <a:noFill/>
          <a:ln/>
        </p:spPr>
        <p:txBody>
          <a:bodyPr wrap="square" rtlCol="0" anchor="t"/>
          <a:lstStyle/>
          <a:p>
            <a:pPr>
              <a:spcAft>
                <a:spcPts val="400"/>
              </a:spcAft>
            </a:pPr>
            <a:r>
              <a:rPr lang="en-AU" sz="1900" b="1" dirty="0">
                <a:solidFill>
                  <a:srgbClr val="0B2A4A"/>
                </a:solidFill>
              </a:rPr>
              <a:t>Multi-party approval</a:t>
            </a:r>
            <a:endParaRPr lang="ar-SA" sz="1900" b="1" dirty="0">
              <a:solidFill>
                <a:srgbClr val="0B2A4A"/>
              </a:solidFill>
            </a:endParaRPr>
          </a:p>
          <a:p>
            <a:pPr>
              <a:spcAft>
                <a:spcPts val="400"/>
              </a:spcAft>
            </a:pPr>
            <a:r>
              <a:rPr lang="en-AU" sz="1600" dirty="0">
                <a:solidFill>
                  <a:srgbClr val="0B1F33"/>
                </a:solidFill>
              </a:rPr>
              <a:t>Every</a:t>
            </a:r>
            <a:r>
              <a:rPr lang="en-AU" sz="2000" dirty="0"/>
              <a:t> </a:t>
            </a:r>
            <a:r>
              <a:rPr lang="en-AU" sz="1600" dirty="0">
                <a:solidFill>
                  <a:srgbClr val="0B1F33"/>
                </a:solidFill>
              </a:rPr>
              <a:t>listed guardian signs a digital approval; the consent becomes active only when all have signed</a:t>
            </a:r>
            <a:endParaRPr lang="en-US" sz="1600" dirty="0">
              <a:solidFill>
                <a:srgbClr val="0B1F33"/>
              </a:solidFill>
            </a:endParaRPr>
          </a:p>
        </p:txBody>
      </p:sp>
      <p:sp>
        <p:nvSpPr>
          <p:cNvPr id="11" name="card Decision engine"/>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2" name="card text Decision engine"/>
          <p:cNvSpPr txBox="1"/>
          <p:nvPr/>
        </p:nvSpPr>
        <p:spPr>
          <a:xfrm>
            <a:off x="77724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Decision engine</a:t>
            </a:r>
            <a:endParaRPr lang="en-US" sz="1900" dirty="0"/>
          </a:p>
          <a:p>
            <a:pPr>
              <a:spcAft>
                <a:spcPts val="400"/>
              </a:spcAft>
            </a:pPr>
            <a:r>
              <a:rPr lang="en-US" sz="1600" dirty="0">
                <a:solidFill>
                  <a:srgbClr val="0B1F33"/>
                </a:solidFill>
              </a:rPr>
              <a:t>VI ∧ VA ∧ VP ∧ VT ∧ VL checked at every request; one failed check gives DENY</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4" name="card text Data"/>
          <p:cNvSpPr txBox="1"/>
          <p:nvPr/>
        </p:nvSpPr>
        <p:spPr>
          <a:xfrm>
            <a:off x="448056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Data</a:t>
            </a:r>
            <a:endParaRPr lang="en-US" sz="1900" dirty="0"/>
          </a:p>
          <a:p>
            <a:pPr marL="0" indent="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6" name="card text Evidence"/>
          <p:cNvSpPr txBox="1"/>
          <p:nvPr/>
        </p:nvSpPr>
        <p:spPr>
          <a:xfrm>
            <a:off x="818388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Evidence</a:t>
            </a:r>
            <a:endParaRPr lang="en-US" sz="1900" dirty="0"/>
          </a:p>
          <a:p>
            <a:pPr>
              <a:spcAft>
                <a:spcPts val="400"/>
              </a:spcAft>
            </a:pPr>
            <a:r>
              <a:rPr lang="en-AU" sz="1600" dirty="0"/>
              <a:t>Audit ledger of consent events and access decisions; medical records stay inside the application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1: THE PATIENT CREATES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RO1</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Consent as an evaluable object</a:t>
            </a:r>
            <a:endParaRPr lang="en-US" sz="1600" dirty="0"/>
          </a:p>
        </p:txBody>
      </p:sp>
      <p:sp>
        <p:nvSpPr>
          <p:cNvPr id="7" name="F21x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8" name="F21x" descr="/tmp/deck/img/F21x.png"/>
          <p:cNvPicPr>
            <a:picLocks noChangeAspect="1"/>
          </p:cNvPicPr>
          <p:nvPr/>
        </p:nvPicPr>
        <p:blipFill>
          <a:blip r:embed="rId3"/>
          <a:stretch>
            <a:fillRect/>
          </a:stretch>
        </p:blipFill>
        <p:spPr>
          <a:xfrm>
            <a:off x="846698" y="1709928"/>
            <a:ext cx="6536203"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marL="0" indent="0" algn="ctr">
              <a:buNone/>
            </a:pPr>
            <a:r>
              <a:rPr lang="en-US" sz="1200" i="1" dirty="0">
                <a:solidFill>
                  <a:srgbClr val="FFFFFF"/>
                </a:solidFill>
              </a:rPr>
              <a:t>Patient screen, consent 04da25f5 (shown in two parts)</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285750" indent="-285750">
              <a:spcAft>
                <a:spcPts val="1000"/>
              </a:spcAft>
              <a:buSzPct val="100000"/>
              <a:buFont typeface="Arial" panose="020B0604020202020204" pitchFamily="34" charset="0"/>
              <a:buChar char="•"/>
            </a:pPr>
            <a:r>
              <a:rPr lang="en-US" sz="1600" dirty="0">
                <a:solidFill>
                  <a:srgbClr val="FFFFFF"/>
                </a:solidFill>
              </a:rPr>
              <a:t>The patient enters the doctor's DID, two guardians, the data modules and the end date.</a:t>
            </a:r>
            <a:endParaRPr lang="en-US" sz="1600" dirty="0"/>
          </a:p>
          <a:p>
            <a:pPr marL="285750" indent="-285750">
              <a:spcAft>
                <a:spcPts val="1000"/>
              </a:spcAft>
              <a:buSzPct val="100000"/>
              <a:buFont typeface="Arial" panose="020B0604020202020204" pitchFamily="34" charset="0"/>
              <a:buChar char="•"/>
            </a:pPr>
            <a:r>
              <a:rPr lang="en-AU" sz="1600" dirty="0">
                <a:solidFill>
                  <a:srgbClr val="FFFFFF"/>
                </a:solidFill>
              </a:rPr>
              <a:t>The system saves the consent and gives it an ID. </a:t>
            </a:r>
            <a:endParaRPr lang="ar-SA" sz="1600" dirty="0">
              <a:solidFill>
                <a:srgbClr val="FFFFFF"/>
              </a:solidFill>
            </a:endParaRPr>
          </a:p>
          <a:p>
            <a:pPr marL="285750" indent="-285750">
              <a:spcAft>
                <a:spcPts val="1000"/>
              </a:spcAft>
              <a:buSzPct val="100000"/>
              <a:buFont typeface="Arial" panose="020B0604020202020204" pitchFamily="34" charset="0"/>
              <a:buChar char="•"/>
            </a:pPr>
            <a:r>
              <a:rPr lang="en-US" sz="1600" dirty="0">
                <a:solidFill>
                  <a:srgbClr val="FFFFFF"/>
                </a:solidFill>
              </a:rPr>
              <a:t>The state is PENDING_SIGNATURE, with 0 of 2 signatures.</a:t>
            </a:r>
            <a:endParaRPr lang="en-US" sz="1600" dirty="0"/>
          </a:p>
          <a:p>
            <a:pPr marL="285750" indent="-285750">
              <a:spcAft>
                <a:spcPts val="1000"/>
              </a:spcAft>
              <a:buSzPct val="100000"/>
              <a:buFont typeface="Arial" panose="020B0604020202020204" pitchFamily="34" charset="0"/>
              <a:buChar char="•"/>
            </a:pPr>
            <a:r>
              <a:rPr lang="en-AU" sz="1600" dirty="0">
                <a:solidFill>
                  <a:srgbClr val="FFFFFF"/>
                </a:solidFill>
              </a:rPr>
              <a:t>The consent is not active yet.</a:t>
            </a:r>
            <a:endParaRPr lang="en-US" sz="1600" dirty="0">
              <a:solidFill>
                <a:srgbClr val="FFFFFF"/>
              </a:solidFill>
            </a:endParaRP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2: THE FIRST GUARDIAN APPROVES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RO3</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285750" indent="-285750">
              <a:buSzPct val="100000"/>
              <a:buFont typeface="Arial" panose="020B0604020202020204" pitchFamily="34" charset="0"/>
              <a:buChar char="•"/>
            </a:pPr>
            <a:r>
              <a:rPr lang="en-US" sz="1400" dirty="0">
                <a:solidFill>
                  <a:srgbClr val="FFFFFF"/>
                </a:solidFill>
              </a:rPr>
              <a:t>Guardian A enters the consent ID and chooses their DID.</a:t>
            </a:r>
            <a:endParaRPr lang="en-US" sz="1400" dirty="0"/>
          </a:p>
          <a:p>
            <a:pPr marL="285750" indent="-285750">
              <a:buFont typeface="Arial" panose="020B0604020202020204" pitchFamily="34" charset="0"/>
              <a:buChar char="•"/>
            </a:pPr>
            <a:r>
              <a:rPr lang="en-AU" sz="1400" dirty="0">
                <a:solidFill>
                  <a:srgbClr val="FFFFFF"/>
                </a:solidFill>
              </a:rPr>
              <a:t>The first guardian signs a digital approval. The system checks the signature and finds who signed</a:t>
            </a:r>
            <a:r>
              <a:rPr lang="en-AU" sz="1400" b="1" dirty="0"/>
              <a:t>.</a:t>
            </a:r>
            <a:endParaRPr lang="en-AU" sz="1400" dirty="0"/>
          </a:p>
          <a:p>
            <a:pPr marL="285750" indent="-285750">
              <a:buSzPct val="100000"/>
              <a:buFont typeface="Arial" panose="020B0604020202020204" pitchFamily="34" charset="0"/>
              <a:buChar char="•"/>
            </a:pPr>
            <a:r>
              <a:rPr lang="en-US" sz="1400" dirty="0">
                <a:solidFill>
                  <a:srgbClr val="FFFFFF"/>
                </a:solidFill>
              </a:rPr>
              <a:t>The counter shows 1 of 2. The consent stays pending.</a:t>
            </a:r>
            <a:endParaRPr lang="en-US" sz="1400" dirty="0"/>
          </a:p>
        </p:txBody>
      </p:sp>
      <p:sp>
        <p:nvSpPr>
          <p:cNvPr id="8" name="F22 panel"/>
          <p:cNvSpPr/>
          <p:nvPr/>
        </p:nvSpPr>
        <p:spPr>
          <a:xfrm>
            <a:off x="1197572" y="2514600"/>
            <a:ext cx="9796551"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2" descr="/tmp/deck/img/F22.png"/>
          <p:cNvPicPr>
            <a:picLocks noChangeAspect="1"/>
          </p:cNvPicPr>
          <p:nvPr/>
        </p:nvPicPr>
        <p:blipFill>
          <a:blip r:embed="rId3"/>
          <a:stretch>
            <a:fillRect/>
          </a:stretch>
        </p:blipFill>
        <p:spPr>
          <a:xfrm>
            <a:off x="1307300" y="2624328"/>
            <a:ext cx="9577095" cy="3438144"/>
          </a:xfrm>
          <a:prstGeom prst="rect">
            <a:avLst/>
          </a:prstGeom>
        </p:spPr>
      </p:pic>
      <p:sp>
        <p:nvSpPr>
          <p:cNvPr id="10" name="caption"/>
          <p:cNvSpPr txBox="1"/>
          <p:nvPr/>
        </p:nvSpPr>
        <p:spPr>
          <a:xfrm>
            <a:off x="1197572" y="6217920"/>
            <a:ext cx="9796551" cy="320040"/>
          </a:xfrm>
          <a:prstGeom prst="rect">
            <a:avLst/>
          </a:prstGeom>
          <a:noFill/>
          <a:ln/>
        </p:spPr>
        <p:txBody>
          <a:bodyPr wrap="square" rtlCol="0" anchor="ctr"/>
          <a:lstStyle/>
          <a:p>
            <a:pPr marL="0" indent="0" algn="ctr">
              <a:buNone/>
            </a:pPr>
            <a:r>
              <a:rPr lang="en-US" sz="1200" i="1" dirty="0">
                <a:solidFill>
                  <a:srgbClr val="FFFFFF"/>
                </a:solidFill>
              </a:rPr>
              <a:t>Guardian screen at the first approval: signature verified, 1 of 2 signatures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b="1" dirty="0">
                <a:solidFill>
                  <a:srgbClr val="FF0000"/>
                </a:solidFill>
                <a:latin typeface="Arial" pitchFamily="34" charset="0"/>
                <a:ea typeface="Arial" pitchFamily="34" charset="-122"/>
                <a:cs typeface="Arial" pitchFamily="34" charset="-120"/>
              </a:rPr>
              <a:t>DEMO 3: </a:t>
            </a:r>
            <a:r>
              <a:rPr lang="en-US" sz="2800" b="1" dirty="0">
                <a:solidFill>
                  <a:srgbClr val="FFFFFF"/>
                </a:solidFill>
                <a:latin typeface="Arial" pitchFamily="34" charset="0"/>
                <a:ea typeface="Arial" pitchFamily="34" charset="-122"/>
                <a:cs typeface="Arial" pitchFamily="34" charset="-120"/>
              </a:rPr>
              <a:t>SECOND APPROVAL, CONSENT ACTIVE</a:t>
            </a:r>
            <a:endParaRPr lang="en-US" sz="28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r>
              <a:rPr lang="en-AU" sz="1600" dirty="0">
                <a:solidFill>
                  <a:schemeClr val="bg1"/>
                </a:solidFill>
              </a:rPr>
              <a:t>Threshold reached: 2 of 2, the consent becomes active</a:t>
            </a:r>
            <a:endParaRPr lang="en-US" sz="1600" dirty="0">
              <a:solidFill>
                <a:schemeClr val="bg1"/>
              </a:solidFill>
            </a:endParaRPr>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second signature is verified. Now 2 of 2 guardians have signed.</a:t>
            </a:r>
            <a:endParaRPr lang="ar-SA" sz="1400">
              <a:solidFill>
                <a:srgbClr val="FFFFFF"/>
              </a:solidFill>
            </a:endParaRPr>
          </a:p>
          <a:p>
            <a:pPr>
              <a:buSzPct val="100000"/>
            </a:pPr>
            <a:endParaRPr lang="en-US" sz="1400" dirty="0"/>
          </a:p>
          <a:p>
            <a:pPr marL="342900" indent="-342900">
              <a:buSzPct val="100000"/>
              <a:buChar char="•"/>
            </a:pPr>
            <a:r>
              <a:rPr lang="en-AU" sz="1400" dirty="0">
                <a:solidFill>
                  <a:srgbClr val="FF0000"/>
                </a:solidFill>
              </a:rPr>
              <a:t>The consent becomes active.</a:t>
            </a:r>
          </a:p>
        </p:txBody>
      </p:sp>
      <p:sp>
        <p:nvSpPr>
          <p:cNvPr id="8" name="F23 panel"/>
          <p:cNvSpPr/>
          <p:nvPr/>
        </p:nvSpPr>
        <p:spPr>
          <a:xfrm>
            <a:off x="64008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3" descr="/tmp/deck/img/F23.png"/>
          <p:cNvPicPr>
            <a:picLocks noChangeAspect="1"/>
          </p:cNvPicPr>
          <p:nvPr/>
        </p:nvPicPr>
        <p:blipFill>
          <a:blip r:embed="rId3"/>
          <a:stretch>
            <a:fillRect/>
          </a:stretch>
        </p:blipFill>
        <p:spPr>
          <a:xfrm>
            <a:off x="749808" y="2562614"/>
            <a:ext cx="5175504" cy="2372852"/>
          </a:xfrm>
          <a:prstGeom prst="rect">
            <a:avLst/>
          </a:prstGeom>
        </p:spPr>
      </p:pic>
      <p:sp>
        <p:nvSpPr>
          <p:cNvPr id="10" name="caption"/>
          <p:cNvSpPr txBox="1"/>
          <p:nvPr/>
        </p:nvSpPr>
        <p:spPr>
          <a:xfrm>
            <a:off x="640080" y="5166360"/>
            <a:ext cx="5394960" cy="320040"/>
          </a:xfrm>
          <a:prstGeom prst="rect">
            <a:avLst/>
          </a:prstGeom>
          <a:noFill/>
          <a:ln/>
        </p:spPr>
        <p:txBody>
          <a:bodyPr wrap="square" rtlCol="0" anchor="ctr"/>
          <a:lstStyle/>
          <a:p>
            <a:pPr marL="0" indent="0" algn="ctr">
              <a:buNone/>
            </a:pPr>
            <a:r>
              <a:rPr lang="en-US" sz="1200" i="1" dirty="0">
                <a:solidFill>
                  <a:srgbClr val="FF0000"/>
                </a:solidFill>
              </a:rPr>
              <a:t>Second approval: 2 of 2 guardians signed</a:t>
            </a:r>
            <a:endParaRPr lang="en-US" sz="1200" dirty="0"/>
          </a:p>
        </p:txBody>
      </p:sp>
      <p:sp>
        <p:nvSpPr>
          <p:cNvPr id="11" name="F25c panel"/>
          <p:cNvSpPr/>
          <p:nvPr/>
        </p:nvSpPr>
        <p:spPr>
          <a:xfrm>
            <a:off x="617220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25c" descr="/tmp/deck/img/F25c.png"/>
          <p:cNvPicPr>
            <a:picLocks noChangeAspect="1"/>
          </p:cNvPicPr>
          <p:nvPr/>
        </p:nvPicPr>
        <p:blipFill>
          <a:blip r:embed="rId4"/>
          <a:stretch>
            <a:fillRect/>
          </a:stretch>
        </p:blipFill>
        <p:spPr>
          <a:xfrm>
            <a:off x="6281928" y="2980123"/>
            <a:ext cx="5175504" cy="1537835"/>
          </a:xfrm>
          <a:prstGeom prst="rect">
            <a:avLst/>
          </a:prstGeom>
        </p:spPr>
      </p:pic>
      <p:sp>
        <p:nvSpPr>
          <p:cNvPr id="13" name="caption"/>
          <p:cNvSpPr txBox="1"/>
          <p:nvPr/>
        </p:nvSpPr>
        <p:spPr>
          <a:xfrm>
            <a:off x="6172200" y="5166360"/>
            <a:ext cx="5394960" cy="320040"/>
          </a:xfrm>
          <a:prstGeom prst="rect">
            <a:avLst/>
          </a:prstGeom>
          <a:noFill/>
          <a:ln/>
        </p:spPr>
        <p:txBody>
          <a:bodyPr wrap="square" rtlCol="0" anchor="ctr"/>
          <a:lstStyle/>
          <a:p>
            <a:pPr marL="0" indent="0" algn="ctr">
              <a:buNone/>
            </a:pPr>
            <a:r>
              <a:rPr lang="en-US" sz="1200" i="1" dirty="0">
                <a:solidFill>
                  <a:srgbClr val="FF0000"/>
                </a:solidFill>
              </a:rPr>
              <a:t>Same screen, later</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4: THE DOCTOR IS ALLOWED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RO4</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342900" indent="-342900">
              <a:buSzPct val="100000"/>
              <a:buChar char="•"/>
            </a:pPr>
            <a:r>
              <a:rPr lang="en-US" sz="1400" dirty="0">
                <a:solidFill>
                  <a:srgbClr val="FFFFFF"/>
                </a:solidFill>
              </a:rPr>
              <a:t>The doctor opens the consent: patient, consent ID and purpose, Treatment. The state is ACTIVE.</a:t>
            </a:r>
            <a:endParaRPr lang="en-US" sz="1400" dirty="0"/>
          </a:p>
          <a:p>
            <a:pPr marL="342900" indent="-342900">
              <a:buSzPct val="100000"/>
              <a:buChar char="•"/>
            </a:pPr>
            <a:r>
              <a:rPr lang="en-US" sz="1400" dirty="0">
                <a:solidFill>
                  <a:srgbClr val="FFFFFF"/>
                </a:solidFill>
              </a:rPr>
              <a:t>The decision matrix shows VI, VA, VP, VT, VL all PASS, so ALLOW.</a:t>
            </a:r>
            <a:endParaRPr lang="en-US" sz="1400" dirty="0"/>
          </a:p>
          <a:p>
            <a:pPr marL="342900" indent="-342900">
              <a:buSzPct val="100000"/>
              <a:buChar char="•"/>
            </a:pPr>
            <a:r>
              <a:rPr lang="en-US" sz="1400" dirty="0">
                <a:solidFill>
                  <a:srgbClr val="FFFFFF"/>
                </a:solidFill>
              </a:rPr>
              <a:t>VP is the policy check: the purpose is checked here, and the scope when the doctor asks for the data.</a:t>
            </a:r>
            <a:endParaRPr lang="en-US" sz="1400" dirty="0"/>
          </a:p>
        </p:txBody>
      </p:sp>
      <p:sp>
        <p:nvSpPr>
          <p:cNvPr id="8" name="F29m panel"/>
          <p:cNvSpPr/>
          <p:nvPr/>
        </p:nvSpPr>
        <p:spPr>
          <a:xfrm>
            <a:off x="655168" y="2514600"/>
            <a:ext cx="10881360" cy="2955976"/>
          </a:xfrm>
          <a:prstGeom prst="roundRect">
            <a:avLst>
              <a:gd name="adj" fmla="val 371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m" descr="/tmp/deck/img/F29m.png"/>
          <p:cNvPicPr>
            <a:picLocks noChangeAspect="1"/>
          </p:cNvPicPr>
          <p:nvPr/>
        </p:nvPicPr>
        <p:blipFill>
          <a:blip r:embed="rId3"/>
          <a:stretch>
            <a:fillRect/>
          </a:stretch>
        </p:blipFill>
        <p:spPr>
          <a:xfrm>
            <a:off x="764896" y="2624328"/>
            <a:ext cx="10661904" cy="2736520"/>
          </a:xfrm>
          <a:prstGeom prst="rect">
            <a:avLst/>
          </a:prstGeom>
        </p:spPr>
      </p:pic>
      <p:sp>
        <p:nvSpPr>
          <p:cNvPr id="10" name="caption"/>
          <p:cNvSpPr txBox="1"/>
          <p:nvPr/>
        </p:nvSpPr>
        <p:spPr>
          <a:xfrm>
            <a:off x="655168" y="5516296"/>
            <a:ext cx="10881360" cy="320040"/>
          </a:xfrm>
          <a:prstGeom prst="rect">
            <a:avLst/>
          </a:prstGeom>
          <a:noFill/>
          <a:ln/>
        </p:spPr>
        <p:txBody>
          <a:bodyPr wrap="square" rtlCol="0" anchor="ctr"/>
          <a:lstStyle/>
          <a:p>
            <a:pPr marL="0" indent="0" algn="ctr">
              <a:buNone/>
            </a:pPr>
            <a:r>
              <a:rPr lang="en-US" sz="1200" i="1" dirty="0">
                <a:solidFill>
                  <a:srgbClr val="FFFFFF"/>
                </a:solidFill>
              </a:rPr>
              <a:t>Doctor screen, consent 04da25f5 (shown in two parts)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5: ONLY THE AUTHORISED RECORDS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RO4</a:t>
            </a:r>
            <a:endParaRPr lang="en-US" sz="14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After ALLOW and the proof check, the screen shows the records, one table per module.</a:t>
            </a:r>
            <a:endParaRPr lang="en-US" sz="1400" dirty="0"/>
          </a:p>
          <a:p>
            <a:pPr marL="342900" indent="-342900">
              <a:buSzPct val="100000"/>
              <a:buChar char="•"/>
            </a:pPr>
            <a:r>
              <a:rPr lang="en-US" sz="1400" dirty="0">
                <a:solidFill>
                  <a:srgbClr val="FFFFFF"/>
                </a:solidFill>
              </a:rPr>
              <a:t>Only the four modules in the consent are shown. A request outside the scope is refused (attack test A4).</a:t>
            </a:r>
            <a:endParaRPr lang="en-US" sz="1400" dirty="0"/>
          </a:p>
          <a:p>
            <a:pPr marL="342900" indent="-342900">
              <a:buSzPct val="100000"/>
              <a:buChar char="•"/>
            </a:pPr>
            <a:r>
              <a:rPr lang="en-US" sz="1400" dirty="0">
                <a:solidFill>
                  <a:srgbClr val="FFFFFF"/>
                </a:solidFill>
              </a:rPr>
              <a:t>The data are synthetic Synthea records, not real patients.</a:t>
            </a:r>
            <a:endParaRPr lang="en-US" sz="1400" dirty="0"/>
          </a:p>
        </p:txBody>
      </p:sp>
      <p:sp>
        <p:nvSpPr>
          <p:cNvPr id="8" name="F29r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r" descr="/tmp/deck/img/F29r.png"/>
          <p:cNvPicPr>
            <a:picLocks noChangeAspect="1"/>
          </p:cNvPicPr>
          <p:nvPr/>
        </p:nvPicPr>
        <p:blipFill>
          <a:blip r:embed="rId3"/>
          <a:stretch>
            <a:fillRect/>
          </a:stretch>
        </p:blipFill>
        <p:spPr>
          <a:xfrm>
            <a:off x="1216464" y="2487168"/>
            <a:ext cx="4242192" cy="3438144"/>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Observation and Medication</a:t>
            </a:r>
            <a:endParaRPr lang="en-US" sz="1200" dirty="0"/>
          </a:p>
        </p:txBody>
      </p:sp>
      <p:sp>
        <p:nvSpPr>
          <p:cNvPr id="11" name="F30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30" descr="/tmp/deck/img/F30.png"/>
          <p:cNvPicPr>
            <a:picLocks noChangeAspect="1"/>
          </p:cNvPicPr>
          <p:nvPr/>
        </p:nvPicPr>
        <p:blipFill>
          <a:blip r:embed="rId4"/>
          <a:stretch>
            <a:fillRect/>
          </a:stretch>
        </p:blipFill>
        <p:spPr>
          <a:xfrm>
            <a:off x="6784147" y="2487168"/>
            <a:ext cx="4171066" cy="3438144"/>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Condition and Procedure</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538115714"/>
              </p:ext>
            </p:extLst>
          </p:nvPr>
        </p:nvGraphicFramePr>
        <p:xfrm>
          <a:off x="640080" y="1188720"/>
          <a:ext cx="10881360" cy="397764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lgn="ctr">
                        <a:buNone/>
                      </a:pPr>
                      <a:r>
                        <a:rPr lang="en-US" sz="1600" b="1" dirty="0">
                          <a:solidFill>
                            <a:srgbClr val="FFFFFF"/>
                          </a:solidFill>
                        </a:rPr>
                        <a:t>Evidence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What it checks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Pass rule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Result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868680">
                <a:tc>
                  <a:txBody>
                    <a:bodyPr/>
                    <a:lstStyle/>
                    <a:p>
                      <a:pPr marL="0" indent="0" algn="ctr">
                        <a:buNone/>
                      </a:pPr>
                      <a:r>
                        <a:rPr lang="en-US" sz="1600" b="1" dirty="0">
                          <a:solidFill>
                            <a:srgbClr val="0B1F33"/>
                          </a:solidFill>
                        </a:rPr>
                        <a:t>Valid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Legitimate requests get access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Observed = expected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Scenarios 1 to 3: consent created, 2-of-2 approval, ALLOW</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1600" b="1" dirty="0">
                          <a:solidFill>
                            <a:srgbClr val="0B1F33"/>
                          </a:solidFill>
                        </a:rPr>
                        <a:t>Negative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Wrong requests are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Any failed check gives DENY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 5: revoked consent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1600" b="1" dirty="0">
                          <a:solidFill>
                            <a:srgbClr val="0B1F33"/>
                          </a:solidFill>
                        </a:rPr>
                        <a:t>Attack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Deliberate attempts to bypass a check, A1 to A12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Every attack is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12 of 12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1600" b="1" dirty="0">
                          <a:solidFill>
                            <a:srgbClr val="0B1F33"/>
                          </a:solidFill>
                        </a:rPr>
                        <a:t>Automated tests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32 functional tests and 14 adversarial tests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All pass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46 of 46 pass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nvGraphicFramePr>
        <p:xfrm>
          <a:off x="548640" y="1234440"/>
          <a:ext cx="11064240" cy="3017520"/>
        </p:xfrm>
        <a:graphic>
          <a:graphicData uri="http://schemas.openxmlformats.org/drawingml/2006/table">
            <a:tbl>
              <a:tblPr/>
              <a:tblGrid>
                <a:gridCol w="1427480">
                  <a:extLst>
                    <a:ext uri="{9D8B030D-6E8A-4147-A177-3AD203B41FA5}">
                      <a16:colId xmlns:a16="http://schemas.microsoft.com/office/drawing/2014/main" val="20000"/>
                    </a:ext>
                  </a:extLst>
                </a:gridCol>
                <a:gridCol w="2433320">
                  <a:extLst>
                    <a:ext uri="{9D8B030D-6E8A-4147-A177-3AD203B41FA5}">
                      <a16:colId xmlns:a16="http://schemas.microsoft.com/office/drawing/2014/main" val="20001"/>
                    </a:ext>
                  </a:extLst>
                </a:gridCol>
                <a:gridCol w="924560">
                  <a:extLst>
                    <a:ext uri="{9D8B030D-6E8A-4147-A177-3AD203B41FA5}">
                      <a16:colId xmlns:a16="http://schemas.microsoft.com/office/drawing/2014/main" val="20002"/>
                    </a:ext>
                  </a:extLst>
                </a:gridCol>
                <a:gridCol w="924560">
                  <a:extLst>
                    <a:ext uri="{9D8B030D-6E8A-4147-A177-3AD203B41FA5}">
                      <a16:colId xmlns:a16="http://schemas.microsoft.com/office/drawing/2014/main" val="20003"/>
                    </a:ext>
                  </a:extLst>
                </a:gridCol>
                <a:gridCol w="924560">
                  <a:extLst>
                    <a:ext uri="{9D8B030D-6E8A-4147-A177-3AD203B41FA5}">
                      <a16:colId xmlns:a16="http://schemas.microsoft.com/office/drawing/2014/main" val="20004"/>
                    </a:ext>
                  </a:extLst>
                </a:gridCol>
                <a:gridCol w="924560">
                  <a:extLst>
                    <a:ext uri="{9D8B030D-6E8A-4147-A177-3AD203B41FA5}">
                      <a16:colId xmlns:a16="http://schemas.microsoft.com/office/drawing/2014/main" val="20005"/>
                    </a:ext>
                  </a:extLst>
                </a:gridCol>
                <a:gridCol w="92456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gridCol w="1336040">
                  <a:extLst>
                    <a:ext uri="{9D8B030D-6E8A-4147-A177-3AD203B41FA5}">
                      <a16:colId xmlns:a16="http://schemas.microsoft.com/office/drawing/2014/main" val="20008"/>
                    </a:ext>
                  </a:extLst>
                </a:gridCol>
              </a:tblGrid>
              <a:tr h="502920">
                <a:tc>
                  <a:txBody>
                    <a:bodyPr/>
                    <a:lstStyle/>
                    <a:p>
                      <a:pPr marL="0" indent="0" algn="ctr">
                        <a:buNone/>
                      </a:pPr>
                      <a:r>
                        <a:rPr lang="en-US" sz="1400" b="1" dirty="0">
                          <a:solidFill>
                            <a:srgbClr val="FFFFFF"/>
                          </a:solidFill>
                        </a:rPr>
                        <a:t>Time (24 Sep)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2920">
                <a:tc>
                  <a:txBody>
                    <a:bodyPr/>
                    <a:lstStyle/>
                    <a:p>
                      <a:pPr marL="0" indent="0" algn="ctr">
                        <a:buNone/>
                      </a:pPr>
                      <a:r>
                        <a:rPr lang="en-US" sz="1400" b="1" dirty="0">
                          <a:solidFill>
                            <a:srgbClr val="0B1F33"/>
                          </a:solidFill>
                        </a:rPr>
                        <a:t>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b="1" dirty="0">
                          <a:solidFill>
                            <a:srgbClr val="0B1F33"/>
                          </a:solidFill>
                        </a:rPr>
                        <a:t>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400" b="1" dirty="0">
                          <a:solidFill>
                            <a:srgbClr val="0B1F33"/>
                          </a:solidFill>
                        </a:rPr>
                        <a:t>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400" b="1" dirty="0">
                          <a:solidFill>
                            <a:srgbClr val="0B1F33"/>
                          </a:solidFill>
                        </a:rPr>
                        <a:t>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400" b="1" dirty="0">
                          <a:solidFill>
                            <a:srgbClr val="0B1F33"/>
                          </a:solidFill>
                        </a:rPr>
                        <a:t>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(Scenario 3).</a:t>
            </a:r>
            <a:endParaRPr lang="en-US" sz="1400" dirty="0"/>
          </a:p>
          <a:p>
            <a:pPr marL="342900" indent="-342900">
              <a:spcAft>
                <a:spcPts val="1000"/>
              </a:spcAft>
              <a:buSzPct val="100000"/>
              <a:buChar char="•"/>
            </a:pPr>
            <a:r>
              <a:rPr lang="en-US" sz="1400" dirty="0">
                <a:solidFill>
                  <a:srgbClr val="FFFFFF"/>
                </a:solidFill>
              </a:rPr>
              <a:t>After revocation (Scenario 5) the request was refused before any decision was logged; the prototype now logs these refusals too. The revocation is public on Sepolia, block 11,771,307.</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nvGraphicFramePr>
        <p:xfrm>
          <a:off x="548640" y="1234440"/>
          <a:ext cx="11064240" cy="3657600"/>
        </p:xfrm>
        <a:graphic>
          <a:graphicData uri="http://schemas.openxmlformats.org/drawingml/2006/table">
            <a:tbl>
              <a:tblPr/>
              <a:tblGrid>
                <a:gridCol w="1987480">
                  <a:extLst>
                    <a:ext uri="{9D8B030D-6E8A-4147-A177-3AD203B41FA5}">
                      <a16:colId xmlns:a16="http://schemas.microsoft.com/office/drawing/2014/main" val="20000"/>
                    </a:ext>
                  </a:extLst>
                </a:gridCol>
                <a:gridCol w="1873320">
                  <a:extLst>
                    <a:ext uri="{9D8B030D-6E8A-4147-A177-3AD203B41FA5}">
                      <a16:colId xmlns:a16="http://schemas.microsoft.com/office/drawing/2014/main" val="20001"/>
                    </a:ext>
                  </a:extLst>
                </a:gridCol>
                <a:gridCol w="924560">
                  <a:extLst>
                    <a:ext uri="{9D8B030D-6E8A-4147-A177-3AD203B41FA5}">
                      <a16:colId xmlns:a16="http://schemas.microsoft.com/office/drawing/2014/main" val="20002"/>
                    </a:ext>
                  </a:extLst>
                </a:gridCol>
                <a:gridCol w="924560">
                  <a:extLst>
                    <a:ext uri="{9D8B030D-6E8A-4147-A177-3AD203B41FA5}">
                      <a16:colId xmlns:a16="http://schemas.microsoft.com/office/drawing/2014/main" val="20003"/>
                    </a:ext>
                  </a:extLst>
                </a:gridCol>
                <a:gridCol w="924560">
                  <a:extLst>
                    <a:ext uri="{9D8B030D-6E8A-4147-A177-3AD203B41FA5}">
                      <a16:colId xmlns:a16="http://schemas.microsoft.com/office/drawing/2014/main" val="20004"/>
                    </a:ext>
                  </a:extLst>
                </a:gridCol>
                <a:gridCol w="924560">
                  <a:extLst>
                    <a:ext uri="{9D8B030D-6E8A-4147-A177-3AD203B41FA5}">
                      <a16:colId xmlns:a16="http://schemas.microsoft.com/office/drawing/2014/main" val="20005"/>
                    </a:ext>
                  </a:extLst>
                </a:gridCol>
                <a:gridCol w="92456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gridCol w="1336040">
                  <a:extLst>
                    <a:ext uri="{9D8B030D-6E8A-4147-A177-3AD203B41FA5}">
                      <a16:colId xmlns:a16="http://schemas.microsoft.com/office/drawing/2014/main" val="20008"/>
                    </a:ext>
                  </a:extLst>
                </a:gridCol>
              </a:tblGrid>
              <a:tr h="457200">
                <a:tc>
                  <a:txBody>
                    <a:bodyPr/>
                    <a:lstStyle/>
                    <a:p>
                      <a:pPr marL="0" indent="0" algn="ctr">
                        <a:buNone/>
                      </a:pPr>
                      <a:r>
                        <a:rPr lang="en-US" sz="1400" b="1" dirty="0">
                          <a:solidFill>
                            <a:srgbClr val="FFFFFF"/>
                          </a:solidFill>
                        </a:rPr>
                        <a:t>Date and time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0B1F33"/>
                          </a:solidFill>
                        </a:rPr>
                        <a:t>24 Sep 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0B1F33"/>
                          </a:solidFill>
                        </a:rPr>
                        <a:t>24 Sep 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0B1F33"/>
                          </a:solidFill>
                        </a:rPr>
                        <a:t>24 Sep 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rgbClr val="0B1F33"/>
                          </a:solidFill>
                        </a:rPr>
                        <a:t>24 Sep 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400" b="1" dirty="0">
                          <a:solidFill>
                            <a:srgbClr val="0B1F33"/>
                          </a:solidFill>
                        </a:rPr>
                        <a:t>24 Sep 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400" b="1" dirty="0">
                          <a:solidFill>
                            <a:srgbClr val="0B1F33"/>
                          </a:solidFill>
                        </a:rPr>
                        <a:t>11 Oct 17:42:04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18ab9b62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DENIED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961586747"/>
                  </a:ext>
                </a:extLst>
              </a:tr>
              <a:tr h="457200">
                <a:tc>
                  <a:txBody>
                    <a:bodyPr/>
                    <a:lstStyle/>
                    <a:p>
                      <a:pPr marL="0" indent="0" algn="ctr">
                        <a:buNone/>
                      </a:pPr>
                      <a:r>
                        <a:rPr lang="en-US" sz="1400" b="1" dirty="0">
                          <a:solidFill>
                            <a:srgbClr val="0B1F33"/>
                          </a:solidFill>
                        </a:rPr>
                        <a:t>11 Oct 17:42:39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18ab9b62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DENIED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341028704"/>
                  </a:ext>
                </a:extLst>
              </a:tr>
            </a:tbl>
          </a:graphicData>
        </a:graphic>
      </p:graphicFrame>
      <p:sp>
        <p:nvSpPr>
          <p:cNvPr id="5" name="bullets"/>
          <p:cNvSpPr txBox="1"/>
          <p:nvPr/>
        </p:nvSpPr>
        <p:spPr>
          <a:xfrm>
            <a:off x="640080" y="504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(24 September): all five checks PASS, decision ALLOW, access GRANTED (Scenario 3).</a:t>
            </a:r>
            <a:endParaRPr lang="en-US" sz="1400" dirty="0"/>
          </a:p>
          <a:p>
            <a:pPr marL="342900" indent="-342900">
              <a:spcAft>
                <a:spcPts val="1000"/>
              </a:spcAft>
              <a:buSzPct val="100000"/>
              <a:buChar char="•"/>
            </a:pPr>
            <a:r>
              <a:rPr lang="en-US" sz="1400" dirty="0">
                <a:solidFill>
                  <a:srgbClr val="FF0000"/>
                </a:solidFill>
              </a:rPr>
              <a:t>After revocation (Scenario 5) the request was refused before any decision was logged.</a:t>
            </a:r>
            <a:endParaRPr lang="en-US" sz="1400" dirty="0"/>
          </a:p>
          <a:p>
            <a:pPr marL="342900" indent="-342900">
              <a:spcAft>
                <a:spcPts val="1000"/>
              </a:spcAft>
              <a:buSzPct val="100000"/>
              <a:buChar char="•"/>
            </a:pPr>
            <a:r>
              <a:rPr lang="en-US" sz="1400" dirty="0">
                <a:solidFill>
                  <a:srgbClr val="FFFFFF"/>
                </a:solidFill>
              </a:rPr>
              <a:t>The prototype now logs every refusal. Local test run, 11 October 2026: a doctor not named in the consent fails VI, and the request after revocation fails VA and VL. Both are DENY.</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ATTACK SCENARIOS</a:t>
            </a:r>
            <a:endParaRPr lang="en-US" sz="3000" dirty="0"/>
          </a:p>
        </p:txBody>
      </p:sp>
      <p:graphicFrame>
        <p:nvGraphicFramePr>
          <p:cNvPr id="28" name="attack table"/>
          <p:cNvGraphicFramePr>
            <a:graphicFrameLocks noGrp="1"/>
          </p:cNvGraphicFramePr>
          <p:nvPr>
            <p:extLst>
              <p:ext uri="{D42A27DB-BD31-4B8C-83A1-F6EECF244321}">
                <p14:modId xmlns:p14="http://schemas.microsoft.com/office/powerpoint/2010/main" val="896698329"/>
              </p:ext>
            </p:extLst>
          </p:nvPr>
        </p:nvGraphicFramePr>
        <p:xfrm>
          <a:off x="822960" y="1258644"/>
          <a:ext cx="10515600" cy="4884132"/>
        </p:xfrm>
        <a:graphic>
          <a:graphicData uri="http://schemas.openxmlformats.org/drawingml/2006/table">
            <a:tbl>
              <a:tblPr/>
              <a:tblGrid>
                <a:gridCol w="662912">
                  <a:extLst>
                    <a:ext uri="{9D8B030D-6E8A-4147-A177-3AD203B41FA5}">
                      <a16:colId xmlns:a16="http://schemas.microsoft.com/office/drawing/2014/main" val="20000"/>
                    </a:ext>
                  </a:extLst>
                </a:gridCol>
                <a:gridCol w="4750868">
                  <a:extLst>
                    <a:ext uri="{9D8B030D-6E8A-4147-A177-3AD203B41FA5}">
                      <a16:colId xmlns:a16="http://schemas.microsoft.com/office/drawing/2014/main" val="20001"/>
                    </a:ext>
                  </a:extLst>
                </a:gridCol>
                <a:gridCol w="994367">
                  <a:extLst>
                    <a:ext uri="{9D8B030D-6E8A-4147-A177-3AD203B41FA5}">
                      <a16:colId xmlns:a16="http://schemas.microsoft.com/office/drawing/2014/main" val="20002"/>
                    </a:ext>
                  </a:extLst>
                </a:gridCol>
                <a:gridCol w="1215338">
                  <a:extLst>
                    <a:ext uri="{9D8B030D-6E8A-4147-A177-3AD203B41FA5}">
                      <a16:colId xmlns:a16="http://schemas.microsoft.com/office/drawing/2014/main" val="20003"/>
                    </a:ext>
                  </a:extLst>
                </a:gridCol>
                <a:gridCol w="2892115">
                  <a:extLst>
                    <a:ext uri="{9D8B030D-6E8A-4147-A177-3AD203B41FA5}">
                      <a16:colId xmlns:a16="http://schemas.microsoft.com/office/drawing/2014/main" val="20004"/>
                    </a:ext>
                  </a:extLst>
                </a:gridCol>
              </a:tblGrid>
              <a:tr h="463136">
                <a:tc>
                  <a:txBody>
                    <a:bodyPr/>
                    <a:lstStyle/>
                    <a:p>
                      <a:pPr marL="0" indent="0" algn="ctr">
                        <a:buNone/>
                      </a:pPr>
                      <a:r>
                        <a:rPr lang="en-US" sz="1400" b="1" dirty="0">
                          <a:solidFill>
                            <a:srgbClr val="FFFFFF"/>
                          </a:solidFill>
                        </a:rPr>
                        <a:t>ID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Attack</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Target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Before hardening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After hardening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68403">
                <a:tc>
                  <a:txBody>
                    <a:bodyPr/>
                    <a:lstStyle/>
                    <a:p>
                      <a:pPr marL="0" indent="0" algn="ctr">
                        <a:buNone/>
                      </a:pPr>
                      <a:r>
                        <a:rPr lang="en-US" sz="1400" b="1" dirty="0">
                          <a:solidFill>
                            <a:srgbClr val="0B1F33"/>
                          </a:solidFill>
                        </a:rPr>
                        <a:t>A1</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Approval signed by a signer outside 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8403">
                <a:tc>
                  <a:txBody>
                    <a:bodyPr/>
                    <a:lstStyle/>
                    <a:p>
                      <a:pPr marL="0" indent="0" algn="ctr">
                        <a:buNone/>
                      </a:pPr>
                      <a:r>
                        <a:rPr lang="en-US" sz="1400" b="1" dirty="0">
                          <a:solidFill>
                            <a:srgbClr val="0B1F33"/>
                          </a:solidFill>
                        </a:rPr>
                        <a:t>A2</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Guardian signature replayed from another consent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8403">
                <a:tc>
                  <a:txBody>
                    <a:bodyPr/>
                    <a:lstStyle/>
                    <a:p>
                      <a:pPr marL="0" indent="0" algn="ctr">
                        <a:buNone/>
                      </a:pPr>
                      <a:r>
                        <a:rPr lang="en-US" sz="1400" b="1" dirty="0">
                          <a:solidFill>
                            <a:srgbClr val="0B1F33"/>
                          </a:solidFill>
                        </a:rPr>
                        <a:t>A3</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Same guardian approves twice to reach 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8403">
                <a:tc>
                  <a:txBody>
                    <a:bodyPr/>
                    <a:lstStyle/>
                    <a:p>
                      <a:pPr marL="0" indent="0" algn="ctr">
                        <a:buNone/>
                      </a:pPr>
                      <a:r>
                        <a:rPr lang="en-US" sz="1400" b="1" dirty="0">
                          <a:solidFill>
                            <a:srgbClr val="0B1F33"/>
                          </a:solidFill>
                        </a:rPr>
                        <a:t>A4</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Requested scope exceeds the authorised scope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8403">
                <a:tc>
                  <a:txBody>
                    <a:bodyPr/>
                    <a:lstStyle/>
                    <a:p>
                      <a:pPr marL="0" indent="0" algn="ctr">
                        <a:buNone/>
                      </a:pPr>
                      <a:r>
                        <a:rPr lang="en-US" sz="1400" b="1" dirty="0">
                          <a:solidFill>
                            <a:srgbClr val="0B1F33"/>
                          </a:solidFill>
                        </a:rPr>
                        <a:t>A5</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 with an empty scope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8403">
                <a:tc>
                  <a:txBody>
                    <a:bodyPr/>
                    <a:lstStyle/>
                    <a:p>
                      <a:pPr marL="0" indent="0" algn="ctr">
                        <a:buNone/>
                      </a:pPr>
                      <a:r>
                        <a:rPr lang="en-US" sz="1400" b="1" dirty="0">
                          <a:solidFill>
                            <a:srgbClr val="0B1F33"/>
                          </a:solidFill>
                        </a:rPr>
                        <a:t>A6</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 before notBefore or after expiry</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8403">
                <a:tc>
                  <a:txBody>
                    <a:bodyPr/>
                    <a:lstStyle/>
                    <a:p>
                      <a:pPr marL="0" indent="0" algn="ctr">
                        <a:buNone/>
                      </a:pPr>
                      <a:r>
                        <a:rPr lang="en-US" sz="1400" b="1" dirty="0">
                          <a:solidFill>
                            <a:srgbClr val="0B1F33"/>
                          </a:solidFill>
                        </a:rPr>
                        <a:t>A7</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Requester declares a different jurisdiction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8403">
                <a:tc>
                  <a:txBody>
                    <a:bodyPr/>
                    <a:lstStyle/>
                    <a:p>
                      <a:pPr marL="0" indent="0" algn="ctr">
                        <a:buNone/>
                      </a:pPr>
                      <a:r>
                        <a:rPr lang="en-US" sz="1400" b="1" dirty="0">
                          <a:solidFill>
                            <a:srgbClr val="0B1F33"/>
                          </a:solidFill>
                        </a:rPr>
                        <a:t>A8</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Access after revocation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8403">
                <a:tc>
                  <a:txBody>
                    <a:bodyPr/>
                    <a:lstStyle/>
                    <a:p>
                      <a:pPr marL="0" indent="0" algn="ctr">
                        <a:buNone/>
                      </a:pPr>
                      <a:r>
                        <a:rPr lang="en-US" sz="1400" b="1" dirty="0">
                          <a:solidFill>
                            <a:srgbClr val="0B1F33"/>
                          </a:solidFill>
                        </a:rPr>
                        <a:t>A9</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Tampered Groth16 proof or public signal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8403">
                <a:tc>
                  <a:txBody>
                    <a:bodyPr/>
                    <a:lstStyle/>
                    <a:p>
                      <a:pPr marL="0" indent="0" algn="ctr">
                        <a:buNone/>
                      </a:pPr>
                      <a:r>
                        <a:rPr lang="en-US" sz="1400" b="1" dirty="0">
                          <a:solidFill>
                            <a:srgbClr val="0B1F33"/>
                          </a:solidFill>
                        </a:rPr>
                        <a:t>A10</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Honest proof for an expired consent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8403">
                <a:tc>
                  <a:txBody>
                    <a:bodyPr/>
                    <a:lstStyle/>
                    <a:p>
                      <a:pPr marL="0" indent="0" algn="ctr">
                        <a:buNone/>
                      </a:pPr>
                      <a:r>
                        <a:rPr lang="en-US" sz="1400" b="1" dirty="0">
                          <a:solidFill>
                            <a:srgbClr val="0B1F33"/>
                          </a:solidFill>
                        </a:rPr>
                        <a:t>A11</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Mint or revoke by a non-owner, or token transfer</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Contract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68403">
                <a:tc>
                  <a:txBody>
                    <a:bodyPr/>
                    <a:lstStyle/>
                    <a:p>
                      <a:pPr marL="0" indent="0" algn="ctr">
                        <a:buNone/>
                      </a:pPr>
                      <a:r>
                        <a:rPr lang="en-US" sz="1400" b="1" dirty="0">
                          <a:solidFill>
                            <a:srgbClr val="0B1F33"/>
                          </a:solidFill>
                        </a:rPr>
                        <a:t>A12</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Invalid or forged credential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Traditional EHR vs. HALAH Framework</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4184034353"/>
              </p:ext>
            </p:extLst>
          </p:nvPr>
        </p:nvGraphicFramePr>
        <p:xfrm>
          <a:off x="640080" y="1280160"/>
          <a:ext cx="10881360" cy="5120640"/>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731520">
                <a:tc>
                  <a:txBody>
                    <a:bodyPr/>
                    <a:lstStyle/>
                    <a:p>
                      <a:pPr marL="0" indent="0" algn="ctr">
                        <a:buNone/>
                      </a:pPr>
                      <a:r>
                        <a:rPr lang="en-US" sz="1600" b="1" dirty="0">
                          <a:solidFill>
                            <a:srgbClr val="FFFFFF"/>
                          </a:solidFill>
                        </a:rPr>
                        <a:t>Aspect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Traditional EHR access control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HALAH framework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B1F33"/>
                          </a:solidFill>
                        </a:rPr>
                        <a:t>Identity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Central identity provider; institution login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DID for every participant; identity kept separate from authority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B1F33"/>
                          </a:solidFill>
                        </a:rPr>
                        <a:t>Consent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stored record that permission was given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An object C = (I, A, P, T, L, E), checked at every request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B1F33"/>
                          </a:solidFill>
                        </a:rPr>
                        <a:t>Approval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static permission set by one party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AU" sz="1600" dirty="0"/>
                        <a:t>All listed guardians sign a digital approval; no single party can approve alone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B1F33"/>
                          </a:solidFill>
                        </a:rPr>
                        <a:t>Access check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Log in, then check a static permission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rtl="0"/>
                      <a:r>
                        <a:rPr lang="en-AU" sz="1600" dirty="0">
                          <a:effectLst/>
                        </a:rPr>
                        <a:t>VI ∧ VA ∧ VP ∧ VT ∧ VL checked at every request; one failed check gives DENY</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0B1F33"/>
                          </a:solidFill>
                        </a:rPr>
                        <a:t>Time and revocation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Hard to verify once the permission is stored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AU" sz="1600" dirty="0"/>
                        <a:t>Validity window and revocation checked at every request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0B1F33"/>
                          </a:solidFill>
                        </a:rPr>
                        <a:t>Audit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record that consent occurred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rtl="0"/>
                      <a:r>
                        <a:rPr lang="en-AU" sz="1600" kern="1200" dirty="0">
                          <a:solidFill>
                            <a:schemeClr val="tx1"/>
                          </a:solidFill>
                          <a:latin typeface="+mn-lt"/>
                          <a:ea typeface="+mn-ea"/>
                          <a:cs typeface="+mn-cs"/>
                        </a:rPr>
                        <a:t>Every access decision, allowed or denied, logged with its decision matrix</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DATASET OVERVIEW</a:t>
            </a:r>
            <a:endParaRPr lang="en-US" sz="3000" dirty="0"/>
          </a:p>
        </p:txBody>
      </p:sp>
      <p:graphicFrame>
        <p:nvGraphicFramePr>
          <p:cNvPr id="31" name="table"/>
          <p:cNvGraphicFramePr>
            <a:graphicFrameLocks noGrp="1"/>
          </p:cNvGraphicFramePr>
          <p:nvPr/>
        </p:nvGraphicFramePr>
        <p:xfrm>
          <a:off x="640080" y="1325880"/>
          <a:ext cx="11247120" cy="4754880"/>
        </p:xfrm>
        <a:graphic>
          <a:graphicData uri="http://schemas.openxmlformats.org/drawingml/2006/table">
            <a:tbl>
              <a:tblPr/>
              <a:tblGrid>
                <a:gridCol w="256032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640080">
                <a:tc>
                  <a:txBody>
                    <a:bodyPr/>
                    <a:lstStyle/>
                    <a:p>
                      <a:pPr marL="0" indent="0" algn="ctr">
                        <a:buNone/>
                      </a:pPr>
                      <a:r>
                        <a:rPr lang="en-US" sz="1800" b="1" dirty="0">
                          <a:solidFill>
                            <a:srgbClr val="FFFFFF"/>
                          </a:solidFill>
                        </a:rPr>
                        <a:t>Aspect</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800" b="1" dirty="0">
                          <a:solidFill>
                            <a:srgbClr val="FFFFFF"/>
                          </a:solidFill>
                        </a:rPr>
                        <a:t>Description</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822960">
                <a:tc>
                  <a:txBody>
                    <a:bodyPr/>
                    <a:lstStyle/>
                    <a:p>
                      <a:pPr marL="0" indent="0" algn="ctr">
                        <a:buNone/>
                      </a:pPr>
                      <a:r>
                        <a:rPr lang="en-US" sz="1800" b="1" dirty="0">
                          <a:solidFill>
                            <a:srgbClr val="0B1F33"/>
                          </a:solidFill>
                        </a:rPr>
                        <a:t>Dataset</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Synthea 1K, a public synthetic healthcare dataset containing 1,000 simulated patient records.</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lgn="ctr">
                        <a:buNone/>
                      </a:pPr>
                      <a:r>
                        <a:rPr lang="en-US" sz="1800" b="1" dirty="0">
                          <a:solidFill>
                            <a:srgbClr val="0B1F33"/>
                          </a:solidFill>
                        </a:rPr>
                        <a:t>Data Type</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Synthetic patient demographics, medical conditions, medications, and procedures</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lgn="ctr">
                        <a:buNone/>
                      </a:pPr>
                      <a:r>
                        <a:rPr lang="en-US" sz="1800" b="1" dirty="0">
                          <a:solidFill>
                            <a:srgbClr val="0B1F33"/>
                          </a:solidFill>
                        </a:rPr>
                        <a:t>Data Format</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CSV files</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lgn="ctr">
                        <a:buNone/>
                      </a:pPr>
                      <a:r>
                        <a:rPr lang="en-US" sz="1800" b="1" dirty="0">
                          <a:solidFill>
                            <a:srgbClr val="0B1F33"/>
                          </a:solidFill>
                        </a:rPr>
                        <a:t>Data Usage</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Healthcare data-access scenarios for prototype testing</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22960">
                <a:tc>
                  <a:txBody>
                    <a:bodyPr/>
                    <a:lstStyle/>
                    <a:p>
                      <a:pPr marL="0" indent="0" algn="ctr">
                        <a:buNone/>
                      </a:pPr>
                      <a:r>
                        <a:rPr lang="en-US" sz="1800" b="1" dirty="0">
                          <a:solidFill>
                            <a:srgbClr val="0B1F33"/>
                          </a:solidFill>
                        </a:rPr>
                        <a:t>Data Privacy</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No real patient data is used</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RESEARCH CONTRIBUTIONS</a:t>
            </a:r>
            <a:r>
              <a:rPr lang="ar-SA" dirty="0"/>
              <a:t> </a:t>
            </a:r>
            <a:endParaRPr lang="en-US" dirty="0"/>
          </a:p>
        </p:txBody>
      </p:sp>
      <p:sp>
        <p:nvSpPr>
          <p:cNvPr id="4" name="sci heading"/>
          <p:cNvSpPr txBox="1"/>
          <p:nvPr/>
        </p:nvSpPr>
        <p:spPr>
          <a:xfrm>
            <a:off x="822960" y="1051560"/>
            <a:ext cx="10515600" cy="457200"/>
          </a:xfrm>
          <a:prstGeom prst="rect">
            <a:avLst/>
          </a:prstGeom>
          <a:noFill/>
          <a:ln/>
        </p:spPr>
        <p:txBody>
          <a:bodyPr wrap="square" rtlCol="0" anchor="ctr"/>
          <a:lstStyle/>
          <a:p>
            <a:r>
              <a:rPr lang="en-US" sz="2200" b="1" i="1" dirty="0">
                <a:solidFill>
                  <a:srgbClr val="1FB5D6"/>
                </a:solidFill>
              </a:rPr>
              <a:t>Scientific Contributions</a:t>
            </a: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41</a:t>
            </a:fld>
            <a:endParaRPr lang="en-US"/>
          </a:p>
        </p:txBody>
      </p:sp>
      <p:grpSp>
        <p:nvGrpSpPr>
          <p:cNvPr id="3" name="Scientific contribution 1: Integrated authorisation framework"/>
          <p:cNvGrpSpPr/>
          <p:nvPr/>
        </p:nvGrpSpPr>
        <p:grpSpPr>
          <a:xfrm>
            <a:off x="699389" y="1700784"/>
            <a:ext cx="10515599" cy="849478"/>
            <a:chOff x="822960" y="1700784"/>
            <a:chExt cx="10556748" cy="781812"/>
          </a:xfrm>
        </p:grpSpPr>
        <p:sp>
          <p:nvSpPr>
            <p:cNvPr id="26" name="Contribution 1 card"/>
            <p:cNvSpPr/>
            <p:nvPr/>
          </p:nvSpPr>
          <p:spPr>
            <a:xfrm>
              <a:off x="822960" y="1700784"/>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28" name="Connector 27"/>
            <p:cNvCxnSpPr/>
            <p:nvPr/>
          </p:nvCxnSpPr>
          <p:spPr>
            <a:xfrm flipH="1" flipV="1">
              <a:off x="1101852" y="1968246"/>
              <a:ext cx="123444"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60704"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225296" y="1968246"/>
              <a:ext cx="114300"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298448"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1101852" y="2091690"/>
              <a:ext cx="123444"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0704"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225296" y="2091690"/>
              <a:ext cx="114300"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298448"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167688" y="2034082"/>
              <a:ext cx="115214" cy="115214"/>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ntribution 1 text"/>
            <p:cNvSpPr txBox="1"/>
            <p:nvPr/>
          </p:nvSpPr>
          <p:spPr>
            <a:xfrm>
              <a:off x="1627632" y="1769364"/>
              <a:ext cx="9752076" cy="644652"/>
            </a:xfrm>
            <a:prstGeom prst="rect">
              <a:avLst/>
            </a:prstGeom>
            <a:noFill/>
          </p:spPr>
          <p:txBody>
            <a:bodyPr wrap="none" lIns="0" tIns="0" rIns="0" bIns="0" anchor="ctr">
              <a:noAutofit/>
            </a:bodyPr>
            <a:lstStyle/>
            <a:p>
              <a:pPr>
                <a:lnSpc>
                  <a:spcPts val="2360"/>
                </a:lnSpc>
              </a:pPr>
              <a:r>
                <a:rPr lang="en-US" sz="1900" dirty="0">
                  <a:solidFill>
                    <a:srgbClr val="103646"/>
                  </a:solidFill>
                </a:rPr>
                <a:t>This research proposes a trust-centric consent model that integrates identity, authority, </a:t>
              </a:r>
              <a:endParaRPr lang="ar-SA" sz="1900" dirty="0">
                <a:solidFill>
                  <a:srgbClr val="103646"/>
                </a:solidFill>
              </a:endParaRPr>
            </a:p>
            <a:p>
              <a:pPr>
                <a:lnSpc>
                  <a:spcPts val="2360"/>
                </a:lnSpc>
              </a:pPr>
              <a:r>
                <a:rPr lang="en-US" sz="1900" dirty="0">
                  <a:solidFill>
                    <a:srgbClr val="103646"/>
                  </a:solidFill>
                </a:rPr>
                <a:t>multi-party approval, and policy constraints into a unified healthcare </a:t>
              </a:r>
              <a:r>
                <a:rPr lang="en-US" sz="1900" dirty="0" err="1">
                  <a:solidFill>
                    <a:srgbClr val="103646"/>
                  </a:solidFill>
                </a:rPr>
                <a:t>authorisation</a:t>
              </a:r>
              <a:r>
                <a:rPr lang="en-US" sz="1900" dirty="0">
                  <a:solidFill>
                    <a:srgbClr val="103646"/>
                  </a:solidFill>
                </a:rPr>
                <a:t> framework</a:t>
              </a:r>
              <a:r>
                <a:rPr lang="ar-SA" sz="1900" dirty="0">
                  <a:solidFill>
                    <a:srgbClr val="103646"/>
                  </a:solidFill>
                </a:rPr>
                <a:t>.</a:t>
              </a:r>
              <a:endParaRPr lang="en-AU" sz="1900" b="0" dirty="0">
                <a:solidFill>
                  <a:srgbClr val="103646"/>
                </a:solidFill>
                <a:latin typeface="Calibri"/>
              </a:endParaRPr>
            </a:p>
          </p:txBody>
        </p:sp>
      </p:grpSp>
      <p:grpSp>
        <p:nvGrpSpPr>
          <p:cNvPr id="5" name="Scientific contribution 2: Evaluable consent model"/>
          <p:cNvGrpSpPr/>
          <p:nvPr/>
        </p:nvGrpSpPr>
        <p:grpSpPr>
          <a:xfrm>
            <a:off x="704885" y="2720340"/>
            <a:ext cx="11306355" cy="781812"/>
            <a:chOff x="781970" y="2720340"/>
            <a:chExt cx="10515600" cy="781812"/>
          </a:xfrm>
        </p:grpSpPr>
        <p:sp>
          <p:nvSpPr>
            <p:cNvPr id="38" name="Contribution 2 card"/>
            <p:cNvSpPr/>
            <p:nvPr/>
          </p:nvSpPr>
          <p:spPr>
            <a:xfrm>
              <a:off x="781970" y="272034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82980" y="275920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15568" y="2846070"/>
              <a:ext cx="233172" cy="310896"/>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1161288" y="2923794"/>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1288" y="2978658"/>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1288" y="3033522"/>
              <a:ext cx="86868"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25296" y="3111246"/>
              <a:ext cx="32004" cy="29260"/>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7300" y="3059125"/>
              <a:ext cx="91440" cy="81381"/>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sp>
          <p:nvSpPr>
            <p:cNvPr id="46" name="Contribution 2 text"/>
            <p:cNvSpPr txBox="1"/>
            <p:nvPr/>
          </p:nvSpPr>
          <p:spPr>
            <a:xfrm>
              <a:off x="1499616" y="2759532"/>
              <a:ext cx="9473184" cy="644652"/>
            </a:xfrm>
            <a:prstGeom prst="rect">
              <a:avLst/>
            </a:prstGeom>
            <a:noFill/>
          </p:spPr>
          <p:txBody>
            <a:bodyPr wrap="none" lIns="0" tIns="0" rIns="0" bIns="0" anchor="ctr">
              <a:noAutofit/>
            </a:bodyPr>
            <a:lstStyle/>
            <a:p>
              <a:pPr>
                <a:lnSpc>
                  <a:spcPts val="2360"/>
                </a:lnSpc>
              </a:pPr>
              <a:r>
                <a:rPr lang="en-US" sz="1900" dirty="0">
                  <a:solidFill>
                    <a:srgbClr val="103646"/>
                  </a:solidFill>
                </a:rPr>
                <a:t>This research proposes a multi-party </a:t>
              </a:r>
              <a:r>
                <a:rPr lang="en-US" sz="1900" dirty="0" err="1">
                  <a:solidFill>
                    <a:srgbClr val="103646"/>
                  </a:solidFill>
                </a:rPr>
                <a:t>authorisation</a:t>
              </a:r>
              <a:r>
                <a:rPr lang="en-US" sz="1900" dirty="0">
                  <a:solidFill>
                    <a:srgbClr val="103646"/>
                  </a:solidFill>
                </a:rPr>
                <a:t> mechanism that requires approval from </a:t>
              </a:r>
              <a:endParaRPr lang="ar-SA" sz="1900" dirty="0">
                <a:solidFill>
                  <a:srgbClr val="103646"/>
                </a:solidFill>
              </a:endParaRPr>
            </a:p>
            <a:p>
              <a:pPr>
                <a:lnSpc>
                  <a:spcPts val="2360"/>
                </a:lnSpc>
              </a:pPr>
              <a:r>
                <a:rPr lang="en-US" sz="1900" dirty="0">
                  <a:solidFill>
                    <a:srgbClr val="103646"/>
                  </a:solidFill>
                </a:rPr>
                <a:t>multiple verified participants before granting healthcare data access, where collective consent is required</a:t>
              </a:r>
              <a:r>
                <a:rPr lang="en-AU" sz="1900" b="0" dirty="0">
                  <a:solidFill>
                    <a:srgbClr val="103646"/>
                  </a:solidFill>
                  <a:latin typeface="Calibri"/>
                </a:rPr>
                <a:t>.</a:t>
              </a:r>
            </a:p>
          </p:txBody>
        </p:sp>
      </p:grpSp>
      <p:grpSp>
        <p:nvGrpSpPr>
          <p:cNvPr id="6" name="Scientific contribution 3: Identity and authority verification"/>
          <p:cNvGrpSpPr/>
          <p:nvPr/>
        </p:nvGrpSpPr>
        <p:grpSpPr>
          <a:xfrm>
            <a:off x="691251" y="3669030"/>
            <a:ext cx="10515600" cy="781812"/>
            <a:chOff x="802464" y="3669030"/>
            <a:chExt cx="10515600" cy="781812"/>
          </a:xfrm>
        </p:grpSpPr>
        <p:sp>
          <p:nvSpPr>
            <p:cNvPr id="47" name="Contribution 3 card"/>
            <p:cNvSpPr/>
            <p:nvPr/>
          </p:nvSpPr>
          <p:spPr>
            <a:xfrm>
              <a:off x="802464" y="366903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78408" y="372202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056132" y="3787902"/>
              <a:ext cx="338328" cy="251460"/>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01852" y="3842765"/>
              <a:ext cx="59436" cy="5943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81637" y="3995209"/>
              <a:ext cx="77724" cy="59436"/>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220724" y="386654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0724" y="392689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20724" y="3987241"/>
              <a:ext cx="86868"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sp>
          <p:nvSpPr>
            <p:cNvPr id="55" name="Contribution 3 text"/>
            <p:cNvSpPr txBox="1"/>
            <p:nvPr/>
          </p:nvSpPr>
          <p:spPr>
            <a:xfrm>
              <a:off x="1559052" y="3717036"/>
              <a:ext cx="9473184" cy="644652"/>
            </a:xfrm>
            <a:prstGeom prst="rect">
              <a:avLst/>
            </a:prstGeom>
            <a:noFill/>
          </p:spPr>
          <p:txBody>
            <a:bodyPr wrap="none" lIns="0" tIns="0" rIns="0" bIns="0" anchor="ctr">
              <a:noAutofit/>
            </a:bodyPr>
            <a:lstStyle/>
            <a:p>
              <a:pPr>
                <a:lnSpc>
                  <a:spcPts val="2360"/>
                </a:lnSpc>
              </a:pPr>
              <a:r>
                <a:rPr lang="en-US" sz="1900" dirty="0">
                  <a:solidFill>
                    <a:srgbClr val="103646"/>
                  </a:solidFill>
                </a:rPr>
                <a:t> This research proposes a trust-aware </a:t>
              </a:r>
              <a:r>
                <a:rPr lang="en-US" sz="1900" dirty="0" err="1">
                  <a:solidFill>
                    <a:srgbClr val="103646"/>
                  </a:solidFill>
                </a:rPr>
                <a:t>authorisation</a:t>
              </a:r>
              <a:r>
                <a:rPr lang="en-US" sz="1900" dirty="0">
                  <a:solidFill>
                    <a:srgbClr val="103646"/>
                  </a:solidFill>
                </a:rPr>
                <a:t> approach that evaluates identity, authority,</a:t>
              </a:r>
              <a:endParaRPr lang="ar-SA" sz="1900" dirty="0">
                <a:solidFill>
                  <a:srgbClr val="103646"/>
                </a:solidFill>
              </a:endParaRPr>
            </a:p>
            <a:p>
              <a:pPr>
                <a:lnSpc>
                  <a:spcPts val="2360"/>
                </a:lnSpc>
              </a:pPr>
              <a:r>
                <a:rPr lang="en-US" sz="1900" dirty="0">
                  <a:solidFill>
                    <a:srgbClr val="103646"/>
                  </a:solidFill>
                </a:rPr>
                <a:t> collective approval, and policy compliance when determining healthcare data-access permissions</a:t>
              </a:r>
              <a:r>
                <a:rPr lang="en-AU" sz="1900" b="0" dirty="0">
                  <a:solidFill>
                    <a:srgbClr val="103646"/>
                  </a:solidFill>
                  <a:latin typeface="Calibri"/>
                </a:rPr>
                <a:t>.</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RESEARCH CONTRIBUTIONS</a:t>
            </a:r>
            <a:r>
              <a:rPr lang="ar-SA" dirty="0"/>
              <a:t> </a:t>
            </a:r>
            <a:endParaRPr lang="en-US" dirty="0"/>
          </a:p>
        </p:txBody>
      </p:sp>
      <p:sp>
        <p:nvSpPr>
          <p:cNvPr id="4" name="soc heading"/>
          <p:cNvSpPr txBox="1"/>
          <p:nvPr/>
        </p:nvSpPr>
        <p:spPr>
          <a:xfrm>
            <a:off x="822960" y="1051560"/>
            <a:ext cx="10515600" cy="457200"/>
          </a:xfrm>
          <a:prstGeom prst="rect">
            <a:avLst/>
          </a:prstGeom>
          <a:noFill/>
          <a:ln/>
        </p:spPr>
        <p:txBody>
          <a:bodyPr wrap="square" rtlCol="0" anchor="ctr"/>
          <a:lstStyle/>
          <a:p>
            <a:pPr marL="0" indent="0">
              <a:buNone/>
            </a:pPr>
            <a:r>
              <a:rPr lang="en-US" sz="2200" b="1" i="1" dirty="0">
                <a:solidFill>
                  <a:srgbClr val="1FB5D6"/>
                </a:solidFill>
              </a:rPr>
              <a:t>Social Contributions</a:t>
            </a:r>
            <a:endParaRPr lang="en-US" sz="2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42</a:t>
            </a:fld>
            <a:endParaRPr lang="en-US"/>
          </a:p>
        </p:txBody>
      </p:sp>
      <p:grpSp>
        <p:nvGrpSpPr>
          <p:cNvPr id="3" name="Scientific contribution 1: Integrated authorisation framework"/>
          <p:cNvGrpSpPr/>
          <p:nvPr/>
        </p:nvGrpSpPr>
        <p:grpSpPr>
          <a:xfrm>
            <a:off x="822960" y="1737360"/>
            <a:ext cx="10515600" cy="932688"/>
            <a:chOff x="822960" y="1700784"/>
            <a:chExt cx="10515600" cy="781812"/>
          </a:xfrm>
        </p:grpSpPr>
        <p:sp>
          <p:nvSpPr>
            <p:cNvPr id="26" name="Contribution 1 card"/>
            <p:cNvSpPr/>
            <p:nvPr/>
          </p:nvSpPr>
          <p:spPr>
            <a:xfrm>
              <a:off x="822960" y="1700784"/>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2980" y="1849374"/>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H="1" flipV="1">
              <a:off x="1101852" y="1968246"/>
              <a:ext cx="123444"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60704"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225296" y="1968246"/>
              <a:ext cx="114300"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298448"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1101852" y="2091690"/>
              <a:ext cx="123444"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0704"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225296" y="2091690"/>
              <a:ext cx="114300"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298448"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167688" y="2034082"/>
              <a:ext cx="115214" cy="115214"/>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ntribution 1 text"/>
            <p:cNvSpPr txBox="1"/>
            <p:nvPr/>
          </p:nvSpPr>
          <p:spPr>
            <a:xfrm>
              <a:off x="1627632" y="1769364"/>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This research aims to help patients and their guardians manage consent for sharing sensitive healthcare information, supporting greater control over healthcare data access</a:t>
              </a:r>
              <a:r>
                <a:rPr dirty="0"/>
                <a:t>.</a:t>
              </a:r>
            </a:p>
          </p:txBody>
        </p:sp>
      </p:grpSp>
      <p:grpSp>
        <p:nvGrpSpPr>
          <p:cNvPr id="5" name="Scientific contribution 2: Evaluable consent model"/>
          <p:cNvGrpSpPr/>
          <p:nvPr/>
        </p:nvGrpSpPr>
        <p:grpSpPr>
          <a:xfrm>
            <a:off x="822960" y="2852928"/>
            <a:ext cx="10515600" cy="932688"/>
            <a:chOff x="822960" y="2610612"/>
            <a:chExt cx="10515600" cy="781812"/>
          </a:xfrm>
        </p:grpSpPr>
        <p:sp>
          <p:nvSpPr>
            <p:cNvPr id="38" name="Contribution 2 card"/>
            <p:cNvSpPr/>
            <p:nvPr/>
          </p:nvSpPr>
          <p:spPr>
            <a:xfrm>
              <a:off x="822960" y="2610612"/>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82980" y="275920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15568" y="2846070"/>
              <a:ext cx="233172" cy="310896"/>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1161288" y="2923794"/>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1288" y="2978658"/>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1288" y="3033522"/>
              <a:ext cx="86868"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25296" y="3111246"/>
              <a:ext cx="32004" cy="29260"/>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7300" y="3059125"/>
              <a:ext cx="91440" cy="81381"/>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sp>
          <p:nvSpPr>
            <p:cNvPr id="46" name="Contribution 2 text"/>
            <p:cNvSpPr txBox="1"/>
            <p:nvPr/>
          </p:nvSpPr>
          <p:spPr>
            <a:xfrm>
              <a:off x="1627632" y="2679192"/>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This research aims to support patient privacy by restricting healthcare data access according to </a:t>
              </a:r>
              <a:r>
                <a:rPr lang="en-US" dirty="0" err="1"/>
                <a:t>authorised</a:t>
              </a:r>
              <a:r>
                <a:rPr lang="en-US" dirty="0"/>
                <a:t> purposes and data scopes</a:t>
              </a:r>
              <a:r>
                <a:rPr dirty="0"/>
                <a:t>.</a:t>
              </a:r>
            </a:p>
          </p:txBody>
        </p:sp>
      </p:grpSp>
      <p:grpSp>
        <p:nvGrpSpPr>
          <p:cNvPr id="6" name="Scientific contribution 3: Identity and authority verification"/>
          <p:cNvGrpSpPr/>
          <p:nvPr/>
        </p:nvGrpSpPr>
        <p:grpSpPr>
          <a:xfrm>
            <a:off x="822960" y="3968496"/>
            <a:ext cx="10515600" cy="932688"/>
            <a:chOff x="822960" y="3520440"/>
            <a:chExt cx="10515600" cy="781812"/>
          </a:xfrm>
        </p:grpSpPr>
        <p:sp>
          <p:nvSpPr>
            <p:cNvPr id="47" name="Contribution 3 card"/>
            <p:cNvSpPr/>
            <p:nvPr/>
          </p:nvSpPr>
          <p:spPr>
            <a:xfrm>
              <a:off x="822960" y="352044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82980" y="3669030"/>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056132" y="3787902"/>
              <a:ext cx="338328" cy="251460"/>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01852" y="3842765"/>
              <a:ext cx="59436" cy="5943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92708" y="3920489"/>
              <a:ext cx="77724" cy="59436"/>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220724" y="386654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0724" y="392689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20724" y="3987241"/>
              <a:ext cx="86868"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sp>
          <p:nvSpPr>
            <p:cNvPr id="55" name="Contribution 3 text"/>
            <p:cNvSpPr txBox="1"/>
            <p:nvPr/>
          </p:nvSpPr>
          <p:spPr>
            <a:xfrm>
              <a:off x="1627632" y="3589020"/>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 This research aims to support transparency and accountability in healthcare data sharing by providing verifiable records of consent activities and access decisions</a:t>
              </a:r>
              <a:r>
                <a:rPr dirty="0"/>
                <a:t>.</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PUBLICATIONS</a:t>
            </a:r>
            <a:endParaRPr lang="en-US" sz="3000" dirty="0"/>
          </a:p>
        </p:txBody>
      </p:sp>
      <p:graphicFrame>
        <p:nvGraphicFramePr>
          <p:cNvPr id="35" name="publications table"/>
          <p:cNvGraphicFramePr>
            <a:graphicFrameLocks noGrp="1"/>
          </p:cNvGraphicFramePr>
          <p:nvPr>
            <p:extLst>
              <p:ext uri="{D42A27DB-BD31-4B8C-83A1-F6EECF244321}">
                <p14:modId xmlns:p14="http://schemas.microsoft.com/office/powerpoint/2010/main" val="3553027848"/>
              </p:ext>
            </p:extLst>
          </p:nvPr>
        </p:nvGraphicFramePr>
        <p:xfrm>
          <a:off x="548640" y="1234440"/>
          <a:ext cx="11064240" cy="4663440"/>
        </p:xfrm>
        <a:graphic>
          <a:graphicData uri="http://schemas.openxmlformats.org/drawingml/2006/table">
            <a:tbl>
              <a:tblPr/>
              <a:tblGrid>
                <a:gridCol w="4572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777240">
                <a:tc>
                  <a:txBody>
                    <a:bodyPr/>
                    <a:lstStyle/>
                    <a:p>
                      <a:pPr marL="0" indent="0" algn="ctr">
                        <a:buNone/>
                      </a:pPr>
                      <a:r>
                        <a:rPr lang="en-US" sz="1400" b="1" dirty="0">
                          <a:solidFill>
                            <a:srgbClr val="FFFFFF"/>
                          </a:solidFill>
                        </a:rPr>
                        <a:t>#</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Title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Venue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Year</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lgn="ctr">
                        <a:buNone/>
                      </a:pPr>
                      <a:r>
                        <a:rPr lang="en-US" sz="1400" b="1" dirty="0">
                          <a:solidFill>
                            <a:srgbClr val="0B1F33"/>
                          </a:solidFill>
                        </a:rPr>
                        <a:t>1</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Blockchain-Based Framework for Evaluating User Identity Trustworthiness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 IEEE International Conference on E-Business Engineering (ICEBE)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Published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ctr">
                        <a:buNone/>
                      </a:pPr>
                      <a:r>
                        <a:rPr lang="en-US" sz="1400" b="1" dirty="0">
                          <a:solidFill>
                            <a:srgbClr val="0B1F33"/>
                          </a:solidFill>
                        </a:rPr>
                        <a:t>2</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Blockchain-Based Reputation Borrowing Model to Address the Cold Start Problem for New Users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 IEEE International Conference on E-Business Engineering (ICEBE)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Published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ctr">
                        <a:buNone/>
                      </a:pPr>
                      <a:r>
                        <a:rPr lang="en-US" sz="1400" b="1" dirty="0">
                          <a:solidFill>
                            <a:srgbClr val="0B1F33"/>
                          </a:solidFill>
                        </a:rPr>
                        <a:t>3</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Smart Contract-Governed Lifecycle Protocol for Reputation Borrowing in Blockchain-Based Real Estate Platforms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ICEBE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ctr">
                        <a:buNone/>
                      </a:pPr>
                      <a:r>
                        <a:rPr lang="en-US" sz="1400" b="1" dirty="0">
                          <a:solidFill>
                            <a:srgbClr val="0B1F33"/>
                          </a:solidFill>
                        </a:rPr>
                        <a:t>4</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Trusted Multi-Party Consent Governance Framework for Decentralized Multi-Stakeholder Data Sharing</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BWCCA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ctr">
                        <a:buNone/>
                      </a:pPr>
                      <a:r>
                        <a:rPr lang="en-US" sz="1400" b="1" dirty="0">
                          <a:solidFill>
                            <a:srgbClr val="0B1F33"/>
                          </a:solidFill>
                        </a:rPr>
                        <a:t>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Blockchain-Based Reputation Provenance Tracing for Newcomer Bootstrapping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BWCCA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455243537"/>
              </p:ext>
            </p:extLst>
          </p:nvPr>
        </p:nvGraphicFramePr>
        <p:xfrm>
          <a:off x="731521" y="957649"/>
          <a:ext cx="10846759" cy="5772912"/>
        </p:xfrm>
        <a:graphic>
          <a:graphicData uri="http://schemas.openxmlformats.org/drawingml/2006/table">
            <a:tbl>
              <a:tblPr/>
              <a:tblGrid>
                <a:gridCol w="1761439">
                  <a:extLst>
                    <a:ext uri="{9D8B030D-6E8A-4147-A177-3AD203B41FA5}">
                      <a16:colId xmlns:a16="http://schemas.microsoft.com/office/drawing/2014/main" val="20000"/>
                    </a:ext>
                  </a:extLst>
                </a:gridCol>
                <a:gridCol w="6118684">
                  <a:extLst>
                    <a:ext uri="{9D8B030D-6E8A-4147-A177-3AD203B41FA5}">
                      <a16:colId xmlns:a16="http://schemas.microsoft.com/office/drawing/2014/main" val="20001"/>
                    </a:ext>
                  </a:extLst>
                </a:gridCol>
                <a:gridCol w="1247188">
                  <a:extLst>
                    <a:ext uri="{9D8B030D-6E8A-4147-A177-3AD203B41FA5}">
                      <a16:colId xmlns:a16="http://schemas.microsoft.com/office/drawing/2014/main" val="20002"/>
                    </a:ext>
                  </a:extLst>
                </a:gridCol>
                <a:gridCol w="1719448">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Task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Description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Target date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0B1F33"/>
                          </a:solidFill>
                        </a:rPr>
                        <a:t>Chapters 1–4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Introduction, SLR, Research Questions and Objectives, Research Methodology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Completed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0B1F33"/>
                          </a:solidFill>
                        </a:rPr>
                        <a:t>Chapter 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Research Architecture (MVC) and framework design</a:t>
                      </a:r>
                      <a:r>
                        <a:rPr lang="ar-SA" sz="1400" dirty="0">
                          <a:solidFill>
                            <a:srgbClr val="0B1F33"/>
                          </a:solidFill>
                        </a:rPr>
                        <a:t> </a:t>
                      </a:r>
                      <a:r>
                        <a:rPr lang="en-US" sz="1400" dirty="0">
                          <a:solidFill>
                            <a:srgbClr val="0B1F33"/>
                          </a:solidFill>
                        </a:rPr>
                        <a:t>and Proposed solution for RO2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May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0B1F33"/>
                          </a:solidFill>
                        </a:rPr>
                        <a:t>Chapter 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Proposed solution for RO3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Jul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rgbClr val="0B1F33"/>
                          </a:solidFill>
                        </a:rPr>
                        <a:t>Publication 1</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Conference paper submission, BWCCA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Sep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Proposed solution for RO4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Sep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 </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FF0000"/>
                          </a:solidFill>
                        </a:rPr>
                        <a:t>Publication 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SLR paper journal 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Oct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t>Ready for </a:t>
                      </a:r>
                      <a:r>
                        <a:rPr lang="en-US" sz="1400" dirty="0">
                          <a:solidFill>
                            <a:srgbClr val="0B1F33"/>
                          </a:solidFill>
                        </a:rPr>
                        <a:t>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8</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Proposed solution for RO5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Nov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 progress </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t>Conclusion and Future work</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Dec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Publication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Journal paper on formal security assurance, lifecycle trust and the evaluation of HALAH</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Jan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4141386650"/>
                  </a:ext>
                </a:extLst>
              </a:tr>
              <a:tr h="457200">
                <a:tc>
                  <a:txBody>
                    <a:bodyPr/>
                    <a:lstStyle/>
                    <a:p>
                      <a:pPr marL="0" indent="0" algn="ctr">
                        <a:buNone/>
                      </a:pPr>
                      <a:r>
                        <a:rPr lang="en-US" sz="1400" b="1" dirty="0">
                          <a:solidFill>
                            <a:srgbClr val="0B1F33"/>
                          </a:solidFill>
                        </a:rPr>
                        <a:t>Final assessment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Candidature Assessment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Feb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57200">
                <a:tc>
                  <a:txBody>
                    <a:bodyPr/>
                    <a:lstStyle/>
                    <a:p>
                      <a:pPr marL="0" indent="0" algn="ctr">
                        <a:buNone/>
                      </a:pPr>
                      <a:r>
                        <a:rPr lang="en-US" sz="1400" b="1" dirty="0">
                          <a:solidFill>
                            <a:srgbClr val="0B1F33"/>
                          </a:solidFill>
                        </a:rPr>
                        <a:t>Thesis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Complete thesis 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May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plan" descr="/tmp/deck/img/Fplan.png"/>
          <p:cNvPicPr>
            <a:picLocks noChangeAspect="1"/>
          </p:cNvPicPr>
          <p:nvPr/>
        </p:nvPicPr>
        <p:blipFill>
          <a:blip r:embed="rId3"/>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REFERENCES</a:t>
            </a:r>
            <a:endParaRPr lang="en-US" sz="3000" dirty="0"/>
          </a:p>
        </p:txBody>
      </p:sp>
      <p:sp>
        <p:nvSpPr>
          <p:cNvPr id="4" name="references panel"/>
          <p:cNvSpPr/>
          <p:nvPr/>
        </p:nvSpPr>
        <p:spPr>
          <a:xfrm>
            <a:off x="640080" y="1051560"/>
            <a:ext cx="10881360" cy="5577840"/>
          </a:xfrm>
          <a:prstGeom prst="roundRect">
            <a:avLst>
              <a:gd name="adj" fmla="val 208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sp>
        <p:nvSpPr>
          <p:cNvPr id="5" name="reference list"/>
          <p:cNvSpPr txBox="1"/>
          <p:nvPr/>
        </p:nvSpPr>
        <p:spPr>
          <a:xfrm>
            <a:off x="822960" y="1142999"/>
            <a:ext cx="10515600" cy="5408407"/>
          </a:xfrm>
          <a:prstGeom prst="rect">
            <a:avLst/>
          </a:prstGeom>
          <a:noFill/>
          <a:ln/>
        </p:spPr>
        <p:txBody>
          <a:bodyPr wrap="square" rtlCol="0" anchor="t"/>
          <a:lstStyle/>
          <a:p>
            <a:pPr>
              <a:spcAft>
                <a:spcPts val="1200"/>
              </a:spcAft>
            </a:pPr>
            <a:r>
              <a:rPr lang="en-US" sz="1400" dirty="0">
                <a:solidFill>
                  <a:srgbClr val="0B1F33"/>
                </a:solidFill>
              </a:rPr>
              <a:t>Bloemen, R., </a:t>
            </a:r>
            <a:r>
              <a:rPr lang="en-US" sz="1400" dirty="0" err="1">
                <a:solidFill>
                  <a:srgbClr val="0B1F33"/>
                </a:solidFill>
              </a:rPr>
              <a:t>Logvinov</a:t>
            </a:r>
            <a:r>
              <a:rPr lang="en-US" sz="1400" dirty="0">
                <a:solidFill>
                  <a:srgbClr val="0B1F33"/>
                </a:solidFill>
              </a:rPr>
              <a:t>, L. &amp; Evans, J. 2017, </a:t>
            </a:r>
            <a:r>
              <a:rPr lang="en-US" sz="1400" i="1" dirty="0">
                <a:solidFill>
                  <a:srgbClr val="0B1F33"/>
                </a:solidFill>
              </a:rPr>
              <a:t>EIP-712: Typed structured data hashing and signing</a:t>
            </a:r>
            <a:r>
              <a:rPr lang="en-US" sz="1400" dirty="0">
                <a:solidFill>
                  <a:srgbClr val="0B1F33"/>
                </a:solidFill>
              </a:rPr>
              <a:t>, Ethereum Improvement Proposals, no. 712, viewed 6 October 2026, https://eips.ethereum.org/EIPS/eip-712.</a:t>
            </a:r>
            <a:endParaRPr lang="en-US" sz="1400" dirty="0"/>
          </a:p>
          <a:p>
            <a:pPr>
              <a:spcAft>
                <a:spcPts val="1200"/>
              </a:spcAft>
            </a:pPr>
            <a:r>
              <a:rPr lang="en-US" sz="1400" dirty="0" err="1">
                <a:solidFill>
                  <a:srgbClr val="0B1F33"/>
                </a:solidFill>
              </a:rPr>
              <a:t>Groth</a:t>
            </a:r>
            <a:r>
              <a:rPr lang="en-US" sz="1400" dirty="0">
                <a:solidFill>
                  <a:srgbClr val="0B1F33"/>
                </a:solidFill>
              </a:rPr>
              <a:t>, J. 2016, 'On the size of pairing-based non-interactive arguments', </a:t>
            </a:r>
            <a:r>
              <a:rPr lang="en-US" sz="1400" i="1" dirty="0">
                <a:solidFill>
                  <a:srgbClr val="0B1F33"/>
                </a:solidFill>
              </a:rPr>
              <a:t>Advances in Cryptology – EUROCRYPT 2016, LNCS</a:t>
            </a:r>
            <a:r>
              <a:rPr lang="en-US" sz="1400" dirty="0">
                <a:solidFill>
                  <a:srgbClr val="0B1F33"/>
                </a:solidFill>
              </a:rPr>
              <a:t>, vol. 9666, pp. 305–326, Springer, https://doi.org/10.1007/978-3-662-49896-5_11.</a:t>
            </a:r>
            <a:endParaRPr lang="en-US" sz="1400" dirty="0"/>
          </a:p>
          <a:p>
            <a:pPr>
              <a:spcAft>
                <a:spcPts val="1200"/>
              </a:spcAft>
            </a:pPr>
            <a:r>
              <a:rPr lang="en-US" sz="1400" dirty="0">
                <a:solidFill>
                  <a:srgbClr val="0B1F33"/>
                </a:solidFill>
              </a:rPr>
              <a:t>Page, M.J., McKenzie, J.E., Bossuyt, P.M., </a:t>
            </a:r>
            <a:r>
              <a:rPr lang="en-US" sz="1400" dirty="0" err="1">
                <a:solidFill>
                  <a:srgbClr val="0B1F33"/>
                </a:solidFill>
              </a:rPr>
              <a:t>Boutron</a:t>
            </a:r>
            <a:r>
              <a:rPr lang="en-US" sz="1400" dirty="0">
                <a:solidFill>
                  <a:srgbClr val="0B1F33"/>
                </a:solidFill>
              </a:rPr>
              <a:t>, I., Hoffmann, T.C., Mulrow, C.D. et al. 2021, 'The PRISMA 2020 statement: An updated guideline for reporting systematic reviews', </a:t>
            </a:r>
            <a:r>
              <a:rPr lang="en-US" sz="1400" i="1" dirty="0">
                <a:solidFill>
                  <a:srgbClr val="0B1F33"/>
                </a:solidFill>
              </a:rPr>
              <a:t>BMJ</a:t>
            </a:r>
            <a:r>
              <a:rPr lang="en-US" sz="1400" dirty="0">
                <a:solidFill>
                  <a:srgbClr val="0B1F33"/>
                </a:solidFill>
              </a:rPr>
              <a:t>, vol. 372, p. n71, https://doi.org/10.1136/bmj.n71.</a:t>
            </a:r>
            <a:endParaRPr lang="en-US" sz="1400" dirty="0"/>
          </a:p>
          <a:p>
            <a:pPr>
              <a:spcAft>
                <a:spcPts val="1200"/>
              </a:spcAft>
            </a:pPr>
            <a:r>
              <a:rPr lang="en-AU" sz="1400" dirty="0">
                <a:solidFill>
                  <a:srgbClr val="FF0000"/>
                </a:solidFill>
              </a:rPr>
              <a:t>Peffers, K., </a:t>
            </a:r>
            <a:r>
              <a:rPr lang="en-AU" sz="1400" dirty="0" err="1">
                <a:solidFill>
                  <a:srgbClr val="FF0000"/>
                </a:solidFill>
              </a:rPr>
              <a:t>Tuunanen</a:t>
            </a:r>
            <a:r>
              <a:rPr lang="en-AU" sz="1400" dirty="0">
                <a:solidFill>
                  <a:srgbClr val="FF0000"/>
                </a:solidFill>
              </a:rPr>
              <a:t>, T., Rothenberger, M.A. &amp; Chatterjee, S. 2007, ‘A design science research methodology for information systems research’, </a:t>
            </a:r>
            <a:r>
              <a:rPr lang="en-AU" sz="1400" i="1" dirty="0">
                <a:solidFill>
                  <a:srgbClr val="FF0000"/>
                </a:solidFill>
              </a:rPr>
              <a:t>Journal of Management Information Systems</a:t>
            </a:r>
            <a:r>
              <a:rPr lang="en-AU" sz="1400" dirty="0">
                <a:solidFill>
                  <a:srgbClr val="FF0000"/>
                </a:solidFill>
              </a:rPr>
              <a:t>, vol. 24, no. 3, pp. 45–77, </a:t>
            </a:r>
            <a:r>
              <a:rPr lang="en-AU" sz="1400" dirty="0">
                <a:solidFill>
                  <a:srgbClr val="FF0000"/>
                </a:solidFill>
                <a:hlinkClick r:id="rId3">
                  <a:extLst>
                    <a:ext uri="{A12FA001-AC4F-418D-AE19-62706E023703}">
                      <ahyp:hlinkClr xmlns:ahyp="http://schemas.microsoft.com/office/drawing/2018/hyperlinkcolor" val="tx"/>
                    </a:ext>
                  </a:extLst>
                </a:hlinkClick>
              </a:rPr>
              <a:t>https://doi.org/10.2753/MIS0742-1222240302</a:t>
            </a:r>
            <a:r>
              <a:rPr lang="en-AU" sz="1400" dirty="0">
                <a:solidFill>
                  <a:srgbClr val="FF0000"/>
                </a:solidFill>
              </a:rPr>
              <a:t>.</a:t>
            </a:r>
            <a:endParaRPr lang="en-US" sz="1400" dirty="0"/>
          </a:p>
          <a:p>
            <a:pPr>
              <a:spcAft>
                <a:spcPts val="1200"/>
              </a:spcAft>
            </a:pPr>
            <a:r>
              <a:rPr lang="en-US" sz="1400" dirty="0" err="1">
                <a:solidFill>
                  <a:srgbClr val="0B1F33"/>
                </a:solidFill>
              </a:rPr>
              <a:t>Walonoski</a:t>
            </a:r>
            <a:r>
              <a:rPr lang="en-US" sz="1400" dirty="0">
                <a:solidFill>
                  <a:srgbClr val="0B1F33"/>
                </a:solidFill>
              </a:rPr>
              <a:t>, J., Kramer, M., Nichols, J., Quina, A., </a:t>
            </a:r>
            <a:r>
              <a:rPr lang="en-US" sz="1400" dirty="0" err="1">
                <a:solidFill>
                  <a:srgbClr val="0B1F33"/>
                </a:solidFill>
              </a:rPr>
              <a:t>Moesel</a:t>
            </a:r>
            <a:r>
              <a:rPr lang="en-US" sz="1400" dirty="0">
                <a:solidFill>
                  <a:srgbClr val="0B1F33"/>
                </a:solidFill>
              </a:rPr>
              <a:t>, C., Hall, D. et al. 2018, 'Synthea: An approach, method, and software mechanism for generating synthetic patients and the synthetic electronic health care record', </a:t>
            </a:r>
            <a:r>
              <a:rPr lang="en-US" sz="1400" i="1" dirty="0">
                <a:solidFill>
                  <a:srgbClr val="0B1F33"/>
                </a:solidFill>
              </a:rPr>
              <a:t>Journal of the American Medical Informatics Association</a:t>
            </a:r>
            <a:r>
              <a:rPr lang="en-US" sz="1400" dirty="0">
                <a:solidFill>
                  <a:srgbClr val="0B1F33"/>
                </a:solidFill>
              </a:rPr>
              <a:t>, vol. 25, no. 3, pp. 230–238, https://doi.org/10.1093/jamia/ocx079.</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
            <a:extLst>
              <a:ext uri="{FF2B5EF4-FFF2-40B4-BE49-F238E27FC236}">
                <a16:creationId xmlns:a16="http://schemas.microsoft.com/office/drawing/2014/main" id="{D16AD3D1-B49B-01BC-1F53-EAB1ACB89F1F}"/>
              </a:ext>
            </a:extLst>
          </p:cNvPr>
          <p:cNvGraphicFramePr>
            <a:graphicFrameLocks noGrp="1"/>
          </p:cNvGraphicFramePr>
          <p:nvPr>
            <p:extLst>
              <p:ext uri="{D42A27DB-BD31-4B8C-83A1-F6EECF244321}">
                <p14:modId xmlns:p14="http://schemas.microsoft.com/office/powerpoint/2010/main" val="3668971500"/>
              </p:ext>
            </p:extLst>
          </p:nvPr>
        </p:nvGraphicFramePr>
        <p:xfrm>
          <a:off x="640080" y="1280160"/>
          <a:ext cx="10881360" cy="4930000"/>
        </p:xfrm>
        <a:graphic>
          <a:graphicData uri="http://schemas.openxmlformats.org/drawingml/2006/table">
            <a:tbl>
              <a:tblPr/>
              <a:tblGrid>
                <a:gridCol w="1700000">
                  <a:extLst>
                    <a:ext uri="{9D8B030D-6E8A-4147-A177-3AD203B41FA5}">
                      <a16:colId xmlns:a16="http://schemas.microsoft.com/office/drawing/2014/main" val="20000"/>
                    </a:ext>
                  </a:extLst>
                </a:gridCol>
                <a:gridCol w="2900000">
                  <a:extLst>
                    <a:ext uri="{9D8B030D-6E8A-4147-A177-3AD203B41FA5}">
                      <a16:colId xmlns:a16="http://schemas.microsoft.com/office/drawing/2014/main" val="20001"/>
                    </a:ext>
                  </a:extLst>
                </a:gridCol>
                <a:gridCol w="6281360">
                  <a:extLst>
                    <a:ext uri="{9D8B030D-6E8A-4147-A177-3AD203B41FA5}">
                      <a16:colId xmlns:a16="http://schemas.microsoft.com/office/drawing/2014/main" val="20002"/>
                    </a:ext>
                  </a:extLst>
                </a:gridCol>
              </a:tblGrid>
              <a:tr h="520000">
                <a:tc>
                  <a:txBody>
                    <a:bodyPr/>
                    <a:lstStyle/>
                    <a:p>
                      <a:pPr marL="0" indent="0" algn="ctr">
                        <a:buNone/>
                      </a:pPr>
                      <a:r>
                        <a:rPr lang="en-US" sz="1400" b="1" dirty="0">
                          <a:solidFill>
                            <a:srgbClr val="FFFFFF"/>
                          </a:solidFill>
                        </a:rPr>
                        <a:t>Type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What it means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Used in HALAH</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630000">
                <a:tc>
                  <a:txBody>
                    <a:bodyPr/>
                    <a:lstStyle/>
                    <a:p>
                      <a:pPr marL="0" indent="0" algn="ctr">
                        <a:buNone/>
                      </a:pPr>
                      <a:r>
                        <a:rPr lang="en-US" sz="1200" b="1" dirty="0">
                          <a:solidFill>
                            <a:srgbClr val="0B1F33"/>
                          </a:solidFill>
                        </a:rPr>
                        <a:t>Language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Used to write the code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Python (the system), circom (the proof circuit)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0000">
                <a:tc>
                  <a:txBody>
                    <a:bodyPr/>
                    <a:lstStyle/>
                    <a:p>
                      <a:pPr marL="0" indent="0" algn="ctr">
                        <a:buNone/>
                      </a:pPr>
                      <a:r>
                        <a:rPr lang="en-US" sz="1200" b="1" dirty="0">
                          <a:solidFill>
                            <a:srgbClr val="0B1F33"/>
                          </a:solidFill>
                        </a:rPr>
                        <a:t>Platform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Where the system runs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GitHub Codespaces (Linux cloud), Python 3.11 and Node.js 20 runtimes, web browser</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0000">
                <a:tc>
                  <a:txBody>
                    <a:bodyPr/>
                    <a:lstStyle/>
                    <a:p>
                      <a:pPr marL="0" indent="0" algn="ctr">
                        <a:buNone/>
                      </a:pPr>
                      <a:r>
                        <a:rPr lang="en-US" sz="1200" b="1" dirty="0">
                          <a:solidFill>
                            <a:srgbClr val="0B1F33"/>
                          </a:solidFill>
                        </a:rPr>
                        <a:t>Tool</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Software used to build, run or test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Streamlit (interface), SQLite (database), snarkjs (proof), pytest (46 tests), Playwright (screen runs)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0000">
                <a:tc>
                  <a:txBody>
                    <a:bodyPr/>
                    <a:lstStyle/>
                    <a:p>
                      <a:pPr marL="0" indent="0" algn="ctr">
                        <a:buNone/>
                      </a:pPr>
                      <a:r>
                        <a:rPr lang="en-US" sz="1200" b="1" dirty="0">
                          <a:solidFill>
                            <a:srgbClr val="0B1F33"/>
                          </a:solidFill>
                        </a:rPr>
                        <a:t>Library</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Ready-made code inside the system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pandas, eth-account, circomlib</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0000">
                <a:tc>
                  <a:txBody>
                    <a:bodyPr/>
                    <a:lstStyle/>
                    <a:p>
                      <a:pPr marL="0" indent="0" algn="ctr">
                        <a:buNone/>
                      </a:pPr>
                      <a:r>
                        <a:rPr lang="en-US" sz="1200" b="1" dirty="0">
                          <a:solidFill>
                            <a:srgbClr val="0B1F33"/>
                          </a:solidFill>
                        </a:rPr>
                        <a:t>Protocol / standard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Agreed rules for how something works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DID and VC (W3C identity), EIP-712 (signed approval), Groth16 (zero-knowledge proof)</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30000">
                <a:tc>
                  <a:txBody>
                    <a:bodyPr/>
                    <a:lstStyle/>
                    <a:p>
                      <a:pPr marL="0" indent="0" algn="ctr">
                        <a:buNone/>
                      </a:pPr>
                      <a:r>
                        <a:rPr lang="en-US" sz="1200" b="1" dirty="0">
                          <a:solidFill>
                            <a:srgbClr val="0B1F33"/>
                          </a:solidFill>
                        </a:rPr>
                        <a:t>Algorithm</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A calculation method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SHA-256 (audit digest), Poseidon (hash inside the proof)</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30000">
                <a:tc>
                  <a:txBody>
                    <a:bodyPr/>
                    <a:lstStyle/>
                    <a:p>
                      <a:pPr marL="0" indent="0" algn="ctr">
                        <a:buNone/>
                      </a:pPr>
                      <a:r>
                        <a:rPr lang="en-US" sz="1200" b="1" dirty="0">
                          <a:solidFill>
                            <a:srgbClr val="0B1F33"/>
                          </a:solidFill>
                        </a:rPr>
                        <a:t>Other</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Design pattern, data and file format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F33"/>
                          </a:solidFill>
                        </a:rPr>
                        <a:t>MVC (architecture pattern), Synthea 1K (synthetic dataset), CSV (file format)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2158721074"/>
                  </a:ext>
                </a:extLst>
              </a:tr>
            </a:tbl>
          </a:graphicData>
        </a:graphic>
      </p:graphicFrame>
    </p:spTree>
    <p:extLst>
      <p:ext uri="{BB962C8B-B14F-4D97-AF65-F5344CB8AC3E}">
        <p14:creationId xmlns:p14="http://schemas.microsoft.com/office/powerpoint/2010/main" val="3739743125"/>
      </p:ext>
    </p:extLst>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2897</TotalTime>
  <Words>12911</Words>
  <Application>Microsoft Office PowerPoint</Application>
  <PresentationFormat>Widescreen</PresentationFormat>
  <Paragraphs>1176</Paragraphs>
  <Slides>48</Slides>
  <Notes>47</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Arial</vt:lpstr>
      <vt:lpstr>Calibri</vt:lpstr>
      <vt:lpstr>Cambria</vt:lpstr>
      <vt:lpstr>Trust Consent</vt:lpstr>
      <vt:lpstr>PowerPoint Presentation</vt:lpstr>
      <vt:lpstr>OUTLINE</vt:lpstr>
      <vt:lpstr>THE RESEARCH PROBLEM</vt:lpstr>
      <vt:lpstr>THE KEY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vt:lpstr>
      <vt:lpstr>MAIN RESEARCH QUESTION</vt:lpstr>
      <vt:lpstr>SUB-RESEARCH QUESTIONS</vt:lpstr>
      <vt:lpstr>RESEARCH OBJECTIVES</vt:lpstr>
      <vt:lpstr>Research Methodology </vt:lpstr>
      <vt:lpstr>FRAMEWORK ARCHITECTURE</vt:lpstr>
      <vt:lpstr>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vt:lpstr>
      <vt:lpstr>Proposed solution for objective 6</vt:lpstr>
      <vt:lpstr>THE HALAH PROTOTYPE</vt:lpstr>
      <vt:lpstr>DEMO 1: THE PATIENT CREATES THE CONSENT</vt:lpstr>
      <vt:lpstr>DEMO 2: THE FIRST GUARDIAN APPROVES</vt:lpstr>
      <vt:lpstr>DEMO 3: DEMO 3: SECOND APPROVAL, CONSENT ACTIVE</vt:lpstr>
      <vt:lpstr>DEMO 4: THE DOCTOR IS ALLOWED</vt:lpstr>
      <vt:lpstr>DEMO 5: ONLY THE AUTHORISED RECORDS</vt:lpstr>
      <vt:lpstr>VALIDATION</vt:lpstr>
      <vt:lpstr>VALIDATION: THE RECORDED DECISIONS</vt:lpstr>
      <vt:lpstr>VALIDATION: THE RECORDED DECISIONS</vt:lpstr>
      <vt:lpstr>VALIDATION: ATTACK SCENARIOS</vt:lpstr>
      <vt:lpstr>Traditional EHR vs. HALAH Framework</vt:lpstr>
      <vt:lpstr>DATASET OVERVIEW</vt:lpstr>
      <vt:lpstr>RESEARCH CONTRIBUTIONS </vt:lpstr>
      <vt:lpstr>RESEARCH CONTRIBUTIONS </vt:lpstr>
      <vt:lpstr>RESEARCH PUBLICATIONS</vt:lpstr>
      <vt:lpstr>RESEARCH PLAN</vt:lpstr>
      <vt:lpstr>RESEARCH TIMELINE</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35</cp:revision>
  <dcterms:created xsi:type="dcterms:W3CDTF">2026-10-12T13:53:28Z</dcterms:created>
  <dcterms:modified xsi:type="dcterms:W3CDTF">2026-10-15T14:21:48Z</dcterms:modified>
</cp:coreProperties>
</file>
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90b5af18-382c-e53c-5f04-7d2e9d6b16c6}">
          <p14:sldIdLst>
            <p14:sldId id="256"/>
            <p14:sldId id="257"/>
          </p14:sldIdLst>
        </p14:section>
        <p14:section name="The Problem" id="{350619d8-fc76-f253-723d-93e6d83ad0c1}">
          <p14:sldIdLst>
            <p14:sldId id="258"/>
            <p14:sldId id="259"/>
          </p14:sldIdLst>
        </p14:section>
        <p14:section name="Literature Review" id="{4283c4c0-5b3a-8ed1-c6c8-74bd74f4f84b}">
          <p14:sldIdLst>
            <p14:sldId id="260"/>
            <p14:sldId id="261"/>
          </p14:sldIdLst>
        </p14:section>
        <p14:section name="Gaps, Questions and Objectives" id="{00860452-7e84-6301-bcb1-c968e6fe64e0}">
          <p14:sldIdLst>
            <p14:sldId id="262"/>
            <p14:sldId id="263"/>
            <p14:sldId id="264"/>
            <p14:sldId id="265"/>
          </p14:sldIdLst>
        </p14:section>
        <p14:section name="The Framework" id="{7ae01825-f8df-6550-b2ca-ac7e2ad3cd71}">
          <p14:sldIdLst>
            <p14:sldId id="266"/>
            <p14:sldId id="267"/>
            <p14:sldId id="268"/>
            <p14:sldId id="269"/>
            <p14:sldId id="270"/>
            <p14:sldId id="271"/>
            <p14:sldId id="272"/>
            <p14:sldId id="273"/>
          </p14:sldIdLst>
        </p14:section>
        <p14:section name="Validation and Evaluation" id="{c40a7103-722c-5fc9-d602-180fabe890c3}">
          <p14:sldIdLst>
            <p14:sldId id="274"/>
            <p14:sldId id="275"/>
            <p14:sldId id="276"/>
            <p14:sldId id="277"/>
          </p14:sldIdLst>
        </p14:section>
        <p14:section name="Contribution" id="{9c0e1a75-e765-33d5-7a89-1d26350833ef}">
          <p14:sldIdLst>
            <p14:sldId id="278"/>
            <p14:sldId id="279"/>
            <p14:sldId id="280"/>
          </p14:sldIdLst>
        </p14:section>
        <p14:section name="What is Still Open" id="{16aae0fa-327d-9fc5-8ed6-de2995620c62}">
          <p14:sldIdLst>
            <p14:sldId id="281"/>
          </p14:sldIdLst>
        </p14:section>
        <p14:section name="Research Plan" id="{f0b68458-f891-8ab6-4444-eb9fe7a10e4d}">
          <p14:sldIdLst>
            <p14:sldId id="282"/>
            <p14:sldId id="283"/>
          </p14:sldIdLst>
        </p14:section>
        <p14:section name="Demo: The HALAH Prototype" id="{e4cb14b2-c839-35a0-369c-9b468a682cd3}">
          <p14:sldIdLst>
            <p14:sldId id="284"/>
            <p14:sldId id="285"/>
            <p14:sldId id="286"/>
            <p14:sldId id="287"/>
            <p14:sldId id="288"/>
            <p14:sldId id="289"/>
            <p14:sldId id="290"/>
            <p14:sldId id="291"/>
            <p14:sldId id="292"/>
            <p14:sldId id="293"/>
            <p14:sldId id="294"/>
          </p14:sldIdLst>
        </p14:section>
        <p14:section name="References" id="{50d0c785-48d1-5acf-7c05-7ba81276381a}">
          <p14:sldIdLst>
            <p14:sldId id="295"/>
            <p14:sldId id="296"/>
            <p14:sldId id="297"/>
            <p14:sldId id="298"/>
            <p14:sldId id="299"/>
            <p14:sldId id="300"/>
            <p14:sldId id="301"/>
          </p14:sldIdLst>
        </p14:section>
        <p14:section name="Thank You" id="{3c4be20f-6bdf-6068-53a9-4cf84c5d8c1c}">
          <p14:sldIdLst>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Yasir Alyoubi. My principal supervisor is Professor Farookh Hussain, and my co-supervisor is Dr Firas Al-Doghman. This is my candidature reassessment. My research asks one simple question. When a doctor asks for a patient's data, how can the system be sure that this request is really allowed? Not just who is asking. Also, did the patient and the guardians agree? Is the request inside the agreed data? And is the consent still valid today? I will show you the problem, what the literature says, my framework, the working prototype,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for my talk. First, the problem. Then the literature review. Then the gaps, the questions and the objectives. After that, the framework and its six steps. Then the validation and the evaluation results. Then I talk about what is still open and the research plan. At the end, I show a demonstration of the prototype through the slides: one real consent, from the day it is created to the day it is revoked.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Health data is very sensitive. One decision to share it can involve many people: the patient, one or more guardians, the doctor, and the hospital. Today, consent is usually just a record that is saved somewhere. That record says permission was given. But it does not check anything when someone asks for the data. A valid login does not mean you have the right to see this patient's data. And even with approval, a request can ask for more data than the patient allowed, or it can come after the consent has expired or was cancelled. So the real problem is this: there is no single trusted decision that checks all of these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my answer in simple words. Consent should not be a record that we store. It should be an object that the system checks every time. I call this object C, and it has six parts. I is identity: who is involved. A is authority: who must approve, for example guardians, healthcare professionals or institutional representatives, and how many. P is policy: the purpose and the data that was agreed. T is time: when the consent starts and when it ends. L is lifecycle: the state of the consent, for example pending, active, suspended, revoked or expired. And E is evidence: the signatures, the token and the record of each decision. At every request, the system checks all six parts. If one part fails,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did the literature review. I followed the PRISMA 2020 method. Before I started screening, I wrote a protocol that fixed the questions, the databases, one search query, the criteria and the quality items. I searched seven databases. They gave me 9,256 records. After I removed duplicates, 6,039 were screened by title, 3,129 by abstract, and 1,800 full texts were put in order of priority. At the reporting checkpoint, 64 full texts were assessed and 47 met the criteria. From these, I analysed 25 primary studies in depth: 23 core studies and 2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review. The good news: every requirement is covered by some study. The problem: no study puts all the conditions together in one access decision. I call this the conjunction gap. And no study proves or tests the whole decision. Formal proofs exist in only 4 of the 25 studies, and they cover only a small part. I call this the assurance gap. These two gaps are what my research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25 studies, I found six gaps. One gap for each requirement. Gap one: consent is only a record. Gap two: identity does not prove authority. Gap three: multi-party approval is not a condition of every access. Gap four: purpose and scope are rarely checked together with identity and approval. Gap five: time and revocation are often checked only once, at registration, not at each request. Gap six: nobody proves or tests the whole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this is my main research question. How can a trust-oriented computing framework establish and enforce trustworthy multi-party consent for decentralised healthcare data sharing, under identity, authority and policy constraints? It has six sub-questions, one for each gap. How to model consent. How to check identity and authority. How several guardians can approve together. How purpose and scope are checked. How time and lifecycle are checked. And how to prove and test the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question has one objective. RO1 to RO4 are done, and they are validated with the prototype. RO5 is time and lifecycle. It is in progress. The validity window and the revocation already work. Consent changes, delegation and guardian changes are for the next stage. RO6 is partly completed. The automated tests, the attack tests and the measurements are done. The formal proofs are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steps I followed. Step one, I identified the problem. Step two, I did the systematic review. Step three, from the review I found the gaps and wrote the questions. Step four, I set the objectives. Step five, I designed the framework: the architecture, the consent object, and four algorithms. Step six, I built the prototype on the Sepolia test network. Step seven, I evaluated it with live scenarios, measurements and attack tests. The formal proofs are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uses the Model, View, Controller pattern. The View is the four screens: patient, guardian, doctor and auditor. The View never decides who gets access. Every security decision is made in the Controller. It checks identity and authority, collects the approvals, enforces the policy, and records the evidence. The Model keeps the consent, the approvals and the evidence. Health data is released only when the Controller says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framework. Access is allowed only when five checks are all true. VI: the identity and the authority are valid. VA: all the required members of G approved, and the token exists. VP: the purpose and the requested data are inside what was agreed. VT: the request is inside the validity time. VL: the consent is in a valid lifecycle state, for example active and not revoked. If any one check fails, the answer is DENY. Jurisdiction is not part of this rule. It is future work, although the prototype already has an exploratory jurisdiction check, which its screen labels VL. In the prototype, a Groth16 zero-knowledge proof must also pass before any data is released. And every decision on an active consent is written to the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patient creates the consent. The patient chooses the doctor, the guardians, the data modules, and the start and end time. The system checks every field. For example, an empty data scope or a bad guardian DID is rejected. Then the consent object C is built and saved as pending: its lifecycle state is PENDING. Nothing goes to the blockchain yet. This is RO1, and it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 separate two questions: who are you, and what may you do? The DID answers the first question. The credential answers the second. A valid identity alone never gives access. To be clear about the current state: today the prototype checks the DID format and recovers each guardian's signature. Full DID resolution and credential validation are planned for the next stage. So RO2 is done at the design level and in the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No single person can approve alone. The approving set G can include healthcare professionals, guardians or institutional representatives. In the prototype, G holds the guardians. Each guardian signs with an EIP-712 signature. The system recovers the signer and checks that this person is one of the listed guardians. Outsiders, replays and duplicates are not counted. In the demo, two of two guardians must sign. When both have signed, a soulbound token is minted on the Sepolia test network in the background. One honest note: in the prototype, the guardian keys are derived from the guardian DIDs. Wallet-held keys are for the next stage. RO3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A valid identity and all the approvals are still not enough. The requested data must be inside the agreed data scope. For example, if the consent allows Observation and Medication, a request that also asks for Procedure is denied. The purpose, the time and the lifecycle state are checked in the same decision. And a Groth16 proof must pass before any data is released. RO4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five. Time and lifecycle. What works now: the validity window is stored on-chain and checked at every request. Revocation works end to end, with an on-chain transaction. And the consent moves through a clear lifecycle. In the design, the states are created, pending, active, suspended, revoked and expired, and VL checks them. The prototype has six working states; the suspended state is not built yet. What is still open: the suspended state, the lifecycle transition check, consent modification, delegation, changes to the guardian set, and a formal lifecycle model. That is why RO5 is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six. Prove it and test it. The testing part is done. 36 automated tests pass, including twelve attack scenarios. I also measured the cost and the timing. The proof part is the next stage: formal proofs or model checking of the security properties, and a bigger evaluation under load. That is why RO6 is partly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asks one question: does the system do what it should? I used five kinds of evidence. Valid scenarios: the correct requests were allowed. Negative scenarios: the wrong jurisdiction, an exploratory check of the prototype, and the cancelled consent were refused. Attack scenarios: eleven of twelve attacks are refused after the hardening. Automated tests: all 36 pass. And an independent check: the state on the chain matches the local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taken directly from the audit ledger of 24 September. Each row is one real request, with the five checks and the decision. The first two rows and the last three rows are allowed requests: all five checks PASS, the decision is ALLOW, access is GRANTED, and the proof mode is Groth16. The row in the middle is the request from the wrong jurisdiction: VI, VA, VP and VT pass, and the jurisdiction check fails. The prototype labels it VL; in the framework it is VJ, which is future work, so the decision is DENY. One failed check is enough. The request after revocation is not in this table, because a consent that is no longer active is refused before any decision is logged; its revocation is public on Sepolia in block 11,771,307.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attacked my own system twelve times, A1 to A12. This table shows each attack, the part of the consent it targets, and the outcome before and after the hardening on the first of October. Before the hardening, three attacks got through when the service functions were called directly: A1, a signer outside the guardian set; A3, the same guardian signing twice; and A5, an empty data scope. The interface already refused them, but the service layer did not. The hardening moved these checks into the service layer, so now they are refused on every path. After the hardening, eleven of twelve are refused. The last one, A11, changes a stored digest. The prototype does not compare that digest yet, so it is marked as differs, which is neutral, not passed. It is on the list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asks: how fast is it, and what does it cost? The decision rule itself takes about 2 microseconds. One guardian signature takes about 11 milliseconds. The Groth16 proof is the slowest part: about 1.4 seconds to generate and about half a second to verify. Anchoring on Sepolia takes about 11.5 seconds, but it runs in the background, so nobody waits for it. A revoke uses about one sixth of the gas of a mint. The timings were measured on the first of October 2026. The gas and the anchoring times come from the five Sepolia transactions in September. These numbers are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difference in plain words. Today, a central identity provider logs you in, and a fixed permission decides. Consent is a saved record. In HALAH, every person has a DID, and identity is separate from authority. Consent is an object that is checked at every request. All members of the approving set G must approve. Five checks and a proof run before any data is released. Time and revocation are checked every time. And every decision on an active consent is logged with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important points about the data. I use synthetic patient records from the Synthea 1K sample, in its CSV export. The prototype loads a subset of patients with their observations, conditions, medications and procedures. No real patient data is involved. The medical records stay off-chain. The token on Sepolia stores only pseudonymous addresses, a hash of the purpose, the validity window, a jurisdiction code and a revocation flag. Data is released only on ALLOW, and only inside the agreed scope. One known limitation: the plain-text purpose is visible in the mint transaction. I will fix this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matter? On the scientific side: consent becomes an object that is checked, not stored. Multi-party approval is a condition of every access. Identity is separated from authority. And the whole decision is checked in one place and tested. On the social side: patients and guardians decide together who sees the data. No single person can approve alone. Every decision can be explained to an auditor. And medical records never go on the blockchain.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about what is not done yet, because this is what the next stage is for. First, the formal proofs. The properties are tested, but not yet proved with a formal model. Second, the rest of the lifecycle: consent modification, delegation and guardian changes, and the suspended state. Third, full DID resolution, credential validation and wallet-held guardian keys. Today it is a format check, a signature, and keys derived from the guardian DIDs. Fourth, jurisdiction. It will become a policy condition of the framework, and the prototype already has an exploratory jurisdiction check. Fifth, a bigger evaluation under load. Sixth, two prototype limits: the open attack A11, and the plain-text purpose in the mint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Chapters one to six are done. The conference paper was submitted to BWCCA 2026 in September. The SLR journal paper is in progress. Next comes the complete evaluation, the paper on formal assurance and lifecycle trust, and the conclusion. The final assessment is planned for January 2027, and the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plan as a timeline. What is completed, what is in progress, and the planned steps up to the thesis submission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demonstration, through the slides. HALAH means History Access Link for Authorised Healthcare. These are its parts: four screens, a soulbound token contract on the Sepolia test network, EIP-712 guardian signatures, a Groth16 proof at access time, synthetic data, and an audit ledger. In the next slides, I walk you through one real consent, from creation to revocation. What you will see covers RO1 to RO4 in full, and the parts of RO5 and RO6 that already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one. The patient creates the consent. On this screen you can see the four data modules, the two guardians, the jurisdiction AU, and the state PENDING_SIGNATURE. The system checked every field before saving. PENDING_SIGNATURE is the prototype's name for the pending lifecycle state. Nothing has gone to the blockchain yet. This is RO1: consent as an object the system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two. The first guardian signs. The system takes the EIP-712 signature, finds who signed it, and confirms that this address is one of the two listed guardians. The counter shows one of two. The consent is still pending, because one approval is never enough. This is RO3.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three. The second guardian signs. Now the threshold, two of two, is reached. The system records the token locally and starts the mint on Sepolia in the background. The guardian does not wait for the blockchain. On the right, the same screen a bit later: already anchored on Sepolia, with the token number. RO3 is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four. The doctor asks for the patient's data. First the proof is generated and verified. Then the five checks run. Identity and authority, VI. Approvals and token, VA. Purpose and scope, VP. Time, VT. And the exploratory jurisdiction check, which the screen labels VL. All five pass, so the answer is ALLOW. This is RO2 and RO4 together,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five. After ALLOW, the records are shown per module. Only the modules inside the consent scope are returned. If the doctor asked for a module that was not agreed, the request would be refused. That case is covered by attack test A4. The decision and its matrix are written to the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six. The same doctor repeats the request, but this time declares the jurisdiction as SA. The consent was issued for AU. Everything else passes, but the jurisdiction check, labelled VL on the screen, fails. One failed check is enough: access is denied. The message tells the auditor exactly which check failed. Jurisdiction is future work for the framework; this exploratory check shows the same rule in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seven. The patient cancels the consent. On the left, the system is sending the revoke transaction to Sepolia and waiting for the block confirmation. On the right, the consent is now REVOKED, with its token number. This is the working part of RO5.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eight. The doctor tries again. Now VA fails, because the consent is not active any more: its state is REVOKED. In the framework, this is the lifecycle check VL. The prototype also checks revocation inside VA, so the screen shows VA FAIL. Access is refused. An expired consent is refused in the same way, through the time check VT. So a consent that was valid yesterday does not stay usable forever.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nine. Both the mint and the revoke are public transactions on Sepolia. On the left, the anchoring transaction of the consent, in block 11,771,243. On the right, the revocation, in block 11,771,307, with the decoded function revoke and token id 1. Anyone can check them. No medical data is on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ten, the last one. The auditor can rebuild the full life of the consent: thirteen events in order, from creation to revocation, each with its decision matrix. The dashboard shows the exported ledger: 60 events, 9 access requests and 5 on-chain anchors. And a separate tool re-checked Sepolia and found every anchored transaction in its recorded block. All checks passed. This is the working part of RO6: evidence that can be audited.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I used in the report and in this talk. They follow the UTS Harvard style, so they are listed by author name, not by number, and the names match the citations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take your questions.
Likely questions and short answers:
1. Why blockchain, if the data stays off-chain? Because it gives a shared record that cannot be changed quietly: the consent state and the revocation. No medical data is on the chain.
2. What is new? The consent object carries all the conditions. Multi-party approval is a condition of every access. And the whole decision is tested against attacks.
3. Why is RO6 only partly done? The testing is done. The formal proofs are the next stage.
4. Why Groth16? The doctor proves that they know the secret and the expiry behind the commitment stored in the consent, and that the consent has not expired, without showing them. It is the slowest part, about 1.4 seconds, and that is fine for a consent decision.
5. Why did three attacks pass before the hardening? They passed only when the service functions were called directly, not through the screens. The hardening moved the checks into the service layer, so now they are refused on every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2.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2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2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23444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23444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234440"/>
            <a:ext cx="4206240" cy="640080"/>
          </a:xfrm>
          <a:prstGeom prst="rect">
            <a:avLst/>
          </a:prstGeom>
          <a:noFill/>
          <a:ln/>
        </p:spPr>
        <p:txBody>
          <a:bodyPr wrap="square" rtlCol="0" anchor="ctr"/>
          <a:lstStyle/>
          <a:p>
            <a:pPr indent="0" marL="0">
              <a:buNone/>
            </a:pPr>
            <a:r>
              <a:rPr lang="en-US" sz="1800" b="1" dirty="0">
                <a:solidFill>
                  <a:srgbClr val="FFFFFF"/>
                </a:solidFill>
              </a:rPr>
              <a:t>THE PROBLEM</a:t>
            </a:r>
            <a:endParaRPr lang="en-US" sz="1800" dirty="0"/>
          </a:p>
        </p:txBody>
      </p:sp>
      <p:sp>
        <p:nvSpPr>
          <p:cNvPr id="7" name="number 02"/>
          <p:cNvSpPr/>
          <p:nvPr/>
        </p:nvSpPr>
        <p:spPr>
          <a:xfrm>
            <a:off x="1463040" y="210312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10312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103120"/>
            <a:ext cx="4206240" cy="640080"/>
          </a:xfrm>
          <a:prstGeom prst="rect">
            <a:avLst/>
          </a:prstGeom>
          <a:noFill/>
          <a:ln/>
        </p:spPr>
        <p:txBody>
          <a:bodyPr wrap="square" rtlCol="0" anchor="ctr"/>
          <a:lstStyle/>
          <a:p>
            <a:pPr indent="0" marL="0">
              <a:buNone/>
            </a:pPr>
            <a:r>
              <a:rPr lang="en-US" sz="1800" b="1" dirty="0">
                <a:solidFill>
                  <a:srgbClr val="FFFFFF"/>
                </a:solidFill>
              </a:rPr>
              <a:t>LITERATURE REVIEW</a:t>
            </a:r>
            <a:endParaRPr lang="en-US" sz="1800" dirty="0"/>
          </a:p>
        </p:txBody>
      </p:sp>
      <p:sp>
        <p:nvSpPr>
          <p:cNvPr id="10" name="number 03"/>
          <p:cNvSpPr/>
          <p:nvPr/>
        </p:nvSpPr>
        <p:spPr>
          <a:xfrm>
            <a:off x="1463040" y="297180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7180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71800"/>
            <a:ext cx="4206240" cy="640080"/>
          </a:xfrm>
          <a:prstGeom prst="rect">
            <a:avLst/>
          </a:prstGeom>
          <a:noFill/>
          <a:ln/>
        </p:spPr>
        <p:txBody>
          <a:bodyPr wrap="square" rtlCol="0" anchor="ctr"/>
          <a:lstStyle/>
          <a:p>
            <a:pPr indent="0" marL="0">
              <a:buNone/>
            </a:pPr>
            <a:r>
              <a:rPr lang="en-US" sz="1800" b="1" dirty="0">
                <a:solidFill>
                  <a:srgbClr val="FFFFFF"/>
                </a:solidFill>
              </a:rPr>
              <a:t>GAPS, QUESTIONS AND OBJECTIVES</a:t>
            </a:r>
            <a:endParaRPr lang="en-US" sz="1800" dirty="0"/>
          </a:p>
        </p:txBody>
      </p:sp>
      <p:sp>
        <p:nvSpPr>
          <p:cNvPr id="13" name="number 04"/>
          <p:cNvSpPr/>
          <p:nvPr/>
        </p:nvSpPr>
        <p:spPr>
          <a:xfrm>
            <a:off x="1463040" y="384048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84048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840480"/>
            <a:ext cx="4206240" cy="640080"/>
          </a:xfrm>
          <a:prstGeom prst="rect">
            <a:avLst/>
          </a:prstGeom>
          <a:noFill/>
          <a:ln/>
        </p:spPr>
        <p:txBody>
          <a:bodyPr wrap="square" rtlCol="0" anchor="ctr"/>
          <a:lstStyle/>
          <a:p>
            <a:pPr indent="0" marL="0">
              <a:buNone/>
            </a:pPr>
            <a:r>
              <a:rPr lang="en-US" sz="1800" b="1" dirty="0">
                <a:solidFill>
                  <a:srgbClr val="FFFFFF"/>
                </a:solidFill>
              </a:rPr>
              <a:t>THE FRAMEWORK</a:t>
            </a:r>
            <a:endParaRPr lang="en-US" sz="1800" dirty="0"/>
          </a:p>
        </p:txBody>
      </p:sp>
      <p:sp>
        <p:nvSpPr>
          <p:cNvPr id="16" name="number 05"/>
          <p:cNvSpPr/>
          <p:nvPr/>
        </p:nvSpPr>
        <p:spPr>
          <a:xfrm>
            <a:off x="1463040" y="470916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70916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709160"/>
            <a:ext cx="4206240" cy="640080"/>
          </a:xfrm>
          <a:prstGeom prst="rect">
            <a:avLst/>
          </a:prstGeom>
          <a:noFill/>
          <a:ln/>
        </p:spPr>
        <p:txBody>
          <a:bodyPr wrap="square" rtlCol="0" anchor="ctr"/>
          <a:lstStyle/>
          <a:p>
            <a:pPr indent="0" marL="0">
              <a:buNone/>
            </a:pPr>
            <a:r>
              <a:rPr lang="en-US" sz="1800" b="1" dirty="0">
                <a:solidFill>
                  <a:srgbClr val="FFFFFF"/>
                </a:solidFill>
              </a:rPr>
              <a:t>VALIDATION AND EVALUATION</a:t>
            </a:r>
            <a:endParaRPr lang="en-US" sz="1800" dirty="0"/>
          </a:p>
        </p:txBody>
      </p:sp>
      <p:sp>
        <p:nvSpPr>
          <p:cNvPr id="19" name="number 06"/>
          <p:cNvSpPr/>
          <p:nvPr/>
        </p:nvSpPr>
        <p:spPr>
          <a:xfrm>
            <a:off x="1463040" y="557784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7784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77840"/>
            <a:ext cx="4206240" cy="640080"/>
          </a:xfrm>
          <a:prstGeom prst="rect">
            <a:avLst/>
          </a:prstGeom>
          <a:noFill/>
          <a:ln/>
        </p:spPr>
        <p:txBody>
          <a:bodyPr wrap="square" rtlCol="0" anchor="ctr"/>
          <a:lstStyle/>
          <a:p>
            <a:pPr indent="0" marL="0">
              <a:buNone/>
            </a:pPr>
            <a:r>
              <a:rPr lang="en-US" sz="1800" b="1" dirty="0">
                <a:solidFill>
                  <a:srgbClr val="FFFFFF"/>
                </a:solidFill>
              </a:rPr>
              <a:t>WHY THIS MATTERS</a:t>
            </a:r>
            <a:endParaRPr lang="en-US" sz="1800" dirty="0"/>
          </a:p>
        </p:txBody>
      </p:sp>
      <p:sp>
        <p:nvSpPr>
          <p:cNvPr id="22" name="number 07"/>
          <p:cNvSpPr/>
          <p:nvPr/>
        </p:nvSpPr>
        <p:spPr>
          <a:xfrm>
            <a:off x="6492240" y="123444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23444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234440"/>
            <a:ext cx="4206240" cy="640080"/>
          </a:xfrm>
          <a:prstGeom prst="rect">
            <a:avLst/>
          </a:prstGeom>
          <a:noFill/>
          <a:ln/>
        </p:spPr>
        <p:txBody>
          <a:bodyPr wrap="square" rtlCol="0" anchor="ctr"/>
          <a:lstStyle/>
          <a:p>
            <a:pPr indent="0" marL="0">
              <a:buNone/>
            </a:pPr>
            <a:r>
              <a:rPr lang="en-US" sz="1800" b="1" dirty="0">
                <a:solidFill>
                  <a:srgbClr val="FFFFFF"/>
                </a:solidFill>
              </a:rPr>
              <a:t>WHAT IS STILL OPEN</a:t>
            </a:r>
            <a:endParaRPr lang="en-US" sz="1800" dirty="0"/>
          </a:p>
        </p:txBody>
      </p:sp>
      <p:sp>
        <p:nvSpPr>
          <p:cNvPr id="25" name="number 08"/>
          <p:cNvSpPr/>
          <p:nvPr/>
        </p:nvSpPr>
        <p:spPr>
          <a:xfrm>
            <a:off x="6492240" y="210312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10312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10312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28" name="number 09"/>
          <p:cNvSpPr/>
          <p:nvPr/>
        </p:nvSpPr>
        <p:spPr>
          <a:xfrm>
            <a:off x="6492240" y="297180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7180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71800"/>
            <a:ext cx="4206240" cy="640080"/>
          </a:xfrm>
          <a:prstGeom prst="rect">
            <a:avLst/>
          </a:prstGeom>
          <a:noFill/>
          <a:ln/>
        </p:spPr>
        <p:txBody>
          <a:bodyPr wrap="square" rtlCol="0" anchor="ctr"/>
          <a:lstStyle/>
          <a:p>
            <a:pPr indent="0" marL="0">
              <a:buNone/>
            </a:pPr>
            <a:r>
              <a:rPr lang="en-US" sz="1800" b="1" dirty="0">
                <a:solidFill>
                  <a:srgbClr val="FFFFFF"/>
                </a:solidFill>
              </a:rPr>
              <a:t>DEMO: THE HALAH PROTOTYPE</a:t>
            </a:r>
            <a:endParaRPr lang="en-US" sz="1800" dirty="0"/>
          </a:p>
        </p:txBody>
      </p:sp>
      <p:sp>
        <p:nvSpPr>
          <p:cNvPr id="31" name="number 10"/>
          <p:cNvSpPr/>
          <p:nvPr/>
        </p:nvSpPr>
        <p:spPr>
          <a:xfrm>
            <a:off x="6492240" y="384048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84048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84048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PROBLEM</a:t>
            </a:r>
            <a:endParaRPr lang="en-US" sz="3000" dirty="0"/>
          </a:p>
        </p:txBody>
      </p:sp>
      <p:sp>
        <p:nvSpPr>
          <p:cNvPr id="4" name="bullets"/>
          <p:cNvSpPr txBox="1"/>
          <p:nvPr/>
        </p:nvSpPr>
        <p:spPr>
          <a:xfrm>
            <a:off x="822960" y="1280160"/>
            <a:ext cx="621792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shared between many independent parties: patient, guardians, doctor, hospital.</a:t>
            </a:r>
            <a:endParaRPr lang="en-US" sz="1900" dirty="0"/>
          </a:p>
          <a:p>
            <a:pPr marL="342900" indent="-342900">
              <a:spcAft>
                <a:spcPts val="1000"/>
              </a:spcAft>
              <a:buSzPct val="100000"/>
              <a:buChar char="•"/>
            </a:pPr>
            <a:r>
              <a:rPr lang="en-US" sz="1900" dirty="0">
                <a:solidFill>
                  <a:srgbClr val="FFFFFF"/>
                </a:solidFill>
              </a:rPr>
              <a:t>Today, consent is a stored record. It shows that permission was given, but it checks nothing at access time.</a:t>
            </a:r>
            <a:endParaRPr lang="en-US" sz="1900" dirty="0"/>
          </a:p>
          <a:p>
            <a:pPr marL="342900" indent="-342900">
              <a:spcAft>
                <a:spcPts val="1000"/>
              </a:spcAft>
              <a:buSzPct val="100000"/>
              <a:buChar char="•"/>
            </a:pPr>
            <a:r>
              <a:rPr lang="en-US" sz="1900" dirty="0">
                <a:solidFill>
                  <a:srgbClr val="FFFFFF"/>
                </a:solidFill>
              </a:rPr>
              <a:t>A valid identity does not prove the right to see this patient's data.</a:t>
            </a:r>
            <a:endParaRPr lang="en-US" sz="1900" dirty="0"/>
          </a:p>
          <a:p>
            <a:pPr marL="342900" indent="-342900">
              <a:spcAft>
                <a:spcPts val="1000"/>
              </a:spcAft>
              <a:buSzPct val="100000"/>
              <a:buChar char="•"/>
            </a:pPr>
            <a:r>
              <a:rPr lang="en-US" sz="1900" dirty="0">
                <a:solidFill>
                  <a:srgbClr val="FFFFFF"/>
                </a:solidFill>
              </a:rPr>
              <a:t>A request can ask for more data than allowed, or arrive after the consent expired or was revoked.</a:t>
            </a:r>
            <a:endParaRPr lang="en-US" sz="1900" dirty="0"/>
          </a:p>
          <a:p>
            <a:pPr marL="342900" indent="-342900">
              <a:spcAft>
                <a:spcPts val="1000"/>
              </a:spcAft>
              <a:buSzPct val="100000"/>
              <a:buChar char="•"/>
            </a:pPr>
            <a:r>
              <a:rPr lang="en-US" sz="1900" dirty="0">
                <a:solidFill>
                  <a:srgbClr val="FFFFFF"/>
                </a:solidFill>
              </a:rPr>
              <a:t>None of the reviewed studies proves or tests the whole decision.</a:t>
            </a:r>
            <a:endParaRPr lang="en-US" sz="1900" dirty="0"/>
          </a:p>
        </p:txBody>
      </p:sp>
      <p:sp>
        <p:nvSpPr>
          <p:cNvPr id="5" name="card In one sentence"/>
          <p:cNvSpPr/>
          <p:nvPr/>
        </p:nvSpPr>
        <p:spPr>
          <a:xfrm>
            <a:off x="7406640" y="1463040"/>
            <a:ext cx="3931920" cy="4114800"/>
          </a:xfrm>
          <a:prstGeom prst="roundRect">
            <a:avLst>
              <a:gd name="adj" fmla="val 2326"/>
            </a:avLst>
          </a:prstGeom>
          <a:solidFill>
            <a:srgbClr val="FFFFFF">
              <a:alpha val="92000"/>
            </a:srgbClr>
          </a:solidFill>
          <a:ln w="19050">
            <a:solidFill>
              <a:srgbClr val="1FB5D6"/>
            </a:solidFill>
            <a:prstDash val="solid"/>
          </a:ln>
        </p:spPr>
      </p:sp>
      <p:sp>
        <p:nvSpPr>
          <p:cNvPr id="6" name="card text In one sentence"/>
          <p:cNvSpPr txBox="1"/>
          <p:nvPr/>
        </p:nvSpPr>
        <p:spPr>
          <a:xfrm>
            <a:off x="7543800" y="1554480"/>
            <a:ext cx="3657600" cy="3931920"/>
          </a:xfrm>
          <a:prstGeom prst="rect">
            <a:avLst/>
          </a:prstGeom>
          <a:noFill/>
          <a:ln/>
        </p:spPr>
        <p:txBody>
          <a:bodyPr wrap="square" rtlCol="0" anchor="t"/>
          <a:lstStyle/>
          <a:p>
            <a:pPr indent="0" marL="0">
              <a:spcAft>
                <a:spcPts val="400"/>
              </a:spcAft>
              <a:buNone/>
            </a:pPr>
            <a:r>
              <a:rPr lang="en-US" sz="1900" b="1" dirty="0">
                <a:solidFill>
                  <a:srgbClr val="0B2A4A"/>
                </a:solidFill>
              </a:rPr>
              <a:t>In one sentence</a:t>
            </a:r>
            <a:endParaRPr lang="en-US" sz="1900" dirty="0"/>
          </a:p>
          <a:p>
            <a:pPr indent="0" marL="0">
              <a:spcAft>
                <a:spcPts val="400"/>
              </a:spcAft>
              <a:buNone/>
            </a:pPr>
            <a:r>
              <a:rPr lang="en-US" sz="1600" dirty="0">
                <a:solidFill>
                  <a:srgbClr val="0B1F33"/>
                </a:solidFill>
              </a:rPr>
              <a:t>There is no trusted mechanism that checks identity, authority, multi-party approval, policy, time and lifecycle together in one access decision, with evidence that it is secure.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KEY IDEA</a:t>
            </a:r>
            <a:endParaRPr lang="en-US" sz="3000" dirty="0"/>
          </a:p>
        </p:txBody>
      </p:sp>
      <p:sp>
        <p:nvSpPr>
          <p:cNvPr id="4" name="idea box"/>
          <p:cNvSpPr/>
          <p:nvPr/>
        </p:nvSpPr>
        <p:spPr>
          <a:xfrm>
            <a:off x="822960" y="1188720"/>
            <a:ext cx="10424160" cy="1371600"/>
          </a:xfrm>
          <a:prstGeom prst="roundRect">
            <a:avLst>
              <a:gd name="adj" fmla="val 6667"/>
            </a:avLst>
          </a:prstGeom>
          <a:solidFill>
            <a:srgbClr val="0B2A4A">
              <a:alpha val="85000"/>
            </a:srgbClr>
          </a:solidFill>
          <a:ln w="19050">
            <a:solidFill>
              <a:srgbClr val="1FB5D6"/>
            </a:solidFill>
            <a:prstDash val="solid"/>
          </a:ln>
        </p:spPr>
      </p:sp>
      <p:sp>
        <p:nvSpPr>
          <p:cNvPr id="5" name="idea text"/>
          <p:cNvSpPr txBox="1"/>
          <p:nvPr/>
        </p:nvSpPr>
        <p:spPr>
          <a:xfrm>
            <a:off x="1005840" y="1234440"/>
            <a:ext cx="10058400" cy="1280160"/>
          </a:xfrm>
          <a:prstGeom prst="rect">
            <a:avLst/>
          </a:prstGeom>
          <a:noFill/>
          <a:ln/>
        </p:spPr>
        <p:txBody>
          <a:bodyPr wrap="square" rtlCol="0" anchor="ctr"/>
          <a:lstStyle/>
          <a:p>
            <a:pPr algn="ctr" indent="0" marL="0">
              <a:buNone/>
            </a:pPr>
            <a:r>
              <a:rPr lang="en-US" sz="2000" b="1" dirty="0">
                <a:solidFill>
                  <a:srgbClr val="FFFFFF"/>
                </a:solidFill>
              </a:rPr>
              <a:t>Consent is not a stored record. It is an object checked at every request.</a:t>
            </a:r>
            <a:endParaRPr lang="en-US" sz="2000" dirty="0"/>
          </a:p>
          <a:p>
            <a:pPr algn="ctr" indent="0" marL="0">
              <a:buNone/>
            </a:pPr>
            <a:r>
              <a:rPr lang="en-US" sz="2800" b="1" dirty="0">
                <a:solidFill>
                  <a:srgbClr val="1FB5D6"/>
                </a:solidFill>
              </a:rPr>
              <a:t>C = (I, A, P, T, L, E)</a:t>
            </a:r>
            <a:endParaRPr lang="en-US" sz="2000" dirty="0"/>
          </a:p>
        </p:txBody>
      </p:sp>
      <p:sp>
        <p:nvSpPr>
          <p:cNvPr id="6" name="card I  Identity"/>
          <p:cNvSpPr/>
          <p:nvPr/>
        </p:nvSpPr>
        <p:spPr>
          <a:xfrm>
            <a:off x="82296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7" name="card text I  Identity"/>
          <p:cNvSpPr txBox="1"/>
          <p:nvPr/>
        </p:nvSpPr>
        <p:spPr>
          <a:xfrm>
            <a:off x="96012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I  Identity</a:t>
            </a:r>
            <a:endParaRPr lang="en-US" sz="1900" dirty="0"/>
          </a:p>
          <a:p>
            <a:pPr indent="0" marL="0">
              <a:spcAft>
                <a:spcPts val="400"/>
              </a:spcAft>
              <a:buNone/>
            </a:pPr>
            <a:r>
              <a:rPr lang="en-US" sz="1600" dirty="0">
                <a:solidFill>
                  <a:srgbClr val="0B1F33"/>
                </a:solidFill>
              </a:rPr>
              <a:t>Who is the patient, the doctor and each guardian (DID).</a:t>
            </a:r>
            <a:endParaRPr lang="en-US" sz="1900" dirty="0"/>
          </a:p>
        </p:txBody>
      </p:sp>
      <p:sp>
        <p:nvSpPr>
          <p:cNvPr id="8" name="card A  Authority"/>
          <p:cNvSpPr/>
          <p:nvPr/>
        </p:nvSpPr>
        <p:spPr>
          <a:xfrm>
            <a:off x="438912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9" name="card text A  Authority"/>
          <p:cNvSpPr txBox="1"/>
          <p:nvPr/>
        </p:nvSpPr>
        <p:spPr>
          <a:xfrm>
            <a:off x="452628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  Authority</a:t>
            </a:r>
            <a:endParaRPr lang="en-US" sz="1900" dirty="0"/>
          </a:p>
          <a:p>
            <a:pPr indent="0" marL="0">
              <a:spcAft>
                <a:spcPts val="400"/>
              </a:spcAft>
              <a:buNone/>
            </a:pPr>
            <a:r>
              <a:rPr lang="en-US" sz="1600" dirty="0">
                <a:solidFill>
                  <a:srgbClr val="0B1F33"/>
                </a:solidFill>
              </a:rPr>
              <a:t>Who must approve, G (guardians, doctors or institutions),</a:t>
            </a:r>
            <a:r>
              <a:rPr lang="en-US" sz="1600" dirty="0">
                <a:solidFill>
                  <a:srgbClr val="0B1F33"/>
                </a:solidFill>
              </a:rPr>
              <a:t> and how many approvals are needed (N).</a:t>
            </a:r>
            <a:endParaRPr lang="en-US" sz="1900" dirty="0"/>
          </a:p>
        </p:txBody>
      </p:sp>
      <p:sp>
        <p:nvSpPr>
          <p:cNvPr id="10" name="card P  Policy"/>
          <p:cNvSpPr/>
          <p:nvPr/>
        </p:nvSpPr>
        <p:spPr>
          <a:xfrm>
            <a:off x="795528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11" name="card text P  Policy"/>
          <p:cNvSpPr txBox="1"/>
          <p:nvPr/>
        </p:nvSpPr>
        <p:spPr>
          <a:xfrm>
            <a:off x="809244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P  Policy</a:t>
            </a:r>
            <a:endParaRPr lang="en-US" sz="1900" dirty="0"/>
          </a:p>
          <a:p>
            <a:pPr indent="0" marL="0">
              <a:spcAft>
                <a:spcPts val="400"/>
              </a:spcAft>
              <a:buNone/>
            </a:pPr>
            <a:r>
              <a:rPr lang="en-US" sz="1600" dirty="0">
                <a:solidFill>
                  <a:srgbClr val="0B1F33"/>
                </a:solidFill>
              </a:rPr>
              <a:t>The purpose and the data scope that were agreed.</a:t>
            </a:r>
            <a:endParaRPr lang="en-US" sz="1900" dirty="0"/>
          </a:p>
        </p:txBody>
      </p:sp>
      <p:sp>
        <p:nvSpPr>
          <p:cNvPr id="12" name="card T  Time"/>
          <p:cNvSpPr/>
          <p:nvPr/>
        </p:nvSpPr>
        <p:spPr>
          <a:xfrm>
            <a:off x="82296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3" name="card text T  Time"/>
          <p:cNvSpPr txBox="1"/>
          <p:nvPr/>
        </p:nvSpPr>
        <p:spPr>
          <a:xfrm>
            <a:off x="96012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T  Time</a:t>
            </a:r>
            <a:endParaRPr lang="en-US" sz="1900" dirty="0"/>
          </a:p>
          <a:p>
            <a:pPr indent="0" marL="0">
              <a:spcAft>
                <a:spcPts val="400"/>
              </a:spcAft>
              <a:buNone/>
            </a:pPr>
            <a:r>
              <a:rPr lang="en-US" sz="1600" dirty="0">
                <a:solidFill>
                  <a:srgbClr val="0B1F33"/>
                </a:solidFill>
              </a:rPr>
              <a:t>When the consent starts and when it expires.</a:t>
            </a:r>
            <a:endParaRPr lang="en-US" sz="1900" dirty="0"/>
          </a:p>
        </p:txBody>
      </p:sp>
      <p:sp>
        <p:nvSpPr>
          <p:cNvPr id="14" name="card L  Lifecycle"/>
          <p:cNvSpPr/>
          <p:nvPr/>
        </p:nvSpPr>
        <p:spPr>
          <a:xfrm>
            <a:off x="438912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5" name="card text L  Lifecycle"/>
          <p:cNvSpPr txBox="1"/>
          <p:nvPr/>
        </p:nvSpPr>
        <p:spPr>
          <a:xfrm>
            <a:off x="452628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L  Lifecycle</a:t>
            </a:r>
            <a:endParaRPr lang="en-US" sz="1900" dirty="0"/>
          </a:p>
          <a:p>
            <a:pPr indent="0" marL="0">
              <a:spcAft>
                <a:spcPts val="400"/>
              </a:spcAft>
              <a:buNone/>
            </a:pPr>
            <a:r>
              <a:rPr lang="en-US" sz="1600" dirty="0">
                <a:solidFill>
                  <a:srgbClr val="0B1F33"/>
                </a:solidFill>
              </a:rPr>
              <a:t>The state of the consent: created, pending, active, suspended, revoked or expired.</a:t>
            </a:r>
            <a:endParaRPr lang="en-US" sz="1900" dirty="0"/>
          </a:p>
        </p:txBody>
      </p:sp>
      <p:sp>
        <p:nvSpPr>
          <p:cNvPr id="16" name="card E  Evidence"/>
          <p:cNvSpPr/>
          <p:nvPr/>
        </p:nvSpPr>
        <p:spPr>
          <a:xfrm>
            <a:off x="795528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7" name="card text E  Evidence"/>
          <p:cNvSpPr txBox="1"/>
          <p:nvPr/>
        </p:nvSpPr>
        <p:spPr>
          <a:xfrm>
            <a:off x="809244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E  Evidence</a:t>
            </a:r>
            <a:endParaRPr lang="en-US" sz="1900" dirty="0"/>
          </a:p>
          <a:p>
            <a:pPr indent="0" marL="0">
              <a:spcAft>
                <a:spcPts val="400"/>
              </a:spcAft>
              <a:buNone/>
            </a:pPr>
            <a:r>
              <a:rPr lang="en-US" sz="1600" dirty="0">
                <a:solidFill>
                  <a:srgbClr val="0B1F33"/>
                </a:solidFill>
              </a:rPr>
              <a:t>Signatures, the token</a:t>
            </a:r>
            <a:r>
              <a:rPr lang="en-US" sz="1600" dirty="0">
                <a:solidFill>
                  <a:srgbClr val="0B1F33"/>
                </a:solidFill>
              </a:rPr>
              <a:t> and the record of each decision</a:t>
            </a:r>
            <a:r>
              <a:rPr lang="en-US" sz="1600" dirty="0">
                <a:solidFill>
                  <a:srgbClr val="0B1F33"/>
                </a:solidFill>
              </a:rPr>
              <a:t>.</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HOW I DID IT</a:t>
            </a:r>
            <a:endParaRPr lang="en-US" sz="3000" dirty="0"/>
          </a:p>
        </p:txBody>
      </p:sp>
      <p:sp>
        <p:nvSpPr>
          <p:cNvPr id="4" name="F2 panel"/>
          <p:cNvSpPr/>
          <p:nvPr/>
        </p:nvSpPr>
        <p:spPr>
          <a:xfrm>
            <a:off x="640080" y="1097280"/>
            <a:ext cx="576072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749808" y="1288146"/>
            <a:ext cx="5541264" cy="5058949"/>
          </a:xfrm>
          <a:prstGeom prst="rect">
            <a:avLst/>
          </a:prstGeom>
        </p:spPr>
      </p:pic>
      <p:sp>
        <p:nvSpPr>
          <p:cNvPr id="6" name="stat records from seven databases"/>
          <p:cNvSpPr txBox="1"/>
          <p:nvPr/>
        </p:nvSpPr>
        <p:spPr>
          <a:xfrm>
            <a:off x="6949440" y="128016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9,256</a:t>
            </a:r>
            <a:endParaRPr lang="en-US" sz="4400" dirty="0"/>
          </a:p>
        </p:txBody>
      </p:sp>
      <p:sp>
        <p:nvSpPr>
          <p:cNvPr id="7" name="stat label records from seven databases"/>
          <p:cNvSpPr txBox="1"/>
          <p:nvPr/>
        </p:nvSpPr>
        <p:spPr>
          <a:xfrm>
            <a:off x="6949440" y="2148840"/>
            <a:ext cx="3291840" cy="640080"/>
          </a:xfrm>
          <a:prstGeom prst="rect">
            <a:avLst/>
          </a:prstGeom>
          <a:noFill/>
          <a:ln/>
        </p:spPr>
        <p:txBody>
          <a:bodyPr wrap="square" lIns="0" tIns="0" rIns="0" bIns="0" rtlCol="0" anchor="ctr"/>
          <a:lstStyle/>
          <a:p>
            <a:pPr indent="0" marL="0">
              <a:buNone/>
            </a:pPr>
            <a:r>
              <a:rPr lang="en-US" sz="1600" dirty="0">
                <a:solidFill>
                  <a:srgbClr val="FFFFFF"/>
                </a:solidFill>
              </a:rPr>
              <a:t>records from seven databases</a:t>
            </a:r>
            <a:endParaRPr lang="en-US" sz="1600" dirty="0"/>
          </a:p>
        </p:txBody>
      </p:sp>
      <p:sp>
        <p:nvSpPr>
          <p:cNvPr id="8" name="stat studies met the criteria at the checkpoint"/>
          <p:cNvSpPr txBox="1"/>
          <p:nvPr/>
        </p:nvSpPr>
        <p:spPr>
          <a:xfrm>
            <a:off x="6949440" y="292608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47</a:t>
            </a:r>
            <a:endParaRPr lang="en-US" sz="4400" dirty="0"/>
          </a:p>
        </p:txBody>
      </p:sp>
      <p:sp>
        <p:nvSpPr>
          <p:cNvPr id="9" name="stat label studies met the criteria at the checkpoint"/>
          <p:cNvSpPr txBox="1"/>
          <p:nvPr/>
        </p:nvSpPr>
        <p:spPr>
          <a:xfrm>
            <a:off x="6949440" y="3794760"/>
            <a:ext cx="3291840" cy="640080"/>
          </a:xfrm>
          <a:prstGeom prst="rect">
            <a:avLst/>
          </a:prstGeom>
          <a:noFill/>
          <a:ln/>
        </p:spPr>
        <p:txBody>
          <a:bodyPr wrap="square" lIns="0" tIns="0" rIns="0" bIns="0" rtlCol="0" anchor="ctr"/>
          <a:lstStyle/>
          <a:p>
            <a:pPr indent="0" marL="0">
              <a:buNone/>
            </a:pPr>
            <a:r>
              <a:rPr lang="en-US" sz="1600" dirty="0">
                <a:solidFill>
                  <a:srgbClr val="FFFFFF"/>
                </a:solidFill>
              </a:rPr>
              <a:t>studies met the criteria at the checkpoint</a:t>
            </a:r>
            <a:endParaRPr lang="en-US" sz="1600" dirty="0"/>
          </a:p>
        </p:txBody>
      </p:sp>
      <p:sp>
        <p:nvSpPr>
          <p:cNvPr id="10" name="stat primary studies analysed (23 core + 2)"/>
          <p:cNvSpPr txBox="1"/>
          <p:nvPr/>
        </p:nvSpPr>
        <p:spPr>
          <a:xfrm>
            <a:off x="6949440" y="457200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25</a:t>
            </a:r>
            <a:endParaRPr lang="en-US" sz="4400" dirty="0"/>
          </a:p>
        </p:txBody>
      </p:sp>
      <p:sp>
        <p:nvSpPr>
          <p:cNvPr id="11" name="stat label primary studies analysed (23 core + 2)"/>
          <p:cNvSpPr txBox="1"/>
          <p:nvPr/>
        </p:nvSpPr>
        <p:spPr>
          <a:xfrm>
            <a:off x="6949440" y="5440680"/>
            <a:ext cx="3291840" cy="640080"/>
          </a:xfrm>
          <a:prstGeom prst="rect">
            <a:avLst/>
          </a:prstGeom>
          <a:noFill/>
          <a:ln/>
        </p:spPr>
        <p:txBody>
          <a:bodyPr wrap="square" lIns="0" tIns="0" rIns="0" bIns="0" rtlCol="0" anchor="ctr"/>
          <a:lstStyle/>
          <a:p>
            <a:pPr indent="0" marL="0">
              <a:buNone/>
            </a:pPr>
            <a:r>
              <a:rPr lang="en-US" sz="1600" dirty="0">
                <a:solidFill>
                  <a:srgbClr val="FFFFFF"/>
                </a:solidFill>
              </a:rPr>
              <a:t>primary studies analysed (23 core + 2)</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WHAT I FOUND</a:t>
            </a:r>
            <a:endParaRPr lang="en-US" sz="3000" dirty="0"/>
          </a:p>
        </p:txBody>
      </p:sp>
      <p:sp>
        <p:nvSpPr>
          <p:cNvPr id="4" name="F5 panel"/>
          <p:cNvSpPr/>
          <p:nvPr/>
        </p:nvSpPr>
        <p:spPr>
          <a:xfrm>
            <a:off x="640080" y="1097280"/>
            <a:ext cx="69494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749808" y="2129189"/>
            <a:ext cx="6729984" cy="3376861"/>
          </a:xfrm>
          <a:prstGeom prst="rect">
            <a:avLst/>
          </a:prstGeom>
        </p:spPr>
      </p:pic>
      <p:sp>
        <p:nvSpPr>
          <p:cNvPr id="6" name="card Conjunction gap"/>
          <p:cNvSpPr/>
          <p:nvPr/>
        </p:nvSpPr>
        <p:spPr>
          <a:xfrm>
            <a:off x="7863840" y="1280160"/>
            <a:ext cx="3657600" cy="2377440"/>
          </a:xfrm>
          <a:prstGeom prst="roundRect">
            <a:avLst>
              <a:gd name="adj" fmla="val 3846"/>
            </a:avLst>
          </a:prstGeom>
          <a:solidFill>
            <a:srgbClr val="FFFFFF">
              <a:alpha val="92000"/>
            </a:srgbClr>
          </a:solidFill>
          <a:ln w="19050">
            <a:solidFill>
              <a:srgbClr val="1FB5D6"/>
            </a:solidFill>
            <a:prstDash val="solid"/>
          </a:ln>
        </p:spPr>
      </p:sp>
      <p:sp>
        <p:nvSpPr>
          <p:cNvPr id="7" name="card text Conjunction gap"/>
          <p:cNvSpPr txBox="1"/>
          <p:nvPr/>
        </p:nvSpPr>
        <p:spPr>
          <a:xfrm>
            <a:off x="8001000" y="1371600"/>
            <a:ext cx="3383280" cy="2194560"/>
          </a:xfrm>
          <a:prstGeom prst="rect">
            <a:avLst/>
          </a:prstGeom>
          <a:noFill/>
          <a:ln/>
        </p:spPr>
        <p:txBody>
          <a:bodyPr wrap="square" rtlCol="0" anchor="t"/>
          <a:lstStyle/>
          <a:p>
            <a:pPr indent="0" marL="0">
              <a:spcAft>
                <a:spcPts val="400"/>
              </a:spcAft>
              <a:buNone/>
            </a:pPr>
            <a:r>
              <a:rPr lang="en-US" sz="1900" b="1" dirty="0">
                <a:solidFill>
                  <a:srgbClr val="1FB5D6"/>
                </a:solidFill>
              </a:rPr>
              <a:t>Conjunction gap</a:t>
            </a:r>
            <a:endParaRPr lang="en-US" sz="1900" dirty="0"/>
          </a:p>
          <a:p>
            <a:pPr indent="0" marL="0">
              <a:spcAft>
                <a:spcPts val="400"/>
              </a:spcAft>
              <a:buNone/>
            </a:pPr>
            <a:r>
              <a:rPr lang="en-US" sz="1600" dirty="0">
                <a:solidFill>
                  <a:srgbClr val="0B1F33"/>
                </a:solidFill>
              </a:rPr>
              <a:t>Each condition exists somewhere, but no study joins identity, authority, approval, policy and time in one decision.</a:t>
            </a:r>
            <a:endParaRPr lang="en-US" sz="1900" dirty="0"/>
          </a:p>
        </p:txBody>
      </p:sp>
      <p:sp>
        <p:nvSpPr>
          <p:cNvPr id="8" name="card Assurance gap"/>
          <p:cNvSpPr/>
          <p:nvPr/>
        </p:nvSpPr>
        <p:spPr>
          <a:xfrm>
            <a:off x="7863840" y="3931920"/>
            <a:ext cx="3657600" cy="2377440"/>
          </a:xfrm>
          <a:prstGeom prst="roundRect">
            <a:avLst>
              <a:gd name="adj" fmla="val 3846"/>
            </a:avLst>
          </a:prstGeom>
          <a:solidFill>
            <a:srgbClr val="FFFFFF">
              <a:alpha val="92000"/>
            </a:srgbClr>
          </a:solidFill>
          <a:ln w="19050">
            <a:solidFill>
              <a:srgbClr val="F2A900"/>
            </a:solidFill>
            <a:prstDash val="solid"/>
          </a:ln>
        </p:spPr>
      </p:sp>
      <p:sp>
        <p:nvSpPr>
          <p:cNvPr id="9" name="card text Assurance gap"/>
          <p:cNvSpPr txBox="1"/>
          <p:nvPr/>
        </p:nvSpPr>
        <p:spPr>
          <a:xfrm>
            <a:off x="8001000" y="4023360"/>
            <a:ext cx="3383280" cy="2194560"/>
          </a:xfrm>
          <a:prstGeom prst="rect">
            <a:avLst/>
          </a:prstGeom>
          <a:noFill/>
          <a:ln/>
        </p:spPr>
        <p:txBody>
          <a:bodyPr wrap="square" rtlCol="0" anchor="t"/>
          <a:lstStyle/>
          <a:p>
            <a:pPr indent="0" marL="0">
              <a:spcAft>
                <a:spcPts val="400"/>
              </a:spcAft>
              <a:buNone/>
            </a:pPr>
            <a:r>
              <a:rPr lang="en-US" sz="1900" b="1" dirty="0">
                <a:solidFill>
                  <a:srgbClr val="F2A900"/>
                </a:solidFill>
              </a:rPr>
              <a:t>Assurance gap</a:t>
            </a:r>
            <a:endParaRPr lang="en-US" sz="1900" dirty="0"/>
          </a:p>
          <a:p>
            <a:pPr indent="0" marL="0">
              <a:spcAft>
                <a:spcPts val="400"/>
              </a:spcAft>
              <a:buNone/>
            </a:pPr>
            <a:r>
              <a:rPr lang="en-US" sz="1600" dirty="0">
                <a:solidFill>
                  <a:srgbClr val="0B1F33"/>
                </a:solidFill>
              </a:rPr>
              <a:t>The whole decision is neither formally proved nor systematically tested. Proofs exist in only 4 of 25 studies.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SIX RESEARCH GAPS</a:t>
            </a:r>
            <a:endParaRPr lang="en-US" sz="3000" dirty="0"/>
          </a:p>
        </p:txBody>
      </p:sp>
      <p:sp>
        <p:nvSpPr>
          <p:cNvPr id="4" name="card Gap 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Gap 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1</a:t>
            </a:r>
            <a:endParaRPr lang="en-US" sz="1900" dirty="0"/>
          </a:p>
          <a:p>
            <a:pPr indent="0" marL="0">
              <a:spcAft>
                <a:spcPts val="400"/>
              </a:spcAft>
              <a:buNone/>
            </a:pPr>
            <a:r>
              <a:rPr lang="en-US" sz="1600" dirty="0">
                <a:solidFill>
                  <a:srgbClr val="0B1F33"/>
                </a:solidFill>
              </a:rPr>
              <a:t>Consent is treated as a record of permission, not as something the system evaluates.</a:t>
            </a:r>
            <a:endParaRPr lang="en-US" sz="1900" dirty="0"/>
          </a:p>
        </p:txBody>
      </p:sp>
      <p:sp>
        <p:nvSpPr>
          <p:cNvPr id="6" name="card Gap 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Gap 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2</a:t>
            </a:r>
            <a:endParaRPr lang="en-US" sz="1900" dirty="0"/>
          </a:p>
          <a:p>
            <a:pPr indent="0" marL="0">
              <a:spcAft>
                <a:spcPts val="400"/>
              </a:spcAft>
              <a:buNone/>
            </a:pPr>
            <a:r>
              <a:rPr lang="en-US" sz="1600" dirty="0">
                <a:solidFill>
                  <a:srgbClr val="0B1F33"/>
                </a:solidFill>
              </a:rPr>
              <a:t>Identity shows who a person is, not what they may do. Only 10 of 25 studies check authority separately.</a:t>
            </a:r>
            <a:endParaRPr lang="en-US" sz="1900" dirty="0"/>
          </a:p>
        </p:txBody>
      </p:sp>
      <p:sp>
        <p:nvSpPr>
          <p:cNvPr id="8" name="card Gap 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Gap 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3</a:t>
            </a:r>
            <a:endParaRPr lang="en-US" sz="1900" dirty="0"/>
          </a:p>
          <a:p>
            <a:pPr indent="0" marL="0">
              <a:spcAft>
                <a:spcPts val="400"/>
              </a:spcAft>
              <a:buNone/>
            </a:pPr>
            <a:r>
              <a:rPr lang="en-US" sz="1600" dirty="0">
                <a:solidFill>
                  <a:srgbClr val="0B1F33"/>
                </a:solidFill>
              </a:rPr>
              <a:t>Multi-party approval is a backup path or a one-time step, not a condition of every access.</a:t>
            </a:r>
            <a:endParaRPr lang="en-US" sz="1900" dirty="0"/>
          </a:p>
        </p:txBody>
      </p:sp>
      <p:sp>
        <p:nvSpPr>
          <p:cNvPr id="10" name="card Gap 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Gap 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4</a:t>
            </a:r>
            <a:endParaRPr lang="en-US" sz="1900" dirty="0"/>
          </a:p>
          <a:p>
            <a:pPr indent="0" marL="0">
              <a:spcAft>
                <a:spcPts val="400"/>
              </a:spcAft>
              <a:buNone/>
            </a:pPr>
            <a:r>
              <a:rPr lang="en-US" sz="1600" dirty="0">
                <a:solidFill>
                  <a:srgbClr val="0B1F33"/>
                </a:solidFill>
              </a:rPr>
              <a:t>Purpose and data scope</a:t>
            </a:r>
            <a:r>
              <a:rPr lang="en-US" sz="1600" dirty="0">
                <a:solidFill>
                  <a:srgbClr val="0B1F33"/>
                </a:solidFill>
              </a:rPr>
              <a:t> are rarely checked in the same decision as identity and approval.</a:t>
            </a:r>
            <a:endParaRPr lang="en-US" sz="1900" dirty="0"/>
          </a:p>
        </p:txBody>
      </p:sp>
      <p:sp>
        <p:nvSpPr>
          <p:cNvPr id="12" name="card Gap 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Gap 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5</a:t>
            </a:r>
            <a:endParaRPr lang="en-US" sz="1900" dirty="0"/>
          </a:p>
          <a:p>
            <a:pPr indent="0" marL="0">
              <a:spcAft>
                <a:spcPts val="400"/>
              </a:spcAft>
              <a:buNone/>
            </a:pPr>
            <a:r>
              <a:rPr lang="en-US" sz="1600" dirty="0">
                <a:solidFill>
                  <a:srgbClr val="0B1F33"/>
                </a:solidFill>
              </a:rPr>
              <a:t>Time, lifecycle and revocation are often checked once, at registration, not at each request.</a:t>
            </a:r>
            <a:endParaRPr lang="en-US" sz="1900" dirty="0"/>
          </a:p>
        </p:txBody>
      </p:sp>
      <p:sp>
        <p:nvSpPr>
          <p:cNvPr id="14" name="card Gap 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Gap 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6</a:t>
            </a:r>
            <a:endParaRPr lang="en-US" sz="1900" dirty="0"/>
          </a:p>
          <a:p>
            <a:pPr indent="0" marL="0">
              <a:spcAft>
                <a:spcPts val="400"/>
              </a:spcAft>
              <a:buNone/>
            </a:pPr>
            <a:r>
              <a:rPr lang="en-US" sz="1600" dirty="0">
                <a:solidFill>
                  <a:srgbClr val="0B1F33"/>
                </a:solidFill>
              </a:rPr>
              <a:t>The decision as a whole is neither formally proved nor systematically tested.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QUESTIONS</a:t>
            </a:r>
            <a:endParaRPr lang="en-US" sz="3000" dirty="0"/>
          </a:p>
        </p:txBody>
      </p:sp>
      <p:sp>
        <p:nvSpPr>
          <p:cNvPr id="4" name="rq box"/>
          <p:cNvSpPr/>
          <p:nvPr/>
        </p:nvSpPr>
        <p:spPr>
          <a:xfrm>
            <a:off x="731520" y="1143000"/>
            <a:ext cx="10698480" cy="1325880"/>
          </a:xfrm>
          <a:prstGeom prst="roundRect">
            <a:avLst>
              <a:gd name="adj" fmla="val 8276"/>
            </a:avLst>
          </a:prstGeom>
          <a:solidFill>
            <a:srgbClr val="0B2A4A">
              <a:alpha val="85000"/>
            </a:srgbClr>
          </a:solidFill>
          <a:ln w="25400">
            <a:solidFill>
              <a:srgbClr val="1FB5D6"/>
            </a:solidFill>
            <a:prstDash val="solid"/>
          </a:ln>
        </p:spPr>
      </p:sp>
      <p:sp>
        <p:nvSpPr>
          <p:cNvPr id="5" name="rq text"/>
          <p:cNvSpPr txBox="1"/>
          <p:nvPr/>
        </p:nvSpPr>
        <p:spPr>
          <a:xfrm>
            <a:off x="914400" y="1188720"/>
            <a:ext cx="10332720" cy="1234440"/>
          </a:xfrm>
          <a:prstGeom prst="rect">
            <a:avLst/>
          </a:prstGeom>
          <a:noFill/>
          <a:ln/>
        </p:spPr>
        <p:txBody>
          <a:bodyPr wrap="square" rtlCol="0" anchor="ctr"/>
          <a:lstStyle/>
          <a:p>
            <a:pPr algn="ctr" indent="0" marL="0">
              <a:buNone/>
            </a:pPr>
            <a:r>
              <a:rPr lang="en-US" sz="1800" i="1" dirty="0">
                <a:solidFill>
                  <a:srgbClr val="FFFFFF"/>
                </a:solidFill>
              </a:rPr>
              <a:t>How can a trust-oriented computing framework establish and enforce trustworthy multi-party consent for decentralised healthcare data sharing under identity, authority, and policy constraints?</a:t>
            </a:r>
            <a:endParaRPr lang="en-US" sz="1800" dirty="0"/>
          </a:p>
        </p:txBody>
      </p:sp>
      <p:sp>
        <p:nvSpPr>
          <p:cNvPr id="6" name="card RQ1"/>
          <p:cNvSpPr/>
          <p:nvPr/>
        </p:nvSpPr>
        <p:spPr>
          <a:xfrm>
            <a:off x="73152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7" name="card text RQ1"/>
          <p:cNvSpPr txBox="1"/>
          <p:nvPr/>
        </p:nvSpPr>
        <p:spPr>
          <a:xfrm>
            <a:off x="86868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600" dirty="0">
                <a:solidFill>
                  <a:srgbClr val="0B1F33"/>
                </a:solidFill>
              </a:rPr>
              <a:t>How can consent be modelled as an object that carries identity, authority, policy and evidence?</a:t>
            </a:r>
            <a:endParaRPr lang="en-US" sz="1900" dirty="0"/>
          </a:p>
        </p:txBody>
      </p:sp>
      <p:sp>
        <p:nvSpPr>
          <p:cNvPr id="8" name="card RQ2"/>
          <p:cNvSpPr/>
          <p:nvPr/>
        </p:nvSpPr>
        <p:spPr>
          <a:xfrm>
            <a:off x="434340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9" name="card text RQ2"/>
          <p:cNvSpPr txBox="1"/>
          <p:nvPr/>
        </p:nvSpPr>
        <p:spPr>
          <a:xfrm>
            <a:off x="448056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600" dirty="0">
                <a:solidFill>
                  <a:srgbClr val="0B1F33"/>
                </a:solidFill>
              </a:rPr>
              <a:t>How can DIDs and credentials prove who a person is and, separately, what they may do?</a:t>
            </a:r>
            <a:endParaRPr lang="en-US" sz="1900" dirty="0"/>
          </a:p>
        </p:txBody>
      </p:sp>
      <p:sp>
        <p:nvSpPr>
          <p:cNvPr id="10" name="card RQ3"/>
          <p:cNvSpPr/>
          <p:nvPr/>
        </p:nvSpPr>
        <p:spPr>
          <a:xfrm>
            <a:off x="795528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11" name="card text RQ3"/>
          <p:cNvSpPr txBox="1"/>
          <p:nvPr/>
        </p:nvSpPr>
        <p:spPr>
          <a:xfrm>
            <a:off x="809244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600" dirty="0">
                <a:solidFill>
                  <a:srgbClr val="0B1F33"/>
                </a:solidFill>
              </a:rPr>
              <a:t>How can several guardians approve together, so that no single person can approve alone?</a:t>
            </a:r>
            <a:endParaRPr lang="en-US" sz="1900" dirty="0"/>
          </a:p>
        </p:txBody>
      </p:sp>
      <p:sp>
        <p:nvSpPr>
          <p:cNvPr id="12" name="card RQ4"/>
          <p:cNvSpPr/>
          <p:nvPr/>
        </p:nvSpPr>
        <p:spPr>
          <a:xfrm>
            <a:off x="73152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3" name="card text RQ4"/>
          <p:cNvSpPr txBox="1"/>
          <p:nvPr/>
        </p:nvSpPr>
        <p:spPr>
          <a:xfrm>
            <a:off x="86868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600" dirty="0">
                <a:solidFill>
                  <a:srgbClr val="0B1F33"/>
                </a:solidFill>
              </a:rPr>
              <a:t>How can purpose and data scope stop valid identities from reaching data they were not given?</a:t>
            </a:r>
            <a:endParaRPr lang="en-US" sz="1900" dirty="0"/>
          </a:p>
        </p:txBody>
      </p:sp>
      <p:sp>
        <p:nvSpPr>
          <p:cNvPr id="14" name="card RQ5"/>
          <p:cNvSpPr/>
          <p:nvPr/>
        </p:nvSpPr>
        <p:spPr>
          <a:xfrm>
            <a:off x="434340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5" name="card text RQ5"/>
          <p:cNvSpPr txBox="1"/>
          <p:nvPr/>
        </p:nvSpPr>
        <p:spPr>
          <a:xfrm>
            <a:off x="448056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600" dirty="0">
                <a:solidFill>
                  <a:srgbClr val="0B1F33"/>
                </a:solidFill>
              </a:rPr>
              <a:t>How can time and lifecycle controls reject access after expiry or revocation?</a:t>
            </a:r>
            <a:endParaRPr lang="en-US" sz="1900" dirty="0"/>
          </a:p>
        </p:txBody>
      </p:sp>
      <p:sp>
        <p:nvSpPr>
          <p:cNvPr id="16" name="card RQ6"/>
          <p:cNvSpPr/>
          <p:nvPr/>
        </p:nvSpPr>
        <p:spPr>
          <a:xfrm>
            <a:off x="795528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7" name="card text RQ6"/>
          <p:cNvSpPr txBox="1"/>
          <p:nvPr/>
        </p:nvSpPr>
        <p:spPr>
          <a:xfrm>
            <a:off x="809244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600" dirty="0">
                <a:solidFill>
                  <a:srgbClr val="0B1F33"/>
                </a:solidFill>
              </a:rPr>
              <a:t>How can the security properties be formally defined and empirically tested?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 AND STATUS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698480" cy="914400"/>
        </p:xfrm>
        <a:graphic>
          <a:graphicData uri="http://schemas.openxmlformats.org/drawingml/2006/table">
            <a:tbl>
              <a:tblPr/>
              <a:tblGrid>
                <a:gridCol w="1371600"/>
                <a:gridCol w="6949440"/>
                <a:gridCol w="2377440"/>
              </a:tblGrid>
              <a:tr h="749808">
                <a:tc>
                  <a:txBody>
                    <a:bodyPr/>
                    <a:lstStyle/>
                    <a:p>
                      <a:pPr indent="0" marL="0">
                        <a:buNone/>
                      </a:pPr>
                      <a:r>
                        <a:rPr lang="en-US" sz="1600" b="1" dirty="0">
                          <a:solidFill>
                            <a:srgbClr val="FFFFFF"/>
                          </a:solidFill>
                        </a:rPr>
                        <a:t>Objective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In simple words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Status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49808">
                <a:tc>
                  <a:txBody>
                    <a:bodyPr/>
                    <a:lstStyle/>
                    <a:p>
                      <a:pPr indent="0" marL="0">
                        <a:buNone/>
                      </a:pPr>
                      <a:r>
                        <a:rPr lang="en-US" sz="1600" b="1" dirty="0">
                          <a:solidFill>
                            <a:srgbClr val="0B1F33"/>
                          </a:solidFill>
                        </a:rPr>
                        <a:t>RO1</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Make consent an object the system can check: C = (I, A, P, T, L, 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RO2</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Check who a person is (DID) separately from what they may do (credential)</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RO3</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Require approval from all members of </a:t>
                      </a:r>
                      <a:r>
                        <a:rPr lang="en-US" sz="1600" dirty="0">
                          <a:solidFill>
                            <a:srgbClr val="0B1F33"/>
                          </a:solidFill>
                        </a:rPr>
                        <a:t>the approving set G</a:t>
                      </a:r>
                      <a:r>
                        <a:rPr lang="en-US" sz="1600" dirty="0">
                          <a:solidFill>
                            <a:srgbClr val="0B1F33"/>
                          </a:solidFill>
                        </a:rPr>
                        <a:t>, each with a verified signature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RO4</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Allow only requests inside the agreed </a:t>
                      </a:r>
                      <a:r>
                        <a:rPr lang="en-US" sz="1600" dirty="0">
                          <a:solidFill>
                            <a:srgbClr val="0B1F33"/>
                          </a:solidFill>
                        </a:rPr>
                        <a:t>purpose and data scope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RO5</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Reject access after expiry or revocation, and control the consent lifecycle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In Progress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RO6</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Define the security properties, prove them formally and test them empirically</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Partially completed</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single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Gaps and questions</a:t>
            </a:r>
            <a:endParaRPr lang="en-US" sz="1400" dirty="0"/>
          </a:p>
          <a:p>
            <a:pPr algn="ctr" indent="0" marL="0">
              <a:spcAft>
                <a:spcPts val="800"/>
              </a:spcAft>
              <a:buNone/>
            </a:pPr>
            <a:r>
              <a:rPr lang="en-US" sz="1300" dirty="0">
                <a:solidFill>
                  <a:srgbClr val="0B1F33"/>
                </a:solidFill>
              </a:rPr>
              <a:t>Gap 1 to Gap 6;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tests; formal proofs next</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ARCHITECTURE</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THE DECISION RULE</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Decision(C, R, t) = ALLOW  ⟺  VI(u) ∧ VA(C) ∧ VP(C, R) ∧ VT(C, t) ∧ </a:t>
            </a:r>
            <a:r>
              <a:rPr lang="en-US" sz="2000" b="1" dirty="0">
                <a:solidFill>
                  <a:srgbClr val="FFFFFF"/>
                </a:solidFill>
                <a:latin typeface="Cambria" pitchFamily="34" charset="0"/>
                <a:ea typeface="Cambria" pitchFamily="34" charset="-122"/>
                <a:cs typeface="Cambria" pitchFamily="34" charset="-120"/>
              </a:rPr>
              <a:t>VL(C)</a:t>
            </a:r>
            <a:endParaRPr lang="en-US" sz="2000" dirty="0"/>
          </a:p>
        </p:txBody>
      </p:sp>
      <p:sp>
        <p:nvSpPr>
          <p:cNvPr id="6" name="card VI"/>
          <p:cNvSpPr/>
          <p:nvPr/>
        </p:nvSpPr>
        <p:spPr>
          <a:xfrm>
            <a:off x="731520"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 are valid</a:t>
            </a:r>
            <a:endParaRPr lang="en-US" sz="1900" dirty="0"/>
          </a:p>
        </p:txBody>
      </p:sp>
      <p:sp>
        <p:nvSpPr>
          <p:cNvPr id="8" name="card VA"/>
          <p:cNvSpPr/>
          <p:nvPr/>
        </p:nvSpPr>
        <p:spPr>
          <a:xfrm>
            <a:off x="2898648"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All required members of G approved; the token exists</a:t>
            </a:r>
            <a:endParaRPr lang="en-US" sz="1900" dirty="0"/>
          </a:p>
        </p:txBody>
      </p:sp>
      <p:sp>
        <p:nvSpPr>
          <p:cNvPr id="10" name="card VP"/>
          <p:cNvSpPr/>
          <p:nvPr/>
        </p:nvSpPr>
        <p:spPr>
          <a:xfrm>
            <a:off x="5065776"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Purpose and data scope are inside the consent</a:t>
            </a:r>
            <a:endParaRPr lang="en-US" sz="1900" dirty="0"/>
          </a:p>
        </p:txBody>
      </p:sp>
      <p:sp>
        <p:nvSpPr>
          <p:cNvPr id="12" name="card VT"/>
          <p:cNvSpPr/>
          <p:nvPr/>
        </p:nvSpPr>
        <p:spPr>
          <a:xfrm>
            <a:off x="7232904"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Inside the validity window</a:t>
            </a:r>
            <a:endParaRPr lang="en-US" sz="1900" dirty="0"/>
          </a:p>
        </p:txBody>
      </p:sp>
      <p:sp>
        <p:nvSpPr>
          <p:cNvPr id="14" name="card VL"/>
          <p:cNvSpPr/>
          <p:nvPr/>
        </p:nvSpPr>
        <p:spPr>
          <a:xfrm>
            <a:off x="9400032"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Lifecycle state allows access (active, not revoked)</a:t>
            </a:r>
            <a:endParaRPr lang="en-US" sz="1900" dirty="0"/>
          </a:p>
        </p:txBody>
      </p:sp>
      <p:sp>
        <p:nvSpPr>
          <p:cNvPr id="16" name="bullets"/>
          <p:cNvSpPr txBox="1"/>
          <p:nvPr/>
        </p:nvSpPr>
        <p:spPr>
          <a:xfrm>
            <a:off x="822960" y="4389120"/>
            <a:ext cx="10515600" cy="210312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One failed check is enough to say DENY.</a:t>
            </a:r>
            <a:endParaRPr lang="en-US" sz="1600" dirty="0"/>
          </a:p>
          <a:p>
            <a:pPr marL="342900" indent="-342900">
              <a:spcAft>
                <a:spcPts val="1000"/>
              </a:spcAft>
              <a:buSzPct val="100000"/>
              <a:buChar char="•"/>
            </a:pPr>
            <a:r>
              <a:rPr lang="en-US" sz="1600" dirty="0">
                <a:solidFill>
                  <a:srgbClr val="FFFFFF"/>
                </a:solidFill>
              </a:rPr>
              <a:t>A Groth16 zero-knowledge proof must also verify before any data is released.</a:t>
            </a:r>
            <a:endParaRPr lang="en-US" sz="1600" dirty="0"/>
          </a:p>
          <a:p>
            <a:pPr marL="342900" indent="-342900">
              <a:spcAft>
                <a:spcPts val="1000"/>
              </a:spcAft>
              <a:buSzPct val="100000"/>
              <a:buChar char="•"/>
            </a:pPr>
            <a:r>
              <a:rPr lang="en-US" sz="1600" dirty="0">
                <a:solidFill>
                  <a:srgbClr val="FFFFFF"/>
                </a:solidFill>
              </a:rPr>
              <a:t>Every decision on an ACTIVE consent is written to the audit ledger with its decision matrix.</a:t>
            </a:r>
            <a:endParaRPr lang="en-US" sz="1600" dirty="0"/>
          </a:p>
          <a:p>
            <a:pPr marL="342900" indent="-342900">
              <a:spcAft>
                <a:spcPts val="1000"/>
              </a:spcAft>
              <a:buSzPct val="100000"/>
              <a:buChar char="•"/>
            </a:pPr>
            <a:r>
              <a:rPr lang="en-US" sz="1600" dirty="0">
                <a:solidFill>
                  <a:srgbClr val="FFFFFF"/>
                </a:solidFill>
              </a:rPr>
              <a:t>Jurisdiction is future work for the framework; the prototype already has an exploratory jurisdiction check, labelled VL on its screen.</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THE PATIENT CREATES THE CONSENT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RO1: Trust-centric consent model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the guardians, the data modules</a:t>
            </a:r>
            <a:r>
              <a:rPr lang="en-US" sz="1600" dirty="0">
                <a:solidFill>
                  <a:srgbClr val="FFFFFF"/>
                </a:solidFill>
              </a:rPr>
              <a:t>, and the start and expiry time</a:t>
            </a:r>
            <a:r>
              <a:rPr lang="en-US" sz="1600" dirty="0">
                <a:solidFill>
                  <a:srgbClr val="FFFFFF"/>
                </a:solidFill>
              </a:rPr>
              <a:t>.</a:t>
            </a:r>
            <a:endParaRPr lang="en-US" sz="1600" dirty="0"/>
          </a:p>
          <a:p>
            <a:pPr marL="342900" indent="-342900">
              <a:spcAft>
                <a:spcPts val="1000"/>
              </a:spcAft>
              <a:buSzPct val="100000"/>
              <a:buChar char="•"/>
            </a:pPr>
            <a:r>
              <a:rPr lang="en-US" sz="1600" dirty="0">
                <a:solidFill>
                  <a:srgbClr val="FFFFFF"/>
                </a:solidFill>
              </a:rPr>
              <a:t>In this prototype the purpose is fixed to Treatment.</a:t>
            </a:r>
            <a:endParaRPr lang="en-US" sz="1600" dirty="0"/>
          </a:p>
          <a:p>
            <a:pPr marL="342900" indent="-342900">
              <a:spcAft>
                <a:spcPts val="1000"/>
              </a:spcAft>
              <a:buSzPct val="100000"/>
              <a:buChar char="•"/>
            </a:pPr>
            <a:r>
              <a:rPr lang="en-US" sz="1600" dirty="0">
                <a:solidFill>
                  <a:srgbClr val="FFFFFF"/>
                </a:solidFill>
              </a:rPr>
              <a:t>Bad input is rejected, for example an empty data scope or a malformed guardian DID.</a:t>
            </a:r>
            <a:endParaRPr lang="en-US" sz="1600" dirty="0"/>
          </a:p>
          <a:p>
            <a:pPr marL="342900" indent="-342900">
              <a:spcAft>
                <a:spcPts val="1000"/>
              </a:spcAft>
              <a:buSzPct val="100000"/>
              <a:buChar char="•"/>
            </a:pPr>
            <a:r>
              <a:rPr lang="en-US" sz="1600" dirty="0">
                <a:solidFill>
                  <a:srgbClr val="FFFFFF"/>
                </a:solidFill>
              </a:rPr>
              <a:t>The consent object C is built</a:t>
            </a:r>
            <a:r>
              <a:rPr lang="en-US" sz="1600" dirty="0">
                <a:solidFill>
                  <a:srgbClr val="FFFFFF"/>
                </a:solidFill>
              </a:rPr>
              <a:t>; its lifecycle state L is PENDING (PENDING_SIGNATURE in the prototype)</a:t>
            </a:r>
            <a:r>
              <a:rPr lang="en-US" sz="1600" dirty="0">
                <a:solidFill>
                  <a:srgbClr val="FFFFFF"/>
                </a:solidFill>
              </a:rPr>
              <a:t>.</a:t>
            </a:r>
            <a:endParaRPr lang="en-US" sz="1600" dirty="0"/>
          </a:p>
          <a:p>
            <a:pPr marL="342900" indent="-342900">
              <a:spcAft>
                <a:spcPts val="1000"/>
              </a:spcAft>
              <a:buSzPct val="100000"/>
              <a:buChar char="•"/>
            </a:pPr>
            <a:r>
              <a:rPr lang="en-US" sz="1600" dirty="0">
                <a:solidFill>
                  <a:srgbClr val="FFFFFF"/>
                </a:solidFill>
              </a:rPr>
              <a:t>Nothing goes on the blockchain until all guardians approve.</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026085" y="1115568"/>
            <a:ext cx="296735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WHO ARE YOU, AND WHAT MAY YOU DO?</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RO2: Decentralised identity and authority</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In the prototype: a DID-format check and EIP-712 signature recovery for each guardian.</a:t>
            </a:r>
            <a:endParaRPr lang="en-US" sz="1600" dirty="0"/>
          </a:p>
          <a:p>
            <a:pPr marL="342900" indent="-342900">
              <a:spcAft>
                <a:spcPts val="1000"/>
              </a:spcAft>
              <a:buSzPct val="100000"/>
              <a:buChar char="•"/>
            </a:pPr>
            <a:r>
              <a:rPr lang="en-US" sz="1600" dirty="0">
                <a:solidFill>
                  <a:srgbClr val="FFFFFF"/>
                </a:solidFill>
              </a:rPr>
              <a:t>Full DID resolution and credential validation are planned for the next stage.</a:t>
            </a:r>
            <a:endParaRPr lang="en-US" sz="1600" dirty="0"/>
          </a:p>
        </p:txBody>
      </p:sp>
      <p:sp>
        <p:nvSpPr>
          <p:cNvPr id="8" name="F12 panel"/>
          <p:cNvSpPr/>
          <p:nvPr/>
        </p:nvSpPr>
        <p:spPr>
          <a:xfrm>
            <a:off x="7498080" y="1005840"/>
            <a:ext cx="4023360" cy="493776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926188" y="1115568"/>
            <a:ext cx="3167144" cy="4718304"/>
          </a:xfrm>
          <a:prstGeom prst="rect">
            <a:avLst/>
          </a:prstGeom>
        </p:spPr>
      </p:pic>
      <p:sp>
        <p:nvSpPr>
          <p:cNvPr id="10" name="caption"/>
          <p:cNvSpPr txBox="1"/>
          <p:nvPr/>
        </p:nvSpPr>
        <p:spPr>
          <a:xfrm>
            <a:off x="7498080" y="6035040"/>
            <a:ext cx="4023360" cy="548640"/>
          </a:xfrm>
          <a:prstGeom prst="rect">
            <a:avLst/>
          </a:prstGeom>
          <a:noFill/>
          <a:ln/>
        </p:spPr>
        <p:txBody>
          <a:bodyPr wrap="square" rtlCol="0" anchor="t"/>
          <a:lstStyle/>
          <a:p>
            <a:pPr algn="ctr" indent="0" marL="0">
              <a:buNone/>
            </a:pPr>
            <a:r>
              <a:rPr lang="en-US" sz="1200" i="1" dirty="0">
                <a:solidFill>
                  <a:srgbClr val="FFFFFF"/>
                </a:solidFill>
              </a:rPr>
              <a:t>Target design. The prototype now performs a DID-format check and EIP-712 signature recovery.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THE GUARDIANS APPROVE TOGETHER</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RO3: Multi-party authorisation</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approving set G is fixed at creation and may contain healthcare professionals, guardians or institutional representatives; in the prototype, G holds the guardians.</a:t>
            </a:r>
            <a:endParaRPr lang="en-US" sz="1600" dirty="0"/>
          </a:p>
          <a:p>
            <a:pPr marL="342900" indent="-342900">
              <a:spcAft>
                <a:spcPts val="1000"/>
              </a:spcAft>
              <a:buSzPct val="100000"/>
              <a:buChar char="•"/>
            </a:pPr>
            <a:r>
              <a:rPr lang="en-US" sz="1600" dirty="0">
                <a:solidFill>
                  <a:srgbClr val="FFFFFF"/>
                </a:solidFill>
              </a:rPr>
              <a:t>Each guardian signs an EIP-712 approval; the system recovers the signer and checks it is in G.</a:t>
            </a:r>
            <a:endParaRPr lang="en-US" sz="1600" dirty="0"/>
          </a:p>
          <a:p>
            <a:pPr marL="342900" indent="-342900">
              <a:spcAft>
                <a:spcPts val="1000"/>
              </a:spcAft>
              <a:buSzPct val="100000"/>
              <a:buChar char="•"/>
            </a:pPr>
            <a:r>
              <a:rPr lang="en-US" sz="1600" dirty="0">
                <a:solidFill>
                  <a:srgbClr val="FFFFFF"/>
                </a:solidFill>
              </a:rPr>
              <a:t>Approvals from outsiders, replays and duplicates are not counted.</a:t>
            </a:r>
            <a:endParaRPr lang="en-US" sz="1600" dirty="0"/>
          </a:p>
          <a:p>
            <a:pPr marL="342900" indent="-342900">
              <a:spcAft>
                <a:spcPts val="1000"/>
              </a:spcAft>
              <a:buSzPct val="100000"/>
              <a:buChar char="•"/>
            </a:pPr>
            <a:r>
              <a:rPr lang="en-US" sz="1600" dirty="0">
                <a:solidFill>
                  <a:srgbClr val="FFFFFF"/>
                </a:solidFill>
              </a:rPr>
              <a:t>N-of-N rule: every listed guardian must sign (2-of-2 in the demo).</a:t>
            </a:r>
            <a:endParaRPr lang="en-US" sz="1600" dirty="0"/>
          </a:p>
          <a:p>
            <a:pPr marL="342900" indent="-342900">
              <a:spcAft>
                <a:spcPts val="1000"/>
              </a:spcAft>
              <a:buSzPct val="100000"/>
              <a:buChar char="•"/>
            </a:pPr>
            <a:r>
              <a:rPr lang="en-US" sz="1600" dirty="0">
                <a:solidFill>
                  <a:srgbClr val="FFFFFF"/>
                </a:solidFill>
              </a:rPr>
              <a:t>When all have signed, a soulbound token is minted on Sepolia in the background.</a:t>
            </a:r>
            <a:endParaRPr lang="en-US" sz="1600" dirty="0"/>
          </a:p>
          <a:p>
            <a:pPr marL="342900" indent="-342900">
              <a:spcAft>
                <a:spcPts val="1000"/>
              </a:spcAft>
              <a:buSzPct val="100000"/>
              <a:buChar char="•"/>
            </a:pPr>
            <a:r>
              <a:rPr lang="en-US" sz="1600" dirty="0">
                <a:solidFill>
                  <a:srgbClr val="FFFFFF"/>
                </a:solidFill>
              </a:rPr>
              <a:t>In the prototype the guardian keys are derived from the guardian DIDs; wallet-held keys are for the next stage.</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78618" y="1115568"/>
            <a:ext cx="34622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ONLY THE AGREED DATA AND PURPOSE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RO4: Policy- and context-aware access</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requested data must be a non-empty subset of the agreed data scope.</a:t>
            </a:r>
            <a:endParaRPr lang="en-US" sz="1600" dirty="0"/>
          </a:p>
          <a:p>
            <a:pPr marL="342900" indent="-342900">
              <a:spcAft>
                <a:spcPts val="1000"/>
              </a:spcAft>
              <a:buSzPct val="100000"/>
              <a:buChar char="•"/>
            </a:pPr>
            <a:r>
              <a:rPr lang="en-US" sz="1600" dirty="0">
                <a:solidFill>
                  <a:srgbClr val="FFFFFF"/>
                </a:solidFill>
              </a:rPr>
              <a:t>The purpose must be a supported purpose of the consent.</a:t>
            </a:r>
            <a:endParaRPr lang="en-US" sz="1600" dirty="0"/>
          </a:p>
          <a:p>
            <a:pPr marL="342900" indent="-342900">
              <a:spcAft>
                <a:spcPts val="1000"/>
              </a:spcAft>
              <a:buSzPct val="100000"/>
              <a:buChar char="•"/>
            </a:pPr>
            <a:r>
              <a:rPr lang="en-US" sz="1600" dirty="0">
                <a:solidFill>
                  <a:srgbClr val="FFFFFF"/>
                </a:solidFill>
              </a:rPr>
              <a:t>Time and </a:t>
            </a:r>
            <a:r>
              <a:rPr lang="en-US" sz="1600" dirty="0">
                <a:solidFill>
                  <a:srgbClr val="FFFFFF"/>
                </a:solidFill>
              </a:rPr>
              <a:t>the lifecycle state</a:t>
            </a:r>
            <a:r>
              <a:rPr lang="en-US" sz="1600" dirty="0">
                <a:solidFill>
                  <a:srgbClr val="FFFFFF"/>
                </a:solidFill>
              </a:rPr>
              <a:t>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a:t>
            </a:r>
            <a:endParaRPr lang="en-US" sz="1600" dirty="0"/>
          </a:p>
          <a:p>
            <a:pPr marL="342900" indent="-342900">
              <a:spcAft>
                <a:spcPts val="1000"/>
              </a:spcAft>
              <a:buSzPct val="100000"/>
              <a:buChar char="•"/>
            </a:pPr>
            <a:r>
              <a:rPr lang="en-US" sz="1600" dirty="0">
                <a:solidFill>
                  <a:srgbClr val="FFFFFF"/>
                </a:solidFill>
              </a:rPr>
              <a:t>Example: asking for Procedure when only Observation and Medication were agreed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016428" y="1115568"/>
            <a:ext cx="2986663"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TIME AND LIFECYCLE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RO5: Time and lifecycle control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Working now: the validity window is stored on-chain and checked at every request.</a:t>
            </a:r>
            <a:endParaRPr lang="en-US" sz="1600" dirty="0"/>
          </a:p>
          <a:p>
            <a:pPr marL="342900" indent="-342900">
              <a:spcAft>
                <a:spcPts val="1000"/>
              </a:spcAft>
              <a:buSzPct val="100000"/>
              <a:buChar char="•"/>
            </a:pPr>
            <a:r>
              <a:rPr lang="en-US" sz="1600" dirty="0">
                <a:solidFill>
                  <a:srgbClr val="FFFFFF"/>
                </a:solidFill>
              </a:rPr>
              <a:t>Working now: revocation end to end, including an on-chain revoke transaction.</a:t>
            </a:r>
            <a:endParaRPr lang="en-US" sz="1600" dirty="0"/>
          </a:p>
          <a:p>
            <a:pPr marL="342900" indent="-342900">
              <a:spcAft>
                <a:spcPts val="1000"/>
              </a:spcAft>
              <a:buSzPct val="100000"/>
              <a:buChar char="•"/>
            </a:pPr>
            <a:r>
              <a:rPr lang="en-US" sz="1600" dirty="0">
                <a:solidFill>
                  <a:srgbClr val="FFFFFF"/>
                </a:solidFill>
              </a:rPr>
              <a:t>Design: L is the lifecycle state (CREATED, PENDING, ACTIVE, SUSPENDED, REVOKED, EXPIRED), checked by VL.</a:t>
            </a:r>
            <a:endParaRPr lang="en-US" sz="1600" dirty="0"/>
          </a:p>
          <a:p>
            <a:pPr marL="342900" indent="-342900">
              <a:spcAft>
                <a:spcPts val="1000"/>
              </a:spcAft>
              <a:buSzPct val="100000"/>
              <a:buChar char="•"/>
            </a:pPr>
            <a:r>
              <a:rPr lang="en-US" sz="1600" dirty="0">
                <a:solidFill>
                  <a:srgbClr val="FFFFFF"/>
                </a:solidFill>
              </a:rPr>
              <a:t>Working now: </a:t>
            </a:r>
            <a:r>
              <a:rPr lang="en-US" sz="1600" dirty="0">
                <a:solidFill>
                  <a:srgbClr val="FFFFFF"/>
                </a:solidFill>
              </a:rPr>
              <a:t>six prototype states</a:t>
            </a:r>
            <a:r>
              <a:rPr lang="en-US" sz="1600" dirty="0">
                <a:solidFill>
                  <a:srgbClr val="FFFFFF"/>
                </a:solidFill>
              </a:rPr>
              <a:t>: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a:t>
            </a:r>
            <a:r>
              <a:rPr lang="en-US" sz="1600" dirty="0">
                <a:solidFill>
                  <a:srgbClr val="FFFFFF"/>
                </a:solidFill>
              </a:rPr>
              <a:t>the SUSPENDED state,</a:t>
            </a:r>
            <a:r>
              <a:rPr lang="en-US" sz="1600" dirty="0">
                <a:solidFill>
                  <a:srgbClr val="FFFFFF"/>
                </a:solidFill>
              </a:rPr>
              <a:t> the lifecycle transition check, consent modification, delegation, guardian-set changes and a formal lifecycle model.</a:t>
            </a:r>
            <a:endParaRPr lang="en-US" sz="1600" dirty="0"/>
          </a:p>
        </p:txBody>
      </p:sp>
      <p:sp>
        <p:nvSpPr>
          <p:cNvPr id="8" name="F35 panel"/>
          <p:cNvSpPr/>
          <p:nvPr/>
        </p:nvSpPr>
        <p:spPr>
          <a:xfrm>
            <a:off x="7132320" y="1828800"/>
            <a:ext cx="466344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7242048" y="2601795"/>
            <a:ext cx="4443984" cy="174585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PROVE IT AND TEST IT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RO6: Formal assurance and validation</a:t>
            </a:r>
            <a:endParaRPr lang="en-US" sz="20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pass, including 12 attack scenarios A1 to A12.</a:t>
            </a:r>
            <a:endParaRPr lang="en-US" sz="1600" dirty="0"/>
          </a:p>
          <a:p>
            <a:pPr marL="342900" indent="-342900">
              <a:spcAft>
                <a:spcPts val="1000"/>
              </a:spcAft>
              <a:buSzPct val="100000"/>
              <a:buChar char="•"/>
            </a:pPr>
            <a:r>
              <a:rPr lang="en-US" sz="1600" dirty="0">
                <a:solidFill>
                  <a:srgbClr val="FFFFFF"/>
                </a:solidFill>
              </a:rPr>
              <a:t>Done: gas, confirmation latency and processing time measured.</a:t>
            </a:r>
            <a:endParaRPr lang="en-US" sz="1600" dirty="0"/>
          </a:p>
          <a:p>
            <a:pPr marL="342900" indent="-342900">
              <a:spcAft>
                <a:spcPts val="1000"/>
              </a:spcAft>
              <a:buSzPct val="100000"/>
              <a:buChar char="•"/>
            </a:pPr>
            <a:r>
              <a:rPr lang="en-US" sz="1600" dirty="0">
                <a:solidFill>
                  <a:srgbClr val="FFFFFF"/>
                </a:solidFill>
              </a:rPr>
              <a:t>Done: a live request from the wrong jurisdiction was refused </a:t>
            </a:r>
            <a:r>
              <a:rPr lang="en-US" sz="1600" dirty="0">
                <a:solidFill>
                  <a:srgbClr val="FFFFFF"/>
                </a:solidFill>
              </a:rPr>
              <a:t>by the exploratory jurisdiction check,</a:t>
            </a:r>
            <a:r>
              <a:rPr lang="en-US" sz="1600" dirty="0">
                <a:solidFill>
                  <a:srgbClr val="FFFFFF"/>
                </a:solidFill>
              </a:rPr>
              <a:t> against a Sepolia-anchored consent.</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7808" y="1638248"/>
            <a:ext cx="3803904" cy="426730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DOES IT DO WHAT IT SHOULD?</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Evidence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checks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Pass rule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get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 expected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Wrong requests are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gives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4: wrong jurisdiction refused </a:t>
                      </a:r>
                      <a:r>
                        <a:rPr lang="en-US" sz="1400" dirty="0">
                          <a:solidFill>
                            <a:srgbClr val="0B1F33"/>
                          </a:solidFill>
                        </a:rPr>
                        <a:t>(exploratory check)</a:t>
                      </a:r>
                      <a:r>
                        <a:rPr lang="en-US" sz="1400" dirty="0">
                          <a:solidFill>
                            <a:srgbClr val="0B1F33"/>
                          </a:solidFill>
                        </a:rPr>
                        <a:t>. 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Attack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check,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attack is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11 of 12 refused after the hardening (A11: the changed digest is not yet compared)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against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THE RECORDED DECISIONS</a:t>
            </a:r>
            <a:endParaRPr lang="en-US" sz="3000" dirty="0"/>
          </a:p>
        </p:txBody>
      </p:sp>
      <p:graphicFrame>
        <p:nvGraphicFramePr>
          <p:cNvPr id="21" name="ledger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1280160"/>
                <a:gridCol w="2286000"/>
                <a:gridCol w="777240"/>
                <a:gridCol w="777240"/>
                <a:gridCol w="777240"/>
                <a:gridCol w="777240"/>
                <a:gridCol w="777240"/>
                <a:gridCol w="1097280"/>
                <a:gridCol w="1188720"/>
                <a:gridCol w="1325880"/>
              </a:tblGrid>
              <a:tr h="502920">
                <a:tc>
                  <a:txBody>
                    <a:bodyPr/>
                    <a:lstStyle/>
                    <a:p>
                      <a:pPr algn="ctr" indent="0" marL="0">
                        <a:buNone/>
                      </a:pPr>
                      <a:r>
                        <a:rPr lang="en-US" sz="1300" b="1" dirty="0">
                          <a:solidFill>
                            <a:srgbClr val="FFFFFF"/>
                          </a:solidFill>
                        </a:rPr>
                        <a:t>Time (24 Sep)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VI</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VJ</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Access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Proof</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02920">
                <a:tc>
                  <a:txBody>
                    <a:bodyPr/>
                    <a:lstStyle/>
                    <a:p>
                      <a:pPr indent="0" marL="0">
                        <a:buNone/>
                      </a:pPr>
                      <a:r>
                        <a:rPr lang="en-US" sz="1300" b="1" dirty="0">
                          <a:solidFill>
                            <a:srgbClr val="0B1F33"/>
                          </a:solidFill>
                        </a:rPr>
                        <a:t>09:51:36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09:51:39</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10:02:50</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 (jurisdiction SA)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62828"/>
                          </a:solidFill>
                        </a:rPr>
                        <a:t>FAIL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62828"/>
                          </a:solidFill>
                        </a:rPr>
                        <a:t>DENY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62828"/>
                          </a:solidFill>
                        </a:rPr>
                        <a:t>DENIED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11:02:52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bullets"/>
          <p:cNvSpPr txBox="1"/>
          <p:nvPr/>
        </p:nvSpPr>
        <p:spPr>
          <a:xfrm>
            <a:off x="640080" y="4892040"/>
            <a:ext cx="10881360" cy="1554480"/>
          </a:xfrm>
          <a:prstGeom prst="rect">
            <a:avLst/>
          </a:prstGeom>
          <a:noFill/>
          <a:ln/>
        </p:spPr>
        <p:txBody>
          <a:bodyPr wrap="square" rtlCol="0" anchor="t"/>
          <a:lstStyle/>
          <a:p>
            <a:pPr marL="342900" indent="-342900">
              <a:spcAft>
                <a:spcPts val="1000"/>
              </a:spcAft>
              <a:buSzPct val="100000"/>
              <a:buChar char="•"/>
            </a:pPr>
            <a:r>
              <a:rPr lang="en-US" sz="1400" dirty="0">
                <a:solidFill>
                  <a:srgbClr val="FFFFFF"/>
                </a:solidFill>
              </a:rPr>
              <a:t>Allowed requests: all five checks PASS, decision ALLOW, access GRANTED, proof mode Groth16 (Scenario 3).</a:t>
            </a:r>
            <a:endParaRPr lang="en-US" sz="1400" dirty="0"/>
          </a:p>
          <a:p>
            <a:pPr marL="342900" indent="-342900">
              <a:spcAft>
                <a:spcPts val="1000"/>
              </a:spcAft>
              <a:buSzPct val="100000"/>
              <a:buChar char="•"/>
            </a:pPr>
            <a:r>
              <a:rPr lang="en-US" sz="1400" dirty="0">
                <a:solidFill>
                  <a:srgbClr val="FFFFFF"/>
                </a:solidFill>
              </a:rPr>
              <a:t>Wrong jurisdiction: only </a:t>
            </a:r>
            <a:r>
              <a:rPr lang="en-US" sz="1400" dirty="0">
                <a:solidFill>
                  <a:srgbClr val="FFFFFF"/>
                </a:solidFill>
              </a:rPr>
              <a:t>the jurisdiction check VJ (VL in the prototype)</a:t>
            </a:r>
            <a:r>
              <a:rPr lang="en-US" sz="1400" dirty="0">
                <a:solidFill>
                  <a:srgbClr val="FFFFFF"/>
                </a:solidFill>
              </a:rPr>
              <a:t> fails, decision DENY, access DENIED (Scenario 4). One failed check is enough.</a:t>
            </a:r>
            <a:endParaRPr lang="en-US" sz="1400" dirty="0"/>
          </a:p>
          <a:p>
            <a:pPr marL="342900" indent="-342900">
              <a:spcAft>
                <a:spcPts val="1000"/>
              </a:spcAft>
              <a:buSzPct val="100000"/>
              <a:buChar char="•"/>
            </a:pPr>
            <a:r>
              <a:rPr lang="en-US" sz="1400" dirty="0">
                <a:solidFill>
                  <a:srgbClr val="FFFFFF"/>
                </a:solidFill>
              </a:rPr>
              <a:t>After revocation (Scenario 5) the request is refused before any decision is logged (n/l = not logged); the revocation is public on Sepolia, block 11,771,307.</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TWELVE ATTACK SCENARIOS</a:t>
            </a:r>
            <a:endParaRPr lang="en-US" sz="3000" dirty="0"/>
          </a:p>
        </p:txBody>
      </p:sp>
      <p:graphicFrame>
        <p:nvGraphicFramePr>
          <p:cNvPr id="22" name="attack table"/>
          <p:cNvGraphicFramePr>
            <a:graphicFrameLocks noGrp="1"/>
          </p:cNvGraphicFramePr>
          <p:nvPr>
            <p:extLst>
              <p:ext uri="{D42A27DB-BD31-4B8C-83A1-F6EECF244321}">
                <p14:modId xmlns:p14="http://schemas.microsoft.com/office/powerpoint/2010/main" val="1579011935"/>
              </p:ext>
            </p:extLst>
          </p:nvPr>
        </p:nvGraphicFramePr>
        <p:xfrm>
          <a:off x="548640" y="1097280"/>
          <a:ext cx="7315200" cy="914400"/>
        </p:xfrm>
        <a:graphic>
          <a:graphicData uri="http://schemas.openxmlformats.org/drawingml/2006/table">
            <a:tbl>
              <a:tblPr/>
              <a:tblGrid>
                <a:gridCol w="548640"/>
                <a:gridCol w="3931920"/>
                <a:gridCol w="822960"/>
                <a:gridCol w="1005840"/>
                <a:gridCol w="1005840"/>
              </a:tblGrid>
              <a:tr h="365760">
                <a:tc>
                  <a:txBody>
                    <a:bodyPr/>
                    <a:lstStyle/>
                    <a:p>
                      <a:pPr indent="0" marL="0">
                        <a:buNone/>
                      </a:pPr>
                      <a:r>
                        <a:rPr lang="en-US" sz="1200" b="1" dirty="0">
                          <a:solidFill>
                            <a:srgbClr val="FFFFFF"/>
                          </a:solidFill>
                        </a:rPr>
                        <a:t>ID</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Attack</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Target</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Before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After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365760">
                <a:tc>
                  <a:txBody>
                    <a:bodyPr/>
                    <a:lstStyle/>
                    <a:p>
                      <a:pPr algn="l" indent="0" marL="0">
                        <a:buNone/>
                      </a:pPr>
                      <a:r>
                        <a:rPr lang="en-US" sz="1150" b="1" dirty="0">
                          <a:solidFill>
                            <a:srgbClr val="0B1F33"/>
                          </a:solidFill>
                        </a:rPr>
                        <a:t>A1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Approval signed by a signer outside G</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Guardian signature replayed from another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Same guardian approves twice to reach 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A4</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Requested scope exceeds the authorised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A5</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with an empty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A6</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before notBefore or after expiry</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A7</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Requester declares a different jurisdiction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 (VJ)</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A8</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Access after revocation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A9</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Tampered Groth16 proof or public signal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A10</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Honest proof for an expired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Result of a recorded audit event rewritten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Mint or revoke by a non-owner, or token transfer</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Contract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attack notes"/>
          <p:cNvSpPr txBox="1"/>
          <p:nvPr/>
        </p:nvSpPr>
        <p:spPr>
          <a:xfrm>
            <a:off x="548640" y="5897880"/>
            <a:ext cx="7315200" cy="731520"/>
          </a:xfrm>
          <a:prstGeom prst="rect">
            <a:avLst/>
          </a:prstGeom>
          <a:noFill/>
          <a:ln/>
        </p:spPr>
        <p:txBody>
          <a:bodyPr wrap="square" rtlCol="0" anchor="t"/>
          <a:lstStyle/>
          <a:p>
            <a:pPr indent="0" marL="0">
              <a:buNone/>
            </a:pPr>
            <a:r>
              <a:rPr lang="en-US" sz="950" i="1" dirty="0">
                <a:solidFill>
                  <a:srgbClr val="FFFFFF"/>
                </a:solidFill>
              </a:rPr>
              <a:t>* Accepted at unit level only, when the service function was called directly; the interface already refused it.</a:t>
            </a:r>
            <a:endParaRPr lang="en-US" sz="950" dirty="0"/>
          </a:p>
          <a:p>
            <a:pPr indent="0" marL="0">
              <a:buNone/>
            </a:pPr>
            <a:r>
              <a:rPr lang="en-US" sz="950" i="1" dirty="0">
                <a:solidFill>
                  <a:srgbClr val="FFFFFF"/>
                </a:solidFill>
              </a:rPr>
              <a:t>† The rewritten event's digest differs from the stored digest, but no component compares the two yet, so the result is neutral.</a:t>
            </a:r>
            <a:endParaRPr lang="en-US" sz="950" dirty="0"/>
          </a:p>
          <a:p>
            <a:pPr indent="0" marL="0">
              <a:buNone/>
            </a:pPr>
            <a:r>
              <a:rPr lang="en-US" sz="950" i="1" dirty="0">
                <a:solidFill>
                  <a:srgbClr val="FFFFFF"/>
                </a:solidFill>
              </a:rPr>
              <a:t>Target: I identity, A authority, P policy and scope </a:t>
            </a:r>
            <a:endParaRPr lang="en-US" sz="950" dirty="0"/>
          </a:p>
          <a:p>
            <a:pPr indent="0" marL="0">
              <a:buNone/>
            </a:pPr>
            <a:r>
              <a:rPr lang="en-US" sz="950" i="1" dirty="0">
                <a:solidFill>
                  <a:srgbClr val="FFFFFF"/>
                </a:solidFill>
              </a:rPr>
              <a:t>(A7: VJ)</a:t>
            </a:r>
            <a:r>
              <a:rPr lang="en-US" sz="950" i="1" dirty="0">
                <a:solidFill>
                  <a:srgbClr val="FFFFFF"/>
                </a:solidFill>
              </a:rPr>
              <a:t>, T time, </a:t>
            </a:r>
            <a:r>
              <a:rPr lang="en-US" sz="950" i="1" dirty="0">
                <a:solidFill>
                  <a:srgbClr val="FFFFFF"/>
                </a:solidFill>
              </a:rPr>
              <a:t>L lifecycle and revocation</a:t>
            </a:r>
            <a:r>
              <a:rPr lang="en-US" sz="950" i="1" dirty="0">
                <a:solidFill>
                  <a:srgbClr val="FFFFFF"/>
                </a:solidFill>
              </a:rPr>
              <a:t>, E evidence, Contract = ConsentSBTv3 (in-memory EVM).</a:t>
            </a:r>
            <a:endParaRPr lang="en-US" sz="950" dirty="0"/>
          </a:p>
        </p:txBody>
      </p:sp>
      <p:sp>
        <p:nvSpPr>
          <p:cNvPr id="6" name="stat attack scenarios, A1 to A12"/>
          <p:cNvSpPr txBox="1"/>
          <p:nvPr/>
        </p:nvSpPr>
        <p:spPr>
          <a:xfrm>
            <a:off x="8229600" y="118872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12</a:t>
            </a:r>
            <a:endParaRPr lang="en-US" sz="4400" dirty="0"/>
          </a:p>
        </p:txBody>
      </p:sp>
      <p:sp>
        <p:nvSpPr>
          <p:cNvPr id="7" name="stat label attack scenarios, A1 to A12"/>
          <p:cNvSpPr txBox="1"/>
          <p:nvPr/>
        </p:nvSpPr>
        <p:spPr>
          <a:xfrm>
            <a:off x="8229600" y="205740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attack scenarios, A1 to A12</a:t>
            </a:r>
            <a:endParaRPr lang="en-US" sz="1600" dirty="0"/>
          </a:p>
        </p:txBody>
      </p:sp>
      <p:sp>
        <p:nvSpPr>
          <p:cNvPr id="8" name="stat refused after the hardening (A11 neutral)"/>
          <p:cNvSpPr txBox="1"/>
          <p:nvPr/>
        </p:nvSpPr>
        <p:spPr>
          <a:xfrm>
            <a:off x="8229600" y="292608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11 / 12</a:t>
            </a:r>
            <a:endParaRPr lang="en-US" sz="4400" dirty="0"/>
          </a:p>
        </p:txBody>
      </p:sp>
      <p:sp>
        <p:nvSpPr>
          <p:cNvPr id="9" name="stat label refused after the hardening (A11 neutral)"/>
          <p:cNvSpPr txBox="1"/>
          <p:nvPr/>
        </p:nvSpPr>
        <p:spPr>
          <a:xfrm>
            <a:off x="8229600" y="3794760"/>
            <a:ext cx="3383280" cy="640080"/>
          </a:xfrm>
          <a:prstGeom prst="rect">
            <a:avLst/>
          </a:prstGeom>
          <a:noFill/>
          <a:ln/>
        </p:spPr>
        <p:txBody>
          <a:bodyPr wrap="square" lIns="0" tIns="0" rIns="0" bIns="0" rtlCol="0" anchor="ctr"/>
          <a:lstStyle/>
          <a:p>
            <a:pPr indent="0" marL="0">
              <a:buNone/>
            </a:pPr>
            <a:r>
              <a:rPr lang="en-US" sz="1600" dirty="0">
                <a:solidFill>
                  <a:srgbClr val="FFFFFF"/>
                </a:solidFill>
              </a:rPr>
              <a:t>refused after the hardening (A11 neutral)</a:t>
            </a:r>
            <a:endParaRPr lang="en-US" sz="1600" dirty="0"/>
          </a:p>
        </p:txBody>
      </p:sp>
      <p:sp>
        <p:nvSpPr>
          <p:cNvPr id="10" name="stat automated tests pass"/>
          <p:cNvSpPr txBox="1"/>
          <p:nvPr/>
        </p:nvSpPr>
        <p:spPr>
          <a:xfrm>
            <a:off x="8229600" y="466344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36</a:t>
            </a:r>
            <a:endParaRPr lang="en-US" sz="4400" dirty="0"/>
          </a:p>
        </p:txBody>
      </p:sp>
      <p:sp>
        <p:nvSpPr>
          <p:cNvPr id="11" name="stat label automated tests pass"/>
          <p:cNvSpPr txBox="1"/>
          <p:nvPr/>
        </p:nvSpPr>
        <p:spPr>
          <a:xfrm>
            <a:off x="8229600" y="553212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automated tests pass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HOW FAST AND HOW MUCH?</a:t>
            </a:r>
            <a:endParaRPr lang="en-US" sz="30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103120"/>
                <a:gridCol w="1188720"/>
                <a:gridCol w="914400"/>
                <a:gridCol w="1005840"/>
                <a:gridCol w="64008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checks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One EIP-712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gas line"/>
          <p:cNvSpPr txBox="1"/>
          <p:nvPr/>
        </p:nvSpPr>
        <p:spPr>
          <a:xfrm>
            <a:off x="731520" y="5760720"/>
            <a:ext cx="5852160" cy="457200"/>
          </a:xfrm>
          <a:prstGeom prst="rect">
            <a:avLst/>
          </a:prstGeom>
          <a:noFill/>
          <a:ln/>
        </p:spPr>
        <p:txBody>
          <a:bodyPr wrap="square" rtlCol="0" anchor="ctr"/>
          <a:lstStyle/>
          <a:p>
            <a:pPr indent="0" marL="0">
              <a:buNone/>
            </a:pPr>
            <a:r>
              <a:rPr lang="en-US" sz="1400" b="1" dirty="0">
                <a:solidFill>
                  <a:srgbClr val="FFFFFF"/>
                </a:solidFill>
              </a:rPr>
              <a:t>Gas used: mint #1 196,406; revoke #1 32,980. No fee above 0.00021 ETH.</a:t>
            </a:r>
            <a:endParaRPr lang="en-US" sz="1400" dirty="0"/>
          </a:p>
        </p:txBody>
      </p:sp>
      <p:sp>
        <p:nvSpPr>
          <p:cNvPr id="6"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8" name="caption"/>
          <p:cNvSpPr txBox="1"/>
          <p:nvPr/>
        </p:nvSpPr>
        <p:spPr>
          <a:xfrm>
            <a:off x="6812280" y="5303520"/>
            <a:ext cx="4709160" cy="320040"/>
          </a:xfrm>
          <a:prstGeom prst="rect">
            <a:avLst/>
          </a:prstGeom>
          <a:noFill/>
          <a:ln/>
        </p:spPr>
        <p:txBody>
          <a:bodyPr wrap="square" rtlCol="0" anchor="ctr"/>
          <a:lstStyle/>
          <a:p>
            <a:pPr algn="ctr" indent="0" marL="0">
              <a:buNone/>
            </a:pPr>
            <a:r>
              <a:rPr lang="en-US" sz="1200" i="1" dirty="0">
                <a:solidFill>
                  <a:srgbClr val="FFFFFF"/>
                </a:solidFill>
              </a:rPr>
              <a:t>Timings measured on 1 October 2026; gas and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DIFFERENT FROM TODAY'S SYSTEMS</a:t>
            </a:r>
            <a:endParaRPr lang="en-US" sz="30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1828800"/>
                <a:gridCol w="4023360"/>
                <a:gridCol w="502920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 identity provider; institution login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DID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stored record that permission was given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static permission set by one party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members of </a:t>
                      </a:r>
                      <a:r>
                        <a:rPr lang="en-US" sz="1400" dirty="0">
                          <a:solidFill>
                            <a:srgbClr val="0B1F33"/>
                          </a:solidFill>
                        </a:rPr>
                        <a:t>the approving set G</a:t>
                      </a:r>
                      <a:r>
                        <a:rPr lang="en-US" sz="1400" dirty="0">
                          <a:solidFill>
                            <a:srgbClr val="0B1F33"/>
                          </a:solidFill>
                        </a:rPr>
                        <a:t> sign (EIP-712); no single party can approve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Log in,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each time; on-chain revoke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Each decision on an active consent logged with its decision matrix;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AND PRIVACY</a:t>
            </a:r>
            <a:endParaRPr lang="en-US" sz="3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13232">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Synthea 1K sample of synthetic patient records (synthea.mitre.org), CSV export; a subset of patients with their observations, conditions, medications and procedures. No real patient data is involved.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Pseudonymous patient and requester addresses, a hash of the purpose, the validity window, a jurisdiction code and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agreed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Each decision on an ACTIVE consent is recorded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WHY THIS MATTERS</a:t>
            </a:r>
            <a:endParaRPr lang="en-US" sz="3000" dirty="0"/>
          </a:p>
        </p:txBody>
      </p:sp>
      <p:sp>
        <p:nvSpPr>
          <p:cNvPr id="4" name="sci heading"/>
          <p:cNvSpPr txBox="1"/>
          <p:nvPr/>
        </p:nvSpPr>
        <p:spPr>
          <a:xfrm>
            <a:off x="731520" y="1051560"/>
            <a:ext cx="5120640" cy="411480"/>
          </a:xfrm>
          <a:prstGeom prst="rect">
            <a:avLst/>
          </a:prstGeom>
          <a:noFill/>
          <a:ln/>
        </p:spPr>
        <p:txBody>
          <a:bodyPr wrap="square" rtlCol="0" anchor="ctr"/>
          <a:lstStyle/>
          <a:p>
            <a:pPr indent="0" marL="0">
              <a:buNone/>
            </a:pPr>
            <a:r>
              <a:rPr lang="en-US" sz="2000" b="1" i="1" dirty="0">
                <a:solidFill>
                  <a:srgbClr val="1FB5D6"/>
                </a:solidFill>
              </a:rPr>
              <a:t>Scientific</a:t>
            </a:r>
            <a:endParaRPr lang="en-US" sz="2000" dirty="0"/>
          </a:p>
        </p:txBody>
      </p:sp>
      <p:sp>
        <p:nvSpPr>
          <p:cNvPr id="5" name="soc heading"/>
          <p:cNvSpPr txBox="1"/>
          <p:nvPr/>
        </p:nvSpPr>
        <p:spPr>
          <a:xfrm>
            <a:off x="6309360" y="1051560"/>
            <a:ext cx="5120640" cy="411480"/>
          </a:xfrm>
          <a:prstGeom prst="rect">
            <a:avLst/>
          </a:prstGeom>
          <a:noFill/>
          <a:ln/>
        </p:spPr>
        <p:txBody>
          <a:bodyPr wrap="square" rtlCol="0" anchor="ctr"/>
          <a:lstStyle/>
          <a:p>
            <a:pPr indent="0" marL="0">
              <a:buNone/>
            </a:pPr>
            <a:r>
              <a:rPr lang="en-US" sz="2000" b="1" i="1" dirty="0">
                <a:solidFill>
                  <a:srgbClr val="1FB5D6"/>
                </a:solidFill>
              </a:rPr>
              <a:t>Social</a:t>
            </a:r>
            <a:endParaRPr lang="en-US" sz="2000" dirty="0"/>
          </a:p>
        </p:txBody>
      </p:sp>
      <p:sp>
        <p:nvSpPr>
          <p:cNvPr id="6" name="bullets"/>
          <p:cNvSpPr txBox="1"/>
          <p:nvPr/>
        </p:nvSpPr>
        <p:spPr>
          <a:xfrm>
            <a:off x="731520" y="1554480"/>
            <a:ext cx="5212080" cy="484632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Consent is an evaluable object, C = (I, A, P, T, L, E), not a stored record.</a:t>
            </a:r>
            <a:endParaRPr lang="en-US" sz="1600" dirty="0"/>
          </a:p>
          <a:p>
            <a:pPr marL="342900" indent="-342900">
              <a:spcAft>
                <a:spcPts val="1000"/>
              </a:spcAft>
              <a:buSzPct val="100000"/>
              <a:buChar char="•"/>
            </a:pPr>
            <a:r>
              <a:rPr lang="en-US" sz="1600" dirty="0">
                <a:solidFill>
                  <a:srgbClr val="FFFFFF"/>
                </a:solidFill>
              </a:rPr>
              <a:t>Multi-party approval is a standing condition of every access decision, and the patient defines who must approve.</a:t>
            </a:r>
            <a:endParaRPr lang="en-US" sz="1600" dirty="0"/>
          </a:p>
          <a:p>
            <a:pPr marL="342900" indent="-342900">
              <a:spcAft>
                <a:spcPts val="1000"/>
              </a:spcAft>
              <a:buSzPct val="100000"/>
              <a:buChar char="•"/>
            </a:pPr>
            <a:r>
              <a:rPr lang="en-US" sz="1600" dirty="0">
                <a:solidFill>
                  <a:srgbClr val="FFFFFF"/>
                </a:solidFill>
              </a:rPr>
              <a:t>Identity is separated from authority, and all conditions are checked in one decision.</a:t>
            </a:r>
            <a:endParaRPr lang="en-US" sz="1600" dirty="0"/>
          </a:p>
          <a:p>
            <a:pPr marL="342900" indent="-342900">
              <a:spcAft>
                <a:spcPts val="1000"/>
              </a:spcAft>
              <a:buSzPct val="100000"/>
              <a:buChar char="•"/>
            </a:pPr>
            <a:r>
              <a:rPr lang="en-US" sz="1600" dirty="0">
                <a:solidFill>
                  <a:srgbClr val="FFFFFF"/>
                </a:solidFill>
              </a:rPr>
              <a:t>A PRISMA 2020 review of 25 studies names the conjunction gap and the assurance gap.</a:t>
            </a:r>
            <a:endParaRPr lang="en-US" sz="1600" dirty="0"/>
          </a:p>
          <a:p>
            <a:pPr marL="342900" indent="-342900">
              <a:spcAft>
                <a:spcPts val="1000"/>
              </a:spcAft>
              <a:buSzPct val="100000"/>
              <a:buChar char="•"/>
            </a:pPr>
            <a:r>
              <a:rPr lang="en-US" sz="1600" dirty="0">
                <a:solidFill>
                  <a:srgbClr val="FFFFFF"/>
                </a:solidFill>
              </a:rPr>
              <a:t>A working prototype on Sepolia, measured and attacked twelve times.</a:t>
            </a:r>
            <a:endParaRPr lang="en-US" sz="1600" dirty="0"/>
          </a:p>
        </p:txBody>
      </p:sp>
      <p:sp>
        <p:nvSpPr>
          <p:cNvPr id="7" name="bullets"/>
          <p:cNvSpPr txBox="1"/>
          <p:nvPr/>
        </p:nvSpPr>
        <p:spPr>
          <a:xfrm>
            <a:off x="6309360" y="1554480"/>
            <a:ext cx="5212080" cy="484632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Patients and their guardians decide together who may see the patient's data.</a:t>
            </a:r>
            <a:endParaRPr lang="en-US" sz="1600" dirty="0"/>
          </a:p>
          <a:p>
            <a:pPr marL="342900" indent="-342900">
              <a:spcAft>
                <a:spcPts val="1000"/>
              </a:spcAft>
              <a:buSzPct val="100000"/>
              <a:buChar char="•"/>
            </a:pPr>
            <a:r>
              <a:rPr lang="en-US" sz="1600" dirty="0">
                <a:solidFill>
                  <a:srgbClr val="FFFFFF"/>
                </a:solidFill>
              </a:rPr>
              <a:t>No single person can approve access to sensitive health data alone.</a:t>
            </a:r>
            <a:endParaRPr lang="en-US" sz="1600" dirty="0"/>
          </a:p>
          <a:p>
            <a:pPr marL="342900" indent="-342900">
              <a:spcAft>
                <a:spcPts val="1000"/>
              </a:spcAft>
              <a:buSzPct val="100000"/>
              <a:buChar char="•"/>
            </a:pPr>
            <a:r>
              <a:rPr lang="en-US" sz="1600" dirty="0">
                <a:solidFill>
                  <a:srgbClr val="FFFFFF"/>
                </a:solidFill>
              </a:rPr>
              <a:t>Every decision can be explained to an auditor: which check passed, which failed.</a:t>
            </a:r>
            <a:endParaRPr lang="en-US" sz="1600" dirty="0"/>
          </a:p>
          <a:p>
            <a:pPr marL="342900" indent="-342900">
              <a:spcAft>
                <a:spcPts val="1000"/>
              </a:spcAft>
              <a:buSzPct val="100000"/>
              <a:buChar char="•"/>
            </a:pPr>
            <a:r>
              <a:rPr lang="en-US" sz="1600" dirty="0">
                <a:solidFill>
                  <a:srgbClr val="FFFFFF"/>
                </a:solidFill>
              </a:rPr>
              <a:t>Medical records stay off-chain; only consent evidence is shared.</a:t>
            </a:r>
            <a:endParaRPr lang="en-US" sz="1600" dirty="0"/>
          </a:p>
          <a:p>
            <a:pPr marL="342900" indent="-342900">
              <a:spcAft>
                <a:spcPts val="1000"/>
              </a:spcAft>
              <a:buSzPct val="100000"/>
              <a:buChar char="•"/>
            </a:pPr>
            <a:r>
              <a:rPr lang="en-US" sz="1600" dirty="0">
                <a:solidFill>
                  <a:srgbClr val="FFFFFF"/>
                </a:solidFill>
              </a:rPr>
              <a:t>Supports trust when data move between hospitals and other independent parties.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STILL OPEN</a:t>
            </a:r>
            <a:endParaRPr lang="en-US" sz="3000" dirty="0"/>
          </a:p>
        </p:txBody>
      </p:sp>
      <p:sp>
        <p:nvSpPr>
          <p:cNvPr id="4" name="card Formal proofs"/>
          <p:cNvSpPr/>
          <p:nvPr/>
        </p:nvSpPr>
        <p:spPr>
          <a:xfrm>
            <a:off x="64008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5" name="card text Formal proof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F2A900"/>
                </a:solidFill>
              </a:rPr>
              <a:t>Formal proofs</a:t>
            </a:r>
            <a:endParaRPr lang="en-US" sz="1900" dirty="0"/>
          </a:p>
          <a:p>
            <a:pPr indent="0" marL="0">
              <a:spcAft>
                <a:spcPts val="400"/>
              </a:spcAft>
              <a:buNone/>
            </a:pPr>
            <a:r>
              <a:rPr lang="en-US" sz="1600" dirty="0">
                <a:solidFill>
                  <a:srgbClr val="0B1F33"/>
                </a:solidFill>
              </a:rPr>
              <a:t>The security properties are tested, not yet proved. Next: a formal model and model checking or proofs (RO6).</a:t>
            </a:r>
            <a:endParaRPr lang="en-US" sz="1900" dirty="0"/>
          </a:p>
        </p:txBody>
      </p:sp>
      <p:sp>
        <p:nvSpPr>
          <p:cNvPr id="6" name="card Lifecycle"/>
          <p:cNvSpPr/>
          <p:nvPr/>
        </p:nvSpPr>
        <p:spPr>
          <a:xfrm>
            <a:off x="434340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7" name="card text Lifecycle"/>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F2A900"/>
                </a:solidFill>
              </a:rPr>
              <a:t>Lifecycle</a:t>
            </a:r>
            <a:endParaRPr lang="en-US" sz="1900" dirty="0"/>
          </a:p>
          <a:p>
            <a:pPr indent="0" marL="0">
              <a:spcAft>
                <a:spcPts val="400"/>
              </a:spcAft>
              <a:buNone/>
            </a:pPr>
            <a:r>
              <a:rPr lang="en-US" sz="1600" dirty="0">
                <a:solidFill>
                  <a:srgbClr val="0B1F33"/>
                </a:solidFill>
              </a:rPr>
              <a:t>Consent modification, delegation, guardian-set changes</a:t>
            </a:r>
            <a:r>
              <a:rPr lang="en-US" sz="1600" dirty="0">
                <a:solidFill>
                  <a:srgbClr val="0B1F33"/>
                </a:solidFill>
              </a:rPr>
              <a:t> and the SUSPENDED state</a:t>
            </a:r>
            <a:r>
              <a:rPr lang="en-US" sz="1600" dirty="0">
                <a:solidFill>
                  <a:srgbClr val="0B1F33"/>
                </a:solidFill>
              </a:rPr>
              <a:t>, with a formal lifecycle model (RO5).</a:t>
            </a:r>
            <a:endParaRPr lang="en-US" sz="1900" dirty="0"/>
          </a:p>
        </p:txBody>
      </p:sp>
      <p:sp>
        <p:nvSpPr>
          <p:cNvPr id="8" name="card Identity and keys"/>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Identity and keys"/>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Identity and keys</a:t>
            </a:r>
            <a:endParaRPr lang="en-US" sz="1900" dirty="0"/>
          </a:p>
          <a:p>
            <a:pPr indent="0" marL="0">
              <a:spcAft>
                <a:spcPts val="400"/>
              </a:spcAft>
              <a:buNone/>
            </a:pPr>
            <a:r>
              <a:rPr lang="en-US" sz="1600" dirty="0">
                <a:solidFill>
                  <a:srgbClr val="0B1F33"/>
                </a:solidFill>
              </a:rPr>
              <a:t>Full DID resolution, credential validation and wallet-held guardian keys. Today: a DID-format check, signature recovery and keys derived from the guardian DIDs (RO2, RO3).</a:t>
            </a:r>
            <a:endParaRPr lang="en-US" sz="1900" dirty="0"/>
          </a:p>
        </p:txBody>
      </p:sp>
      <p:sp>
        <p:nvSpPr>
          <p:cNvPr id="10" name="card Jurisdiction"/>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Jurisdiction"/>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Jurisdiction</a:t>
            </a:r>
            <a:endParaRPr lang="en-US" sz="1900" dirty="0"/>
          </a:p>
          <a:p>
            <a:pPr indent="0" marL="0">
              <a:spcAft>
                <a:spcPts val="400"/>
              </a:spcAft>
              <a:buNone/>
            </a:pPr>
            <a:r>
              <a:rPr lang="en-US" sz="1600" dirty="0">
                <a:solidFill>
                  <a:srgbClr val="0B1F33"/>
                </a:solidFill>
              </a:rPr>
              <a:t>A contextual policy condition for the framework. The prototype already has an exploratory jurisdiction check (VL on its screen).</a:t>
            </a:r>
            <a:endParaRPr lang="en-US" sz="1900" dirty="0"/>
          </a:p>
        </p:txBody>
      </p:sp>
      <p:sp>
        <p:nvSpPr>
          <p:cNvPr id="12" name="card Scale"/>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Scale"/>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Scale</a:t>
            </a:r>
            <a:endParaRPr lang="en-US" sz="1900" dirty="0"/>
          </a:p>
          <a:p>
            <a:pPr indent="0" marL="0">
              <a:spcAft>
                <a:spcPts val="400"/>
              </a:spcAft>
              <a:buNone/>
            </a:pPr>
            <a:r>
              <a:rPr lang="en-US" sz="1600" dirty="0">
                <a:solidFill>
                  <a:srgbClr val="0B1F33"/>
                </a:solidFill>
              </a:rPr>
              <a:t>A larger evaluation under load, with more users, consents and concurrent requests.</a:t>
            </a:r>
            <a:endParaRPr lang="en-US" sz="1900" dirty="0"/>
          </a:p>
        </p:txBody>
      </p:sp>
      <p:sp>
        <p:nvSpPr>
          <p:cNvPr id="14" name="card Prototype limits"/>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Prototype limits"/>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Prototype limits</a:t>
            </a:r>
            <a:endParaRPr lang="en-US" sz="1900" dirty="0"/>
          </a:p>
          <a:p>
            <a:pPr indent="0" marL="0">
              <a:spcAft>
                <a:spcPts val="400"/>
              </a:spcAft>
              <a:buNone/>
            </a:pPr>
            <a:r>
              <a:rPr lang="en-US" sz="1600" dirty="0">
                <a:solidFill>
                  <a:srgbClr val="0B1F33"/>
                </a:solidFill>
              </a:rPr>
              <a:t>A11: a changed audit digest is not yet compared (neutral, not refused). The plaintext purpose is visible in the mint transaction input.</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THE HALAH PROTOTYPE</a:t>
            </a:r>
            <a:endParaRPr lang="en-US" sz="3000" dirty="0"/>
          </a:p>
        </p:txBody>
      </p:sp>
      <p:sp>
        <p:nvSpPr>
          <p:cNvPr id="4" name="demo subtitle"/>
          <p:cNvSpPr txBox="1"/>
          <p:nvPr/>
        </p:nvSpPr>
        <p:spPr>
          <a:xfrm>
            <a:off x="731520" y="960120"/>
            <a:ext cx="10698480" cy="411480"/>
          </a:xfrm>
          <a:prstGeom prst="rect">
            <a:avLst/>
          </a:prstGeom>
          <a:noFill/>
          <a:ln/>
        </p:spPr>
        <p:txBody>
          <a:bodyPr wrap="square" rtlCol="0" anchor="ctr"/>
          <a:lstStyle/>
          <a:p>
            <a:pPr indent="0" marL="0">
              <a:buNone/>
            </a:pPr>
            <a:r>
              <a:rPr lang="en-US" sz="1700" i="1" dirty="0">
                <a:solidFill>
                  <a:srgbClr val="1FB5D6"/>
                </a:solidFill>
              </a:rPr>
              <a:t>One real consent, from creation to revocation: RO1 to RO4 in full, and the working parts of RO5 and RO6.</a:t>
            </a:r>
            <a:endParaRPr lang="en-US" sz="1700" dirty="0"/>
          </a:p>
        </p:txBody>
      </p:sp>
      <p:sp>
        <p:nvSpPr>
          <p:cNvPr id="5" name="card Four interfaces"/>
          <p:cNvSpPr/>
          <p:nvPr/>
        </p:nvSpPr>
        <p:spPr>
          <a:xfrm>
            <a:off x="64008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6" name="card text Four interfaces"/>
          <p:cNvSpPr txBox="1"/>
          <p:nvPr/>
        </p:nvSpPr>
        <p:spPr>
          <a:xfrm>
            <a:off x="77724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Four interfaces</a:t>
            </a:r>
            <a:endParaRPr lang="en-US" sz="1900" dirty="0"/>
          </a:p>
          <a:p>
            <a:pPr indent="0" marL="0">
              <a:spcAft>
                <a:spcPts val="400"/>
              </a:spcAft>
              <a:buNone/>
            </a:pPr>
            <a:r>
              <a:rPr lang="en-US" sz="1600" dirty="0">
                <a:solidFill>
                  <a:srgbClr val="0B1F33"/>
                </a:solidFill>
              </a:rPr>
              <a:t>Patient, guardian, doctor and auditor</a:t>
            </a:r>
            <a:endParaRPr lang="en-US" sz="1900" dirty="0"/>
          </a:p>
        </p:txBody>
      </p:sp>
      <p:sp>
        <p:nvSpPr>
          <p:cNvPr id="7" name="card Smart contract"/>
          <p:cNvSpPr/>
          <p:nvPr/>
        </p:nvSpPr>
        <p:spPr>
          <a:xfrm>
            <a:off x="434340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8" name="card text Smart contract"/>
          <p:cNvSpPr txBox="1"/>
          <p:nvPr/>
        </p:nvSpPr>
        <p:spPr>
          <a:xfrm>
            <a:off x="448056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9" name="card Guardian approval"/>
          <p:cNvSpPr/>
          <p:nvPr/>
        </p:nvSpPr>
        <p:spPr>
          <a:xfrm>
            <a:off x="804672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10" name="card text Guardian approval"/>
          <p:cNvSpPr txBox="1"/>
          <p:nvPr/>
        </p:nvSpPr>
        <p:spPr>
          <a:xfrm>
            <a:off x="818388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1" name="card Access proof"/>
          <p:cNvSpPr/>
          <p:nvPr/>
        </p:nvSpPr>
        <p:spPr>
          <a:xfrm>
            <a:off x="64008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2" name="card text Access proof"/>
          <p:cNvSpPr txBox="1"/>
          <p:nvPr/>
        </p:nvSpPr>
        <p:spPr>
          <a:xfrm>
            <a:off x="77724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3" name="card Data"/>
          <p:cNvSpPr/>
          <p:nvPr/>
        </p:nvSpPr>
        <p:spPr>
          <a:xfrm>
            <a:off x="434340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4" name="card text Data"/>
          <p:cNvSpPr txBox="1"/>
          <p:nvPr/>
        </p:nvSpPr>
        <p:spPr>
          <a:xfrm>
            <a:off x="448056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5" name="card Evidence"/>
          <p:cNvSpPr/>
          <p:nvPr/>
        </p:nvSpPr>
        <p:spPr>
          <a:xfrm>
            <a:off x="804672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6" name="card text Evidence"/>
          <p:cNvSpPr txBox="1"/>
          <p:nvPr/>
        </p:nvSpPr>
        <p:spPr>
          <a:xfrm>
            <a:off x="818388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on an active consent;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 THE PATIENT CREATES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RO1</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Consent as an evaluable object</a:t>
            </a:r>
            <a:endParaRPr lang="en-US" sz="1600" dirty="0"/>
          </a:p>
        </p:txBody>
      </p:sp>
      <p:sp>
        <p:nvSpPr>
          <p:cNvPr id="7" name="F21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1" descr="/tmp/deck/img/F21.png">    </p:cNvPr>
          <p:cNvPicPr>
            <a:picLocks noChangeAspect="1"/>
          </p:cNvPicPr>
          <p:nvPr/>
        </p:nvPicPr>
        <p:blipFill>
          <a:blip r:embed="rId1"/>
          <a:stretch>
            <a:fillRect/>
          </a:stretch>
        </p:blipFill>
        <p:spPr>
          <a:xfrm>
            <a:off x="1079655" y="1709928"/>
            <a:ext cx="6070290"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Patient subsystem after creation: four modules, two guardians, jurisdiction AU, state PENDING_SIGNATURE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two guardians, the data modules, the validity time and the jurisdiction AU.</a:t>
            </a:r>
            <a:endParaRPr lang="en-US" sz="1600" dirty="0"/>
          </a:p>
          <a:p>
            <a:pPr marL="342900" indent="-342900">
              <a:spcAft>
                <a:spcPts val="1000"/>
              </a:spcAft>
              <a:buSzPct val="100000"/>
              <a:buChar char="•"/>
            </a:pPr>
            <a:r>
              <a:rPr lang="en-US" sz="1600" dirty="0">
                <a:solidFill>
                  <a:srgbClr val="FFFFFF"/>
                </a:solidFill>
              </a:rPr>
              <a:t>The purpose is fixed to Treatment in this prototype.</a:t>
            </a:r>
            <a:endParaRPr lang="en-US" sz="1600" dirty="0"/>
          </a:p>
          <a:p>
            <a:pPr marL="342900" indent="-342900">
              <a:spcAft>
                <a:spcPts val="1000"/>
              </a:spcAft>
              <a:buSzPct val="100000"/>
              <a:buChar char="•"/>
            </a:pPr>
            <a:r>
              <a:rPr lang="en-US" sz="1600" dirty="0">
                <a:solidFill>
                  <a:srgbClr val="FFFFFF"/>
                </a:solidFill>
              </a:rPr>
              <a:t>An empty data scope or a malformed guardian DID is rejected.</a:t>
            </a:r>
            <a:endParaRPr lang="en-US" sz="1600" dirty="0"/>
          </a:p>
          <a:p>
            <a:pPr marL="342900" indent="-342900">
              <a:spcAft>
                <a:spcPts val="1000"/>
              </a:spcAft>
              <a:buSzPct val="100000"/>
              <a:buChar char="•"/>
            </a:pPr>
            <a:r>
              <a:rPr lang="en-US" sz="1600" dirty="0">
                <a:solidFill>
                  <a:srgbClr val="FFFFFF"/>
                </a:solidFill>
              </a:rPr>
              <a:t>The consent is stored as PENDING_SIGNATURE</a:t>
            </a:r>
            <a:r>
              <a:rPr lang="en-US" sz="1600" dirty="0">
                <a:solidFill>
                  <a:srgbClr val="FFFFFF"/>
                </a:solidFill>
              </a:rPr>
              <a:t>, the prototype name of the PENDING lifecycle state</a:t>
            </a:r>
            <a:r>
              <a:rPr lang="en-US" sz="1600" dirty="0">
                <a:solidFill>
                  <a:srgbClr val="FFFFFF"/>
                </a:solidFill>
              </a:rPr>
              <a:t>. Nothing is on the blockchain yet.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2: THE FIRST GUARDIAN APPROVES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Multi-party approval: one signature is not enough</a:t>
            </a:r>
            <a:endParaRPr lang="en-US" sz="1600" dirty="0"/>
          </a:p>
        </p:txBody>
      </p:sp>
      <p:sp>
        <p:nvSpPr>
          <p:cNvPr id="7" name="F22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2" descr="/tmp/deck/img/F22.png">    </p:cNvPr>
          <p:cNvPicPr>
            <a:picLocks noChangeAspect="1"/>
          </p:cNvPicPr>
          <p:nvPr/>
        </p:nvPicPr>
        <p:blipFill>
          <a:blip r:embed="rId1"/>
          <a:stretch>
            <a:fillRect/>
          </a:stretch>
        </p:blipFill>
        <p:spPr>
          <a:xfrm>
            <a:off x="749808" y="2746760"/>
            <a:ext cx="6729984" cy="241604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Guardian subsystem at the first approval: signature verified, multi-signature count 1/2</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first guardian signs an EIP-712 approval.</a:t>
            </a:r>
            <a:endParaRPr lang="en-US" sz="1600" dirty="0"/>
          </a:p>
          <a:p>
            <a:pPr marL="342900" indent="-342900">
              <a:spcAft>
                <a:spcPts val="1000"/>
              </a:spcAft>
              <a:buSzPct val="100000"/>
              <a:buChar char="•"/>
            </a:pPr>
            <a:r>
              <a:rPr lang="en-US" sz="1600" dirty="0">
                <a:solidFill>
                  <a:srgbClr val="FFFFFF"/>
                </a:solidFill>
              </a:rPr>
              <a:t>The system recovers the signer and confirms it is a listed guardian.</a:t>
            </a:r>
            <a:endParaRPr lang="en-US" sz="1600" dirty="0"/>
          </a:p>
          <a:p>
            <a:pPr marL="342900" indent="-342900">
              <a:spcAft>
                <a:spcPts val="1000"/>
              </a:spcAft>
              <a:buSzPct val="100000"/>
              <a:buChar char="•"/>
            </a:pPr>
            <a:r>
              <a:rPr lang="en-US" sz="1600" dirty="0">
                <a:solidFill>
                  <a:srgbClr val="FFFFFF"/>
                </a:solidFill>
              </a:rPr>
              <a:t>The counter shows 1 of 2. The consent stays pending.</a:t>
            </a:r>
            <a:endParaRPr lang="en-US" sz="1600" dirty="0"/>
          </a:p>
          <a:p>
            <a:pPr marL="342900" indent="-342900">
              <a:spcAft>
                <a:spcPts val="1000"/>
              </a:spcAft>
              <a:buSzPct val="100000"/>
              <a:buChar char="•"/>
            </a:pPr>
            <a:r>
              <a:rPr lang="en-US" sz="1600" dirty="0">
                <a:solidFill>
                  <a:srgbClr val="FFFFFF"/>
                </a:solidFill>
              </a:rPr>
              <a:t>Approvals from outsiders, replays and duplicates would not be counted.</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3: SECOND APPROVAL, TOKEN MINTED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Threshold reached: 2 of 2, then anchoring in the background</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Second signature verified; threshold 2 of 2 reached</a:t>
            </a:r>
            <a:endParaRPr lang="en-US" sz="1400" dirty="0"/>
          </a:p>
          <a:p>
            <a:pPr marL="342900" indent="-342900">
              <a:buSzPct val="100000"/>
              <a:buChar char="•"/>
            </a:pPr>
            <a:r>
              <a:rPr lang="en-US" sz="1400" dirty="0">
                <a:solidFill>
                  <a:srgbClr val="FFFFFF"/>
                </a:solidFill>
              </a:rPr>
              <a:t>A soulbound token is minted on Sepolia in the background; the user does not wait</a:t>
            </a:r>
            <a:endParaRPr lang="en-US" sz="1400" dirty="0"/>
          </a:p>
          <a:p>
            <a:pPr marL="342900" indent="-342900">
              <a:buSzPct val="100000"/>
              <a:buChar char="•"/>
            </a:pPr>
            <a:r>
              <a:rPr lang="en-US" sz="1400" dirty="0">
                <a:solidFill>
                  <a:srgbClr val="FFFFFF"/>
                </a:solidFill>
              </a:rPr>
              <a:t>Later the same screen reads: already anchored on Sepolia</a:t>
            </a:r>
            <a:endParaRPr lang="en-US" sz="1400" dirty="0"/>
          </a:p>
        </p:txBody>
      </p:sp>
      <p:sp>
        <p:nvSpPr>
          <p:cNvPr id="8" name="F23 panel"/>
          <p:cNvSpPr/>
          <p:nvPr/>
        </p:nvSpPr>
        <p:spPr>
          <a:xfrm>
            <a:off x="64008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3" descr="/tmp/deck/img/F23.png">    </p:cNvPr>
          <p:cNvPicPr>
            <a:picLocks noChangeAspect="1"/>
          </p:cNvPicPr>
          <p:nvPr/>
        </p:nvPicPr>
        <p:blipFill>
          <a:blip r:embed="rId1"/>
          <a:stretch>
            <a:fillRect/>
          </a:stretch>
        </p:blipFill>
        <p:spPr>
          <a:xfrm>
            <a:off x="749808" y="2562614"/>
            <a:ext cx="5175504" cy="2372852"/>
          </a:xfrm>
          <a:prstGeom prst="rect">
            <a:avLst/>
          </a:prstGeom>
        </p:spPr>
      </p:pic>
      <p:sp>
        <p:nvSpPr>
          <p:cNvPr id="10" name="caption"/>
          <p:cNvSpPr txBox="1"/>
          <p:nvPr/>
        </p:nvSpPr>
        <p:spPr>
          <a:xfrm>
            <a:off x="640080" y="5166360"/>
            <a:ext cx="5394960" cy="320040"/>
          </a:xfrm>
          <a:prstGeom prst="rect">
            <a:avLst/>
          </a:prstGeom>
          <a:noFill/>
          <a:ln/>
        </p:spPr>
        <p:txBody>
          <a:bodyPr wrap="square" rtlCol="0" anchor="ctr"/>
          <a:lstStyle/>
          <a:p>
            <a:pPr algn="ctr" indent="0" marL="0">
              <a:buNone/>
            </a:pPr>
            <a:r>
              <a:rPr lang="en-US" sz="1200" i="1" dirty="0">
                <a:solidFill>
                  <a:srgbClr val="FFFFFF"/>
                </a:solidFill>
              </a:rPr>
              <a:t>Second approval: 2/2 reached, SBT minted in the background</a:t>
            </a:r>
            <a:endParaRPr lang="en-US" sz="1200" dirty="0"/>
          </a:p>
        </p:txBody>
      </p:sp>
      <p:sp>
        <p:nvSpPr>
          <p:cNvPr id="11" name="F25 panel"/>
          <p:cNvSpPr/>
          <p:nvPr/>
        </p:nvSpPr>
        <p:spPr>
          <a:xfrm>
            <a:off x="617220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25" descr="/tmp/deck/img/F25.png">    </p:cNvPr>
          <p:cNvPicPr>
            <a:picLocks noChangeAspect="1"/>
          </p:cNvPicPr>
          <p:nvPr/>
        </p:nvPicPr>
        <p:blipFill>
          <a:blip r:embed="rId2"/>
          <a:stretch>
            <a:fillRect/>
          </a:stretch>
        </p:blipFill>
        <p:spPr>
          <a:xfrm>
            <a:off x="6281928" y="2949468"/>
            <a:ext cx="5175504" cy="1599144"/>
          </a:xfrm>
          <a:prstGeom prst="rect">
            <a:avLst/>
          </a:prstGeom>
        </p:spPr>
      </p:pic>
      <p:sp>
        <p:nvSpPr>
          <p:cNvPr id="13" name="caption"/>
          <p:cNvSpPr txBox="1"/>
          <p:nvPr/>
        </p:nvSpPr>
        <p:spPr>
          <a:xfrm>
            <a:off x="6172200" y="5166360"/>
            <a:ext cx="5394960" cy="320040"/>
          </a:xfrm>
          <a:prstGeom prst="rect">
            <a:avLst/>
          </a:prstGeom>
          <a:noFill/>
          <a:ln/>
        </p:spPr>
        <p:txBody>
          <a:bodyPr wrap="square" rtlCol="0" anchor="ctr"/>
          <a:lstStyle/>
          <a:p>
            <a:pPr algn="ctr" indent="0" marL="0">
              <a:buNone/>
            </a:pPr>
            <a:r>
              <a:rPr lang="en-US" sz="1200" i="1" dirty="0">
                <a:solidFill>
                  <a:srgbClr val="FFFFFF"/>
                </a:solidFill>
              </a:rPr>
              <a:t>Revisited after the background job: already anchored on Sepolia</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4: THE DOCTOR IS ALLOWED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Five checks and a proof before any data is released</a:t>
            </a:r>
            <a:endParaRPr lang="en-US" sz="1600" dirty="0"/>
          </a:p>
        </p:txBody>
      </p:sp>
      <p:sp>
        <p:nvSpPr>
          <p:cNvPr id="7" name="F27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7" descr="/tmp/deck/img/F27.png">    </p:cNvPr>
          <p:cNvPicPr>
            <a:picLocks noChangeAspect="1"/>
          </p:cNvPicPr>
          <p:nvPr/>
        </p:nvPicPr>
        <p:blipFill>
          <a:blip r:embed="rId1"/>
          <a:stretch>
            <a:fillRect/>
          </a:stretch>
        </p:blipFill>
        <p:spPr>
          <a:xfrm>
            <a:off x="1266853" y="1709928"/>
            <a:ext cx="5695893"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requester jurisdiction AU: all five checks PASS, ALLOW</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doctor selects the consent and a scope inside the agreed modules.</a:t>
            </a:r>
            <a:endParaRPr lang="en-US" sz="1600" dirty="0"/>
          </a:p>
          <a:p>
            <a:pPr marL="342900" indent="-342900">
              <a:spcAft>
                <a:spcPts val="1000"/>
              </a:spcAft>
              <a:buSzPct val="100000"/>
              <a:buChar char="•"/>
            </a:pPr>
            <a:r>
              <a:rPr lang="en-US" sz="1600" dirty="0">
                <a:solidFill>
                  <a:srgbClr val="FFFFFF"/>
                </a:solidFill>
              </a:rPr>
              <a:t>A Groth16 proof is generated and verified.</a:t>
            </a:r>
            <a:endParaRPr lang="en-US" sz="1600" dirty="0"/>
          </a:p>
          <a:p>
            <a:pPr marL="342900" indent="-342900">
              <a:spcAft>
                <a:spcPts val="1000"/>
              </a:spcAft>
              <a:buSzPct val="100000"/>
              <a:buChar char="•"/>
            </a:pPr>
            <a:r>
              <a:rPr lang="en-US" sz="1600" dirty="0">
                <a:solidFill>
                  <a:srgbClr val="FFFFFF"/>
                </a:solidFill>
              </a:rPr>
              <a:t>The decision matrix shows VI, VA, VP, VT </a:t>
            </a:r>
            <a:r>
              <a:rPr lang="en-US" sz="1600" dirty="0">
                <a:solidFill>
                  <a:srgbClr val="FFFFFF"/>
                </a:solidFill>
              </a:rPr>
              <a:t>and the jurisdiction check (VL on screen)</a:t>
            </a:r>
            <a:r>
              <a:rPr lang="en-US" sz="1600" dirty="0">
                <a:solidFill>
                  <a:srgbClr val="FFFFFF"/>
                </a:solidFill>
              </a:rPr>
              <a:t> all PASS, so ALLOW.</a:t>
            </a:r>
            <a:endParaRPr lang="en-US" sz="1600" dirty="0"/>
          </a:p>
          <a:p>
            <a:pPr marL="342900" indent="-342900">
              <a:spcAft>
                <a:spcPts val="1000"/>
              </a:spcAft>
              <a:buSzPct val="100000"/>
              <a:buChar char="•"/>
            </a:pPr>
            <a:r>
              <a:rPr lang="en-US" sz="1600" dirty="0">
                <a:solidFill>
                  <a:srgbClr val="FFFFFF"/>
                </a:solidFill>
              </a:rPr>
              <a:t>Identity, authority, approvals, scope, time </a:t>
            </a:r>
            <a:r>
              <a:rPr lang="en-US" sz="1600" dirty="0">
                <a:solidFill>
                  <a:srgbClr val="FFFFFF"/>
                </a:solidFill>
              </a:rPr>
              <a:t>and the ACTIVE lifecycle state</a:t>
            </a:r>
            <a:r>
              <a:rPr lang="en-US" sz="1600" dirty="0">
                <a:solidFill>
                  <a:srgbClr val="FFFFFF"/>
                </a:solidFill>
              </a:rPr>
              <a:t> are checked in one decision.</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5: ONLY THE AUTHORISED RECORDS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Data scope enforced: nothing outside the consent</a:t>
            </a:r>
            <a:endParaRPr lang="en-US" sz="1600" dirty="0"/>
          </a:p>
        </p:txBody>
      </p:sp>
      <p:sp>
        <p:nvSpPr>
          <p:cNvPr id="7" name="F29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9" descr="/tmp/deck/img/F29.png">    </p:cNvPr>
          <p:cNvPicPr>
            <a:picLocks noChangeAspect="1"/>
          </p:cNvPicPr>
          <p:nvPr/>
        </p:nvPicPr>
        <p:blipFill>
          <a:blip r:embed="rId1"/>
          <a:stretch>
            <a:fillRect/>
          </a:stretch>
        </p:blipFill>
        <p:spPr>
          <a:xfrm>
            <a:off x="2137378" y="1709928"/>
            <a:ext cx="3954844"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verification: access granted, records displayed per module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Records are displayed per module: Observation, Medication, Condition, Procedure.</a:t>
            </a:r>
            <a:endParaRPr lang="en-US" sz="1600" dirty="0"/>
          </a:p>
          <a:p>
            <a:pPr marL="342900" indent="-342900">
              <a:spcAft>
                <a:spcPts val="1000"/>
              </a:spcAft>
              <a:buSzPct val="100000"/>
              <a:buChar char="•"/>
            </a:pPr>
            <a:r>
              <a:rPr lang="en-US" sz="1600" dirty="0">
                <a:solidFill>
                  <a:srgbClr val="FFFFFF"/>
                </a:solidFill>
              </a:rPr>
              <a:t>Only the modules inside the consent scope are returned.</a:t>
            </a:r>
            <a:endParaRPr lang="en-US" sz="1600" dirty="0"/>
          </a:p>
          <a:p>
            <a:pPr marL="342900" indent="-342900">
              <a:spcAft>
                <a:spcPts val="1000"/>
              </a:spcAft>
              <a:buSzPct val="100000"/>
              <a:buChar char="•"/>
            </a:pPr>
            <a:r>
              <a:rPr lang="en-US" sz="1600" dirty="0">
                <a:solidFill>
                  <a:srgbClr val="FFFFFF"/>
                </a:solidFill>
              </a:rPr>
              <a:t>A request for a module outside the scope is refused (attack test A4).</a:t>
            </a:r>
            <a:endParaRPr lang="en-US" sz="1600" dirty="0"/>
          </a:p>
          <a:p>
            <a:pPr marL="342900" indent="-342900">
              <a:spcAft>
                <a:spcPts val="1000"/>
              </a:spcAft>
              <a:buSzPct val="100000"/>
              <a:buChar char="•"/>
            </a:pPr>
            <a:r>
              <a:rPr lang="en-US" sz="1600" dirty="0">
                <a:solidFill>
                  <a:srgbClr val="FFFFFF"/>
                </a:solidFill>
              </a:rPr>
              <a:t>The decision is written to the audit ledger with its matrix.</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6: THE WRONG JURISDICTION</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One failed check is enough to deny</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Same doctor, same active consent, jurisdiction declared as SA instead of AU</a:t>
            </a:r>
            <a:endParaRPr lang="en-US" sz="1400" dirty="0"/>
          </a:p>
          <a:p>
            <a:pPr marL="342900" indent="-342900">
              <a:buSzPct val="100000"/>
              <a:buChar char="•"/>
            </a:pPr>
            <a:r>
              <a:rPr lang="en-US" sz="1400" dirty="0">
                <a:solidFill>
                  <a:srgbClr val="FFFFFF"/>
                </a:solidFill>
              </a:rPr>
              <a:t>The exploratory jurisdiction check (VL on screen; future work for the framework) fails</a:t>
            </a:r>
            <a:r>
              <a:rPr lang="en-US" sz="1400" dirty="0">
                <a:solidFill>
                  <a:srgbClr val="FFFFFF"/>
                </a:solidFill>
              </a:rPr>
              <a:t>, so ALLOW = FAIL</a:t>
            </a:r>
            <a:endParaRPr lang="en-US" sz="1400" dirty="0"/>
          </a:p>
          <a:p>
            <a:pPr marL="342900" indent="-342900">
              <a:buSzPct val="100000"/>
              <a:buChar char="•"/>
            </a:pPr>
            <a:r>
              <a:rPr lang="en-US" sz="1400" dirty="0">
                <a:solidFill>
                  <a:srgbClr val="FFFFFF"/>
                </a:solidFill>
              </a:rPr>
              <a:t>The refusal names the failed check: Security Exception, failed checks: VL</a:t>
            </a:r>
            <a:endParaRPr lang="en-US" sz="1400" dirty="0"/>
          </a:p>
        </p:txBody>
      </p:sp>
      <p:sp>
        <p:nvSpPr>
          <p:cNvPr id="8" name="F31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1" descr="/tmp/deck/img/F31.png">    </p:cNvPr>
          <p:cNvPicPr>
            <a:picLocks noChangeAspect="1"/>
          </p:cNvPicPr>
          <p:nvPr/>
        </p:nvPicPr>
        <p:blipFill>
          <a:blip r:embed="rId1"/>
          <a:stretch>
            <a:fillRect/>
          </a:stretch>
        </p:blipFill>
        <p:spPr>
          <a:xfrm>
            <a:off x="1156648" y="2487168"/>
            <a:ext cx="4361824"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Requester jurisdiction SA: </a:t>
            </a:r>
            <a:r>
              <a:rPr lang="en-US" sz="1200" i="1" dirty="0">
                <a:solidFill>
                  <a:srgbClr val="FFFFFF"/>
                </a:solidFill>
              </a:rPr>
              <a:t>the jurisdiction check (VL)</a:t>
            </a:r>
            <a:r>
              <a:rPr lang="en-US" sz="1200" i="1" dirty="0">
                <a:solidFill>
                  <a:srgbClr val="FFFFFF"/>
                </a:solidFill>
              </a:rPr>
              <a:t> reports FAIL, ALLOW = FAIL</a:t>
            </a:r>
            <a:endParaRPr lang="en-US" sz="1200" dirty="0"/>
          </a:p>
        </p:txBody>
      </p:sp>
      <p:sp>
        <p:nvSpPr>
          <p:cNvPr id="11" name="F32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2" descr="/tmp/deck/img/F32.png">    </p:cNvPr>
          <p:cNvPicPr>
            <a:picLocks noChangeAspect="1"/>
          </p:cNvPicPr>
          <p:nvPr/>
        </p:nvPicPr>
        <p:blipFill>
          <a:blip r:embed="rId2"/>
          <a:stretch>
            <a:fillRect/>
          </a:stretch>
        </p:blipFill>
        <p:spPr>
          <a:xfrm>
            <a:off x="6281928" y="2927586"/>
            <a:ext cx="5175504" cy="2557308"/>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The refused request names the failed check: VL</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7: THE PATIENT REVOKES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Revocation end to end, with an on-chain transaction</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patient revokes the consent</a:t>
            </a:r>
            <a:endParaRPr lang="en-US" sz="1400" dirty="0"/>
          </a:p>
          <a:p>
            <a:pPr marL="342900" indent="-342900">
              <a:buSzPct val="100000"/>
              <a:buChar char="•"/>
            </a:pPr>
            <a:r>
              <a:rPr lang="en-US" sz="1400" dirty="0">
                <a:solidFill>
                  <a:srgbClr val="FFFFFF"/>
                </a:solidFill>
              </a:rPr>
              <a:t>The revoke transaction is sent to Sepolia and waits for block confirmation</a:t>
            </a:r>
            <a:endParaRPr lang="en-US" sz="1400" dirty="0"/>
          </a:p>
          <a:p>
            <a:pPr marL="342900" indent="-342900">
              <a:buSzPct val="100000"/>
              <a:buChar char="•"/>
            </a:pPr>
            <a:r>
              <a:rPr lang="en-US" sz="1400" dirty="0">
                <a:solidFill>
                  <a:srgbClr val="FFFFFF"/>
                </a:solidFill>
              </a:rPr>
              <a:t>The consent becomes REVOKED, token #1</a:t>
            </a:r>
            <a:endParaRPr lang="en-US" sz="1400" dirty="0"/>
          </a:p>
        </p:txBody>
      </p:sp>
      <p:sp>
        <p:nvSpPr>
          <p:cNvPr id="8" name="F33 panel"/>
          <p:cNvSpPr/>
          <p:nvPr/>
        </p:nvSpPr>
        <p:spPr>
          <a:xfrm>
            <a:off x="64008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3" descr="/tmp/deck/img/F33.png">    </p:cNvPr>
          <p:cNvPicPr>
            <a:picLocks noChangeAspect="1"/>
          </p:cNvPicPr>
          <p:nvPr/>
        </p:nvPicPr>
        <p:blipFill>
          <a:blip r:embed="rId1"/>
          <a:stretch>
            <a:fillRect/>
          </a:stretch>
        </p:blipFill>
        <p:spPr>
          <a:xfrm>
            <a:off x="1022756" y="2487168"/>
            <a:ext cx="4629607" cy="3346704"/>
          </a:xfrm>
          <a:prstGeom prst="rect">
            <a:avLst/>
          </a:prstGeom>
        </p:spPr>
      </p:pic>
      <p:sp>
        <p:nvSpPr>
          <p:cNvPr id="10" name="caption"/>
          <p:cNvSpPr txBox="1"/>
          <p:nvPr/>
        </p:nvSpPr>
        <p:spPr>
          <a:xfrm>
            <a:off x="640080" y="5989320"/>
            <a:ext cx="5394960" cy="320040"/>
          </a:xfrm>
          <a:prstGeom prst="rect">
            <a:avLst/>
          </a:prstGeom>
          <a:noFill/>
          <a:ln/>
        </p:spPr>
        <p:txBody>
          <a:bodyPr wrap="square" rtlCol="0" anchor="ctr"/>
          <a:lstStyle/>
          <a:p>
            <a:pPr algn="ctr" indent="0" marL="0">
              <a:buNone/>
            </a:pPr>
            <a:r>
              <a:rPr lang="en-US" sz="1200" i="1" dirty="0">
                <a:solidFill>
                  <a:srgbClr val="FFFFFF"/>
                </a:solidFill>
              </a:rPr>
              <a:t>During revocation: waiting for block confirmation</a:t>
            </a:r>
            <a:endParaRPr lang="en-US" sz="1200" dirty="0"/>
          </a:p>
        </p:txBody>
      </p:sp>
      <p:sp>
        <p:nvSpPr>
          <p:cNvPr id="11" name="F34 panel"/>
          <p:cNvSpPr/>
          <p:nvPr/>
        </p:nvSpPr>
        <p:spPr>
          <a:xfrm>
            <a:off x="617220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4" descr="/tmp/deck/img/F34.png">    </p:cNvPr>
          <p:cNvPicPr>
            <a:picLocks noChangeAspect="1"/>
          </p:cNvPicPr>
          <p:nvPr/>
        </p:nvPicPr>
        <p:blipFill>
          <a:blip r:embed="rId2"/>
          <a:stretch>
            <a:fillRect/>
          </a:stretch>
        </p:blipFill>
        <p:spPr>
          <a:xfrm>
            <a:off x="6344440" y="2487168"/>
            <a:ext cx="5050481" cy="3346704"/>
          </a:xfrm>
          <a:prstGeom prst="rect">
            <a:avLst/>
          </a:prstGeom>
        </p:spPr>
      </p:pic>
      <p:sp>
        <p:nvSpPr>
          <p:cNvPr id="13" name="caption"/>
          <p:cNvSpPr txBox="1"/>
          <p:nvPr/>
        </p:nvSpPr>
        <p:spPr>
          <a:xfrm>
            <a:off x="6172200" y="5989320"/>
            <a:ext cx="5394960" cy="320040"/>
          </a:xfrm>
          <a:prstGeom prst="rect">
            <a:avLst/>
          </a:prstGeom>
          <a:noFill/>
          <a:ln/>
        </p:spPr>
        <p:txBody>
          <a:bodyPr wrap="square" rtlCol="0" anchor="ctr"/>
          <a:lstStyle/>
          <a:p>
            <a:pPr algn="ctr" indent="0" marL="0">
              <a:buNone/>
            </a:pPr>
            <a:r>
              <a:rPr lang="en-US" sz="1200" i="1" dirty="0">
                <a:solidFill>
                  <a:srgbClr val="FFFFFF"/>
                </a:solidFill>
              </a:rPr>
              <a:t>After revocation: the consent is REVOKED, token #1</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8: AFTER REVOCATION, REFUSED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A revoked consent cannot be used</a:t>
            </a:r>
            <a:endParaRPr lang="en-US" sz="1600" dirty="0"/>
          </a:p>
        </p:txBody>
      </p:sp>
      <p:sp>
        <p:nvSpPr>
          <p:cNvPr id="7" name="F36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36" descr="/tmp/deck/img/F36.png">    </p:cNvPr>
          <p:cNvPicPr>
            <a:picLocks noChangeAspect="1"/>
          </p:cNvPicPr>
          <p:nvPr/>
        </p:nvPicPr>
        <p:blipFill>
          <a:blip r:embed="rId1"/>
          <a:stretch>
            <a:fillRect/>
          </a:stretch>
        </p:blipFill>
        <p:spPr>
          <a:xfrm>
            <a:off x="749808" y="2246920"/>
            <a:ext cx="6729984" cy="341572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revocation: VA FAIL, state REVOKED</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same doctor repeats the request.</a:t>
            </a:r>
            <a:endParaRPr lang="en-US" sz="1600" dirty="0"/>
          </a:p>
          <a:p>
            <a:pPr marL="342900" indent="-342900">
              <a:spcAft>
                <a:spcPts val="1000"/>
              </a:spcAft>
              <a:buSzPct val="100000"/>
              <a:buChar char="•"/>
            </a:pPr>
            <a:r>
              <a:rPr lang="en-US" sz="1600" dirty="0">
                <a:solidFill>
                  <a:srgbClr val="FFFFFF"/>
                </a:solidFill>
              </a:rPr>
              <a:t>VA reports FAIL: the consent is not active, current state REVOKED.</a:t>
            </a:r>
            <a:endParaRPr lang="en-US" sz="1600" dirty="0"/>
          </a:p>
          <a:p>
            <a:pPr marL="342900" indent="-342900">
              <a:spcAft>
                <a:spcPts val="1000"/>
              </a:spcAft>
              <a:buSzPct val="100000"/>
              <a:buChar char="•"/>
            </a:pPr>
            <a:r>
              <a:rPr lang="en-US" sz="1600" dirty="0">
                <a:solidFill>
                  <a:srgbClr val="FFFFFF"/>
                </a:solidFill>
              </a:rPr>
              <a:t>Access is refused.</a:t>
            </a:r>
            <a:endParaRPr lang="en-US" sz="1600" dirty="0"/>
          </a:p>
          <a:p>
            <a:pPr marL="342900" indent="-342900">
              <a:spcAft>
                <a:spcPts val="1000"/>
              </a:spcAft>
              <a:buSzPct val="100000"/>
              <a:buChar char="•"/>
            </a:pPr>
            <a:r>
              <a:rPr lang="en-US" sz="1600" dirty="0">
                <a:solidFill>
                  <a:srgbClr val="FFFFFF"/>
                </a:solidFill>
              </a:rPr>
              <a:t>Expired consents are refused the same way through VT.</a:t>
            </a:r>
            <a:endParaRPr lang="en-US" sz="1600" dirty="0"/>
          </a:p>
          <a:p>
            <a:pPr marL="342900" indent="-342900">
              <a:spcAft>
                <a:spcPts val="1000"/>
              </a:spcAft>
              <a:buSzPct val="100000"/>
              <a:buChar char="•"/>
            </a:pPr>
            <a:r>
              <a:rPr lang="en-US" sz="1600" dirty="0">
                <a:solidFill>
                  <a:srgbClr val="FFFFFF"/>
                </a:solidFill>
              </a:rPr>
              <a:t>In the framework, this is the lifecycle check VL; the prototype also checks revocation within VA.</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9: PUBLIC EVIDENCE ON SEPOLIA</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 + 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The mint and the revoke are public, verifiable transactions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Mint of the evaluated consent: block 11,771,243</a:t>
            </a:r>
            <a:endParaRPr lang="en-US" sz="1400" dirty="0"/>
          </a:p>
          <a:p>
            <a:pPr marL="342900" indent="-342900">
              <a:buSzPct val="100000"/>
              <a:buChar char="•"/>
            </a:pPr>
            <a:r>
              <a:rPr lang="en-US" sz="1400" dirty="0">
                <a:solidFill>
                  <a:srgbClr val="FFFFFF"/>
                </a:solidFill>
              </a:rPr>
              <a:t>Revoke of token #1: block 11,771,307, decoded input revoke(uint256 tokenId)</a:t>
            </a:r>
            <a:endParaRPr lang="en-US" sz="1400" dirty="0"/>
          </a:p>
          <a:p>
            <a:pPr marL="342900" indent="-342900">
              <a:buSzPct val="100000"/>
              <a:buChar char="•"/>
            </a:pPr>
            <a:r>
              <a:rPr lang="en-US" sz="1400" dirty="0">
                <a:solidFill>
                  <a:srgbClr val="FFFFFF"/>
                </a:solidFill>
              </a:rPr>
              <a:t>No medical data is on the chain, only the consent state</a:t>
            </a:r>
            <a:endParaRPr lang="en-US" sz="1400" dirty="0"/>
          </a:p>
        </p:txBody>
      </p:sp>
      <p:sp>
        <p:nvSpPr>
          <p:cNvPr id="8" name="F26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6" descr="/tmp/deck/img/F26.png">    </p:cNvPr>
          <p:cNvPicPr>
            <a:picLocks noChangeAspect="1"/>
          </p:cNvPicPr>
          <p:nvPr/>
        </p:nvPicPr>
        <p:blipFill>
          <a:blip r:embed="rId1"/>
          <a:stretch>
            <a:fillRect/>
          </a:stretch>
        </p:blipFill>
        <p:spPr>
          <a:xfrm>
            <a:off x="749808" y="2705041"/>
            <a:ext cx="5175504" cy="3002398"/>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Anchoring transaction: status Success, block 11,771,243</a:t>
            </a:r>
            <a:endParaRPr lang="en-US" sz="1200" dirty="0"/>
          </a:p>
        </p:txBody>
      </p:sp>
      <p:sp>
        <p:nvSpPr>
          <p:cNvPr id="11" name="F37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7" descr="/tmp/deck/img/F37.png">    </p:cNvPr>
          <p:cNvPicPr>
            <a:picLocks noChangeAspect="1"/>
          </p:cNvPicPr>
          <p:nvPr/>
        </p:nvPicPr>
        <p:blipFill>
          <a:blip r:embed="rId2"/>
          <a:stretch>
            <a:fillRect/>
          </a:stretch>
        </p:blipFill>
        <p:spPr>
          <a:xfrm>
            <a:off x="6964589" y="2487168"/>
            <a:ext cx="3810182" cy="3438144"/>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Revocation transaction: status Success, block 11,771,307</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10: THE AUDITOR SEES EVERYTHING</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Every event in order, and the chain agrees with the local records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lifecycle of the consent: thirteen recorded events in order, from creation to revocation</a:t>
            </a:r>
            <a:endParaRPr lang="en-US" sz="1400" dirty="0"/>
          </a:p>
          <a:p>
            <a:pPr marL="342900" indent="-342900">
              <a:buSzPct val="100000"/>
              <a:buChar char="•"/>
            </a:pPr>
            <a:r>
              <a:rPr lang="en-US" sz="1400" dirty="0">
                <a:solidFill>
                  <a:srgbClr val="FFFFFF"/>
                </a:solidFill>
              </a:rPr>
              <a:t>Aggregate indicators of the exported ledger: 60 events, 9 access requests, 5 on-chain anchors</a:t>
            </a:r>
            <a:endParaRPr lang="en-US" sz="1400" dirty="0"/>
          </a:p>
          <a:p>
            <a:pPr marL="342900" indent="-342900">
              <a:buSzPct val="100000"/>
              <a:buChar char="•"/>
            </a:pPr>
            <a:r>
              <a:rPr lang="en-US" sz="1400" dirty="0">
                <a:solidFill>
                  <a:srgbClr val="FFFFFF"/>
                </a:solidFill>
              </a:rPr>
              <a:t>An independent tool re-checked Sepolia: all anchored transactions found in their recorded blocks</a:t>
            </a:r>
            <a:endParaRPr lang="en-US" sz="1400" dirty="0"/>
          </a:p>
        </p:txBody>
      </p:sp>
      <p:sp>
        <p:nvSpPr>
          <p:cNvPr id="8" name="F38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8" descr="/tmp/deck/img/F38.png">    </p:cNvPr>
          <p:cNvPicPr>
            <a:picLocks noChangeAspect="1"/>
          </p:cNvPicPr>
          <p:nvPr/>
        </p:nvPicPr>
        <p:blipFill>
          <a:blip r:embed="rId1"/>
          <a:stretch>
            <a:fillRect/>
          </a:stretch>
        </p:blipFill>
        <p:spPr>
          <a:xfrm>
            <a:off x="1959148" y="2487168"/>
            <a:ext cx="2756824"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subsystem: lifecycle of the evaluated consent, thirteen events in order</a:t>
            </a:r>
            <a:endParaRPr lang="en-US" sz="1200" dirty="0"/>
          </a:p>
        </p:txBody>
      </p:sp>
      <p:sp>
        <p:nvSpPr>
          <p:cNvPr id="11" name="F39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9" descr="/tmp/deck/img/F39.png">    </p:cNvPr>
          <p:cNvPicPr>
            <a:picLocks noChangeAspect="1"/>
          </p:cNvPicPr>
          <p:nvPr/>
        </p:nvPicPr>
        <p:blipFill>
          <a:blip r:embed="rId2"/>
          <a:stretch>
            <a:fillRect/>
          </a:stretch>
        </p:blipFill>
        <p:spPr>
          <a:xfrm>
            <a:off x="6281928" y="2819493"/>
            <a:ext cx="5175504" cy="2773493"/>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dashboard: 60 events, 9 access requests, 5 on-chain anchors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(1/7)</a:t>
            </a:r>
            <a:endParaRPr lang="en-US" sz="3000" dirty="0"/>
          </a:p>
        </p:txBody>
      </p:sp>
      <p:sp>
        <p:nvSpPr>
          <p:cNvPr id="4"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Akter, S. &amp; Sanam, T.F. 2025, 'A blockchain framework for secure healthcare data management using role-based access control and smart contracts', 2025 International Conference on Electrical, Computer and Communication Engineering (ECCE), pp. 1–6, &lt;https://doi.org/10.1109/ECCE64574.2025.11013162&gt;.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 Mamun, A., Azam, S. &amp; Gritti, C. 2022, 'Blockchain-based electronic health records management: A comprehensive review and future research direction', IEEE Access, vol. 10, pp. 5768–5789, &lt;https://doi.org/10.1109/ACCESS.2022.3141079&gt;.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Andrew, J., Isravel, D.P., Sagayam, K.M., Bhushan, B., Sei, Y. &amp; Eunice, J. 2023, 'Blockchain for healthcare systems: Architecture, security challenges, trends and future directions', Journal of Network and Computer Applications, vol. 215, p. 103633, &lt;https://doi.org/10.1016/j.jnca.2023.103633&gt;.</a:t>
            </a:r>
            <a:endParaRPr lang="en-US" sz="1000" dirty="0"/>
          </a:p>
          <a:p>
            <a:pPr indent="0" marL="0">
              <a:spcAft>
                <a:spcPts val="400"/>
              </a:spcAft>
              <a:buNone/>
            </a:pPr>
            <a:r>
              <a:rPr lang="en-US" sz="1000" dirty="0">
                <a:solidFill>
                  <a:srgbClr val="0B1F33"/>
                </a:solidFill>
              </a:rPr>
              <a:t>Arbabi, M.S., Lal, C., Veeraragavan, N.R., Marijan, D., Nygård, J.F. &amp; Vitenberg, R. 2023, 'A survey on blockchain for healthcare: Challenges, benefits, and future directions', IEEE Communications Surveys &amp; Tutorials, vol. 25, no. 1, pp. 386–424, &lt;https://doi.org/10.1109/COMST.2022.3224644&gt;.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Consensys 2026, MetaMask developer documentation, viewed 7 October 2026, &lt;https://docs.metamask.io/&gt;.</a:t>
            </a:r>
            <a:endParaRPr lang="en-US" sz="1000" dirty="0"/>
          </a:p>
          <a:p>
            <a:pPr indent="0" marL="0">
              <a:spcAft>
                <a:spcPts val="400"/>
              </a:spcAft>
              <a:buNone/>
            </a:pPr>
            <a:r>
              <a:rPr lang="en-US" sz="1000" dirty="0">
                <a:solidFill>
                  <a:srgbClr val="0B1F33"/>
                </a:solidFill>
              </a:rPr>
              <a:t>Deng, H., Liang, J., Zhang, C., Liu, X., Zhu, L. &amp; Guo, S. 2024, 'FutureDID: A fully decentralized identity system with multi-party verification', IEEE Transactions on Computers, vol. 73, no. 8, pp. 2051–2065, &lt;https://doi.org/10.1109/TC.2024.3398509&gt;.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2026a, Solidity documentation, viewed 7 October 2026, &lt;https://docs.soliditylang.org/&gt;.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Ethereum Foundation 2026c, Remix IDE documentation, viewed 7 October 2026, &lt;https://remix-ide.readthedocs.io/&gt;.</a:t>
            </a:r>
            <a:endParaRPr lang="en-US" sz="1000" dirty="0"/>
          </a:p>
          <a:p>
            <a:pPr indent="0" marL="0">
              <a:spcAft>
                <a:spcPts val="400"/>
              </a:spcAft>
              <a:buNone/>
            </a:pPr>
            <a:r>
              <a:rPr lang="en-US" sz="1000" dirty="0">
                <a:solidFill>
                  <a:srgbClr val="0B1F33"/>
                </a:solidFill>
              </a:rPr>
              <a:t>Ferreira, J.C., Correia, R., Rosário, L. &amp; Vila, A. 2025, 'Blockchain integration for trust and consent management in MCP-enabled FHIR systems', 2025 IEEE International Conference on Distributed Ledger Technologies (ICDLT), pp. 1–10, &lt;https://doi.org/10.1109/ICDLT66400.2025.11466653&gt;.</a:t>
            </a:r>
            <a:endParaRPr lang="en-US" sz="1000" dirty="0"/>
          </a:p>
          <a:p>
            <a:pPr indent="0" marL="0">
              <a:spcAft>
                <a:spcPts val="400"/>
              </a:spcAft>
              <a:buNone/>
            </a:pPr>
            <a:r>
              <a:rPr lang="en-US" sz="1000" dirty="0">
                <a:solidFill>
                  <a:srgbClr val="0B1F33"/>
                </a:solidFill>
              </a:rPr>
              <a:t>Flamini, A., Sciarretta, G., Scuro, M., Sharif, A., Tomasi, A. &amp; Ranise, S. 2024, 'On cryptographic mechanisms for the selective disclosure of verifiable credentials', Journal of Information Security and Applications, vol. 83, p. 103789, &lt;https://doi.org/10.1016/j.jisa.2024.103789&gt;.</a:t>
            </a:r>
            <a:endParaRPr lang="en-US" sz="1000" dirty="0"/>
          </a:p>
          <a:p>
            <a:pPr indent="0" marL="0">
              <a:spcAft>
                <a:spcPts val="400"/>
              </a:spcAft>
              <a:buNone/>
            </a:pPr>
            <a:r>
              <a:rPr lang="en-US" sz="1000" dirty="0">
                <a:solidFill>
                  <a:srgbClr val="0B1F33"/>
                </a:solidFill>
              </a:rPr>
              <a:t>Ghafoor, A., Symeonidis, I., Rydberg, A., Lindahl, C. &amp; Abbasi, A.Q. 2025, 'Towards empowering stakeholders through decentralized trust and secure livestock data sharing', Cryptography, vol. 9, no. 3, p. 52, &lt;https://doi.org/10.3390/cryptography9030052&gt;.</a:t>
            </a:r>
            <a:endParaRPr lang="en-US" sz="1000" dirty="0"/>
          </a:p>
          <a:p>
            <a:pPr indent="0" marL="0">
              <a:spcAft>
                <a:spcPts val="400"/>
              </a:spcAft>
              <a:buNone/>
            </a:pPr>
            <a:r>
              <a:rPr lang="en-US" sz="1000" dirty="0">
                <a:solidFill>
                  <a:srgbClr val="0B1F33"/>
                </a:solidFill>
              </a:rPr>
              <a:t>Ghosh, P.K., Chakraborty, A., Hasan, M., Rashid, K. &amp; Siddique, A.H. 2023, 'Blockchain application in healthcare systems: A review', Systems, vol. 11, no. 1, p. 38, &lt;https://doi.org/10.3390/systems11010038&gt;.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Hellstern, R., Park, D.C., Lemieux, V. &amp; Salimjan, G. 2022, 'Leveraging blockchain-based archival solutions for sensitive documentation: A Xinjiang case study', Digital Society, vol. 1, no. 1, p. 4, &lt;https://doi.org/10.1007/s44206-022-00007-1&gt;.</a:t>
            </a:r>
            <a:endParaRPr lang="en-US" sz="1000" dirty="0"/>
          </a:p>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Ibrahim, A.M., Abdel-Aziz, H.R., Mohamed, H.A.H., Zaghamir, D.E.F., Wahba, N.M.I., Hassan, G.A. et al. 2024, 'Balancing confidentiality and care coordination: Challenges in patient privacy', BMC Nursing, vol. 23, no. 1, p. 564, &lt;https://doi.org/10.1186/s12912-024-02231-1&gt;.</a:t>
            </a:r>
            <a:endParaRPr lang="en-US" sz="1000" dirty="0"/>
          </a:p>
          <a:p>
            <a:pPr indent="0" marL="0">
              <a:spcAft>
                <a:spcPts val="400"/>
              </a:spcAft>
              <a:buNone/>
            </a:pPr>
            <a:r>
              <a:rPr lang="en-US" sz="1000" dirty="0">
                <a:solidFill>
                  <a:srgbClr val="0B1F33"/>
                </a:solidFill>
              </a:rPr>
              <a:t>iden3 2026a, snarkjs: zkSNARKs implementation in JavaScript, version 0.7, npm package, viewed 7 October 2026, &lt;https://www.npmjs.com/package/snarkjs&gt;.</a:t>
            </a:r>
            <a:endParaRPr lang="en-US" sz="1000" dirty="0"/>
          </a:p>
          <a:p>
            <a:pPr indent="0" marL="0">
              <a:spcAft>
                <a:spcPts val="400"/>
              </a:spcAft>
              <a:buNone/>
            </a:pPr>
            <a:r>
              <a:rPr lang="en-US" sz="1000" dirty="0">
                <a:solidFill>
                  <a:srgbClr val="0B1F33"/>
                </a:solidFill>
              </a:rPr>
              <a:t>iden3 2026b, circom: circuit compiler for zero-knowledge proofs, viewed 7 October 2026, &lt;https://docs.circom.io/&gt;.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Jesus, V. &amp; Pandit, H.J. 2022, 'Consent receipts for a usable and auditable web of personal data', IEEE Access, vol. 10, pp. 28545–28563, &lt;https://doi.org/10.1109/ACCESS.2022.3157850&gt;.</a:t>
            </a:r>
            <a:endParaRPr lang="en-US" sz="1000" dirty="0"/>
          </a:p>
          <a:p>
            <a:pPr indent="0" marL="0">
              <a:spcAft>
                <a:spcPts val="400"/>
              </a:spcAft>
              <a:buNone/>
            </a:pPr>
            <a:r>
              <a:rPr lang="en-US" sz="1000" dirty="0">
                <a:solidFill>
                  <a:srgbClr val="0B1F33"/>
                </a:solidFill>
              </a:rPr>
              <a:t>Jiang, R., Chen, X., Yu, Y., Zhang, Y. &amp; Ding, W. 2023, 'Risk and UCON-based access control model for healthcare big data', Journal of Big Data, vol. 10, no. 1, p. 104, &lt;https://doi.org/10.1186/s40537-023-00783-8&gt;.</a:t>
            </a:r>
            <a:endParaRPr lang="en-US" sz="1000" dirty="0"/>
          </a:p>
          <a:p>
            <a:pPr indent="0" marL="0">
              <a:spcAft>
                <a:spcPts val="400"/>
              </a:spcAft>
              <a:buNone/>
            </a:pPr>
            <a:r>
              <a:rPr lang="en-US" sz="1000" dirty="0">
                <a:solidFill>
                  <a:srgbClr val="0B1F33"/>
                </a:solidFill>
              </a:rPr>
              <a:t>Kaplow, K., Downey, M., Stewart, D., Massie, A.B., Motter, J.D., Taylor, L. et al. 2024, 'Data professionals’ attitudes on data privacy, sharing, and consent in healthcare and research', Digital Health, vol. 10, p. 20552076241290964, &lt;https://doi.org/10.1177/20552076241290964&gt;.</a:t>
            </a:r>
            <a:endParaRPr lang="en-US" sz="1000" dirty="0"/>
          </a:p>
          <a:p>
            <a:pPr indent="0" marL="0">
              <a:spcAft>
                <a:spcPts val="400"/>
              </a:spcAft>
              <a:buNone/>
            </a:pPr>
            <a:r>
              <a:rPr lang="en-US" sz="1000" dirty="0">
                <a:solidFill>
                  <a:srgbClr val="0B1F33"/>
                </a:solidFill>
              </a:rPr>
              <a:t>Khalid, M.I., Ahmed, M., Helfert, M. &amp; Kim, J. 2023, 'Privacy-first paradigm for dynamic consent management systems: Empowering data subjects through decentralized data controllers and privacy-preserving techniques', Electronics, vol. 12, no. 24, p. 4973, &lt;https://doi.org/10.3390/electronics12244973&gt;.</a:t>
            </a:r>
            <a:endParaRPr lang="en-US" sz="1000" dirty="0"/>
          </a:p>
          <a:p>
            <a:pPr indent="0" marL="0">
              <a:spcAft>
                <a:spcPts val="400"/>
              </a:spcAft>
              <a:buNone/>
            </a:pPr>
            <a:r>
              <a:rPr lang="en-US" sz="1000" dirty="0">
                <a:solidFill>
                  <a:srgbClr val="0B1F33"/>
                </a:solidFill>
              </a:rPr>
              <a:t>Kharlamov, A., Hohmann, R. &amp; Parry, G. 2023, 'Data sharing decisions: Perceptions and intentions in healthcare', Strategic Change, vol. 32, no. 6, pp. 223–237, &lt;https://doi.org/10.1002/jsc.2558&gt;.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(4/7)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Khayer, B., Mirzaei, S., Alavizadeh, H. &amp; Salehi Shahraki, A. 2025, 'Blockchain for secure IoT: A review of identity management, access control, and trust mechanisms', IoT, vol. 6, no. 4, p. 65, &lt;https://doi.org/10.3390/iot6040065&gt;.</a:t>
            </a:r>
            <a:endParaRPr lang="en-US" sz="1000" dirty="0"/>
          </a:p>
          <a:p>
            <a:pPr indent="0" marL="0">
              <a:spcAft>
                <a:spcPts val="400"/>
              </a:spcAft>
              <a:buNone/>
            </a:pPr>
            <a:r>
              <a:rPr lang="en-US" sz="1000" dirty="0">
                <a:solidFill>
                  <a:srgbClr val="0B1F33"/>
                </a:solidFill>
              </a:rPr>
              <a:t>Li, L., Liu, C.Z. &amp; Shrestha, S. 2026, 'Analytical entropy approach for measuring blockchain immutability and tamper-resilient trust', Entropy, vol. 28, no. 6, p. 690, &lt;https://doi.org/10.3390/e28060690&gt;.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Li, L., Liu, C.Z., Huang, K., Deng, R., Alrowaily, M.A., Alghamdi, M. et al. 2026b, 'Trust-aware environmental state consensus for smart agriculture with TEE-enabled sensing and Byzantine-resilient blockchain coordination', Sensors, vol. 26, no. 14, p. 4577, &lt;https://doi.org/10.3390/s26144577&gt;.</a:t>
            </a:r>
            <a:endParaRPr lang="en-US" sz="1000" dirty="0"/>
          </a:p>
          <a:p>
            <a:pPr indent="0" marL="0">
              <a:spcAft>
                <a:spcPts val="400"/>
              </a:spcAft>
              <a:buNone/>
            </a:pPr>
            <a:r>
              <a:rPr lang="en-US" sz="1000" dirty="0">
                <a:solidFill>
                  <a:srgbClr val="0B1F33"/>
                </a:solidFill>
              </a:rPr>
              <a:t>Lomotey, R.K., Kumi, S. &amp; Deters, R. 2022, 'Data trusts as a service: Providing a platform for multi-party data sharing', International Journal of Information Management Data Insights, vol. 2, no. 1, p. 100075, &lt;https://doi.org/10.1016/j.jjimei.2022.100075&gt;.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Mazzocca, C., Acar, A., Uluagac, A.S., Montanari, R., Bellavista, P. &amp; Conti, M. 2025, 'A survey on decentralized identifiers and verifiable credentials', IEEE Communications Surveys &amp; Tutorials, vol. 27, no. 6, pp. 3641–3671, &lt;https://doi.org/10.1109/COMST.2025.3543197&gt;.</a:t>
            </a:r>
            <a:endParaRPr lang="en-US" sz="1000" dirty="0"/>
          </a:p>
          <a:p>
            <a:pPr indent="0" marL="0">
              <a:spcAft>
                <a:spcPts val="400"/>
              </a:spcAft>
              <a:buNone/>
            </a:pPr>
            <a:r>
              <a:rPr lang="en-US" sz="1000" dirty="0">
                <a:solidFill>
                  <a:srgbClr val="0B1F33"/>
                </a:solidFill>
              </a:rPr>
              <a:t>McClelland, R. &amp; Harper, C.M. 2023, 'Information privacy in healthcare — the vital role of informed consent', European Journal of Health Law, vol. 30, no. 4, pp. 469–480, &lt;https://doi.org/10.1163/15718093-bja10097&gt;.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Ménétrey, J., Göttel, C., Khurshid, A., Pasin, M., Felber, P., Schiavoni, V. et al. 2022, 'Attestation mechanisms for trusted execution environments demystified', IFIP International Conference on Distributed Applications and Interoperable Systems (DAIS 2022), LNCS, vol. 13272, pp. 95–113, Springer, &lt;https://doi.org/10.1007/978-3-031-16092-9_7&gt;.</a:t>
            </a:r>
            <a:endParaRPr lang="en-US" sz="1000" dirty="0"/>
          </a:p>
          <a:p>
            <a:pPr indent="0" marL="0">
              <a:spcAft>
                <a:spcPts val="400"/>
              </a:spcAft>
              <a:buNone/>
            </a:pPr>
            <a:r>
              <a:rPr lang="en-US" sz="1000" dirty="0">
                <a:solidFill>
                  <a:srgbClr val="0B1F33"/>
                </a:solidFill>
              </a:rPr>
              <a:t>Narkhede, M.R., Wankhede, N.I. &amp; Kamble, A.M. 2025, 'Enhancing patient autonomy in data ownership: Privacy models and consent frameworks for healthcare', Journal of Digital Health, vol. 4, no. 1, pp. 1–23, &lt;https://doi.org/10.55976/jdh.4202513361-23&gt;.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(5/7)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Nassar Kyriakidou, C.D., Papathanasiou, A.M. &amp; Polyzos, G.C. 2023, 'Decentralized identity with applications to security and privacy for the internet of things', Computer Networks and Communications, vol. 1, no. 2, pp. 244–271, &lt;https://doi.org/10.37256/cnc.1220233048&gt;.</a:t>
            </a:r>
            <a:endParaRPr lang="en-US" sz="1000" dirty="0"/>
          </a:p>
          <a:p>
            <a:pPr indent="0" marL="0">
              <a:spcAft>
                <a:spcPts val="400"/>
              </a:spcAft>
              <a:buNone/>
            </a:pPr>
            <a:r>
              <a:rPr lang="en-US" sz="1000" dirty="0">
                <a:solidFill>
                  <a:srgbClr val="0B1F33"/>
                </a:solidFill>
              </a:rPr>
              <a:t>Nazir, A., Rehmani, M.H., Butler, B. &amp; O’Shea, D. 2026, 'Access control in healthcare IoT: A comprehensive survey', Engineering Reports, vol. 8, no. 4, p. e70766, &lt;https://doi.org/10.1002/eng2.70766&gt;.</a:t>
            </a:r>
            <a:endParaRPr lang="en-US" sz="1000" dirty="0"/>
          </a:p>
          <a:p>
            <a:pPr indent="0" marL="0">
              <a:spcAft>
                <a:spcPts val="400"/>
              </a:spcAft>
              <a:buNone/>
            </a:pPr>
            <a:r>
              <a:rPr lang="en-US" sz="1000" dirty="0">
                <a:solidFill>
                  <a:srgbClr val="0B1F33"/>
                </a:solidFill>
              </a:rPr>
              <a:t>Nguyen, T.L., Nguyen, L., Hoang, T., Bandara, D., Wang, Q., Lu, Q. et al. 2025, 'Blockchain-empowered trustworthy data sharing: Fundamentals, applications, and challenges', ACM Computing Surveys, vol. 57, no. 8, p. 195, &lt;https://doi.org/10.1145/3718082&gt;.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Parameswarath, R.P., Gope, P. &amp; Sikdar, B. 2022, 'User-empowered privacy-preserving authentication protocol for electric vehicle charging based on decentralized identity and verifiable credential', ACM Transactions on Management Information Systems, vol. 13, no. 4, p. 44, &lt;https://doi.org/10.1145/3532869&gt;.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Prashanth, M.S., Karnati, R., Velpuru, M.S. &amp; Venkateshwara Reddy, H. 2024, 'Enhancing health record security and privacy with blockchain-based access management', Pervasive Knowledge and Collective Intelligence on Web and Social Media (PerSOM 2023), LNICST, vol. 517, pp. 182–202, Springer, &lt;https://doi.org/10.1007/978-3-031-66044-3_13&gt;.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Sawant, N.M. &amp; Gomes, J. 2026, 'A decentralized solution for smarter and safer healthcare systems with FabricMedChain', Iranian Journal of Science and Technology, Transactions of Electrical Engineering, vol. 50, pp. 2843–2869, &lt;https://doi.org/10.1007/s40998-025-00994-0&gt;.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(6/7)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Shanmugham, M. &amp; Senthilkumar, C. 2026, 'Blockchain enabled self-sovereign identity and consent framework for secure healthcare data access', 2026 3rd International Conference on Emerging Trends in Engineering and Medical Sciences (ICETEMS), pp. 1–6, &lt;https://doi.org/10.1109/ICETEMS66917.2026.11469586&gt;.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Tawfik, A.M., Al-Ahwal, A., Tag Eldien, A.S. &amp; Zayed, H.H. 2025, 'Blockchain-based access control and privacy preservation in healthcare: A comprehensive survey', Cluster Computing, vol. 28, p. 529, &lt;https://doi.org/10.1007/s10586-025-05308-x&gt;.</a:t>
            </a:r>
            <a:endParaRPr lang="en-US" sz="1000" dirty="0"/>
          </a:p>
          <a:p>
            <a:pPr indent="0" marL="0">
              <a:spcAft>
                <a:spcPts val="400"/>
              </a:spcAft>
              <a:buNone/>
            </a:pPr>
            <a:r>
              <a:rPr lang="en-US" sz="1000" dirty="0">
                <a:solidFill>
                  <a:srgbClr val="0B1F33"/>
                </a:solidFill>
              </a:rPr>
              <a:t>Teeda, A. &amp; Subba Rao, Y.V. 2026, 'A patient-centric blockchain based electronic health records for data privacy and confidentiality', International Conference on Smart Computing and Informatics, LNNS, vol. 1684, pp. 179–192, Springer, &lt;https://doi.org/10.1007/978-3-032-08246-6_15&gt;.</a:t>
            </a:r>
            <a:endParaRPr lang="en-US" sz="1000" dirty="0"/>
          </a:p>
          <a:p>
            <a:pPr indent="0" marL="0">
              <a:spcAft>
                <a:spcPts val="400"/>
              </a:spcAft>
              <a:buNone/>
            </a:pPr>
            <a:r>
              <a:rPr lang="en-US" sz="1000" dirty="0">
                <a:solidFill>
                  <a:srgbClr val="0B1F33"/>
                </a:solidFill>
              </a:rPr>
              <a:t>Theodorakopoulos, L., Theodoropoulou, A. &amp; Halkiopoulos, C. 2024, 'Enhancing decentralized decision-making with big data and blockchain technology: A comprehensive review', Applied Sciences, vol. 14, no. 16, p. 7007, &lt;https://doi.org/10.3390/app14167007&gt;.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Turan, M.N., Hashimzai, I.A. &amp; Qiam, M.Q. 2025, 'A blockchain-based framework for secure and transparent environmental data sharing in smart cities: Enhancing trust, integrity, and interoperability in urban sustainability systems', Nata Palemahan: Journal of Environmental Engineering Innovations, vol. 2, no. 2, pp. 70–79, &lt;https://doi.org/10.38043/natapalemahan.v2i2.6996&gt;.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Webber, E.C., Brick, D., Scibilia, J.P., Dehnel, P., Council on Clinical Information Technology et al. 2019, 'Electronic communication of the health record and information with pediatric patients and their guardians', Pediatrics, vol. 144, no. 1, p. e20191359, &lt;https://doi.org/10.1542/peds.2019-1359&gt;.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(7/7)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Welzel, C., Ostermann, M., Smith, H.L., Minssen, T., Kirsten, T. &amp; Gilbert, S. 2025, 'Enabling secure and self determined health data sharing and consent management', npj Digital Medicine, vol. 8, no. 1, p. 560, &lt;https://doi.org/10.1038/s41746-025-01945-z&gt;.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Yin, H., Zhao, Y., Zhang, L., Qiao, B., Chen, W. &amp; Wang, H. 2024, 'Attribute-based searchable encryption with decentralized key management for healthcare data sharing', Journal of Systems Architecture, vol. 148, p. 103081, &lt;https://doi.org/10.1016/j.sysarc.2024.103081&gt;.</a:t>
            </a:r>
            <a:endParaRPr lang="en-US" sz="1000" dirty="0"/>
          </a:p>
          <a:p>
            <a:pPr indent="0" marL="0">
              <a:spcAft>
                <a:spcPts val="400"/>
              </a:spcAft>
              <a:buNone/>
            </a:pPr>
            <a:r>
              <a:rPr lang="en-US" sz="1000" dirty="0">
                <a:solidFill>
                  <a:srgbClr val="0B1F33"/>
                </a:solidFill>
              </a:rPr>
              <a:t>Yin, J., Xiao, Y., Chen, Q., Lim, Y.Z., Liu, X., Pei, Q. et al. 2025, 'DP-DID: A dynamic and proactive decentralized identity system', IEEE Transactions on Information Forensics and Security, vol. 20, pp. 4999–5014, &lt;https://doi.org/10.1109/TIFS.2025.3561662&gt;.</a:t>
            </a:r>
            <a:endParaRPr lang="en-US" sz="1000" dirty="0"/>
          </a:p>
          <a:p>
            <a:pPr indent="0" marL="0">
              <a:spcAft>
                <a:spcPts val="400"/>
              </a:spcAft>
              <a:buNone/>
            </a:pPr>
            <a:r>
              <a:rPr lang="en-US" sz="1000" dirty="0">
                <a:solidFill>
                  <a:srgbClr val="0B1F33"/>
                </a:solidFill>
              </a:rPr>
              <a:t>Zhang, L., Kan, H. &amp; Huang, H. 2022, 'Patient-centered cross-enterprise document sharing and dynamic consent framework using consortium blockchain and ciphertext-policy attribute-based encryption', Proceedings of the 19th ACM International Conference on Computing Frontiers (CF ’22), pp. 58–66, &lt;https://doi.org/10.1145/3528416.3530228&gt;.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2026-10-09T15:39:42Z</dcterms:created>
  <dcterms:modified xsi:type="dcterms:W3CDTF">2026-10-09T15:39:42Z</dcterms:modified>
</cp:coreProperties>
</file>
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3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3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81" r:id="rId3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A6942778-0A59-C3A1-24F4-DFEFB294A139}">
          <p14:sldIdLst>
            <p14:sldId id="256"/>
            <p14:sldId id="257"/>
          </p14:sldIdLst>
        </p14:section>
        <p14:section name="The Problem" id="{96F6FDF1-3C7D-C7BC-4CB4-44E808112E56}">
          <p14:sldIdLst>
            <p14:sldId id="258"/>
            <p14:sldId id="259"/>
          </p14:sldIdLst>
        </p14:section>
        <p14:section name="Literature Review" id="{AA021B7A-1D89-DD7B-6EEA-931123681486}">
          <p14:sldIdLst>
            <p14:sldId id="415"/>
            <p14:sldId id="305"/>
            <p14:sldId id="306"/>
            <p14:sldId id="309"/>
            <p14:sldId id="414"/>
            <p14:sldId id="312"/>
            <p14:sldId id="313"/>
          </p14:sldIdLst>
        </p14:section>
        <p14:section name="Gap, Questions and Objectives" id="{ACB741F8-7344-E54E-3520-6B498F895C17}">
          <p14:sldIdLst>
            <p14:sldId id="262"/>
            <p14:sldId id="302"/>
            <p14:sldId id="263"/>
            <p14:sldId id="264"/>
            <p14:sldId id="410"/>
          </p14:sldIdLst>
        </p14:section>
        <p14:section name="The Framework" id="{4674AA55-3218-DA15-E297-A596FB9CE1A2}">
          <p14:sldIdLst>
            <p14:sldId id="266"/>
            <p14:sldId id="267"/>
            <p14:sldId id="268"/>
            <p14:sldId id="269"/>
            <p14:sldId id="270"/>
            <p14:sldId id="271"/>
            <p14:sldId id="272"/>
            <p14:sldId id="273"/>
            <p14:sldId id="274"/>
            <p14:sldId id="275"/>
            <p14:sldId id="276"/>
            <p14:sldId id="278"/>
          </p14:sldIdLst>
        </p14:section>
        <p14:section name="Demo: The HALAH Prototype" id="{611104C4-4282-3E95-1D48-D00FE3F4F3EA}">
          <p14:sldIdLst>
            <p14:sldId id="413"/>
            <p14:sldId id="293"/>
            <p14:sldId id="294"/>
            <p14:sldId id="295"/>
            <p14:sldId id="296"/>
            <p14:sldId id="297"/>
          </p14:sldIdLst>
        </p14:section>
        <p14:section name="Validation and Evaluation" id="{38214D88-01AF-845D-D65A-C9A4BC2C85DF}">
          <p14:sldIdLst>
            <p14:sldId id="280"/>
            <p14:sldId id="281"/>
            <p14:sldId id="282"/>
          </p14:sldIdLst>
        </p14:section>
        <p14:section name="Contribution" id="{EB11EB97-8735-E73D-577A-B2BB861A5EB4}">
          <p14:sldIdLst>
            <p14:sldId id="284"/>
            <p14:sldId id="416"/>
            <p14:sldId id="412"/>
            <p14:sldId id="411"/>
          </p14:sldIdLst>
        </p14:section>
        <p14:section name="Research Plan" id="{1F39EFB8-3D03-66B5-86E7-768BA670C7C2}">
          <p14:sldIdLst>
            <p14:sldId id="289"/>
            <p14:sldId id="290"/>
            <p14:sldId id="291"/>
          </p14:sldIdLst>
        </p14:section>
        <p14:section name="References" id="{40AA16BB-153B-BBB1-53BB-0EB6F21829F3}">
          <p14:sldIdLst>
            <p14:sldId id="300"/>
          </p14:sldIdLst>
        </p14:section>
        <p14:section name="Thank You" id="{FD86D728-DF0D-F8E8-99EB-24A0646BFE01}">
          <p14:sldIdLst>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78954" autoAdjust="0"/>
  </p:normalViewPr>
  <p:slideViewPr>
    <p:cSldViewPr snapToGrid="0" snapToObjects="1">
      <p:cViewPr varScale="1">
        <p:scale>
          <a:sx n="65" d="100"/>
          <a:sy n="65" d="100"/>
        </p:scale>
        <p:origin x="1128" y="48"/>
      </p:cViewPr>
      <p:guideLst/>
    </p:cSldViewPr>
  </p:slideViewPr>
  <p:notesTextViewPr>
    <p:cViewPr>
      <p:scale>
        <a:sx n="125" d="100"/>
        <a:sy n="125" d="100"/>
      </p:scale>
      <p:origin x="0" y="0"/>
    </p:cViewPr>
  </p:notesTextViewPr>
  <p:sorterViewPr>
    <p:cViewPr>
      <p:scale>
        <a:sx n="100" d="100"/>
        <a:sy n="100" d="100"/>
      </p:scale>
      <p:origin x="0" y="-8467"/>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7" Type="http://schemas.openxmlformats.org/officeDocument/2006/relationships/slide" Target="slides/slide3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4657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table comes directly from the audit ledger of 24 September. Each row is one real request, with the five checks and the decision. All five requests passed every check, so access was granted.</a:t>
            </a:r>
          </a:p>
          <a:p>
            <a:r>
              <a:t>After revocation, the request was refused. At that time the refusal was not logged, but the prototype now logs these refusals too. The revocation is public on Sepolia.</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lstStyle>
            <a:lvl1pPr marL="0" indent="0" algn="ctr">
              <a:buNone/>
              <a:defRPr lang="en-US" sz="3000" b="1" dirty="0">
                <a:solidFill>
                  <a:srgbClr val="FFFFFF"/>
                </a:solidFill>
                <a:latin typeface="Arial" pitchFamily="34" charset="0"/>
                <a:ea typeface="Arial" pitchFamily="34" charset="-122"/>
                <a:cs typeface="Arial" pitchFamily="34" charset="-120"/>
              </a:defRPr>
            </a:lvl1pPr>
          </a:lstStyle>
          <a:p>
            <a:pPr marL="0" indent="0" algn="ctr">
              <a:buNone/>
            </a:pPr>
            <a:endParaRPr lang="en-US" sz="3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9183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95376-6A6A-8841-B7E4-1F35C224933A}"/>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2E96F4E9-2DE5-D7EB-95B3-8E54FB2A71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A0198B3-BB9B-B6BB-C9C0-D35E11062643}"/>
              </a:ext>
            </a:extLst>
          </p:cNvPr>
          <p:cNvSpPr>
            <a:spLocks noGrp="1"/>
          </p:cNvSpPr>
          <p:nvPr>
            <p:ph type="dt" sz="half" idx="10"/>
          </p:nvPr>
        </p:nvSpPr>
        <p:spPr/>
        <p:txBody>
          <a:bodyPr/>
          <a:lstStyle/>
          <a:p>
            <a:fld id="{13A31A13-ADD8-45A6-BA20-4C35DCF1F406}" type="datetimeFigureOut">
              <a:rPr lang="en-AU" smtClean="0"/>
              <a:t>15/10/2026</a:t>
            </a:fld>
            <a:endParaRPr lang="en-AU"/>
          </a:p>
        </p:txBody>
      </p:sp>
      <p:sp>
        <p:nvSpPr>
          <p:cNvPr id="5" name="Footer Placeholder 4">
            <a:extLst>
              <a:ext uri="{FF2B5EF4-FFF2-40B4-BE49-F238E27FC236}">
                <a16:creationId xmlns:a16="http://schemas.microsoft.com/office/drawing/2014/main" id="{D2B7D850-541D-4EC8-9030-D6F52645964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90B99EC-2238-CBDA-CDDF-7C2C97A10F2D}"/>
              </a:ext>
            </a:extLst>
          </p:cNvPr>
          <p:cNvSpPr>
            <a:spLocks noGrp="1"/>
          </p:cNvSpPr>
          <p:nvPr>
            <p:ph type="sldNum" sz="quarter" idx="12"/>
          </p:nvPr>
        </p:nvSpPr>
        <p:spPr/>
        <p:txBody>
          <a:bodyPr/>
          <a:lstStyle/>
          <a:p>
            <a:fld id="{BEEADC8E-7141-4E37-96AF-0E1D097C062D}" type="slidenum">
              <a:rPr lang="en-AU" smtClean="0"/>
              <a:t>‹#›</a:t>
            </a:fld>
            <a:endParaRPr lang="en-AU"/>
          </a:p>
        </p:txBody>
      </p:sp>
    </p:spTree>
    <p:extLst>
      <p:ext uri="{BB962C8B-B14F-4D97-AF65-F5344CB8AC3E}">
        <p14:creationId xmlns:p14="http://schemas.microsoft.com/office/powerpoint/2010/main" val="204865069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slide3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VALIDATION: THE RECORDED DECISIONS</a:t>
            </a:r>
            <a:endParaRPr lang="en-US" sz="3000" dirty="0"/>
          </a:p>
        </p:txBody>
      </p:sp>
      <p:graphicFrame>
        <p:nvGraphicFramePr>
          <p:cNvPr id="27" name="ledger table"/>
          <p:cNvGraphicFramePr>
            <a:graphicFrameLocks noGrp="1"/>
          </p:cNvGraphicFramePr>
          <p:nvPr>
            <p:extLst>
              <p:ext uri="{D42A27DB-BD31-4B8C-83A1-F6EECF244321}">
                <p14:modId xmlns:p14="http://schemas.microsoft.com/office/powerpoint/2010/main" val="678560686"/>
              </p:ext>
            </p:extLst>
          </p:nvPr>
        </p:nvGraphicFramePr>
        <p:xfrm>
          <a:off x="548640" y="1234440"/>
          <a:ext cx="11064240" cy="3017520"/>
        </p:xfrm>
        <a:graphic>
          <a:graphicData uri="http://schemas.openxmlformats.org/drawingml/2006/table">
            <a:tbl>
              <a:tblPr/>
              <a:tblGrid>
                <a:gridCol w="1427480">
                  <a:extLst>
                    <a:ext uri="{9D8B030D-6E8A-4147-A177-3AD203B41FA5}">
                      <a16:colId xmlns:a16="http://schemas.microsoft.com/office/drawing/2014/main" val="20000"/>
                    </a:ext>
                  </a:extLst>
                </a:gridCol>
                <a:gridCol w="2433320">
                  <a:extLst>
                    <a:ext uri="{9D8B030D-6E8A-4147-A177-3AD203B41FA5}">
                      <a16:colId xmlns:a16="http://schemas.microsoft.com/office/drawing/2014/main" val="20001"/>
                    </a:ext>
                  </a:extLst>
                </a:gridCol>
                <a:gridCol w="924560">
                  <a:extLst>
                    <a:ext uri="{9D8B030D-6E8A-4147-A177-3AD203B41FA5}">
                      <a16:colId xmlns:a16="http://schemas.microsoft.com/office/drawing/2014/main" val="20002"/>
                    </a:ext>
                  </a:extLst>
                </a:gridCol>
                <a:gridCol w="924560">
                  <a:extLst>
                    <a:ext uri="{9D8B030D-6E8A-4147-A177-3AD203B41FA5}">
                      <a16:colId xmlns:a16="http://schemas.microsoft.com/office/drawing/2014/main" val="20003"/>
                    </a:ext>
                  </a:extLst>
                </a:gridCol>
                <a:gridCol w="924560">
                  <a:extLst>
                    <a:ext uri="{9D8B030D-6E8A-4147-A177-3AD203B41FA5}">
                      <a16:colId xmlns:a16="http://schemas.microsoft.com/office/drawing/2014/main" val="20004"/>
                    </a:ext>
                  </a:extLst>
                </a:gridCol>
                <a:gridCol w="924560">
                  <a:extLst>
                    <a:ext uri="{9D8B030D-6E8A-4147-A177-3AD203B41FA5}">
                      <a16:colId xmlns:a16="http://schemas.microsoft.com/office/drawing/2014/main" val="20005"/>
                    </a:ext>
                  </a:extLst>
                </a:gridCol>
                <a:gridCol w="924560">
                  <a:extLst>
                    <a:ext uri="{9D8B030D-6E8A-4147-A177-3AD203B41FA5}">
                      <a16:colId xmlns:a16="http://schemas.microsoft.com/office/drawing/2014/main" val="20006"/>
                    </a:ext>
                  </a:extLst>
                </a:gridCol>
                <a:gridCol w="1244600">
                  <a:extLst>
                    <a:ext uri="{9D8B030D-6E8A-4147-A177-3AD203B41FA5}">
                      <a16:colId xmlns:a16="http://schemas.microsoft.com/office/drawing/2014/main" val="20007"/>
                    </a:ext>
                  </a:extLst>
                </a:gridCol>
                <a:gridCol w="1336040">
                  <a:extLst>
                    <a:ext uri="{9D8B030D-6E8A-4147-A177-3AD203B41FA5}">
                      <a16:colId xmlns:a16="http://schemas.microsoft.com/office/drawing/2014/main" val="20008"/>
                    </a:ext>
                  </a:extLst>
                </a:gridCol>
              </a:tblGrid>
              <a:tr h="502920">
                <a:tc>
                  <a:txBody>
                    <a:bodyPr/>
                    <a:lstStyle/>
                    <a:p>
                      <a:pPr marL="0" indent="0" algn="ctr">
                        <a:buNone/>
                      </a:pPr>
                      <a:r>
                        <a:rPr lang="en-US" sz="1400" b="1" dirty="0">
                          <a:solidFill>
                            <a:srgbClr val="FFFFFF"/>
                          </a:solidFill>
                        </a:rPr>
                        <a:t>Time (24 Sep)</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Consent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VI</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VP</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Decision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Access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502920">
                <a:tc>
                  <a:txBody>
                    <a:bodyPr/>
                    <a:lstStyle/>
                    <a:p>
                      <a:pPr marL="0" indent="0" algn="ctr">
                        <a:buNone/>
                      </a:pPr>
                      <a:r>
                        <a:rPr lang="en-US" sz="1400" b="1" dirty="0">
                          <a:solidFill>
                            <a:srgbClr val="0B1F33"/>
                          </a:solidFill>
                        </a:rPr>
                        <a:t>09:51:36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f050c29a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ctr">
                        <a:buNone/>
                      </a:pPr>
                      <a:r>
                        <a:rPr lang="en-US" sz="1400" b="1" dirty="0">
                          <a:solidFill>
                            <a:srgbClr val="0B1F33"/>
                          </a:solidFill>
                        </a:rPr>
                        <a:t>09:51:39</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f050c29a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ctr">
                        <a:buNone/>
                      </a:pPr>
                      <a:r>
                        <a:rPr lang="en-US" sz="1400" b="1" dirty="0">
                          <a:solidFill>
                            <a:srgbClr val="0B1F33"/>
                          </a:solidFill>
                        </a:rPr>
                        <a:t>11:02:52</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04da25f5</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ctr">
                        <a:buNone/>
                      </a:pPr>
                      <a:r>
                        <a:rPr lang="en-US" sz="1400" b="1" dirty="0">
                          <a:solidFill>
                            <a:srgbClr val="0B1F33"/>
                          </a:solidFill>
                        </a:rPr>
                        <a:t>11:04:16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04da25f5</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lgn="ctr">
                        <a:buNone/>
                      </a:pPr>
                      <a:r>
                        <a:rPr lang="en-US" sz="1400" b="1" dirty="0">
                          <a:solidFill>
                            <a:srgbClr val="0B1F33"/>
                          </a:solidFill>
                        </a:rPr>
                        <a:t>11:04:26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04da25f5</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bullets"/>
          <p:cNvSpPr txBox="1"/>
          <p:nvPr/>
        </p:nvSpPr>
        <p:spPr>
          <a:xfrm>
            <a:off x="640080" y="4892040"/>
            <a:ext cx="10881360" cy="1554480"/>
          </a:xfrm>
          <a:prstGeom prst="rect">
            <a:avLst/>
          </a:prstGeom>
          <a:noFill/>
          <a:ln/>
        </p:spPr>
        <p:txBody>
          <a:bodyPr wrap="square" rtlCol="0" anchor="t"/>
          <a:lstStyle/>
          <a:p>
            <a:pPr marL="342900" indent="-342900">
              <a:spcAft>
                <a:spcPts val="1000"/>
              </a:spcAft>
              <a:buSzPct val="100000"/>
              <a:buChar char="•"/>
            </a:pPr>
            <a:r>
              <a:rPr lang="en-US" sz="1400" dirty="0">
                <a:solidFill>
                  <a:srgbClr val="FFFFFF"/>
                </a:solidFill>
              </a:rPr>
              <a:t>Allowed requests: all five checks PASS, decision ALLOW, access GRANTED (Scenario 3).</a:t>
            </a:r>
            <a:endParaRPr lang="en-US" sz="1400" dirty="0"/>
          </a:p>
          <a:p>
            <a:pPr marL="342900" indent="-342900">
              <a:spcAft>
                <a:spcPts val="1000"/>
              </a:spcAft>
              <a:buSzPct val="100000"/>
              <a:buChar char="•"/>
            </a:pPr>
            <a:r>
              <a:rPr lang="en-US" sz="1400" dirty="0">
                <a:solidFill>
                  <a:srgbClr val="FFFFFF"/>
                </a:solidFill>
              </a:rPr>
              <a:t>After revocation (Scenario 5) the request was refused before any decision was logged; the prototype now logs these refusals too. The revocation is public on Sepolia, block 11,771,307.</a:t>
            </a:r>
            <a:endParaRPr lang="en-US" sz="14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36</a:t>
            </a:fld>
            <a:endParaRPr lang="en-US"/>
          </a:p>
        </p:txBody>
      </p:sp>
    </p:spTree>
  </p:cSld>
  <p:clrMapOvr>
    <a:masterClrMapping/>
  </p:clrMapOvr>
</p:sld>
</file>

<file path=ppt/theme/theme1.xml><?xml version="1.0" encoding="utf-8"?>
<a:theme xmlns:a="http://schemas.openxmlformats.org/drawingml/2006/main" name="Trust Consent">
  <a:themeElements>
    <a:clrScheme name="Trust Consent">
      <a:dk1>
        <a:srgbClr val="0B1F33"/>
      </a:dk1>
      <a:lt1>
        <a:srgbClr val="FFFFFF"/>
      </a:lt1>
      <a:dk2>
        <a:srgbClr val="0B2A4A"/>
      </a:dk2>
      <a:lt2>
        <a:srgbClr val="E8F4F8"/>
      </a:lt2>
      <a:accent1>
        <a:srgbClr val="1FB5D6"/>
      </a:accent1>
      <a:accent2>
        <a:srgbClr val="0B2A4A"/>
      </a:accent2>
      <a:accent3>
        <a:srgbClr val="2E7D32"/>
      </a:accent3>
      <a:accent4>
        <a:srgbClr val="F2A900"/>
      </a:accent4>
      <a:accent5>
        <a:srgbClr val="C62828"/>
      </a:accent5>
      <a:accent6>
        <a:srgbClr val="5B6B7A"/>
      </a:accent6>
      <a:hlink>
        <a:srgbClr val="1FB5D6"/>
      </a:hlink>
      <a:folHlink>
        <a:srgbClr val="5B6B7A"/>
      </a:folHlink>
    </a:clrScheme>
    <a:fontScheme name="Trust Consen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2446</TotalTime>
  <Words>11265</Words>
  <Application>Microsoft Office PowerPoint</Application>
  <PresentationFormat>Widescreen</PresentationFormat>
  <Paragraphs>1049</Paragraphs>
  <Slides>46</Slides>
  <Notes>46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Aptos</vt:lpstr>
      <vt:lpstr>Arial</vt:lpstr>
      <vt:lpstr>Calibri</vt:lpstr>
      <vt:lpstr>Cambria</vt:lpstr>
      <vt:lpstr>Trust Consent</vt:lpstr>
      <vt:lpstr>PowerPoint Presentation</vt:lpstr>
      <vt:lpstr>OUTLINE</vt:lpstr>
      <vt:lpstr>THE RESEARCH PROBLEM</vt:lpstr>
      <vt:lpstr>THE KEY IDEA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RESEARCH GAP</vt:lpstr>
      <vt:lpstr>MAIN RESEARCH QUESTION</vt:lpstr>
      <vt:lpstr>SUB-RESEARCH QUESTIONS</vt:lpstr>
      <vt:lpstr>RESEARCH OBJECTIVES</vt:lpstr>
      <vt:lpstr>Research Methodology </vt:lpstr>
      <vt:lpstr>FRAMEWORK ARCHITECTURE</vt:lpstr>
      <vt:lpstr>THE DECISION RULE</vt:lpstr>
      <vt:lpstr>Proposed solution for objective 1</vt:lpstr>
      <vt:lpstr>RO1: Trust-Centric Consent Model</vt:lpstr>
      <vt:lpstr>Proposed solution for objective 2</vt:lpstr>
      <vt:lpstr>RO2: Decentralised Identity and Authority Trust</vt:lpstr>
      <vt:lpstr>Proposed solution for objective 3</vt:lpstr>
      <vt:lpstr>RO3: Trustworthy Multi-Party Authorisation</vt:lpstr>
      <vt:lpstr>Proposed solution for objective 4</vt:lpstr>
      <vt:lpstr>RO4: Policy- and Context-Aware Access Control</vt:lpstr>
      <vt:lpstr>Proposed solution for objective 5</vt:lpstr>
      <vt:lpstr>Proposed solution for objective 6</vt:lpstr>
      <vt:lpstr>THE HALAH PROTOTYPE</vt:lpstr>
      <vt:lpstr>DEMO 1: THE PATIENT CREATES THE CONSENT</vt:lpstr>
      <vt:lpstr>DEMO 2: THE FIRST GUARDIAN APPROVES</vt:lpstr>
      <vt:lpstr>DEMO 3: SECOND APPROVAL, TOKEN MINTED</vt:lpstr>
      <vt:lpstr>DEMO 4: THE DOCTOR IS ALLOWED</vt:lpstr>
      <vt:lpstr>DEMO 5: ONLY THE AUTHORISED RECORDS</vt:lpstr>
      <vt:lpstr>VALIDATION</vt:lpstr>
      <vt:lpstr>VALIDATION: THE RECORDED DECISIONS</vt:lpstr>
      <vt:lpstr>VALIDATION: ATTACK SCENARIOS</vt:lpstr>
      <vt:lpstr>Traditional EHR vs. HALAH Framework</vt:lpstr>
      <vt:lpstr>DATASET OVERVIEW</vt:lpstr>
      <vt:lpstr>RESEARCH CONTRIBUTIONS </vt:lpstr>
      <vt:lpstr>RESEARCH CONTRIBUTIONS </vt:lpstr>
      <vt:lpstr>RESEARCH PUBLICATIONS</vt:lpstr>
      <vt:lpstr>RESEARCH PLAN</vt:lpstr>
      <vt:lpstr>RESEARCH TIMELINE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Trusted Authorisation Framework for Multi-Party Patient Consent in Healthcare Data Sharing</dc:title>
  <dc:subject>Candidature Reassessment</dc:subject>
  <dc:creator>Yasir Dhaifallah O Alyoubi</dc:creator>
  <cp:lastModifiedBy>Yasir Dhaifallah O Alyoubi</cp:lastModifiedBy>
  <cp:revision>30</cp:revision>
  <dcterms:created xsi:type="dcterms:W3CDTF">2026-10-12T13:53:28Z</dcterms:created>
  <dcterms:modified xsi:type="dcterms:W3CDTF">2026-10-15T06:50:59Z</dcterms:modified>
</cp:coreProperties>
</file>
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d5a88a74-7442-40c9-6361-5e14e79c95d4}">
          <p14:sldIdLst>
            <p14:sldId id="256"/>
          </p14:sldIdLst>
        </p14:section>
        <p14:section name="Outline" id="{704d2d7e-7202-4d68-4e47-817e5316de65}">
          <p14:sldIdLst>
            <p14:sldId id="257"/>
          </p14:sldIdLst>
        </p14:section>
        <p14:section name="Introduction" id="{242630de-160e-e38d-443e-d70b97a79528}">
          <p14:sldIdLst>
            <p14:sldId id="258"/>
            <p14:sldId id="259"/>
          </p14:sldIdLst>
        </p14:section>
        <p14:section name="Systematic Literature Review" id="{a986bc4d-5b04-c8d0-85ec-7625e318af74}">
          <p14:sldIdLst>
            <p14:sldId id="260"/>
            <p14:sldId id="261"/>
            <p14:sldId id="262"/>
            <p14:sldId id="263"/>
            <p14:sldId id="264"/>
            <p14:sldId id="265"/>
            <p14:sldId id="266"/>
            <p14:sldId id="267"/>
          </p14:sldIdLst>
        </p14:section>
        <p14:section name="Research Gap" id="{670545b3-0ede-e954-a457-563858a952d0}">
          <p14:sldIdLst>
            <p14:sldId id="268"/>
          </p14:sldIdLst>
        </p14:section>
        <p14:section name="Research Questions" id="{9b07826a-4f3a-07fe-bfea-196b61218f8b}">
          <p14:sldIdLst>
            <p14:sldId id="269"/>
            <p14:sldId id="270"/>
          </p14:sldIdLst>
        </p14:section>
        <p14:section name="Research Objectives" id="{525674f7-4f1a-9d56-a00e-47d9c918fbff}">
          <p14:sldIdLst>
            <p14:sldId id="271"/>
          </p14:sldIdLst>
        </p14:section>
        <p14:section name="Research Methodology" id="{84a05833-a1c1-913e-8ce7-a76aadd5ac13}">
          <p14:sldIdLst>
            <p14:sldId id="272"/>
          </p14:sldIdLst>
        </p14:section>
        <p14:section name="Research Architecture" id="{4a0f4383-82d1-e45c-a0ce-6434bfe9ca40}">
          <p14:sldIdLst>
            <p14:sldId id="273"/>
          </p14:sldIdLst>
        </p14:section>
        <p14:section name="The Proposed Solutions" id="{9ef7a806-3e22-f4d6-fa0c-810523b85299}">
          <p14:sldIdLst>
            <p14:sldId id="274"/>
            <p14:sldId id="275"/>
            <p14:sldId id="276"/>
            <p14:sldId id="277"/>
            <p14:sldId id="278"/>
            <p14:sldId id="279"/>
            <p14:sldId id="280"/>
          </p14:sldIdLst>
        </p14:section>
        <p14:section name="Implementation and Evaluation" id="{582fabaf-b215-368a-0651-2302340febfa}">
          <p14:sldIdLst>
            <p14:sldId id="281"/>
            <p14:sldId id="282"/>
            <p14:sldId id="283"/>
            <p14:sldId id="284"/>
            <p14:sldId id="285"/>
            <p14:sldId id="286"/>
            <p14:sldId id="287"/>
          </p14:sldIdLst>
        </p14:section>
        <p14:section name="Significance of the Research" id="{cd27ad74-1dcd-2c43-201d-0ceda34caf21}">
          <p14:sldIdLst>
            <p14:sldId id="288"/>
            <p14:sldId id="289"/>
            <p14:sldId id="290"/>
            <p14:sldId id="291"/>
          </p14:sldIdLst>
        </p14:section>
        <p14:section name="Research Plan" id="{99cecf76-74f9-6a15-c65a-ecc56a146f52}">
          <p14:sldIdLst>
            <p14:sldId id="292"/>
            <p14:sldId id="293"/>
          </p14:sldIdLst>
        </p14:section>
        <p14:section name="References" id="{74b1f7ef-a62f-39f4-d7ea-fa47a675fd17}">
          <p14:sldIdLst>
            <p14:sldId id="294"/>
            <p14:sldId id="295"/>
            <p14:sldId id="296"/>
          </p14:sldIdLst>
        </p14:section>
        <p14:section name="Thank You" id="{83a66829-e8de-2049-71c8-37c449f75dcc}">
          <p14:sldIdLst>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candidature reassessment.
My research title is A Trusted Authorisation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and data scope. Time and lifecycle asks if the consent is still valid, and not expired or revoked.
The dark box brings it together. Consent becomes an object the system can evaluate: C equals I, A, P, T, L, E. That is identity, authorisation, policy, time, lifecycle and evidence. Authorisation holds the guardian set G and the threshold N, which is the number of approvals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One full text could not be retrieved, and the other 1,735 are not assessed yet.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and data scope.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lifecycle.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research gap of my study.
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gap leads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add the suspended state and the lifecycle transition check, and extend them to consent changes, delegation and guardian-set changes.
RO6 is partially completed. The tests and first measurements are done. The formal analysis comes in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research gap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thirteen attack scenarios. The formal assurance comes in the next stage.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syntax, and it checks a verifiable credential for each guardian when they sign and for the doctor at access time. Full DID resolution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with the definitions in my report. VI is identity and authority validity. VA is collective authorisation validity: all the required guardians approved. VP is policy and contextual compliance: the purpose and the data scope. VT is temporal validity: the request is inside the validity window. VL is consent lifecycle validity: the consent is in a valid state, for example active and not revoked.
The points below are simple. If any one check fails, the answer is DENY. In the prototype, a Groth16 zero-knowledge proof must also verify before any data is released. This kind of proof shows something is true without showing the secret behind it. Every access decision, allowed or denied, is written to the off-chain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and the validity time. In the current interface the purpose is fixed to Treatment. The system then checks the input. For example, an empty data scope or a badly formed guardian DID is rejected.
If the input is valid, the system builds the consent object C and assigns a consent identifier. C has six parts: identity, authorisation, policy and data scope, time, lifecycle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
Algorithm 1: Trust-Aware Consent Creation
The box in the middle of the slide is Algorithm 1 from my report. The flowchart on the right shows its main steps in a simpler form: it collects all the inputs, runs one combined validity check with a Yes and a No branch, and then creates and stores the consent and records an audit entry.
Inputs and Output
Require: Patient identity I_p, authorised doctor D, guardian set G, purpose P_u, data scope S_C, validity interval T
Explanation: The algorithm starts by receiving the information required to create a consent.
Ensure: Consent object C or rejection
Explanation: The algorithm either creates a valid consent or rejects the request.
Step-by-Step Explanation
Line 1: Validate I_p
First, we verify the patient’s identity.
Line 2: if I_p is invalid then
We check whether the patient’s identity is invalid.
Line 3: return REJECT
If the identity is invalid, the request is rejected.
Line 4: end if
This completes the identity validation check.
Line 5: Validate authorised doctor D
Next, we verify that the doctor is authorised.
Line 6: Validate guardian set G
We verify the guardians involved in the consent process.
Line 7: Validate purpose P_u
We check whether the purpose of accessing the patient’s data is valid.
Line 8: Validate data scope S_C
We verify which patient data can be accessed.
Line 9: Validate validity interval T = (t_s, t_e)
We check the consent’s start and end times.
Line 10: if t_e ≤ t_s then
We check whether the end time is earlier than or equal to the start time.
Line 11: return REJECT
If the time interval is invalid, the request is rejected.
Line 12: end if
This completes the time validation check.
Line 13: Define authorisation requirement A
We define the conditions that must be met later before access can be granted, such as the required guardian approvals.
Line 14: Generate consent identifier id_C
We generate a unique identifier for the consent.
Line 15: Construct C = (I, A, P, E)
We build the consent object from its four main parts. These are identity I, authorisation requirements A, policy constraints P such as purpose and data scope, and evidence E.
Line 16: Persist C
We store the newly created consent object.
Line 17: Record consent creation evidence
We record evidence of the consent creation for auditing and traceability.
Line 18: return C
Finally, we return the successfully created consent object.
Note: In the prototype, the purpose is fixed to Treatment. The consent is saved off-chain in the state PENDING_SIGNATURE, and nothing goes on the blockchain until all guardians approve.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HALAH implementation, the guardian workflow uses a selected guardian DID and invokes VC verification before adding the guardian's signature to the consent. Each guardian's EIP-712 signature is also recovered. EIP-712 is a typed signature format on Ethereum, so we can see who signed. Full DID resolution is planned for the next stage.
Algorithm 2: DID and VC Identity and Authority Verification
The box in the middle of the slide is Algorithm 2 from my report. The flowchart on the right follows the same order, but it joins the two DID checks into one “DID Valid?” decision and the two credential checks into one “VC Valid?” decision, and every “No” leads to Reject Participant, which is the INVALID result here.
Inputs and Output
Require: Participant u, consent object C
Explanation: The algorithm starts by receiving the participant who wants to take part and the consent object that defines the required authority.
Ensure: Verification result V_I(u)
Explanation: The algorithm returns VALID if both the participant’s identity and authority are verified, or INVALID otherwise. This result is not an access decision by itself; the later stages use it.
Step-by-Step Explanation
Line 1: Resolve DID of u
First, we resolve the participant’s DID to find their DID document.
Line 2: if DID resolution fails then
We check whether the DID could not be resolved.
Line 3: return INVALID
If the DID cannot be resolved, the participant is invalid and the process stops.
Line 4: end if
This completes the DID resolution check.
Line 5: Verify DID document and associated identity information
Next, we check that the DID document is well formed and that its keys can be trusted.
Line 6: if DID verification fails then
We check whether the DID verification failed.
Line 7: return INVALID
If it failed, we return INVALID.
Line 8: end if
This completes the DID verification check.
Line 9: Retrieve VC associated with u
Then, we retrieve the participant’s verifiable credential, which holds claims such as their role.
Line 10: if VC retrieval fails then
We check whether a credential could not be found.
Line 11: return INVALID
Without a credential, the participant cannot show any authority, so we return INVALID.
Line 12: end if
This completes the credential retrieval check.
Line 13: Verify VC signature, issuer, subject, and validity
We check that the signature is correct, the issuer is trusted, the credential belongs to this participant, and it is still within its valid time period.
Line 14: if VC verification fails then
We check whether any of these four checks failed.
Line 15: return INVALID
If any check fails, we return INVALID.
Line 16: end if
This completes the credential verification check.
Line 17: Extract role and authority claims from VC
Next, we read the role and authority claims from the credential, for example doctor or guardian.
Line 18: if claims do not satisfy the authority requirements of C then
We compare these claims with the authorisation requirements of consent C.
Line 19: return INVALID
If the claims do not meet the requirements, we return INVALID. A valid identity alone never gives access.
Line 20: end if
This completes the authority check.
Line 21: Record identity and authority verification evidence
We record the evidence, such as the DID, the credential, the issuer, the claims and the time, for auditing.
Line 22: return VALID
Finally, we return VALID, which means the participant’s identity and authority are both verified.
Note: Today, the guardian workflow verifies the guardian’s credential before adding the signature to the consent. Full DID resolution, in lines 1 to 8,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and a duplicate approval is not counted either. A signature replayed from another consent fails the identity check, so the answer is DENY.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
Algorithm 3: Threshold-Based Multi-Party Authorisation
The box in the middle of the slide is Algorithm 3 from my report. The flowchart on the right shows the same three checks in the same order, with the identity check drawn as the prototype runs it, but it joins the three rejections into one box and shows activation last, after the token and the evidence.
Inputs and Output
Require: Consent object C, participant approval a, threshold N
Explanation: The algorithm receives the consent, one approval from a participant, and the number of valid approvals that are needed.
Ensure: Authorisation result
Explanation: The algorithm returns ALLOW, PENDING or DENY for this approval.
Step-by-Step Explanation
Line 1: Retrieve required participant set G
First, we retrieve the set G of participants who are allowed to approve this consent, for example the guardians.
Line 2: Verify identity and authority of participant submitting a
Next, we verify the identity and authority of the person who submitted the approval. This can use the DID and VC check from Algorithm 2.
Line 3: if verification fails then
We check whether this verification has failed.
Line 4: Record invalid approval
If it failed, we record the approval as invalid.
Line 5: return DENY
The approval is denied, and it does not count towards the threshold.
Line 6: end if
This completes the identity and authority check.
Line 7: if participant is not in G then
Then, we check whether the participant is outside the required participant set G.
Line 8: Record unauthorised approval attempt
If so, we record it as an unauthorised approval attempt.
Line 9: return DENY
The approval is denied, because only members of G can be counted.
Line 10: end if
This completes the membership check.
Line 11: if participant has already approved C then
Next, we check whether this participant has already approved this consent.
Line 12: Record duplicate approval
If so, we record a duplicate approval.
Line 13: return DENY
The extra approval is denied, so one person cannot be counted twice.
Line 14: end if
This completes the duplicate check.
Line 15: Record valid approval a
The approval has passed all three checks, so we record it as valid.
Line 16: Update valid approval set A_v
We add this approval to the set of valid approvals, A_v.
Line 17: if |A_v| ≥ N then
We check whether the number of valid approvals has reached the threshold N.
Line 18: Activate authorisation
If it has, we activate the authorisation, so the consent can move on to the access-control stage.
Line 19: Generate activation or token evidence
We generate evidence of the activation, such as a consent token. It can include the consent identifier, the threshold N and the approving participants.
Line 20: Record threshold-satisfied event
We record in the audit log that the threshold was met, for traceability.
Line 21: return ALLOW
The result is ALLOW.
Line 22: else
Otherwise, the threshold has not been reached yet.
Line 23: Keep consent in pending state
We keep the consent in the pending state, so access is not activated.
Line 24: Record threshold-pending event
We record a threshold-pending event, so we can see later how many approvals are still needed.
Line 25: return PENDING
The result is PENDING, and the consent waits for more approvals.
Line 26: end if
Finally, this completes the threshold check, and the algorithm ends.
Note: In the prototype, N is the number of guardians, so the demo needs 2-of-2. When the threshold is met, a local token is recorded, and the mint is anchored on the Sepolia test network in the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the lifecycle state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consent that is not ACTIVE, a failed identity check, failed policy or time checks, or a failed proof all lead to Deny Access, and the denied access is recorded.
Algorithm 4: Policy-Aware Access Decision
The box in the middle of the slide is Algorithm 4 from my report. The flowchart on the right shows the same checks, but it checks the consent state before the identity, and it shows the validity interval check and the Groth16 zero-knowledge proof as separate steps before access is granted.
Inputs and Output
Require: Consent object C, access request R, requesting participant u
Explanation: The algorithm starts with the patient’s consent, the request for data, and the participant who makes the request, for example a doctor.
Ensure: Access decision
Explanation: The algorithm returns one decision, ALLOW or DENY, and it records that decision.
Step-by-Step Explanation
Line 1: Verify DID and VC of u
First, we verify the decentralised identifier and the verifiable credential of the requester. This uses the identity check from Algorithm 2.
Line 2: if identity or authority verification fails then
We check whether the identity or authority check for the requester has failed.
Line 3: Record denied decision
If it has failed, we record the denied decision for auditing.
Line 4: return DENY
The request is denied and stops here.
Line 5: end if
This completes the identity and authority check.
Line 6: Evaluate consent state
Next, we check the current state of the consent. It must be active, within its validity period, and not revoked.
Line 7: if consent is not active then
We check whether the consent is not active.
Line 8: Record denied decision
If the consent is not active, we record the denied decision.
Line 9: return DENY
The request is denied.
Line 10: end if
This completes the consent state check.
Line 11: Verify multi-party authorisation
Then, we verify the multi-party authorisation. We compare the number of valid approvals, |A_v|, with the required threshold N.
Line 12: if threshold is not satisfied then
We check whether there are fewer valid approvals than the threshold.
Line 13: Record denied decision
If there are not enough approvals, we record the denied decision.
Line 14: return DENY
The request is denied.
Line 15: end if
This completes the multi-party authorisation check.
Line 16: Evaluate requested purpose
Next, we compare the purpose of the request with the purpose the patient allowed in the consent.
Line 17: if purpose is incompatible with consent then
We check whether the purpose does not match the consent. This stops valid credentials from being used for a purpose the patient did not allow.
Line 18: Record denied decision
If the purpose does not match, we record the denied decision.
Line 19: return DENY
The request is denied.
Line 20: end if
This completes the purpose check.
Line 21: Evaluate requested data scope
We look at the data the request asks for, S_R, and the data the patient allowed, S_C.
Line 22: if S_R ⊈ S_C then
We check whether the request asks for data outside the allowed scope. For example, the request may ask for Procedure records when only Observation and Medication records are allowed.
Line 23: Record denied decision
If the request goes outside the scope, we record the denied decision.
Line 24: return DENY
The request is denied.
Line 25: end if
This completes the data scope check.
Line 26: Generate or verify access evidence
All checks have passed, so we generate or verify the evidence for this decision. In the flowchart, this is the Groth16 proof, which must be valid before any data is released.
Line 27: Retrieve authorised healthcare data
Then, we retrieve only the data inside the authorised scope, and nothing more.
Line 28: Record granted decision
We record the granted decision, so an auditor can see why and when access was given.
Line 29: return ALLOW
Finally, we return ALLOW, and the requester receives the authorised data.
Note: In the prototype, the request uses the consent’s own purpose, so the purpose check confirms that it is a supported healthcare purpose. The requested scope must also be non-empty.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In the design, L is the lifecycle state: CREATED, PENDING, ACTIVE, SUSPENDED, REVOKED or EXPIRED, and VL checks a valid state and a valid transition. The prototype works with six states: PENDING_SIGNATURE, PENDING_TOKEN, NOT_STARTED, ACTIVE, EXPIRED and REVOKED. Access can be granted only in ACTIVE.
The flowchart follows Algorithm 5. It checks the validity interval, then the lifecycle state, then the revocation status. The dashed steps, the transition check, are the next stage. If all checks pass, the evidence is recorded and the authorisation evaluation continues. Any failure leads to Deny Access, and the lifecycle-based denial is recorded.
The next stage adds the SUSPENDED state, a lifecycle transition check, consent modification, delegation, guardian-set changes and a formal lifecycle model.
Algorithm 5: Temporal and Lifecycle Validation
The box in the middle of the slide is Algorithm 5 from my report. The flowchart on the right shows the same four checks in the same order, with the transition check drawn in dashed lines because it is planned for the next stage; INVALID leads to Deny Access and VALID leads to Continue Authorisation Evaluation.
Inputs and Output
Require: Consent object C, current time t, requested transition q
Explanation: The algorithm receives the consent, the time of the request, and the requested transition, which is the change of lifecycle state being asked for.
Ensure: Lifecycle validity result
Explanation: The algorithm returns VALID if the consent can still be used at this time and in its current state, or INVALID if it cannot.
Step-by-Step Explanation
Line 1: Retrieve consent start time t_s and expiry time t_e
First, we read the start time and the expiry time stored in the consent.
Line 2: if t &lt; t_s or t &gt; t_e then
We check whether the current time is before the start time or after the expiry time.
Line 3: Record temporal invalidity
If so, we record that the consent is not valid at this time.
Line 4: return INVALID
The request is outside the validity interval, so we return INVALID.
Line 5: end if
This completes the time check.
Line 6: Retrieve current lifecycle state of C
Next, we read the current lifecycle state of the consent, for example pending, active or revoked.
Line 7: if current state does not permit the requested operation then
We check whether this state does not allow the requested operation. For example, data access is allowed only when the consent is active.
Line 8: Record invalid lifecycle state
If the state does not allow it, we record that the consent is in an invalid lifecycle state.
Line 9: return INVALID
The operation is not allowed in this state, so we return INVALID.
Line 10: end if
This completes the lifecycle state check.
Line 11: Check whether C has been revoked
Then, we check whether the consent has been revoked.
Line 12: if C is revoked then
We test whether the consent is revoked.
Line 13: Record revocation-based invalidity
If it is revoked, we record that the consent is invalid because of revocation.
Line 14: return INVALID
A revoked consent must not be used, even if it was approved before, so we return INVALID.
Line 15: end if
This completes the revocation check.
Line 16: Validate requested transition q
Next, we check the requested transition, which is the change from the current state to a new state.
Line 17: if transition q is not permitted then
We check whether this change of state is not allowed.
Line 18: Record unauthorised state transition
If it is not allowed, we record an unauthorised state transition.
Line 19: return INVALID
The transition is rejected, so we return INVALID.
Line 20: end if
This completes the transition check.
Line 21: Record valid temporal and lifecycle evidence
All checks have passed, so we record evidence that the consent is valid in time and in state.
Line 22: return VALID
Finally, we return VALID, so the system can continue with the remaining authorisation conditions.
Note: Today, the prototype checks the validity interval, the lifecycle state and revocation for every access request. The transition check in lines 16 to 20 is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46 automated tests. They include thirteen attack scenarios, A1 to A13. These try things like replayed approvals, unauthorised signers, requests outside the allowed scope and use of a revoked consent. Second, I measured the on-chain cost, the confirmation latency and the processing time.
The next stage covers formal proofs or model checking of the security properties. It also covers a larger evaluation under load.
The flowchart on the right shows the method. I define the security and authorisation properties and the threat and failure conditions. Then I run the valid, negative and adversarial scenarios and collect the decisions and the audit evidence. I evaluate the security properties, compare observed with expected decisions, and evaluate the practical performance. If the properties hold, I document the evidence and limitations. If one fails, I identify the failure and refine the framework.
Algorithm 6: Formal and Empirical Authorisation Validation
The box on the left of the slide is Algorithm 6 from my report. The flowchart on the right shows the same main steps, but it also adds a practical performance check and a loop that refines the framework and tests again when a property fails, which the pseudocode does not include.
Inputs and Output
Require: Framework implementation F, validation scenarios S, security properties P
Explanation: The algorithm starts with the implemented framework, the set of test scenarios, and the security properties that the framework should satisfy.
Ensure: Validation evidence and evaluation results
Explanation: The algorithm produces evidence and results that show whether the framework really meets these properties.
Step-by-Step Explanation
Line 1: Define expected authorisation properties P
First, we define the security properties that the framework must satisfy, such as soundness, correct denial, threshold correctness, policy and scope compliance, and audit consistency. These are the criteria we use to judge the results.
Line 2: Define valid scenarios S_valid
We define legitimate requests that should be allowed, with valid identities, active consent and enough approvals. They show that the framework does not wrongly reject valid requests.
Line 3: Define negative scenarios S_negative
We define requests that break at least one condition, such as expired or revoked consent, too few approvals, or data outside the consent scope. They test that access is refused when a requirement is not met.
Line 4: Define adversarial scenarios S_adv
We define deliberate attempts to bypass the controls, such as replayed (reused) or duplicate approvals, forged credentials, or use of a revoked consent. They test whether the framework can resist attacks.
Line 5: for each scenario s in S_valid ∪ S_negative ∪ S_adv do
Next, we combine the three groups into one set and repeat the following steps for every scenario. Each scenario has an expected decision.
Line 6: Execute s using framework F
We run the scenario on the implemented framework. The framework performs its consent, identity, approval, policy, scope and lifecycle checks.
Line 7: Collect authorisation decision
We record the decision that the framework actually made, for example ALLOW, DENY or PENDING.
Line 8: Collect identity, approval, policy, and audit evidence
We also collect the evidence behind the decision, such as identity and credential results, approvals, policy checks, timestamps and audit records.
Line 9: Compare observed decision with expected decision
We compare the actual decision with the expected decision. The scenario passes only when the two are the same.
Line 10: Record pass or failure result
We record whether the scenario passed or failed. For a failure, we keep the details and the evidence for later analysis.
Line 11: end for
This completes the loop over all scenarios.
Line 12: Evaluate soundness property
Then, we check soundness. Every request that was allowed must really satisfy all the authorisation conditions.
Line 13: Evaluate denial property
We check that every invalid or unauthorised request was refused. This is most important for the negative and adversarial scenarios.
Line 14: Evaluate threshold correctness
We check that consent is authorised only when the number of verified approvals reaches the required threshold. Duplicate or unauthorised approvals must not be counted.
Line 15: Evaluate policy-scope enforcement
We check that every allowed request matches the consent’s purpose and stays inside the permitted data scope. This must be true even when the requester has a valid identity and credential.
Line 16: Evaluate audit consistency
We check that the audit records match the decisions that were actually made. Important evidence, such as the requester, the consent, the result and the time, must not be missing.
Line 17: Analyse failures and limitations
We study each failed scenario to find its cause, for example an implementation defect, a policy error, an integration problem or a limit of the test environment. The aim is to explain failures openly, not to hide them.
Line 18: return Validation results
Finally, we return the combined validation results, which bring together the scenario results and the result for each security property.
Note: Today, the testing part is done with 46 automated tests, including 13 attack scenarios. Formal proofs or model checking of these properties, and a larger evaluation under load,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off-chain audit ledger keeps evidence of every access decision, allowed or denied,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a real screen from the doctor subsystem, from 24 September 2026. The picture is shown in two parts.
First, the doctor enters the consent ID, f050c29a. The screen shows the patient, the consent ID and the purpose, which is Treatment.
Second, the screen shows the five checks: VI, VA, VP, VT and VL. VI checks the identity data in the consent: the doctor's and the patient's DIDs, and the guardian signatures. VA checks that both guardians signed and that the token exists. VP is the policy check, as in my report: the purpose must be allowed, and the request must stay inside the agreed scope. On this screen, the purpose is checked. The scope is checked when the doctor asks for the data. VT checks the dates.
Third, all five checks show PASS, so the decision is ALLOW, and the consent state is ACTIVE.
Possible question: Is this the same code as today? No. This screen is from the 24 September version. Since 11 October 2026, the doctor also types their own DID and must have a valid credential. VL is now the lifecycle check from my report: the consent must be ACTIVE. On this screen, VL was an earlier, different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First,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Second, on the right is the gas used by the five anchored transactions. Gas is the unit of computing work on Ethereum. The first two bars are for token 8, from the earlier deployment. The other three are on the current contract, ConsentSBTv3.
Third, compare the bars.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5, the consent was revoked, so the request was refused.
The third row is the thirteen attack scenarios, A1 to A13. Twelve of them are refused. A11 is different. A rewritten audit event changes its digest, but nothing in the prototype compares the digest yet.
The next slide shows these thirteen attacks in detail.
The fourth row is the automated tests. There are 32 functional and regression tests and 14 adversarial tests. All 46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the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tested the system against attacks. The table lists thirteen attack scenarios, A1 to A13. The dots show which part each attack targets. I is identity, A is authorisation, P is policy and scope, T is time, L is lifecycle, and E is evidence and revocation. Contract means the ConsentSBTv3 contract, run on an in-memory test machine, not on Sepolia.
Examples are a signer outside the guardian set G, a replayed signature, the same guardian approving twice, a request outside the scope, an expired or revoked consent, and a tampered proof.
The two columns on the right show the result before and after the hardening. Before, three attacks, A1, A3 and A5, were accepted when the service functions were called directly. The interface of the 24 September demonstration already refused them. After the hardening, eleven of the first twelve are refused, and all 46 automated tests pass. A13, an invalid or forged credential, came with the credential check on 11 October 2026 and is refused too; before that change, a requester without a valid credential was accepted.
A11 is different. A rewritten audit event changes its digest, but no part of the prototype compares the digest yet. So I mark it as neutral, not as refused.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The mint runs in the background, so the guardians and the doctor do not wait for it; a revoke makes the patient wait for the block.
Processing time is the time of each part of a decision. The five checks of the decision rule take about 6 microseconds, and checking one credential about 6 milliseconds. Checking one guardian signature takes about 11 milliseconds. The Groth16 proof is the slow part, about 1.4 seconds to generate and 0.47 seconds to verify.
The last row is the on-chain read. Reading the contract on Sepolia takes a little over half a second.
I measured the timings on 1 October 2026, in one container, and the decision rule and the credential check again on 11 October 2026. The gas, the fees and the latency come from the five Sepolia transactions of September 2026. The results are indicative only.
The next slide shows all the processing times in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long each part of the system takes. I measured the timings on 1 October 2026, in the development container I used for the demonstration, and the decision rule and the credential check again on 11 October 2026, after the credential check was added. The anchoring times come from the five Sepolia transactions of September 2026. The results are indicative only.
In the table, the median is the middle value. The column n is how many times I measured each step. The symbol µs means microseconds, and ms means milliseconds.
The decision rule with its five checks takes about 6 microseconds, so the checks themselves cost almost nothing. Checking one credential takes about 6 milliseconds. Recovering one guardian signature takes about 11 milliseconds. The Groth16 proof is the slow part of an access request. It takes about 1.4 seconds to generate and about 0.47 seconds to verify. The two read functions on the Sepolia contract take a little over half a second each.
Anchoring on Sepolia is the slowest step, about 11.5 seconds at the median. But the mint runs in the background, so the guardians and the doctor do not wait for it; a revoke makes the patient wait for the block. The chart on the right shows the same results on a log scale.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every access decision, allowed or denied, is logged off-chain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pseudonymous patient and requester addresses, a hash of the purpose, the validity window and a revocation flag. Pseudonymous means the address does not show a real name.
Access to data: records are released only when the decision is ALLOW, and only inside the authorised scope.
Audit: every access decision, allowed or denied, is saved in the off-chain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authorisation, policy, time, lifecycle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lifecycle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thirteen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ran from July to October 2026 and is done.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final assessment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ran from July to October 2026 and is done.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final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three pages and holds the sources used in these slides: the 25 primary studies of my review, and the standards and tools used in the review and the prototype. It follows the UTS Harvard style, so the sources are listed by author name and year.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pseudonymous addresses, a hash of the purpose, the validity window and a revocation flag, and no medical content.
Possible question: What is new in this work? Multi-party approval is a standing condition of every access decision, and the patient defines who must approve. I tested the prototype against thirteen attack scenarios. Twelve of them are refused.
Possible question: What is left for the next stage?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2.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Authorisation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Candidature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a:t>
            </a:r>
            <a:r>
              <a:rPr lang="en-US" sz="1600" dirty="0">
                <a:solidFill>
                  <a:srgbClr val="0B1F33"/>
                </a:solidFill>
              </a:rPr>
              <a:t>and</a:t>
            </a:r>
            <a:r>
              <a:rPr lang="en-US" sz="1600" dirty="0">
                <a:solidFill>
                  <a:srgbClr val="0B1F33"/>
                </a:solidFill>
              </a:rPr>
              <a:t> data scope?</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t>
            </a:r>
            <a:r>
              <a:rPr lang="en-US" sz="1500" dirty="0">
                <a:solidFill>
                  <a:srgbClr val="FFFFFF"/>
                </a:solidFill>
              </a:rPr>
              <a:t>Authorisation</a:t>
            </a:r>
            <a:r>
              <a:rPr lang="en-US" sz="1500" dirty="0">
                <a:solidFill>
                  <a:srgbClr val="FFFFFF"/>
                </a:solidFill>
              </a:rPr>
              <a:t> (A: guardian set G, threshold N) · Policy (P: purpose, scope) · Time (T) · </a:t>
            </a:r>
            <a:r>
              <a:rPr lang="en-US" sz="1500" dirty="0">
                <a:solidFill>
                  <a:srgbClr val="FFFFFF"/>
                </a:solidFill>
              </a:rPr>
              <a:t>Lifecycle (L)</a:t>
            </a:r>
            <a:r>
              <a:rPr lang="en-US" sz="1500" dirty="0">
                <a:solidFill>
                  <a:srgbClr val="FFFFFF"/>
                </a:solidFill>
              </a:rPr>
              <a:t> · Evidence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3090672" y="1051560"/>
            <a:ext cx="59893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200787"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Humeidi &amp; Wang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Brass &amp; Davies (2021)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Altarawneh &amp; Ray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&amp; Urovi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&amp; Su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&amp; Singh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685800"/>
                <a:gridCol w="1920240"/>
                <a:gridCol w="640080"/>
                <a:gridCol w="534924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(2026b)</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(2026a)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Reddy &amp; Shalini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Chi &amp; Lam (2024)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&amp; Zhang (2025)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Abbasi, Humeidi &amp; Wang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Albalwy, Brass &amp; Davies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Al Amin, Altarawneh &amp; Ray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Jaiman &amp;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Zhao &amp;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Li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Maruthi &amp;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Phuyal et al. (2026b)</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Phuyal et al. (2026a)</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Hema, Reddy &amp; Shalini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Tan, Chi &amp; Lam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Wu &amp;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a:t>
            </a:r>
            <a:endParaRPr lang="en-US" sz="3000" dirty="0"/>
          </a:p>
        </p:txBody>
      </p:sp>
      <p:sp>
        <p:nvSpPr>
          <p:cNvPr id="4" name="gap box"/>
          <p:cNvSpPr/>
          <p:nvPr/>
        </p:nvSpPr>
        <p:spPr>
          <a:xfrm>
            <a:off x="822960" y="1371600"/>
            <a:ext cx="10515600" cy="4572000"/>
          </a:xfrm>
          <a:prstGeom prst="roundRect">
            <a:avLst>
              <a:gd name="adj" fmla="val 2400"/>
            </a:avLst>
          </a:prstGeom>
          <a:solidFill>
            <a:srgbClr val="0B2A4A">
              <a:alpha val="85000"/>
            </a:srgbClr>
          </a:solidFill>
          <a:ln w="25400">
            <a:solidFill>
              <a:srgbClr val="1FB5D6"/>
            </a:solidFill>
            <a:prstDash val="solid"/>
          </a:ln>
        </p:spPr>
      </p:sp>
      <p:sp>
        <p:nvSpPr>
          <p:cNvPr id="5" name="gap text"/>
          <p:cNvSpPr txBox="1"/>
          <p:nvPr/>
        </p:nvSpPr>
        <p:spPr>
          <a:xfrm>
            <a:off x="1188720" y="1554480"/>
            <a:ext cx="9784080" cy="4206240"/>
          </a:xfrm>
          <a:prstGeom prst="rect">
            <a:avLst/>
          </a:prstGeom>
          <a:noFill/>
          <a:ln/>
        </p:spPr>
        <p:txBody>
          <a:bodyPr wrap="square" rtlCol="0" anchor="ctr"/>
          <a:lstStyle/>
          <a:p>
            <a:pPr algn="ctr" indent="0" marL="0">
              <a:buNone/>
            </a:pPr>
            <a:r>
              <a:rPr lang="en-US" sz="2400" i="1" dirty="0">
                <a:solidFill>
                  <a:srgbClr val="FFFFFF"/>
                </a:solidFill>
              </a:rPr>
              <a:t>Existing healthcare consent and access-control research provides many of the necessary technological building blocks, but there remains a need for an integrated Trust Computing framework that treats patient consent as a security-bearing and evaluable authorisation object. Such a framework should be capable of representing the relevant trust conditions, verifying the participating entities and their authority, establishing collective authorisation where required, and enforcing the policy and data-scope constraints associated with the consent.</a:t>
            </a:r>
            <a:endParaRPr lang="en-US" sz="2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SUB-RESEARCH QUESTIONS</a:t>
            </a:r>
            <a:endParaRPr lang="en-US" sz="3000" dirty="0"/>
          </a:p>
        </p:txBody>
      </p:sp>
      <p:sp>
        <p:nvSpPr>
          <p:cNvPr id="4" name="card RQ1"/>
          <p:cNvSpPr/>
          <p:nvPr/>
        </p:nvSpPr>
        <p:spPr>
          <a:xfrm>
            <a:off x="64008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5" name="card text RQ1"/>
          <p:cNvSpPr txBox="1"/>
          <p:nvPr/>
        </p:nvSpPr>
        <p:spPr>
          <a:xfrm>
            <a:off x="77724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250" dirty="0">
                <a:solidFill>
                  <a:srgbClr val="0B1F33"/>
                </a:solidFill>
              </a:rPr>
              <a:t>How can patient consent be modelled as a trust-aware authorisation object that explicitly represents identity, authority requirements, policy constraints, and authorisation evidence?</a:t>
            </a:r>
            <a:endParaRPr lang="en-US" sz="1900" dirty="0"/>
          </a:p>
        </p:txBody>
      </p:sp>
      <p:sp>
        <p:nvSpPr>
          <p:cNvPr id="6" name="card RQ2"/>
          <p:cNvSpPr/>
          <p:nvPr/>
        </p:nvSpPr>
        <p:spPr>
          <a:xfrm>
            <a:off x="6172200" y="1143000"/>
            <a:ext cx="5349240" cy="1645920"/>
          </a:xfrm>
          <a:prstGeom prst="roundRect">
            <a:avLst>
              <a:gd name="adj" fmla="val 5556"/>
            </a:avLst>
          </a:prstGeom>
          <a:solidFill>
            <a:srgbClr val="FFFFFF">
              <a:alpha val="92000"/>
            </a:srgbClr>
          </a:solidFill>
          <a:ln w="19050">
            <a:solidFill>
              <a:srgbClr val="1FB5D6"/>
            </a:solidFill>
            <a:prstDash val="solid"/>
          </a:ln>
        </p:spPr>
      </p:sp>
      <p:sp>
        <p:nvSpPr>
          <p:cNvPr id="7" name="card text RQ2"/>
          <p:cNvSpPr txBox="1"/>
          <p:nvPr/>
        </p:nvSpPr>
        <p:spPr>
          <a:xfrm>
            <a:off x="6309360" y="123444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250" dirty="0">
                <a:solidFill>
                  <a:srgbClr val="0B1F33"/>
                </a:solidFill>
              </a:rPr>
              <a:t>How can decentralised identities and verifiable credentials establish trustworthy participants while explicitly separating identity authentication from authorisation authority?</a:t>
            </a:r>
            <a:endParaRPr lang="en-US" sz="1900" dirty="0"/>
          </a:p>
        </p:txBody>
      </p:sp>
      <p:sp>
        <p:nvSpPr>
          <p:cNvPr id="8" name="card RQ3"/>
          <p:cNvSpPr/>
          <p:nvPr/>
        </p:nvSpPr>
        <p:spPr>
          <a:xfrm>
            <a:off x="64008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9" name="card text RQ3"/>
          <p:cNvSpPr txBox="1"/>
          <p:nvPr/>
        </p:nvSpPr>
        <p:spPr>
          <a:xfrm>
            <a:off x="77724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250" dirty="0">
                <a:solidFill>
                  <a:srgbClr val="0B1F33"/>
                </a:solidFill>
              </a:rPr>
              <a:t>How can multiple independently verified participants jointly establish a trustworthy consent decision without allowing a single participant to unilaterally authorise sensitive healthcare data access?</a:t>
            </a:r>
            <a:endParaRPr lang="en-US" sz="1900" dirty="0"/>
          </a:p>
        </p:txBody>
      </p:sp>
      <p:sp>
        <p:nvSpPr>
          <p:cNvPr id="10" name="card RQ4"/>
          <p:cNvSpPr/>
          <p:nvPr/>
        </p:nvSpPr>
        <p:spPr>
          <a:xfrm>
            <a:off x="6172200" y="2926080"/>
            <a:ext cx="5349240" cy="1645920"/>
          </a:xfrm>
          <a:prstGeom prst="roundRect">
            <a:avLst>
              <a:gd name="adj" fmla="val 5556"/>
            </a:avLst>
          </a:prstGeom>
          <a:solidFill>
            <a:srgbClr val="FFFFFF">
              <a:alpha val="92000"/>
            </a:srgbClr>
          </a:solidFill>
          <a:ln w="19050">
            <a:solidFill>
              <a:srgbClr val="1FB5D6"/>
            </a:solidFill>
            <a:prstDash val="solid"/>
          </a:ln>
        </p:spPr>
      </p:sp>
      <p:sp>
        <p:nvSpPr>
          <p:cNvPr id="11" name="card text RQ4"/>
          <p:cNvSpPr txBox="1"/>
          <p:nvPr/>
        </p:nvSpPr>
        <p:spPr>
          <a:xfrm>
            <a:off x="6309360" y="301752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250" dirty="0">
                <a:solidFill>
                  <a:srgbClr val="0B1F33"/>
                </a:solidFill>
              </a:rPr>
              <a:t>How can policy, purpose, and data-scope constraints be incorporated into authorisation decisions so that valid identities and sufficient approvals cannot be used to obtain unauthorised healthcare data?</a:t>
            </a:r>
            <a:endParaRPr lang="en-US" sz="1900" dirty="0"/>
          </a:p>
        </p:txBody>
      </p:sp>
      <p:sp>
        <p:nvSpPr>
          <p:cNvPr id="12" name="card RQ5"/>
          <p:cNvSpPr/>
          <p:nvPr/>
        </p:nvSpPr>
        <p:spPr>
          <a:xfrm>
            <a:off x="64008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3" name="card text RQ5"/>
          <p:cNvSpPr txBox="1"/>
          <p:nvPr/>
        </p:nvSpPr>
        <p:spPr>
          <a:xfrm>
            <a:off x="77724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250" dirty="0">
                <a:solidFill>
                  <a:srgbClr val="0B1F33"/>
                </a:solidFill>
              </a:rPr>
              <a:t>How can temporal validity and consent lifecycle controls ensure that an authorisation remains valid only within its permitted time interval and lifecycle state, and is rejected after expiration, revocation, or an unauthorised state transition?</a:t>
            </a:r>
            <a:endParaRPr lang="en-US" sz="1900" dirty="0"/>
          </a:p>
        </p:txBody>
      </p:sp>
      <p:sp>
        <p:nvSpPr>
          <p:cNvPr id="14" name="card RQ6"/>
          <p:cNvSpPr/>
          <p:nvPr/>
        </p:nvSpPr>
        <p:spPr>
          <a:xfrm>
            <a:off x="6172200" y="4709160"/>
            <a:ext cx="5349240" cy="1645920"/>
          </a:xfrm>
          <a:prstGeom prst="roundRect">
            <a:avLst>
              <a:gd name="adj" fmla="val 5556"/>
            </a:avLst>
          </a:prstGeom>
          <a:solidFill>
            <a:srgbClr val="FFFFFF">
              <a:alpha val="92000"/>
            </a:srgbClr>
          </a:solidFill>
          <a:ln w="19050">
            <a:solidFill>
              <a:srgbClr val="1FB5D6"/>
            </a:solidFill>
            <a:prstDash val="solid"/>
          </a:ln>
        </p:spPr>
      </p:sp>
      <p:sp>
        <p:nvSpPr>
          <p:cNvPr id="15" name="card text RQ6"/>
          <p:cNvSpPr txBox="1"/>
          <p:nvPr/>
        </p:nvSpPr>
        <p:spPr>
          <a:xfrm>
            <a:off x="6309360" y="4800600"/>
            <a:ext cx="5074920" cy="146304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250" dirty="0">
                <a:solidFill>
                  <a:srgbClr val="0B1F33"/>
                </a:solidFill>
              </a:rPr>
              <a:t>How can the security properties of the proposed trust-oriented authorisation mechanism be formally defined and empirically evaluated to demonstrate that the implemented framework correctly enforces authorised and unauthorised healthcare data-access decisions?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188720"/>
          <a:ext cx="10698480" cy="914400"/>
        </p:xfrm>
        <a:graphic>
          <a:graphicData uri="http://schemas.openxmlformats.org/drawingml/2006/table">
            <a:tbl>
              <a:tblPr/>
              <a:tblGrid>
                <a:gridCol w="3017520"/>
                <a:gridCol w="6035040"/>
                <a:gridCol w="1645920"/>
              </a:tblGrid>
              <a:tr h="731520">
                <a:tc>
                  <a:txBody>
                    <a:bodyPr/>
                    <a:lstStyle/>
                    <a:p>
                      <a:pPr indent="0" marL="0">
                        <a:buNone/>
                      </a:pPr>
                      <a:r>
                        <a:rPr lang="en-US" sz="1300" b="1" dirty="0">
                          <a:solidFill>
                            <a:srgbClr val="FFFFFF"/>
                          </a:solidFill>
                        </a:rPr>
                        <a:t>Objective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RO1 – Trust-Centric Consent Model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trust-aware consent model that represents patient consent as a structured and evaluable authorisation object.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RO2 – Decentralised Identity and Authority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decentralised identity and authority verification mechanism using decentralised identifiers and verifiable credentials.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RO3 – Trustworthy Multi-Party Authorisation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threshold-based multi-party authorisation mechanism through which multiple independently verified participants and guardians can jointly establish a trustworthy consent decision.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RO4 – Policy- and Context-Aware Access Control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develop a policy-aware authorisation mechanism that evaluates the purpose and data scope of a requested operation against the constraints defined by the consent.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RO5 – Temporal and Lifecycle Trust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extend the trust-oriented framework with temporal validity and consent lifecycle controls.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RO6 – Formal Security Assurance and Empirical Validation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To formally analyse and empirically evaluate whether the implemented framework satisfies its defined trust and authorisation properties under representative healthcare data-sharing scenarios.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Partially 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 and questions</a:t>
            </a:r>
            <a:endParaRPr lang="en-US" sz="1400" dirty="0"/>
          </a:p>
          <a:p>
            <a:pPr algn="ctr" indent="0" marL="0">
              <a:spcAft>
                <a:spcPts val="800"/>
              </a:spcAft>
              <a:buNone/>
            </a:pPr>
            <a:r>
              <a:rPr lang="en-US" sz="1300" dirty="0">
                <a:solidFill>
                  <a:srgbClr val="0B1F33"/>
                </a:solidFill>
              </a:rPr>
              <a:t>Research gap;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13 attack scenarios; formal assurance in the next stage</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737360" y="1097280"/>
            <a:ext cx="8695944"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9371"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Decision(C, R, t) = ALLOW  ⟺  VI(u) ∧ VA(C) ∧ VP(C, R) ∧ VT(C, t) ∧ </a:t>
            </a:r>
            <a:r>
              <a:rPr lang="en-US" sz="2000" b="1" dirty="0">
                <a:solidFill>
                  <a:srgbClr val="FFFFFF"/>
                </a:solidFill>
                <a:latin typeface="Cambria" pitchFamily="34" charset="0"/>
                <a:ea typeface="Cambria" pitchFamily="34" charset="-122"/>
                <a:cs typeface="Cambria" pitchFamily="34" charset="-120"/>
              </a:rPr>
              <a:t>VL(C)</a:t>
            </a:r>
            <a:endParaRPr lang="en-US" sz="20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 validity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Collective authorisation validity</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Policy and contextual compliance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Temporal validity</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Consent lifecycle validity</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access decision, allowed or denied, is written to the off-chain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Trust-Centric Consent Model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patient selects the patient DID, doctor, guardians, data scope </a:t>
            </a:r>
            <a:r>
              <a:rPr lang="en-US" sz="1200" dirty="0">
                <a:solidFill>
                  <a:srgbClr val="FFFFFF"/>
                </a:solidFill>
              </a:rPr>
              <a:t>and</a:t>
            </a:r>
            <a:r>
              <a:rPr lang="en-US" sz="1200" dirty="0">
                <a:solidFill>
                  <a:srgbClr val="FFFFFF"/>
                </a:solidFill>
              </a:rPr>
              <a:t> validity time; the purpose is fixed to Treatment.</a:t>
            </a:r>
            <a:endParaRPr lang="en-US" sz="1200" dirty="0"/>
          </a:p>
          <a:p>
            <a:pPr marL="342900" indent="-342900">
              <a:spcAft>
                <a:spcPts val="1000"/>
              </a:spcAft>
              <a:buSzPct val="100000"/>
              <a:buChar char="•"/>
            </a:pPr>
            <a:r>
              <a:rPr lang="en-US" sz="1200" dirty="0">
                <a:solidFill>
                  <a:srgbClr val="FFFFFF"/>
                </a:solidFill>
              </a:rPr>
              <a:t>The input is validated; an empty scope or a malformed guardian DID is rejected.</a:t>
            </a:r>
            <a:endParaRPr lang="en-US" sz="1200" dirty="0"/>
          </a:p>
          <a:p>
            <a:pPr marL="342900" indent="-342900">
              <a:spcAft>
                <a:spcPts val="1000"/>
              </a:spcAft>
              <a:buSzPct val="100000"/>
              <a:buChar char="•"/>
            </a:pPr>
            <a:r>
              <a:rPr lang="en-US" sz="1200" dirty="0">
                <a:solidFill>
                  <a:srgbClr val="FFFFFF"/>
                </a:solidFill>
              </a:rPr>
              <a:t>The consent object C = (I, A, P, T, L, E) is built and a consent identifier is assigned.</a:t>
            </a:r>
            <a:endParaRPr lang="en-US" sz="1200" dirty="0"/>
          </a:p>
          <a:p>
            <a:pPr marL="342900" indent="-342900">
              <a:spcAft>
                <a:spcPts val="1000"/>
              </a:spcAft>
              <a:buSzPct val="100000"/>
              <a:buChar char="•"/>
            </a:pPr>
            <a:r>
              <a:rPr lang="en-US" sz="1200" dirty="0">
                <a:solidFill>
                  <a:srgbClr val="FFFFFF"/>
                </a:solidFill>
              </a:rPr>
              <a:t>The consent is stored in the state PENDING_SIGNATURE; nothing is on-chain until all guardians approve.</a:t>
            </a:r>
            <a:endParaRPr lang="en-US" sz="1200" dirty="0"/>
          </a:p>
          <a:p>
            <a:pPr marL="342900" indent="-342900">
              <a:spcAft>
                <a:spcPts val="1000"/>
              </a:spcAft>
              <a:buSzPct val="100000"/>
              <a:buChar char="•"/>
            </a:pPr>
            <a:r>
              <a:rPr lang="en-US" sz="1200" dirty="0">
                <a:solidFill>
                  <a:srgbClr val="FFFFFF"/>
                </a:solidFill>
              </a:rPr>
              <a:t>Creation evidence is recorded in the audit ledger.</a:t>
            </a:r>
            <a:endParaRPr lang="en-US" sz="1200" dirty="0"/>
          </a:p>
        </p:txBody>
      </p:sp>
      <p:sp>
        <p:nvSpPr>
          <p:cNvPr id="8" name="F10 panel"/>
          <p:cNvSpPr/>
          <p:nvPr/>
        </p:nvSpPr>
        <p:spPr>
          <a:xfrm>
            <a:off x="9089048" y="1005840"/>
            <a:ext cx="2660992" cy="5440680"/>
          </a:xfrm>
          <a:prstGeom prst="roundRect">
            <a:avLst>
              <a:gd name="adj" fmla="val 4124"/>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9198776" y="1115568"/>
            <a:ext cx="2441536" cy="5221224"/>
          </a:xfrm>
          <a:prstGeom prst="rect">
            <a:avLst/>
          </a:prstGeom>
        </p:spPr>
      </p:pic>
      <p:sp>
        <p:nvSpPr>
          <p:cNvPr id="10" name="ALG1 panel"/>
          <p:cNvSpPr/>
          <p:nvPr/>
        </p:nvSpPr>
        <p:spPr>
          <a:xfrm>
            <a:off x="4069080" y="2028780"/>
            <a:ext cx="4882808" cy="3394800"/>
          </a:xfrm>
          <a:prstGeom prst="roundRect">
            <a:avLst>
              <a:gd name="adj" fmla="val 323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1" descr="/tmp/deck/img/ALG1.png">    </p:cNvPr>
          <p:cNvPicPr>
            <a:picLocks noChangeAspect="1"/>
          </p:cNvPicPr>
          <p:nvPr/>
        </p:nvPicPr>
        <p:blipFill>
          <a:blip r:embed="rId2"/>
          <a:stretch>
            <a:fillRect/>
          </a:stretch>
        </p:blipFill>
        <p:spPr>
          <a:xfrm>
            <a:off x="4178808" y="2138508"/>
            <a:ext cx="4663352" cy="31753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Decentralised Identity and Authority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Identity is checked through the participant's DID; authority through a verifiable credential.</a:t>
            </a:r>
            <a:endParaRPr lang="en-US" sz="1200" dirty="0"/>
          </a:p>
          <a:p>
            <a:pPr marL="342900" indent="-342900">
              <a:spcAft>
                <a:spcPts val="1000"/>
              </a:spcAft>
              <a:buSzPct val="100000"/>
              <a:buChar char="•"/>
            </a:pPr>
            <a:r>
              <a:rPr lang="en-US" sz="1200" dirty="0">
                <a:solidFill>
                  <a:srgbClr val="FFFFFF"/>
                </a:solidFill>
              </a:rPr>
              <a:t>Identity is not authority: a valid DID alone never gives access.</a:t>
            </a:r>
            <a:endParaRPr lang="en-US" sz="1200" dirty="0"/>
          </a:p>
          <a:p>
            <a:pPr marL="342900" indent="-342900">
              <a:spcAft>
                <a:spcPts val="1000"/>
              </a:spcAft>
              <a:buSzPct val="100000"/>
              <a:buChar char="•"/>
            </a:pPr>
            <a:r>
              <a:rPr lang="en-US" sz="1200" dirty="0">
                <a:solidFill>
                  <a:srgbClr val="FFFFFF"/>
                </a:solidFill>
              </a:rPr>
              <a:t>VI(u) = VerifyDID(u) ∧ VerifyVC(u) ∧ Authority(u, C).</a:t>
            </a:r>
            <a:endParaRPr lang="en-US" sz="1200" dirty="0"/>
          </a:p>
          <a:p>
            <a:pPr marL="342900" indent="-342900">
              <a:spcAft>
                <a:spcPts val="1000"/>
              </a:spcAft>
              <a:buSzPct val="100000"/>
              <a:buChar char="•"/>
            </a:pPr>
            <a:r>
              <a:rPr lang="en-US" sz="1200" dirty="0">
                <a:solidFill>
                  <a:srgbClr val="FFFFFF"/>
                </a:solidFill>
              </a:rPr>
              <a:t>In the HALAH implementation, the Guardian workflow uses a selected guardian DID and invokes VC verification before adding the guardian's signature to the consent.</a:t>
            </a:r>
            <a:endParaRPr lang="en-US" sz="1200" dirty="0"/>
          </a:p>
          <a:p>
            <a:pPr marL="342900" indent="-342900">
              <a:spcAft>
                <a:spcPts val="1000"/>
              </a:spcAft>
              <a:buSzPct val="100000"/>
              <a:buChar char="•"/>
            </a:pPr>
            <a:r>
              <a:rPr lang="en-US" sz="1200" dirty="0">
                <a:solidFill>
                  <a:srgbClr val="FFFFFF"/>
                </a:solidFill>
              </a:rPr>
              <a:t>Full DID resolution </a:t>
            </a:r>
            <a:r>
              <a:rPr lang="en-US" sz="1200" dirty="0">
                <a:solidFill>
                  <a:srgbClr val="FFFFFF"/>
                </a:solidFill>
              </a:rPr>
              <a:t>is</a:t>
            </a:r>
            <a:r>
              <a:rPr lang="en-US" sz="1200" dirty="0">
                <a:solidFill>
                  <a:srgbClr val="FFFFFF"/>
                </a:solidFill>
              </a:rPr>
              <a:t> planned for the next stage.</a:t>
            </a:r>
            <a:endParaRPr lang="en-US" sz="1200" dirty="0"/>
          </a:p>
        </p:txBody>
      </p:sp>
      <p:sp>
        <p:nvSpPr>
          <p:cNvPr id="8" name="F12 panel"/>
          <p:cNvSpPr/>
          <p:nvPr/>
        </p:nvSpPr>
        <p:spPr>
          <a:xfrm>
            <a:off x="8686800" y="1498166"/>
            <a:ext cx="3063240" cy="4456029"/>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8796528" y="1607894"/>
            <a:ext cx="2843784" cy="4236573"/>
          </a:xfrm>
          <a:prstGeom prst="rect">
            <a:avLst/>
          </a:prstGeom>
        </p:spPr>
      </p:pic>
      <p:sp>
        <p:nvSpPr>
          <p:cNvPr id="10" name="ALG2 panel"/>
          <p:cNvSpPr/>
          <p:nvPr/>
        </p:nvSpPr>
        <p:spPr>
          <a:xfrm>
            <a:off x="4069080" y="1340635"/>
            <a:ext cx="4480560" cy="477109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2" descr="/tmp/deck/img/ALG2.png">    </p:cNvPr>
          <p:cNvPicPr>
            <a:picLocks noChangeAspect="1"/>
          </p:cNvPicPr>
          <p:nvPr/>
        </p:nvPicPr>
        <p:blipFill>
          <a:blip r:embed="rId2"/>
          <a:stretch>
            <a:fillRect/>
          </a:stretch>
        </p:blipFill>
        <p:spPr>
          <a:xfrm>
            <a:off x="4178808" y="1450363"/>
            <a:ext cx="4261104" cy="455163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Trustworthy Multi-Party Authorisation</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50" dirty="0">
                <a:solidFill>
                  <a:srgbClr val="FFFFFF"/>
                </a:solidFill>
              </a:rPr>
              <a:t>The guardian set G is fixed when the consent is created.</a:t>
            </a:r>
            <a:endParaRPr lang="en-US" sz="1150" dirty="0"/>
          </a:p>
          <a:p>
            <a:pPr marL="342900" indent="-342900">
              <a:spcAft>
                <a:spcPts val="1000"/>
              </a:spcAft>
              <a:buSzPct val="100000"/>
              <a:buChar char="•"/>
            </a:pPr>
            <a:r>
              <a:rPr lang="en-US" sz="1150" dirty="0">
                <a:solidFill>
                  <a:srgbClr val="FFFFFF"/>
                </a:solidFill>
              </a:rPr>
              <a:t>Each guardian signs an EIP-712 approval, verified by signature recovery.</a:t>
            </a:r>
            <a:endParaRPr lang="en-US" sz="1150" dirty="0"/>
          </a:p>
          <a:p>
            <a:pPr marL="342900" indent="-342900">
              <a:spcAft>
                <a:spcPts val="1000"/>
              </a:spcAft>
              <a:buSzPct val="100000"/>
              <a:buChar char="•"/>
            </a:pPr>
            <a:r>
              <a:rPr lang="en-US" sz="1150" dirty="0">
                <a:solidFill>
                  <a:srgbClr val="FFFFFF"/>
                </a:solidFill>
              </a:rPr>
              <a:t>Approvals from outside G and duplicate approvals are not counted; a replayed signature fails the identity check (VI).</a:t>
            </a:r>
            <a:endParaRPr lang="en-US" sz="1150" dirty="0"/>
          </a:p>
          <a:p>
            <a:pPr marL="342900" indent="-342900">
              <a:spcAft>
                <a:spcPts val="1000"/>
              </a:spcAft>
              <a:buSzPct val="100000"/>
              <a:buChar char="•"/>
            </a:pPr>
            <a:r>
              <a:rPr lang="en-US" sz="1150" dirty="0">
                <a:solidFill>
                  <a:srgbClr val="FFFFFF"/>
                </a:solidFill>
              </a:rPr>
              <a:t>N-of-N rule: a valid signature from every listed guardian (2-of-2 in the demo).</a:t>
            </a:r>
            <a:endParaRPr lang="en-US" sz="1150" dirty="0"/>
          </a:p>
          <a:p>
            <a:pPr marL="342900" indent="-342900">
              <a:spcAft>
                <a:spcPts val="1000"/>
              </a:spcAft>
              <a:buSzPct val="100000"/>
              <a:buChar char="•"/>
            </a:pPr>
            <a:r>
              <a:rPr lang="en-US" sz="1150" dirty="0">
                <a:solidFill>
                  <a:srgbClr val="FFFFFF"/>
                </a:solidFill>
              </a:rPr>
              <a:t>When the threshold is met, a local token is recorded and the mint is anchored on Sepolia in the background.</a:t>
            </a:r>
            <a:endParaRPr lang="en-US" sz="1150" dirty="0"/>
          </a:p>
        </p:txBody>
      </p:sp>
      <p:sp>
        <p:nvSpPr>
          <p:cNvPr id="8" name="F13 panel"/>
          <p:cNvSpPr/>
          <p:nvPr/>
        </p:nvSpPr>
        <p:spPr>
          <a:xfrm>
            <a:off x="8686800" y="1420345"/>
            <a:ext cx="3063240" cy="4611670"/>
          </a:xfrm>
          <a:prstGeom prst="roundRect">
            <a:avLst>
              <a:gd name="adj" fmla="val 358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8796528" y="1530073"/>
            <a:ext cx="2843784" cy="4392214"/>
          </a:xfrm>
          <a:prstGeom prst="rect">
            <a:avLst/>
          </a:prstGeom>
        </p:spPr>
      </p:pic>
      <p:sp>
        <p:nvSpPr>
          <p:cNvPr id="10" name="ALG3 panel"/>
          <p:cNvSpPr/>
          <p:nvPr/>
        </p:nvSpPr>
        <p:spPr>
          <a:xfrm>
            <a:off x="4086071" y="1005840"/>
            <a:ext cx="4446578" cy="5440680"/>
          </a:xfrm>
          <a:prstGeom prst="roundRect">
            <a:avLst>
              <a:gd name="adj" fmla="val 2468"/>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3" descr="/tmp/deck/img/ALG3.png">    </p:cNvPr>
          <p:cNvPicPr>
            <a:picLocks noChangeAspect="1"/>
          </p:cNvPicPr>
          <p:nvPr/>
        </p:nvPicPr>
        <p:blipFill>
          <a:blip r:embed="rId2"/>
          <a:stretch>
            <a:fillRect/>
          </a:stretch>
        </p:blipFill>
        <p:spPr>
          <a:xfrm>
            <a:off x="4195799" y="1115568"/>
            <a:ext cx="42271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Policy- and Context-Aware Access Control</a:t>
            </a:r>
            <a:endParaRPr lang="en-US" sz="1500" dirty="0"/>
          </a:p>
        </p:txBody>
      </p:sp>
      <p:sp>
        <p:nvSpPr>
          <p:cNvPr id="5" name="status chip"/>
          <p:cNvSpPr/>
          <p:nvPr/>
        </p:nvSpPr>
        <p:spPr>
          <a:xfrm>
            <a:off x="548640" y="16916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200" dirty="0">
                <a:solidFill>
                  <a:srgbClr val="FFFFFF"/>
                </a:solidFill>
              </a:rPr>
              <a:t>The request scope SR must be a non-empty subset of the authorised scope SC.</a:t>
            </a:r>
            <a:endParaRPr lang="en-US" sz="1200" dirty="0"/>
          </a:p>
          <a:p>
            <a:pPr marL="342900" indent="-342900">
              <a:spcAft>
                <a:spcPts val="1000"/>
              </a:spcAft>
              <a:buSzPct val="100000"/>
              <a:buChar char="•"/>
            </a:pPr>
            <a:r>
              <a:rPr lang="en-US" sz="1200" dirty="0">
                <a:solidFill>
                  <a:srgbClr val="FFFFFF"/>
                </a:solidFill>
              </a:rPr>
              <a:t>The purpose must be a supported healthcare purpose of the consent.</a:t>
            </a:r>
            <a:endParaRPr lang="en-US" sz="1200" dirty="0"/>
          </a:p>
          <a:p>
            <a:pPr marL="342900" indent="-342900">
              <a:spcAft>
                <a:spcPts val="1000"/>
              </a:spcAft>
              <a:buSzPct val="100000"/>
              <a:buChar char="•"/>
            </a:pPr>
            <a:r>
              <a:rPr lang="en-US" sz="1200" dirty="0">
                <a:solidFill>
                  <a:srgbClr val="FFFFFF"/>
                </a:solidFill>
              </a:rPr>
              <a:t>Time and </a:t>
            </a:r>
            <a:r>
              <a:rPr lang="en-US" sz="1200" dirty="0">
                <a:solidFill>
                  <a:srgbClr val="FFFFFF"/>
                </a:solidFill>
              </a:rPr>
              <a:t>the lifecycle state</a:t>
            </a:r>
            <a:r>
              <a:rPr lang="en-US" sz="1200" dirty="0">
                <a:solidFill>
                  <a:srgbClr val="FFFFFF"/>
                </a:solidFill>
              </a:rPr>
              <a:t> are checked in the same decision.</a:t>
            </a:r>
            <a:endParaRPr lang="en-US" sz="1200" dirty="0"/>
          </a:p>
          <a:p>
            <a:pPr marL="342900" indent="-342900">
              <a:spcAft>
                <a:spcPts val="1000"/>
              </a:spcAft>
              <a:buSzPct val="100000"/>
              <a:buChar char="•"/>
            </a:pPr>
            <a:r>
              <a:rPr lang="en-US" sz="1200" dirty="0">
                <a:solidFill>
                  <a:srgbClr val="FFFFFF"/>
                </a:solidFill>
              </a:rPr>
              <a:t>A Groth16 proof must verify before any data is retrieved; otherwise DENY.</a:t>
            </a:r>
            <a:endParaRPr lang="en-US" sz="1200" dirty="0"/>
          </a:p>
          <a:p>
            <a:pPr marL="342900" indent="-342900">
              <a:spcAft>
                <a:spcPts val="1000"/>
              </a:spcAft>
              <a:buSzPct val="100000"/>
              <a:buChar char="•"/>
            </a:pPr>
            <a:r>
              <a:rPr lang="en-US" sz="1200" dirty="0">
                <a:solidFill>
                  <a:srgbClr val="FFFFFF"/>
                </a:solidFill>
              </a:rPr>
              <a:t>Example: requesting Procedure when only Observation and Medication are allowed gives DENY.</a:t>
            </a:r>
            <a:endParaRPr lang="en-US" sz="1200" dirty="0"/>
          </a:p>
        </p:txBody>
      </p:sp>
      <p:sp>
        <p:nvSpPr>
          <p:cNvPr id="8" name="F14 panel"/>
          <p:cNvSpPr/>
          <p:nvPr/>
        </p:nvSpPr>
        <p:spPr>
          <a:xfrm>
            <a:off x="9403534" y="1005840"/>
            <a:ext cx="2346506" cy="5440680"/>
          </a:xfrm>
          <a:prstGeom prst="roundRect">
            <a:avLst>
              <a:gd name="adj" fmla="val 4676"/>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9513262" y="1115568"/>
            <a:ext cx="2127050" cy="5221224"/>
          </a:xfrm>
          <a:prstGeom prst="rect">
            <a:avLst/>
          </a:prstGeom>
        </p:spPr>
      </p:pic>
      <p:sp>
        <p:nvSpPr>
          <p:cNvPr id="10" name="ALG4 panel"/>
          <p:cNvSpPr/>
          <p:nvPr/>
        </p:nvSpPr>
        <p:spPr>
          <a:xfrm>
            <a:off x="4463684" y="1005840"/>
            <a:ext cx="4408085" cy="5440680"/>
          </a:xfrm>
          <a:prstGeom prst="roundRect">
            <a:avLst>
              <a:gd name="adj" fmla="val 248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4" descr="/tmp/deck/img/ALG4.png">    </p:cNvPr>
          <p:cNvPicPr>
            <a:picLocks noChangeAspect="1"/>
          </p:cNvPicPr>
          <p:nvPr/>
        </p:nvPicPr>
        <p:blipFill>
          <a:blip r:embed="rId2"/>
          <a:stretch>
            <a:fillRect/>
          </a:stretch>
        </p:blipFill>
        <p:spPr>
          <a:xfrm>
            <a:off x="4573412" y="1115568"/>
            <a:ext cx="4188629"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Temporal and Lifecycle Trust</a:t>
            </a:r>
            <a:endParaRPr lang="en-US" sz="1500" dirty="0"/>
          </a:p>
        </p:txBody>
      </p:sp>
      <p:sp>
        <p:nvSpPr>
          <p:cNvPr id="5" name="status chip"/>
          <p:cNvSpPr/>
          <p:nvPr/>
        </p:nvSpPr>
        <p:spPr>
          <a:xfrm>
            <a:off x="548640" y="16916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548640" y="16916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548640" y="2240280"/>
            <a:ext cx="3383280" cy="4206240"/>
          </a:xfrm>
          <a:prstGeom prst="rect">
            <a:avLst/>
          </a:prstGeom>
          <a:noFill/>
          <a:ln/>
        </p:spPr>
        <p:txBody>
          <a:bodyPr wrap="square" rtlCol="0" anchor="t"/>
          <a:lstStyle/>
          <a:p>
            <a:pPr marL="342900" indent="-342900">
              <a:spcAft>
                <a:spcPts val="1000"/>
              </a:spcAft>
              <a:buSzPct val="100000"/>
              <a:buChar char="•"/>
            </a:pPr>
            <a:r>
              <a:rPr lang="en-US" sz="1100" dirty="0">
                <a:solidFill>
                  <a:srgbClr val="FFFFFF"/>
                </a:solidFill>
              </a:rPr>
              <a:t>The validity window (notBefore, expiry) is stored on-chain and checked at every request through VT.</a:t>
            </a:r>
            <a:endParaRPr lang="en-US" sz="1100" dirty="0"/>
          </a:p>
          <a:p>
            <a:pPr marL="342900" indent="-342900">
              <a:spcAft>
                <a:spcPts val="1000"/>
              </a:spcAft>
              <a:buSzPct val="100000"/>
              <a:buChar char="•"/>
            </a:pPr>
            <a:r>
              <a:rPr lang="en-US" sz="1100" dirty="0">
                <a:solidFill>
                  <a:srgbClr val="FFFFFF"/>
                </a:solidFill>
              </a:rPr>
              <a:t>Revocation is end to end, including an on-chain revoke transaction.</a:t>
            </a:r>
            <a:endParaRPr lang="en-US" sz="1100" dirty="0"/>
          </a:p>
          <a:p>
            <a:pPr marL="342900" indent="-342900">
              <a:spcAft>
                <a:spcPts val="1000"/>
              </a:spcAft>
              <a:buSzPct val="100000"/>
              <a:buChar char="•"/>
            </a:pPr>
            <a:r>
              <a:rPr lang="en-US" sz="1100" dirty="0">
                <a:solidFill>
                  <a:srgbClr val="FFFFFF"/>
                </a:solidFill>
              </a:rPr>
              <a:t>Design: L is the lifecycle state (CREATED, PENDING, ACTIVE, SUSPENDED, REVOKED, EXPIRED), checked by VL(C) = ValidState(C) ∧ ValidTransition(C).</a:t>
            </a:r>
            <a:endParaRPr lang="en-US" sz="1100" dirty="0"/>
          </a:p>
          <a:p>
            <a:pPr marL="342900" indent="-342900">
              <a:spcAft>
                <a:spcPts val="1000"/>
              </a:spcAft>
              <a:buSzPct val="100000"/>
              <a:buChar char="•"/>
            </a:pPr>
            <a:r>
              <a:rPr lang="en-US" sz="1100" dirty="0">
                <a:solidFill>
                  <a:srgbClr val="FFFFFF"/>
                </a:solidFill>
              </a:rPr>
              <a:t>Working now: an</a:t>
            </a:r>
            <a:r>
              <a:rPr lang="en-US" sz="1100" dirty="0">
                <a:solidFill>
                  <a:srgbClr val="FFFFFF"/>
                </a:solidFill>
              </a:rPr>
              <a:t> explicit lifecycle state machine: PENDING_SIGNATURE, PENDING_TOKEN, NOT_STARTED, ACTIVE, EXPIRED, REVOKED.</a:t>
            </a:r>
            <a:endParaRPr lang="en-US" sz="1100" dirty="0"/>
          </a:p>
          <a:p>
            <a:pPr marL="342900" indent="-342900">
              <a:spcAft>
                <a:spcPts val="1000"/>
              </a:spcAft>
              <a:buSzPct val="100000"/>
              <a:buChar char="•"/>
            </a:pPr>
            <a:r>
              <a:rPr lang="en-US" sz="1100" dirty="0">
                <a:solidFill>
                  <a:srgbClr val="FFFFFF"/>
                </a:solidFill>
              </a:rPr>
              <a:t>Next stage: </a:t>
            </a:r>
            <a:r>
              <a:rPr lang="en-US" sz="1100" dirty="0">
                <a:solidFill>
                  <a:srgbClr val="FFFFFF"/>
                </a:solidFill>
              </a:rPr>
              <a:t>the SUSPENDED state,</a:t>
            </a:r>
            <a:r>
              <a:rPr lang="en-US" sz="1100" dirty="0">
                <a:solidFill>
                  <a:srgbClr val="FFFFFF"/>
                </a:solidFill>
              </a:rPr>
              <a:t> lifecycle transition check, consent modification, delegation, guardian-set changes and a formal lifecycle model.</a:t>
            </a:r>
            <a:endParaRPr lang="en-US" sz="1100" dirty="0"/>
          </a:p>
        </p:txBody>
      </p:sp>
      <p:sp>
        <p:nvSpPr>
          <p:cNvPr id="8" name="F35 panel"/>
          <p:cNvSpPr/>
          <p:nvPr/>
        </p:nvSpPr>
        <p:spPr>
          <a:xfrm>
            <a:off x="8700914" y="1005840"/>
            <a:ext cx="3049126" cy="5440680"/>
          </a:xfrm>
          <a:prstGeom prst="roundRect">
            <a:avLst>
              <a:gd name="adj" fmla="val 359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8810642" y="1115568"/>
            <a:ext cx="2829670" cy="5221224"/>
          </a:xfrm>
          <a:prstGeom prst="rect">
            <a:avLst/>
          </a:prstGeom>
        </p:spPr>
      </p:pic>
      <p:sp>
        <p:nvSpPr>
          <p:cNvPr id="10" name="ALG5 panel"/>
          <p:cNvSpPr/>
          <p:nvPr/>
        </p:nvSpPr>
        <p:spPr>
          <a:xfrm>
            <a:off x="4069080" y="1376296"/>
            <a:ext cx="4494674" cy="4699769"/>
          </a:xfrm>
          <a:prstGeom prst="roundRect">
            <a:avLst>
              <a:gd name="adj" fmla="val 244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ALG5" descr="/tmp/deck/img/ALG5.png">    </p:cNvPr>
          <p:cNvPicPr>
            <a:picLocks noChangeAspect="1"/>
          </p:cNvPicPr>
          <p:nvPr/>
        </p:nvPicPr>
        <p:blipFill>
          <a:blip r:embed="rId2"/>
          <a:stretch>
            <a:fillRect/>
          </a:stretch>
        </p:blipFill>
        <p:spPr>
          <a:xfrm>
            <a:off x="4178808" y="1486024"/>
            <a:ext cx="4275218" cy="448031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548640" y="960120"/>
            <a:ext cx="3383280" cy="685800"/>
          </a:xfrm>
          <a:prstGeom prst="rect">
            <a:avLst/>
          </a:prstGeom>
          <a:noFill/>
          <a:ln/>
        </p:spPr>
        <p:txBody>
          <a:bodyPr wrap="square" rtlCol="0" anchor="t"/>
          <a:lstStyle/>
          <a:p>
            <a:pPr indent="0" marL="0">
              <a:buNone/>
            </a:pPr>
            <a:r>
              <a:rPr lang="en-US" sz="1500" b="1" i="1" dirty="0">
                <a:solidFill>
                  <a:srgbClr val="1FB5D6"/>
                </a:solidFill>
              </a:rPr>
              <a:t>Formal Security Assurance and Empirical Validation</a:t>
            </a:r>
            <a:endParaRPr lang="en-US" sz="1500" dirty="0"/>
          </a:p>
        </p:txBody>
      </p:sp>
      <p:sp>
        <p:nvSpPr>
          <p:cNvPr id="5" name="status chip"/>
          <p:cNvSpPr/>
          <p:nvPr/>
        </p:nvSpPr>
        <p:spPr>
          <a:xfrm>
            <a:off x="548640" y="16916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548640" y="16916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4206240" y="960120"/>
            <a:ext cx="7498080" cy="1600200"/>
          </a:xfrm>
          <a:prstGeom prst="rect">
            <a:avLst/>
          </a:prstGeom>
          <a:noFill/>
          <a:ln/>
        </p:spPr>
        <p:txBody>
          <a:bodyPr wrap="square" rtlCol="0" anchor="t"/>
          <a:lstStyle/>
          <a:p>
            <a:pPr marL="342900" indent="-342900">
              <a:spcAft>
                <a:spcPts val="1000"/>
              </a:spcAft>
              <a:buSzPct val="100000"/>
              <a:buChar char="•"/>
            </a:pPr>
            <a:r>
              <a:rPr lang="en-US" sz="1300" dirty="0">
                <a:solidFill>
                  <a:srgbClr val="FFFFFF"/>
                </a:solidFill>
              </a:rPr>
              <a:t>Done: 46 automated tests, including thirteen attack scenarios A1 to A13.</a:t>
            </a:r>
            <a:endParaRPr lang="en-US" sz="1300" dirty="0"/>
          </a:p>
          <a:p>
            <a:pPr marL="342900" indent="-342900">
              <a:spcAft>
                <a:spcPts val="1000"/>
              </a:spcAft>
              <a:buSzPct val="100000"/>
              <a:buChar char="•"/>
            </a:pPr>
            <a:r>
              <a:rPr lang="en-US" sz="1300" dirty="0">
                <a:solidFill>
                  <a:srgbClr val="FFFFFF"/>
                </a:solidFill>
              </a:rPr>
              <a:t>Done: on-chain cost, confirmation latency and processing time measured.</a:t>
            </a:r>
            <a:endParaRPr lang="en-US" sz="1300" dirty="0"/>
          </a:p>
          <a:p>
            <a:pPr marL="342900" indent="-342900">
              <a:spcAft>
                <a:spcPts val="1000"/>
              </a:spcAft>
              <a:buSzPct val="100000"/>
              <a:buChar char="•"/>
            </a:pPr>
            <a:r>
              <a:rPr lang="en-US" sz="1300" dirty="0">
                <a:solidFill>
                  <a:srgbClr val="FFFFFF"/>
                </a:solidFill>
              </a:rPr>
              <a:t>Next stage: formal proofs or model checking of the security properties, and a larger evaluation under load.</a:t>
            </a:r>
            <a:endParaRPr lang="en-US" sz="1300" dirty="0"/>
          </a:p>
        </p:txBody>
      </p:sp>
      <p:sp>
        <p:nvSpPr>
          <p:cNvPr id="8" name="ALG6 panel"/>
          <p:cNvSpPr/>
          <p:nvPr/>
        </p:nvSpPr>
        <p:spPr>
          <a:xfrm>
            <a:off x="900247" y="2697480"/>
            <a:ext cx="5331825"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ALG6" descr="/tmp/deck/img/ALG6.png">    </p:cNvPr>
          <p:cNvPicPr>
            <a:picLocks noChangeAspect="1"/>
          </p:cNvPicPr>
          <p:nvPr/>
        </p:nvPicPr>
        <p:blipFill>
          <a:blip r:embed="rId1"/>
          <a:stretch>
            <a:fillRect/>
          </a:stretch>
        </p:blipFill>
        <p:spPr>
          <a:xfrm>
            <a:off x="1009975" y="2807208"/>
            <a:ext cx="5112369" cy="3529584"/>
          </a:xfrm>
          <a:prstGeom prst="rect">
            <a:avLst/>
          </a:prstGeom>
        </p:spPr>
      </p:pic>
      <p:sp>
        <p:nvSpPr>
          <p:cNvPr id="10" name="F16 panel"/>
          <p:cNvSpPr/>
          <p:nvPr/>
        </p:nvSpPr>
        <p:spPr>
          <a:xfrm>
            <a:off x="7267708" y="2697480"/>
            <a:ext cx="3844023" cy="3749040"/>
          </a:xfrm>
          <a:prstGeom prst="roundRect">
            <a:avLst>
              <a:gd name="adj" fmla="val 29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11" name="F16" descr="/tmp/deck/img/F16.png">    </p:cNvPr>
          <p:cNvPicPr>
            <a:picLocks noChangeAspect="1"/>
          </p:cNvPicPr>
          <p:nvPr/>
        </p:nvPicPr>
        <p:blipFill>
          <a:blip r:embed="rId2"/>
          <a:stretch>
            <a:fillRect/>
          </a:stretch>
        </p:blipFill>
        <p:spPr>
          <a:xfrm>
            <a:off x="7377436" y="2807208"/>
            <a:ext cx="3624567" cy="35295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Off-chain audit ledger of every access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A REAL SCENARIO</a:t>
            </a:r>
            <a:endParaRPr lang="en-US" sz="3000" dirty="0"/>
          </a:p>
        </p:txBody>
      </p:sp>
      <p:sp>
        <p:nvSpPr>
          <p:cNvPr id="4" name="F27x panel"/>
          <p:cNvSpPr/>
          <p:nvPr/>
        </p:nvSpPr>
        <p:spPr>
          <a:xfrm>
            <a:off x="2898648" y="1188720"/>
            <a:ext cx="64008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x" descr="/tmp/deck/img/F27x.png">    </p:cNvPr>
          <p:cNvPicPr>
            <a:picLocks noChangeAspect="1"/>
          </p:cNvPicPr>
          <p:nvPr/>
        </p:nvPicPr>
        <p:blipFill>
          <a:blip r:embed="rId1"/>
          <a:stretch>
            <a:fillRect/>
          </a:stretch>
        </p:blipFill>
        <p:spPr>
          <a:xfrm>
            <a:off x="3008376" y="1392793"/>
            <a:ext cx="6181344" cy="4072415"/>
          </a:xfrm>
          <a:prstGeom prst="rect">
            <a:avLst/>
          </a:prstGeom>
        </p:spPr>
      </p:pic>
      <p:sp>
        <p:nvSpPr>
          <p:cNvPr id="6" name="caption"/>
          <p:cNvSpPr txBox="1"/>
          <p:nvPr/>
        </p:nvSpPr>
        <p:spPr>
          <a:xfrm>
            <a:off x="1984248" y="5806440"/>
            <a:ext cx="8229600" cy="320040"/>
          </a:xfrm>
          <a:prstGeom prst="rect">
            <a:avLst/>
          </a:prstGeom>
          <a:noFill/>
          <a:ln/>
        </p:spPr>
        <p:txBody>
          <a:bodyPr wrap="square" rtlCol="0" anchor="ctr"/>
          <a:lstStyle/>
          <a:p>
            <a:pPr algn="ctr" indent="0" marL="0">
              <a:buNone/>
            </a:pPr>
            <a:r>
              <a:rPr lang="en-US" sz="1200" i="1" dirty="0">
                <a:solidFill>
                  <a:srgbClr val="FFFFFF"/>
                </a:solidFill>
              </a:rPr>
              <a:t>Doctor screen, consent f050c29a, 24 September 2026 (shown in two parts).</a:t>
            </a:r>
            <a:r>
              <a:rPr lang="en-US" sz="1200" i="1" dirty="0">
                <a:solidFill>
                  <a:srgbClr val="FFFFFF"/>
                </a:solidFill>
              </a:rPr>
              <a:t> All five checks pass: ALLOW</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48640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212080" cy="47091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5: revoked consent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13</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12 of 13 refused (A11 neutral: the audit digest is not yet checked)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32 functional and regression tests and 14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46 of 46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 ADVERSARIAL TESTS</a:t>
            </a:r>
            <a:endParaRPr lang="en-US" sz="3000" dirty="0"/>
          </a:p>
        </p:txBody>
      </p:sp>
      <p:sp>
        <p:nvSpPr>
          <p:cNvPr id="4" name="F43 panel"/>
          <p:cNvSpPr/>
          <p:nvPr/>
        </p:nvSpPr>
        <p:spPr>
          <a:xfrm>
            <a:off x="640080" y="1097280"/>
            <a:ext cx="6583680" cy="5413248"/>
          </a:xfrm>
          <a:prstGeom prst="roundRect">
            <a:avLst>
              <a:gd name="adj" fmla="val 20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43" descr="/tmp/deck/img/F43.png">    </p:cNvPr>
          <p:cNvPicPr>
            <a:picLocks noChangeAspect="1"/>
          </p:cNvPicPr>
          <p:nvPr/>
        </p:nvPicPr>
        <p:blipFill>
          <a:blip r:embed="rId1"/>
          <a:stretch>
            <a:fillRect/>
          </a:stretch>
        </p:blipFill>
        <p:spPr>
          <a:xfrm>
            <a:off x="749808" y="1207811"/>
            <a:ext cx="6364224" cy="5192187"/>
          </a:xfrm>
          <a:prstGeom prst="rect">
            <a:avLst/>
          </a:prstGeom>
        </p:spPr>
      </p:pic>
      <p:sp>
        <p:nvSpPr>
          <p:cNvPr id="6" name="stat 0"/>
          <p:cNvSpPr txBox="1"/>
          <p:nvPr/>
        </p:nvSpPr>
        <p:spPr>
          <a:xfrm>
            <a:off x="7589520" y="123444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13</a:t>
            </a:r>
            <a:endParaRPr lang="en-US" sz="4800" dirty="0"/>
          </a:p>
        </p:txBody>
      </p:sp>
      <p:sp>
        <p:nvSpPr>
          <p:cNvPr id="7" name="stat label 0"/>
          <p:cNvSpPr txBox="1"/>
          <p:nvPr/>
        </p:nvSpPr>
        <p:spPr>
          <a:xfrm>
            <a:off x="7589520" y="210312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attack scenarios, A1 to A13</a:t>
            </a:r>
            <a:endParaRPr lang="en-US" sz="1800" dirty="0"/>
          </a:p>
        </p:txBody>
      </p:sp>
      <p:sp>
        <p:nvSpPr>
          <p:cNvPr id="8" name="stat 1"/>
          <p:cNvSpPr txBox="1"/>
          <p:nvPr/>
        </p:nvSpPr>
        <p:spPr>
          <a:xfrm>
            <a:off x="7589520" y="301752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12 / 13</a:t>
            </a:r>
            <a:endParaRPr lang="en-US" sz="4800" dirty="0"/>
          </a:p>
        </p:txBody>
      </p:sp>
      <p:sp>
        <p:nvSpPr>
          <p:cNvPr id="9" name="stat label 1"/>
          <p:cNvSpPr txBox="1"/>
          <p:nvPr/>
        </p:nvSpPr>
        <p:spPr>
          <a:xfrm>
            <a:off x="7589520" y="3886200"/>
            <a:ext cx="3931920" cy="457200"/>
          </a:xfrm>
          <a:prstGeom prst="rect">
            <a:avLst/>
          </a:prstGeom>
          <a:noFill/>
          <a:ln/>
        </p:spPr>
        <p:txBody>
          <a:bodyPr wrap="square" lIns="0" tIns="0" rIns="0" bIns="0" rtlCol="0" anchor="ctr"/>
          <a:lstStyle/>
          <a:p>
            <a:pPr indent="0" marL="0">
              <a:buNone/>
            </a:pPr>
            <a:r>
              <a:rPr lang="en-US" sz="1800" dirty="0">
                <a:solidFill>
                  <a:srgbClr val="FFFFFF"/>
                </a:solidFill>
              </a:rPr>
              <a:t>refused today (A11 neutral)</a:t>
            </a:r>
            <a:endParaRPr lang="en-US" sz="1800" dirty="0"/>
          </a:p>
        </p:txBody>
      </p:sp>
      <p:sp>
        <p:nvSpPr>
          <p:cNvPr id="10" name="stat 2"/>
          <p:cNvSpPr txBox="1"/>
          <p:nvPr/>
        </p:nvSpPr>
        <p:spPr>
          <a:xfrm>
            <a:off x="7589520" y="4800600"/>
            <a:ext cx="3931920" cy="914400"/>
          </a:xfrm>
          <a:prstGeom prst="rect">
            <a:avLst/>
          </a:prstGeom>
          <a:noFill/>
          <a:ln/>
        </p:spPr>
        <p:txBody>
          <a:bodyPr wrap="square" lIns="0" tIns="0" rIns="0" bIns="0" rtlCol="0" anchor="ctr"/>
          <a:lstStyle/>
          <a:p>
            <a:pPr algn="l" indent="0" marL="0">
              <a:buNone/>
            </a:pPr>
            <a:r>
              <a:rPr lang="en-US" sz="4800" b="1" dirty="0">
                <a:solidFill>
                  <a:srgbClr val="1FB5D6"/>
                </a:solidFill>
              </a:rPr>
              <a:t>46</a:t>
            </a:r>
            <a:endParaRPr lang="en-US" sz="4800" dirty="0"/>
          </a:p>
        </p:txBody>
      </p:sp>
      <p:sp>
        <p:nvSpPr>
          <p:cNvPr id="11" name="stat label 2"/>
          <p:cNvSpPr txBox="1"/>
          <p:nvPr/>
        </p:nvSpPr>
        <p:spPr>
          <a:xfrm>
            <a:off x="7589520" y="5669280"/>
            <a:ext cx="3931920" cy="457200"/>
          </a:xfrm>
          <a:prstGeom prst="rect">
            <a:avLst/>
          </a:prstGeom>
          <a:noFill/>
          <a:ln/>
        </p:spPr>
        <p:txBody>
          <a:bodyPr wrap="square" lIns="0" tIns="0" rIns="0" bIns="0" rtlCol="0" anchor="ctr"/>
          <a:lstStyle/>
          <a:p>
            <a:pPr indent="0" marL="0">
              <a:buNone/>
            </a:pPr>
            <a:r>
              <a:rPr lang="en-US" sz="1800" dirty="0">
                <a:solidFill>
                  <a:srgbClr val="FFFFFF"/>
                </a:solidFill>
              </a:rPr>
              <a:t>automated tests pass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143000"/>
          <a:ext cx="10881360" cy="914400"/>
        </p:xfrm>
        <a:graphic>
          <a:graphicData uri="http://schemas.openxmlformats.org/drawingml/2006/table">
            <a:tbl>
              <a:tblPr/>
              <a:tblGrid>
                <a:gridCol w="2377440"/>
                <a:gridCol w="2743200"/>
                <a:gridCol w="2468880"/>
                <a:gridCol w="3291840"/>
              </a:tblGrid>
              <a:tr h="457200">
                <a:tc>
                  <a:txBody>
                    <a:bodyPr/>
                    <a:lstStyle/>
                    <a:p>
                      <a:pPr indent="0" marL="0">
                        <a:buNone/>
                      </a:pPr>
                      <a:r>
                        <a:rPr lang="en-US" sz="1300" b="1" dirty="0">
                          <a:solidFill>
                            <a:srgbClr val="FFFFFF"/>
                          </a:solidFill>
                        </a:rPr>
                        <a:t>Metric</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Definition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Formula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Measured result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300" b="1" dirty="0">
                          <a:solidFill>
                            <a:srgbClr val="0B1F33"/>
                          </a:solidFill>
                        </a:rPr>
                        <a:t>Gas 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 consumed by each anchored transaction, from its receipt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gasUsed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Mint #1: 196,406; Revoke #1: 32,980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Transaction fee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paid for each anchored transaction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Fee = gasUsed × gasPrice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 fee above 0.00021 ETH (Sepolia ETH has no monetary value)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300" b="1" dirty="0">
                          <a:solidFill>
                            <a:srgbClr val="0B1F33"/>
                          </a:solidFill>
                        </a:rPr>
                        <a:t>Submit-to-confirmation latency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between the local event and the on-chain event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Latency = t(on-chain) − t(local)</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11.5 s (4.9 to 22.1 s, n = 5: 3 mints, 2 revokes)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1005840">
                <a:tc>
                  <a:txBody>
                    <a:bodyPr/>
                    <a:lstStyle/>
                    <a:p>
                      <a:pPr indent="0" marL="0">
                        <a:buNone/>
                      </a:pPr>
                      <a:r>
                        <a:rPr lang="en-US" sz="1300" b="1" dirty="0">
                          <a:solidFill>
                            <a:srgbClr val="0B1F33"/>
                          </a:solidFill>
                        </a:rPr>
                        <a:t>Processing time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each decision component over repeated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minimum and maximum over n runs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Decision rule 5.92 µs and credential check 6.42 ms (11 Oct); EIP‑712 signature recovery 10.93 ms; Groth16 proof 1,401.1 ms to generate, 465.3 ms to verify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300" b="1" dirty="0">
                          <a:solidFill>
                            <a:srgbClr val="0B1F33"/>
                          </a:solidFill>
                        </a:rPr>
                        <a:t>On-chain read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Time of a checkValid or checkValidAt call on Sepolia</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Median over n = 20</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573.5 ms and 574.6 ms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6126480"/>
            <a:ext cx="10881360" cy="320040"/>
          </a:xfrm>
          <a:prstGeom prst="rect">
            <a:avLst/>
          </a:prstGeom>
          <a:noFill/>
          <a:ln/>
        </p:spPr>
        <p:txBody>
          <a:bodyPr wrap="square" rtlCol="0" anchor="ctr"/>
          <a:lstStyle/>
          <a:p>
            <a:pPr algn="ctr" indent="0" marL="0">
              <a:buNone/>
            </a:pPr>
            <a:r>
              <a:rPr lang="en-US" sz="1200" i="1" dirty="0">
                <a:solidFill>
                  <a:srgbClr val="FFFFFF"/>
                </a:solidFill>
              </a:rPr>
              <a:t>Timings measured on 1 October 2026 (decision rule and credential check on 11 October 2026); gas, fees and latency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 PROCESSING TIME</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731520" y="1280160"/>
          <a:ext cx="5852160" cy="914400"/>
        </p:xfrm>
        <a:graphic>
          <a:graphicData uri="http://schemas.openxmlformats.org/drawingml/2006/table">
            <a:tbl>
              <a:tblPr/>
              <a:tblGrid>
                <a:gridCol w="1965960"/>
                <a:gridCol w="1005840"/>
                <a:gridCol w="1005840"/>
                <a:gridCol w="1188720"/>
                <a:gridCol w="685800"/>
              </a:tblGrid>
              <a:tr h="475488">
                <a:tc>
                  <a:txBody>
                    <a:bodyPr/>
                    <a:lstStyle/>
                    <a:p>
                      <a:pPr indent="0" marL="0">
                        <a:buNone/>
                      </a:pPr>
                      <a:r>
                        <a:rPr lang="en-US" sz="1100" b="1" dirty="0">
                          <a:solidFill>
                            <a:srgbClr val="FFFFFF"/>
                          </a:solidFill>
                        </a:rPr>
                        <a:t>Component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Median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Minimum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Maximum</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100" b="1" dirty="0">
                          <a:solidFill>
                            <a:srgbClr val="FFFFFF"/>
                          </a:solidFill>
                        </a:rPr>
                        <a:t>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75488">
                <a:tc>
                  <a:txBody>
                    <a:bodyPr/>
                    <a:lstStyle/>
                    <a:p>
                      <a:pPr indent="0" marL="0">
                        <a:buNone/>
                      </a:pPr>
                      <a:r>
                        <a:rPr lang="en-US" sz="1100" b="1" dirty="0">
                          <a:solidFill>
                            <a:srgbClr val="0B1F33"/>
                          </a:solidFill>
                        </a:rPr>
                        <a:t>Decision rule, five predicates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5.92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5.36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72.07 µs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1,000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EIP-712 signature recovery, one signature</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10.93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10.55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15.64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Credential check, one credential (11 Oct)</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6.42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6.18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8.33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generation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1,401.1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1,342.8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5,349.6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Groth16 proof verification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465.3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441.0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525.1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573.5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715.5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On-chain checkValidAt read</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574.6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568.2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745.6 ms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20</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75488">
                <a:tc>
                  <a:txBody>
                    <a:bodyPr/>
                    <a:lstStyle/>
                    <a:p>
                      <a:pPr indent="0" marL="0">
                        <a:buNone/>
                      </a:pPr>
                      <a:r>
                        <a:rPr lang="en-US" sz="1100" b="1" dirty="0">
                          <a:solidFill>
                            <a:srgbClr val="0B1F33"/>
                          </a:solidFill>
                        </a:rPr>
                        <a:t>Anchoring confirmation</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11.5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4.9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22.1 s</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100" dirty="0">
                          <a:solidFill>
                            <a:srgbClr val="0B1F33"/>
                          </a:solidFill>
                        </a:rPr>
                        <a:t>5</a:t>
                      </a:r>
                      <a:endParaRPr lang="en-US" sz="11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5" name="F42 panel"/>
          <p:cNvSpPr/>
          <p:nvPr/>
        </p:nvSpPr>
        <p:spPr>
          <a:xfrm>
            <a:off x="6812280" y="1280160"/>
            <a:ext cx="4709160" cy="2752344"/>
          </a:xfrm>
          <a:prstGeom prst="roundRect">
            <a:avLst>
              <a:gd name="adj" fmla="val 39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6" name="F42" descr="/tmp/deck/img/F42.png">    </p:cNvPr>
          <p:cNvPicPr>
            <a:picLocks noChangeAspect="1"/>
          </p:cNvPicPr>
          <p:nvPr/>
        </p:nvPicPr>
        <p:blipFill>
          <a:blip r:embed="rId1"/>
          <a:stretch>
            <a:fillRect/>
          </a:stretch>
        </p:blipFill>
        <p:spPr>
          <a:xfrm>
            <a:off x="6922008" y="1391965"/>
            <a:ext cx="4489704" cy="2528734"/>
          </a:xfrm>
          <a:prstGeom prst="rect">
            <a:avLst/>
          </a:prstGeom>
        </p:spPr>
      </p:pic>
      <p:sp>
        <p:nvSpPr>
          <p:cNvPr id="7" name="caption"/>
          <p:cNvSpPr txBox="1"/>
          <p:nvPr/>
        </p:nvSpPr>
        <p:spPr>
          <a:xfrm>
            <a:off x="6812280" y="4160520"/>
            <a:ext cx="4709160" cy="914400"/>
          </a:xfrm>
          <a:prstGeom prst="rect">
            <a:avLst/>
          </a:prstGeom>
          <a:noFill/>
          <a:ln/>
        </p:spPr>
        <p:txBody>
          <a:bodyPr wrap="square" rtlCol="0" anchor="t"/>
          <a:lstStyle/>
          <a:p>
            <a:pPr algn="ctr" indent="0" marL="0">
              <a:buNone/>
            </a:pPr>
            <a:r>
              <a:rPr lang="en-US" sz="1200" i="1" dirty="0">
                <a:solidFill>
                  <a:srgbClr val="FFFFFF"/>
                </a:solidFill>
              </a:rPr>
              <a:t>Timings measured on 1 October 2026 (decision rule and credential check on 11 October 2026); anchoring from the five Sepolia transactions of September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4" name="table"/>
          <p:cNvGraphicFramePr>
            <a:graphicFrameLocks noGrp="1"/>
          </p:cNvGraphicFramePr>
          <p:nvPr>
            <p:extLst>
              <p:ext uri="{D42A27DB-BD31-4B8C-83A1-F6EECF244321}">
                <p14:modId xmlns:p14="http://schemas.microsoft.com/office/powerpoint/2010/main" val="1579011935"/>
              </p:ext>
            </p:extLst>
          </p:nvPr>
        </p:nvGraphicFramePr>
        <p:xfrm>
          <a:off x="640080" y="1463040"/>
          <a:ext cx="10881360" cy="914400"/>
        </p:xfrm>
        <a:graphic>
          <a:graphicData uri="http://schemas.openxmlformats.org/drawingml/2006/table">
            <a:tbl>
              <a:tblPr/>
              <a:tblGrid>
                <a:gridCol w="1828800"/>
                <a:gridCol w="4206240"/>
                <a:gridCol w="4846320"/>
              </a:tblGrid>
              <a:tr h="5029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68580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Every access decision, allowed or denied, logged off-chain with its decision matrix</a:t>
                      </a:r>
                      <a:r>
                        <a:rPr lang="en-US" sz="1400" dirty="0">
                          <a:solidFill>
                            <a:srgbClr val="0B1F33"/>
                          </a:solidFill>
                        </a:rPr>
                        <a:t>;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50292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t>
                      </a:r>
                      <a:r>
                        <a:rPr lang="en-US" sz="1500" dirty="0">
                          <a:solidFill>
                            <a:srgbClr val="0B1F33"/>
                          </a:solidFill>
                        </a:rPr>
                        <a:t>and</a:t>
                      </a:r>
                      <a:r>
                        <a:rPr lang="en-US" sz="1500" dirty="0">
                          <a:solidFill>
                            <a:srgbClr val="0B1F33"/>
                          </a:solidFill>
                        </a:rPr>
                        <a:t>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Every access decision, allowed or denied, is recorded in the off-chain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a:t>
            </a:r>
            <a:r>
              <a:rPr lang="en-US" sz="1600" dirty="0">
                <a:solidFill>
                  <a:srgbClr val="0B1F33"/>
                </a:solidFill>
              </a:rPr>
              <a:t>lifecycle</a:t>
            </a:r>
            <a:r>
              <a:rPr lang="en-US" sz="1600" dirty="0">
                <a:solidFill>
                  <a:srgbClr val="0B1F33"/>
                </a:solidFill>
              </a:rPr>
              <a:t>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thirteen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Final assessment</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4"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Abbasi, A., Humeidi, M.N. &amp; Wang, Q. 2026, 'Nexa: Enabling secure, scalable, and decentralized management of electronic health records using threshold cryptography and public blockchains', IEEE Access, vol. 14, pp. 50791–50810, &lt;https://doi.org/10.1109/ACCESS.2026.3677499&gt;.</a:t>
            </a:r>
            <a:endParaRPr lang="en-US" sz="1000" dirty="0"/>
          </a:p>
          <a:p>
            <a:pPr indent="0" marL="0">
              <a:spcAft>
                <a:spcPts val="400"/>
              </a:spcAft>
              <a:buNone/>
            </a:pPr>
            <a:r>
              <a:rPr lang="en-US" sz="1000" dirty="0">
                <a:solidFill>
                  <a:srgbClr val="0B1F33"/>
                </a:solidFill>
              </a:rPr>
              <a:t>Al Amin, M., Altarawneh, A. &amp; Ray, I. 2023, 'Informed consent as patient driven policy for clinical diagnosis and treatment: A smart contract based approach', Proceedings of the 20th International Conference on Security and Cryptography (SECRYPT 2023), pp. 159–170, SciTePress, &lt;https://doi.org/10.5220/0012090600003555&gt;.</a:t>
            </a:r>
            <a:endParaRPr lang="en-US" sz="1000" dirty="0"/>
          </a:p>
          <a:p>
            <a:pPr indent="0" marL="0">
              <a:spcAft>
                <a:spcPts val="400"/>
              </a:spcAft>
              <a:buNone/>
            </a:pPr>
            <a:r>
              <a:rPr lang="en-US" sz="1000" dirty="0">
                <a:solidFill>
                  <a:srgbClr val="0B1F33"/>
                </a:solidFill>
              </a:rPr>
              <a:t>Albalwy, F., Brass, A. &amp; Davies, A. 2021, 'A blockchain-based dynamic consent architecture to support clinical genomic data sharing (ConsentChain): Proof-of-concept study', JMIR Medical Informatics, vol. 9, no. 11, p. e27816, &lt;https://doi.org/10.2196/27816&gt;.</a:t>
            </a:r>
            <a:endParaRPr lang="en-US" sz="1000" dirty="0"/>
          </a:p>
          <a:p>
            <a:pPr indent="0" marL="0">
              <a:spcAft>
                <a:spcPts val="400"/>
              </a:spcAft>
              <a:buNone/>
            </a:pPr>
            <a:r>
              <a:rPr lang="en-US" sz="1000" dirty="0">
                <a:solidFill>
                  <a:srgbClr val="0B1F33"/>
                </a:solidFill>
              </a:rPr>
              <a:t>Bloemen, R., Logvinov, L. &amp; Evans, J. 2017, EIP-712: Typed structured data hashing and signing, Ethereum Improvement Proposals, no. 712, viewed 6 October 2026, &lt;https://eips.ethereum.org/EIPS/eip-712&gt;.</a:t>
            </a:r>
            <a:endParaRPr lang="en-US" sz="1000" dirty="0"/>
          </a:p>
          <a:p>
            <a:pPr indent="0" marL="0">
              <a:spcAft>
                <a:spcPts val="400"/>
              </a:spcAft>
              <a:buNone/>
            </a:pPr>
            <a:r>
              <a:rPr lang="en-US" sz="1000" dirty="0">
                <a:solidFill>
                  <a:srgbClr val="0B1F33"/>
                </a:solidFill>
              </a:rPr>
              <a:t>Cai, B. 2022, ERC-5484: Consensual soulbound tokens, Ethereum Improvement Proposals, no. 5484, viewed 6 October 2026, &lt;https://eips.ethereum.org/EIPS/eip-5484&gt;.</a:t>
            </a:r>
            <a:endParaRPr lang="en-US" sz="1000" dirty="0"/>
          </a:p>
          <a:p>
            <a:pPr indent="0" marL="0">
              <a:spcAft>
                <a:spcPts val="400"/>
              </a:spcAft>
              <a:buNone/>
            </a:pPr>
            <a:r>
              <a:rPr lang="en-US" sz="1000" dirty="0">
                <a:solidFill>
                  <a:srgbClr val="0B1F33"/>
                </a:solidFill>
              </a:rPr>
              <a:t>Ekholm, K., Augustinsson, A., Sundström, J., Johansen, C., Storgärds, M., Ljöstad, L. et al. 2025, 'Implementing electronic informed consent in rare disease genomics', Scientific Reports, vol. 15, no. 1, p. 44419, &lt;https://doi.org/10.1038/s41598-025-32740-1&gt;.</a:t>
            </a:r>
            <a:endParaRPr lang="en-US" sz="1000" dirty="0"/>
          </a:p>
          <a:p>
            <a:pPr indent="0" marL="0">
              <a:spcAft>
                <a:spcPts val="400"/>
              </a:spcAft>
              <a:buNone/>
            </a:pPr>
            <a:r>
              <a:rPr lang="en-US" sz="1000" dirty="0">
                <a:solidFill>
                  <a:srgbClr val="0B1F33"/>
                </a:solidFill>
              </a:rPr>
              <a:t>Eneh, A.U., Ahakonye, L.A.C., Lee, J.M. &amp; Kim, D.-S. 2026, 'Demo: EdgeConsent: On-chain attribute-based access control for data consent management', 2026 IEEE International Conference on Blockchain and Cryptocurrency (ICBC), pp. 1–2, &lt;https://doi.org/10.1109/ICBC67748.2026.11575534&gt;.</a:t>
            </a:r>
            <a:endParaRPr lang="en-US" sz="1000" dirty="0"/>
          </a:p>
          <a:p>
            <a:pPr indent="0" marL="0">
              <a:spcAft>
                <a:spcPts val="400"/>
              </a:spcAft>
              <a:buNone/>
            </a:pPr>
            <a:r>
              <a:rPr lang="en-US" sz="1000" dirty="0">
                <a:solidFill>
                  <a:srgbClr val="0B1F33"/>
                </a:solidFill>
              </a:rPr>
              <a:t>Entriken, W., Shirley, D., Evans, J. &amp; Sachs, N. 2018, ERC-721: Non-fungible token standard, Ethereum Improvement Proposals, no. 721, viewed 6 October 2026, &lt;https://eips.ethereum.org/EIPS/eip-721&gt;.</a:t>
            </a:r>
            <a:endParaRPr lang="en-US" sz="1000" dirty="0"/>
          </a:p>
          <a:p>
            <a:pPr indent="0" marL="0">
              <a:spcAft>
                <a:spcPts val="400"/>
              </a:spcAft>
              <a:buNone/>
            </a:pPr>
            <a:r>
              <a:rPr lang="en-US" sz="1000" dirty="0">
                <a:solidFill>
                  <a:srgbClr val="0B1F33"/>
                </a:solidFill>
              </a:rPr>
              <a:t>Ethereum Foundation 2026b, Networks, ethereum.org developer documentation, viewed 7 October 2026, &lt;https://ethereum.org/en/developers/docs/networks/&gt;.</a:t>
            </a:r>
            <a:endParaRPr lang="en-US" sz="1000" dirty="0"/>
          </a:p>
          <a:p>
            <a:pPr indent="0" marL="0">
              <a:spcAft>
                <a:spcPts val="400"/>
              </a:spcAft>
              <a:buNone/>
            </a:pPr>
            <a:r>
              <a:rPr lang="en-US" sz="1000" dirty="0">
                <a:solidFill>
                  <a:srgbClr val="0B1F33"/>
                </a:solidFill>
              </a:rPr>
              <a:t>Grassi, L., Khovratovich, D., Rechberger, C., Roy, A. &amp; Schofnegger, M. 2021, 'Poseidon: A new hash function for zero-knowledge proof systems', Proceedings of the 30th USENIX Security Symposium, pp. 519–535.</a:t>
            </a:r>
            <a:endParaRPr lang="en-US" sz="1000" dirty="0"/>
          </a:p>
          <a:p>
            <a:pPr indent="0" marL="0">
              <a:spcAft>
                <a:spcPts val="400"/>
              </a:spcAft>
              <a:buNone/>
            </a:pPr>
            <a:r>
              <a:rPr lang="en-US" sz="1000" dirty="0">
                <a:solidFill>
                  <a:srgbClr val="0B1F33"/>
                </a:solidFill>
              </a:rPr>
              <a:t>Groth, J. 2016, 'On the size of pairing-based non-interactive arguments', Advances in Cryptology – EUROCRYPT 2016, LNCS, vol. 9666, pp. 305–326, Springer, &lt;https://doi.org/10.1007/978-3-662-49896-5_11&gt;.</a:t>
            </a:r>
            <a:endParaRPr lang="en-US" sz="1000" dirty="0"/>
          </a:p>
          <a:p>
            <a:pPr indent="0" marL="0">
              <a:spcAft>
                <a:spcPts val="400"/>
              </a:spcAft>
              <a:buNone/>
            </a:pPr>
            <a:r>
              <a:rPr lang="en-US" sz="1000" dirty="0">
                <a:solidFill>
                  <a:srgbClr val="0B1F33"/>
                </a:solidFill>
              </a:rPr>
              <a:t>Hagström, J., Hägglund, M., Holmroos, M., Lähteenmäki, P. &amp; Hörhammer, I. 2024, 'Minors’ and guardian access to and use of a national patient portal: A retrospective comparative case study of Sweden and Finland', International Journal of Medical Informatics, vol. 187, p. 105465, &lt;https://doi.org/10.1016/j.ijmedinf.2024.105465&gt;.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Hema, S., Reddy, G.B.S. &amp; Shalini, R. 2026, 'Patient centric cryptographic protection of cloud electronic health records', 2026 6th International Conference on Expert Clouds and Applications (ICOECA), pp. 293–300, &lt;https://doi.org/10.1109/ICOECA68095.2026.11485301&gt;.</a:t>
            </a:r>
            <a:endParaRPr lang="en-US" sz="1000" dirty="0"/>
          </a:p>
          <a:p>
            <a:pPr indent="0" marL="0">
              <a:spcAft>
                <a:spcPts val="400"/>
              </a:spcAft>
              <a:buNone/>
            </a:pPr>
            <a:r>
              <a:rPr lang="en-US" sz="1000" dirty="0">
                <a:solidFill>
                  <a:srgbClr val="0B1F33"/>
                </a:solidFill>
              </a:rPr>
              <a:t>HL7 International 2019, HL7 FHIR Release 4 (R4), viewed 7 October 2026, &lt;https://hl7.org/fhir/R4/&gt;.</a:t>
            </a:r>
            <a:endParaRPr lang="en-US" sz="1000" dirty="0"/>
          </a:p>
          <a:p>
            <a:pPr indent="0" marL="0">
              <a:spcAft>
                <a:spcPts val="400"/>
              </a:spcAft>
              <a:buNone/>
            </a:pPr>
            <a:r>
              <a:rPr lang="en-US" sz="1000" dirty="0">
                <a:solidFill>
                  <a:srgbClr val="0B1F33"/>
                </a:solidFill>
              </a:rPr>
              <a:t>Jaiman, V. &amp; Urovi, V. 2020, 'A consent model for blockchain-based health data sharing platforms', IEEE Access, vol. 8, pp. 143734–143745, &lt;https://doi.org/10.1109/ACCESS.2020.3014565&gt;.</a:t>
            </a:r>
            <a:endParaRPr lang="en-US" sz="1000" dirty="0"/>
          </a:p>
          <a:p>
            <a:pPr indent="0" marL="0">
              <a:spcAft>
                <a:spcPts val="400"/>
              </a:spcAft>
              <a:buNone/>
            </a:pPr>
            <a:r>
              <a:rPr lang="en-US" sz="1000" dirty="0">
                <a:solidFill>
                  <a:srgbClr val="0B1F33"/>
                </a:solidFill>
              </a:rPr>
              <a:t>Li, H., Li, D., Lv, G., Crespi, N., Minerva, R., Shao, W. et al. 2026a, 'Privacy-preserving fine-grained EMR access control for IoMT: A hybrid RBAC-smart contract scheme with attribute-based authorization', IEEE Internet of Things Journal, vol. 13, no. 2, pp. 2970–2987, &lt;https://doi.org/10.1109/JIOT.2025.3633504&gt;.</a:t>
            </a:r>
            <a:endParaRPr lang="en-US" sz="1000" dirty="0"/>
          </a:p>
          <a:p>
            <a:pPr indent="0" marL="0">
              <a:spcAft>
                <a:spcPts val="400"/>
              </a:spcAft>
              <a:buNone/>
            </a:pPr>
            <a:r>
              <a:rPr lang="en-US" sz="1000" dirty="0">
                <a:solidFill>
                  <a:srgbClr val="0B1F33"/>
                </a:solidFill>
              </a:rPr>
              <a:t>Madine, M.M., Salah, K., Jayaraman, R., Yaqoob, I., Al-Hammadi, Y., Ellahham, S. et al. 2020, 'Fully decentralized multi-party consent management for secure sharing of patient health records', IEEE Access, vol. 8, pp. 225777–225791, &lt;https://doi.org/10.1109/ACCESS.2020.3045048&gt;.</a:t>
            </a:r>
            <a:endParaRPr lang="en-US" sz="1000" dirty="0"/>
          </a:p>
          <a:p>
            <a:pPr indent="0" marL="0">
              <a:spcAft>
                <a:spcPts val="400"/>
              </a:spcAft>
              <a:buNone/>
            </a:pPr>
            <a:r>
              <a:rPr lang="en-US" sz="1000" dirty="0">
                <a:solidFill>
                  <a:srgbClr val="0B1F33"/>
                </a:solidFill>
              </a:rPr>
              <a:t>Maruthi, V. &amp; Singh, K. 2025, 'Enhancing security and privacy of IoMT data for unconscious patient with blockchain', IEEE Transactions on Network and Service Management, vol. 22, no. 6, pp. 5223–5238, &lt;https://doi.org/10.1109/TNSM.2025.3602117&gt;.</a:t>
            </a:r>
            <a:endParaRPr lang="en-US" sz="1000" dirty="0"/>
          </a:p>
          <a:p>
            <a:pPr indent="0" marL="0">
              <a:spcAft>
                <a:spcPts val="400"/>
              </a:spcAft>
              <a:buNone/>
            </a:pPr>
            <a:r>
              <a:rPr lang="en-US" sz="1000" dirty="0">
                <a:solidFill>
                  <a:srgbClr val="0B1F33"/>
                </a:solidFill>
              </a:rPr>
              <a:t>Mei, L., Huang, K., Li, X., Wang, H. &amp; Zhang, X. 2026, 'Efficient dual-revocation CP-ABE for secure and fine-grained data sharing in IoMT', IEEE Internet of Things Journal, vol. 13, no. 14, pp. 30933–30940, &lt;https://doi.org/10.1109/JIOT.2026.3685269&gt;.</a:t>
            </a:r>
            <a:endParaRPr lang="en-US" sz="1000" dirty="0"/>
          </a:p>
          <a:p>
            <a:pPr indent="0" marL="0">
              <a:spcAft>
                <a:spcPts val="400"/>
              </a:spcAft>
              <a:buNone/>
            </a:pPr>
            <a:r>
              <a:rPr lang="en-US" sz="1000" dirty="0">
                <a:solidFill>
                  <a:srgbClr val="0B1F33"/>
                </a:solidFill>
              </a:rPr>
              <a:t>Page, M.J., McKenzie, J.E., Bossuyt, P.M., Boutron, I., Hoffmann, T.C., Mulrow, C.D. et al. 2021, 'The PRISMA 2020 statement: An updated guideline for reporting systematic reviews', BMJ, vol. 372, p. n71, &lt;https://doi.org/10.1136/bmj.n71&gt;.</a:t>
            </a:r>
            <a:endParaRPr lang="en-US" sz="1000" dirty="0"/>
          </a:p>
          <a:p>
            <a:pPr indent="0" marL="0">
              <a:spcAft>
                <a:spcPts val="400"/>
              </a:spcAft>
              <a:buNone/>
            </a:pPr>
            <a:r>
              <a:rPr lang="en-US" sz="1000" dirty="0">
                <a:solidFill>
                  <a:srgbClr val="0B1F33"/>
                </a:solidFill>
              </a:rPr>
              <a:t>Panagoulias, D.P., Damian, A.I., Stamate, C., Toderian, V., Butusina, P., De Franceschi, A. et al. 2026, 'Blockchain-enabled trust and compliance for clinical AI: Decentralized governance without decentralized data storage', Electronics, vol. 15, no. 14, p. 3046, &lt;https://doi.org/10.3390/electronics15143046&gt;.</a:t>
            </a:r>
            <a:endParaRPr lang="en-US" sz="1000" dirty="0"/>
          </a:p>
          <a:p>
            <a:pPr indent="0" marL="0">
              <a:spcAft>
                <a:spcPts val="400"/>
              </a:spcAft>
              <a:buNone/>
            </a:pPr>
            <a:r>
              <a:rPr lang="en-US" sz="1000" dirty="0">
                <a:solidFill>
                  <a:srgbClr val="0B1F33"/>
                </a:solidFill>
              </a:rPr>
              <a:t>Phuyal, S., Bhandari, M., Bista, R. &amp; Ferreira, J.C. 2026a, 'A blockchain-based architecture for dynamic and auditable patient consent in secondary use of health data', Blockchain in Healthcare Today, vol. 9, no. 1, p. 491, &lt;https://doi.org/10.30953/bhty.v9.491&gt;.</a:t>
            </a:r>
            <a:endParaRPr lang="en-US" sz="1000" dirty="0"/>
          </a:p>
          <a:p>
            <a:pPr indent="0" marL="0">
              <a:spcAft>
                <a:spcPts val="400"/>
              </a:spcAft>
              <a:buNone/>
            </a:pPr>
            <a:r>
              <a:rPr lang="en-US" sz="1000" dirty="0">
                <a:solidFill>
                  <a:srgbClr val="0B1F33"/>
                </a:solidFill>
              </a:rPr>
              <a:t>Phuyal, S., Bhandari, M., Bista, R. &amp; Ferreira, J.C. 2026b, 'Enabling cross-institution health data sharing in Norway: EUDI wallets, on-chain consent, and openEHR↔FHIR translation', IEEE Access, vol. 14, pp. 20309–20327, &lt;https://doi.org/10.1109/ACCESS.2026.3661642&gt;.</a:t>
            </a:r>
            <a:endParaRPr lang="en-US" sz="1000" dirty="0"/>
          </a:p>
          <a:p>
            <a:pPr indent="0" marL="0">
              <a:spcAft>
                <a:spcPts val="400"/>
              </a:spcAft>
              <a:buNone/>
            </a:pPr>
            <a:r>
              <a:rPr lang="en-US" sz="1000" dirty="0">
                <a:solidFill>
                  <a:srgbClr val="0B1F33"/>
                </a:solidFill>
              </a:rPr>
              <a:t>Punia, A., Gulia, P., Gill, N.S., Kaushik, D., Alduaiji, N., Shukla, P.K. et al. 2025, 'An access control system for cloud-based healthcare systems driven by blockchain', Journal of Cloud Computing, vol. 14, no. 1, p. 78, &lt;https://doi.org/10.1186/s13677-025-00831-z&gt;.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a:t>
            </a:r>
            <a:r>
              <a:rPr lang="en-US" sz="3000" b="1" dirty="0">
                <a:solidFill>
                  <a:srgbClr val="FFFFFF"/>
                </a:solidFill>
                <a:latin typeface="Arial" pitchFamily="34" charset="0"/>
                <a:ea typeface="Arial" pitchFamily="34" charset="-122"/>
                <a:cs typeface="Arial" pitchFamily="34" charset="-120"/>
              </a:rPr>
              <a:t>3</a:t>
            </a:r>
            <a:r>
              <a:rPr lang="en-US" sz="3000" b="1" dirty="0">
                <a:solidFill>
                  <a:srgbClr val="FFFFFF"/>
                </a:solidFill>
                <a:latin typeface="Arial" pitchFamily="34" charset="0"/>
                <a:ea typeface="Arial" pitchFamily="34" charset="-122"/>
                <a:cs typeface="Arial" pitchFamily="34" charset="-120"/>
              </a:rPr>
              <a:t>)</a:t>
            </a:r>
            <a:endParaRPr lang="en-US" sz="3000" dirty="0"/>
          </a:p>
        </p:txBody>
      </p:sp>
      <p:sp>
        <p:nvSpPr>
          <p:cNvPr id="3" name="references panel"/>
          <p:cNvSpPr/>
          <p:nvPr/>
        </p:nvSpPr>
        <p:spPr>
          <a:xfrm>
            <a:off x="640080" y="1051560"/>
            <a:ext cx="10881360" cy="5257800"/>
          </a:xfrm>
          <a:prstGeom prst="roundRect">
            <a:avLst>
              <a:gd name="adj" fmla="val 208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822960" y="1143000"/>
            <a:ext cx="10515600" cy="5074920"/>
          </a:xfrm>
          <a:prstGeom prst="rect">
            <a:avLst/>
          </a:prstGeom>
          <a:noFill/>
          <a:ln/>
        </p:spPr>
        <p:txBody>
          <a:bodyPr wrap="square" rtlCol="0" anchor="t"/>
          <a:lstStyle/>
          <a:p>
            <a:pPr indent="0" marL="0">
              <a:spcAft>
                <a:spcPts val="400"/>
              </a:spcAft>
              <a:buNone/>
            </a:pPr>
            <a:r>
              <a:rPr lang="en-US" sz="1000" dirty="0">
                <a:solidFill>
                  <a:srgbClr val="0B1F33"/>
                </a:solidFill>
              </a:rPr>
              <a:t>Román-Martínez, I., Calvillo-Arbizu, J., Mayor-Gallego, V.J., Madinabeitia-Luque, G., Estepa-Alonso, A.J. &amp; Estepa-Alonso, R.M. 2023, 'Blockchain-based service-oriented architecture for consent management, access control, and auditing', IEEE Access, vol. 11, pp. 12727–12741, &lt;https://doi.org/10.1109/ACCESS.2023.3242605&gt;.</a:t>
            </a:r>
            <a:endParaRPr lang="en-US" sz="1000" dirty="0"/>
          </a:p>
          <a:p>
            <a:pPr indent="0" marL="0">
              <a:spcAft>
                <a:spcPts val="400"/>
              </a:spcAft>
              <a:buNone/>
            </a:pPr>
            <a:r>
              <a:rPr lang="en-US" sz="1000" dirty="0">
                <a:solidFill>
                  <a:srgbClr val="0B1F33"/>
                </a:solidFill>
              </a:rPr>
              <a:t>SooHoo, S.L., Keller, M.S., Chen, Y., Hu, D., Huang, S.-C., Kuo, T.-T. et al. 2026, 'Development of the authentication and authorization processes for the iAgree portal, a platform for patient-controlled data sharing across health systems', JAMIA Open, vol. 9, no. 3, p. ooag111, &lt;https://doi.org/10.1093/jamiaopen/ooag111&gt;.</a:t>
            </a:r>
            <a:endParaRPr lang="en-US" sz="1000" dirty="0"/>
          </a:p>
          <a:p>
            <a:pPr indent="0" marL="0">
              <a:spcAft>
                <a:spcPts val="400"/>
              </a:spcAft>
              <a:buNone/>
            </a:pPr>
            <a:r>
              <a:rPr lang="en-US" sz="1000" dirty="0">
                <a:solidFill>
                  <a:srgbClr val="0B1F33"/>
                </a:solidFill>
              </a:rPr>
              <a:t>Tan, K.-L., Chi, C.-H. &amp; Lam, K.-Y. 2024, 'Secure and privacy-preserving sharing of personal health records with multi-party pre-authorization verification', Wireless Networks, vol. 30, no. 4, pp. 4773–4795, &lt;https://doi.org/10.1007/s11276-022-03114-6&gt;.</a:t>
            </a:r>
            <a:endParaRPr lang="en-US" sz="1000" dirty="0"/>
          </a:p>
          <a:p>
            <a:pPr indent="0" marL="0">
              <a:spcAft>
                <a:spcPts val="400"/>
              </a:spcAft>
              <a:buNone/>
            </a:pPr>
            <a:r>
              <a:rPr lang="en-US" sz="1000" dirty="0">
                <a:solidFill>
                  <a:srgbClr val="0B1F33"/>
                </a:solidFill>
              </a:rPr>
              <a:t>Tith, D., Lee, J.-S., Suzuki, H., Wijesundara, W.M.A.B., Taira, N., Obi, T. et al. 2020, 'Patient consent management by a purpose-based consent model for electronic health record based on blockchain technology', Healthcare Informatics Research, vol. 26, no. 4, pp. 265–273, &lt;https://doi.org/10.4258/hir.2020.26.4.265&gt;.</a:t>
            </a:r>
            <a:endParaRPr lang="en-US" sz="1000" dirty="0"/>
          </a:p>
          <a:p>
            <a:pPr indent="0" marL="0">
              <a:spcAft>
                <a:spcPts val="400"/>
              </a:spcAft>
              <a:buNone/>
            </a:pPr>
            <a:r>
              <a:rPr lang="en-US" sz="1000" dirty="0">
                <a:solidFill>
                  <a:srgbClr val="0B1F33"/>
                </a:solidFill>
              </a:rPr>
              <a:t>Tremper, G., Brenner, T., Ben Amor, M., Kussel, T. &amp; Lablans, M. 2026, 'Mainzelliste: Ten years of pseudonymization, record linkage, and informed consent management', Patterns, vol. 7, no. 1, p. 101432, &lt;https://doi.org/10.1016/j.patter.2025.101432&gt;.</a:t>
            </a:r>
            <a:endParaRPr lang="en-US" sz="1000" dirty="0"/>
          </a:p>
          <a:p>
            <a:pPr indent="0" marL="0">
              <a:spcAft>
                <a:spcPts val="400"/>
              </a:spcAft>
              <a:buNone/>
            </a:pPr>
            <a:r>
              <a:rPr lang="en-US" sz="1000" dirty="0">
                <a:solidFill>
                  <a:srgbClr val="0B1F33"/>
                </a:solidFill>
              </a:rPr>
              <a:t>Tseng, C.-H., Hsieh, Y.-H., Lin, H.-Y. &amp; Yuan, S.-M. 2025, 'EMR-Chain: Decentralized electronic medical record exchange system', Technologies, vol. 13, no. 10, p. 446, &lt;https://doi.org/10.3390/technologies13100446&gt;.</a:t>
            </a:r>
            <a:endParaRPr lang="en-US" sz="1000" dirty="0"/>
          </a:p>
          <a:p>
            <a:pPr indent="0" marL="0">
              <a:spcAft>
                <a:spcPts val="400"/>
              </a:spcAft>
              <a:buNone/>
            </a:pPr>
            <a:r>
              <a:rPr lang="en-US" sz="1000" dirty="0">
                <a:solidFill>
                  <a:srgbClr val="0B1F33"/>
                </a:solidFill>
              </a:rPr>
              <a:t>Walonoski, J., Kramer, M., Nichols, J., Quina, A., Moesel, C., Hall, D. et al. 2018, 'Synthea: An approach, method, and software mechanism for generating synthetic patients and the synthetic electronic health care record', Journal of the American Medical Informatics Association, vol. 25, no. 3, pp. 230–238, &lt;https://doi.org/10.1093/jamia/ocx079&gt;.</a:t>
            </a:r>
            <a:endParaRPr lang="en-US" sz="1000" dirty="0"/>
          </a:p>
          <a:p>
            <a:pPr indent="0" marL="0">
              <a:spcAft>
                <a:spcPts val="400"/>
              </a:spcAft>
              <a:buNone/>
            </a:pPr>
            <a:r>
              <a:rPr lang="en-US" sz="1000" dirty="0">
                <a:solidFill>
                  <a:srgbClr val="0B1F33"/>
                </a:solidFill>
              </a:rPr>
              <a:t>Wood, G. 2014, Ethereum: A secure decentralised generalised transaction ledger, Ethereum Project Yellow Paper.</a:t>
            </a:r>
            <a:endParaRPr lang="en-US" sz="1000" dirty="0"/>
          </a:p>
          <a:p>
            <a:pPr indent="0" marL="0">
              <a:spcAft>
                <a:spcPts val="400"/>
              </a:spcAft>
              <a:buNone/>
            </a:pPr>
            <a:r>
              <a:rPr lang="en-US" sz="1000" dirty="0">
                <a:solidFill>
                  <a:srgbClr val="0B1F33"/>
                </a:solidFill>
              </a:rPr>
              <a:t>Wu, Y., Liu, C., Sebald, L., Nguyen, P. &amp; Yesha, Y. 2022, 'Apply trust computing and privacy preserving smart contracts to manage, share, and analyze multi-site clinical trial data', Proceedings of the International Conference on Deep Learning, Big Data and Blockchain (DBB 2022), LNNS, vol. 541, pp. 3–14, Springer, &lt;https://doi.org/10.1007/978-3-031-16035-6_1&gt;.</a:t>
            </a:r>
            <a:endParaRPr lang="en-US" sz="1000" dirty="0"/>
          </a:p>
          <a:p>
            <a:pPr indent="0" marL="0">
              <a:spcAft>
                <a:spcPts val="400"/>
              </a:spcAft>
              <a:buNone/>
            </a:pPr>
            <a:r>
              <a:rPr lang="en-US" sz="1000" dirty="0">
                <a:solidFill>
                  <a:srgbClr val="0B1F33"/>
                </a:solidFill>
              </a:rPr>
              <a:t>Wu, Z. &amp; Zhang, D. 2025, 'HealthDID: An efficient and authorizable multi-party privacy-preserving EMR sharing system based on DID', Computer Standards &amp; Interfaces, vol. 93, p. 103967, &lt;https://doi.org/10.1016/j.csi.2024.103967&gt;.</a:t>
            </a:r>
            <a:endParaRPr lang="en-US" sz="1000" dirty="0"/>
          </a:p>
          <a:p>
            <a:pPr indent="0" marL="0">
              <a:spcAft>
                <a:spcPts val="400"/>
              </a:spcAft>
              <a:buNone/>
            </a:pPr>
            <a:r>
              <a:rPr lang="en-US" sz="1000" dirty="0">
                <a:solidFill>
                  <a:srgbClr val="0B1F33"/>
                </a:solidFill>
              </a:rPr>
              <a:t>Zhao, J. &amp; Su, Q. 2024, 'A threshold traceable delegation authorization scheme for data sharing in healthcare', Computers &amp; Security, vol. 139, p. 103686, &lt;https://doi.org/10.1016/j.cose.2023.103686&gt;.</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latin typeface="Arial" pitchFamily="34" charset="0"/>
                <a:ea typeface="Arial" pitchFamily="34" charset="-122"/>
                <a:cs typeface="Arial" pitchFamily="34" charset="-120"/>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Trust Consent">
  <a:themeElements>
    <a:clrScheme name="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Authorisation Framework for Multi-Party Patient Consent in Healthcare Data Sharing</dc:title>
  <dc:subject>Candidature Reassessment</dc:subject>
  <dc:creator>Yasir Dhaifallah O Alyoubi</dc:creator>
  <cp:lastModifiedBy>Yasir Dhaifallah O Alyoubi</cp:lastModifiedBy>
  <cp:revision>1</cp:revision>
  <dcterms:created xsi:type="dcterms:W3CDTF">2026-10-12T09:40:14Z</dcterms:created>
  <dcterms:modified xsi:type="dcterms:W3CDTF">2026-10-12T09:40:14Z</dcterms:modified>
</cp:coreProperties>
</file>
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4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91" r:id="rId4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A6942778-0A59-C3A1-24F4-DFEFB294A139}">
          <p14:sldIdLst>
            <p14:sldId id="256"/>
            <p14:sldId id="257"/>
          </p14:sldIdLst>
        </p14:section>
        <p14:section name="The Problem" id="{96F6FDF1-3C7D-C7BC-4CB4-44E808112E56}">
          <p14:sldIdLst>
            <p14:sldId id="258"/>
            <p14:sldId id="259"/>
          </p14:sldIdLst>
        </p14:section>
        <p14:section name="Literature Review" id="{AA021B7A-1D89-DD7B-6EEA-931123681486}">
          <p14:sldIdLst>
            <p14:sldId id="304"/>
            <p14:sldId id="305"/>
            <p14:sldId id="306"/>
            <p14:sldId id="307"/>
            <p14:sldId id="308"/>
            <p14:sldId id="309"/>
            <p14:sldId id="312"/>
            <p14:sldId id="313"/>
          </p14:sldIdLst>
        </p14:section>
        <p14:section name="Gap, Questions and Objectives" id="{ACB741F8-7344-E54E-3520-6B498F895C17}">
          <p14:sldIdLst>
            <p14:sldId id="262"/>
            <p14:sldId id="302"/>
            <p14:sldId id="263"/>
            <p14:sldId id="264"/>
            <p14:sldId id="410"/>
          </p14:sldIdLst>
        </p14:section>
        <p14:section name="The Framework" id="{4674AA55-3218-DA15-E297-A596FB9CE1A2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8"/>
          </p14:sldIdLst>
        </p14:section>
        <p14:section name="Demo: The HALAH Prototype" id="{611104C4-4282-3E95-1D48-D00FE3F4F3EA}">
          <p14:sldIdLst>
            <p14:sldId id="292"/>
            <p14:sldId id="413"/>
            <p14:sldId id="293"/>
            <p14:sldId id="294"/>
            <p14:sldId id="295"/>
            <p14:sldId id="296"/>
            <p14:sldId id="297"/>
          </p14:sldIdLst>
        </p14:section>
        <p14:section name="Validation and Evaluation" id="{38214D88-01AF-845D-D65A-C9A4BC2C85DF}">
          <p14:sldIdLst>
            <p14:sldId id="280"/>
            <p14:sldId id="281"/>
            <p14:sldId id="282"/>
          </p14:sldIdLst>
        </p14:section>
        <p14:section name="Contribution" id="{EB11EB97-8735-E73D-577A-B2BB861A5EB4}">
          <p14:sldIdLst>
            <p14:sldId id="284"/>
            <p14:sldId id="285"/>
            <p14:sldId id="412"/>
            <p14:sldId id="411"/>
          </p14:sldIdLst>
        </p14:section>
        <p14:section name="Research Plan" id="{1F39EFB8-3D03-66B5-86E7-768BA670C7C2}">
          <p14:sldIdLst>
            <p14:sldId id="289"/>
            <p14:sldId id="290"/>
            <p14:sldId id="291"/>
          </p14:sldIdLst>
        </p14:section>
        <p14:section name="References" id="{40AA16BB-153B-BBB1-53BB-0EB6F21829F3}">
          <p14:sldIdLst>
            <p14:sldId id="300"/>
          </p14:sldIdLst>
        </p14:section>
        <p14:section name="Thank You" id="{FD86D728-DF0D-F8E8-99EB-24A0646BFE01}">
          <p14:sldIdLst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78954" autoAdjust="0"/>
  </p:normalViewPr>
  <p:slideViewPr>
    <p:cSldViewPr snapToGrid="0" snapToObjects="1">
      <p:cViewPr>
        <p:scale>
          <a:sx n="62" d="100"/>
          <a:sy n="62" d="100"/>
        </p:scale>
        <p:origin x="1258" y="12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8467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65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same plan as a timeline. Chapters one to seven and the BWCCA conference paper are done. The SLR journal paper is ready for submission, and Chapter 8 on RO5 is in progress. In December, Chapter 9 with the conclusion. In January 2027, the journal paper on formal assurance. Then the next candidature assessment in February 2027, and thesis submission in May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2860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18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95376-6A6A-8841-B7E4-1F35C2249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6F4E9-2DE5-D7EB-95B3-8E54FB2A7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198B3-BB9B-B6BB-C9C0-D35E11062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1A13-ADD8-45A6-BA20-4C35DCF1F406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7D850-541D-4EC8-9030-D6F526459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B99EC-2238-CBDA-CDDF-7C2C97A1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ADC8E-7141-4E37-96AF-0E1D097C06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8650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.png"/></Relationships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28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TIMELINE</a:t>
            </a:r>
            <a:endParaRPr lang="en-US" sz="3000" dirty="0"/>
          </a:p>
        </p:txBody>
      </p:sp>
      <p:sp>
        <p:nvSpPr>
          <p:cNvPr id="4" name="Fplan panel"/>
          <p:cNvSpPr/>
          <p:nvPr/>
        </p:nvSpPr>
        <p:spPr>
          <a:xfrm>
            <a:off x="731520" y="1280160"/>
            <a:ext cx="1069848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5" name="Fplan" descr="/tmp/deck/img/F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440972"/>
            <a:ext cx="10479024" cy="46161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ust Consent">
  <a:themeElements>
    <a:clrScheme name="Trust Consent">
      <a:dk1>
        <a:srgbClr val="0B1F33"/>
      </a:dk1>
      <a:lt1>
        <a:srgbClr val="FFFFFF"/>
      </a:lt1>
      <a:dk2>
        <a:srgbClr val="0B2A4A"/>
      </a:dk2>
      <a:lt2>
        <a:srgbClr val="E8F4F8"/>
      </a:lt2>
      <a:accent1>
        <a:srgbClr val="1FB5D6"/>
      </a:accent1>
      <a:accent2>
        <a:srgbClr val="0B2A4A"/>
      </a:accent2>
      <a:accent3>
        <a:srgbClr val="2E7D32"/>
      </a:accent3>
      <a:accent4>
        <a:srgbClr val="F2A900"/>
      </a:accent4>
      <a:accent5>
        <a:srgbClr val="C62828"/>
      </a:accent5>
      <a:accent6>
        <a:srgbClr val="5B6B7A"/>
      </a:accent6>
      <a:hlink>
        <a:srgbClr val="1FB5D6"/>
      </a:hlink>
      <a:folHlink>
        <a:srgbClr val="5B6B7A"/>
      </a:folHlink>
    </a:clrScheme>
    <a:fontScheme name="Trust Conse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2011</TotalTime>
  <Words>11021</Words>
  <Application>Microsoft Office PowerPoint</Application>
  <PresentationFormat>Widescreen</PresentationFormat>
  <Paragraphs>977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Aptos</vt:lpstr>
      <vt:lpstr>Arial</vt:lpstr>
      <vt:lpstr>Calibri</vt:lpstr>
      <vt:lpstr>Cambria</vt:lpstr>
      <vt:lpstr>Trust Consent</vt:lpstr>
      <vt:lpstr>PowerPoint Presentation</vt:lpstr>
      <vt:lpstr>OUTLINE</vt:lpstr>
      <vt:lpstr>THE RESEARCH PROBLEM</vt:lpstr>
      <vt:lpstr>THE KEY IDEA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RESEARCH GAP</vt:lpstr>
      <vt:lpstr>MAIN RESEARCH QUESTION</vt:lpstr>
      <vt:lpstr>SUB-RESEARCH QUESTIONS</vt:lpstr>
      <vt:lpstr>RESEARCH OBJECTIVES</vt:lpstr>
      <vt:lpstr>Research Methodology </vt:lpstr>
      <vt:lpstr>FRAMEWORK ARCHITECTURE</vt:lpstr>
      <vt:lpstr>THE DECISION RULE</vt:lpstr>
      <vt:lpstr>Proposed solution for objective 1</vt:lpstr>
      <vt:lpstr>RO1: Trust-Centric Consent Model</vt:lpstr>
      <vt:lpstr>Proposed solution for objective 2</vt:lpstr>
      <vt:lpstr>RO2: Decentralised Identity and Authority Trust</vt:lpstr>
      <vt:lpstr>Proposed solution for objective 3</vt:lpstr>
      <vt:lpstr>RO3: Trustworthy Multi-Party Authorisation</vt:lpstr>
      <vt:lpstr>Proposed solution for objective 4</vt:lpstr>
      <vt:lpstr>RO4: Policy- and Context-Aware Access Control</vt:lpstr>
      <vt:lpstr>Proposed solution for objective 5</vt:lpstr>
      <vt:lpstr>Proposed solution for objective 6</vt:lpstr>
      <vt:lpstr>THE HALAH PROTOTYPE</vt:lpstr>
      <vt:lpstr>THE HALAH PROTOTYPE</vt:lpstr>
      <vt:lpstr>DEMO 1: THE PATIENT CREATES THE CONSENT</vt:lpstr>
      <vt:lpstr>DEMO 2: THE FIRST GUARDIAN APPROVES</vt:lpstr>
      <vt:lpstr>DEMO 3: SECOND APPROVAL, TOKEN MINTED</vt:lpstr>
      <vt:lpstr>DEMO 4: THE DOCTOR IS ALLOWED</vt:lpstr>
      <vt:lpstr>DEMO 5: ONLY THE AUTHORISED RECORDS</vt:lpstr>
      <vt:lpstr>VALIDATION</vt:lpstr>
      <vt:lpstr>VALIDATION: THE RECORDED DECISIONS</vt:lpstr>
      <vt:lpstr>VALIDATION: ATTACK SCENARIOS</vt:lpstr>
      <vt:lpstr>Traditional EHR vs. HALAH Framework</vt:lpstr>
      <vt:lpstr>DATASET OVERVIEW</vt:lpstr>
      <vt:lpstr>RESEARCH CONTRIBUTIONS </vt:lpstr>
      <vt:lpstr>RESEARCH CONTRIBUTIONS </vt:lpstr>
      <vt:lpstr>RESEARCH PUBLICATIONS</vt:lpstr>
      <vt:lpstr>RESEARCH PLAN</vt:lpstr>
      <vt:lpstr>RESEARCH TIMELINE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Trusted Authorisation Framework for Multi-Party Patient Consent in Healthcare Data Sharing</dc:title>
  <dc:subject>Candidature Reassessment</dc:subject>
  <dc:creator>Yasir Dhaifallah O Alyoubi</dc:creator>
  <cp:lastModifiedBy>Yasir Dhaifallah O Alyoubi</cp:lastModifiedBy>
  <cp:revision>25</cp:revision>
  <dcterms:created xsi:type="dcterms:W3CDTF">2026-10-12T13:53:28Z</dcterms:created>
  <dcterms:modified xsi:type="dcterms:W3CDTF">2026-10-14T22:37:34Z</dcterms:modified>
</cp:coreProperties>
</file>
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6942778-0a59-c3a1-24f4-dfefb294a139}">
          <p14:sldIdLst>
            <p14:sldId id="256"/>
            <p14:sldId id="257"/>
          </p14:sldIdLst>
        </p14:section>
        <p14:section name="The Problem" id="{96f6fdf1-3c7d-c7bc-4cb4-44e808112e56}">
          <p14:sldIdLst>
            <p14:sldId id="258"/>
            <p14:sldId id="259"/>
          </p14:sldIdLst>
        </p14:section>
        <p14:section name="Literature Review" id="{aa021b7a-1d89-dd7b-6eea-931123681486}">
          <p14:sldIdLst>
            <p14:sldId id="260"/>
            <p14:sldId id="261"/>
          </p14:sldIdLst>
        </p14:section>
        <p14:section name="Gap, Questions and Objectives" id="{acb741f8-7344-e54e-3520-6b498f895c17}">
          <p14:sldIdLst>
            <p14:sldId id="262"/>
            <p14:sldId id="263"/>
            <p14:sldId id="264"/>
            <p14:sldId id="265"/>
          </p14:sldIdLst>
        </p14:section>
        <p14:section name="The Framework" id="{4674aa55-3218-da15-e297-a596fb9ce1a2}">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38214d88-01af-845d-d65a-c9a4bc2c85df}">
          <p14:sldIdLst>
            <p14:sldId id="280"/>
            <p14:sldId id="281"/>
            <p14:sldId id="282"/>
            <p14:sldId id="283"/>
          </p14:sldIdLst>
        </p14:section>
        <p14:section name="Contribution" id="{eb11eb97-8735-e73d-577a-b2bb861a5eb4}">
          <p14:sldIdLst>
            <p14:sldId id="284"/>
            <p14:sldId id="285"/>
            <p14:sldId id="286"/>
            <p14:sldId id="287"/>
          </p14:sldIdLst>
        </p14:section>
        <p14:section name="What is Still Open" id="{2595be66-fcda-a1ab-183e-112882565e42}">
          <p14:sldIdLst>
            <p14:sldId id="288"/>
          </p14:sldIdLst>
        </p14:section>
        <p14:section name="Research Plan" id="{1f39efb8-3d03-66b5-86e7-768ba670c7c2}">
          <p14:sldIdLst>
            <p14:sldId id="289"/>
            <p14:sldId id="290"/>
            <p14:sldId id="291"/>
          </p14:sldIdLst>
        </p14:section>
        <p14:section name="Demo: The HALAH Prototype" id="{611104c4-4282-3e95-1d48-d00fe3f4f3ea}">
          <p14:sldIdLst>
            <p14:sldId id="292"/>
            <p14:sldId id="293"/>
            <p14:sldId id="294"/>
            <p14:sldId id="295"/>
            <p14:sldId id="296"/>
            <p14:sldId id="297"/>
            <p14:sldId id="298"/>
            <p14:sldId id="299"/>
          </p14:sldIdLst>
        </p14:section>
        <p14:section name="References" id="{40aa16bb-153b-bbb1-53bb-0eb6f21829f3}">
          <p14:sldIdLst>
            <p14:sldId id="300"/>
          </p14:sldIdLst>
        </p14:section>
        <p14:section name="Thank You" id="{fd86d728-df0d-f8e8-99eb-24a0646bfe01}">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research problem and the key idea. Then the literature review. Then the gap, the questions and the objectives. After that, the methodology, the framework and its six steps. Then the validation and the evaluation results, and the contribution and the significance of the research. Then I talk about the limitations, the next steps, my publications and the research plan. Then I show a short demonstration of the prototype through the slides, with real prototype screens from 24 September 2026, and I finish with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lists my research publications. Two papers were published in 2025 at the IEEE International Conference on E-Business Engineering, ICEBE. Three more papers have been accepted in 2026: one at ICEBE 2026 and two at BWCCA 2026. Paper 4, on trusted multi-party consent governance, comes from this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2.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cube 01"/>
          <p:cNvSpPr/>
          <p:nvPr/>
        </p:nvSpPr>
        <p:spPr>
          <a:xfrm>
            <a:off x="1060704" y="1965960"/>
            <a:ext cx="1097280" cy="731520"/>
          </a:xfrm>
          <a:prstGeom prst="cube">
            <a:avLst/>
          </a:prstGeom>
          <a:solidFill>
            <a:srgbClr val="285A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5" name="number 01"/>
          <p:cNvSpPr txBox="1"/>
          <p:nvPr/>
        </p:nvSpPr>
        <p:spPr>
          <a:xfrm>
            <a:off x="1060704" y="2148840"/>
            <a:ext cx="914400" cy="548640"/>
          </a:xfrm>
          <a:prstGeom prst="rect">
            <a:avLst/>
          </a:prstGeom>
          <a:noFill/>
          <a:ln/>
        </p:spPr>
        <p:txBody>
          <a:bodyPr wrap="square" rtlCol="0" anchor="ctr"/>
          <a:lstStyle/>
          <a:p>
            <a:pPr algn="ctr" indent="0" marL="0">
              <a:buNone/>
            </a:pPr>
            <a:r>
              <a:rPr lang="en-US" sz="1600" b="1" dirty="0">
                <a:solidFill>
                  <a:srgbClr val="FFFFFF"/>
                </a:solidFill>
              </a:rPr>
              <a:t>01</a:t>
            </a:r>
            <a:endParaRPr lang="en-US" sz="1600" dirty="0"/>
          </a:p>
        </p:txBody>
      </p:sp>
      <p:sp>
        <p:nvSpPr>
          <p:cNvPr id="6" name="item 01"/>
          <p:cNvSpPr txBox="1"/>
          <p:nvPr/>
        </p:nvSpPr>
        <p:spPr>
          <a:xfrm>
            <a:off x="2340864" y="2148840"/>
            <a:ext cx="4114800" cy="548640"/>
          </a:xfrm>
          <a:prstGeom prst="rect">
            <a:avLst/>
          </a:prstGeom>
          <a:noFill/>
          <a:ln/>
        </p:spPr>
        <p:txBody>
          <a:bodyPr wrap="square" rtlCol="0" anchor="ctr"/>
          <a:lstStyle/>
          <a:p>
            <a:pPr indent="0" marL="0">
              <a:buNone/>
            </a:pPr>
            <a:r>
              <a:rPr lang="en-US" sz="1800" b="1" dirty="0">
                <a:solidFill>
                  <a:srgbClr val="FFFFFF"/>
                </a:solidFill>
              </a:rPr>
              <a:t>RESEARCH PROBLEM &amp; KEY IDEA</a:t>
            </a:r>
            <a:endParaRPr lang="en-US" sz="1800" dirty="0"/>
          </a:p>
        </p:txBody>
      </p:sp>
      <p:sp>
        <p:nvSpPr>
          <p:cNvPr id="7" name="cube 02"/>
          <p:cNvSpPr/>
          <p:nvPr/>
        </p:nvSpPr>
        <p:spPr>
          <a:xfrm>
            <a:off x="1060704" y="2743200"/>
            <a:ext cx="1097280" cy="731520"/>
          </a:xfrm>
          <a:prstGeom prst="cube">
            <a:avLst/>
          </a:prstGeom>
          <a:solidFill>
            <a:srgbClr val="2864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8" name="number 02"/>
          <p:cNvSpPr txBox="1"/>
          <p:nvPr/>
        </p:nvSpPr>
        <p:spPr>
          <a:xfrm>
            <a:off x="1060704" y="2926080"/>
            <a:ext cx="914400" cy="548640"/>
          </a:xfrm>
          <a:prstGeom prst="rect">
            <a:avLst/>
          </a:prstGeom>
          <a:noFill/>
          <a:ln/>
        </p:spPr>
        <p:txBody>
          <a:bodyPr wrap="square" rtlCol="0" anchor="ctr"/>
          <a:lstStyle/>
          <a:p>
            <a:pPr algn="ctr" indent="0" marL="0">
              <a:buNone/>
            </a:pPr>
            <a:r>
              <a:rPr lang="en-US" sz="1600" b="1" dirty="0">
                <a:solidFill>
                  <a:srgbClr val="FFFFFF"/>
                </a:solidFill>
              </a:rPr>
              <a:t>02</a:t>
            </a:r>
            <a:endParaRPr lang="en-US" sz="1600" dirty="0"/>
          </a:p>
        </p:txBody>
      </p:sp>
      <p:sp>
        <p:nvSpPr>
          <p:cNvPr id="9" name="item 02"/>
          <p:cNvSpPr txBox="1"/>
          <p:nvPr/>
        </p:nvSpPr>
        <p:spPr>
          <a:xfrm>
            <a:off x="2340864" y="2926080"/>
            <a:ext cx="4114800" cy="54864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cube 03"/>
          <p:cNvSpPr/>
          <p:nvPr/>
        </p:nvSpPr>
        <p:spPr>
          <a:xfrm>
            <a:off x="1060704" y="3520440"/>
            <a:ext cx="1097280" cy="731520"/>
          </a:xfrm>
          <a:prstGeom prst="cube">
            <a:avLst/>
          </a:prstGeom>
          <a:solidFill>
            <a:srgbClr val="286E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1" name="number 03"/>
          <p:cNvSpPr txBox="1"/>
          <p:nvPr/>
        </p:nvSpPr>
        <p:spPr>
          <a:xfrm>
            <a:off x="1060704" y="3703320"/>
            <a:ext cx="914400" cy="548640"/>
          </a:xfrm>
          <a:prstGeom prst="rect">
            <a:avLst/>
          </a:prstGeom>
          <a:noFill/>
          <a:ln/>
        </p:spPr>
        <p:txBody>
          <a:bodyPr wrap="square" rtlCol="0" anchor="ctr"/>
          <a:lstStyle/>
          <a:p>
            <a:pPr algn="ctr" indent="0" marL="0">
              <a:buNone/>
            </a:pPr>
            <a:r>
              <a:rPr lang="en-US" sz="1600" b="1" dirty="0">
                <a:solidFill>
                  <a:srgbClr val="FFFFFF"/>
                </a:solidFill>
              </a:rPr>
              <a:t>03</a:t>
            </a:r>
            <a:endParaRPr lang="en-US" sz="1600" dirty="0"/>
          </a:p>
        </p:txBody>
      </p:sp>
      <p:sp>
        <p:nvSpPr>
          <p:cNvPr id="12" name="item 03"/>
          <p:cNvSpPr txBox="1"/>
          <p:nvPr/>
        </p:nvSpPr>
        <p:spPr>
          <a:xfrm>
            <a:off x="2340864" y="3703320"/>
            <a:ext cx="4114800" cy="548640"/>
          </a:xfrm>
          <a:prstGeom prst="rect">
            <a:avLst/>
          </a:prstGeom>
          <a:noFill/>
          <a:ln/>
        </p:spPr>
        <p:txBody>
          <a:bodyPr wrap="square" rtlCol="0" anchor="ctr"/>
          <a:lstStyle/>
          <a:p>
            <a:pPr indent="0" marL="0">
              <a:buNone/>
            </a:pPr>
            <a:r>
              <a:rPr lang="en-US" sz="1800" b="1" dirty="0">
                <a:solidFill>
                  <a:srgbClr val="FFFFFF"/>
                </a:solidFill>
              </a:rPr>
              <a:t>GAP, QUESTIONS &amp; OBJECTIVES</a:t>
            </a:r>
            <a:endParaRPr lang="en-US" sz="1800" dirty="0"/>
          </a:p>
        </p:txBody>
      </p:sp>
      <p:sp>
        <p:nvSpPr>
          <p:cNvPr id="13" name="cube 04"/>
          <p:cNvSpPr/>
          <p:nvPr/>
        </p:nvSpPr>
        <p:spPr>
          <a:xfrm>
            <a:off x="1060704" y="4297680"/>
            <a:ext cx="1097280" cy="731520"/>
          </a:xfrm>
          <a:prstGeom prst="cube">
            <a:avLst/>
          </a:prstGeom>
          <a:solidFill>
            <a:srgbClr val="2878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4" name="number 04"/>
          <p:cNvSpPr txBox="1"/>
          <p:nvPr/>
        </p:nvSpPr>
        <p:spPr>
          <a:xfrm>
            <a:off x="1060704" y="4480560"/>
            <a:ext cx="914400" cy="548640"/>
          </a:xfrm>
          <a:prstGeom prst="rect">
            <a:avLst/>
          </a:prstGeom>
          <a:noFill/>
          <a:ln/>
        </p:spPr>
        <p:txBody>
          <a:bodyPr wrap="square" rtlCol="0" anchor="ctr"/>
          <a:lstStyle/>
          <a:p>
            <a:pPr algn="ctr" indent="0" marL="0">
              <a:buNone/>
            </a:pPr>
            <a:r>
              <a:rPr lang="en-US" sz="1600" b="1" dirty="0">
                <a:solidFill>
                  <a:srgbClr val="FFFFFF"/>
                </a:solidFill>
              </a:rPr>
              <a:t>04</a:t>
            </a:r>
            <a:endParaRPr lang="en-US" sz="1600" dirty="0"/>
          </a:p>
        </p:txBody>
      </p:sp>
      <p:sp>
        <p:nvSpPr>
          <p:cNvPr id="15" name="item 04"/>
          <p:cNvSpPr txBox="1"/>
          <p:nvPr/>
        </p:nvSpPr>
        <p:spPr>
          <a:xfrm>
            <a:off x="2340864" y="4480560"/>
            <a:ext cx="4114800" cy="548640"/>
          </a:xfrm>
          <a:prstGeom prst="rect">
            <a:avLst/>
          </a:prstGeom>
          <a:noFill/>
          <a:ln/>
        </p:spPr>
        <p:txBody>
          <a:bodyPr wrap="square" rtlCol="0" anchor="ctr"/>
          <a:lstStyle/>
          <a:p>
            <a:pPr indent="0" marL="0">
              <a:buNone/>
            </a:pPr>
            <a:r>
              <a:rPr lang="en-US" sz="1800" b="1" dirty="0">
                <a:solidFill>
                  <a:srgbClr val="FFFFFF"/>
                </a:solidFill>
              </a:rPr>
              <a:t>METHODOLOGY &amp; FRAMEWORK</a:t>
            </a:r>
            <a:endParaRPr lang="en-US" sz="1800" dirty="0"/>
          </a:p>
        </p:txBody>
      </p:sp>
      <p:sp>
        <p:nvSpPr>
          <p:cNvPr id="16" name="cube 05"/>
          <p:cNvSpPr/>
          <p:nvPr/>
        </p:nvSpPr>
        <p:spPr>
          <a:xfrm>
            <a:off x="1060704" y="5074920"/>
            <a:ext cx="1097280" cy="731520"/>
          </a:xfrm>
          <a:prstGeom prst="cube">
            <a:avLst/>
          </a:prstGeom>
          <a:solidFill>
            <a:srgbClr val="2882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7" name="number 05"/>
          <p:cNvSpPr txBox="1"/>
          <p:nvPr/>
        </p:nvSpPr>
        <p:spPr>
          <a:xfrm>
            <a:off x="1060704" y="5257800"/>
            <a:ext cx="914400" cy="548640"/>
          </a:xfrm>
          <a:prstGeom prst="rect">
            <a:avLst/>
          </a:prstGeom>
          <a:noFill/>
          <a:ln/>
        </p:spPr>
        <p:txBody>
          <a:bodyPr wrap="square" rtlCol="0" anchor="ctr"/>
          <a:lstStyle/>
          <a:p>
            <a:pPr algn="ctr" indent="0" marL="0">
              <a:buNone/>
            </a:pPr>
            <a:r>
              <a:rPr lang="en-US" sz="1600" b="1" dirty="0">
                <a:solidFill>
                  <a:srgbClr val="FFFFFF"/>
                </a:solidFill>
              </a:rPr>
              <a:t>05</a:t>
            </a:r>
            <a:endParaRPr lang="en-US" sz="1600" dirty="0"/>
          </a:p>
        </p:txBody>
      </p:sp>
      <p:sp>
        <p:nvSpPr>
          <p:cNvPr id="18" name="item 05"/>
          <p:cNvSpPr txBox="1"/>
          <p:nvPr/>
        </p:nvSpPr>
        <p:spPr>
          <a:xfrm>
            <a:off x="2340864" y="5257800"/>
            <a:ext cx="4114800" cy="548640"/>
          </a:xfrm>
          <a:prstGeom prst="rect">
            <a:avLst/>
          </a:prstGeom>
          <a:noFill/>
          <a:ln/>
        </p:spPr>
        <p:txBody>
          <a:bodyPr wrap="square" rtlCol="0" anchor="ctr"/>
          <a:lstStyle/>
          <a:p>
            <a:pPr indent="0" marL="0">
              <a:buNone/>
            </a:pPr>
            <a:r>
              <a:rPr lang="en-US" sz="1800" b="1" dirty="0">
                <a:solidFill>
                  <a:srgbClr val="FFFFFF"/>
                </a:solidFill>
              </a:rPr>
              <a:t>VALIDATION &amp; EVALUATION</a:t>
            </a:r>
            <a:endParaRPr lang="en-US" sz="1800" dirty="0"/>
          </a:p>
        </p:txBody>
      </p:sp>
      <p:sp>
        <p:nvSpPr>
          <p:cNvPr id="19" name="cube 06"/>
          <p:cNvSpPr/>
          <p:nvPr/>
        </p:nvSpPr>
        <p:spPr>
          <a:xfrm>
            <a:off x="6547104" y="1965960"/>
            <a:ext cx="1097280" cy="731520"/>
          </a:xfrm>
          <a:prstGeom prst="cube">
            <a:avLst/>
          </a:prstGeom>
          <a:solidFill>
            <a:srgbClr val="288C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0" name="number 06"/>
          <p:cNvSpPr txBox="1"/>
          <p:nvPr/>
        </p:nvSpPr>
        <p:spPr>
          <a:xfrm>
            <a:off x="6547104" y="2148840"/>
            <a:ext cx="914400" cy="548640"/>
          </a:xfrm>
          <a:prstGeom prst="rect">
            <a:avLst/>
          </a:prstGeom>
          <a:noFill/>
          <a:ln/>
        </p:spPr>
        <p:txBody>
          <a:bodyPr wrap="square" rtlCol="0" anchor="ctr"/>
          <a:lstStyle/>
          <a:p>
            <a:pPr algn="ctr" indent="0" marL="0">
              <a:buNone/>
            </a:pPr>
            <a:r>
              <a:rPr lang="en-US" sz="1600" b="1" dirty="0">
                <a:solidFill>
                  <a:srgbClr val="FFFFFF"/>
                </a:solidFill>
              </a:rPr>
              <a:t>06</a:t>
            </a:r>
            <a:endParaRPr lang="en-US" sz="1600" dirty="0"/>
          </a:p>
        </p:txBody>
      </p:sp>
      <p:sp>
        <p:nvSpPr>
          <p:cNvPr id="21" name="item 06"/>
          <p:cNvSpPr txBox="1"/>
          <p:nvPr/>
        </p:nvSpPr>
        <p:spPr>
          <a:xfrm>
            <a:off x="7827264" y="2148840"/>
            <a:ext cx="4206240" cy="548640"/>
          </a:xfrm>
          <a:prstGeom prst="rect">
            <a:avLst/>
          </a:prstGeom>
          <a:noFill/>
          <a:ln/>
        </p:spPr>
        <p:txBody>
          <a:bodyPr wrap="square" rtlCol="0" anchor="ctr"/>
          <a:lstStyle/>
          <a:p>
            <a:pPr indent="0" marL="0">
              <a:buNone/>
            </a:pPr>
            <a:r>
              <a:rPr lang="en-US" sz="1800" b="1" dirty="0">
                <a:solidFill>
                  <a:srgbClr val="FFFFFF"/>
                </a:solidFill>
              </a:rPr>
              <a:t>CONTRIBUTION &amp; SIGNIFICANCE</a:t>
            </a:r>
            <a:endParaRPr lang="en-US" sz="1800" dirty="0"/>
          </a:p>
        </p:txBody>
      </p:sp>
      <p:sp>
        <p:nvSpPr>
          <p:cNvPr id="22" name="cube 07"/>
          <p:cNvSpPr/>
          <p:nvPr/>
        </p:nvSpPr>
        <p:spPr>
          <a:xfrm>
            <a:off x="6547104" y="2743200"/>
            <a:ext cx="1097280" cy="731520"/>
          </a:xfrm>
          <a:prstGeom prst="cube">
            <a:avLst/>
          </a:prstGeom>
          <a:solidFill>
            <a:srgbClr val="2896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3" name="number 07"/>
          <p:cNvSpPr txBox="1"/>
          <p:nvPr/>
        </p:nvSpPr>
        <p:spPr>
          <a:xfrm>
            <a:off x="6547104" y="2926080"/>
            <a:ext cx="914400" cy="548640"/>
          </a:xfrm>
          <a:prstGeom prst="rect">
            <a:avLst/>
          </a:prstGeom>
          <a:noFill/>
          <a:ln/>
        </p:spPr>
        <p:txBody>
          <a:bodyPr wrap="square" rtlCol="0" anchor="ctr"/>
          <a:lstStyle/>
          <a:p>
            <a:pPr algn="ctr" indent="0" marL="0">
              <a:buNone/>
            </a:pPr>
            <a:r>
              <a:rPr lang="en-US" sz="1600" b="1" dirty="0">
                <a:solidFill>
                  <a:srgbClr val="FFFFFF"/>
                </a:solidFill>
              </a:rPr>
              <a:t>07</a:t>
            </a:r>
            <a:endParaRPr lang="en-US" sz="1600" dirty="0"/>
          </a:p>
        </p:txBody>
      </p:sp>
      <p:sp>
        <p:nvSpPr>
          <p:cNvPr id="24" name="item 07"/>
          <p:cNvSpPr txBox="1"/>
          <p:nvPr/>
        </p:nvSpPr>
        <p:spPr>
          <a:xfrm>
            <a:off x="7827264" y="2926080"/>
            <a:ext cx="4206240" cy="548640"/>
          </a:xfrm>
          <a:prstGeom prst="rect">
            <a:avLst/>
          </a:prstGeom>
          <a:noFill/>
          <a:ln/>
        </p:spPr>
        <p:txBody>
          <a:bodyPr wrap="square" rtlCol="0" anchor="ctr"/>
          <a:lstStyle/>
          <a:p>
            <a:pPr indent="0" marL="0">
              <a:buNone/>
            </a:pPr>
            <a:r>
              <a:rPr lang="en-US" sz="1800" b="1" dirty="0">
                <a:solidFill>
                  <a:srgbClr val="FFFFFF"/>
                </a:solidFill>
              </a:rPr>
              <a:t>LIMITATIONS &amp; NEXT STEPS</a:t>
            </a:r>
            <a:endParaRPr lang="en-US" sz="1800" dirty="0"/>
          </a:p>
        </p:txBody>
      </p:sp>
      <p:sp>
        <p:nvSpPr>
          <p:cNvPr id="25" name="cube 08"/>
          <p:cNvSpPr/>
          <p:nvPr/>
        </p:nvSpPr>
        <p:spPr>
          <a:xfrm>
            <a:off x="6547104" y="3520440"/>
            <a:ext cx="1097280" cy="731520"/>
          </a:xfrm>
          <a:prstGeom prst="cube">
            <a:avLst/>
          </a:prstGeom>
          <a:solidFill>
            <a:srgbClr val="28A0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6" name="number 08"/>
          <p:cNvSpPr txBox="1"/>
          <p:nvPr/>
        </p:nvSpPr>
        <p:spPr>
          <a:xfrm>
            <a:off x="6547104" y="3703320"/>
            <a:ext cx="914400" cy="548640"/>
          </a:xfrm>
          <a:prstGeom prst="rect">
            <a:avLst/>
          </a:prstGeom>
          <a:noFill/>
          <a:ln/>
        </p:spPr>
        <p:txBody>
          <a:bodyPr wrap="square" rtlCol="0" anchor="ctr"/>
          <a:lstStyle/>
          <a:p>
            <a:pPr algn="ctr" indent="0" marL="0">
              <a:buNone/>
            </a:pPr>
            <a:r>
              <a:rPr lang="en-US" sz="1600" b="1" dirty="0">
                <a:solidFill>
                  <a:srgbClr val="FFFFFF"/>
                </a:solidFill>
              </a:rPr>
              <a:t>08</a:t>
            </a:r>
            <a:endParaRPr lang="en-US" sz="1600" dirty="0"/>
          </a:p>
        </p:txBody>
      </p:sp>
      <p:sp>
        <p:nvSpPr>
          <p:cNvPr id="27" name="item 08"/>
          <p:cNvSpPr txBox="1"/>
          <p:nvPr/>
        </p:nvSpPr>
        <p:spPr>
          <a:xfrm>
            <a:off x="7827264" y="3703320"/>
            <a:ext cx="4206240" cy="548640"/>
          </a:xfrm>
          <a:prstGeom prst="rect">
            <a:avLst/>
          </a:prstGeom>
          <a:noFill/>
          <a:ln/>
        </p:spPr>
        <p:txBody>
          <a:bodyPr wrap="square" rtlCol="0" anchor="ctr"/>
          <a:lstStyle/>
          <a:p>
            <a:pPr indent="0" marL="0">
              <a:buNone/>
            </a:pPr>
            <a:r>
              <a:rPr lang="en-US" sz="1800" b="1" dirty="0">
                <a:solidFill>
                  <a:srgbClr val="FFFFFF"/>
                </a:solidFill>
              </a:rPr>
              <a:t>PUBLICATIONS &amp; RESEARCH PLAN</a:t>
            </a:r>
            <a:endParaRPr lang="en-US" sz="1800" dirty="0"/>
          </a:p>
        </p:txBody>
      </p:sp>
      <p:sp>
        <p:nvSpPr>
          <p:cNvPr id="28" name="cube 09"/>
          <p:cNvSpPr/>
          <p:nvPr/>
        </p:nvSpPr>
        <p:spPr>
          <a:xfrm>
            <a:off x="6547104" y="4297680"/>
            <a:ext cx="1097280" cy="731520"/>
          </a:xfrm>
          <a:prstGeom prst="cube">
            <a:avLst/>
          </a:prstGeom>
          <a:solidFill>
            <a:srgbClr val="28AA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9" name="number 09"/>
          <p:cNvSpPr txBox="1"/>
          <p:nvPr/>
        </p:nvSpPr>
        <p:spPr>
          <a:xfrm>
            <a:off x="6547104" y="4480560"/>
            <a:ext cx="914400" cy="548640"/>
          </a:xfrm>
          <a:prstGeom prst="rect">
            <a:avLst/>
          </a:prstGeom>
          <a:noFill/>
          <a:ln/>
        </p:spPr>
        <p:txBody>
          <a:bodyPr wrap="square" rtlCol="0" anchor="ctr"/>
          <a:lstStyle/>
          <a:p>
            <a:pPr algn="ctr" indent="0" marL="0">
              <a:buNone/>
            </a:pPr>
            <a:r>
              <a:rPr lang="en-US" sz="1600" b="1" dirty="0">
                <a:solidFill>
                  <a:srgbClr val="FFFFFF"/>
                </a:solidFill>
              </a:rPr>
              <a:t>09</a:t>
            </a:r>
            <a:endParaRPr lang="en-US" sz="1600" dirty="0"/>
          </a:p>
        </p:txBody>
      </p:sp>
      <p:sp>
        <p:nvSpPr>
          <p:cNvPr id="30" name="item 09"/>
          <p:cNvSpPr txBox="1"/>
          <p:nvPr/>
        </p:nvSpPr>
        <p:spPr>
          <a:xfrm>
            <a:off x="7827264" y="4480560"/>
            <a:ext cx="4206240" cy="54864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cube 10"/>
          <p:cNvSpPr/>
          <p:nvPr/>
        </p:nvSpPr>
        <p:spPr>
          <a:xfrm>
            <a:off x="6547104" y="5074920"/>
            <a:ext cx="1097280" cy="731520"/>
          </a:xfrm>
          <a:prstGeom prst="cube">
            <a:avLst/>
          </a:prstGeom>
          <a:solidFill>
            <a:srgbClr val="28B4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32" name="number 10"/>
          <p:cNvSpPr txBox="1"/>
          <p:nvPr/>
        </p:nvSpPr>
        <p:spPr>
          <a:xfrm>
            <a:off x="6547104" y="5257800"/>
            <a:ext cx="914400" cy="548640"/>
          </a:xfrm>
          <a:prstGeom prst="rect">
            <a:avLst/>
          </a:prstGeom>
          <a:noFill/>
          <a:ln/>
        </p:spPr>
        <p:txBody>
          <a:bodyPr wrap="square" rtlCol="0" anchor="ctr"/>
          <a:lstStyle/>
          <a:p>
            <a:pPr algn="ctr" indent="0" marL="0">
              <a:buNone/>
            </a:pPr>
            <a:r>
              <a:rPr lang="en-US" sz="1600" b="1" dirty="0">
                <a:solidFill>
                  <a:srgbClr val="FFFFFF"/>
                </a:solidFill>
              </a:rPr>
              <a:t>10</a:t>
            </a:r>
            <a:endParaRPr lang="en-US" sz="1600" dirty="0"/>
          </a:p>
        </p:txBody>
      </p:sp>
      <p:sp>
        <p:nvSpPr>
          <p:cNvPr id="33" name="item 10"/>
          <p:cNvSpPr txBox="1"/>
          <p:nvPr/>
        </p:nvSpPr>
        <p:spPr>
          <a:xfrm>
            <a:off x="7827264" y="5257800"/>
            <a:ext cx="4206240" cy="54864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20040">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2004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715000"/>
            <a:ext cx="7315200" cy="91440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PUBLICATIONS</a:t>
            </a:r>
            <a:endParaRPr lang="en-US" sz="3000" dirty="0"/>
          </a:p>
        </p:txBody>
      </p:sp>
      <p:graphicFrame>
        <p:nvGraphicFramePr>
          <p:cNvPr id="35"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5394960"/>
                <a:gridCol w="3108960"/>
                <a:gridCol w="731520"/>
                <a:gridCol w="1371600"/>
              </a:tblGrid>
              <a:tr h="777240">
                <a:tc>
                  <a:txBody>
                    <a:bodyPr/>
                    <a:lstStyle/>
                    <a:p>
                      <a:pPr algn="ctr" indent="0" marL="0">
                        <a:buNone/>
                      </a:pPr>
                      <a:r>
                        <a:rPr lang="en-US" sz="1400" b="1" dirty="0">
                          <a:solidFill>
                            <a:srgbClr val="FFFFFF"/>
                          </a:solidFill>
                        </a:rPr>
                        <a:t>#</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Title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Venue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Year</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Status</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algn="ctr" indent="0" marL="0">
                        <a:buNone/>
                      </a:pPr>
                      <a:r>
                        <a:rPr lang="en-US" sz="1350" b="1" dirty="0">
                          <a:solidFill>
                            <a:srgbClr val="0B1F33"/>
                          </a:solidFill>
                        </a:rPr>
                        <a:t>1</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Blockchain-Based Framework for Evaluating User Identity Trustworthiness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2</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Borrowing Model to Address the Cold Start Problem for New Users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3</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Smart Contract-Governed Lifecycle Protocol for Reputation Borrowing in Blockchain-Based Real Estate Platforms</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ICEBE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4</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Trusted Multi-Party Consent Governance Framework for Decentralized Multi-Stakeholder Data Sharing</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Provenance Tracing for Newcomer Bootstrapping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F21x.png">    </p:cNvPr>
          <p:cNvPicPr>
            <a:picLocks noChangeAspect="1"/>
          </p:cNvPicPr>
          <p:nvPr/>
        </p:nvPicPr>
        <p:blipFill>
          <a:blip r:embed="rId1"/>
          <a:stretch>
            <a:fillRect/>
          </a:stretch>
        </p:blipFill>
        <p:spPr>
          <a:xfrm>
            <a:off x="846698" y="1709928"/>
            <a:ext cx="653620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FFFFFF"/>
                </a:solidFill>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FFFFFF"/>
                </a:solidFill>
              </a:rPr>
              <a:t>. The guardian does not wait.</a:t>
            </a:r>
            <a:endParaRPr lang="en-US" sz="1400" dirty="0"/>
          </a:p>
          <a:p>
            <a:pPr marL="342900" indent="-342900">
              <a:buSzPct val="100000"/>
              <a:buChar char="•"/>
            </a:pPr>
            <a:r>
              <a:rPr lang="en-US" sz="1400" dirty="0">
                <a:solidFill>
                  <a:srgbClr val="FFFFFF"/>
                </a:solidFill>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 of 2, token recorded, anchoring starts</a:t>
            </a:r>
            <a:endParaRPr lang="en-US" sz="1200" dirty="0"/>
          </a:p>
        </p:txBody>
      </p:sp>
      <p:sp>
        <p:nvSpPr>
          <p:cNvPr id="11" name="F25c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c" descr="/tmp/deck/img/F25c.png">    </p:cNvPr>
          <p:cNvPicPr>
            <a:picLocks noChangeAspect="1"/>
          </p:cNvPicPr>
          <p:nvPr/>
        </p:nvPicPr>
        <p:blipFill>
          <a:blip r:embed="rId2"/>
          <a:stretch>
            <a:fillRect/>
          </a:stretch>
        </p:blipFill>
        <p:spPr>
          <a:xfrm>
            <a:off x="6281928" y="2980123"/>
            <a:ext cx="5175504" cy="1537835"/>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F29m.png">    </p:cNvPr>
          <p:cNvPicPr>
            <a:picLocks noChangeAspect="1"/>
          </p:cNvPicPr>
          <p:nvPr/>
        </p:nvPicPr>
        <p:blipFill>
          <a:blip r:embed="rId1"/>
          <a:stretch>
            <a:fillRect/>
          </a:stretch>
        </p:blipFill>
        <p:spPr>
          <a:xfrm>
            <a:off x="764896" y="2624328"/>
            <a:ext cx="10661904"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F29r.png">    </p:cNvPr>
          <p:cNvPicPr>
            <a:picLocks noChangeAspect="1"/>
          </p:cNvPicPr>
          <p:nvPr/>
        </p:nvPicPr>
        <p:blipFill>
          <a:blip r:embed="rId1"/>
          <a:stretch>
            <a:fillRect/>
          </a:stretch>
        </p:blipFill>
        <p:spPr>
          <a:xfrm>
            <a:off x="1216464" y="2487168"/>
            <a:ext cx="4242192"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F30.png">    </p:cNvPr>
          <p:cNvPicPr>
            <a:picLocks noChangeAspect="1"/>
          </p:cNvPicPr>
          <p:nvPr/>
        </p:nvPicPr>
        <p:blipFill>
          <a:blip r:embed="rId2"/>
          <a:stretch>
            <a:fillRect/>
          </a:stretch>
        </p:blipFill>
        <p:spPr>
          <a:xfrm>
            <a:off x="6784147" y="2487168"/>
            <a:ext cx="4171066"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Row 40 is the anchor on Sepolia: block 11,771,243.</a:t>
            </a:r>
            <a:endParaRPr lang="en-US" sz="1400" dirty="0"/>
          </a:p>
          <a:p>
            <a:pPr marL="342900" indent="-342900">
              <a:buSzPct val="100000"/>
              <a:buChar char="•"/>
            </a:pPr>
            <a:r>
              <a:rPr lang="en-US" sz="1400" dirty="0">
                <a:solidFill>
                  <a:srgbClr val="FFFFFF"/>
                </a:solidFill>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F39a.png">    </p:cNvPr>
          <p:cNvPicPr>
            <a:picLocks noChangeAspect="1"/>
          </p:cNvPicPr>
          <p:nvPr/>
        </p:nvPicPr>
        <p:blipFill>
          <a:blip r:embed="rId1"/>
          <a:stretch>
            <a:fillRect/>
          </a:stretch>
        </p:blipFill>
        <p:spPr>
          <a:xfrm>
            <a:off x="1302523" y="2624328"/>
            <a:ext cx="9586650"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F39b.png">    </p:cNvPr>
          <p:cNvPicPr>
            <a:picLocks noChangeAspect="1"/>
          </p:cNvPicPr>
          <p:nvPr/>
        </p:nvPicPr>
        <p:blipFill>
          <a:blip r:embed="rId1"/>
          <a:stretch>
            <a:fillRect/>
          </a:stretch>
        </p:blipFill>
        <p:spPr>
          <a:xfrm>
            <a:off x="749808" y="1665556"/>
            <a:ext cx="10661904" cy="1442055"/>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F37t.png">    </p:cNvPr>
          <p:cNvPicPr>
            <a:picLocks noChangeAspect="1"/>
          </p:cNvPicPr>
          <p:nvPr/>
        </p:nvPicPr>
        <p:blipFill>
          <a:blip r:embed="rId2"/>
          <a:stretch>
            <a:fillRect/>
          </a:stretch>
        </p:blipFill>
        <p:spPr>
          <a:xfrm>
            <a:off x="749808" y="3767763"/>
            <a:ext cx="5815584" cy="2330849"/>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F36m.png">    </p:cNvPr>
          <p:cNvPicPr>
            <a:picLocks noChangeAspect="1"/>
          </p:cNvPicPr>
          <p:nvPr/>
        </p:nvPicPr>
        <p:blipFill>
          <a:blip r:embed="rId3"/>
          <a:stretch>
            <a:fillRect/>
          </a:stretch>
        </p:blipFill>
        <p:spPr>
          <a:xfrm>
            <a:off x="6967728" y="3769622"/>
            <a:ext cx="4443984" cy="1046973"/>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2026-10-12T13:53:28Z</dcterms:created>
  <dcterms:modified xsi:type="dcterms:W3CDTF">2026-10-12T13:53:28Z</dcterms:modified>
</cp:coreProperties>
</file>
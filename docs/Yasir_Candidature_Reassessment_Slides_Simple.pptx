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2f0191ea-2ab0-7a41-0667-0c91e6669ce6}">
          <p14:sldIdLst>
            <p14:sldId id="256"/>
            <p14:sldId id="257"/>
          </p14:sldIdLst>
        </p14:section>
        <p14:section name="The Problem" id="{d9857e64-03c2-2722-0dbd-8ea49b1f03ac}">
          <p14:sldIdLst>
            <p14:sldId id="258"/>
            <p14:sldId id="259"/>
          </p14:sldIdLst>
        </p14:section>
        <p14:section name="Literature Review" id="{c76e78ad-67d0-9338-fb5b-322b5f533ef6}">
          <p14:sldIdLst>
            <p14:sldId id="260"/>
            <p14:sldId id="261"/>
          </p14:sldIdLst>
        </p14:section>
        <p14:section name="Gaps, Questions and Objectives" id="{382ad938-a3f4-2222-dd0c-5f36ec938d3a}">
          <p14:sldIdLst>
            <p14:sldId id="262"/>
            <p14:sldId id="263"/>
            <p14:sldId id="264"/>
            <p14:sldId id="265"/>
          </p14:sldIdLst>
        </p14:section>
        <p14:section name="The Framework" id="{d9e9c519-84f9-add4-8881-e2638e1b2f9d}">
          <p14:sldIdLst>
            <p14:sldId id="266"/>
            <p14:sldId id="267"/>
            <p14:sldId id="268"/>
            <p14:sldId id="269"/>
            <p14:sldId id="270"/>
            <p14:sldId id="271"/>
            <p14:sldId id="272"/>
            <p14:sldId id="273"/>
          </p14:sldIdLst>
        </p14:section>
        <p14:section name="Validation and Evaluation" id="{0febea03-b87e-1a1a-18ff-cde61e1a4677}">
          <p14:sldIdLst>
            <p14:sldId id="274"/>
            <p14:sldId id="275"/>
            <p14:sldId id="276"/>
          </p14:sldIdLst>
        </p14:section>
        <p14:section name="Contribution" id="{09828fe0-544e-7956-5edf-aedb7b0cfdd8}">
          <p14:sldIdLst>
            <p14:sldId id="277"/>
            <p14:sldId id="278"/>
            <p14:sldId id="279"/>
          </p14:sldIdLst>
        </p14:section>
        <p14:section name="What is Still Open" id="{784c5b4a-0b73-7f14-0ba4-8af990ea18a6}">
          <p14:sldIdLst>
            <p14:sldId id="280"/>
          </p14:sldIdLst>
        </p14:section>
        <p14:section name="Research Plan" id="{5a518956-a018-4f52-9850-767cbc533c01}">
          <p14:sldIdLst>
            <p14:sldId id="281"/>
            <p14:sldId id="282"/>
          </p14:sldIdLst>
        </p14:section>
        <p14:section name="Demo: The HALAH Prototype" id="{feb98bc0-7c1b-f2cc-c2a5-8b85146e6f06}">
          <p14:sldIdLst>
            <p14:sldId id="283"/>
            <p14:sldId id="284"/>
            <p14:sldId id="285"/>
            <p14:sldId id="286"/>
            <p14:sldId id="287"/>
            <p14:sldId id="288"/>
            <p14:sldId id="289"/>
            <p14:sldId id="290"/>
            <p14:sldId id="291"/>
            <p14:sldId id="292"/>
            <p14:sldId id="293"/>
          </p14:sldIdLst>
        </p14:section>
        <p14:section name="References" id="{91732bec-3136-85e4-9c71-b978a19c311b}">
          <p14:sldIdLst>
            <p14:sldId id="294"/>
            <p14:sldId id="295"/>
            <p14:sldId id="296"/>
            <p14:sldId id="297"/>
            <p14:sldId id="298"/>
            <p14:sldId id="299"/>
          </p14:sldIdLst>
        </p14:section>
        <p14:section name="Thank You" id="{cefa8541-d048-693b-e3b1-b84857d7bf7a}">
          <p14:sldIdLst>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gaps, the questions and the objectives. After that, the framework and its six steps. Then the validation and the evaluation results. Then I talk about what is still open and the research plan. At the end, I show a demonstration of the prototype through the slides: one real consent, from the day it is created to the day it is revoked.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was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authority: which guardians must approve, and how many. P is policy: the purpose and the data that was agreed. T is time: when the consent starts and when it ends. L is jurisdiction: where the request may come from.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by abstract, and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25 studies, I found six gaps. One gap for each requirement. Gap one: consent is only a record. Gap two: identity does not prove authority. Gap three: multi-party approval is not a condition of every access. Gap four: purpose and scope are rarely checked together with identity and approval. Gap five: time and revocation are often checked only once, at registration, not at each request. Gap six: nobody proves or tests the whole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one for each gap.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gaps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the identity and the authority are valid. VA: all the required guardians approved, the token exists, and the consent is not cancelled. VP: the purpose and the requested data are inside what was agreed. VT: the request is inside the validity time. VL: the jurisdiction matches. If any one check fails, the answer is DENY. In the prototype, a Groth16 zero-knowledge proof must also pass before any data is released. And every decision on an active consent is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the start and end time, and the jurisdiction. The system checks every field. For example, an empty data scope or a bad guardian DID is rejected. Then the consent object C is built and saved as pending.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To be clear about the current state: today the prototype checks the DID format and recovers each guardian's signature. Full DID resolution and credential validation are planned for the next stage.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replays and duplicates are not counted.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jurisdiction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What is still open: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wrong jurisdiction and the cancelled consent were refused. Attack scenarios: eleven of twelve attacks are refused after the hardening. Automated tests: all 36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For example, a signer who is not a guardian. A replayed or duplicate approval. A request outside the data scope. An expired or cancelled consent. A tampered proof. Before the hardening on the first of October, three attacks got through when the service functions were called directly. After the hardening, eleven of twelve are refused. The last one, A11, changes a stored digest. The prototype does not compare that digest yet, so it is marked neutral.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One guardian signature takes about 11 milliseconds. The Groth16 proof is the slowest part: about 1.4 seconds to generate and about half a second to verify. Anchoring on Sepolia takes about 11.5 seconds, but it runs in the background, so nobody waits for it. A revoke uses about one sixth of the gas of a mint. The timings were measured on the first of October 2026.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decision on an active consent is logged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No real patient data is used. The records are synthetic data from Synthea. The medical records stay off-chain. The token on Sepolia stores only pseudonymous addresses, a hash of the purpose, the validity window, a jurisdiction code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On the scientific side: consent becomes an object that is checked, not stored. Multi-party approval is a condition of every access. Identity is separated from authority. And the whole decision is checked in one place and tested. On the social side: patients and guardians decide together who sees the data. No single person can approve alone. Every decision can be explained to an auditor. And medical records never go on the blockchain.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the formal proofs. The properties are tested, but not yet proved with a formal model. Second, the rest of the lifecycle: consent modification, delegation and guardian changes. Third, full DID resolution, credential validation and wallet-held guardian keys. Today it is a format check, a signature, and keys derived from the guardian DIDs. Fourth, the one open attack, A11. Fifth, a bigger evaluation under load. Sixth, the plain-text purpose in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demonstration, through the slides. HALAH means History Access Link for Authorised Healthcare. These are its parts: four screens, a soulbound token contract on the Sepolia test network, EIP-712 guardian signatures, a Groth16 proof at access time, synthetic data, and an audit ledger. In the next slides, I walk you through one real consent, from creation to revocation. What you will see covers RO1 to RO4 in full, and the parts of RO5 and RO6 that already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one. The patient creates the consent. On this screen you can see the four data modules, the two guardians, the jurisdiction AU, and the state PENDING_SIGNATURE. The system checked every field before saving. Nothing has gone to the blockchain yet. This is RO1: consent as an object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two. The first guardian signs. The system takes the EIP-712 signature, finds who signed it, and confirms that this address is one of the two listed guardians. The counter shows one of two. The consent is still pending, because one approval is never enough. This is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three. The second guardian signs. Now the threshold, two of two, is reached. The system records the token locally and starts the mint on Sepolia in the background. The guardian does not wait for the blockchain. On the right, the same screen a bit later: already anchored on Sepolia, with the token number. RO3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four. The doctor asks for the patient's data. First the proof is generated and verified. Then the five checks run. Identity and authority, VI. Approvals and token, VA. Purpose and scope, VP. Time, VT. Jurisdiction, VL. All five pass, so the answer is ALLOW. This is RO2 and RO4 together,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five. After ALLOW, the records are shown per module. Only the modules inside the consent scope are returned. If the doctor asked for a module that was not agreed, the request would be refused. That case is covered by attack test A4. The decision and its matrix are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six. The same doctor repeats the request, but this time declares the jurisdiction as SA. The consent was issued for AU. Everything else passes, but VL fails. One failed check is enough: access is denied. The message tells the auditor exactly which check failed. This is the rule of RO4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seven. The patient cancels the consent. On the left, the system is sending the revoke transaction to Sepolia and waiting for the block confirmation. On the right, the consent is now REVOKED, with its token number. This is the working part of RO5.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eight. The doctor tries again. Now VA fails, because the consent is not active any more: its state is REVOKED. Access is refused. An expired consent is refused in the same way, through the time check VT. So a consent that was valid yesterday does not stay usable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nine. Both the mint and the revoke are public transactions on Sepolia. On the left, the anchoring transaction of the consent, in block 11,771,243. On the right, the revocation, in block 11,771,307, with the decoded function revoke and token id 1. Anyone can check them. No medical data is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ten, the last one. The auditor can rebuild the full life of the consent: thirteen events in order, from creation to revocation, each with its decision matrix. The dashboard shows the exported ledger: 60 events, 9 access requests and 5 on-chain anchors. And a separate tool re-checked Sepolia and found every anchored transaction in its recorded block. All checks passed. This is the working part of RO6: evidence that can be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the report and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doctor proves that they know the secret and the expiry behind the commitment stored in the consent, and that the consent has not expired, without showing them. It is the slowest part,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GAPS,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WHY THIS MATTERS</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ty"/>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ty"/>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Authority</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Jurisdiction"/>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Jurisdiction"/>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Jurisdiction</a:t>
            </a:r>
            <a:endParaRPr lang="en-US" sz="1900" dirty="0"/>
          </a:p>
          <a:p>
            <a:pPr indent="0" marL="0">
              <a:spcAft>
                <a:spcPts val="400"/>
              </a:spcAft>
              <a:buNone/>
            </a:pPr>
            <a:r>
              <a:rPr lang="en-US" sz="1600" dirty="0">
                <a:solidFill>
                  <a:srgbClr val="0B1F33"/>
                </a:solidFill>
              </a:rPr>
              <a:t>Where the request may come from.</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1FB5D6"/>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F2A900"/>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SIX 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not as something the system evaluates.</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person is, not what they may do. Only 10 of 25 studies check authority separately.</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backup path or a one-time step, not a condition of every access.</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checked in the same decision as identity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once, at registration, not at each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7" name="card text RQ1"/>
          <p:cNvSpPr txBox="1"/>
          <p:nvPr/>
        </p:nvSpPr>
        <p:spPr>
          <a:xfrm>
            <a:off x="86868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consent be modelled as an object that carries identity, authority, policy and evidence?</a:t>
            </a:r>
            <a:endParaRPr lang="en-US" sz="1900" dirty="0"/>
          </a:p>
        </p:txBody>
      </p:sp>
      <p:sp>
        <p:nvSpPr>
          <p:cNvPr id="8" name="card RQ2"/>
          <p:cNvSpPr/>
          <p:nvPr/>
        </p:nvSpPr>
        <p:spPr>
          <a:xfrm>
            <a:off x="434340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9" name="card text RQ2"/>
          <p:cNvSpPr txBox="1"/>
          <p:nvPr/>
        </p:nvSpPr>
        <p:spPr>
          <a:xfrm>
            <a:off x="448056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credentials prove who a person is and, separately, what they may do?</a:t>
            </a:r>
            <a:endParaRPr lang="en-US" sz="1900" dirty="0"/>
          </a:p>
        </p:txBody>
      </p:sp>
      <p:sp>
        <p:nvSpPr>
          <p:cNvPr id="10" name="card RQ3"/>
          <p:cNvSpPr/>
          <p:nvPr/>
        </p:nvSpPr>
        <p:spPr>
          <a:xfrm>
            <a:off x="795528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11" name="card text RQ3"/>
          <p:cNvSpPr txBox="1"/>
          <p:nvPr/>
        </p:nvSpPr>
        <p:spPr>
          <a:xfrm>
            <a:off x="809244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several guardians approve together, so that no single person can approve alone?</a:t>
            </a:r>
            <a:endParaRPr lang="en-US" sz="1900" dirty="0"/>
          </a:p>
        </p:txBody>
      </p:sp>
      <p:sp>
        <p:nvSpPr>
          <p:cNvPr id="12" name="card RQ4"/>
          <p:cNvSpPr/>
          <p:nvPr/>
        </p:nvSpPr>
        <p:spPr>
          <a:xfrm>
            <a:off x="73152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3" name="card text RQ4"/>
          <p:cNvSpPr txBox="1"/>
          <p:nvPr/>
        </p:nvSpPr>
        <p:spPr>
          <a:xfrm>
            <a:off x="86868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 scope stop valid identities from reaching data they were not given?</a:t>
            </a:r>
            <a:endParaRPr lang="en-US" sz="1900" dirty="0"/>
          </a:p>
        </p:txBody>
      </p:sp>
      <p:sp>
        <p:nvSpPr>
          <p:cNvPr id="14" name="card RQ5"/>
          <p:cNvSpPr/>
          <p:nvPr/>
        </p:nvSpPr>
        <p:spPr>
          <a:xfrm>
            <a:off x="434340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5" name="card text RQ5"/>
          <p:cNvSpPr txBox="1"/>
          <p:nvPr/>
        </p:nvSpPr>
        <p:spPr>
          <a:xfrm>
            <a:off x="448056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or revocation?</a:t>
            </a:r>
            <a:endParaRPr lang="en-US" sz="1900" dirty="0"/>
          </a:p>
        </p:txBody>
      </p:sp>
      <p:sp>
        <p:nvSpPr>
          <p:cNvPr id="16" name="card RQ6"/>
          <p:cNvSpPr/>
          <p:nvPr/>
        </p:nvSpPr>
        <p:spPr>
          <a:xfrm>
            <a:off x="795528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7" name="card text RQ6"/>
          <p:cNvSpPr txBox="1"/>
          <p:nvPr/>
        </p:nvSpPr>
        <p:spPr>
          <a:xfrm>
            <a:off x="809244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698480" cy="914400"/>
        </p:xfrm>
        <a:graphic>
          <a:graphicData uri="http://schemas.openxmlformats.org/drawingml/2006/table">
            <a:tbl>
              <a:tblPr/>
              <a:tblGrid>
                <a:gridCol w="1371600"/>
                <a:gridCol w="6949440"/>
                <a:gridCol w="2377440"/>
              </a:tblGrid>
              <a:tr h="749808">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In simple words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49808">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Make consent an object the system can check: C = (I, A, P, T, L, 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Check who a person is (DID) separately from what they may do (credential)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Require approval from all listed guardians, each with a verified signature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Allow only requests inside the agreed purpose, data scope and jurisdiction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Reject access after expiry or revocation, and control the consent lifecycle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Define the security properties, prove them formally and test them empirically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questions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are valid</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guardians approved; token exists; not revoked</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 are inside the consent</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RO1: 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the start and expiry time, and the jurisdiction.</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consent object C is built and stored as PENDING_SIGNATURE.</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RO2: Decentralised identity and authority</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credential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RO3: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replays and duplicates are not counted.</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RO4: Policy- and context-aware access</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RO5: Time and lifecycle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the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RO6: Formal assurance and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request from the wrong jurisdiction was refused against a Sepolia-anchored consent.</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wrong jurisdiction refused. 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attack scenarios, A1 to A12"/>
          <p:cNvSpPr txBox="1"/>
          <p:nvPr/>
        </p:nvSpPr>
        <p:spPr>
          <a:xfrm>
            <a:off x="7589520" y="1234440"/>
            <a:ext cx="393192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7589520" y="2103120"/>
            <a:ext cx="393192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p:cNvSpPr txBox="1"/>
          <p:nvPr/>
        </p:nvSpPr>
        <p:spPr>
          <a:xfrm>
            <a:off x="7589520" y="2971800"/>
            <a:ext cx="393192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p:cNvSpPr txBox="1"/>
          <p:nvPr/>
        </p:nvSpPr>
        <p:spPr>
          <a:xfrm>
            <a:off x="7589520" y="3840480"/>
            <a:ext cx="393192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a:t>
            </a:r>
            <a:endParaRPr lang="en-US" sz="1600" dirty="0"/>
          </a:p>
        </p:txBody>
      </p:sp>
      <p:sp>
        <p:nvSpPr>
          <p:cNvPr id="10" name="stat automated tests pass"/>
          <p:cNvSpPr txBox="1"/>
          <p:nvPr/>
        </p:nvSpPr>
        <p:spPr>
          <a:xfrm>
            <a:off x="7589520" y="4709160"/>
            <a:ext cx="393192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7589520" y="5577840"/>
            <a:ext cx="393192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103120"/>
                <a:gridCol w="1188720"/>
                <a:gridCol w="91440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checks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One EIP-712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Synthetic records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WHY THIS MATTERS</a:t>
            </a:r>
            <a:endParaRPr lang="en-US" sz="3000" dirty="0"/>
          </a:p>
        </p:txBody>
      </p:sp>
      <p:sp>
        <p:nvSpPr>
          <p:cNvPr id="4" name="sci heading"/>
          <p:cNvSpPr txBox="1"/>
          <p:nvPr/>
        </p:nvSpPr>
        <p:spPr>
          <a:xfrm>
            <a:off x="731520" y="1051560"/>
            <a:ext cx="5120640" cy="411480"/>
          </a:xfrm>
          <a:prstGeom prst="rect">
            <a:avLst/>
          </a:prstGeom>
          <a:noFill/>
          <a:ln/>
        </p:spPr>
        <p:txBody>
          <a:bodyPr wrap="square" rtlCol="0" anchor="ctr"/>
          <a:lstStyle/>
          <a:p>
            <a:pPr indent="0" marL="0">
              <a:buNone/>
            </a:pPr>
            <a:r>
              <a:rPr lang="en-US" sz="2000" b="1" i="1" dirty="0">
                <a:solidFill>
                  <a:srgbClr val="1FB5D6"/>
                </a:solidFill>
              </a:rPr>
              <a:t>Scientific</a:t>
            </a:r>
            <a:endParaRPr lang="en-US" sz="2000" dirty="0"/>
          </a:p>
        </p:txBody>
      </p:sp>
      <p:sp>
        <p:nvSpPr>
          <p:cNvPr id="5" name="soc heading"/>
          <p:cNvSpPr txBox="1"/>
          <p:nvPr/>
        </p:nvSpPr>
        <p:spPr>
          <a:xfrm>
            <a:off x="6309360" y="1051560"/>
            <a:ext cx="5120640" cy="411480"/>
          </a:xfrm>
          <a:prstGeom prst="rect">
            <a:avLst/>
          </a:prstGeom>
          <a:noFill/>
          <a:ln/>
        </p:spPr>
        <p:txBody>
          <a:bodyPr wrap="square" rtlCol="0" anchor="ctr"/>
          <a:lstStyle/>
          <a:p>
            <a:pPr indent="0" marL="0">
              <a:buNone/>
            </a:pPr>
            <a:r>
              <a:rPr lang="en-US" sz="2000" b="1" i="1" dirty="0">
                <a:solidFill>
                  <a:srgbClr val="1FB5D6"/>
                </a:solidFill>
              </a:rPr>
              <a:t>Social</a:t>
            </a:r>
            <a:endParaRPr lang="en-US" sz="2000" dirty="0"/>
          </a:p>
        </p:txBody>
      </p:sp>
      <p:sp>
        <p:nvSpPr>
          <p:cNvPr id="6" name="bullets"/>
          <p:cNvSpPr txBox="1"/>
          <p:nvPr/>
        </p:nvSpPr>
        <p:spPr>
          <a:xfrm>
            <a:off x="73152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Consent is an evaluable object, C = (I, A, P, T, L, E), not a stored record.</a:t>
            </a:r>
            <a:endParaRPr lang="en-US" sz="1600" dirty="0"/>
          </a:p>
          <a:p>
            <a:pPr marL="342900" indent="-342900">
              <a:spcAft>
                <a:spcPts val="1000"/>
              </a:spcAft>
              <a:buSzPct val="100000"/>
              <a:buChar char="•"/>
            </a:pPr>
            <a:r>
              <a:rPr lang="en-US" sz="1600" dirty="0">
                <a:solidFill>
                  <a:srgbClr val="FFFFFF"/>
                </a:solidFill>
              </a:rPr>
              <a:t>Multi-party approval is a standing condition of every access decision, and the patient defines who must approve.</a:t>
            </a:r>
            <a:endParaRPr lang="en-US" sz="1600" dirty="0"/>
          </a:p>
          <a:p>
            <a:pPr marL="342900" indent="-342900">
              <a:spcAft>
                <a:spcPts val="1000"/>
              </a:spcAft>
              <a:buSzPct val="100000"/>
              <a:buChar char="•"/>
            </a:pPr>
            <a:r>
              <a:rPr lang="en-US" sz="1600" dirty="0">
                <a:solidFill>
                  <a:srgbClr val="FFFFFF"/>
                </a:solidFill>
              </a:rPr>
              <a:t>Identity is separated from authority, and all conditions are checked in one decision.</a:t>
            </a:r>
            <a:endParaRPr lang="en-US" sz="1600" dirty="0"/>
          </a:p>
          <a:p>
            <a:pPr marL="342900" indent="-342900">
              <a:spcAft>
                <a:spcPts val="1000"/>
              </a:spcAft>
              <a:buSzPct val="100000"/>
              <a:buChar char="•"/>
            </a:pPr>
            <a:r>
              <a:rPr lang="en-US" sz="1600" dirty="0">
                <a:solidFill>
                  <a:srgbClr val="FFFFFF"/>
                </a:solidFill>
              </a:rPr>
              <a:t>A PRISMA 2020 review of 25 studies names the conjunction gap and the assurance gap.</a:t>
            </a:r>
            <a:endParaRPr lang="en-US" sz="1600" dirty="0"/>
          </a:p>
          <a:p>
            <a:pPr marL="342900" indent="-342900">
              <a:spcAft>
                <a:spcPts val="1000"/>
              </a:spcAft>
              <a:buSzPct val="100000"/>
              <a:buChar char="•"/>
            </a:pPr>
            <a:r>
              <a:rPr lang="en-US" sz="1600" dirty="0">
                <a:solidFill>
                  <a:srgbClr val="FFFFFF"/>
                </a:solidFill>
              </a:rPr>
              <a:t>A working prototype on Sepolia, measured and attacked twelve times.</a:t>
            </a:r>
            <a:endParaRPr lang="en-US" sz="1600" dirty="0"/>
          </a:p>
        </p:txBody>
      </p:sp>
      <p:sp>
        <p:nvSpPr>
          <p:cNvPr id="7" name="bullets"/>
          <p:cNvSpPr txBox="1"/>
          <p:nvPr/>
        </p:nvSpPr>
        <p:spPr>
          <a:xfrm>
            <a:off x="630936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Patients and their guardians decide together who may see the patient's data.</a:t>
            </a:r>
            <a:endParaRPr lang="en-US" sz="1600" dirty="0"/>
          </a:p>
          <a:p>
            <a:pPr marL="342900" indent="-342900">
              <a:spcAft>
                <a:spcPts val="1000"/>
              </a:spcAft>
              <a:buSzPct val="100000"/>
              <a:buChar char="•"/>
            </a:pPr>
            <a:r>
              <a:rPr lang="en-US" sz="1600" dirty="0">
                <a:solidFill>
                  <a:srgbClr val="FFFFFF"/>
                </a:solidFill>
              </a:rPr>
              <a:t>No single person can approve access to sensitive health data alone.</a:t>
            </a:r>
            <a:endParaRPr lang="en-US" sz="1600" dirty="0"/>
          </a:p>
          <a:p>
            <a:pPr marL="342900" indent="-342900">
              <a:spcAft>
                <a:spcPts val="1000"/>
              </a:spcAft>
              <a:buSzPct val="100000"/>
              <a:buChar char="•"/>
            </a:pPr>
            <a:r>
              <a:rPr lang="en-US" sz="1600" dirty="0">
                <a:solidFill>
                  <a:srgbClr val="FFFFFF"/>
                </a:solidFill>
              </a:rPr>
              <a:t>Every decision can be explained to an auditor: which check passed, which failed.</a:t>
            </a:r>
            <a:endParaRPr lang="en-US" sz="1600" dirty="0"/>
          </a:p>
          <a:p>
            <a:pPr marL="342900" indent="-342900">
              <a:spcAft>
                <a:spcPts val="1000"/>
              </a:spcAft>
              <a:buSzPct val="100000"/>
              <a:buChar char="•"/>
            </a:pPr>
            <a:r>
              <a:rPr lang="en-US" sz="1600" dirty="0">
                <a:solidFill>
                  <a:srgbClr val="FFFFFF"/>
                </a:solidFill>
              </a:rPr>
              <a:t>Medical records stay off-chain; only consent evidence is shared.</a:t>
            </a:r>
            <a:endParaRPr lang="en-US" sz="1600" dirty="0"/>
          </a:p>
          <a:p>
            <a:pPr marL="342900" indent="-342900">
              <a:spcAft>
                <a:spcPts val="1000"/>
              </a:spcAft>
              <a:buSzPct val="100000"/>
              <a:buChar char="•"/>
            </a:pPr>
            <a:r>
              <a:rPr lang="en-US" sz="1600" dirty="0">
                <a:solidFill>
                  <a:srgbClr val="FFFFFF"/>
                </a:solidFill>
              </a:rPr>
              <a:t>Supports trust when data move between hospitals and other independent parties.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Formal proofs"/>
          <p:cNvSpPr/>
          <p:nvPr/>
        </p:nvSpPr>
        <p:spPr>
          <a:xfrm>
            <a:off x="64008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5" name="card text Formal proof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6" name="card Lifecycle"/>
          <p:cNvSpPr/>
          <p:nvPr/>
        </p:nvSpPr>
        <p:spPr>
          <a:xfrm>
            <a:off x="434340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7" name="card text Lifecycle"/>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Lifecycle</a:t>
            </a:r>
            <a:endParaRPr lang="en-US" sz="1900" dirty="0"/>
          </a:p>
          <a:p>
            <a:pPr indent="0" marL="0">
              <a:spcAft>
                <a:spcPts val="400"/>
              </a:spcAft>
              <a:buNone/>
            </a:pPr>
            <a:r>
              <a:rPr lang="en-US" sz="1600" dirty="0">
                <a:solidFill>
                  <a:srgbClr val="0B1F33"/>
                </a:solidFill>
              </a:rPr>
              <a:t>Consent modification, delegation and guardian-set changes, with a formal lifecycle model (RO5).</a:t>
            </a:r>
            <a:endParaRPr lang="en-US" sz="1900" dirty="0"/>
          </a:p>
        </p:txBody>
      </p:sp>
      <p:sp>
        <p:nvSpPr>
          <p:cNvPr id="8" name="card Identity and keys"/>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Identity and keys"/>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Identity and keys</a:t>
            </a:r>
            <a:endParaRPr lang="en-US" sz="1900" dirty="0"/>
          </a:p>
          <a:p>
            <a:pPr indent="0" marL="0">
              <a:spcAft>
                <a:spcPts val="400"/>
              </a:spcAft>
              <a:buNone/>
            </a:pPr>
            <a:r>
              <a:rPr lang="en-US" sz="1600" dirty="0">
                <a:solidFill>
                  <a:srgbClr val="0B1F33"/>
                </a:solidFill>
              </a:rPr>
              <a:t>Full DID resolution, credential validation and wallet-held guardian keys. Today: a DID-format check, signature recovery and keys derived from the guardian DIDs (RO2, RO3).</a:t>
            </a:r>
            <a:endParaRPr lang="en-US" sz="1900" dirty="0"/>
          </a:p>
        </p:txBody>
      </p:sp>
      <p:sp>
        <p:nvSpPr>
          <p:cNvPr id="10" name="card Attack A11"/>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ttack A11"/>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Attack A11</a:t>
            </a:r>
            <a:endParaRPr lang="en-US" sz="1900" dirty="0"/>
          </a:p>
          <a:p>
            <a:pPr indent="0" marL="0">
              <a:spcAft>
                <a:spcPts val="400"/>
              </a:spcAft>
              <a:buNone/>
            </a:pPr>
            <a:r>
              <a:rPr lang="en-US" sz="1600" dirty="0">
                <a:solidFill>
                  <a:srgbClr val="0B1F33"/>
                </a:solidFill>
              </a:rPr>
              <a:t>A changed audit digest is not yet compared by any component. It is marked neutral, not refused.</a:t>
            </a:r>
            <a:endParaRPr lang="en-US" sz="1900" dirty="0"/>
          </a:p>
        </p:txBody>
      </p:sp>
      <p:sp>
        <p:nvSpPr>
          <p:cNvPr id="12" name="card Scale"/>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Scale"/>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14" name="card Purpose on-chain"/>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Purpose on-chain"/>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One real consent,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on an active consent;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jurisdiction AU,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the validity time and the jurisdiction AU.</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requester jurisdiction AU: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VL all PASS, so ALLOW.</a:t>
            </a:r>
            <a:endParaRPr lang="en-US" sz="1600" dirty="0"/>
          </a:p>
          <a:p>
            <a:pPr marL="342900" indent="-342900">
              <a:spcAft>
                <a:spcPts val="1000"/>
              </a:spcAft>
              <a:buSzPct val="100000"/>
              <a:buChar char="•"/>
            </a:pPr>
            <a:r>
              <a:rPr lang="en-US" sz="1600" dirty="0">
                <a:solidFill>
                  <a:srgbClr val="FFFFFF"/>
                </a:solidFill>
              </a:rPr>
              <a:t>Identity, authority, approvals, scope, time and jurisdiction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 THE WRONG JURISDICTION</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One failed check is enough to deny</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Same doctor, same active consent, jurisdiction declared as SA instead of AU</a:t>
            </a:r>
            <a:endParaRPr lang="en-US" sz="1400" dirty="0"/>
          </a:p>
          <a:p>
            <a:pPr marL="342900" indent="-342900">
              <a:buSzPct val="100000"/>
              <a:buChar char="•"/>
            </a:pPr>
            <a:r>
              <a:rPr lang="en-US" sz="1400" dirty="0">
                <a:solidFill>
                  <a:srgbClr val="FFFFFF"/>
                </a:solidFill>
              </a:rPr>
              <a:t>VL = FAIL, so ALLOW = FAIL</a:t>
            </a:r>
            <a:endParaRPr lang="en-US" sz="1400" dirty="0"/>
          </a:p>
          <a:p>
            <a:pPr marL="342900" indent="-342900">
              <a:buSzPct val="100000"/>
              <a:buChar char="•"/>
            </a:pPr>
            <a:r>
              <a:rPr lang="en-US" sz="1400" dirty="0">
                <a:solidFill>
                  <a:srgbClr val="FFFFFF"/>
                </a:solidFill>
              </a:rPr>
              <a:t>The refusal names the failed check: Security Exception, failed checks: VL</a:t>
            </a:r>
            <a:endParaRPr lang="en-US" sz="1400" dirty="0"/>
          </a:p>
        </p:txBody>
      </p:sp>
      <p:sp>
        <p:nvSpPr>
          <p:cNvPr id="8" name="F31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1" descr="/tmp/deck/img/F31.png">    </p:cNvPr>
          <p:cNvPicPr>
            <a:picLocks noChangeAspect="1"/>
          </p:cNvPicPr>
          <p:nvPr/>
        </p:nvPicPr>
        <p:blipFill>
          <a:blip r:embed="rId1"/>
          <a:stretch>
            <a:fillRect/>
          </a:stretch>
        </p:blipFill>
        <p:spPr>
          <a:xfrm>
            <a:off x="1156648" y="2487168"/>
            <a:ext cx="4361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Requester jurisdiction SA: VL reports FAIL, ALLOW = FAIL</a:t>
            </a:r>
            <a:endParaRPr lang="en-US" sz="1200" dirty="0"/>
          </a:p>
        </p:txBody>
      </p:sp>
      <p:sp>
        <p:nvSpPr>
          <p:cNvPr id="11" name="F32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2" descr="/tmp/deck/img/F32.png">    </p:cNvPr>
          <p:cNvPicPr>
            <a:picLocks noChangeAspect="1"/>
          </p:cNvPicPr>
          <p:nvPr/>
        </p:nvPicPr>
        <p:blipFill>
          <a:blip r:embed="rId2"/>
          <a:stretch>
            <a:fillRect/>
          </a:stretch>
        </p:blipFill>
        <p:spPr>
          <a:xfrm>
            <a:off x="6281928" y="2927586"/>
            <a:ext cx="5175504" cy="2557308"/>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The refused request names the failed check: VL</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8: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9: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10: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[3]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[4]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[5]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[6]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[7]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[8]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[9]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[10]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[11] A. M. Ibrahim, H. R. Abdel-Aziz, H. A. H. Mohamed, D. E. F. Zaghamir, N. M. I. Wahba, G. A. Hassan, et al. Balancing confidentiality and care coordination: Challenges in patient privacy. BMC Nursing, 23(1):564, 2024. doi:10.1186/s12912-024-02231-1</a:t>
            </a:r>
            <a:endParaRPr lang="en-US" sz="1000" dirty="0"/>
          </a:p>
          <a:p>
            <a:pPr indent="0" marL="0">
              <a:spcAft>
                <a:spcPts val="400"/>
              </a:spcAft>
              <a:buNone/>
            </a:pPr>
            <a:r>
              <a:rPr lang="en-US" sz="1000" dirty="0">
                <a:solidFill>
                  <a:srgbClr val="0B1F33"/>
                </a:solidFill>
              </a:rPr>
              <a:t>[12] L. Theodorakopoulos, A. Theodoropoulou, and C. Halkiopoulos. Enhancing decentralized decision-making with big data and blockchain technology: A comprehensive review. Applied Sciences, 14(16):7007, 2024. doi:10.3390/app14167007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[13]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[14]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[15]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[16]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[17]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[18]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[19]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[20]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[21]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[22]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[23]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[24]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[25]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[26]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[27]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[28] A. U. Eneh, L. A. C. Ahakonye, J. M. Lee, and D.-S. Kim. Demo: EdgeConsent: On-chain attribute-based access control for data consent management. In 2026 IEEE International Conference on Blockchain and Cryptocurrency (ICBC), pages 1–2, 2026. doi:10.1109/ICBC67748.2026.11575534</a:t>
            </a:r>
            <a:endParaRPr lang="en-US" sz="1000" dirty="0"/>
          </a:p>
          <a:p>
            <a:pPr indent="0" marL="0">
              <a:spcAft>
                <a:spcPts val="400"/>
              </a:spcAft>
              <a:buNone/>
            </a:pPr>
            <a:r>
              <a:rPr lang="en-US" sz="1000" dirty="0">
                <a:solidFill>
                  <a:srgbClr val="0B1F33"/>
                </a:solidFill>
              </a:rPr>
              <a:t>[29]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[30]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[31]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[32]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[33]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a:p>
            <a:pPr indent="0" marL="0">
              <a:spcAft>
                <a:spcPts val="400"/>
              </a:spcAft>
              <a:buNone/>
            </a:pPr>
            <a:r>
              <a:rPr lang="en-US" sz="1000" dirty="0">
                <a:solidFill>
                  <a:srgbClr val="0B1F33"/>
                </a:solidFill>
              </a:rPr>
              <a:t>[34]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[35]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[36] A. Kharlamov, R. Hohmann, and G. Parry. Data sharing decisions: Perceptions and intentions in healthcare. Strategic Change, 32(6):223–237, 2023. doi:10.1002/jsc.2558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[37]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[38]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[39]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[40]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[41]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[42]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[43]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[44]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[45] R. Jiang, X. Chen, Y. Yu, Y. Zhang, and W. Ding. Risk and UCON-based access control model for healthcare big data. Journal of Big Data, 10(1):104, 2023. doi:10.1186/s40537-023-00783-8</a:t>
            </a:r>
            <a:endParaRPr lang="en-US" sz="1000" dirty="0"/>
          </a:p>
          <a:p>
            <a:pPr indent="0" marL="0">
              <a:spcAft>
                <a:spcPts val="400"/>
              </a:spcAft>
              <a:buNone/>
            </a:pPr>
            <a:r>
              <a:rPr lang="en-US" sz="1000" dirty="0">
                <a:solidFill>
                  <a:srgbClr val="0B1F33"/>
                </a:solidFill>
              </a:rPr>
              <a:t>[46]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[47]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[48] F. Albalwy, A. Brass, and A. Davies. A blockchain-based dynamic consent architecture to support clinical genomic data sharing (ConsentChain): Proof-of-concept study. JMIR Medical Informatics, 9(11):e27816, 2021. doi:10.2196/27816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[49]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[50]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[51]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[52]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[53]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[54]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[55] L. Mei, K. Huang, X. Li, H. Wang, and X. Zhang. Efficient dual-revocation CP-ABE for secure and fine-grained data sharing in IoMT. IEEE Internet of Things Journal, 13(14):30933–30940, 2026. doi:10.1109/JIOT.2026.3685269</a:t>
            </a:r>
            <a:endParaRPr lang="en-US" sz="1000" dirty="0"/>
          </a:p>
          <a:p>
            <a:pPr indent="0" marL="0">
              <a:spcAft>
                <a:spcPts val="400"/>
              </a:spcAft>
              <a:buNone/>
            </a:pPr>
            <a:r>
              <a:rPr lang="en-US" sz="1000" dirty="0">
                <a:solidFill>
                  <a:srgbClr val="0B1F33"/>
                </a:solidFill>
              </a:rPr>
              <a:t>[56] S. Phuyal, M. Bhandari, R. Bista, and J. C. Ferreira. A blockchain-based architecture for dynamic and auditable patient consent in secondary use of health data. Blockchain in Healthcare Today, 9(1):491, 2026. doi:10.30953/bhty.v9.491</a:t>
            </a:r>
            <a:endParaRPr lang="en-US" sz="1000" dirty="0"/>
          </a:p>
          <a:p>
            <a:pPr indent="0" marL="0">
              <a:spcAft>
                <a:spcPts val="400"/>
              </a:spcAft>
              <a:buNone/>
            </a:pPr>
            <a:r>
              <a:rPr lang="en-US" sz="1000" dirty="0">
                <a:solidFill>
                  <a:srgbClr val="0B1F33"/>
                </a:solidFill>
              </a:rPr>
              <a:t>[57]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[58]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[59]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[60] C.-H. Tseng, Y.-H. Hsieh, H.-Y. Lin, and S.-M. Yuan. EMR-Chain: Decentralized electronic medical record exchange system. Technologies, 13(10):446, 2025. doi:10.3390/technologies13100446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[61]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2026-10-06T12:40:53Z</dcterms:created>
  <dcterms:modified xsi:type="dcterms:W3CDTF">2026-10-06T12:40:53Z</dcterms:modified>
</cp:coreProperties>
</file>
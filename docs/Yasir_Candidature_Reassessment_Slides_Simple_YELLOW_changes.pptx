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3ebfb843-65e5-a816-a0ca-c8f875d6c5c1}">
          <p14:sldIdLst>
            <p14:sldId id="256"/>
            <p14:sldId id="257"/>
          </p14:sldIdLst>
        </p14:section>
        <p14:section name="The Problem" id="{5ae292b3-306b-7f74-fd3b-8d64b6e8bccb}">
          <p14:sldIdLst>
            <p14:sldId id="258"/>
            <p14:sldId id="259"/>
          </p14:sldIdLst>
        </p14:section>
        <p14:section name="Literature Review" id="{6b10508b-ff5e-137a-de7d-b71ee3751fc9}">
          <p14:sldIdLst>
            <p14:sldId id="260"/>
            <p14:sldId id="261"/>
          </p14:sldIdLst>
        </p14:section>
        <p14:section name="Gap, Questions and Objectives" id="{1adf92c8-5a5a-5451-b106-1aeaf095fe50}">
          <p14:sldIdLst>
            <p14:sldId id="262"/>
            <p14:sldId id="263"/>
            <p14:sldId id="264"/>
            <p14:sldId id="265"/>
          </p14:sldIdLst>
        </p14:section>
        <p14:section name="The Framework" id="{5dfd932c-ad53-a33a-6336-0d5771de7a5b}">
          <p14:sldIdLst>
            <p14:sldId id="266"/>
            <p14:sldId id="267"/>
            <p14:sldId id="268"/>
            <p14:sldId id="269"/>
            <p14:sldId id="270"/>
            <p14:sldId id="271"/>
            <p14:sldId id="272"/>
            <p14:sldId id="273"/>
          </p14:sldIdLst>
        </p14:section>
        <p14:section name="Validation and Evaluation" id="{c45fe2fd-ca6e-fd28-39f3-59bb487e9902}">
          <p14:sldIdLst>
            <p14:sldId id="274"/>
            <p14:sldId id="275"/>
            <p14:sldId id="276"/>
            <p14:sldId id="277"/>
          </p14:sldIdLst>
        </p14:section>
        <p14:section name="Contribution" id="{706f3cca-6d62-3995-e4b7-5bf7c80c5413}">
          <p14:sldIdLst>
            <p14:sldId id="278"/>
            <p14:sldId id="279"/>
            <p14:sldId id="280"/>
          </p14:sldIdLst>
        </p14:section>
        <p14:section name="What is Still Open" id="{634d3d5f-8bce-07fd-c90b-9529eea84011}">
          <p14:sldIdLst>
            <p14:sldId id="281"/>
          </p14:sldIdLst>
        </p14:section>
        <p14:section name="Research Plan" id="{0ad44335-55e7-c28e-306b-a4c68e67c0f7}">
          <p14:sldIdLst>
            <p14:sldId id="282"/>
            <p14:sldId id="283"/>
          </p14:sldIdLst>
        </p14:section>
        <p14:section name="Demo: The HALAH Prototype" id="{1bdc5717-36c6-c49b-cd96-8ab2a89d1bbb}">
          <p14:sldIdLst>
            <p14:sldId id="284"/>
            <p14:sldId id="285"/>
            <p14:sldId id="286"/>
            <p14:sldId id="287"/>
            <p14:sldId id="288"/>
            <p14:sldId id="289"/>
            <p14:sldId id="290"/>
            <p14:sldId id="291"/>
            <p14:sldId id="292"/>
            <p14:sldId id="293"/>
          </p14:sldIdLst>
        </p14:section>
        <p14:section name="References" id="{30dd5ec9-d123-0050-e27d-c529dc307164}">
          <p14:sldIdLst>
            <p14:sldId id="294"/>
            <p14:sldId id="295"/>
            <p14:sldId id="296"/>
          </p14:sldIdLst>
        </p14:section>
        <p14:section name="Thank You" id="{8ea5186b-d243-4eab-53fe-48a8851774bf}">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a:t>
            </a:r>
            <a:r>
              <a:rPr lang="en-US" dirty="0">
                <a:highlight>
                  <a:srgbClr val="FFFF00"/>
                </a:highlight>
              </a:rPr>
              <a:t>gap</a:t>
            </a:r>
            <a:r>
              <a:rPr lang="en-US" dirty="0"/>
              <a:t>, the questions and the objectives. After that, the framework and its six steps. Then the validation and the evaluation results. Then I talk about what is still open and the research plan. At the end, I show a demonstration of the prototype through the slides: one real consent, from the day it is created to the day it is revoked.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was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t>
            </a:r>
            <a:r>
              <a:rPr lang="en-US" dirty="0">
                <a:highlight>
                  <a:srgbClr val="FFFF00"/>
                </a:highlight>
              </a:rPr>
              <a:t>authorisation</a:t>
            </a:r>
            <a:r>
              <a:rPr lang="en-US" dirty="0"/>
              <a:t>: which guardians must approve, and how many. P is policy: the purpose and the data that was agreed. T is time: when the consent starts and when it ends. </a:t>
            </a:r>
            <a:r>
              <a:rPr lang="en-US" dirty="0">
                <a:highlight>
                  <a:srgbClr val="FFFF00"/>
                </a:highlight>
              </a:rPr>
              <a:t>L is lifecycle: the state of the consent, from creation to expiry or revocation.</a:t>
            </a:r>
            <a:r>
              <a:rPr lang="en-US" dirty="0"/>
              <a:t>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by abstract, and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a:t>
            </a:r>
            <a:r>
              <a:rPr lang="en-US" dirty="0">
                <a:highlight>
                  <a:srgbClr val="FFFF00"/>
                </a:highlight>
              </a:rPr>
              <a:t>research gap</a:t>
            </a:r>
            <a:r>
              <a:rPr lang="en-US" dirty="0"/>
              <a:t>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a:t>
            </a:r>
            <a:r>
              <a:rPr lang="en-US" dirty="0">
                <a:highlight>
                  <a:srgbClr val="FFFF00"/>
                </a:highlight>
              </a:rPr>
              <a:t>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a:t>
            </a:r>
            <a:r>
              <a:rPr lang="en-US" dirty="0"/>
              <a:t> If any one check fails, the answer is DENY. In the prototype, a Groth16 zero-knowledge proof must also pass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t>
            </a:r>
            <a:r>
              <a:rPr lang="en-US" dirty="0">
                <a:highlight>
                  <a:srgbClr val="FFFF00"/>
                </a:highlight>
              </a:rPr>
              <a:t>and</a:t>
            </a:r>
            <a:r>
              <a:rPr lang="en-US" dirty="0"/>
              <a:t> the start and end time. The system checks every field. For example, an empty data scope or a bad guardian DID is rejected. </a:t>
            </a:r>
            <a:r>
              <a:rPr lang="en-US" dirty="0">
                <a:highlight>
                  <a:srgbClr val="FFFF00"/>
                </a:highlight>
              </a:rPr>
              <a:t>Then the system creates the consent object, assigns a consent identifier, persists the record, and records the creation event in the audit layer.</a:t>
            </a:r>
            <a:r>
              <a:rPr lang="en-US" dirty="0"/>
              <a:t>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a:t>
            </a:r>
            <a:r>
              <a:rPr lang="en-US" dirty="0">
                <a:highlight>
                  <a:srgbClr val="FFFF00"/>
                </a:highlight>
              </a:rPr>
              <a:t>In the HALAH implementation, the guardian workflow uses a selected guardian DID and invokes VC verification before adding the guardian's signature to the consent. Full DID resolution is planned for the next stage.</a:t>
            </a:r>
            <a:r>
              <a:rPr lang="en-US" dirty="0"/>
              <a:t>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replays and duplicates are not counted.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a:t>
            </a:r>
            <a:r>
              <a:rPr lang="en-US" dirty="0">
                <a:highlight>
                  <a:srgbClr val="FFFF00"/>
                </a:highlight>
              </a:rPr>
              <a:t>the lifecycle state</a:t>
            </a:r>
            <a:r>
              <a:rPr lang="en-US" dirty="0"/>
              <a:t>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a:t>
            </a:r>
            <a:r>
              <a:rPr lang="en-US" dirty="0">
                <a:highlight>
                  <a:srgbClr val="FFFF00"/>
                </a:highlight>
              </a:rPr>
              <a:t>In the design, L is the lifecycle state: created, pending, active, suspended, revoked or expired, and VL checks a valid state and a valid transition.</a:t>
            </a:r>
            <a:r>
              <a:rPr lang="en-US" dirty="0"/>
              <a:t> What is still open: </a:t>
            </a:r>
            <a:r>
              <a:rPr lang="en-US" dirty="0">
                <a:highlight>
                  <a:srgbClr val="FFFF00"/>
                </a:highlight>
              </a:rPr>
              <a:t>the suspended state,</a:t>
            </a:r>
            <a:r>
              <a:rPr lang="en-US" dirty="0"/>
              <a:t>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a:t>
            </a:r>
            <a:r>
              <a:rPr lang="en-US" dirty="0">
                <a:highlight>
                  <a:srgbClr val="FFFF00"/>
                </a:highlight>
              </a:rPr>
              <a:t>was</a:t>
            </a:r>
            <a:r>
              <a:rPr lang="en-US" dirty="0"/>
              <a:t> refused. Attack scenarios: eleven of twelve attacks are refused after the hardening. Automated tests: all 36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t>
            </a:r>
            <a:r>
              <a:rPr lang="en-US" dirty="0">
                <a:highlight>
                  <a:srgbClr val="FFFF00"/>
                </a:highlight>
              </a:rPr>
              <a:t>All five rows</a:t>
            </a:r>
            <a:r>
              <a:rPr lang="en-US" dirty="0"/>
              <a:t> are allowed requests: all five checks PASS, the decision is ALLOW, access is GRANTED, and the proof mode is Groth16. The request after revocation is not in this table, because a consent that is no longer active is refused before any decision is logged; its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A1 to A12.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twelve are refused. The last one, A11, changes a stored digest. The prototype does not compare that digest yet, so it is marked as differs, which is neutral, not passed.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about half a second to verify. Anchoring on Sepolia takes about 11.5 seconds, but it runs in the background, so nobody waits for it. A revoke uses about one sixth of the gas of a mint. The timings were measured on the first of October 2026.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only pseudonymous addresses, a hash of the purpose, the validity window </a:t>
            </a:r>
            <a:r>
              <a:rPr lang="en-US" dirty="0">
                <a:highlight>
                  <a:srgbClr val="FFFF00"/>
                </a:highlight>
              </a:rPr>
              <a:t>and</a:t>
            </a:r>
            <a:r>
              <a:rPr lang="en-US" dirty="0"/>
              <a:t>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On the scientific side: consent becomes an object that is checked, not stored. Multi-party approval is a condition of every access. Identity is separated from authority. And the whole decision is checked in one place and tested. On the social side: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with a formal model. Second, the rest of the lifecycle: consent modification, delegation and guardian changes. Third, full DID resolution and wallet-held guardian keys. </a:t>
            </a:r>
            <a:r>
              <a:rPr lang="en-US" dirty="0">
                <a:highlight>
                  <a:srgbClr val="FFFF00"/>
                </a:highlight>
              </a:rPr>
              <a:t>Today the guardian keys are derived from the guardian DIDs.</a:t>
            </a:r>
            <a:r>
              <a:rPr lang="en-US" dirty="0"/>
              <a:t> Fourth, the one open attack, A11. Fifth, a bigger evaluation under load.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demonstration, through the slides. HALAH means History Access Link for Authorised Healthcare. These are its parts: four screens, a soulbound token contract on the Sepolia test network, EIP-712 guardian signatures, a Groth16 proof at access time, synthetic data, and an audit ledger. In the next slides, I walk you through one real consent, from creation to revocation. What you will see covers RO1 to RO4 in full, and the parts of RO5 and RO6 that already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one. The patient creates the consent. On this screen you can see the four data modules, the two guardians </a:t>
            </a:r>
            <a:r>
              <a:rPr lang="en-US" dirty="0">
                <a:highlight>
                  <a:srgbClr val="FFFF00"/>
                </a:highlight>
              </a:rPr>
              <a:t>and</a:t>
            </a:r>
            <a:r>
              <a:rPr lang="en-US" dirty="0"/>
              <a:t> the state PENDING_SIGNATURE. The system checked every field before saving. Nothing has gone to the blockchain yet. This is RO1: consent as an object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two. The first guardian signs. The system takes the EIP-712 signature, finds who signed it, and confirms that this address is one of the two listed guardians. The counter shows one of two. The consent is still pending, because one approval is never enough. This is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three. The second guardian signs. Now the threshold, two of two, is reached. The system records the token locally and starts the mint on Sepolia in the background. The guardian does not wait for the blockchain. On the right, the same screen a bit later: already anchored on Sepolia, with the token number. RO3 is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four. The doctor asks for the patient's data. First the proof is generated and verified. </a:t>
            </a:r>
            <a:r>
              <a:rPr lang="en-US" dirty="0">
                <a:highlight>
                  <a:srgbClr val="FFFF00"/>
                </a:highlight>
              </a:rPr>
              <a:t>Then the five checks run: VI, VA, VP, VT and VL.</a:t>
            </a:r>
            <a:r>
              <a:rPr lang="en-US" dirty="0"/>
              <a:t> All five pass, so the answer is ALLOW. This is RO2 and RO4 together,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five. After ALLOW, the records are shown per module. Only the modules inside the consent scope are returned. If the doctor asked for a module that was not agreed, the request would be refused. That case is covered by attack test A4. The decision and its matrix are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six</a:t>
            </a:r>
            <a:r>
              <a:rPr lang="en-US" dirty="0"/>
              <a:t>. The patient cancels the consent. On the left, the system is sending the revoke transaction to Sepolia and waiting for the block confirmation. On the right, the consent is now REVOKED, with its token number. This is the working part of RO5.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seven</a:t>
            </a:r>
            <a:r>
              <a:rPr lang="en-US" dirty="0"/>
              <a:t>. The doctor tries again. Now VA fails, because the consent is not active any more: its state is REVOKED. Access is refused. An expired consent is refused in the same way, through the time check VT. So a consent that was valid yesterday does not stay usable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eight</a:t>
            </a:r>
            <a:r>
              <a:rPr lang="en-US" dirty="0"/>
              <a:t>. Both the mint and the revoke are public transactions on Sepolia. On the left, the anchoring transaction of the consent, in block 11,771,243. On the right, the revocation, in block 11,771,307, with the decoded function revoke and token id 1. Anyone can check them. No medical data is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step </a:t>
            </a:r>
            <a:r>
              <a:rPr lang="en-US" dirty="0">
                <a:highlight>
                  <a:srgbClr val="FFFF00"/>
                </a:highlight>
              </a:rPr>
              <a:t>nine</a:t>
            </a:r>
            <a:r>
              <a:rPr lang="en-US" dirty="0"/>
              <a:t>, the last one. The auditor can rebuild the full life of the consent: thirteen events in order, from creation to revocation, each with its decision matrix. The dashboard shows the exported ledger: 60 events, 9 access requests and 5 on-chain anchors. And a separate tool re-checked Sepolia and found every anchored transaction in its recorded block. All checks passed. This is the working part of RO6: evidence that can be audited.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doctor proves that they know the secret and the expiry behind the commitment stored in the consent, and that the consent has not expired, without showing them. It is the slowest part,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t>
            </a:r>
            <a:r>
              <a:rPr lang="en-US" sz="1900" b="1" dirty="0">
                <a:solidFill>
                  <a:srgbClr val="0B1F33"/>
                </a:solidFill>
                <a:highlight>
                  <a:srgbClr val="FFFF00"/>
                </a:highlight>
              </a:rPr>
              <a:t>L  Lifecycle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multiple independently verified participants and guardians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a:t>
            </a:r>
            <a:r>
              <a:rPr lang="en-US" sz="110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a:t>
                      </a:r>
                      <a:r>
                        <a:rPr lang="en-US" sz="1300" b="1" dirty="0">
                          <a:solidFill>
                            <a:srgbClr val="0B1F33"/>
                          </a:solidFill>
                          <a:highlight>
                            <a:srgbClr val="FFFF00"/>
                          </a:highlight>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a:t>
            </a:r>
            <a:r>
              <a:rPr lang="en-US" sz="2400" b="1" dirty="0">
                <a:solidFill>
                  <a:srgbClr val="0B1F33"/>
                </a:solidFill>
                <a:highlight>
                  <a:srgbClr val="FFFF00"/>
                </a:highlight>
                <a:latin typeface="Cambria" pitchFamily="34" charset="0"/>
                <a:ea typeface="Cambria" pitchFamily="34" charset="-122"/>
                <a:cs typeface="Cambria" pitchFamily="34" charset="-120"/>
              </a:rPr>
              <a:t>VL(C)</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0B1F33"/>
                </a:solidFill>
                <a:highlight>
                  <a:srgbClr val="FFFF00"/>
                </a:highlight>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0B1F33"/>
                </a:solidFill>
                <a:highlight>
                  <a:srgbClr val="FFFF00"/>
                </a:highlight>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0B1F33"/>
                </a:solidFill>
                <a:highlight>
                  <a:srgbClr val="FFFF00"/>
                </a:highlight>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0B1F33"/>
                </a:solidFill>
                <a:highlight>
                  <a:srgbClr val="FFFF00"/>
                </a:highlight>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0B1F33"/>
                </a:solidFill>
                <a:highlight>
                  <a:srgbClr val="FFFF00"/>
                </a:highlight>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0B1F33"/>
                </a:solidFill>
                <a:highlight>
                  <a:srgbClr val="FFFF00"/>
                </a:highlight>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0B1F33"/>
                </a:solidFill>
                <a:highlight>
                  <a:srgbClr val="FFFF00"/>
                </a:highlight>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8427609"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0B1F33"/>
                </a:solidFill>
                <a:highlight>
                  <a:srgbClr val="FFFF00"/>
                </a:highlight>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a:t>
            </a:r>
            <a:r>
              <a:rPr lang="en-US" sz="1600" dirty="0">
                <a:solidFill>
                  <a:srgbClr val="0B1F33"/>
                </a:solidFill>
                <a:highlight>
                  <a:srgbClr val="FFFF00"/>
                </a:highlight>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0B1F33"/>
                </a:solidFill>
                <a:highlight>
                  <a:srgbClr val="FFFF00"/>
                </a:highlight>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070147"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0B1F33"/>
                </a:solidFill>
                <a:highlight>
                  <a:srgbClr val="FFFF00"/>
                </a:highlight>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yellow/F16.png">    </p:cNvPr>
          <p:cNvPicPr>
            <a:picLocks noChangeAspect="1"/>
          </p:cNvPicPr>
          <p:nvPr/>
        </p:nvPicPr>
        <p:blipFill>
          <a:blip r:embed="rId1"/>
          <a:stretch>
            <a:fillRect/>
          </a:stretch>
        </p:blipFill>
        <p:spPr>
          <a:xfrm>
            <a:off x="7607808" y="1919790"/>
            <a:ext cx="3803904" cy="370422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is refused before any decision is logged (n/l = not logged);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65760">
                <a:tc>
                  <a:txBody>
                    <a:bodyPr/>
                    <a:lstStyle/>
                    <a:p>
                      <a:pPr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65760">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t>
                      </a:r>
                      <a:r>
                        <a:rPr lang="en-US" sz="1150" dirty="0">
                          <a:solidFill>
                            <a:srgbClr val="0B1F33"/>
                          </a:solidFill>
                          <a:highlight>
                            <a:srgbClr val="FFFF00"/>
                          </a:highlight>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65760">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73152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r>
              <a:rPr lang="en-US" sz="950" i="1" dirty="0">
                <a:solidFill>
                  <a:srgbClr val="FFFFFF"/>
                </a:solidFill>
              </a:rPr>
              <a:t>Target: I identity, </a:t>
            </a:r>
            <a:r>
              <a:rPr lang="en-US" sz="950" i="1" dirty="0">
                <a:solidFill>
                  <a:srgbClr val="0B1F33"/>
                </a:solidFill>
                <a:highlight>
                  <a:srgbClr val="FFFF00"/>
                </a:highlight>
              </a:rPr>
              <a:t>A authorisation</a:t>
            </a:r>
            <a:r>
              <a:rPr lang="en-US" sz="950" i="1" dirty="0">
                <a:solidFill>
                  <a:srgbClr val="FFFFFF"/>
                </a:solidFill>
              </a:rPr>
              <a:t>, P policy and scope, T time, </a:t>
            </a:r>
            <a:r>
              <a:rPr lang="en-US" sz="950" i="1" dirty="0">
                <a:solidFill>
                  <a:srgbClr val="0B1F33"/>
                </a:solidFill>
                <a:highlight>
                  <a:srgbClr val="FFFF00"/>
                </a:highlight>
              </a:rPr>
              <a:t>L lifecycle</a:t>
            </a:r>
            <a:r>
              <a:rPr lang="en-US" sz="950" i="1" dirty="0">
                <a:solidFill>
                  <a:srgbClr val="FFFFFF"/>
                </a:solidFill>
              </a:rPr>
              <a:t>, E evidence, Contract = ConsentSBTv3 on an in-memory EVM.</a:t>
            </a:r>
            <a:endParaRPr lang="en-US" sz="950" dirty="0"/>
          </a:p>
        </p:txBody>
      </p:sp>
      <p:sp>
        <p:nvSpPr>
          <p:cNvPr id="6" name="stat attack scenarios, A1 to A12"/>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and wallet-held guardian keys. Today: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700" i="1" dirty="0">
                <a:solidFill>
                  <a:srgbClr val="1FB5D6"/>
                </a:solidFill>
              </a:rPr>
              <a:t>One real consent, from creation to revocation: RO1 to RO4 in full, and the working parts of RO5 and RO6.</a:t>
            </a:r>
            <a:endParaRPr lang="en-US" sz="17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 descr="/tmp/deck/img/F21.png">    </p:cNvPr>
          <p:cNvPicPr>
            <a:picLocks noChangeAspect="1"/>
          </p:cNvPicPr>
          <p:nvPr/>
        </p:nvPicPr>
        <p:blipFill>
          <a:blip r:embed="rId1"/>
          <a:stretch>
            <a:fillRect/>
          </a:stretch>
        </p:blipFill>
        <p:spPr>
          <a:xfrm>
            <a:off x="1079655" y="1709928"/>
            <a:ext cx="6070290"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subsystem after creation: four modules, two guardians, state PENDING_SIGNATURE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two guardians, the data modules </a:t>
            </a:r>
            <a:r>
              <a:rPr lang="en-US" sz="1600" dirty="0">
                <a:solidFill>
                  <a:srgbClr val="0B1F33"/>
                </a:solidFill>
                <a:highlight>
                  <a:srgbClr val="FFFF00"/>
                </a:highlight>
              </a:rPr>
              <a:t>and</a:t>
            </a:r>
            <a:r>
              <a:rPr lang="en-US" sz="1600" dirty="0">
                <a:solidFill>
                  <a:srgbClr val="FFFFFF"/>
                </a:solidFill>
              </a:rPr>
              <a:t> the validity time.</a:t>
            </a:r>
            <a:endParaRPr lang="en-US" sz="1600" dirty="0"/>
          </a:p>
          <a:p>
            <a:pPr marL="342900" indent="-342900">
              <a:spcAft>
                <a:spcPts val="1000"/>
              </a:spcAft>
              <a:buSzPct val="100000"/>
              <a:buChar char="•"/>
            </a:pPr>
            <a:r>
              <a:rPr lang="en-US" sz="1600" dirty="0">
                <a:solidFill>
                  <a:srgbClr val="FFFFFF"/>
                </a:solidFill>
              </a:rPr>
              <a:t>The purpose is fixed to Treatment in this prototype.</a:t>
            </a:r>
            <a:endParaRPr lang="en-US" sz="1600" dirty="0"/>
          </a:p>
          <a:p>
            <a:pPr marL="342900" indent="-342900">
              <a:spcAft>
                <a:spcPts val="1000"/>
              </a:spcAft>
              <a:buSzPct val="100000"/>
              <a:buChar char="•"/>
            </a:pPr>
            <a:r>
              <a:rPr lang="en-US" sz="1600" dirty="0">
                <a:solidFill>
                  <a:srgbClr val="FFFFFF"/>
                </a:solidFill>
              </a:rPr>
              <a:t>An empty data scope or a malformed guardian DID is rejected.</a:t>
            </a:r>
            <a:endParaRPr lang="en-US" sz="1600" dirty="0"/>
          </a:p>
          <a:p>
            <a:pPr marL="342900" indent="-342900">
              <a:spcAft>
                <a:spcPts val="1000"/>
              </a:spcAft>
              <a:buSzPct val="100000"/>
              <a:buChar char="•"/>
            </a:pPr>
            <a:r>
              <a:rPr lang="en-US" sz="1600" dirty="0">
                <a:solidFill>
                  <a:srgbClr val="FFFFFF"/>
                </a:solidFill>
              </a:rPr>
              <a:t>The consent is stored as PENDING_SIGNATURE. 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F22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2" descr="/tmp/deck/img/F22.png">    </p:cNvPr>
          <p:cNvPicPr>
            <a:picLocks noChangeAspect="1"/>
          </p:cNvPicPr>
          <p:nvPr/>
        </p:nvPicPr>
        <p:blipFill>
          <a:blip r:embed="rId1"/>
          <a:stretch>
            <a:fillRect/>
          </a:stretch>
        </p:blipFill>
        <p:spPr>
          <a:xfrm>
            <a:off x="749808" y="2746760"/>
            <a:ext cx="6729984" cy="241604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Guardian subsystem at the first approval: signature verified, multi-signature count 1/2</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first guardian signs an EIP-712 approval.</a:t>
            </a:r>
            <a:endParaRPr lang="en-US" sz="1600" dirty="0"/>
          </a:p>
          <a:p>
            <a:pPr marL="342900" indent="-342900">
              <a:spcAft>
                <a:spcPts val="1000"/>
              </a:spcAft>
              <a:buSzPct val="100000"/>
              <a:buChar char="•"/>
            </a:pPr>
            <a:r>
              <a:rPr lang="en-US" sz="1600" dirty="0">
                <a:solidFill>
                  <a:srgbClr val="FFFFFF"/>
                </a:solidFill>
              </a:rPr>
              <a:t>The system recovers the signer and confirms it is a listed guardian.</a:t>
            </a:r>
            <a:endParaRPr lang="en-US" sz="1600" dirty="0"/>
          </a:p>
          <a:p>
            <a:pPr marL="342900" indent="-342900">
              <a:spcAft>
                <a:spcPts val="1000"/>
              </a:spcAft>
              <a:buSzPct val="100000"/>
              <a:buChar char="•"/>
            </a:pPr>
            <a:r>
              <a:rPr lang="en-US" sz="1600" dirty="0">
                <a:solidFill>
                  <a:srgbClr val="FFFFFF"/>
                </a:solidFill>
              </a:rPr>
              <a:t>The counter shows 1 of 2. The consent stays pending.</a:t>
            </a:r>
            <a:endParaRPr lang="en-US" sz="1600" dirty="0"/>
          </a:p>
          <a:p>
            <a:pPr marL="342900" indent="-342900">
              <a:spcAft>
                <a:spcPts val="1000"/>
              </a:spcAft>
              <a:buSzPct val="100000"/>
              <a:buChar char="•"/>
            </a:pPr>
            <a:r>
              <a:rPr lang="en-US" sz="1600" dirty="0">
                <a:solidFill>
                  <a:srgbClr val="FFFFFF"/>
                </a:solidFill>
              </a:rPr>
              <a:t>Approvals from outsiders, replays and duplicates would not be counted.</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Second signature verified; threshold 2 of 2 reached</a:t>
            </a:r>
            <a:endParaRPr lang="en-US" sz="1400" dirty="0"/>
          </a:p>
          <a:p>
            <a:pPr marL="342900" indent="-342900">
              <a:buSzPct val="100000"/>
              <a:buChar char="•"/>
            </a:pPr>
            <a:r>
              <a:rPr lang="en-US" sz="1400" dirty="0">
                <a:solidFill>
                  <a:srgbClr val="FFFFFF"/>
                </a:solidFill>
              </a:rPr>
              <a:t>A soulbound token is minted on Sepolia in the background; the user does not wait</a:t>
            </a:r>
            <a:endParaRPr lang="en-US" sz="1400" dirty="0"/>
          </a:p>
          <a:p>
            <a:pPr marL="342900" indent="-342900">
              <a:buSzPct val="100000"/>
              <a:buChar char="•"/>
            </a:pPr>
            <a:r>
              <a:rPr lang="en-US" sz="1400" dirty="0">
                <a:solidFill>
                  <a:srgbClr val="FFFFFF"/>
                </a:solidFill>
              </a:rPr>
              <a:t>Later the same screen reads: already anchored on Sepolia</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2/2 reached, SBT minted in the background</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Revisited after the background job: already anchored on Sepolia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F27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7" descr="/tmp/deck/img/F27.png">    </p:cNvPr>
          <p:cNvPicPr>
            <a:picLocks noChangeAspect="1"/>
          </p:cNvPicPr>
          <p:nvPr/>
        </p:nvPicPr>
        <p:blipFill>
          <a:blip r:embed="rId1"/>
          <a:stretch>
            <a:fillRect/>
          </a:stretch>
        </p:blipFill>
        <p:spPr>
          <a:xfrm>
            <a:off x="1266853" y="1709928"/>
            <a:ext cx="569589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all five checks PASS, ALLOW</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doctor selects the consent and a scope inside the agreed modules.</a:t>
            </a:r>
            <a:endParaRPr lang="en-US" sz="1600" dirty="0"/>
          </a:p>
          <a:p>
            <a:pPr marL="342900" indent="-342900">
              <a:spcAft>
                <a:spcPts val="1000"/>
              </a:spcAft>
              <a:buSzPct val="100000"/>
              <a:buChar char="•"/>
            </a:pPr>
            <a:r>
              <a:rPr lang="en-US" sz="1600" dirty="0">
                <a:solidFill>
                  <a:srgbClr val="FFFFFF"/>
                </a:solidFill>
              </a:rPr>
              <a:t>A Groth16 proof is generated and verified.</a:t>
            </a:r>
            <a:endParaRPr lang="en-US" sz="1600" dirty="0"/>
          </a:p>
          <a:p>
            <a:pPr marL="342900" indent="-342900">
              <a:spcAft>
                <a:spcPts val="1000"/>
              </a:spcAft>
              <a:buSzPct val="100000"/>
              <a:buChar char="•"/>
            </a:pPr>
            <a:r>
              <a:rPr lang="en-US" sz="1600" dirty="0">
                <a:solidFill>
                  <a:srgbClr val="FFFFFF"/>
                </a:solidFill>
              </a:rPr>
              <a:t>The decision matrix shows VI, VA, VP, VT, VL all PASS, so ALLOW.</a:t>
            </a:r>
            <a:endParaRPr lang="en-US" sz="1600" dirty="0"/>
          </a:p>
          <a:p>
            <a:pPr marL="342900" indent="-342900">
              <a:spcAft>
                <a:spcPts val="1000"/>
              </a:spcAft>
              <a:buSzPct val="100000"/>
              <a:buChar char="•"/>
            </a:pPr>
            <a:r>
              <a:rPr lang="en-US" sz="1600" dirty="0">
                <a:solidFill>
                  <a:srgbClr val="FFFFFF"/>
                </a:solidFill>
              </a:rPr>
              <a:t>Identity, authority, approvals, scope </a:t>
            </a:r>
            <a:r>
              <a:rPr lang="en-US" sz="1600" dirty="0">
                <a:solidFill>
                  <a:srgbClr val="0B1F33"/>
                </a:solidFill>
                <a:highlight>
                  <a:srgbClr val="FFFF00"/>
                </a:highlight>
              </a:rPr>
              <a:t>and</a:t>
            </a:r>
            <a:r>
              <a:rPr lang="en-US" sz="1600" dirty="0">
                <a:solidFill>
                  <a:srgbClr val="FFFFFF"/>
                </a:solidFill>
              </a:rPr>
              <a:t> time are checked in one decision.</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F29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9" descr="/tmp/deck/img/F29.png">    </p:cNvPr>
          <p:cNvPicPr>
            <a:picLocks noChangeAspect="1"/>
          </p:cNvPicPr>
          <p:nvPr/>
        </p:nvPicPr>
        <p:blipFill>
          <a:blip r:embed="rId1"/>
          <a:stretch>
            <a:fillRect/>
          </a:stretch>
        </p:blipFill>
        <p:spPr>
          <a:xfrm>
            <a:off x="2137378" y="1709928"/>
            <a:ext cx="3954844"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verification: access granted, records displayed per module</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Records are displayed per module: Observation, Medication, Condition, Procedure.</a:t>
            </a:r>
            <a:endParaRPr lang="en-US" sz="1600" dirty="0"/>
          </a:p>
          <a:p>
            <a:pPr marL="342900" indent="-342900">
              <a:spcAft>
                <a:spcPts val="1000"/>
              </a:spcAft>
              <a:buSzPct val="100000"/>
              <a:buChar char="•"/>
            </a:pPr>
            <a:r>
              <a:rPr lang="en-US" sz="1600" dirty="0">
                <a:solidFill>
                  <a:srgbClr val="FFFFFF"/>
                </a:solidFill>
              </a:rPr>
              <a:t>Only the modules inside the consent scope are returned.</a:t>
            </a:r>
            <a:endParaRPr lang="en-US" sz="1600" dirty="0"/>
          </a:p>
          <a:p>
            <a:pPr marL="342900" indent="-342900">
              <a:spcAft>
                <a:spcPts val="1000"/>
              </a:spcAft>
              <a:buSzPct val="100000"/>
              <a:buChar char="•"/>
            </a:pPr>
            <a:r>
              <a:rPr lang="en-US" sz="1600" dirty="0">
                <a:solidFill>
                  <a:srgbClr val="FFFFFF"/>
                </a:solidFill>
              </a:rPr>
              <a:t>A request for a module outside the scope is refused (attack test A4).</a:t>
            </a:r>
            <a:endParaRPr lang="en-US" sz="1600" dirty="0"/>
          </a:p>
          <a:p>
            <a:pPr marL="342900" indent="-342900">
              <a:spcAft>
                <a:spcPts val="1000"/>
              </a:spcAft>
              <a:buSzPct val="100000"/>
              <a:buChar char="•"/>
            </a:pPr>
            <a:r>
              <a:rPr lang="en-US" sz="1600" dirty="0">
                <a:solidFill>
                  <a:srgbClr val="FFFFFF"/>
                </a:solidFill>
              </a:rPr>
              <a:t>The decision is written to the audit ledger with its matrix.</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6</a:t>
            </a:r>
            <a:r>
              <a:rPr lang="en-US" sz="3000" b="1" dirty="0">
                <a:solidFill>
                  <a:srgbClr val="FFFFFF"/>
                </a:solidFill>
                <a:latin typeface="Arial" pitchFamily="34" charset="0"/>
                <a:ea typeface="Arial" pitchFamily="34" charset="-122"/>
                <a:cs typeface="Arial" pitchFamily="34" charset="-120"/>
              </a:rPr>
              <a:t>: THE PATIENT REVOKES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end to end, with an on-chain transaction</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patient revokes the consent</a:t>
            </a:r>
            <a:endParaRPr lang="en-US" sz="1400" dirty="0"/>
          </a:p>
          <a:p>
            <a:pPr marL="342900" indent="-342900">
              <a:buSzPct val="100000"/>
              <a:buChar char="•"/>
            </a:pPr>
            <a:r>
              <a:rPr lang="en-US" sz="1400" dirty="0">
                <a:solidFill>
                  <a:srgbClr val="FFFFFF"/>
                </a:solidFill>
              </a:rPr>
              <a:t>The revoke transaction is sent to Sepolia and waits for block confirmation</a:t>
            </a:r>
            <a:endParaRPr lang="en-US" sz="1400" dirty="0"/>
          </a:p>
          <a:p>
            <a:pPr marL="342900" indent="-342900">
              <a:buSzPct val="100000"/>
              <a:buChar char="•"/>
            </a:pPr>
            <a:r>
              <a:rPr lang="en-US" sz="1400" dirty="0">
                <a:solidFill>
                  <a:srgbClr val="FFFFFF"/>
                </a:solidFill>
              </a:rPr>
              <a:t>The consent becomes REVOKED, token #1</a:t>
            </a:r>
            <a:endParaRPr lang="en-US" sz="1400" dirty="0"/>
          </a:p>
        </p:txBody>
      </p:sp>
      <p:sp>
        <p:nvSpPr>
          <p:cNvPr id="8" name="F33 panel"/>
          <p:cNvSpPr/>
          <p:nvPr/>
        </p:nvSpPr>
        <p:spPr>
          <a:xfrm>
            <a:off x="64008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3" descr="/tmp/deck/img/F33.png">    </p:cNvPr>
          <p:cNvPicPr>
            <a:picLocks noChangeAspect="1"/>
          </p:cNvPicPr>
          <p:nvPr/>
        </p:nvPicPr>
        <p:blipFill>
          <a:blip r:embed="rId1"/>
          <a:stretch>
            <a:fillRect/>
          </a:stretch>
        </p:blipFill>
        <p:spPr>
          <a:xfrm>
            <a:off x="1022756" y="2487168"/>
            <a:ext cx="4629607" cy="3346704"/>
          </a:xfrm>
          <a:prstGeom prst="rect">
            <a:avLst/>
          </a:prstGeom>
        </p:spPr>
      </p:pic>
      <p:sp>
        <p:nvSpPr>
          <p:cNvPr id="10" name="caption"/>
          <p:cNvSpPr txBox="1"/>
          <p:nvPr/>
        </p:nvSpPr>
        <p:spPr>
          <a:xfrm>
            <a:off x="640080" y="5989320"/>
            <a:ext cx="5394960" cy="320040"/>
          </a:xfrm>
          <a:prstGeom prst="rect">
            <a:avLst/>
          </a:prstGeom>
          <a:noFill/>
          <a:ln/>
        </p:spPr>
        <p:txBody>
          <a:bodyPr wrap="square" rtlCol="0" anchor="ctr"/>
          <a:lstStyle/>
          <a:p>
            <a:pPr algn="ctr" indent="0" marL="0">
              <a:buNone/>
            </a:pPr>
            <a:r>
              <a:rPr lang="en-US" sz="1200" i="1" dirty="0">
                <a:solidFill>
                  <a:srgbClr val="FFFFFF"/>
                </a:solidFill>
              </a:rPr>
              <a:t>During revocation: waiting for block confirmation</a:t>
            </a:r>
            <a:endParaRPr lang="en-US" sz="1200" dirty="0"/>
          </a:p>
        </p:txBody>
      </p:sp>
      <p:sp>
        <p:nvSpPr>
          <p:cNvPr id="11" name="F34 panel"/>
          <p:cNvSpPr/>
          <p:nvPr/>
        </p:nvSpPr>
        <p:spPr>
          <a:xfrm>
            <a:off x="6172200" y="2377440"/>
            <a:ext cx="5394960" cy="3566160"/>
          </a:xfrm>
          <a:prstGeom prst="roundRect">
            <a:avLst>
              <a:gd name="adj" fmla="val 307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4" descr="/tmp/deck/img/F34.png">    </p:cNvPr>
          <p:cNvPicPr>
            <a:picLocks noChangeAspect="1"/>
          </p:cNvPicPr>
          <p:nvPr/>
        </p:nvPicPr>
        <p:blipFill>
          <a:blip r:embed="rId2"/>
          <a:stretch>
            <a:fillRect/>
          </a:stretch>
        </p:blipFill>
        <p:spPr>
          <a:xfrm>
            <a:off x="6344440" y="2487168"/>
            <a:ext cx="5050481" cy="3346704"/>
          </a:xfrm>
          <a:prstGeom prst="rect">
            <a:avLst/>
          </a:prstGeom>
        </p:spPr>
      </p:pic>
      <p:sp>
        <p:nvSpPr>
          <p:cNvPr id="13" name="caption"/>
          <p:cNvSpPr txBox="1"/>
          <p:nvPr/>
        </p:nvSpPr>
        <p:spPr>
          <a:xfrm>
            <a:off x="6172200" y="5989320"/>
            <a:ext cx="5394960" cy="320040"/>
          </a:xfrm>
          <a:prstGeom prst="rect">
            <a:avLst/>
          </a:prstGeom>
          <a:noFill/>
          <a:ln/>
        </p:spPr>
        <p:txBody>
          <a:bodyPr wrap="square" rtlCol="0" anchor="ctr"/>
          <a:lstStyle/>
          <a:p>
            <a:pPr algn="ctr" indent="0" marL="0">
              <a:buNone/>
            </a:pPr>
            <a:r>
              <a:rPr lang="en-US" sz="1200" i="1" dirty="0">
                <a:solidFill>
                  <a:srgbClr val="FFFFFF"/>
                </a:solidFill>
              </a:rPr>
              <a:t>After revocation: the consent is REVOKED, token #1</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7</a:t>
            </a:r>
            <a:r>
              <a:rPr lang="en-US" sz="3000" b="1" dirty="0">
                <a:solidFill>
                  <a:srgbClr val="FFFFFF"/>
                </a:solidFill>
                <a:latin typeface="Arial" pitchFamily="34" charset="0"/>
                <a:ea typeface="Arial" pitchFamily="34" charset="-122"/>
                <a:cs typeface="Arial" pitchFamily="34" charset="-120"/>
              </a:rPr>
              <a:t>: AFTER REVOCATION, REFUSED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A revoked consent cannot be used</a:t>
            </a:r>
            <a:endParaRPr lang="en-US" sz="1600" dirty="0"/>
          </a:p>
        </p:txBody>
      </p:sp>
      <p:sp>
        <p:nvSpPr>
          <p:cNvPr id="7" name="F36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6" descr="/tmp/deck/img/F36.png">    </p:cNvPr>
          <p:cNvPicPr>
            <a:picLocks noChangeAspect="1"/>
          </p:cNvPicPr>
          <p:nvPr/>
        </p:nvPicPr>
        <p:blipFill>
          <a:blip r:embed="rId1"/>
          <a:stretch>
            <a:fillRect/>
          </a:stretch>
        </p:blipFill>
        <p:spPr>
          <a:xfrm>
            <a:off x="749808" y="2246920"/>
            <a:ext cx="6729984" cy="3415721"/>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Doctor subsystem after revocation: VA FAIL, state REVOKED</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same doctor repeats the request.</a:t>
            </a:r>
            <a:endParaRPr lang="en-US" sz="1600" dirty="0"/>
          </a:p>
          <a:p>
            <a:pPr marL="342900" indent="-342900">
              <a:spcAft>
                <a:spcPts val="1000"/>
              </a:spcAft>
              <a:buSzPct val="100000"/>
              <a:buChar char="•"/>
            </a:pPr>
            <a:r>
              <a:rPr lang="en-US" sz="1600" dirty="0">
                <a:solidFill>
                  <a:srgbClr val="FFFFFF"/>
                </a:solidFill>
              </a:rPr>
              <a:t>VA reports FAIL: the consent is not active, current state REVOKED.</a:t>
            </a:r>
            <a:endParaRPr lang="en-US" sz="1600" dirty="0"/>
          </a:p>
          <a:p>
            <a:pPr marL="342900" indent="-342900">
              <a:spcAft>
                <a:spcPts val="1000"/>
              </a:spcAft>
              <a:buSzPct val="100000"/>
              <a:buChar char="•"/>
            </a:pPr>
            <a:r>
              <a:rPr lang="en-US" sz="1600" dirty="0">
                <a:solidFill>
                  <a:srgbClr val="FFFFFF"/>
                </a:solidFill>
              </a:rPr>
              <a:t>Access is refused.</a:t>
            </a:r>
            <a:endParaRPr lang="en-US" sz="1600" dirty="0"/>
          </a:p>
          <a:p>
            <a:pPr marL="342900" indent="-342900">
              <a:spcAft>
                <a:spcPts val="1000"/>
              </a:spcAft>
              <a:buSzPct val="100000"/>
              <a:buChar char="•"/>
            </a:pPr>
            <a:r>
              <a:rPr lang="en-US" sz="1600" dirty="0">
                <a:solidFill>
                  <a:srgbClr val="FFFFFF"/>
                </a:solidFill>
              </a:rPr>
              <a:t>Expired consents are refused the same way through VT.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8</a:t>
            </a:r>
            <a:r>
              <a:rPr lang="en-US" sz="3000" b="1" dirty="0">
                <a:solidFill>
                  <a:srgbClr val="FFFFFF"/>
                </a:solidFill>
                <a:latin typeface="Arial" pitchFamily="34" charset="0"/>
                <a:ea typeface="Arial" pitchFamily="34" charset="-122"/>
                <a:cs typeface="Arial" pitchFamily="34" charset="-120"/>
              </a:rPr>
              <a:t>: PUBLIC EVIDENCE ON SEPOLIA</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 + 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mint and the revoke are public, verifiable transactions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Mint of the evaluated consent: block 11,771,243</a:t>
            </a:r>
            <a:endParaRPr lang="en-US" sz="1400" dirty="0"/>
          </a:p>
          <a:p>
            <a:pPr marL="342900" indent="-342900">
              <a:buSzPct val="100000"/>
              <a:buChar char="•"/>
            </a:pPr>
            <a:r>
              <a:rPr lang="en-US" sz="1400" dirty="0">
                <a:solidFill>
                  <a:srgbClr val="FFFFFF"/>
                </a:solidFill>
              </a:rPr>
              <a:t>Revoke of token #1: block 11,771,307, decoded input revoke(uint256 tokenId)</a:t>
            </a:r>
            <a:endParaRPr lang="en-US" sz="1400" dirty="0"/>
          </a:p>
          <a:p>
            <a:pPr marL="342900" indent="-342900">
              <a:buSzPct val="100000"/>
              <a:buChar char="•"/>
            </a:pPr>
            <a:r>
              <a:rPr lang="en-US" sz="1400" dirty="0">
                <a:solidFill>
                  <a:srgbClr val="FFFFFF"/>
                </a:solidFill>
              </a:rPr>
              <a:t>No medical data is on the chain, only the consent state</a:t>
            </a:r>
            <a:endParaRPr lang="en-US" sz="1400" dirty="0"/>
          </a:p>
        </p:txBody>
      </p:sp>
      <p:sp>
        <p:nvSpPr>
          <p:cNvPr id="8" name="F26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6" descr="/tmp/deck/img/F26.png">    </p:cNvPr>
          <p:cNvPicPr>
            <a:picLocks noChangeAspect="1"/>
          </p:cNvPicPr>
          <p:nvPr/>
        </p:nvPicPr>
        <p:blipFill>
          <a:blip r:embed="rId1"/>
          <a:stretch>
            <a:fillRect/>
          </a:stretch>
        </p:blipFill>
        <p:spPr>
          <a:xfrm>
            <a:off x="749808" y="2705041"/>
            <a:ext cx="5175504" cy="3002398"/>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Anchoring transaction: status Success, block 11,771,243</a:t>
            </a:r>
            <a:endParaRPr lang="en-US" sz="1200" dirty="0"/>
          </a:p>
        </p:txBody>
      </p:sp>
      <p:sp>
        <p:nvSpPr>
          <p:cNvPr id="11" name="F37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7" descr="/tmp/deck/img/F37.png">    </p:cNvPr>
          <p:cNvPicPr>
            <a:picLocks noChangeAspect="1"/>
          </p:cNvPicPr>
          <p:nvPr/>
        </p:nvPicPr>
        <p:blipFill>
          <a:blip r:embed="rId2"/>
          <a:stretch>
            <a:fillRect/>
          </a:stretch>
        </p:blipFill>
        <p:spPr>
          <a:xfrm>
            <a:off x="6964589" y="2487168"/>
            <a:ext cx="3810182"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Revocation transaction: status Success, block 11,771,307</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DEMO 9</a:t>
            </a:r>
            <a:r>
              <a:rPr lang="en-US" sz="3000" b="1" dirty="0">
                <a:solidFill>
                  <a:srgbClr val="FFFFFF"/>
                </a:solidFill>
                <a:latin typeface="Arial" pitchFamily="34" charset="0"/>
                <a:ea typeface="Arial" pitchFamily="34" charset="-122"/>
                <a:cs typeface="Arial" pitchFamily="34" charset="-120"/>
              </a:rPr>
              <a:t>: THE AUDITOR SEES EVERYTHING</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Every event in order, and the chain agrees with the local records</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lifecycle of the consent: thirteen recorded events in order, from creation to revocation</a:t>
            </a:r>
            <a:endParaRPr lang="en-US" sz="1400" dirty="0"/>
          </a:p>
          <a:p>
            <a:pPr marL="342900" indent="-342900">
              <a:buSzPct val="100000"/>
              <a:buChar char="•"/>
            </a:pPr>
            <a:r>
              <a:rPr lang="en-US" sz="1400" dirty="0">
                <a:solidFill>
                  <a:srgbClr val="FFFFFF"/>
                </a:solidFill>
              </a:rPr>
              <a:t>Aggregate indicators of the exported ledger: 60 events, 9 access requests, 5 on-chain anchors</a:t>
            </a:r>
            <a:endParaRPr lang="en-US" sz="1400" dirty="0"/>
          </a:p>
          <a:p>
            <a:pPr marL="342900" indent="-342900">
              <a:buSzPct val="100000"/>
              <a:buChar char="•"/>
            </a:pPr>
            <a:r>
              <a:rPr lang="en-US" sz="1400" dirty="0">
                <a:solidFill>
                  <a:srgbClr val="FFFFFF"/>
                </a:solidFill>
              </a:rPr>
              <a:t>An independent tool re-checked Sepolia: all anchored transactions found in their recorded blocks</a:t>
            </a:r>
            <a:endParaRPr lang="en-US" sz="1400" dirty="0"/>
          </a:p>
        </p:txBody>
      </p:sp>
      <p:sp>
        <p:nvSpPr>
          <p:cNvPr id="8" name="F38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8" descr="/tmp/deck/img/F38.png">    </p:cNvPr>
          <p:cNvPicPr>
            <a:picLocks noChangeAspect="1"/>
          </p:cNvPicPr>
          <p:nvPr/>
        </p:nvPicPr>
        <p:blipFill>
          <a:blip r:embed="rId1"/>
          <a:stretch>
            <a:fillRect/>
          </a:stretch>
        </p:blipFill>
        <p:spPr>
          <a:xfrm>
            <a:off x="1959148" y="2487168"/>
            <a:ext cx="2756824"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subsystem: lifecycle of the evaluated consent, thirteen events in order</a:t>
            </a:r>
            <a:endParaRPr lang="en-US" sz="1200" dirty="0"/>
          </a:p>
        </p:txBody>
      </p:sp>
      <p:sp>
        <p:nvSpPr>
          <p:cNvPr id="11" name="F39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9" descr="/tmp/deck/img/F39.png">    </p:cNvPr>
          <p:cNvPicPr>
            <a:picLocks noChangeAspect="1"/>
          </p:cNvPicPr>
          <p:nvPr/>
        </p:nvPicPr>
        <p:blipFill>
          <a:blip r:embed="rId2"/>
          <a:stretch>
            <a:fillRect/>
          </a:stretch>
        </p:blipFill>
        <p:spPr>
          <a:xfrm>
            <a:off x="6281928" y="2819493"/>
            <a:ext cx="5175504" cy="2773493"/>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Auditor dashboard: 60 events, 9 access requests, 5 on-chain anchors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2026-10-11T01:10:04Z</dcterms:created>
  <dcterms:modified xsi:type="dcterms:W3CDTF">2026-10-11T01:10:04Z</dcterms:modified>
</cp:coreProperties>
</file>
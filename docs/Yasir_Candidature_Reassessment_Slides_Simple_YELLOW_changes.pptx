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d6bd4064-4f4b-879b-c0a3-8102859e6032}">
          <p14:sldIdLst>
            <p14:sldId id="256"/>
            <p14:sldId id="257"/>
          </p14:sldIdLst>
        </p14:section>
        <p14:section name="The Problem" id="{5bad32e4-d573-baf3-877e-5d21743d0180}">
          <p14:sldIdLst>
            <p14:sldId id="258"/>
            <p14:sldId id="259"/>
          </p14:sldIdLst>
        </p14:section>
        <p14:section name="Literature Review" id="{4a5a19b2-3644-a8d4-2000-49c91d1d6cec}">
          <p14:sldIdLst>
            <p14:sldId id="260"/>
            <p14:sldId id="261"/>
          </p14:sldIdLst>
        </p14:section>
        <p14:section name="Gap, Questions and Objectives" id="{528ab486-3a01-8f28-1140-4e9346ef7bb3}">
          <p14:sldIdLst>
            <p14:sldId id="262"/>
            <p14:sldId id="263"/>
            <p14:sldId id="264"/>
            <p14:sldId id="265"/>
          </p14:sldIdLst>
        </p14:section>
        <p14:section name="The Framework" id="{1acc8c0a-5fe2-18a4-eb8d-c64526d1fc94}">
          <p14:sldIdLst>
            <p14:sldId id="266"/>
            <p14:sldId id="267"/>
            <p14:sldId id="268"/>
            <p14:sldId id="269"/>
            <p14:sldId id="270"/>
            <p14:sldId id="271"/>
            <p14:sldId id="272"/>
            <p14:sldId id="273"/>
            <p14:sldId id="274"/>
            <p14:sldId id="275"/>
            <p14:sldId id="276"/>
            <p14:sldId id="277"/>
            <p14:sldId id="278"/>
            <p14:sldId id="279"/>
          </p14:sldIdLst>
        </p14:section>
        <p14:section name="Validation and Evaluation" id="{31f9cbf6-c2ec-1de3-5728-aa70bc27c0e9}">
          <p14:sldIdLst>
            <p14:sldId id="280"/>
            <p14:sldId id="281"/>
            <p14:sldId id="282"/>
            <p14:sldId id="283"/>
          </p14:sldIdLst>
        </p14:section>
        <p14:section name="Contribution" id="{41a83b55-4c42-daad-199f-c35192ade031}">
          <p14:sldIdLst>
            <p14:sldId id="284"/>
            <p14:sldId id="285"/>
            <p14:sldId id="286"/>
            <p14:sldId id="287"/>
          </p14:sldIdLst>
        </p14:section>
        <p14:section name="What is Still Open" id="{19f5a172-1d9b-e530-a52e-8d225ca2a46e}">
          <p14:sldIdLst>
            <p14:sldId id="288"/>
          </p14:sldIdLst>
        </p14:section>
        <p14:section name="Research Plan" id="{47f3df98-e4b2-e275-d692-56901dd4e58b}">
          <p14:sldIdLst>
            <p14:sldId id="289"/>
            <p14:sldId id="290"/>
          </p14:sldIdLst>
        </p14:section>
        <p14:section name="Demo: The HALAH Prototype" id="{5064162a-9cc4-8add-dd0b-9b7419f62511}">
          <p14:sldIdLst>
            <p14:sldId id="291"/>
            <p14:sldId id="292"/>
            <p14:sldId id="293"/>
            <p14:sldId id="294"/>
            <p14:sldId id="295"/>
            <p14:sldId id="296"/>
            <p14:sldId id="297"/>
            <p14:sldId id="298"/>
          </p14:sldIdLst>
        </p14:section>
        <p14:section name="References" id="{42b75a56-f439-b79c-0810-f838a4df3dd5}">
          <p14:sldIdLst>
            <p14:sldId id="299"/>
          </p14:sldIdLst>
        </p14:section>
        <p14:section name="Thank You" id="{d957ae92-ac62-a2f6-8765-ccfda78a0dae}">
          <p14:sldIdLst>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a:t>
            </a:r>
            <a:r>
              <a:rPr lang="en-US" dirty="0">
                <a:highlight>
                  <a:srgbClr val="FFFF00"/>
                </a:highlight>
              </a:rPr>
              <a:t>gap</a:t>
            </a:r>
            <a:r>
              <a:rPr lang="en-US" dirty="0"/>
              <a:t>, the questions and the objectives. After that, the framework and its six steps. </a:t>
            </a:r>
            <a:r>
              <a:rPr lang="en-US" dirty="0">
                <a:highlight>
                  <a:srgbClr val="FFFF00"/>
                </a:highlight>
              </a:rPr>
              <a:t>Then the validation and the evaluation results, and the significance of the research. Then I talk about what is still open and the research plan. At the end, I show a short demonstration of the prototype through the slides, with real prototype screens from 24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t>
            </a:r>
            <a:r>
              <a:rPr lang="en-US" dirty="0">
                <a:highlight>
                  <a:srgbClr val="FFFF00"/>
                </a:highlight>
              </a:rPr>
              <a:t>And even with approval, a request can ask for more data than the patient allowed, or it can come after the consent has expired or has been cancelled.</a:t>
            </a:r>
            <a:r>
              <a:rPr lang="en-US" dirty="0"/>
              <a:t>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t>
            </a:r>
            <a:r>
              <a:rPr lang="en-US" dirty="0">
                <a:highlight>
                  <a:srgbClr val="FFFF00"/>
                </a:highlight>
              </a:rPr>
              <a:t>authorisation</a:t>
            </a:r>
            <a:r>
              <a:rPr lang="en-US" dirty="0"/>
              <a:t>: which guardians must approve, and how many. P is policy: the purpose and the data that was agreed. T is time: when the consent starts and when it ends. </a:t>
            </a:r>
            <a:r>
              <a:rPr lang="en-US" dirty="0">
                <a:highlight>
                  <a:srgbClr val="FFFF00"/>
                </a:highlight>
              </a:rPr>
              <a:t>L is lifecycle: the state of the consent, from creation to expiry or revocation.</a:t>
            </a:r>
            <a:r>
              <a:rPr lang="en-US" dirty="0"/>
              <a:t>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t>
            </a:r>
            <a:r>
              <a:rPr lang="en-US" dirty="0">
                <a:highlight>
                  <a:srgbClr val="FFFF00"/>
                </a:highlight>
              </a:rPr>
              <a:t>After I removed duplicates, 6,039 were screened by title. 3,129 went on to the abstract stage, and 2,541 of them were screened. Then 1,800 full texts were put in order of priority.</a:t>
            </a:r>
            <a:r>
              <a:rPr lang="en-US" dirty="0"/>
              <a:t>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a:t>
            </a:r>
            <a:r>
              <a:rPr lang="en-US" dirty="0">
                <a:highlight>
                  <a:srgbClr val="FFFF00"/>
                </a:highlight>
              </a:rPr>
              <a:t>The suspended state, the transition check, consent changes, delegation and guardian changes are for the next stage.</a:t>
            </a:r>
            <a:r>
              <a:rPr lang="en-US" dirty="0"/>
              <a:t>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a:t>
            </a:r>
            <a:r>
              <a:rPr lang="en-US" dirty="0">
                <a:highlight>
                  <a:srgbClr val="FFFF00"/>
                </a:highlight>
              </a:rPr>
              <a:t>research gap</a:t>
            </a:r>
            <a:r>
              <a:rPr lang="en-US" dirty="0"/>
              <a:t>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a:t>
            </a:r>
            <a:r>
              <a:rPr lang="en-US" dirty="0">
                <a:highlight>
                  <a:srgbClr val="FFFF00"/>
                </a:highlight>
              </a:rPr>
              <a:t>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a:t>
            </a:r>
            <a:r>
              <a:rPr lang="en-US" dirty="0"/>
              <a:t> If any one check fails, the answer is DENY. In the prototype, a Groth16 zero-knowledge proof must also pass before any data is released. And </a:t>
            </a:r>
            <a:r>
              <a:rPr lang="en-US" dirty="0">
                <a:highlight>
                  <a:srgbClr val="FFFF00"/>
                </a:highlight>
              </a:rPr>
              <a:t>every access decision, allowed or denied, is written to the off-chain audit ledger</a:t>
            </a:r>
            <a:r>
              <a:rPr lang="en-US" dirty="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t>
            </a:r>
            <a:r>
              <a:rPr lang="en-US" dirty="0">
                <a:highlight>
                  <a:srgbClr val="FFFF00"/>
                </a:highlight>
              </a:rPr>
              <a:t>and</a:t>
            </a:r>
            <a:r>
              <a:rPr lang="en-US" dirty="0"/>
              <a:t> the start and end time. The system checks every field. For example, an empty data scope or a bad guardian DID is rejected. </a:t>
            </a:r>
            <a:r>
              <a:rPr lang="en-US" dirty="0">
                <a:highlight>
                  <a:srgbClr val="FFFF00"/>
                </a:highlight>
              </a:rPr>
              <a:t>Then the system creates the consent object, assigns a consent identifier, persists the record, and records the creation event in the audit layer.</a:t>
            </a:r>
            <a:r>
              <a:rPr lang="en-US" dirty="0"/>
              <a:t> Nothing goes to the blockchain yet. This is RO1, and it is done.
</a:t>
            </a:r>
            <a:r>
              <a:rPr lang="en-US" dirty="0">
                <a:highlight>
                  <a:srgbClr val="FFFF00"/>
                </a:highlight>
              </a:rPr>
              <a:t>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a:t>
            </a:r>
            <a:r>
              <a:rPr lang="en-US" dirty="0">
                <a:highlight>
                  <a:srgbClr val="FFFF00"/>
                </a:highlight>
              </a:rPr>
              <a:t>In the HALAH implementation, the guardian workflow uses a selected guardian DID and invokes VC verification before adding the guardian's signature to the consent. Full DID resolution is planned for the next stage.</a:t>
            </a:r>
            <a:r>
              <a:rPr lang="en-US" dirty="0"/>
              <a:t> So RO2 is done at the design level and in the prototype.
</a:t>
            </a:r>
            <a:r>
              <a:rPr lang="en-US" dirty="0">
                <a:highlight>
                  <a:srgbClr val="FFFF00"/>
                </a:highlight>
              </a:rPr>
              <a:t>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a:t>
            </a:r>
            <a:r>
              <a:rPr lang="en-US" dirty="0">
                <a:highlight>
                  <a:srgbClr val="FFFF00"/>
                </a:highlight>
              </a:rPr>
              <a:t>Outsiders and duplicates are not counted, and a signature replayed from another consent fails the identity check.</a:t>
            </a:r>
            <a:r>
              <a:rPr lang="en-US" dirty="0"/>
              <a:t> In the demo, two of two guardians must sign. When both have signed, a soulbound token is minted on the Sepolia test network in the background. One honest note: in the prototype, the guardian keys are derived from the guardian DIDs. Wallet-held keys are for the next stage. RO3 is done.
</a:t>
            </a:r>
            <a:r>
              <a:rPr lang="en-US" dirty="0">
                <a:highlight>
                  <a:srgbClr val="FFFF00"/>
                </a:highlight>
              </a:rPr>
              <a:t>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a:t>
            </a:r>
            <a:r>
              <a:rPr lang="en-US" dirty="0">
                <a:highlight>
                  <a:srgbClr val="FFFF00"/>
                </a:highlight>
              </a:rPr>
              <a:t>the lifecycle state</a:t>
            </a:r>
            <a:r>
              <a:rPr lang="en-US" dirty="0"/>
              <a:t> are checked in the same decision. And a Groth16 proof must pass before any data is released. RO4 is done.
</a:t>
            </a:r>
            <a:r>
              <a:rPr lang="en-US" dirty="0">
                <a:highlight>
                  <a:srgbClr val="FFFF00"/>
                </a:highlight>
              </a:rPr>
              <a:t>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a:t>
            </a:r>
            <a:r>
              <a:rPr lang="en-US" dirty="0">
                <a:highlight>
                  <a:srgbClr val="FFFF00"/>
                </a:highlight>
              </a:rPr>
              <a:t>In the design, L is the lifecycle state: created, pending, active, suspended, revoked or expired, and VL checks a valid state and a valid transition.</a:t>
            </a:r>
            <a:r>
              <a:rPr lang="en-US" dirty="0"/>
              <a:t> What is still open: </a:t>
            </a:r>
            <a:r>
              <a:rPr lang="en-US" dirty="0">
                <a:highlight>
                  <a:srgbClr val="FFFF00"/>
                </a:highlight>
              </a:rPr>
              <a:t>the suspended state,</a:t>
            </a:r>
            <a:r>
              <a:rPr lang="en-US" dirty="0"/>
              <a:t> the lifecycle transition check, consent modification, delegation, changes to the guardian set, and a formal lifecycle model. That is why RO5 is in progress.
</a:t>
            </a:r>
            <a:r>
              <a:rPr lang="en-US" dirty="0">
                <a:highlight>
                  <a:srgbClr val="FFFF00"/>
                </a:highlight>
              </a:rPr>
              <a:t>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a:t>
            </a:r>
            <a:r>
              <a:rPr lang="en-US" dirty="0">
                <a:highlight>
                  <a:srgbClr val="FFFF00"/>
                </a:highlight>
              </a:rPr>
              <a:t>46 automated tests pass, including thirteen attack scenarios.</a:t>
            </a:r>
            <a:r>
              <a:rPr lang="en-US" dirty="0"/>
              <a:t> I also measured the cost and the timing. The proof part is the next stage: formal proofs or model checking of the security properties, and a bigger evaluation under load. That is why RO6 is partly completed.
</a:t>
            </a:r>
            <a:r>
              <a:rPr lang="en-US" dirty="0">
                <a:highlight>
                  <a:srgbClr val="FFFF00"/>
                </a:highlight>
              </a:rPr>
              <a:t>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a:t>
            </a:r>
            <a:r>
              <a:rPr lang="en-US" dirty="0">
                <a:highlight>
                  <a:srgbClr val="FFFF00"/>
                </a:highlight>
              </a:rPr>
              <a:t>was</a:t>
            </a:r>
            <a:r>
              <a:rPr lang="en-US" dirty="0"/>
              <a:t> refused. </a:t>
            </a:r>
            <a:r>
              <a:rPr lang="en-US" dirty="0">
                <a:highlight>
                  <a:srgbClr val="FFFF00"/>
                </a:highlight>
              </a:rPr>
              <a:t>Attack scenarios: twelve of thirteen attacks are refused. Automated tests: all 46 pass.</a:t>
            </a:r>
            <a:r>
              <a:rPr lang="en-US" dirty="0"/>
              <a:t>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t>
            </a:r>
            <a:r>
              <a:rPr lang="en-US" dirty="0">
                <a:highlight>
                  <a:srgbClr val="FFFF00"/>
                </a:highlight>
              </a:rPr>
              <a:t>All five rows</a:t>
            </a:r>
            <a:r>
              <a:rPr lang="en-US" dirty="0"/>
              <a:t> are allowed requests: all five checks PASS, the decision is ALLOW, access is GRANTED, and the proof mode is Groth16. </a:t>
            </a:r>
            <a:r>
              <a:rPr lang="en-US" dirty="0">
                <a:highlight>
                  <a:srgbClr val="FFFF00"/>
                </a:highlight>
              </a:rPr>
              <a:t>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also attacked my own system thirteen times, A1 to A13.</a:t>
            </a:r>
            <a:r>
              <a:rPr lang="en-US" dirty="0"/>
              <a:t>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t>
            </a:r>
            <a:r>
              <a:rPr lang="en-US" dirty="0">
                <a:highlight>
                  <a:srgbClr val="FFFF00"/>
                </a:highlight>
              </a:rPr>
              <a:t>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a:t>
            </a:r>
            <a:r>
              <a:rPr lang="en-US" dirty="0">
                <a:highlight>
                  <a:srgbClr val="FFFF00"/>
                </a:highlight>
              </a:rPr>
              <a:t>The five checks of the decision rule take about 6 microseconds, and checking one credential about 6 milliseconds.</a:t>
            </a:r>
            <a:r>
              <a:rPr lang="en-US" dirty="0"/>
              <a:t> </a:t>
            </a:r>
            <a:r>
              <a:rPr lang="en-US" dirty="0">
                <a:highlight>
                  <a:srgbClr val="FFFF00"/>
                </a:highlight>
              </a:rPr>
              <a:t>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a:t>
            </a:r>
            <a:r>
              <a:rPr lang="en-US" dirty="0"/>
              <a:t> </a:t>
            </a:r>
            <a:r>
              <a:rPr lang="en-US" dirty="0">
                <a:highlight>
                  <a:srgbClr val="FFFF00"/>
                </a:highlight>
              </a:rPr>
              <a:t>The timings were measured on the first of October 2026; the decision rule and the credential check on the eleventh of October, after the credential check was added.</a:t>
            </a:r>
            <a:r>
              <a:rPr lang="en-US" dirty="0"/>
              <a:t>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a:t>
            </a:r>
            <a:r>
              <a:rPr lang="en-US" dirty="0">
                <a:highlight>
                  <a:srgbClr val="FFFF00"/>
                </a:highlight>
              </a:rPr>
              <a:t>every access decision, allowed or denied, is logged off-chain</a:t>
            </a:r>
            <a:r>
              <a:rPr lang="en-US" dirty="0"/>
              <a:t>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a:t>
            </a:r>
            <a:r>
              <a:rPr lang="en-US" dirty="0">
                <a:highlight>
                  <a:srgbClr val="FFFF00"/>
                </a:highlight>
              </a:rPr>
              <a:t>The token on Sepolia stores pseudonymous addresses, a hash of the purpose, the validity window and a revocation flag.</a:t>
            </a:r>
            <a:r>
              <a:rPr lang="en-US" dirty="0"/>
              <a:t>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the demo. I show it through real screens from the prototype. All the prototype screens were taken on 24 September 2026.
HALAH means History Access Link for Authorised Healthcare. The boxes show its parts: four screens, a smart contract on the Sepolia test network, guardian signatures, an access proof, synthetic data, and an audit ledger.
The demo follows the steps of a consent.
First, the patient creates the consent. This is RO1.
Second, the two guardians sign it, and the consent goes on Sepolia. This is RO2 and RO3.
Third, the doctor asks for the data. The system runs five checks, and then it shows only the agreed records. This is RO2 and RO4.
Fourth, the auditor follows the recorded steps in the ledger. This is part of RO6.
The last demo slide is about revocation, RO5. It is optional. I show it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patient screen. The picture is shown in two parts.
First, the patient chooses a patient DID from the list. Then the patient types the doctor's DID, did:hospital:001.
Second, the patient adds two guardians: parent A and parent B.
Third, the patient chooses the data that the doctor may see. Here there are four modules: Observation, Medication, Condition and Procedure. The patient also sets the end date, 31 October 2026.
Fourth, the patient presses the Initial Consent button. The system saves the consent off-chain and gives it an ID, 04da25f5.
At the bottom, you can see the state: PENDING_SIGNATURE, with zero of two signatures. Nothing is on the blockchain yet. The consent goes on the chain only after both guardians sign.
This is RO1: the consent is an object that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guardian screen.
First, the guardian types the consent ID, 04da25f5. The system finds the consent and shows the patient's DID.
Second, the guardian chooses a guardian DID from the list, did:parent:A.
Third, the guardian presses the Sign button and signs with an EIP-712 signature. The system checks the signature and finds the address that signed it. You can see the start of that address in the green box.
Fourth, the counter shows one of two. One signature is not enough, so the consent is still waiting for the second guardian.
This is RO2, because the system checks which guardian key signed, and RO3, because more than one guardian must agree.
Possible question: The button says via VC. Was a credential checked? Not in this September version. It checked only the form of the DID. The credential check was added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the guardian screen two times.
First, on the left, the second guardian, did:parent:B, signs. The system checks the signature. Now the counter shows two of two, so both guardians have agreed.
Second, the system records the soulbound token for this consent. Then it mints the token on the Sepolia test network in the background, so the guardian does not have to wait.
Third, on the right is the same screen, a little later. It says: already anchored on Sepolia, token number 2.
Now the consent is approved by both guardians, and it is on the blockchain. This completes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doctor screen, for the same consent, 04da25f5. The picture is shown in two parts.
First, the doctor opens the consent. At the top, you can see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doctor may ask only for data inside the agreed scope. On this screen, the purpose is checked. The scope is checked when the doctor asks for the data, on the next slide. VT checks the dates.
Third, all five checks show PASS, so ALLOW is also PASS. The consent state is ACTIVE.
The Groth16 proof is not on this screen. It is checked when the doctor asks for the data, and the ledger records that it was verified.
This is RO2 and RO4 together, in one decision.
Possible question: Is this the same code as today? No. These screens are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doctor screen after the decision.
First, after ALLOW, the doctor asks for the four modules. The system checks the Groth16 proof and the requested scope. You cannot see this on the screen, but the ledger rows for these requests say: proof verified, scope valid. Then the screen shows Authorised Medical Records. There is one table for each data module.
Second, on the left, you can see Observation and Medication. On the right, you can see Condition and Procedure. All the rows belong to the same patient.
Third, these are exactly the four modules in the consent. The doctor gets nothing outside them. If the doctor asked for a module outside the consent, the request would be refused. Attack test A4 checks this.
The records are synthetic Synthea data, so no real patient is shown. This is RO4.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auditor screen. It shows the audit ledger as a table. Each row is one event, with its time.
This table is for another consent from the same day, f050c29a. It has token number 1. It went through the same steps as the consent you just saw. I use it here because this is the consent that the patient later revoked. The optional next slide shows that.
First, row 36: the patient creates the consent.
Second, rows 37 and 38: guardian A and guardian B sign.
Third, rows 39 and 40: the token is recorded, and then it is anchored on Sepolia. You can see the start of the transaction hash and the block number, 11,771,243.
Fourth, rows 41 to 44: the system checks the consent. It is ACTIVE and all five checks pass, so the doctor gets access. This happens two times.
Rows 45 and 46 are not in this picture. They record one more request from the doctor, and the system refused it.
So the auditor can follow the recorded steps, in order. This is the working part of RO6: evidence that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is optional. I show it if there is time. It is about RO5: revocation. It is the same consent as on the previous slide, f050c29a.
First, at the top is the audit ledger. In row 47, the patient revokes the consent. In row 48, the revoke transaction is sent to Sepolia. It is in block 11,771,307.
Second, at the bottom left is the same transaction on Sepolia Etherscan. This is a public page. I opened it some days later, so it says 9 days ago. The action is Revoke, the status is Success, and the block is 11,771,307, on 24 September 2026.
Third, at the bottom right, the doctor opens the consent again. The screen says: Consent is not active. Current state: REVOKED. The doctor cannot see the data. On 24 September, this refusal was not yet written to the ledger. Now, when the doctor presses Request Data Access, the prototype writes this refusal to the ledger.
So after the patient revokes, the consent cannot be used any more, and anyone can check the revoke transaction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a:t>
            </a:r>
            <a:r>
              <a:rPr lang="en-US" dirty="0">
                <a:highlight>
                  <a:srgbClr val="FFFF00"/>
                </a:highlight>
              </a:rPr>
              <a:t>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a:t>
            </a:r>
            <a:r>
              <a:rPr lang="en-US" dirty="0"/>
              <a:t>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2.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  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a:t>
                      </a:r>
                      <a:r>
                        <a:rPr lang="en-US" sz="1300" b="1" dirty="0">
                          <a:solidFill>
                            <a:srgbClr val="0B1F33"/>
                          </a:solidFill>
                          <a:highlight>
                            <a:srgbClr val="FFFF00"/>
                          </a:highlight>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RO1: </a:t>
            </a:r>
            <a:r>
              <a:rPr lang="en-US" sz="1700" b="1" i="1" dirty="0">
                <a:solidFill>
                  <a:srgbClr val="0B1F33"/>
                </a:solidFill>
                <a:highlight>
                  <a:srgbClr val="FFFF00"/>
                </a:highlight>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0B1F33"/>
                </a:solidFill>
                <a:highlight>
                  <a:srgbClr val="FFFF00"/>
                </a:highlight>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yellow/ALG1.png">    </p:cNvPr>
          <p:cNvPicPr>
            <a:picLocks noChangeAspect="1"/>
          </p:cNvPicPr>
          <p:nvPr/>
        </p:nvPicPr>
        <p:blipFill>
          <a:blip r:embed="rId1"/>
          <a:stretch>
            <a:fillRect/>
          </a:stretch>
        </p:blipFill>
        <p:spPr>
          <a:xfrm>
            <a:off x="6164780" y="1855182"/>
            <a:ext cx="5455520"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RO1: </a:t>
            </a:r>
            <a:r>
              <a:rPr lang="en-US" sz="1500" b="1" i="1" dirty="0">
                <a:solidFill>
                  <a:srgbClr val="0B1F33"/>
                </a:solidFill>
                <a:highlight>
                  <a:srgbClr val="FFFF00"/>
                </a:highlight>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yellow/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RO2: </a:t>
            </a:r>
            <a:r>
              <a:rPr lang="en-US" sz="1700" b="1" i="1" dirty="0">
                <a:solidFill>
                  <a:srgbClr val="0B1F33"/>
                </a:solidFill>
                <a:highlight>
                  <a:srgbClr val="FFFF00"/>
                </a:highlight>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a:t>
            </a:r>
            <a:r>
              <a:rPr lang="en-US" sz="15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0B1F33"/>
                </a:solidFill>
                <a:highlight>
                  <a:srgbClr val="FFFF00"/>
                </a:highlight>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yellow/ALG2.png">    </p:cNvPr>
          <p:cNvPicPr>
            <a:picLocks noChangeAspect="1"/>
          </p:cNvPicPr>
          <p:nvPr/>
        </p:nvPicPr>
        <p:blipFill>
          <a:blip r:embed="rId1"/>
          <a:stretch>
            <a:fillRect/>
          </a:stretch>
        </p:blipFill>
        <p:spPr>
          <a:xfrm>
            <a:off x="6405761" y="1073504"/>
            <a:ext cx="4973558" cy="5305352"/>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RO2: </a:t>
            </a:r>
            <a:r>
              <a:rPr lang="en-US" sz="1500" b="1" i="1" dirty="0">
                <a:solidFill>
                  <a:srgbClr val="0B1F33"/>
                </a:solidFill>
                <a:highlight>
                  <a:srgbClr val="FFFF00"/>
                </a:highlight>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RO3: </a:t>
            </a:r>
            <a:r>
              <a:rPr lang="en-US" sz="1700" b="1" i="1" dirty="0">
                <a:solidFill>
                  <a:srgbClr val="0B1F33"/>
                </a:solidFill>
                <a:highlight>
                  <a:srgbClr val="FFFF00"/>
                </a:highlight>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the system recovers the signer and checks it is in G.</a:t>
            </a:r>
            <a:endParaRPr lang="en-US" sz="1450" dirty="0"/>
          </a:p>
          <a:p>
            <a:pPr marL="342900" indent="-342900">
              <a:spcAft>
                <a:spcPts val="1000"/>
              </a:spcAft>
              <a:buSzPct val="100000"/>
              <a:buChar char="•"/>
            </a:pPr>
            <a:r>
              <a:rPr lang="en-US" sz="1450" dirty="0">
                <a:solidFill>
                  <a:srgbClr val="FFFFFF"/>
                </a:solidFill>
              </a:rPr>
              <a:t>​</a:t>
            </a:r>
            <a:r>
              <a:rPr lang="en-US" sz="1450" dirty="0">
                <a:solidFill>
                  <a:srgbClr val="0B1F33"/>
                </a:solidFill>
                <a:highlight>
                  <a:srgbClr val="FFFF00"/>
                </a:highlight>
              </a:rPr>
              <a:t>Approvals from outsiders and duplicates are not counted; a signature replayed from another consent fails the identity check.</a:t>
            </a:r>
            <a:endParaRPr lang="en-US" sz="1450" dirty="0"/>
          </a:p>
          <a:p>
            <a:pPr marL="342900" indent="-342900">
              <a:spcAft>
                <a:spcPts val="1000"/>
              </a:spcAft>
              <a:buSzPct val="100000"/>
              <a:buChar char="•"/>
            </a:pPr>
            <a:r>
              <a:rPr lang="en-US" sz="1450" dirty="0">
                <a:solidFill>
                  <a:srgbClr val="FFFFFF"/>
                </a:solidFill>
              </a:rPr>
              <a:t>N-of-N rule: every listed guardian must sign (2-of-2 in the demo).</a:t>
            </a:r>
            <a:endParaRPr lang="en-US" sz="1450" dirty="0"/>
          </a:p>
          <a:p>
            <a:pPr marL="342900" indent="-342900">
              <a:spcAft>
                <a:spcPts val="1000"/>
              </a:spcAft>
              <a:buSzPct val="100000"/>
              <a:buChar char="•"/>
            </a:pPr>
            <a:r>
              <a:rPr lang="en-US" sz="1450" dirty="0">
                <a:solidFill>
                  <a:srgbClr val="FFFFFF"/>
                </a:solidFill>
              </a:rPr>
              <a:t>When all have signed, a soulbound token is minted on Sepolia in the background.</a:t>
            </a:r>
            <a:endParaRPr lang="en-US" sz="1450" dirty="0"/>
          </a:p>
          <a:p>
            <a:pPr marL="342900" indent="-342900">
              <a:spcAft>
                <a:spcPts val="1000"/>
              </a:spcAft>
              <a:buSzPct val="100000"/>
              <a:buChar char="•"/>
            </a:pPr>
            <a:r>
              <a:rPr lang="en-US" sz="1450" dirty="0">
                <a:solidFill>
                  <a:srgbClr val="FFFFFF"/>
                </a:solidFill>
              </a:rPr>
              <a:t>In the prototype the guardian keys are derived from the guardian DIDs; wallet-held keys are for the next stage.</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yellow/ALG3.png">    </p:cNvPr>
          <p:cNvPicPr>
            <a:picLocks noChangeAspect="1"/>
          </p:cNvPicPr>
          <p:nvPr/>
        </p:nvPicPr>
        <p:blipFill>
          <a:blip r:embed="rId1"/>
          <a:stretch>
            <a:fillRect/>
          </a:stretch>
        </p:blipFill>
        <p:spPr>
          <a:xfrm>
            <a:off x="6741964" y="1080769"/>
            <a:ext cx="4301152" cy="529082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RO3: </a:t>
            </a:r>
            <a:r>
              <a:rPr lang="en-US" sz="1500" b="1" i="1" dirty="0">
                <a:solidFill>
                  <a:srgbClr val="0B1F33"/>
                </a:solidFill>
                <a:highlight>
                  <a:srgbClr val="FFFF00"/>
                </a:highlight>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yellow/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RO4: </a:t>
            </a:r>
            <a:r>
              <a:rPr lang="en-US" sz="1700" b="1" i="1" dirty="0">
                <a:solidFill>
                  <a:srgbClr val="0B1F33"/>
                </a:solidFill>
                <a:highlight>
                  <a:srgbClr val="FFFF00"/>
                </a:highlight>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requested data must be a non-empty subset of the agreed data scope.</a:t>
            </a:r>
            <a:endParaRPr lang="en-US" sz="1550" dirty="0"/>
          </a:p>
          <a:p>
            <a:pPr marL="342900" indent="-342900">
              <a:spcAft>
                <a:spcPts val="1000"/>
              </a:spcAft>
              <a:buSzPct val="100000"/>
              <a:buChar char="•"/>
            </a:pPr>
            <a:r>
              <a:rPr lang="en-US" sz="1550" dirty="0">
                <a:solidFill>
                  <a:srgbClr val="FFFFFF"/>
                </a:solidFill>
              </a:rPr>
              <a:t>The purpose must be a supported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0B1F33"/>
                </a:solidFill>
                <a:highlight>
                  <a:srgbClr val="FFFF00"/>
                </a:highlight>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a:t>
            </a:r>
            <a:endParaRPr lang="en-US" sz="1550" dirty="0"/>
          </a:p>
          <a:p>
            <a:pPr marL="342900" indent="-342900">
              <a:spcAft>
                <a:spcPts val="1000"/>
              </a:spcAft>
              <a:buSzPct val="100000"/>
              <a:buChar char="•"/>
            </a:pPr>
            <a:r>
              <a:rPr lang="en-US" sz="1550" dirty="0">
                <a:solidFill>
                  <a:srgbClr val="FFFFFF"/>
                </a:solidFill>
              </a:rPr>
              <a:t>Example: asking for Procedure when only Observation and Medication were agreed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yellow/ALG4.png">    </p:cNvPr>
          <p:cNvPicPr>
            <a:picLocks noChangeAspect="1"/>
          </p:cNvPicPr>
          <p:nvPr/>
        </p:nvPicPr>
        <p:blipFill>
          <a:blip r:embed="rId1"/>
          <a:stretch>
            <a:fillRect/>
          </a:stretch>
        </p:blipFill>
        <p:spPr>
          <a:xfrm>
            <a:off x="6761547" y="1080264"/>
            <a:ext cx="4261985" cy="529183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RO4: </a:t>
            </a:r>
            <a:r>
              <a:rPr lang="en-US" sz="1500" b="1" i="1" dirty="0">
                <a:solidFill>
                  <a:srgbClr val="0B1F33"/>
                </a:solidFill>
                <a:highlight>
                  <a:srgbClr val="FFFF00"/>
                </a:highlight>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yellow/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RO5: </a:t>
            </a:r>
            <a:r>
              <a:rPr lang="en-US" sz="1700" b="1" i="1" dirty="0">
                <a:solidFill>
                  <a:srgbClr val="0B1F33"/>
                </a:solidFill>
                <a:highlight>
                  <a:srgbClr val="FFFF00"/>
                </a:highlight>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Working now: the validity window is stored on-chain and checked at every request.</a:t>
            </a:r>
            <a:endParaRPr lang="en-US" sz="1350" dirty="0"/>
          </a:p>
          <a:p>
            <a:pPr marL="342900" indent="-342900">
              <a:spcAft>
                <a:spcPts val="1000"/>
              </a:spcAft>
              <a:buSzPct val="100000"/>
              <a:buChar char="•"/>
            </a:pPr>
            <a:r>
              <a:rPr lang="en-US" sz="1350" dirty="0">
                <a:solidFill>
                  <a:srgbClr val="FFFFFF"/>
                </a:solidFill>
              </a:rPr>
              <a:t>Working now: revocation end to end, including an on-chain revoke transaction.</a:t>
            </a:r>
            <a:endParaRPr lang="en-US" sz="1350" dirty="0"/>
          </a:p>
          <a:p>
            <a:pPr marL="342900" indent="-342900">
              <a:spcAft>
                <a:spcPts val="1000"/>
              </a:spcAft>
              <a:buSzPct val="100000"/>
              <a:buChar char="•"/>
            </a:pPr>
            <a:r>
              <a:rPr lang="en-US" sz="1350" dirty="0">
                <a:solidFill>
                  <a:srgbClr val="FFFFFF"/>
                </a:solidFill>
              </a:rPr>
              <a:t>​</a:t>
            </a:r>
            <a:r>
              <a:rPr lang="en-US" sz="1350" dirty="0">
                <a:solidFill>
                  <a:srgbClr val="0B1F33"/>
                </a:solidFill>
                <a:highlight>
                  <a:srgbClr val="FFFF00"/>
                </a:highlight>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Working now: a clear lifecycle: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0B1F33"/>
                </a:solidFill>
                <a:highlight>
                  <a:srgbClr val="FFFF00"/>
                </a:highlight>
              </a:rPr>
              <a:t>the SUSPENDED state,</a:t>
            </a:r>
            <a:r>
              <a:rPr lang="en-US" sz="1350" dirty="0">
                <a:solidFill>
                  <a:srgbClr val="FFFFFF"/>
                </a:solidFill>
              </a:rPr>
              <a:t> the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yellow/ALG5.png">    </p:cNvPr>
          <p:cNvPicPr>
            <a:picLocks noChangeAspect="1"/>
          </p:cNvPicPr>
          <p:nvPr/>
        </p:nvPicPr>
        <p:blipFill>
          <a:blip r:embed="rId1"/>
          <a:stretch>
            <a:fillRect/>
          </a:stretch>
        </p:blipFill>
        <p:spPr>
          <a:xfrm>
            <a:off x="6357807" y="1072422"/>
            <a:ext cx="5069467" cy="5307517"/>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RO5: </a:t>
            </a:r>
            <a:r>
              <a:rPr lang="en-US" sz="1500" b="1" i="1" dirty="0">
                <a:solidFill>
                  <a:srgbClr val="0B1F33"/>
                </a:solidFill>
                <a:highlight>
                  <a:srgbClr val="FFFF00"/>
                </a:highlight>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yellow/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RO6: </a:t>
            </a:r>
            <a:r>
              <a:rPr lang="en-US" sz="1700" b="1" i="1" dirty="0">
                <a:solidFill>
                  <a:srgbClr val="0B1F33"/>
                </a:solidFill>
                <a:highlight>
                  <a:srgbClr val="FFFF00"/>
                </a:highlight>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Done: 46 automated tests pass, including 13 attack scenarios A1 to A13.</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yellow/ALG6.png">    </p:cNvPr>
          <p:cNvPicPr>
            <a:picLocks noChangeAspect="1"/>
          </p:cNvPicPr>
          <p:nvPr/>
        </p:nvPicPr>
        <p:blipFill>
          <a:blip r:embed="rId1"/>
          <a:stretch>
            <a:fillRect/>
          </a:stretch>
        </p:blipFill>
        <p:spPr>
          <a:xfrm>
            <a:off x="6165068" y="1829116"/>
            <a:ext cx="5454943"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RO6: </a:t>
            </a:r>
            <a:r>
              <a:rPr lang="en-US" sz="1500" b="1" i="1" dirty="0">
                <a:solidFill>
                  <a:srgbClr val="0B1F33"/>
                </a:solidFill>
                <a:highlight>
                  <a:srgbClr val="FFFF00"/>
                </a:highlight>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yellow/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7"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t>
            </a:r>
            <a:r>
              <a:rPr lang="en-US" sz="1400" dirty="0">
                <a:solidFill>
                  <a:srgbClr val="0B1F33"/>
                </a:solidFill>
                <a:highlight>
                  <a:srgbClr val="FFFF00"/>
                </a:highlight>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VALIDATION: THIRTEEN ATTACK SCENARIOS</a:t>
            </a:r>
            <a:endParaRPr lang="en-US" sz="3000" dirty="0"/>
          </a:p>
        </p:txBody>
      </p:sp>
      <p:graphicFrame>
        <p:nvGraphicFramePr>
          <p:cNvPr id="28"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38328">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38328">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t>
                      </a:r>
                      <a:r>
                        <a:rPr lang="en-US" sz="1150" b="1" dirty="0">
                          <a:solidFill>
                            <a:srgbClr val="0B1F33"/>
                          </a:solidFill>
                          <a:highlight>
                            <a:srgbClr val="FFFF00"/>
                          </a:highlight>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t>
                      </a:r>
                      <a:r>
                        <a:rPr lang="en-US" sz="1150" dirty="0">
                          <a:solidFill>
                            <a:srgbClr val="0B1F33"/>
                          </a:solidFill>
                          <a:highlight>
                            <a:srgbClr val="FFFF00"/>
                          </a:highlight>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t>
                      </a:r>
                      <a:r>
                        <a:rPr lang="en-US" sz="1150" b="1" dirty="0">
                          <a:solidFill>
                            <a:srgbClr val="0B1F33"/>
                          </a:solidFill>
                          <a:highlight>
                            <a:srgbClr val="FFFF00"/>
                          </a:highlight>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a:t>
                      </a:r>
                      <a:r>
                        <a:rPr lang="en-US" sz="1150" b="1" dirty="0">
                          <a:solidFill>
                            <a:srgbClr val="0B1F33"/>
                          </a:solidFill>
                          <a:highlight>
                            <a:srgbClr val="FFFF00"/>
                          </a:highlight>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86868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0B1F33"/>
                </a:solidFill>
                <a:highlight>
                  <a:srgbClr val="FFFF00"/>
                </a:highlight>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0B1F33"/>
                </a:solidFill>
                <a:highlight>
                  <a:srgbClr val="FFFF00"/>
                </a:highlight>
              </a:rPr>
              <a:t>A authorisation</a:t>
            </a:r>
            <a:r>
              <a:rPr lang="en-US" sz="950" i="1" dirty="0">
                <a:solidFill>
                  <a:srgbClr val="FFFFFF"/>
                </a:solidFill>
              </a:rPr>
              <a:t>, P policy and scope, T time, </a:t>
            </a:r>
            <a:r>
              <a:rPr lang="en-US" sz="950" i="1" dirty="0">
                <a:solidFill>
                  <a:srgbClr val="0B1F33"/>
                </a:solidFill>
                <a:highlight>
                  <a:srgbClr val="FFFF00"/>
                </a:highlight>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
            </a:r>
            <a:r>
              <a:rPr lang="en-US" sz="1600" dirty="0">
                <a:solidFill>
                  <a:srgbClr val="0B1F33"/>
                </a:solidFill>
                <a:highlight>
                  <a:srgbClr val="FFFF00"/>
                </a:highlight>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
            </a:r>
            <a:r>
              <a:rPr lang="en-US" sz="1600" dirty="0">
                <a:solidFill>
                  <a:srgbClr val="0B1F33"/>
                </a:solidFill>
                <a:highlight>
                  <a:srgbClr val="FFFF00"/>
                </a:highlight>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yellow/F42.png">    </p:cNvPr>
          <p:cNvPicPr>
            <a:picLocks noChangeAspect="1"/>
          </p:cNvPicPr>
          <p:nvPr/>
        </p:nvPicPr>
        <p:blipFill>
          <a:blip r:embed="rId1"/>
          <a:stretch>
            <a:fillRect/>
          </a:stretch>
        </p:blipFill>
        <p:spPr>
          <a:xfrm>
            <a:off x="6944730" y="1389888"/>
            <a:ext cx="4444261" cy="2532888"/>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a:t>
            </a:r>
            <a:r>
              <a:rPr lang="en-US" sz="2000" b="1" dirty="0">
                <a:solidFill>
                  <a:srgbClr val="0B1F33"/>
                </a:solidFill>
                <a:highlight>
                  <a:srgbClr val="FFFF00"/>
                </a:highlight>
              </a:rPr>
              <a:t>shifts the focus</a:t>
            </a:r>
            <a:r>
              <a:rPr lang="en-US" sz="2000" dirty="0">
                <a:solidFill>
                  <a:srgbClr val="0B1F33"/>
                </a:solidFill>
                <a:highlight>
                  <a:srgbClr val="FFFF00"/>
                </a:highlight>
              </a:rPr>
              <a:t> from determining </a:t>
            </a:r>
            <a:r>
              <a:rPr lang="en-US" sz="2000" b="1" dirty="0">
                <a:solidFill>
                  <a:srgbClr val="0B1F33"/>
                </a:solidFill>
                <a:highlight>
                  <a:srgbClr val="FFFF00"/>
                </a:highlight>
              </a:rPr>
              <a:t>whether consent has merely been recorded</a:t>
            </a:r>
            <a:r>
              <a:rPr lang="en-US" sz="2000" dirty="0">
                <a:solidFill>
                  <a:srgbClr val="0B1F33"/>
                </a:solidFill>
                <a:highlight>
                  <a:srgbClr val="FFFF00"/>
                </a:highlight>
              </a:rPr>
              <a:t> towards determining whether a data-access decision has been generated under </a:t>
            </a:r>
            <a:r>
              <a:rPr lang="en-US" sz="2000" b="1" dirty="0">
                <a:solidFill>
                  <a:srgbClr val="0B1F33"/>
                </a:solidFill>
                <a:highlight>
                  <a:srgbClr val="FFFF00"/>
                </a:highlight>
              </a:rPr>
              <a:t>sufficient and independently verifiable trust conditions</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brings </a:t>
            </a:r>
            <a:r>
              <a:rPr lang="en-US" sz="2000" b="1" dirty="0">
                <a:solidFill>
                  <a:srgbClr val="0B1F33"/>
                </a:solidFill>
                <a:highlight>
                  <a:srgbClr val="FFFF00"/>
                </a:highlight>
              </a:rPr>
              <a:t>identity, authority, multi-party approval, policy, time and lifecycle</a:t>
            </a:r>
            <a:r>
              <a:rPr lang="en-US" sz="2000" dirty="0">
                <a:solidFill>
                  <a:srgbClr val="0B1F33"/>
                </a:solidFill>
                <a:highlight>
                  <a:srgbClr val="FFFF00"/>
                </a:highlight>
              </a:rPr>
              <a:t> together in </a:t>
            </a:r>
            <a:r>
              <a:rPr lang="en-US" sz="2000" b="1" dirty="0">
                <a:solidFill>
                  <a:srgbClr val="0B1F33"/>
                </a:solidFill>
                <a:highlight>
                  <a:srgbClr val="FFFF00"/>
                </a:highlight>
              </a:rPr>
              <a:t>one access decision</a:t>
            </a:r>
            <a:r>
              <a:rPr lang="en-US" sz="2000" dirty="0">
                <a:solidFill>
                  <a:srgbClr val="0B1F33"/>
                </a:solidFill>
                <a:highlight>
                  <a:srgbClr val="FFFF00"/>
                </a:highlight>
              </a:rPr>
              <a:t> that is checked at </a:t>
            </a:r>
            <a:r>
              <a:rPr lang="en-US" sz="2000" b="1" dirty="0">
                <a:solidFill>
                  <a:srgbClr val="0B1F33"/>
                </a:solidFill>
                <a:highlight>
                  <a:srgbClr val="FFFF00"/>
                </a:highlight>
              </a:rPr>
              <a:t>every request</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a:t>
            </a:r>
            <a:r>
              <a:rPr lang="en-US" sz="2000" b="1" dirty="0">
                <a:solidFill>
                  <a:srgbClr val="0B1F33"/>
                </a:solidFill>
                <a:highlight>
                  <a:srgbClr val="FFFF00"/>
                </a:highlight>
              </a:rPr>
              <a:t>multi-party approval</a:t>
            </a:r>
            <a:r>
              <a:rPr lang="en-US" sz="2000" dirty="0">
                <a:solidFill>
                  <a:srgbClr val="0B1F33"/>
                </a:solidFill>
                <a:highlight>
                  <a:srgbClr val="FFFF00"/>
                </a:highlight>
              </a:rPr>
              <a:t> a standing condition of access: </a:t>
            </a:r>
            <a:r>
              <a:rPr lang="en-US" sz="2000" b="1" dirty="0">
                <a:solidFill>
                  <a:srgbClr val="0B1F33"/>
                </a:solidFill>
                <a:highlight>
                  <a:srgbClr val="FFFF00"/>
                </a:highlight>
              </a:rPr>
              <a:t>every listed guardian</a:t>
            </a:r>
            <a:r>
              <a:rPr lang="en-US" sz="2000" dirty="0">
                <a:solidFill>
                  <a:srgbClr val="0B1F33"/>
                </a:solidFill>
                <a:highlight>
                  <a:srgbClr val="FFFF00"/>
                </a:highlight>
              </a:rPr>
              <a:t> must sign with </a:t>
            </a:r>
            <a:r>
              <a:rPr lang="en-US" sz="2000" b="1" dirty="0">
                <a:solidFill>
                  <a:srgbClr val="0B1F33"/>
                </a:solidFill>
                <a:highlight>
                  <a:srgbClr val="FFFF00"/>
                </a:highlight>
              </a:rPr>
              <a:t>EIP-712</a:t>
            </a:r>
            <a:r>
              <a:rPr lang="en-US" sz="2000" dirty="0">
                <a:solidFill>
                  <a:srgbClr val="0B1F33"/>
                </a:solidFill>
                <a:highlight>
                  <a:srgbClr val="FFFF00"/>
                </a:highlight>
              </a:rPr>
              <a:t>, and </a:t>
            </a:r>
            <a:r>
              <a:rPr lang="en-US" sz="2000" b="1" dirty="0">
                <a:solidFill>
                  <a:srgbClr val="0B1F33"/>
                </a:solidFill>
                <a:highlight>
                  <a:srgbClr val="FFFF00"/>
                </a:highlight>
              </a:rPr>
              <a:t>no single party</a:t>
            </a:r>
            <a:r>
              <a:rPr lang="en-US" sz="2000" dirty="0">
                <a:solidFill>
                  <a:srgbClr val="0B1F33"/>
                </a:solidFill>
                <a:highlight>
                  <a:srgbClr val="FFFF00"/>
                </a:highlight>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is built on a </a:t>
            </a:r>
            <a:r>
              <a:rPr lang="en-US" sz="2000" b="1" dirty="0">
                <a:solidFill>
                  <a:srgbClr val="0B1F33"/>
                </a:solidFill>
                <a:highlight>
                  <a:srgbClr val="FFFF00"/>
                </a:highlight>
              </a:rPr>
              <a:t>PRISMA 2020 review of 25 studies</a:t>
            </a:r>
            <a:r>
              <a:rPr lang="en-US" sz="2000" dirty="0">
                <a:solidFill>
                  <a:srgbClr val="0B1F33"/>
                </a:solidFill>
                <a:highlight>
                  <a:srgbClr val="FFFF00"/>
                </a:highlight>
              </a:rPr>
              <a:t> and tested in a </a:t>
            </a:r>
            <a:r>
              <a:rPr lang="en-US" sz="2000" b="1" dirty="0">
                <a:solidFill>
                  <a:srgbClr val="0B1F33"/>
                </a:solidFill>
                <a:highlight>
                  <a:srgbClr val="FFFF00"/>
                </a:highlight>
              </a:rPr>
              <a:t>working prototype on Sepolia</a:t>
            </a:r>
            <a:r>
              <a:rPr lang="en-US" sz="2000" dirty="0">
                <a:solidFill>
                  <a:srgbClr val="0B1F33"/>
                </a:solidFill>
                <a:highlight>
                  <a:srgbClr val="FFFF00"/>
                </a:highlight>
              </a:rPr>
              <a:t>, with </a:t>
            </a:r>
            <a:r>
              <a:rPr lang="en-US" sz="2000" b="1" dirty="0">
                <a:solidFill>
                  <a:srgbClr val="0B1F33"/>
                </a:solidFill>
                <a:highlight>
                  <a:srgbClr val="FFFF00"/>
                </a:highlight>
              </a:rPr>
              <a:t>measurements</a:t>
            </a:r>
            <a:r>
              <a:rPr lang="en-US" sz="2000" dirty="0">
                <a:solidFill>
                  <a:srgbClr val="0B1F33"/>
                </a:solidFill>
                <a:highlight>
                  <a:srgbClr val="FFFF00"/>
                </a:highlight>
              </a:rPr>
              <a:t> and </a:t>
            </a:r>
            <a:r>
              <a:rPr lang="en-US" sz="2000" b="1" dirty="0">
                <a:solidFill>
                  <a:srgbClr val="0B1F33"/>
                </a:solidFill>
                <a:highlight>
                  <a:srgbClr val="FFFF00"/>
                </a:highlight>
              </a:rPr>
              <a:t>thirteen attack scenarios</a:t>
            </a:r>
            <a:r>
              <a:rPr lang="en-US" sz="2000" dirty="0">
                <a:solidFill>
                  <a:srgbClr val="0B1F33"/>
                </a:solidFill>
                <a:highlight>
                  <a:srgbClr val="FFFF00"/>
                </a:highlight>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gives </a:t>
            </a:r>
            <a:r>
              <a:rPr lang="en-US" sz="2000" b="1" dirty="0">
                <a:solidFill>
                  <a:srgbClr val="0B1F33"/>
                </a:solidFill>
                <a:highlight>
                  <a:srgbClr val="FFFF00"/>
                </a:highlight>
              </a:rPr>
              <a:t>patients and their guardians</a:t>
            </a:r>
            <a:r>
              <a:rPr lang="en-US" sz="2000" dirty="0">
                <a:solidFill>
                  <a:srgbClr val="0B1F33"/>
                </a:solidFill>
                <a:highlight>
                  <a:srgbClr val="FFFF00"/>
                </a:highlight>
              </a:rPr>
              <a:t> a direct role in deciding </a:t>
            </a:r>
            <a:r>
              <a:rPr lang="en-US" sz="2000" b="1" dirty="0">
                <a:solidFill>
                  <a:srgbClr val="0B1F33"/>
                </a:solidFill>
                <a:highlight>
                  <a:srgbClr val="FFFF00"/>
                </a:highlight>
              </a:rPr>
              <a:t>who can see the patient's data</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prevents </a:t>
            </a:r>
            <a:r>
              <a:rPr lang="en-US" sz="2000" b="1" dirty="0">
                <a:solidFill>
                  <a:srgbClr val="0B1F33"/>
                </a:solidFill>
                <a:highlight>
                  <a:srgbClr val="FFFF00"/>
                </a:highlight>
              </a:rPr>
              <a:t>a single person</a:t>
            </a:r>
            <a:r>
              <a:rPr lang="en-US" sz="2000" dirty="0">
                <a:solidFill>
                  <a:srgbClr val="0B1F33"/>
                </a:solidFill>
                <a:highlight>
                  <a:srgbClr val="FFFF00"/>
                </a:highlight>
              </a:rPr>
              <a:t> from authorising access to </a:t>
            </a:r>
            <a:r>
              <a:rPr lang="en-US" sz="2000" b="1" dirty="0">
                <a:solidFill>
                  <a:srgbClr val="0B1F33"/>
                </a:solidFill>
                <a:highlight>
                  <a:srgbClr val="FFFF00"/>
                </a:highlight>
              </a:rPr>
              <a:t>sensitive health data alone</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every access decision </a:t>
            </a:r>
            <a:r>
              <a:rPr lang="en-US" sz="2000" b="1" dirty="0">
                <a:solidFill>
                  <a:srgbClr val="0B1F33"/>
                </a:solidFill>
                <a:highlight>
                  <a:srgbClr val="FFFF00"/>
                </a:highlight>
              </a:rPr>
              <a:t>explainable to auditors</a:t>
            </a:r>
            <a:r>
              <a:rPr lang="en-US" sz="2000" dirty="0">
                <a:solidFill>
                  <a:srgbClr val="0B1F33"/>
                </a:solidFill>
                <a:highlight>
                  <a:srgbClr val="FFFF00"/>
                </a:highlight>
              </a:rPr>
              <a:t>: which check </a:t>
            </a:r>
            <a:r>
              <a:rPr lang="en-US" sz="2000" b="1" dirty="0">
                <a:solidFill>
                  <a:srgbClr val="0B1F33"/>
                </a:solidFill>
                <a:highlight>
                  <a:srgbClr val="FFFF00"/>
                </a:highlight>
              </a:rPr>
              <a:t>passed</a:t>
            </a:r>
            <a:r>
              <a:rPr lang="en-US" sz="2000" dirty="0">
                <a:solidFill>
                  <a:srgbClr val="0B1F33"/>
                </a:solidFill>
                <a:highlight>
                  <a:srgbClr val="FFFF00"/>
                </a:highlight>
              </a:rPr>
              <a:t> and which </a:t>
            </a:r>
            <a:r>
              <a:rPr lang="en-US" sz="2000" b="1" dirty="0">
                <a:solidFill>
                  <a:srgbClr val="0B1F33"/>
                </a:solidFill>
                <a:highlight>
                  <a:srgbClr val="FFFF00"/>
                </a:highlight>
              </a:rPr>
              <a:t>failed</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keeps </a:t>
            </a:r>
            <a:r>
              <a:rPr lang="en-US" sz="2000" b="1" dirty="0">
                <a:solidFill>
                  <a:srgbClr val="0B1F33"/>
                </a:solidFill>
                <a:highlight>
                  <a:srgbClr val="FFFF00"/>
                </a:highlight>
              </a:rPr>
              <a:t>medical records off-chain</a:t>
            </a:r>
            <a:r>
              <a:rPr lang="en-US" sz="2000" dirty="0">
                <a:solidFill>
                  <a:srgbClr val="0B1F33"/>
                </a:solidFill>
                <a:highlight>
                  <a:srgbClr val="FFFF00"/>
                </a:highlight>
              </a:rPr>
              <a:t>, so only </a:t>
            </a:r>
            <a:r>
              <a:rPr lang="en-US" sz="2000" b="1" dirty="0">
                <a:solidFill>
                  <a:srgbClr val="0B1F33"/>
                </a:solidFill>
                <a:highlight>
                  <a:srgbClr val="FFFF00"/>
                </a:highlight>
              </a:rPr>
              <a:t>consent evidence</a:t>
            </a:r>
            <a:r>
              <a:rPr lang="en-US" sz="2000" dirty="0">
                <a:solidFill>
                  <a:srgbClr val="0B1F33"/>
                </a:solidFill>
                <a:highlight>
                  <a:srgbClr val="FFFF00"/>
                </a:highlight>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can support </a:t>
            </a:r>
            <a:r>
              <a:rPr lang="en-US" sz="2000" b="1" dirty="0">
                <a:solidFill>
                  <a:srgbClr val="0B1F33"/>
                </a:solidFill>
                <a:highlight>
                  <a:srgbClr val="FFFF00"/>
                </a:highlight>
              </a:rPr>
              <a:t>trust between hospitals</a:t>
            </a:r>
            <a:r>
              <a:rPr lang="en-US" sz="2000" dirty="0">
                <a:solidFill>
                  <a:srgbClr val="0B1F33"/>
                </a:solidFill>
                <a:highlight>
                  <a:srgbClr val="FFFF00"/>
                </a:highlight>
              </a:rPr>
              <a:t> and other </a:t>
            </a:r>
            <a:r>
              <a:rPr lang="en-US" sz="2000" b="1" dirty="0">
                <a:solidFill>
                  <a:srgbClr val="0B1F33"/>
                </a:solidFill>
                <a:highlight>
                  <a:srgbClr val="FFFF00"/>
                </a:highlight>
              </a:rPr>
              <a:t>independent parties</a:t>
            </a:r>
            <a:r>
              <a:rPr lang="en-US" sz="2000" dirty="0">
                <a:solidFill>
                  <a:srgbClr val="0B1F33"/>
                </a:solidFill>
                <a:highlight>
                  <a:srgbClr val="FFFF00"/>
                </a:highlight>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Identity and keys</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Attack A11</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500" i="1" dirty="0">
                <a:solidFill>
                  <a:srgbClr val="1FB5D6"/>
                </a:solidFill>
              </a:rPr>
              <a:t>​</a:t>
            </a:r>
            <a:r>
              <a:rPr lang="en-US" sz="1500" i="1" dirty="0">
                <a:solidFill>
                  <a:srgbClr val="0B1F33"/>
                </a:solidFill>
                <a:highlight>
                  <a:srgbClr val="FFFF00"/>
                </a:highlight>
              </a:rPr>
              <a:t>Real prototype screens, 24 September 2026: RO1 to RO4 and part of RO6; revocation (RO5) is optional.</a:t>
            </a:r>
            <a:endParaRPr lang="en-US" sz="15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consent events and access decisions</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x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x" descr="/tmp/deck/img/yellow/F21x.png">    </p:cNvPr>
          <p:cNvPicPr>
            <a:picLocks noChangeAspect="1"/>
          </p:cNvPicPr>
          <p:nvPr/>
        </p:nvPicPr>
        <p:blipFill>
          <a:blip r:embed="rId1"/>
          <a:stretch>
            <a:fillRect/>
          </a:stretch>
        </p:blipFill>
        <p:spPr>
          <a:xfrm>
            <a:off x="890650" y="1709928"/>
            <a:ext cx="644830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Patient screen, consent 04da25f5 (shown in two parts)</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patient enters the doctor's DID, two guardians, the data modules and the end date.</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saves the consent off-chain and gives it an 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state is PENDING_SIGNATURE, with 0 of 2 signatures.</a:t>
            </a:r>
            <a:endParaRPr lang="en-US" sz="1600" dirty="0"/>
          </a:p>
          <a:p>
            <a:pPr marL="342900" indent="-342900">
              <a:spcAft>
                <a:spcPts val="1000"/>
              </a:spcAft>
              <a:buSzPct val="100000"/>
              <a:buChar char="•"/>
            </a:pPr>
            <a:r>
              <a:rPr lang="en-US" sz="1600" dirty="0">
                <a:solidFill>
                  <a:srgbClr val="FFFFFF"/>
                </a:solidFill>
              </a:rPr>
              <a:t>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a:t>
            </a:r>
            <a:r>
              <a:rPr lang="en-US" sz="1400" b="1" dirty="0">
                <a:solidFill>
                  <a:srgbClr val="0B1F33"/>
                </a:solidFill>
                <a:highlight>
                  <a:srgbClr val="FFFF00"/>
                </a:highlight>
              </a:rPr>
              <a:t>RO2 + 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Guardian A enters the consent ID and chooses their DID.</a:t>
            </a:r>
            <a:endParaRPr lang="en-US" sz="1400" dirty="0"/>
          </a:p>
          <a:p>
            <a:pPr marL="342900" indent="-342900">
              <a:buSzPct val="100000"/>
              <a:buChar char="•"/>
            </a:pPr>
            <a:r>
              <a:rPr lang="en-US" sz="1400" dirty="0">
                <a:solidFill>
                  <a:srgbClr val="FFFFFF"/>
                </a:solidFill>
              </a:rPr>
              <a:t>The first guardian signs an EIP-712 approval. </a:t>
            </a:r>
            <a:r>
              <a:rPr lang="en-US" sz="1400" dirty="0">
                <a:solidFill>
                  <a:srgbClr val="0B1F33"/>
                </a:solidFill>
                <a:highlight>
                  <a:srgbClr val="FFFF00"/>
                </a:highlight>
              </a:rPr>
              <a:t>The system checks the signature and finds the signer's address.</a:t>
            </a:r>
            <a:endParaRPr lang="en-US" sz="1400" dirty="0"/>
          </a:p>
          <a:p>
            <a:pPr marL="342900" indent="-342900">
              <a:buSzPct val="100000"/>
              <a:buChar char="•"/>
            </a:pPr>
            <a:r>
              <a:rPr lang="en-US" sz="1400" dirty="0">
                <a:solidFill>
                  <a:srgbClr val="FFFFFF"/>
                </a:solidFill>
              </a:rPr>
              <a:t>The counter shows 1 of 2. The consent stays pending.</a:t>
            </a:r>
            <a:endParaRPr lang="en-US" sz="1400" dirty="0"/>
          </a:p>
        </p:txBody>
      </p:sp>
      <p:sp>
        <p:nvSpPr>
          <p:cNvPr id="8" name="F22 panel"/>
          <p:cNvSpPr/>
          <p:nvPr/>
        </p:nvSpPr>
        <p:spPr>
          <a:xfrm>
            <a:off x="1197572" y="2514600"/>
            <a:ext cx="9796551"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2" descr="/tmp/deck/img/F22.png">    </p:cNvPr>
          <p:cNvPicPr>
            <a:picLocks noChangeAspect="1"/>
          </p:cNvPicPr>
          <p:nvPr/>
        </p:nvPicPr>
        <p:blipFill>
          <a:blip r:embed="rId1"/>
          <a:stretch>
            <a:fillRect/>
          </a:stretch>
        </p:blipFill>
        <p:spPr>
          <a:xfrm>
            <a:off x="1307300" y="2624328"/>
            <a:ext cx="9577095" cy="3438144"/>
          </a:xfrm>
          <a:prstGeom prst="rect">
            <a:avLst/>
          </a:prstGeom>
        </p:spPr>
      </p:pic>
      <p:sp>
        <p:nvSpPr>
          <p:cNvPr id="10" name="caption"/>
          <p:cNvSpPr txBox="1"/>
          <p:nvPr/>
        </p:nvSpPr>
        <p:spPr>
          <a:xfrm>
            <a:off x="1197572" y="6217920"/>
            <a:ext cx="9796551"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Guardian screen at the first approval: signature verified, 1 of 2 signatures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second signature is verified. Now 2 of 2 guardians have signed.</a:t>
            </a:r>
            <a:endParaRPr lang="en-US" sz="1400" dirty="0"/>
          </a:p>
          <a:p>
            <a:pPr marL="342900" indent="-342900">
              <a:buSzPct val="100000"/>
              <a:buChar char="•"/>
            </a:pPr>
            <a:r>
              <a:rPr lang="en-US" sz="1400" dirty="0">
                <a:solidFill>
                  <a:srgbClr val="FFFFFF"/>
                </a:solidFill>
              </a:rPr>
              <a:t>A soulbound token is minted on Sepolia in the background</a:t>
            </a:r>
            <a:r>
              <a:rPr lang="en-US" sz="1400" dirty="0">
                <a:solidFill>
                  <a:srgbClr val="0B1F33"/>
                </a:solidFill>
                <a:highlight>
                  <a:srgbClr val="FFFF00"/>
                </a:highlight>
              </a:rPr>
              <a:t>. The guardian does not wait.</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Later, the same screen says: already anchored on Sepolia, token #2.</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Second approval: 2 of 2, token recorded, anchoring starts</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Same screen later: already anchored on Sepolia, token #2</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doctor opens the consent: patient, consent ID and purpose, Treatment. The state is ACTIVE.</a:t>
            </a:r>
            <a:endParaRPr lang="en-US" sz="1400" dirty="0"/>
          </a:p>
          <a:p>
            <a:pPr marL="342900" indent="-342900">
              <a:buSzPct val="100000"/>
              <a:buChar char="•"/>
            </a:pPr>
            <a:r>
              <a:rPr lang="en-US" sz="1400" dirty="0">
                <a:solidFill>
                  <a:srgbClr val="FFFFFF"/>
                </a:solidFill>
              </a:rPr>
              <a:t>The decision matrix shows VI, VA, VP, VT, VL all PASS, so ALLOW.</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VP is the policy check: the purpose is checked here, and the scope when the doctor asks for the data.</a:t>
            </a:r>
            <a:endParaRPr lang="en-US" sz="1400" dirty="0"/>
          </a:p>
        </p:txBody>
      </p:sp>
      <p:sp>
        <p:nvSpPr>
          <p:cNvPr id="8" name="F29m panel"/>
          <p:cNvSpPr/>
          <p:nvPr/>
        </p:nvSpPr>
        <p:spPr>
          <a:xfrm>
            <a:off x="655168" y="2514600"/>
            <a:ext cx="10881360" cy="2955976"/>
          </a:xfrm>
          <a:prstGeom prst="roundRect">
            <a:avLst>
              <a:gd name="adj" fmla="val 371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m" descr="/tmp/deck/img/yellow/F29m.png">    </p:cNvPr>
          <p:cNvPicPr>
            <a:picLocks noChangeAspect="1"/>
          </p:cNvPicPr>
          <p:nvPr/>
        </p:nvPicPr>
        <p:blipFill>
          <a:blip r:embed="rId1"/>
          <a:stretch>
            <a:fillRect/>
          </a:stretch>
        </p:blipFill>
        <p:spPr>
          <a:xfrm>
            <a:off x="1199163" y="2624328"/>
            <a:ext cx="9793369" cy="2736520"/>
          </a:xfrm>
          <a:prstGeom prst="rect">
            <a:avLst/>
          </a:prstGeom>
        </p:spPr>
      </p:pic>
      <p:sp>
        <p:nvSpPr>
          <p:cNvPr id="10" name="caption"/>
          <p:cNvSpPr txBox="1"/>
          <p:nvPr/>
        </p:nvSpPr>
        <p:spPr>
          <a:xfrm>
            <a:off x="655168" y="5516296"/>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consent 04da25f5 (shown in two parts)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After ALLOW and the proof check, the screen shows the records, one table per module.</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Only the four modules in the consent are shown. A request outside the scope is refused (attack test A4).</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The data are synthetic Synthea records, not real patients.</a:t>
            </a:r>
            <a:endParaRPr lang="en-US" sz="1400" dirty="0"/>
          </a:p>
        </p:txBody>
      </p:sp>
      <p:sp>
        <p:nvSpPr>
          <p:cNvPr id="8" name="F29r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r" descr="/tmp/deck/img/yellow/F29r.png">    </p:cNvPr>
          <p:cNvPicPr>
            <a:picLocks noChangeAspect="1"/>
          </p:cNvPicPr>
          <p:nvPr/>
        </p:nvPicPr>
        <p:blipFill>
          <a:blip r:embed="rId1"/>
          <a:stretch>
            <a:fillRect/>
          </a:stretch>
        </p:blipFill>
        <p:spPr>
          <a:xfrm>
            <a:off x="1231546" y="2487168"/>
            <a:ext cx="4212029"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Authorised records: Observation and Medication</a:t>
            </a:r>
            <a:endParaRPr lang="en-US" sz="1200" dirty="0"/>
          </a:p>
        </p:txBody>
      </p:sp>
      <p:sp>
        <p:nvSpPr>
          <p:cNvPr id="11" name="F30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0" descr="/tmp/deck/img/yellow/F30.png">    </p:cNvPr>
          <p:cNvPicPr>
            <a:picLocks noChangeAspect="1"/>
          </p:cNvPicPr>
          <p:nvPr/>
        </p:nvPicPr>
        <p:blipFill>
          <a:blip r:embed="rId2"/>
          <a:stretch>
            <a:fillRect/>
          </a:stretch>
        </p:blipFill>
        <p:spPr>
          <a:xfrm>
            <a:off x="6797673" y="2487168"/>
            <a:ext cx="4144014"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Authorised records: Condition and Procedure</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6: THE AUDITOR FOLLOWS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a:t>
            </a:r>
            <a:r>
              <a:rPr lang="en-US" sz="1400" b="1" dirty="0">
                <a:solidFill>
                  <a:srgbClr val="0B1F33"/>
                </a:solidFill>
                <a:highlight>
                  <a:srgbClr val="FFFF00"/>
                </a:highlight>
              </a:rPr>
              <a:t>RO6 (part)</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t>
            </a:r>
            <a:r>
              <a:rPr lang="en-US" sz="1600" i="1" dirty="0">
                <a:solidFill>
                  <a:srgbClr val="0B1F33"/>
                </a:solidFill>
                <a:highlight>
                  <a:srgbClr val="FFFF00"/>
                </a:highlight>
              </a:rPr>
              <a:t>The recorded steps, in order, with the on-chain anchor</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auditor sees the recorded steps of the consent, in order, with the time of each step.</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Row 40 is the anchor on Sepolia: block 11,771,243.</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This is consent f050c29a, token #1: the one the patient later revoked.</a:t>
            </a:r>
            <a:endParaRPr lang="en-US" sz="1400" dirty="0"/>
          </a:p>
        </p:txBody>
      </p:sp>
      <p:sp>
        <p:nvSpPr>
          <p:cNvPr id="8" name="F39a panel"/>
          <p:cNvSpPr/>
          <p:nvPr/>
        </p:nvSpPr>
        <p:spPr>
          <a:xfrm>
            <a:off x="1192795" y="2514600"/>
            <a:ext cx="9806106"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9a" descr="/tmp/deck/img/yellow/F39a.png">    </p:cNvPr>
          <p:cNvPicPr>
            <a:picLocks noChangeAspect="1"/>
          </p:cNvPicPr>
          <p:nvPr/>
        </p:nvPicPr>
        <p:blipFill>
          <a:blip r:embed="rId1"/>
          <a:stretch>
            <a:fillRect/>
          </a:stretch>
        </p:blipFill>
        <p:spPr>
          <a:xfrm>
            <a:off x="1524591" y="2624328"/>
            <a:ext cx="9142514" cy="3438144"/>
          </a:xfrm>
          <a:prstGeom prst="rect">
            <a:avLst/>
          </a:prstGeom>
        </p:spPr>
      </p:pic>
      <p:sp>
        <p:nvSpPr>
          <p:cNvPr id="10" name="caption"/>
          <p:cNvSpPr txBox="1"/>
          <p:nvPr/>
        </p:nvSpPr>
        <p:spPr>
          <a:xfrm>
            <a:off x="1192795" y="6217920"/>
            <a:ext cx="9806106"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Auditor screen, 24 September 2026: ledger rows 36 to 44 of consent f050c29a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7 (OPTIONAL): REVOKING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t>
            </a:r>
            <a:r>
              <a:rPr lang="en-US" sz="1600" i="1" dirty="0">
                <a:solidFill>
                  <a:srgbClr val="0B1F33"/>
                </a:solidFill>
                <a:highlight>
                  <a:srgbClr val="FFFF00"/>
                </a:highlight>
              </a:rPr>
              <a:t>Revocation on Sepolia, then access is refused</a:t>
            </a:r>
            <a:endParaRPr lang="en-US" sz="1600" dirty="0"/>
          </a:p>
        </p:txBody>
      </p:sp>
      <p:sp>
        <p:nvSpPr>
          <p:cNvPr id="7" name="F39b panel"/>
          <p:cNvSpPr/>
          <p:nvPr/>
        </p:nvSpPr>
        <p:spPr>
          <a:xfrm>
            <a:off x="640080" y="1554480"/>
            <a:ext cx="10881360" cy="1664208"/>
          </a:xfrm>
          <a:prstGeom prst="roundRect">
            <a:avLst>
              <a:gd name="adj" fmla="val 659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9b" descr="/tmp/deck/img/yellow/F39b.png">    </p:cNvPr>
          <p:cNvPicPr>
            <a:picLocks noChangeAspect="1"/>
          </p:cNvPicPr>
          <p:nvPr/>
        </p:nvPicPr>
        <p:blipFill>
          <a:blip r:embed="rId1"/>
          <a:stretch>
            <a:fillRect/>
          </a:stretch>
        </p:blipFill>
        <p:spPr>
          <a:xfrm>
            <a:off x="1530177" y="1664208"/>
            <a:ext cx="9101165" cy="1444752"/>
          </a:xfrm>
          <a:prstGeom prst="rect">
            <a:avLst/>
          </a:prstGeom>
        </p:spPr>
      </p:pic>
      <p:sp>
        <p:nvSpPr>
          <p:cNvPr id="9" name="caption"/>
          <p:cNvSpPr txBox="1"/>
          <p:nvPr/>
        </p:nvSpPr>
        <p:spPr>
          <a:xfrm>
            <a:off x="640080" y="3255264"/>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Audit ledger, rows 47 and 48: the patient revokes, then the revoke transaction goes on Sepolia</a:t>
            </a:r>
            <a:endParaRPr lang="en-US" sz="1200" dirty="0"/>
          </a:p>
        </p:txBody>
      </p:sp>
      <p:sp>
        <p:nvSpPr>
          <p:cNvPr id="10" name="F37t panel"/>
          <p:cNvSpPr/>
          <p:nvPr/>
        </p:nvSpPr>
        <p:spPr>
          <a:xfrm>
            <a:off x="640080" y="3657600"/>
            <a:ext cx="6035040" cy="2551176"/>
          </a:xfrm>
          <a:prstGeom prst="roundRect">
            <a:avLst>
              <a:gd name="adj" fmla="val 430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37t" descr="/tmp/deck/img/yellow/F37t.png">    </p:cNvPr>
          <p:cNvPicPr>
            <a:picLocks noChangeAspect="1"/>
          </p:cNvPicPr>
          <p:nvPr/>
        </p:nvPicPr>
        <p:blipFill>
          <a:blip r:embed="rId2"/>
          <a:stretch>
            <a:fillRect/>
          </a:stretch>
        </p:blipFill>
        <p:spPr>
          <a:xfrm>
            <a:off x="802250" y="3767328"/>
            <a:ext cx="5710700" cy="2331720"/>
          </a:xfrm>
          <a:prstGeom prst="rect">
            <a:avLst/>
          </a:prstGeom>
        </p:spPr>
      </p:pic>
      <p:sp>
        <p:nvSpPr>
          <p:cNvPr id="12" name="caption"/>
          <p:cNvSpPr txBox="1"/>
          <p:nvPr/>
        </p:nvSpPr>
        <p:spPr>
          <a:xfrm>
            <a:off x="640080" y="6245352"/>
            <a:ext cx="60350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Sepolia Etherscan: Revoke, Success, block 11,771,307</a:t>
            </a:r>
            <a:endParaRPr lang="en-US" sz="1200" dirty="0"/>
          </a:p>
        </p:txBody>
      </p:sp>
      <p:sp>
        <p:nvSpPr>
          <p:cNvPr id="13" name="F36m panel"/>
          <p:cNvSpPr/>
          <p:nvPr/>
        </p:nvSpPr>
        <p:spPr>
          <a:xfrm>
            <a:off x="6858000" y="3657600"/>
            <a:ext cx="4663440" cy="1271016"/>
          </a:xfrm>
          <a:prstGeom prst="roundRect">
            <a:avLst>
              <a:gd name="adj" fmla="val 86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4" name="F36m" descr="/tmp/deck/img/yellow/F36m.png">    </p:cNvPr>
          <p:cNvPicPr>
            <a:picLocks noChangeAspect="1"/>
          </p:cNvPicPr>
          <p:nvPr/>
        </p:nvPicPr>
        <p:blipFill>
          <a:blip r:embed="rId3"/>
          <a:stretch>
            <a:fillRect/>
          </a:stretch>
        </p:blipFill>
        <p:spPr>
          <a:xfrm>
            <a:off x="7134090" y="3767328"/>
            <a:ext cx="4111260" cy="1051560"/>
          </a:xfrm>
          <a:prstGeom prst="rect">
            <a:avLst/>
          </a:prstGeom>
        </p:spPr>
      </p:pic>
      <p:sp>
        <p:nvSpPr>
          <p:cNvPr id="15" name="caption"/>
          <p:cNvSpPr txBox="1"/>
          <p:nvPr/>
        </p:nvSpPr>
        <p:spPr>
          <a:xfrm>
            <a:off x="6858000" y="4965192"/>
            <a:ext cx="46634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after the revocation: access refused</a:t>
            </a:r>
            <a:endParaRPr lang="en-US" sz="1200" dirty="0"/>
          </a:p>
        </p:txBody>
      </p:sp>
      <p:sp>
        <p:nvSpPr>
          <p:cNvPr id="16" name="bullets"/>
          <p:cNvSpPr txBox="1"/>
          <p:nvPr/>
        </p:nvSpPr>
        <p:spPr>
          <a:xfrm>
            <a:off x="6858000" y="5440680"/>
            <a:ext cx="4663440" cy="109728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The revoke transaction is public on Sepolia, in block 11,771,307.</a:t>
            </a:r>
            <a:endParaRPr lang="en-US" sz="1300" dirty="0"/>
          </a:p>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The doctor opens the consent again and is refused: the state is REVOKED.</a:t>
            </a:r>
            <a:endParaRPr lang="en-US" sz="13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REFERENCES</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Bloemen, R., Logvinov, L. &amp; Evans, J. 2017, </a:t>
            </a:r>
            <a:r>
              <a:rPr lang="en-US" sz="1000" i="1" dirty="0">
                <a:solidFill>
                  <a:srgbClr val="0B1F33"/>
                </a:solidFill>
              </a:rPr>
              <a:t>EIP-712: Typed structured data hashing and signing</a:t>
            </a:r>
            <a:r>
              <a:rPr lang="en-US" sz="1000" dirty="0">
                <a:solidFill>
                  <a:srgbClr val="0B1F33"/>
                </a:solidFill>
              </a:rPr>
              <a:t>,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a:t>
            </a:r>
            <a:r>
              <a:rPr lang="en-US" sz="1000" i="1" dirty="0">
                <a:solidFill>
                  <a:srgbClr val="0B1F33"/>
                </a:solidFill>
              </a:rPr>
              <a:t>ERC-5484: Consensual soulbound tokens</a:t>
            </a:r>
            <a:r>
              <a:rPr lang="en-US" sz="1000" dirty="0">
                <a:solidFill>
                  <a:srgbClr val="0B1F33"/>
                </a:solidFill>
              </a:rPr>
              <a:t>,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Entriken, W., Shirley, D., Evans, J. &amp; Sachs, N. 2018, </a:t>
            </a:r>
            <a:r>
              <a:rPr lang="en-US" sz="1000" i="1" dirty="0">
                <a:solidFill>
                  <a:srgbClr val="0B1F33"/>
                </a:solidFill>
              </a:rPr>
              <a:t>ERC-721: Non-fungible token standard</a:t>
            </a:r>
            <a:r>
              <a:rPr lang="en-US" sz="1000" dirty="0">
                <a:solidFill>
                  <a:srgbClr val="0B1F33"/>
                </a:solidFill>
              </a:rPr>
              <a:t>,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a:t>
            </a:r>
            <a:r>
              <a:rPr lang="en-US" sz="1000" i="1" dirty="0">
                <a:solidFill>
                  <a:srgbClr val="0B1F33"/>
                </a:solidFill>
              </a:rPr>
              <a:t>Networks</a:t>
            </a:r>
            <a:r>
              <a:rPr lang="en-US" sz="1000" dirty="0">
                <a:solidFill>
                  <a:srgbClr val="0B1F33"/>
                </a:solidFill>
              </a:rPr>
              <a:t>,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a:t>
            </a:r>
            <a:r>
              <a:rPr lang="en-US" sz="1000" i="1" dirty="0">
                <a:solidFill>
                  <a:srgbClr val="0B1F33"/>
                </a:solidFill>
              </a:rPr>
              <a:t>Proceedings of the 30th USENIX Security Symposium</a:t>
            </a:r>
            <a:r>
              <a:rPr lang="en-US" sz="1000" dirty="0">
                <a:solidFill>
                  <a:srgbClr val="0B1F33"/>
                </a:solidFill>
              </a:rPr>
              <a:t>, pp. 519–535.</a:t>
            </a:r>
            <a:endParaRPr lang="en-US" sz="1000" dirty="0"/>
          </a:p>
          <a:p>
            <a:pPr indent="0" marL="0">
              <a:spcAft>
                <a:spcPts val="400"/>
              </a:spcAft>
              <a:buNone/>
            </a:pPr>
            <a:r>
              <a:rPr lang="en-US" sz="1000" dirty="0">
                <a:solidFill>
                  <a:srgbClr val="0B1F33"/>
                </a:solidFill>
              </a:rPr>
              <a:t>Groth, J. 2016, 'On the size of pairing-based non-interactive arguments', </a:t>
            </a:r>
            <a:r>
              <a:rPr lang="en-US" sz="1000" i="1" dirty="0">
                <a:solidFill>
                  <a:srgbClr val="0B1F33"/>
                </a:solidFill>
              </a:rPr>
              <a:t>Advances in Cryptology – EUROCRYPT 2016, LNCS</a:t>
            </a:r>
            <a:r>
              <a:rPr lang="en-US" sz="1000" dirty="0">
                <a:solidFill>
                  <a:srgbClr val="0B1F33"/>
                </a:solidFill>
              </a:rPr>
              <a:t>, vol. 9666, pp. 305–326, Springer, &lt;https://doi.org/10.1007/978-3-662-49896-5_11&gt;.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a:t>
            </a:r>
            <a:r>
              <a:rPr lang="en-US" sz="1000" i="1" dirty="0">
                <a:solidFill>
                  <a:srgbClr val="0B1F33"/>
                </a:solidFill>
              </a:rPr>
              <a:t>BMJ</a:t>
            </a:r>
            <a:r>
              <a:rPr lang="en-US" sz="1000" dirty="0">
                <a:solidFill>
                  <a:srgbClr val="0B1F33"/>
                </a:solidFill>
              </a:rPr>
              <a:t>, vol. 372, p. n71, &lt;https://doi.org/10.1136/bmj.n71&gt;.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a:t>
            </a:r>
            <a:r>
              <a:rPr lang="en-US" sz="1000" i="1" dirty="0">
                <a:solidFill>
                  <a:srgbClr val="0B1F33"/>
                </a:solidFill>
              </a:rPr>
              <a:t>Journal of the American Medical Informatics Association</a:t>
            </a:r>
            <a:r>
              <a:rPr lang="en-US" sz="1000" dirty="0">
                <a:solidFill>
                  <a:srgbClr val="0B1F33"/>
                </a:solidFill>
              </a:rPr>
              <a:t>, vol. 25, no. 3, pp. 230–238, &lt;https://doi.org/10.1093/jamia/ocx079&gt;.</a:t>
            </a:r>
            <a:endParaRPr lang="en-US" sz="1000" dirty="0"/>
          </a:p>
          <a:p>
            <a:pPr indent="0" marL="0">
              <a:spcAft>
                <a:spcPts val="400"/>
              </a:spcAft>
              <a:buNone/>
            </a:pPr>
            <a:r>
              <a:rPr lang="en-US" sz="1000" dirty="0">
                <a:solidFill>
                  <a:srgbClr val="0B1F33"/>
                </a:solidFill>
              </a:rPr>
              <a:t>Wood, G. 2014, </a:t>
            </a:r>
            <a:r>
              <a:rPr lang="en-US" sz="1000" i="1" dirty="0">
                <a:solidFill>
                  <a:srgbClr val="0B1F33"/>
                </a:solidFill>
              </a:rPr>
              <a:t>Ethereum: A secure decentralised generalised transaction ledger</a:t>
            </a:r>
            <a:r>
              <a:rPr lang="en-US" sz="1000" dirty="0">
                <a:solidFill>
                  <a:srgbClr val="0B1F33"/>
                </a:solidFill>
              </a:rPr>
              <a:t>, Ethereum Project Yellow Paper.</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2026-10-12T12:42:11Z</dcterms:created>
  <dcterms:modified xsi:type="dcterms:W3CDTF">2026-10-12T12:42:11Z</dcterms:modified>
</cp:coreProperties>
</file>
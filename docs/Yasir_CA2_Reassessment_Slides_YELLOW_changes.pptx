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ea8de892-8731-c84e-090a-00596fc9da42}">
          <p14:sldIdLst>
            <p14:sldId id="256"/>
          </p14:sldIdLst>
        </p14:section>
        <p14:section name="Outline" id="{40472701-0182-d2a1-9cc2-55b3dec20818}">
          <p14:sldIdLst>
            <p14:sldId id="257"/>
          </p14:sldIdLst>
        </p14:section>
        <p14:section name="Introduction" id="{9b1404d1-4873-fa70-3e81-e6795874efe0}">
          <p14:sldIdLst>
            <p14:sldId id="258"/>
            <p14:sldId id="259"/>
          </p14:sldIdLst>
        </p14:section>
        <p14:section name="Systematic Literature Review" id="{21c1baea-a541-2aa1-7455-720ffd75074d}">
          <p14:sldIdLst>
            <p14:sldId id="260"/>
            <p14:sldId id="261"/>
            <p14:sldId id="262"/>
            <p14:sldId id="263"/>
            <p14:sldId id="264"/>
            <p14:sldId id="265"/>
            <p14:sldId id="266"/>
            <p14:sldId id="267"/>
          </p14:sldIdLst>
        </p14:section>
        <p14:section name="Research Gap" id="{f8115b72-533c-f0dc-5e65-aa71723e24e8}">
          <p14:sldIdLst>
            <p14:sldId id="268"/>
          </p14:sldIdLst>
        </p14:section>
        <p14:section name="Research Questions" id="{cd9dfe02-8015-c359-2c32-f2d39c55e179}">
          <p14:sldIdLst>
            <p14:sldId id="269"/>
            <p14:sldId id="270"/>
          </p14:sldIdLst>
        </p14:section>
        <p14:section name="Research Objectives" id="{84d05ae6-2783-6909-d46d-dd8acd06a1f8}">
          <p14:sldIdLst>
            <p14:sldId id="271"/>
          </p14:sldIdLst>
        </p14:section>
        <p14:section name="Research Methodology" id="{9822ee07-4a9a-c1ff-5673-726b687e6b84}">
          <p14:sldIdLst>
            <p14:sldId id="272"/>
          </p14:sldIdLst>
        </p14:section>
        <p14:section name="Research Architecture" id="{25ef392c-5e6f-7283-1b05-0a7b2acecec6}">
          <p14:sldIdLst>
            <p14:sldId id="273"/>
          </p14:sldIdLst>
        </p14:section>
        <p14:section name="The Proposed Solutions" id="{d363f7d8-591e-559f-3b23-231bbdf926cf}">
          <p14:sldIdLst>
            <p14:sldId id="274"/>
            <p14:sldId id="275"/>
            <p14:sldId id="276"/>
            <p14:sldId id="277"/>
            <p14:sldId id="278"/>
            <p14:sldId id="279"/>
            <p14:sldId id="280"/>
          </p14:sldIdLst>
        </p14:section>
        <p14:section name="Implementation and Evaluation" id="{ccdfe745-fe6b-9321-f859-cdc6309db954}">
          <p14:sldIdLst>
            <p14:sldId id="281"/>
            <p14:sldId id="282"/>
            <p14:sldId id="283"/>
            <p14:sldId id="284"/>
            <p14:sldId id="285"/>
            <p14:sldId id="286"/>
            <p14:sldId id="287"/>
          </p14:sldIdLst>
        </p14:section>
        <p14:section name="Significance of the Research" id="{4dde8e11-1584-c5a8-ecee-8de44865a3fc}">
          <p14:sldIdLst>
            <p14:sldId id="288"/>
            <p14:sldId id="289"/>
            <p14:sldId id="290"/>
            <p14:sldId id="291"/>
          </p14:sldIdLst>
        </p14:section>
        <p14:section name="Research Plan" id="{8c16c849-74e2-72a2-ccd3-5a778e24b9a4}">
          <p14:sldIdLst>
            <p14:sldId id="292"/>
            <p14:sldId id="293"/>
          </p14:sldIdLst>
        </p14:section>
        <p14:section name="References" id="{25397580-0877-622f-686c-8fc369e514e0}">
          <p14:sldIdLst>
            <p14:sldId id="294"/>
            <p14:sldId id="295"/>
            <p14:sldId id="296"/>
          </p14:sldIdLst>
        </p14:section>
        <p14:section name="Thank You" id="{ae50ba6e-aa95-bf19-dfc6-79f2c0a0a436}">
          <p14:sldIdLst>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a:t>
            </a:r>
            <a:r>
              <a:rPr lang="en-US" dirty="0">
                <a:highlight>
                  <a:srgbClr val="FFFF00"/>
                </a:highlight>
              </a:rPr>
              <a:t>gap</a:t>
            </a:r>
            <a:r>
              <a:rPr lang="en-US" dirty="0"/>
              <a:t>,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t>
            </a:r>
            <a:r>
              <a:rPr lang="en-US" dirty="0">
                <a:highlight>
                  <a:srgbClr val="FFFF00"/>
                </a:highlight>
              </a:rPr>
              <a:t>and</a:t>
            </a:r>
            <a:r>
              <a:rPr lang="en-US" dirty="0"/>
              <a:t> data scope. Time and lifecycle asks if the consent is still valid, and not expired or revoked.
The dark box brings it together. Consent becomes an object the system can evaluate: C equals I, A, P, T, L, E. That is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a:t>
            </a:r>
            <a:r>
              <a:rPr lang="en-US" dirty="0">
                <a:highlight>
                  <a:srgbClr val="FFFF00"/>
                </a:highlight>
              </a:rPr>
              <a:t>Authorisation</a:t>
            </a:r>
            <a:r>
              <a:rPr lang="en-US" dirty="0"/>
              <a:t> holds the guardian set G and the threshold N, which is the number of approvals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t>
            </a:r>
            <a:r>
              <a:rPr lang="en-US" dirty="0">
                <a:highlight>
                  <a:srgbClr val="FFFF00"/>
                </a:highlight>
              </a:rPr>
              <a:t>and</a:t>
            </a:r>
            <a:r>
              <a:rPr lang="en-US" dirty="0"/>
              <a:t>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a:t>
            </a:r>
            <a:r>
              <a:rPr lang="en-US" dirty="0">
                <a:highlight>
                  <a:srgbClr val="FFFF00"/>
                </a:highlight>
              </a:rPr>
              <a:t>lifecycle</a:t>
            </a:r>
            <a:r>
              <a:rPr lang="en-US" dirty="0"/>
              <a:t>.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gap leads</a:t>
            </a:r>
            <a:r>
              <a:rPr lang="en-US" dirty="0"/>
              <a:t>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a:t>
            </a:r>
            <a:r>
              <a:rPr lang="en-US" dirty="0">
                <a:highlight>
                  <a:srgbClr val="FFFF00"/>
                </a:highlight>
              </a:rPr>
              <a:t>research gap</a:t>
            </a:r>
            <a:r>
              <a:rPr lang="en-US" dirty="0"/>
              <a:t>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a:t>
            </a:r>
            <a:r>
              <a:rPr lang="en-US" dirty="0">
                <a:highlight>
                  <a:srgbClr val="FFFF00"/>
                </a:highlight>
              </a:rPr>
              <a:t>It checks the DID format and invokes VC verification.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a:t>
            </a:r>
            <a:r>
              <a:rPr lang="en-US" dirty="0">
                <a:highlight>
                  <a:srgbClr val="FFFF00"/>
                </a:highlight>
              </a:rPr>
              <a:t>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a:t>
            </a:r>
            <a:r>
              <a:rPr lang="en-US" dirty="0"/>
              <a:t>
The points below are simple. If any one check fails, the answer is DENY. In the prototype, a Groth16 zero-knowledge proof must also verify before any data is released. This kind of proof shows something is true without showing the secret behind it. </a:t>
            </a:r>
            <a:r>
              <a:rPr lang="en-US" dirty="0">
                <a:highlight>
                  <a:srgbClr val="FFFF00"/>
                </a:highlight>
              </a:rPr>
              <a:t>Every access decision, allowed or denied, is written to the off-chain audit ledger with its decision matrix.</a:t>
            </a:r>
            <a:r>
              <a:rPr lang="en-US" dirty="0"/>
              <a:t>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t>
            </a:r>
            <a:r>
              <a:rPr lang="en-US" dirty="0">
                <a:highlight>
                  <a:srgbClr val="FFFF00"/>
                </a:highlight>
              </a:rPr>
              <a:t>and</a:t>
            </a:r>
            <a:r>
              <a:rPr lang="en-US" dirty="0"/>
              <a:t> the validity time.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t>
            </a:r>
            <a:r>
              <a:rPr lang="en-US" dirty="0">
                <a:highlight>
                  <a:srgbClr val="FFFF00"/>
                </a:highlight>
              </a:rPr>
              <a:t>authorisation</a:t>
            </a:r>
            <a:r>
              <a:rPr lang="en-US" dirty="0"/>
              <a:t>, policy and data scope, time, </a:t>
            </a:r>
            <a:r>
              <a:rPr lang="en-US" dirty="0">
                <a:highlight>
                  <a:srgbClr val="FFFF00"/>
                </a:highlight>
              </a:rPr>
              <a:t>lifecycle</a:t>
            </a:r>
            <a:r>
              <a:rPr lang="en-US" dirty="0"/>
              <a:t>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a:t>
            </a:r>
            <a:r>
              <a:rPr lang="en-US" dirty="0">
                <a:highlight>
                  <a:srgbClr val="FFFF00"/>
                </a:highlight>
              </a:rPr>
              <a:t>In the HALAH implementation, the guardian workflow uses a selected guardian DID and invokes VC verification before adding the guardian's signature to the consent. Each guardian's EIP-712 signature is also recovered.</a:t>
            </a:r>
            <a:r>
              <a:rPr lang="en-US" dirty="0"/>
              <a:t> EIP-712 is a typed signature format on Ethereum, so we can see who signed. Full DID resolution </a:t>
            </a:r>
            <a:r>
              <a:rPr lang="en-US" dirty="0">
                <a:highlight>
                  <a:srgbClr val="FFFF00"/>
                </a:highlight>
              </a:rPr>
              <a:t>is</a:t>
            </a:r>
            <a:r>
              <a:rPr lang="en-US" dirty="0"/>
              <a:t>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a:t>
            </a:r>
            <a:r>
              <a:rPr lang="en-US" dirty="0">
                <a:highlight>
                  <a:srgbClr val="FFFF00"/>
                </a:highlight>
              </a:rPr>
              <a:t>the lifecycle state</a:t>
            </a:r>
            <a:r>
              <a:rPr lang="en-US" dirty="0"/>
              <a:t>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a:t>
            </a:r>
            <a:r>
              <a:rPr lang="en-US" dirty="0">
                <a:highlight>
                  <a:srgbClr val="FFFF00"/>
                </a:highlight>
              </a:rPr>
              <a:t>The flowchart follows the doctor's request from the top. A consent that is not ACTIVE, a failed identity check, failed policy or time checks, or a failed proof all lead to Deny Access, and the denied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a:t>
            </a:r>
            <a:r>
              <a:rPr lang="en-US" dirty="0">
                <a:highlight>
                  <a:srgbClr val="FFFF00"/>
                </a:highlight>
              </a:rPr>
              <a:t>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a:t>
            </a:r>
            <a:r>
              <a:rPr lang="en-US" dirty="0"/>
              <a:t>
</a:t>
            </a:r>
            <a:r>
              <a:rPr lang="en-US" dirty="0">
                <a:highlight>
                  <a:srgbClr val="FFFF00"/>
                </a:highlight>
              </a:rPr>
              <a:t>The flowchart follows Algorithm 5. It checks the validity interval, then the lifecycle state, then the revocation status. The dashed steps, the transition check, are the next stage. If all checks pass, the evidence is recorded and the authorisation evaluation continues. Any failure leads to Deny Access, and the lifecycle-based denial is recorded.</a:t>
            </a:r>
            <a:r>
              <a:rPr lang="en-US" dirty="0"/>
              <a:t>
The next stage adds </a:t>
            </a:r>
            <a:r>
              <a:rPr lang="en-US" dirty="0">
                <a:highlight>
                  <a:srgbClr val="FFFF00"/>
                </a:highlight>
              </a:rPr>
              <a:t>the SUSPENDED state,</a:t>
            </a:r>
            <a:r>
              <a:rPr lang="en-US" dirty="0"/>
              <a:t>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a:t>
            </a:r>
            <a:r>
              <a:rPr lang="en-US" dirty="0">
                <a:highlight>
                  <a:srgbClr val="FFFF00"/>
                </a:highlight>
              </a:rPr>
              <a:t>The flowchart on the right shows the method. I define the security and authorisation properties and the threat and failure conditions. Then I run the valid, negative and adversarial scenarios and collect the decisions and the audit evidence. I evaluate the security properties, compare observed with expected decisions, and evaluate the practical performance. If the properties hold, I document the evidence and limitations. If one fails, I identify the failure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 real screen from the doctor subsystem of the HALAH prototype, for the evaluated consent, f050c29a.</a:t>
            </a:r>
            <a:r>
              <a:rPr lang="en-US" dirty="0"/>
              <a:t>
</a:t>
            </a:r>
            <a:r>
              <a:rPr lang="en-US" dirty="0">
                <a:highlight>
                  <a:srgbClr val="FFFF00"/>
                </a:highlight>
              </a:rPr>
              <a:t>The doctor enters the consent ID.</a:t>
            </a:r>
            <a:r>
              <a:rPr lang="en-US" dirty="0"/>
              <a:t> Below that is the decision matrix. VI is identity and authority. VA is collective approval, and revocation is also checked inside VA. VP is policy and context. VT is time. All five </a:t>
            </a:r>
            <a:r>
              <a:rPr lang="en-US" dirty="0">
                <a:highlight>
                  <a:srgbClr val="FFFF00"/>
                </a:highlight>
              </a:rPr>
              <a:t>checks</a:t>
            </a:r>
            <a:r>
              <a:rPr lang="en-US" dirty="0"/>
              <a:t> show PASS, so the decision is ALLOW and the consent state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t>
            </a:r>
            <a:r>
              <a:rPr lang="en-US" dirty="0">
                <a:highlight>
                  <a:srgbClr val="FFFF00"/>
                </a:highlight>
              </a:rPr>
              <a:t>authorisation</a:t>
            </a:r>
            <a:r>
              <a:rPr lang="en-US" dirty="0"/>
              <a:t>, P is policy and scope, T is time, L is </a:t>
            </a:r>
            <a:r>
              <a:rPr lang="en-US" dirty="0">
                <a:highlight>
                  <a:srgbClr val="FFFF00"/>
                </a:highlight>
              </a:rPr>
              <a:t>lifecycle</a:t>
            </a:r>
            <a:r>
              <a:rPr lang="en-US" dirty="0"/>
              <a:t>,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It runs in the background, so the guardians and the doctor do not wait for it.
Processing time is the time of each part of a decision. The decision rule takes about 2 microseconds. One guardian signature takes about 11 milliseconds. The Groth16 proof is the slow part, about 1.4 seconds to generate and 0.47 seconds to verify.
The last row is the on-chain read. Reading the contract on Sepolia takes a little over half a second.
I measured these on 1 October 2026, in one container and with five transactions, so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it on 1 October 2026, in the development container I used for the demonstration. The results come from one container and five transactions, so they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it runs in the background, so the guardians and the doctor do not wait for it.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a:t>
            </a:r>
            <a:r>
              <a:rPr lang="en-US" dirty="0">
                <a:highlight>
                  <a:srgbClr val="FFFF00"/>
                </a:highlight>
              </a:rPr>
              <a:t>every access decision, allowed or denied, is logged off-chain</a:t>
            </a:r>
            <a:r>
              <a:rPr lang="en-US" dirty="0"/>
              <a:t>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t>
            </a:r>
            <a:r>
              <a:rPr lang="en-US" dirty="0">
                <a:highlight>
                  <a:srgbClr val="FFFF00"/>
                </a:highlight>
              </a:rPr>
              <a:t>and</a:t>
            </a:r>
            <a:r>
              <a:rPr lang="en-US" dirty="0"/>
              <a:t> a revocation flag. Pseudonymous means the address does not show a real name.
Access to data: records are released only when the decision is ALLOW, and only inside the authorised scope.
Audit: </a:t>
            </a:r>
            <a:r>
              <a:rPr lang="en-US" dirty="0">
                <a:highlight>
                  <a:srgbClr val="FFFF00"/>
                </a:highlight>
              </a:rPr>
              <a:t>every access decision, allowed or denied, is saved in the off-chain audit ledger</a:t>
            </a:r>
            <a:r>
              <a:rPr lang="en-US" dirty="0"/>
              <a:t>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a:t>
            </a:r>
            <a:r>
              <a:rPr lang="en-US" dirty="0">
                <a:highlight>
                  <a:srgbClr val="FFFF00"/>
                </a:highlight>
              </a:rPr>
              <a:t>lifecycle</a:t>
            </a:r>
            <a:r>
              <a:rPr lang="en-US" dirty="0"/>
              <a:t>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I come to the references. The list has three pages and holds the sources used in these slides: the 25 primary studies of my review and the standards and tools used in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t>
            </a:r>
            <a:r>
              <a:rPr lang="en-US" dirty="0">
                <a:highlight>
                  <a:srgbClr val="FFFF00"/>
                </a:highlight>
              </a:rPr>
              <a:t>and</a:t>
            </a:r>
            <a:r>
              <a:rPr lang="en-US" dirty="0"/>
              <a:t>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highlight>
                  <a:srgbClr val="FFFF00"/>
                </a:highlight>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0B1F33"/>
                </a:solidFill>
                <a:highlight>
                  <a:srgbClr val="FFFF00"/>
                </a:highlight>
              </a:rPr>
              <a:t>Authorisation</a:t>
            </a:r>
            <a:r>
              <a:rPr lang="en-US" sz="1500" dirty="0">
                <a:solidFill>
                  <a:srgbClr val="FFFFFF"/>
                </a:solidFill>
              </a:rPr>
              <a:t> (A: guardian set G, threshold N) · Policy (P: purpose, scope) · Time (T) · </a:t>
            </a:r>
            <a:r>
              <a:rPr lang="en-US" sz="1500" dirty="0">
                <a:solidFill>
                  <a:srgbClr val="0B1F33"/>
                </a:solidFill>
                <a:highlight>
                  <a:srgbClr val="FFFF00"/>
                </a:highlight>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a:t>
            </a:r>
            <a:r>
              <a:rPr lang="en-US" sz="2400" b="1" dirty="0">
                <a:solidFill>
                  <a:srgbClr val="0B1F33"/>
                </a:solidFill>
                <a:highlight>
                  <a:srgbClr val="FFFF00"/>
                </a:highlight>
                <a:latin typeface="Cambria" pitchFamily="34" charset="0"/>
                <a:ea typeface="Cambria" pitchFamily="34" charset="-122"/>
                <a:cs typeface="Cambria" pitchFamily="34" charset="-120"/>
              </a:rPr>
              <a:t>VL(C)</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Trust-Centric Consent Model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0B1F33"/>
                </a:solidFill>
                <a:highlight>
                  <a:srgbClr val="FFFF00"/>
                </a:highlight>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yellow/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Decentralised Identity and Authority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0B1F33"/>
                </a:solidFill>
                <a:highlight>
                  <a:srgbClr val="FFFF00"/>
                </a:highlight>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Trustworthy Multi-Party Authorisation</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yellow/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Policy- and Context-Aware Access Control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0B1F33"/>
                </a:solidFill>
                <a:highlight>
                  <a:srgbClr val="FFFF00"/>
                </a:highlight>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yellow/F14.png">    </p:cNvPr>
          <p:cNvPicPr>
            <a:picLocks noChangeAspect="1"/>
          </p:cNvPicPr>
          <p:nvPr/>
        </p:nvPicPr>
        <p:blipFill>
          <a:blip r:embed="rId1"/>
          <a:stretch>
            <a:fillRect/>
          </a:stretch>
        </p:blipFill>
        <p:spPr>
          <a:xfrm>
            <a:off x="8427609"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Temporal and Lifecycle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Working now: an</a:t>
            </a:r>
            <a:r>
              <a:rPr lang="en-US" sz="1600" dirty="0">
                <a:solidFill>
                  <a:srgbClr val="FFFFFF"/>
                </a:solidFill>
              </a:rPr>
              <a:t>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0B1F33"/>
                </a:solidFill>
                <a:highlight>
                  <a:srgbClr val="FFFF00"/>
                </a:highlight>
              </a:rPr>
              <a:t>the SUSPENDED state,</a:t>
            </a:r>
            <a:r>
              <a:rPr lang="en-US" sz="1600" dirty="0">
                <a:solidFill>
                  <a:srgbClr val="FFFFFF"/>
                </a:solidFill>
              </a:rPr>
              <a:t> lifecycle transition check, consent modification, delegation, guardian-set changes and a formal lifecycle model.</a:t>
            </a:r>
            <a:endParaRPr lang="en-US" sz="1600" dirty="0"/>
          </a:p>
        </p:txBody>
      </p:sp>
      <p:sp>
        <p:nvSpPr>
          <p:cNvPr id="8" name="F35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yellow/F35.png">    </p:cNvPr>
          <p:cNvPicPr>
            <a:picLocks noChangeAspect="1"/>
          </p:cNvPicPr>
          <p:nvPr/>
        </p:nvPicPr>
        <p:blipFill>
          <a:blip r:embed="rId1"/>
          <a:stretch>
            <a:fillRect/>
          </a:stretch>
        </p:blipFill>
        <p:spPr>
          <a:xfrm>
            <a:off x="8070147"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Formal Security Assurance and Empirical Validation</a:t>
            </a:r>
            <a:endParaRPr lang="en-US" sz="18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yellow/F16.png">    </p:cNvPr>
          <p:cNvPicPr>
            <a:picLocks noChangeAspect="1"/>
          </p:cNvPicPr>
          <p:nvPr/>
        </p:nvPicPr>
        <p:blipFill>
          <a:blip r:embed="rId1"/>
          <a:stretch>
            <a:fillRect/>
          </a:stretch>
        </p:blipFill>
        <p:spPr>
          <a:xfrm>
            <a:off x="7607808" y="1919790"/>
            <a:ext cx="3803904" cy="370422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3355848"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3465576" y="1353204"/>
            <a:ext cx="5266944" cy="4151591"/>
          </a:xfrm>
          <a:prstGeom prst="rect">
            <a:avLst/>
          </a:prstGeom>
        </p:spPr>
      </p:pic>
      <p:sp>
        <p:nvSpPr>
          <p:cNvPr id="6" name="caption"/>
          <p:cNvSpPr txBox="1"/>
          <p:nvPr/>
        </p:nvSpPr>
        <p:spPr>
          <a:xfrm>
            <a:off x="3355848"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yellow/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11.5 s (4.9 to 22.1 s, n = 5), in the background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Decision rule 2.37 µs; one EIP-712 signature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a:t>
                      </a:r>
                      <a:r>
                        <a:rPr lang="en-US" sz="1400" dirty="0">
                          <a:solidFill>
                            <a:srgbClr val="0B1F33"/>
                          </a:solidFill>
                        </a:rPr>
                        <a:t>;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highlight>
                  <a:srgbClr val="FFFF00"/>
                </a:highlight>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2026-10-11T07:10:55Z</dcterms:created>
  <dcterms:modified xsi:type="dcterms:W3CDTF">2026-10-11T07:10:55Z</dcterms:modified>
</cp:coreProperties>
</file>
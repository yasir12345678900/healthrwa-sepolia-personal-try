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9112505e-41c5-3ef1-760e-616135a12ba0}">
          <p14:sldIdLst>
            <p14:sldId id="256"/>
          </p14:sldIdLst>
        </p14:section>
        <p14:section name="Outline" id="{c2affd83-497d-8108-b1ff-f24d517860ea}">
          <p14:sldIdLst>
            <p14:sldId id="257"/>
          </p14:sldIdLst>
        </p14:section>
        <p14:section name="Introduction" id="{43366cce-7716-f13d-9d91-fc67ee32149c}">
          <p14:sldIdLst>
            <p14:sldId id="258"/>
            <p14:sldId id="259"/>
          </p14:sldIdLst>
        </p14:section>
        <p14:section name="Systematic Literature Review" id="{363c0c47-892c-7bd4-eb91-883597d7c3f9}">
          <p14:sldIdLst>
            <p14:sldId id="260"/>
            <p14:sldId id="261"/>
            <p14:sldId id="262"/>
            <p14:sldId id="263"/>
            <p14:sldId id="264"/>
            <p14:sldId id="265"/>
            <p14:sldId id="266"/>
            <p14:sldId id="267"/>
          </p14:sldIdLst>
        </p14:section>
        <p14:section name="Research Gap" id="{b3c933e0-4182-691c-a2ca-c555a75d6df2}">
          <p14:sldIdLst>
            <p14:sldId id="268"/>
          </p14:sldIdLst>
        </p14:section>
        <p14:section name="Research Questions" id="{a7b61e5f-66e9-ba27-6ee2-b2d5fa512352}">
          <p14:sldIdLst>
            <p14:sldId id="269"/>
            <p14:sldId id="270"/>
          </p14:sldIdLst>
        </p14:section>
        <p14:section name="Research Objectives" id="{0558cb70-5304-1677-b310-7d312099c138}">
          <p14:sldIdLst>
            <p14:sldId id="271"/>
          </p14:sldIdLst>
        </p14:section>
        <p14:section name="Research Methodology" id="{5b548614-d4dc-88dd-d2b8-d638cb542275}">
          <p14:sldIdLst>
            <p14:sldId id="272"/>
          </p14:sldIdLst>
        </p14:section>
        <p14:section name="Research Architecture" id="{2bc414fb-4a28-f330-538c-20a3541aacec}">
          <p14:sldIdLst>
            <p14:sldId id="273"/>
          </p14:sldIdLst>
        </p14:section>
        <p14:section name="The Proposed Solutions" id="{87ff660c-2770-d2e1-0fb6-4a499f0cbd76}">
          <p14:sldIdLst>
            <p14:sldId id="274"/>
            <p14:sldId id="275"/>
            <p14:sldId id="276"/>
            <p14:sldId id="277"/>
            <p14:sldId id="278"/>
            <p14:sldId id="279"/>
            <p14:sldId id="280"/>
          </p14:sldIdLst>
        </p14:section>
        <p14:section name="Implementation and Evaluation" id="{08148b0a-f3a8-0ff7-fc50-7cae2b2f057b}">
          <p14:sldIdLst>
            <p14:sldId id="281"/>
            <p14:sldId id="282"/>
            <p14:sldId id="283"/>
            <p14:sldId id="284"/>
            <p14:sldId id="285"/>
            <p14:sldId id="286"/>
            <p14:sldId id="287"/>
          </p14:sldIdLst>
        </p14:section>
        <p14:section name="Significance of the Research" id="{248d4874-2a6a-3b42-ef75-987d20466860}">
          <p14:sldIdLst>
            <p14:sldId id="288"/>
            <p14:sldId id="289"/>
            <p14:sldId id="290"/>
            <p14:sldId id="291"/>
          </p14:sldIdLst>
        </p14:section>
        <p14:section name="Research Plan" id="{6b1dc3c5-76d5-147b-41a7-fb0a1f6eac82}">
          <p14:sldIdLst>
            <p14:sldId id="292"/>
            <p14:sldId id="293"/>
          </p14:sldIdLst>
        </p14:section>
        <p14:section name="References" id="{be266906-9e55-f9f1-8c38-6c6f01e5853a}">
          <p14:sldIdLst>
            <p14:sldId id="294"/>
            <p14:sldId id="295"/>
            <p14:sldId id="296"/>
          </p14:sldIdLst>
        </p14:section>
        <p14:section name="Thank You" id="{425acbc9-9d77-c79c-6c94-0e49a4d0c4ae}">
          <p14:sldIdLst>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My research title is A Trusted Authorization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gap,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and data scope. Time and lifecycle asks if the consent is still valid, and not expired or revoked.
The dark box brings it together. Consent becomes an object the system can evaluate: C equals I, A, P, T, L, E. That is identity, authorisation, policy, time, lifecycle and evidence. Authorisation holds the guardian set G and the threshold N, which is the number of approvals needed. L means lifecycle.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The other 1,735 are not assessed yet, and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and data scope.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with the reference number,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with the reference number,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lifecycle.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gap leads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extend them to consent changes, delegation and guardian-set changes.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research gap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twelve attack scenarios.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It checks the DID format and invokes VC verification.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The five boxes explain each check with the definitions in my report. VI is identity and authority validity. VA is collective authorisation validity: all the required guardians approved. VP is policy and contextual compliance: the purpose and the data scope. VT is temporal validity: the request is inside the validity window. VL is consent lifecycle validity: the consent is in a valid state, for example active and not revoked.
The points below are simple. If any one check fails, the answer is DENY. In the prototype, a Groth16 zero-knowledge proof must also verify before any data is released. This kind of proof shows something is true without showing the secret behind it. Every decision on an ACTIVE consent is written to the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and the validity time. In the current interface the purpose is fixed to Treatment. The system then checks the input. For example, an empty data scope or a badly formed guardian DID is rejected.
If the input is valid, the system makes a consent identifier and builds the consent object C. C has six parts: identity, authorisation, policy and data scope, time, lifecycle and evidence. The consent is saved in the state PENDING_SIGNATURE. Nothing goes on-chain until all guardians approve. Last, the creation is recorded in the audit ledger.
The flowchart on the right shows the same steps from top to bottom. If the input is not valid, the No branch rejects the consent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In the HALAH implementation, the guardian workflow uses a selected guardian DID and invokes VC verification before adding the guardian's signature to the consent. Each guardian's EIP-712 signature is also recovered. EIP-712 is a typed signature format on Ethereum, so we can see who signed.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An approval from someone outside G is not counted. A replayed or duplicate approval is not counted either.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the lifecycle state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The flowchart follows the doctor's request from the top. A consent that is not ACTIVE, a failed identity check, failed policy or time checks, or a failed proof all lead to Deny Access, and the denied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In the design, L is the lifecycle state: CREATED, PENDING, ACTIVE, SUSPENDED, REVOKED or EXPIRED, and VL checks a valid state and a valid transition. The prototype works with six states: PENDING_SIGNATURE, PENDING_TOKEN, NOT_STARTED, ACTIVE, EXPIRED and REVOKED. Access can be granted only in ACTIVE.
The flowchart follows Algorithm 5. It checks the validity interval, then the lifecycle state, then the revocation status. The dashed steps, the transition check, are the next stage. If all checks pass, the evidence is recorded and the authorisation evaluation continues. Any failure leads to Deny Access, and the lifecycle-based denial is recorded.
The next stage adds the SUSPENDED state, a lifecycle transition check, consent modification, delegation, guardian-set changes and a formal lifecycle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36 automated tests. They include twelve attack scenarios, A1 to A12. These try things like replayed approvals, unauthorised signers, requests outside the allowed scope and use of a revoked consent. Second, I measured the on-chain cost, the confirmation latency and the processing time.
The next stage covers formal proofs or model checking of the security properties. It also covers a larger evaluation under load.
The flowchart on the right shows the method. I define the security and authorisation properties and the threat and failure conditions. Then I run the valid, negative and adversarial scenarios and collect the decisions and the audit evidence. I evaluate the security properties, compare observed with expected decisions, and evaluate the practical performance. If the properties hold, I document the evidence and limitations. If one fails, I identify the failure and refine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audit ledger keeps evidence of every decision,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 real screen from the doctor subsystem of the HALAH prototype, for the evaluated consent, f050c29a.
The doctor enters the consent ID. Below that is the decision matrix. VI is identity and authority. VA is collective approval, and revocation is also checked inside VA. VP is policy and context. VT is time. All five checks show PASS, so the decision is ALLOW and the consent state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On the right is the gas used by the five anchored transactions. Gas is the unit of computing work on Ethereum. The first two bars are token 8 from the earlier deployment. The other three are on the current contract, ConsentSBTv3.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5, the consent was revoked, so the request failed at VA.
The third row is the twelve attack scenarios, A1 to A12. After the hardening, eleven of them are refused. A11 is different. A rewritten audit event changes its digest, but nothing in the prototype compares the digest yet.
The next slide shows these twelve attacks in detail.
The fourth row is the automated tests. There are 23 functional and regression tests and 13 adversarial tests. All 36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twelve attack scenarios, A1 to A12. The dots show which part each attack targets. I is identity, A is authorisation, P is policy and scope, T is time, L is lifecycle,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twelve are refused, and all 36 automated tests pass.
A11 is different. A rewritten audit event changes its digest, but no part of the prototype compares the digest yet. So I mark it as neutral, not as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It runs in the background, so the guardians and the doctor do not wait for it.
Processing time is the time of each part of a decision. The decision rule takes about 2 microseconds. One guardian signature takes about 11 milliseconds. The Groth16 proof is the slow part, about 1.4 seconds to generate and 0.47 seconds to verify.
The last row is the on-chain read. Reading the contract on Sepolia takes a little over half a second.
I measured these on 1 October 2026, in one container and with five transactions, so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it on 1 October 2026, in the development container I used for the demonstration. The results come from one container and five transactions, so they are indicative only.
In the table, the median is the middle value. The column n is how many times I measured each step. The symbol µs means microseconds, and ms means milliseconds.
The decision rule with its five checks takes about 2 microseconds, so it costs almost nothing.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it runs in the background, so the guardians and the doctor do not wait for it.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each decision on an ACTIVE consent is logged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only pseudonymous patient and requester addresses, a hash of the purpose, the validity window and a revocation flag. Pseudonymous means the address does not show a real name.
Access to data: records are released only when the decision is ALLOW, and only inside the authorised scope.
Audit: each decision on an ACTIVE consent is saved in the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authorisation, policy, time, lifecycle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lifecycle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twelve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was done in July 2026.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was done in July 2026.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come to the references. The list has three pages and holds the sources used in these slides: the 25 primary studies of my review and the standards and tools used in the prototype. It follows the UTS Harvard style, so the sources are listed by author name and year.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only pseudonymous addresses, a hash of the purpose, the validity window and a revocation flag.
Possible question: What is new in this work? Multi-party approval is a standing condition of every access decision, and the patient defines who must approve. I tested the prototype against twelve attack scenarios. After hardening, eleven of them are refused.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RESEARCH GAP</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a:t>
            </a:r>
            <a:r>
              <a:rPr lang="en-US" sz="1600" dirty="0">
                <a:solidFill>
                  <a:srgbClr val="0B1F33"/>
                </a:solidFill>
              </a:rPr>
              <a:t>and</a:t>
            </a:r>
            <a:r>
              <a:rPr lang="en-US" sz="1600" dirty="0">
                <a:solidFill>
                  <a:srgbClr val="0B1F33"/>
                </a:solidFill>
              </a:rPr>
              <a:t> data scope?</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t>
            </a:r>
            <a:r>
              <a:rPr lang="en-US" sz="1500" dirty="0">
                <a:solidFill>
                  <a:srgbClr val="FFFFFF"/>
                </a:solidFill>
              </a:rPr>
              <a:t>Authorisation</a:t>
            </a:r>
            <a:r>
              <a:rPr lang="en-US" sz="1500" dirty="0">
                <a:solidFill>
                  <a:srgbClr val="FFFFFF"/>
                </a:solidFill>
              </a:rPr>
              <a:t> (A: guardian set G, threshold N) · Policy (P: purpose, scope) · Time (T) · </a:t>
            </a:r>
            <a:r>
              <a:rPr lang="en-US" sz="1500" dirty="0">
                <a:solidFill>
                  <a:srgbClr val="FFFFFF"/>
                </a:solidFill>
              </a:rPr>
              <a:t>Lifecycle (L)</a:t>
            </a:r>
            <a:r>
              <a:rPr lang="en-US" sz="1500" dirty="0">
                <a:solidFill>
                  <a:srgbClr val="FFFFFF"/>
                </a:solidFill>
              </a:rPr>
              <a:t> · Evidence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2743200" y="1051560"/>
            <a:ext cx="66751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196215"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 RESEARCH QUESTIONS</a:t>
            </a:r>
            <a:endParaRPr lang="en-US" sz="3000" dirty="0"/>
          </a:p>
        </p:txBody>
      </p:sp>
      <p:sp>
        <p:nvSpPr>
          <p:cNvPr id="4" name="card RQ1"/>
          <p:cNvSpPr/>
          <p:nvPr/>
        </p:nvSpPr>
        <p:spPr>
          <a:xfrm>
            <a:off x="64008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5" name="card text RQ1"/>
          <p:cNvSpPr txBox="1"/>
          <p:nvPr/>
        </p:nvSpPr>
        <p:spPr>
          <a:xfrm>
            <a:off x="77724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250" dirty="0">
                <a:solidFill>
                  <a:srgbClr val="0B1F33"/>
                </a:solidFill>
              </a:rPr>
              <a:t>How can patient consent be modelled as a trust-aware authorisation object that explicitly represents identity, authority requirements, policy constraints, and authorisation evidence?</a:t>
            </a:r>
            <a:endParaRPr lang="en-US" sz="1900" dirty="0"/>
          </a:p>
        </p:txBody>
      </p:sp>
      <p:sp>
        <p:nvSpPr>
          <p:cNvPr id="6" name="card RQ2"/>
          <p:cNvSpPr/>
          <p:nvPr/>
        </p:nvSpPr>
        <p:spPr>
          <a:xfrm>
            <a:off x="617220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7" name="card text RQ2"/>
          <p:cNvSpPr txBox="1"/>
          <p:nvPr/>
        </p:nvSpPr>
        <p:spPr>
          <a:xfrm>
            <a:off x="630936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250" dirty="0">
                <a:solidFill>
                  <a:srgbClr val="0B1F33"/>
                </a:solidFill>
              </a:rPr>
              <a:t>How can decentralised identities and verifiable credentials establish trustworthy participants while explicitly separating identity authentication from authorisation authority?</a:t>
            </a:r>
            <a:endParaRPr lang="en-US" sz="1900" dirty="0"/>
          </a:p>
        </p:txBody>
      </p:sp>
      <p:sp>
        <p:nvSpPr>
          <p:cNvPr id="8" name="card RQ3"/>
          <p:cNvSpPr/>
          <p:nvPr/>
        </p:nvSpPr>
        <p:spPr>
          <a:xfrm>
            <a:off x="64008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9" name="card text RQ3"/>
          <p:cNvSpPr txBox="1"/>
          <p:nvPr/>
        </p:nvSpPr>
        <p:spPr>
          <a:xfrm>
            <a:off x="77724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250" dirty="0">
                <a:solidFill>
                  <a:srgbClr val="0B1F33"/>
                </a:solidFill>
              </a:rPr>
              <a:t>How can multiple independently verified participants and guardians jointly establish a trustworthy consent decision without allowing a single participant to unilaterally authorise sensitive healthcare data access?</a:t>
            </a:r>
            <a:endParaRPr lang="en-US" sz="1900" dirty="0"/>
          </a:p>
        </p:txBody>
      </p:sp>
      <p:sp>
        <p:nvSpPr>
          <p:cNvPr id="10" name="card RQ4"/>
          <p:cNvSpPr/>
          <p:nvPr/>
        </p:nvSpPr>
        <p:spPr>
          <a:xfrm>
            <a:off x="617220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11" name="card text RQ4"/>
          <p:cNvSpPr txBox="1"/>
          <p:nvPr/>
        </p:nvSpPr>
        <p:spPr>
          <a:xfrm>
            <a:off x="630936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250" dirty="0">
                <a:solidFill>
                  <a:srgbClr val="0B1F33"/>
                </a:solidFill>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2" name="card RQ5"/>
          <p:cNvSpPr/>
          <p:nvPr/>
        </p:nvSpPr>
        <p:spPr>
          <a:xfrm>
            <a:off x="64008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3" name="card text RQ5"/>
          <p:cNvSpPr txBox="1"/>
          <p:nvPr/>
        </p:nvSpPr>
        <p:spPr>
          <a:xfrm>
            <a:off x="77724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250" dirty="0">
                <a:solidFill>
                  <a:srgbClr val="0B1F33"/>
                </a:solidFill>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4" name="card RQ6"/>
          <p:cNvSpPr/>
          <p:nvPr/>
        </p:nvSpPr>
        <p:spPr>
          <a:xfrm>
            <a:off x="617220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5" name="card text RQ6"/>
          <p:cNvSpPr txBox="1"/>
          <p:nvPr/>
        </p:nvSpPr>
        <p:spPr>
          <a:xfrm>
            <a:off x="630936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250" dirty="0">
                <a:solidFill>
                  <a:srgbClr val="0B1F33"/>
                </a:solidFill>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 and RQs</a:t>
            </a:r>
            <a:endParaRPr lang="en-US" sz="1400" dirty="0"/>
          </a:p>
          <a:p>
            <a:pPr algn="ctr" indent="0" marL="0">
              <a:spcAft>
                <a:spcPts val="800"/>
              </a:spcAft>
              <a:buNone/>
            </a:pPr>
            <a:r>
              <a:rPr lang="en-US" sz="1300" dirty="0">
                <a:solidFill>
                  <a:srgbClr val="0B1F33"/>
                </a:solidFill>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a:t>
            </a:r>
            <a:r>
              <a:rPr lang="en-US" sz="2400" b="1" dirty="0">
                <a:solidFill>
                  <a:srgbClr val="FFFFFF"/>
                </a:solidFill>
                <a:latin typeface="Cambria" pitchFamily="34" charset="0"/>
                <a:ea typeface="Cambria" pitchFamily="34" charset="-122"/>
                <a:cs typeface="Cambria" pitchFamily="34" charset="-120"/>
              </a:rPr>
              <a:t>VL(C)</a:t>
            </a:r>
            <a:endParaRPr lang="en-US" sz="24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validity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Collective authorisation validity</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Policy and contextual compliance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Temporal validity</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Consent lifecycle validity</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Trust-Centric Consent Model</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a:t>
            </a:r>
            <a:r>
              <a:rPr lang="en-US" sz="1600" dirty="0">
                <a:solidFill>
                  <a:srgbClr val="FFFFFF"/>
                </a:solidFill>
              </a:rPr>
              <a:t>and</a:t>
            </a:r>
            <a:r>
              <a:rPr lang="en-US" sz="1600" dirty="0">
                <a:solidFill>
                  <a:srgbClr val="FFFFFF"/>
                </a:solidFill>
              </a:rPr>
              <a:t> validity time;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 consent identifier is generated and C = (I, A, P, T, L, E) is built.</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267612" y="111556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Decentralised Identity and Authority Trust</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In the HALAH implementation, the Guardian workflow uses a selected guardian DID and invokes VC verification before adding the guardian's signature to the consent.</a:t>
            </a:r>
            <a:endParaRPr lang="en-US" sz="1600" dirty="0"/>
          </a:p>
          <a:p>
            <a:pPr marL="342900" indent="-342900">
              <a:spcAft>
                <a:spcPts val="1000"/>
              </a:spcAft>
              <a:buSzPct val="100000"/>
              <a:buChar char="•"/>
            </a:pPr>
            <a:r>
              <a:rPr lang="en-US" sz="1600" dirty="0">
                <a:solidFill>
                  <a:srgbClr val="FFFFFF"/>
                </a:solidFill>
              </a:rPr>
              <a:t>Full DID resolution </a:t>
            </a:r>
            <a:r>
              <a:rPr lang="en-US" sz="1600" dirty="0">
                <a:solidFill>
                  <a:srgbClr val="FFFFFF"/>
                </a:solidFill>
              </a:rPr>
              <a:t>is</a:t>
            </a:r>
            <a:r>
              <a:rPr lang="en-US" sz="1600" dirty="0">
                <a:solidFill>
                  <a:srgbClr val="FFFFFF"/>
                </a:solidFill>
              </a:rPr>
              <a:t> planned for the next stage.</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Trustworthy Multi-Party Authorisation</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replayed or duplicate approvals are not counted.</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89891" y="111556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Policy- and Context-Aware Access Control</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FFFFFF"/>
                </a:solidFill>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427609" y="111556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Temporal and Lifecycle Trust</a:t>
            </a:r>
            <a:endParaRPr lang="en-US" sz="18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Design: L is the lifecycle state (CREATED, PENDING, ACTIVE, SUSPENDED, REVOKED, EXPIRED), checked by VL(C) = ValidState(C) ∧ ValidTransition(C).</a:t>
            </a:r>
            <a:endParaRPr lang="en-US" sz="1600" dirty="0"/>
          </a:p>
          <a:p>
            <a:pPr marL="342900" indent="-342900">
              <a:spcAft>
                <a:spcPts val="1000"/>
              </a:spcAft>
              <a:buSzPct val="100000"/>
              <a:buChar char="•"/>
            </a:pPr>
            <a:r>
              <a:rPr lang="en-US" sz="1600" dirty="0">
                <a:solidFill>
                  <a:srgbClr val="FFFFFF"/>
                </a:solidFill>
              </a:rPr>
              <a:t>Working now: an</a:t>
            </a:r>
            <a:r>
              <a:rPr lang="en-US" sz="1600" dirty="0">
                <a:solidFill>
                  <a:srgbClr val="FFFFFF"/>
                </a:solidFill>
              </a:rPr>
              <a:t>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FFFFFF"/>
                </a:solidFill>
              </a:rPr>
              <a:t>the SUSPENDED state,</a:t>
            </a:r>
            <a:r>
              <a:rPr lang="en-US" sz="1600" dirty="0">
                <a:solidFill>
                  <a:srgbClr val="FFFFFF"/>
                </a:solidFill>
              </a:rPr>
              <a:t> lifecycle transition check, consent modification, delegation, guardian-set changes and a formal lifecycle model.</a:t>
            </a:r>
            <a:endParaRPr lang="en-US" sz="1600" dirty="0"/>
          </a:p>
        </p:txBody>
      </p:sp>
      <p:sp>
        <p:nvSpPr>
          <p:cNvPr id="8" name="F35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8070147" y="111556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Formal Security Assurance and Empirical Validation</a:t>
            </a:r>
            <a:endParaRPr lang="en-US" sz="18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including twelve attack scenarios A1 to A12.</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919790"/>
            <a:ext cx="3803904" cy="370422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3355848"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3465576" y="1353204"/>
            <a:ext cx="5266944" cy="4151591"/>
          </a:xfrm>
          <a:prstGeom prst="rect">
            <a:avLst/>
          </a:prstGeom>
        </p:spPr>
      </p:pic>
      <p:sp>
        <p:nvSpPr>
          <p:cNvPr id="6" name="caption"/>
          <p:cNvSpPr txBox="1"/>
          <p:nvPr/>
        </p:nvSpPr>
        <p:spPr>
          <a:xfrm>
            <a:off x="3355848"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5778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303520" cy="5166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 at VA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and regression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A12</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11 / 12</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after the hardening</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36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377440"/>
                <a:gridCol w="3017520"/>
                <a:gridCol w="2468880"/>
                <a:gridCol w="3017520"/>
              </a:tblGrid>
              <a:tr h="502920">
                <a:tc>
                  <a:txBody>
                    <a:bodyPr/>
                    <a:lstStyle/>
                    <a:p>
                      <a:pPr indent="0" marL="0">
                        <a:buNone/>
                      </a:pPr>
                      <a:r>
                        <a:rPr lang="en-US" sz="1400" b="1" dirty="0">
                          <a:solidFill>
                            <a:srgbClr val="FFFFFF"/>
                          </a:solidFill>
                        </a:rPr>
                        <a:t>Metric</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Formula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Measured 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400" b="1" dirty="0">
                          <a:solidFill>
                            <a:srgbClr val="0B1F33"/>
                          </a:solidFill>
                        </a:rPr>
                        <a:t>Gas 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 consumed by each anchored transaction, from its receipt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Mint #1: 196,406; Revoke #1: 32,980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Transaction fee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paid for each anchored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 gasUsed × gasPrice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 fee above 0.00021 ETH (Sepolia ETH has no monetary value)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Submit-to-confirmation latency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between the local event and the on-chain event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 = t(on-chain) − t(local)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11.5 s (4.9 to 22.1 s, n = 5), in the background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914400">
                <a:tc>
                  <a:txBody>
                    <a:bodyPr/>
                    <a:lstStyle/>
                    <a:p>
                      <a:pPr indent="0" marL="0">
                        <a:buNone/>
                      </a:pPr>
                      <a:r>
                        <a:rPr lang="en-US" sz="1400" b="1" dirty="0">
                          <a:solidFill>
                            <a:srgbClr val="0B1F33"/>
                          </a:solidFill>
                        </a:rPr>
                        <a:t>Processing time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each decision component over repeated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minimum and maximum over n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Decision rule 2.37 µs; one EIP-712 signature 10.93 ms; Groth16 proof 1,401.1 ms to generate, 465.3 ms to verify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On-chain read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a checkValid or checkValidAt call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over n = 20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573.5 ms and 574.6 ms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5943600"/>
            <a:ext cx="108813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7" name="caption"/>
          <p:cNvSpPr txBox="1"/>
          <p:nvPr/>
        </p:nvSpPr>
        <p:spPr>
          <a:xfrm>
            <a:off x="6812280" y="5349240"/>
            <a:ext cx="47091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914400"/>
        </p:xfrm>
        <a:graphic>
          <a:graphicData uri="http://schemas.openxmlformats.org/drawingml/2006/table">
            <a:tbl>
              <a:tblPr/>
              <a:tblGrid>
                <a:gridCol w="1828800"/>
                <a:gridCol w="4206240"/>
                <a:gridCol w="484632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7724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t>
                      </a:r>
                      <a:r>
                        <a:rPr lang="en-US" sz="1500" dirty="0">
                          <a:solidFill>
                            <a:srgbClr val="0B1F33"/>
                          </a:solidFill>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in the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a:t>
            </a:r>
            <a:r>
              <a:rPr lang="en-US" sz="1600" dirty="0">
                <a:solidFill>
                  <a:srgbClr val="0B1F33"/>
                </a:solidFill>
              </a:rPr>
              <a:t>lifecycle</a:t>
            </a:r>
            <a:r>
              <a:rPr lang="en-US" sz="1600" dirty="0">
                <a:solidFill>
                  <a:srgbClr val="0B1F33"/>
                </a:solidFill>
              </a:rPr>
              <a:t>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twelve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2026-10-11T01:10:05Z</dcterms:created>
  <dcterms:modified xsi:type="dcterms:W3CDTF">2026-10-11T01:10:05Z</dcterms:modified>
</cp:coreProperties>
</file>
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0"/>
  </p:notesMasterIdLst>
  <p:sldIdLst>
    <p:sldId id="312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942778-0A59-C3A1-24F4-DFEFB294A139}">
          <p14:sldIdLst>
            <p14:sldId id="256"/>
            <p14:sldId id="257"/>
          </p14:sldIdLst>
        </p14:section>
        <p14:section name="The Problem" id="{96F6FDF1-3C7D-C7BC-4CB4-44E808112E56}">
          <p14:sldIdLst>
            <p14:sldId id="258"/>
            <p14:sldId id="259"/>
          </p14:sldIdLst>
        </p14:section>
        <p14:section name="Literature Review" id="{AA021B7A-1D89-DD7B-6EEA-931123681486}">
          <p14:sldIdLst>
            <p14:sldId id="304"/>
            <p14:sldId id="305"/>
            <p14:sldId id="306"/>
            <p14:sldId id="307"/>
            <p14:sldId id="308"/>
            <p14:sldId id="309"/>
            <p14:sldId id="312"/>
            <p14:sldId id="313"/>
          </p14:sldIdLst>
        </p14:section>
        <p14:section name="Gap, Questions and Objectives" id="{ACB741F8-7344-E54E-3520-6B498F895C17}">
          <p14:sldIdLst>
            <p14:sldId id="262"/>
            <p14:sldId id="302"/>
            <p14:sldId id="263"/>
            <p14:sldId id="264"/>
            <p14:sldId id="410"/>
          </p14:sldIdLst>
        </p14:section>
        <p14:section name="The Framework" id="{4674AA55-3218-DA15-E297-A596FB9CE1A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</p14:sldIdLst>
        </p14:section>
        <p14:section name="Demo: The HALAH Prototype" id="{611104C4-4282-3E95-1D48-D00FE3F4F3EA}">
          <p14:sldIdLst>
            <p14:sldId id="292"/>
            <p14:sldId id="413"/>
            <p14:sldId id="293"/>
            <p14:sldId id="294"/>
            <p14:sldId id="295"/>
            <p14:sldId id="296"/>
            <p14:sldId id="297"/>
          </p14:sldIdLst>
        </p14:section>
        <p14:section name="Validation and Evaluation" id="{38214D88-01AF-845D-D65A-C9A4BC2C85DF}">
          <p14:sldIdLst>
            <p14:sldId id="280"/>
            <p14:sldId id="281"/>
            <p14:sldId id="282"/>
          </p14:sldIdLst>
        </p14:section>
        <p14:section name="Contribution" id="{EB11EB97-8735-E73D-577A-B2BB861A5EB4}">
          <p14:sldIdLst>
            <p14:sldId id="284"/>
            <p14:sldId id="285"/>
            <p14:sldId id="412"/>
            <p14:sldId id="411"/>
          </p14:sldIdLst>
        </p14:section>
        <p14:section name="Research Plan" id="{1F39EFB8-3D03-66B5-86E7-768BA670C7C2}">
          <p14:sldIdLst>
            <p14:sldId id="289"/>
            <p14:sldId id="290"/>
            <p14:sldId id="291"/>
          </p14:sldIdLst>
        </p14:section>
        <p14:section name="References" id="{40AA16BB-153B-BBB1-53BB-0EB6F21829F3}">
          <p14:sldIdLst>
            <p14:sldId id="300"/>
          </p14:sldIdLst>
        </p14:section>
        <p14:section name="Thank You" id="{FD86D728-DF0D-F8E8-99EB-24A0646BFE0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78954" autoAdjust="0"/>
  </p:normalViewPr>
  <p:slideViewPr>
    <p:cSldViewPr snapToGrid="0" snapToObjects="1">
      <p:cViewPr>
        <p:scale>
          <a:sx n="62" d="100"/>
          <a:sy n="62" d="100"/>
        </p:scale>
        <p:origin x="1258" y="120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8467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2" Type="http://schemas.openxmlformats.org/officeDocument/2006/relationships/slide" Target="slides/slide11.xml"/><Relationship Id="rId50" Type="http://schemas.openxmlformats.org/officeDocument/2006/relationships/notesMaster" Target="notesMasters/notesMaster1.xml"/><Relationship Id="rId51" Type="http://schemas.openxmlformats.org/officeDocument/2006/relationships/presProps" Target="presProps.xml"/><Relationship Id="rId52" Type="http://schemas.openxmlformats.org/officeDocument/2006/relationships/viewProps" Target="viewProps.xml"/><Relationship Id="rId53" Type="http://schemas.openxmlformats.org/officeDocument/2006/relationships/theme" Target="theme/theme1.xml"/><Relationship Id="rId5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Here is the list of the 25 primary studies in the comparative analysis, from S1 to S25.</a:t>
            </a:r>
          </a:p>
          <a:p>
            <a:r>
              <a:t>Each study has a number, and I use these numbers in the comparison tables on the next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376-6A6A-8841-B7E4-1F35C224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F4E9-2DE5-D7EB-95B3-8E54FB2A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98B3-BB9B-B6BB-C9C0-D35E1106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13-ADD8-45A6-BA20-4C35DCF1F406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D850-541D-4EC8-9030-D6F5264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99EC-2238-CBDA-CDDF-7C2C97A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ADC8E-7141-4E37-96AF-0E1D097C06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6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line">
            <a:extLst>
              <a:ext uri="{FF2B5EF4-FFF2-40B4-BE49-F238E27FC236}">
                <a16:creationId xmlns:a16="http://schemas.microsoft.com/office/drawing/2014/main" id="{EAA49FCD-6474-4965-8487-91E512158047}"/>
              </a:ext>
            </a:extLst>
          </p:cNvPr>
          <p:cNvSpPr>
            <a:spLocks noGrp="1"/>
          </p:cNvSpPr>
          <p:nvPr/>
        </p:nvSpPr>
        <p:spPr>
          <a:xfrm>
            <a:off x="590550" y="238125"/>
            <a:ext cx="11010900" cy="5048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l">
              <a:defRPr sz="2700" b="1">
                <a:solidFill>
                  <a:srgbClr val="103B64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lnSpc>
                <a:spcPct val="106000"/>
              </a:lnSpc>
              <a:buNone/>
              <a:defRPr sz="2700" b="1">
                <a:solidFill>
                  <a:srgbClr val="103B64"/>
                </a:solidFill>
                <a:latin typeface="Arial"/>
                <a:ea typeface="Arial"/>
                <a:cs typeface="Arial"/>
              </a:defRPr>
            </a:pPr>
            <a:r>
              <a:rPr sz="2700" b="1" dirty="0">
                <a:solidFill>
                  <a:srgbClr val="103B64"/>
                </a:solidFill>
                <a:latin typeface="Arial"/>
                <a:ea typeface="Arial"/>
                <a:cs typeface="Arial"/>
              </a:rPr>
              <a:t>LIST OF THE ANALYSED STUDIES: S1–S25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ACEE08DE-4D7D-48D1-B007-0EAB14464BBC}"/>
              </a:ext>
            </a:extLst>
          </p:cNvPr>
          <p:cNvSpPr>
            <a:spLocks noGrp="1"/>
          </p:cNvSpPr>
          <p:nvPr/>
        </p:nvSpPr>
        <p:spPr>
          <a:xfrm>
            <a:off x="590550" y="866775"/>
            <a:ext cx="11010900" cy="12383"/>
          </a:xfrm>
          <a:prstGeom prst="rect">
            <a:avLst/>
          </a:prstGeom>
          <a:solidFill>
            <a:srgbClr val="DCE9F4"/>
          </a:solidFill>
          <a:ln w="13335">
            <a:solidFill>
              <a:srgbClr val="DCE9F4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5" name="page-number">
            <a:extLst>
              <a:ext uri="{FF2B5EF4-FFF2-40B4-BE49-F238E27FC236}">
                <a16:creationId xmlns:a16="http://schemas.microsoft.com/office/drawing/2014/main" id="{3D6C3840-BA05-48F8-B96C-AC509D9018B9}"/>
              </a:ext>
            </a:extLst>
          </p:cNvPr>
          <p:cNvSpPr>
            <a:spLocks noGrp="1"/>
          </p:cNvSpPr>
          <p:nvPr/>
        </p:nvSpPr>
        <p:spPr>
          <a:xfrm>
            <a:off x="11477625" y="6477000"/>
            <a:ext cx="333375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>
            <a:defPPr algn="r">
              <a:defRPr sz="975" b="0">
                <a:solidFill>
                  <a:srgbClr val="146BA8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lnSpc>
                <a:spcPct val="106000"/>
              </a:lnSpc>
              <a:buNone/>
              <a:defRPr sz="975" b="0">
                <a:solidFill>
                  <a:srgbClr val="146BA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146BA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6758AE8-EE98-4146-B748-D7A6A2A828D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71327951"/>
              </p:ext>
            </p:extLst>
          </p:nvPr>
        </p:nvGraphicFramePr>
        <p:xfrm>
          <a:off x="590550" y="1005840"/>
          <a:ext cx="11010900" cy="508406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67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Study</a:t>
                      </a:r>
                    </a:p>
                  </a:txBody>
                  <a:tcPr marL="50800" marR="50800" marT="25400" marB="2540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>
                      <a:solidFill>
                        <a:srgbClr val="DCE9F4"/>
                      </a:solidFill>
                      <a:prstDash val="soli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103B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Authors and year</a:t>
                      </a:r>
                    </a:p>
                  </a:txBody>
                  <a:tcPr marL="50800" marR="50800" marT="25400" marB="2540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>
                      <a:solidFill>
                        <a:srgbClr val="DCE9F4"/>
                      </a:solidFill>
                      <a:prstDash val="soli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103B6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Article title</a:t>
                      </a:r>
                    </a:p>
                  </a:txBody>
                  <a:tcPr marL="50800" marR="50800" marT="25400" marB="2540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>
                      <a:solidFill>
                        <a:srgbClr val="DCE9F4"/>
                      </a:solidFill>
                      <a:prstDash val="soli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103B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Abbasi et al. (2026)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Nexa: Enabling Secure, Scalable, and Decentralized Management of Electronic Health Records Using Threshold Cryptography and Public Blockchains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S2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Albalwy et al. (2021)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 Blockchain-based dynamic consent architecture to support clinical genomic data sharing (ConsentChain): Proof-of-concept study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S3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Al Amin et al. (2023)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Informed Consent as Patient Driven Policy for Clinical Diagnosis and Treatment: A Smart Contract Based Approach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S4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Ekholm et al. (2025)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Implementing electronic informed consent in rare disease genomics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S5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Eneh et al. (2026)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Demo: EdgeConsent: On-Chain Attribute-Based Access Control for Data Consent Management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S6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Hagström et al. (2024)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Minors’ and guardian access to and use of a national patient portal: A retrospective comparative case study of Sweden and Finland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S7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Jaiman and Urovi (2020)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 Consent Model for Blockchain-Based Health Data Sharing Platforms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S8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Zhao and Su (2024)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 threshold traceable delegation authorization scheme for data sharing in healthcare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S9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Li et al. (2026a)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Privacy-Preserving Fine-Grained EMR Access Control for IoMT: A Hybrid RBAC-Smart Contract Scheme With Attribute-Based Authorization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S10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Madine et al. (2020)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Fully Decentralized Multi-Party Consent Management for Secure Sharing of Patient Health Records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S11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Maruthi and Singh (2025)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Enhancing Security and Privacy of IoMT Data for Unconscious Patient With Blockchain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S12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Mei et al. (2026)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Efficient Dual-Revocation CP-ABE for Secure and Fine-Grained Data Sharing in IoMT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S13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Panagoulias et al. (2026)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Blockchain-Enabled Trust and Compliance for Clinical AI: Decentralized Governance Without Decentralized Data Storage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S14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Phuyal et al. (2026b)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Enabling Cross-Institution Health Data Sharing in Norway: EUDI Wallets, On-Chain Consent, and openEHR↔FHIR Translation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S15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Phuyal et al. (2026a)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 Blockchain-Based Architecture for Dynamic and Auditable Patient Consent in Secondary Use of Health Data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S16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Punia et al. (2025)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An access control system for cloud-based healthcare systems driven by blockchain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S17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Román-Martínez et al. (2023)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Blockchain-Based Service-Oriented Architecture for Consent Management, Access Control, and Auditing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S18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Hema et al. (2026)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Patient Centric Cryptographic Protection of Cloud Electronic Health Records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S19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SooHoo et al. (2026)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Development of the authentication and authorization processes for the iAgree portal, a platform for patient-controlled data sharing across health systems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S20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Tan et al. (2024)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Secure and privacy-preserving sharing of personal health records with multi-party pre-authorization verification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S21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Tith et al. (2020)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Patient consent management by a purpose-based consent model for electronic health record based on blockchain technology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S22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Tremper et al. (2026)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Mainzelliste: Ten years of pseudonymization, record linkage, and informed consent management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S23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Tseng et al. (2025)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EMR-Chain: Decentralized Electronic Medical Record Exchange System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S24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4F8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Wu et al. (2022)</a:t>
                      </a: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DDEE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Apply Trust Computing and Privacy Preserving Smart Contracts to Manage, Share, and Analyze Multi-site Clinical Trial Data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202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sz="1000" b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S25</a:t>
                      </a:r>
                    </a:p>
                  </a:txBody>
                  <a:tcPr marL="50800" marR="50800" marT="6350" marB="6350" anchor="ctr">
                    <a:lnL w="6668">
                      <a:solidFill>
                        <a:srgbClr val="DCE9F4"/>
                      </a:solidFill>
                      <a:prstDash val="soli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Wu and Zhang (2025)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None/>
                      </a:pPr>
                      <a:r>
                        <a:rPr lang="en-AU" sz="1000" b="0" dirty="0">
                          <a:solidFill>
                            <a:srgbClr val="24415C"/>
                          </a:solidFill>
                          <a:latin typeface="Arial"/>
                          <a:ea typeface="Arial"/>
                          <a:cs typeface="Arial"/>
                        </a:rPr>
                        <a:t>HealthDID: An efficient and authorizable multi-party privacy-preserving EMR sharing system based on DID</a:t>
                      </a:r>
                      <a:endParaRPr sz="1500" b="0" dirty="0">
                        <a:solidFill>
                          <a:srgbClr val="56718B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50800" marR="50800" marT="6350" marB="6350" anchor="ctr">
                    <a:lnL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DCE9F4"/>
                      </a:solidFill>
                      <a:prstDash val="solid"/>
                    </a:lnR>
                    <a:lnT w="6668" cap="flat" cmpd="sng" algn="ctr">
                      <a:solidFill>
                        <a:srgbClr val="DCE9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DCE9F4"/>
                      </a:solidFill>
                      <a:prstDash val="solid"/>
                    </a:lnB>
                    <a:solidFill>
                      <a:srgbClr val="EF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1209800"/>
      </p:ext>
    </p:extLst>
  </p:cSld>
  <p:clrMapOvr>
    <a:masterClrMapping/>
  </p:clrMapOvr>
</p:sld>
</file>

<file path=ppt/theme/theme1.xml><?xml version="1.0" encoding="utf-8"?>
<a:theme xmlns:a="http://schemas.openxmlformats.org/drawingml/2006/main" name="Trust Consent">
  <a:themeElements>
    <a:clrScheme name="Trust Consent">
      <a:dk1>
        <a:srgbClr val="0B1F33"/>
      </a:dk1>
      <a:lt1>
        <a:srgbClr val="FFFFFF"/>
      </a:lt1>
      <a:dk2>
        <a:srgbClr val="0B2A4A"/>
      </a:dk2>
      <a:lt2>
        <a:srgbClr val="E8F4F8"/>
      </a:lt2>
      <a:accent1>
        <a:srgbClr val="1FB5D6"/>
      </a:accent1>
      <a:accent2>
        <a:srgbClr val="0B2A4A"/>
      </a:accent2>
      <a:accent3>
        <a:srgbClr val="2E7D32"/>
      </a:accent3>
      <a:accent4>
        <a:srgbClr val="F2A900"/>
      </a:accent4>
      <a:accent5>
        <a:srgbClr val="C62828"/>
      </a:accent5>
      <a:accent6>
        <a:srgbClr val="5B6B7A"/>
      </a:accent6>
      <a:hlink>
        <a:srgbClr val="1FB5D6"/>
      </a:hlink>
      <a:folHlink>
        <a:srgbClr val="5B6B7A"/>
      </a:folHlink>
    </a:clrScheme>
    <a:fontScheme name="Trust Cons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2011</TotalTime>
  <Words>11021</Words>
  <Application>Microsoft Office PowerPoint</Application>
  <PresentationFormat>Widescreen</PresentationFormat>
  <Paragraphs>977</Paragraphs>
  <Slides>48</Slides>
  <Notes>48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48</vt:i4>
      </vt:variant>
    </vt:vector>
  </HeadingPairs>
  <TitlesOfParts>
    <vt:vector size="53" baseType="lpstr">
      <vt:lpstr>Aptos</vt:lpstr>
      <vt:lpstr>Arial</vt:lpstr>
      <vt:lpstr>Calibri</vt:lpstr>
      <vt:lpstr>Cambria</vt:lpstr>
      <vt:lpstr>Trust Consent</vt:lpstr>
      <vt:lpstr>PowerPoint Presentation</vt:lpstr>
      <vt:lpstr>OUTLINE</vt:lpstr>
      <vt:lpstr>THE RESEARCH PROBLEM</vt:lpstr>
      <vt:lpstr>THE KEY IDEA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RESEARCH GAP</vt:lpstr>
      <vt:lpstr>MAIN RESEARCH QUESTION</vt:lpstr>
      <vt:lpstr>SUB-RESEARCH QUESTIONS</vt:lpstr>
      <vt:lpstr>RESEARCH OBJECTIVES</vt:lpstr>
      <vt:lpstr>Research Methodology </vt:lpstr>
      <vt:lpstr>FRAMEWORK ARCHITECTURE</vt:lpstr>
      <vt:lpstr>THE DECISION RULE</vt:lpstr>
      <vt:lpstr>Proposed solution for objective 1</vt:lpstr>
      <vt:lpstr>RO1: Trust-Centric Consent Model</vt:lpstr>
      <vt:lpstr>Proposed solution for objective 2</vt:lpstr>
      <vt:lpstr>RO2: Decentralised Identity and Authority Trust</vt:lpstr>
      <vt:lpstr>Proposed solution for objective 3</vt:lpstr>
      <vt:lpstr>RO3: Trustworthy Multi-Party Authorisation</vt:lpstr>
      <vt:lpstr>Proposed solution for objective 4</vt:lpstr>
      <vt:lpstr>RO4: Policy- and Context-Aware Access Control</vt:lpstr>
      <vt:lpstr>Proposed solution for objective 5</vt:lpstr>
      <vt:lpstr>Proposed solution for objective 6</vt:lpstr>
      <vt:lpstr>THE HALAH PROTOTYPE</vt:lpstr>
      <vt:lpstr>THE HALAH PROTOTYPE</vt:lpstr>
      <vt:lpstr>DEMO 1: THE PATIENT CREATES THE CONSENT</vt:lpstr>
      <vt:lpstr>DEMO 2: THE FIRST GUARDIAN APPROVES</vt:lpstr>
      <vt:lpstr>DEMO 3: SECOND APPROVAL, TOKEN MINTED</vt:lpstr>
      <vt:lpstr>DEMO 4: THE DOCTOR IS ALLOWED</vt:lpstr>
      <vt:lpstr>DEMO 5: ONLY THE AUTHORISED RECORDS</vt:lpstr>
      <vt:lpstr>VALIDATION</vt:lpstr>
      <vt:lpstr>VALIDATION: THE RECORDED DECISIONS</vt:lpstr>
      <vt:lpstr>VALIDATION: ATTACK SCENARIOS</vt:lpstr>
      <vt:lpstr>Traditional EHR vs. HALAH Framework</vt:lpstr>
      <vt:lpstr>DATASET OVERVIEW</vt:lpstr>
      <vt:lpstr>RESEARCH CONTRIBUTIONS </vt:lpstr>
      <vt:lpstr>RESEARCH CONTRIBUTIONS </vt:lpstr>
      <vt:lpstr>RESEARCH PUBLICATIONS</vt:lpstr>
      <vt:lpstr>RESEARCH PLAN</vt:lpstr>
      <vt:lpstr>RESEARCH TIMELINE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Trusted Authorisation Framework for Multi-Party Patient Consent in Healthcare Data Sharing</dc:title>
  <dc:subject>Candidature Reassessment</dc:subject>
  <dc:creator>Yasir Dhaifallah O Alyoubi</dc:creator>
  <cp:lastModifiedBy>Yasir Dhaifallah O Alyoubi</cp:lastModifiedBy>
  <cp:revision>25</cp:revision>
  <dcterms:created xsi:type="dcterms:W3CDTF">2026-10-12T13:53:28Z</dcterms:created>
  <dcterms:modified xsi:type="dcterms:W3CDTF">2026-10-14T22:37:34Z</dcterms:modified>
</cp:coreProperties>
</file>
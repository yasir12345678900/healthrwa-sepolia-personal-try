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charts/chart1.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b404542e-d6e9-d5a7-14aa-2620171b3eb8}">
          <p14:sldIdLst>
            <p14:sldId id="256"/>
            <p14:sldId id="257"/>
          </p14:sldIdLst>
        </p14:section>
        <p14:section name="The Problem" id="{f1793092-1088-dc76-4e33-f0e93bec3de9}">
          <p14:sldIdLst>
            <p14:sldId id="258"/>
            <p14:sldId id="259"/>
          </p14:sldIdLst>
        </p14:section>
        <p14:section name="Literature Review" id="{3e82996e-9003-85af-b8ac-9f1d1c0476c9}">
          <p14:sldIdLst>
            <p14:sldId id="260"/>
            <p14:sldId id="261"/>
          </p14:sldIdLst>
        </p14:section>
        <p14:section name="Gaps, Questions and Objectives" id="{5f13630b-8f04-4169-db74-80dc8b46619f}">
          <p14:sldIdLst>
            <p14:sldId id="262"/>
            <p14:sldId id="263"/>
            <p14:sldId id="264"/>
            <p14:sldId id="265"/>
          </p14:sldIdLst>
        </p14:section>
        <p14:section name="The Framework" id="{7b83b9aa-f8bb-219e-911e-f7f6a5db26a0}">
          <p14:sldIdLst>
            <p14:sldId id="266"/>
            <p14:sldId id="267"/>
            <p14:sldId id="268"/>
            <p14:sldId id="269"/>
            <p14:sldId id="270"/>
            <p14:sldId id="271"/>
            <p14:sldId id="272"/>
            <p14:sldId id="273"/>
          </p14:sldIdLst>
        </p14:section>
        <p14:section name="Validation and Evaluation" id="{7165e163-6e95-39fe-a2e8-56e91bf20257}">
          <p14:sldIdLst>
            <p14:sldId id="274"/>
            <p14:sldId id="275"/>
            <p14:sldId id="276"/>
          </p14:sldIdLst>
        </p14:section>
        <p14:section name="Contribution" id="{8fb5eb49-6a35-416d-8cd2-a18842ca21b1}">
          <p14:sldIdLst>
            <p14:sldId id="277"/>
            <p14:sldId id="278"/>
            <p14:sldId id="279"/>
          </p14:sldIdLst>
        </p14:section>
        <p14:section name="What is Still Open" id="{19377a2a-b92f-a188-5ac7-22c510890114}">
          <p14:sldIdLst>
            <p14:sldId id="280"/>
          </p14:sldIdLst>
        </p14:section>
        <p14:section name="Research Plan" id="{ee17644d-3898-e3d9-8904-091997f336f0}">
          <p14:sldIdLst>
            <p14:sldId id="281"/>
            <p14:sldId id="282"/>
          </p14:sldIdLst>
        </p14:section>
        <p14:section name="The HALAH Prototype" id="{c68013b5-a772-5c89-9dbb-f8383d19498f}">
          <p14:sldIdLst>
            <p14:sldId id="283"/>
            <p14:sldId id="284"/>
            <p14:sldId id="285"/>
          </p14:sldIdLst>
        </p14:section>
        <p14:section name="References" id="{cec4e41b-3deb-a598-d752-635fd2cde639}">
          <p14:sldIdLst>
            <p14:sldId id="286"/>
            <p14:sldId id="287"/>
            <p14:sldId id="288"/>
            <p14:sldId id="289"/>
            <p14:sldId id="290"/>
            <p14:sldId id="291"/>
          </p14:sldIdLst>
        </p14:section>
        <p14:section name="Thank You" id="{8d6899d0-3251-f3d3-e4bb-095aa33495b3}">
          <p14:sldIdLst>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mn-lt"/>
              </a:defRPr>
            </a:pPr>
            <a:r>
              <a:rPr sz="1400" b="0" i="0" u="none" strike="noStrike">
                <a:solidFill>
                  <a:srgbClr val="0B1F33"/>
                </a:solidFill>
                <a:latin typeface="+mn-lt"/>
              </a:rPr>
              <a:t>Gas used by the five anchored Sepolia transactions</a:t>
            </a:r>
          </a:p>
        </c:rich>
      </c:tx>
      <c:layout/>
      <c:overlay val="0"/>
    </c:title>
    <c:autoTitleDeleted val="0"/>
    <c:plotArea>
      <c:layout/>
      <c:barChart>
        <c:barDir val="col"/>
        <c:grouping val="clustered"/>
        <c:varyColors val="0"/>
        <c:ser>
          <c:idx val="0"/>
          <c:order val="0"/>
          <c:tx>
            <c:strRef>
              <c:f>Sheet1!$B$1</c:f>
              <c:strCache>
                <c:ptCount val="1"/>
                <c:pt idx="0">
                  <c:v>Gas used</c:v>
                </c:pt>
              </c:strCache>
            </c:strRef>
          </c:tx>
          <c:spPr>
            <a:solidFill>
              <a:srgbClr val="1FB5D6"/>
            </a:solidFill>
            <a:effectLst/>
          </c:spPr>
          <c:invertIfNegative val="0"/>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cat>
            <c:multiLvlStrRef>
              <c:f>Sheet1!$A$2:$A$6</c:f>
              <c:multiLvlStrCache>
                <c:ptCount val="5"/>
                <c:lvl>
                  <c:pt idx="0">
                    <c:v>Mint #8 (prev.)</c:v>
                  </c:pt>
                  <c:pt idx="1">
                    <c:v>Revoke #8 (prev.)</c:v>
                  </c:pt>
                  <c:pt idx="2">
                    <c:v>Mint #1</c:v>
                  </c:pt>
                  <c:pt idx="3">
                    <c:v>Revoke #1</c:v>
                  </c:pt>
                  <c:pt idx="4">
                    <c:v>Mint #2</c:v>
                  </c:pt>
                </c:lvl>
              </c:multiLvlStrCache>
            </c:multiLvlStrRef>
          </c:cat>
          <c:val>
            <c:numRef>
              <c:f>Sheet1!$B$2:$B$6</c:f>
              <c:numCache>
                <c:formatCode>General</c:formatCode>
                <c:ptCount val="5"/>
                <c:pt idx="0">
                  <c:v>156589</c:v>
                </c:pt>
                <c:pt idx="1">
                  <c:v>46226</c:v>
                </c:pt>
                <c:pt idx="2">
                  <c:v>196406</c:v>
                </c:pt>
                <c:pt idx="3">
                  <c:v>32980</c:v>
                </c:pt>
                <c:pt idx="4">
                  <c:v>179306</c:v>
                </c:pt>
              </c:numCache>
            </c:numRef>
          </c:val>
        </c:ser>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EE7"/>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everyone. My name is Yasir Alyoubi. My principal supervisor is Professor Farookh Hussain and my co-supervisor is Dr Firas Al-Doghman. This is my candidature reassessment. My research is about one question: how can a hospital system be sure that a request for a patient's data is really allowed? Not only who is asking, but also whether the patient and the guardians agreed, whether the request is inside the agreed data, and whether the consent is still valid. I will show the problem, the literature, my framework, the working prototype, and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my talk. First the problem and the literature review. Then the gaps, the questions and the objectives. Then the framework and the prototype. Then the validation and the evaluation results. Then what is still open and the research plan. I close with the implementation of the prototype: the live screens and the public evidence on the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Healthcare data is very sensitive. One decision to share it can involve many people: the patient, one or more guardians, the doctor and the hospital. Today, consent is usually just a stored record. The record says that permission was given, but it does not check anything when someone asks for the data. A valid login is not the same as the right to see this patient's data. And even with approval, a request can ask for more data than the patient allowed, or come after the consent has expired or was revoked. So the problem is: there is no single trusted decision that checks all of these things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answer is simple to say. Consent becomes an object that the system can check, not a record that it stores. I call it C, and it has six parts. I is identity: who is involved. A is authority: the guardians who must approve and how many are needed. P is policy: the purpose and the data scope. T is time: the validity window. L is jurisdiction. E is evidence: the signatures, the token and whether the consent is revoked. At every request, the system checks all six parts. If one check fails,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did a systematic literature review following PRISMA 2020. A written protocol fixed the questions, the databases, one search query, the criteria and the quality items before screening started. I searched seven databases. They returned 9,256 records. After removing duplicates, 6,039 were screened by title, 3,129 by abstract, and 1,800 full texts were prioritised. At the reporting checkpoint, 64 full texts were assessed and 47 met the criteria. From these I analysed 25 primary studies in depth: 23 core studies and 2 supporting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summarises the review. The good news: every requirement is met by some study. The problem: no study puts all the conditions together in one access decision. I call this the conjunction gap. And no study proves or tests the whole decision. Formal proofs exist in only 4 of the 25 studies, and they cover a small part. I call this the assurance gap. These two gaps are what my research fills.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comparison of the 25 studies I defined six gaps, one for each requirement. Gap 1: consent is only a record. Gap 2: identity does not prove authority. Gap 3: multi-party approval is not a standing condition of every access. Gap 4: purpose and scope are rarely checked with identity and approval. Gap 5: time and revocation are checked at registration, not at each request. Gap 6: the whole decision is not proved or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question is: how can a trust-oriented computing framework establish and enforce trustworthy multi-party consent for decentralised healthcare data sharing, under identity, authority and policy constraints? It has six sub-questions, one per gap: modelling consent, identity and authority, multi-party approval, policy and scope, time and lifecycle, and formal and empirical assurance.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question has one objective. RO1 to RO4 are done and validated with the prototype. RO5, time and lifecycle, is in progress: the validity window and revocation work now, and consent changes, delegation and guardian-set changes are for the next stage. RO6 is partially completed: the automated tests, the attack tests and the measurements are done, and the formal proofs are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steps I followed. One: identify the problem. Two: the systematic review. Three: the gaps and the questions. Four: the objectives. Five: the design: the MVC architecture, the consent object and four algorithms. Six: the prototype on the Sepolia test network. Seven: the evaluation with live scenarios, measurements and attack tests. The formal assurance is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framework uses the Model, View, Controller pattern. The View is the four interfaces: patient, guardian, doctor and auditor. The View never decides access. Every security decision is made in the Controller: it checks identity and authority, collects the approvals, enforces the policy and records the evidence. The Model keeps the consent, the approvals and the evidence. Health data are released only when the Controller says ALLOW.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framework. Access is allowed only when five checks are all true. VI: the identity and the authority are valid. VA: all required guardians approved, the token exists, and the consent is not revoked. VP: the purpose and the requested data are inside what was agreed. VT: the request is inside the validity window. VL: the jurisdiction matches. If any one check fails, the answer is DENY. In the prototype, a Groth16 zero-knowledge proof must also verify before any data is released, and every decision on an active consent is written to the audit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one. The patient creates the consent. The patient chooses the doctor, the guardians, the data modules, the start and expiry time, and the jurisdiction. The system checks every field: an empty data scope or a malformed guardian DID is rejected. Then the consent object C is built and stored as pending. Nothing goes on the blockchain yet. This is RO1, and it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two. I separate two questions: who are you, and what may you do? The DID answers the first. The credential answers the second. A valid identity alone never gives access. To be clear about the current state: the prototype checks the DID format and recovers each guardian's EIP-712 signature. Full DID resolution and credential validation are planned for the next stage. RO2 is done at the design and prototype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three. No single person can approve alone. Each guardian signs with an EIP-712 signature. The system recovers the signer and checks it is one of the listed guardians. Outsiders, replays and duplicates are not counted. In the demo, two of two guardians must sign. When both have signed, a soulbound consent token is minted on the Sepolia test network in the background. RO3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four. A valid identity and all approvals are still not enough. The requested data must be inside the agreed data scope. For example, if the consent allows Observation and Medication, a request that also asks for Procedure is denied. The purpose, the time and the jurisdiction are checked in the same decision, and a Groth16 proof must verify before any data is released. RO4 is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five. Time and lifecycle. What works now: the validity window is stored on-chain and checked at every request, revocation works end to end with an on-chain transaction, and the consent moves through a clear lifecycle. What is still open: the lifecycle transition check, consent modification, delegation, changes to the guardian set, and a formal lifecycle model. That is why RO5 is in progress.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six. Prove it and test it. The testing part is done: 36 automated tests pass, including twelve attack scenarios, and I measured the cost and the timing. The proof part is the next stage: formal proofs or model checking of the security properties, and a larger evaluation under load. That is why RO6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asks: does the system do what it should? I used five kinds of evidence. Valid scenarios: the legitimate requests were allowed. Negative scenarios: the wrong jurisdiction and the revoked consent were refused. Adversarial scenarios: eleven of twelve attacks are refused after the hardening. Automated tests: all 36 pass. And an independent check: the on-chain state matches the local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also attacked my own system twelve times. For example: a signer who is not a guardian, a replayed or duplicate approval, a request outside the data scope, an expired or revoked consent, and a tampered proof. Before the hardening on 1 October, three attacks were accepted when the service functions were called directly. After the hardening, eleven of twelve are refused. The one that remains, A11, changes a stored digest: the prototype does not yet compare the digest, so it is marked neutral, and that is on the list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asks: how fast is it, and what does it cost? The decision rule itself takes about 2 microseconds. One guardian signature takes about 11 milliseconds. The Groth16 proof is the slowest part: about 1.4 seconds to generate and 0.47 seconds to verify. Anchoring on Sepolia takes about 11.5 seconds, but it runs in the background, so users do not wait. A revoke uses about one sixth of the gas of a mint. The timings were measured on 1 October 2026; the gas and the anchoring times come from the five Sepolia transactions of September 2026. They are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difference in plain terms. Today, a central identity provider logs you in and a static permission decides. Consent is a stored record. In HALAH, every participant has a DID, and identity is separate from authority. Consent is an object checked at every request. All the guardians must approve. Five checks and a proof run before any data is released. Time and revocation are checked each time, and every decision on an active consent is logged with the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important points about data. No real patient data is used; the records are synthetic Synthea data. The medical records stay off-chain. The token on Sepolia stores only pseudonymous addresses, a hash of the purpose, the validity window, a jurisdiction code and a revocation flag. Data are released only on ALLOW and only inside the agreed scope. One known limitation: the plaintext purpose is visible in the mint transaction input, and I will address this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does this matter? Scientifically: consent becomes an object that is evaluated, not stored; multi-party approval is a condition of every access; identity is separated from authority; and the whole decision is checked in one place and tested. Socially: patients and guardians decide together who sees the data, no single person can approve alone, every decision can be explained to an auditor, and medical records never go on the blockchain.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clear about what is not done yet, because this is what the next stage is for. First, the formal proofs: the properties are tested, but not yet proved by a formal model or model checking. Second, the rest of the lifecycle: consent modification, delegation and guardian-set changes. Third, full DID resolution, credential validation and wallet-held guardian keys; today it is a format check, a signature, and keys derived from the guardian DIDs. Fourth, the one open attack, A11, where a changed digest is not yet compared. Fifth, a larger evaluation under load with more users and consents. Sixth, the plaintext purpose in the mint transaction.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Chapters 1 to 6 are done. The conference paper was submitted to BWCCA 2026 in September. The SLR journal paper is in progress. Next: the complete evaluation, the paper on formal assurance and lifecycle trust, and the conclusion. The final assessment is planned for January 2027 and the thesis submission for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plan as a timeline: what is completed, what is in progress, and the planned steps to the thesis submission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HALAH is the working prototype. The name means History Access Link for Authorised Healthcare. It has four interfaces: patient, guardian, doctor and auditor. The consent token is a soulbound token, ConsentSBTv3, on the Sepolia test network. Guardians sign with EIP-712. Access uses a Groth16 proof. The data are synthetic Synthea records, so no real patient data is used. Every decision on an active consent is written to an audit ledger, and no medical content goes on-chain.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two real screens from the prototype. On the left, the doctor asks for data under the evaluated consent. All five checks pass and the answer is ALLOW. On the right, the same doctor repeats the request but declares a different jurisdiction. The jurisdiction check VL fails, and access is denied. The same consent, one changed condition, and the answer changes. I also revoked the consent, and the next request was refused.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public evidence on Sepolia. On the left, the revocation of token number 1 in block 11,771,307. On the right, the gas used by the five anchored transactions. A mint writes the full consent record, so it costs more than a revoke, which changes one flag. No fee was above 0.00021 ETH. A separate tool compared the chain with the local records, and all checks passed.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used in my report and in this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I am happy to take your questions.
Likely questions and short answers:
1. Why blockchain if the data stay off-chain? It gives a shared, tamper-evident record of the consent state and the revocation. No medical data is on-chain.
2. What is new? The consent object carries all the conditions; multi-party approval is a condition of every access; and the whole decision is tested against attacks.
3. Why is RO6 only partial? The testing is done; the formal proofs are the next stage.
4. Why Groth16? The doctor proves knowledge of the secret and the expiry behind the Poseidon commitment stored in the consent, and that the consent has not expired, without revealing them. It is the slowest part, about 1.4 seconds, and that is acceptable for a consent decision.
5. Why did three attacks pass before the hardening? They passed only when the service functions were called directly, not through the interface. The hardening moved the checks into the service layer, so they are now refused on every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2.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30-1.png"/><Relationship Id="rId3" Type="http://schemas.openxmlformats.org/officeDocument/2006/relationships/slideLayout" Target="../slideLayouts/slideLayout2.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2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2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23444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23444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234440"/>
            <a:ext cx="4206240" cy="640080"/>
          </a:xfrm>
          <a:prstGeom prst="rect">
            <a:avLst/>
          </a:prstGeom>
          <a:noFill/>
          <a:ln/>
        </p:spPr>
        <p:txBody>
          <a:bodyPr wrap="square" rtlCol="0" anchor="ctr"/>
          <a:lstStyle/>
          <a:p>
            <a:pPr indent="0" marL="0">
              <a:buNone/>
            </a:pPr>
            <a:r>
              <a:rPr lang="en-US" sz="1800" b="1" dirty="0">
                <a:solidFill>
                  <a:srgbClr val="FFFFFF"/>
                </a:solidFill>
              </a:rPr>
              <a:t>THE PROBLEM</a:t>
            </a:r>
            <a:endParaRPr lang="en-US" sz="1800" dirty="0"/>
          </a:p>
        </p:txBody>
      </p:sp>
      <p:sp>
        <p:nvSpPr>
          <p:cNvPr id="7" name="number 02"/>
          <p:cNvSpPr/>
          <p:nvPr/>
        </p:nvSpPr>
        <p:spPr>
          <a:xfrm>
            <a:off x="1463040" y="210312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10312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103120"/>
            <a:ext cx="4206240" cy="640080"/>
          </a:xfrm>
          <a:prstGeom prst="rect">
            <a:avLst/>
          </a:prstGeom>
          <a:noFill/>
          <a:ln/>
        </p:spPr>
        <p:txBody>
          <a:bodyPr wrap="square" rtlCol="0" anchor="ctr"/>
          <a:lstStyle/>
          <a:p>
            <a:pPr indent="0" marL="0">
              <a:buNone/>
            </a:pPr>
            <a:r>
              <a:rPr lang="en-US" sz="1800" b="1" dirty="0">
                <a:solidFill>
                  <a:srgbClr val="FFFFFF"/>
                </a:solidFill>
              </a:rPr>
              <a:t>LITERATURE REVIEW</a:t>
            </a:r>
            <a:endParaRPr lang="en-US" sz="1800" dirty="0"/>
          </a:p>
        </p:txBody>
      </p:sp>
      <p:sp>
        <p:nvSpPr>
          <p:cNvPr id="10" name="number 03"/>
          <p:cNvSpPr/>
          <p:nvPr/>
        </p:nvSpPr>
        <p:spPr>
          <a:xfrm>
            <a:off x="1463040" y="297180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7180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71800"/>
            <a:ext cx="4206240" cy="640080"/>
          </a:xfrm>
          <a:prstGeom prst="rect">
            <a:avLst/>
          </a:prstGeom>
          <a:noFill/>
          <a:ln/>
        </p:spPr>
        <p:txBody>
          <a:bodyPr wrap="square" rtlCol="0" anchor="ctr"/>
          <a:lstStyle/>
          <a:p>
            <a:pPr indent="0" marL="0">
              <a:buNone/>
            </a:pPr>
            <a:r>
              <a:rPr lang="en-US" sz="1800" b="1" dirty="0">
                <a:solidFill>
                  <a:srgbClr val="FFFFFF"/>
                </a:solidFill>
              </a:rPr>
              <a:t>GAPS, QUESTIONS AND OBJECTIVES</a:t>
            </a:r>
            <a:endParaRPr lang="en-US" sz="1800" dirty="0"/>
          </a:p>
        </p:txBody>
      </p:sp>
      <p:sp>
        <p:nvSpPr>
          <p:cNvPr id="13" name="number 04"/>
          <p:cNvSpPr/>
          <p:nvPr/>
        </p:nvSpPr>
        <p:spPr>
          <a:xfrm>
            <a:off x="1463040" y="384048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84048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840480"/>
            <a:ext cx="4206240" cy="640080"/>
          </a:xfrm>
          <a:prstGeom prst="rect">
            <a:avLst/>
          </a:prstGeom>
          <a:noFill/>
          <a:ln/>
        </p:spPr>
        <p:txBody>
          <a:bodyPr wrap="square" rtlCol="0" anchor="ctr"/>
          <a:lstStyle/>
          <a:p>
            <a:pPr indent="0" marL="0">
              <a:buNone/>
            </a:pPr>
            <a:r>
              <a:rPr lang="en-US" sz="1800" b="1" dirty="0">
                <a:solidFill>
                  <a:srgbClr val="FFFFFF"/>
                </a:solidFill>
              </a:rPr>
              <a:t>THE FRAMEWORK</a:t>
            </a:r>
            <a:endParaRPr lang="en-US" sz="1800" dirty="0"/>
          </a:p>
        </p:txBody>
      </p:sp>
      <p:sp>
        <p:nvSpPr>
          <p:cNvPr id="16" name="number 05"/>
          <p:cNvSpPr/>
          <p:nvPr/>
        </p:nvSpPr>
        <p:spPr>
          <a:xfrm>
            <a:off x="1463040" y="470916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70916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709160"/>
            <a:ext cx="4206240" cy="640080"/>
          </a:xfrm>
          <a:prstGeom prst="rect">
            <a:avLst/>
          </a:prstGeom>
          <a:noFill/>
          <a:ln/>
        </p:spPr>
        <p:txBody>
          <a:bodyPr wrap="square" rtlCol="0" anchor="ctr"/>
          <a:lstStyle/>
          <a:p>
            <a:pPr indent="0" marL="0">
              <a:buNone/>
            </a:pPr>
            <a:r>
              <a:rPr lang="en-US" sz="1800" b="1" dirty="0">
                <a:solidFill>
                  <a:srgbClr val="FFFFFF"/>
                </a:solidFill>
              </a:rPr>
              <a:t>VALIDATION AND EVALUATION</a:t>
            </a:r>
            <a:endParaRPr lang="en-US" sz="1800" dirty="0"/>
          </a:p>
        </p:txBody>
      </p:sp>
      <p:sp>
        <p:nvSpPr>
          <p:cNvPr id="19" name="number 06"/>
          <p:cNvSpPr/>
          <p:nvPr/>
        </p:nvSpPr>
        <p:spPr>
          <a:xfrm>
            <a:off x="1463040" y="557784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7784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77840"/>
            <a:ext cx="4206240" cy="640080"/>
          </a:xfrm>
          <a:prstGeom prst="rect">
            <a:avLst/>
          </a:prstGeom>
          <a:noFill/>
          <a:ln/>
        </p:spPr>
        <p:txBody>
          <a:bodyPr wrap="square" rtlCol="0" anchor="ctr"/>
          <a:lstStyle/>
          <a:p>
            <a:pPr indent="0" marL="0">
              <a:buNone/>
            </a:pPr>
            <a:r>
              <a:rPr lang="en-US" sz="1800" b="1" dirty="0">
                <a:solidFill>
                  <a:srgbClr val="FFFFFF"/>
                </a:solidFill>
              </a:rPr>
              <a:t>WHY THIS MATTERS</a:t>
            </a:r>
            <a:endParaRPr lang="en-US" sz="1800" dirty="0"/>
          </a:p>
        </p:txBody>
      </p:sp>
      <p:sp>
        <p:nvSpPr>
          <p:cNvPr id="22" name="number 07"/>
          <p:cNvSpPr/>
          <p:nvPr/>
        </p:nvSpPr>
        <p:spPr>
          <a:xfrm>
            <a:off x="6492240" y="123444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23444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234440"/>
            <a:ext cx="4206240" cy="640080"/>
          </a:xfrm>
          <a:prstGeom prst="rect">
            <a:avLst/>
          </a:prstGeom>
          <a:noFill/>
          <a:ln/>
        </p:spPr>
        <p:txBody>
          <a:bodyPr wrap="square" rtlCol="0" anchor="ctr"/>
          <a:lstStyle/>
          <a:p>
            <a:pPr indent="0" marL="0">
              <a:buNone/>
            </a:pPr>
            <a:r>
              <a:rPr lang="en-US" sz="1800" b="1" dirty="0">
                <a:solidFill>
                  <a:srgbClr val="FFFFFF"/>
                </a:solidFill>
              </a:rPr>
              <a:t>WHAT IS STILL OPEN</a:t>
            </a:r>
            <a:endParaRPr lang="en-US" sz="1800" dirty="0"/>
          </a:p>
        </p:txBody>
      </p:sp>
      <p:sp>
        <p:nvSpPr>
          <p:cNvPr id="25" name="number 08"/>
          <p:cNvSpPr/>
          <p:nvPr/>
        </p:nvSpPr>
        <p:spPr>
          <a:xfrm>
            <a:off x="6492240" y="210312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10312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10312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28" name="number 09"/>
          <p:cNvSpPr/>
          <p:nvPr/>
        </p:nvSpPr>
        <p:spPr>
          <a:xfrm>
            <a:off x="6492240" y="297180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7180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71800"/>
            <a:ext cx="4206240" cy="640080"/>
          </a:xfrm>
          <a:prstGeom prst="rect">
            <a:avLst/>
          </a:prstGeom>
          <a:noFill/>
          <a:ln/>
        </p:spPr>
        <p:txBody>
          <a:bodyPr wrap="square" rtlCol="0" anchor="ctr"/>
          <a:lstStyle/>
          <a:p>
            <a:pPr indent="0" marL="0">
              <a:buNone/>
            </a:pPr>
            <a:r>
              <a:rPr lang="en-US" sz="1800" b="1" dirty="0">
                <a:solidFill>
                  <a:srgbClr val="FFFFFF"/>
                </a:solidFill>
              </a:rPr>
              <a:t>THE HALAH PROTOTYPE</a:t>
            </a:r>
            <a:endParaRPr lang="en-US" sz="1800" dirty="0"/>
          </a:p>
        </p:txBody>
      </p:sp>
      <p:sp>
        <p:nvSpPr>
          <p:cNvPr id="31" name="number 10"/>
          <p:cNvSpPr/>
          <p:nvPr/>
        </p:nvSpPr>
        <p:spPr>
          <a:xfrm>
            <a:off x="6492240" y="384048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84048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84048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PROBLEM</a:t>
            </a:r>
            <a:endParaRPr lang="en-US" sz="3000" dirty="0"/>
          </a:p>
        </p:txBody>
      </p:sp>
      <p:sp>
        <p:nvSpPr>
          <p:cNvPr id="4" name="bullets"/>
          <p:cNvSpPr txBox="1"/>
          <p:nvPr/>
        </p:nvSpPr>
        <p:spPr>
          <a:xfrm>
            <a:off x="822960" y="1280160"/>
            <a:ext cx="621792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shared between many independent parties: patient, guardians, doctor, hospital.</a:t>
            </a:r>
            <a:endParaRPr lang="en-US" sz="1900" dirty="0"/>
          </a:p>
          <a:p>
            <a:pPr marL="342900" indent="-342900">
              <a:spcAft>
                <a:spcPts val="1000"/>
              </a:spcAft>
              <a:buSzPct val="100000"/>
              <a:buChar char="•"/>
            </a:pPr>
            <a:r>
              <a:rPr lang="en-US" sz="1900" dirty="0">
                <a:solidFill>
                  <a:srgbClr val="FFFFFF"/>
                </a:solidFill>
              </a:rPr>
              <a:t>Today, consent is a stored record. It shows that permission was given, but it checks nothing at access time.</a:t>
            </a:r>
            <a:endParaRPr lang="en-US" sz="1900" dirty="0"/>
          </a:p>
          <a:p>
            <a:pPr marL="342900" indent="-342900">
              <a:spcAft>
                <a:spcPts val="1000"/>
              </a:spcAft>
              <a:buSzPct val="100000"/>
              <a:buChar char="•"/>
            </a:pPr>
            <a:r>
              <a:rPr lang="en-US" sz="1900" dirty="0">
                <a:solidFill>
                  <a:srgbClr val="FFFFFF"/>
                </a:solidFill>
              </a:rPr>
              <a:t>A valid identity does not prove the right to see this patient's data.</a:t>
            </a:r>
            <a:endParaRPr lang="en-US" sz="1900" dirty="0"/>
          </a:p>
          <a:p>
            <a:pPr marL="342900" indent="-342900">
              <a:spcAft>
                <a:spcPts val="1000"/>
              </a:spcAft>
              <a:buSzPct val="100000"/>
              <a:buChar char="•"/>
            </a:pPr>
            <a:r>
              <a:rPr lang="en-US" sz="1900" dirty="0">
                <a:solidFill>
                  <a:srgbClr val="FFFFFF"/>
                </a:solidFill>
              </a:rPr>
              <a:t>A request can ask for more data than allowed, or arrive after the consent expired or was revoked.</a:t>
            </a:r>
            <a:endParaRPr lang="en-US" sz="1900" dirty="0"/>
          </a:p>
          <a:p>
            <a:pPr marL="342900" indent="-342900">
              <a:spcAft>
                <a:spcPts val="1000"/>
              </a:spcAft>
              <a:buSzPct val="100000"/>
              <a:buChar char="•"/>
            </a:pPr>
            <a:r>
              <a:rPr lang="en-US" sz="1900" dirty="0">
                <a:solidFill>
                  <a:srgbClr val="FFFFFF"/>
                </a:solidFill>
              </a:rPr>
              <a:t>None of the reviewed studies proves or tests the whole decision.</a:t>
            </a:r>
            <a:endParaRPr lang="en-US" sz="1900" dirty="0"/>
          </a:p>
        </p:txBody>
      </p:sp>
      <p:sp>
        <p:nvSpPr>
          <p:cNvPr id="5" name="card In one sentence"/>
          <p:cNvSpPr/>
          <p:nvPr/>
        </p:nvSpPr>
        <p:spPr>
          <a:xfrm>
            <a:off x="7406640" y="1463040"/>
            <a:ext cx="3931920" cy="4114800"/>
          </a:xfrm>
          <a:prstGeom prst="roundRect">
            <a:avLst>
              <a:gd name="adj" fmla="val 2326"/>
            </a:avLst>
          </a:prstGeom>
          <a:solidFill>
            <a:srgbClr val="FFFFFF">
              <a:alpha val="92000"/>
            </a:srgbClr>
          </a:solidFill>
          <a:ln w="19050">
            <a:solidFill>
              <a:srgbClr val="1FB5D6"/>
            </a:solidFill>
            <a:prstDash val="solid"/>
          </a:ln>
        </p:spPr>
      </p:sp>
      <p:sp>
        <p:nvSpPr>
          <p:cNvPr id="6" name="card text In one sentence"/>
          <p:cNvSpPr txBox="1"/>
          <p:nvPr/>
        </p:nvSpPr>
        <p:spPr>
          <a:xfrm>
            <a:off x="7543800" y="1554480"/>
            <a:ext cx="3657600" cy="3931920"/>
          </a:xfrm>
          <a:prstGeom prst="rect">
            <a:avLst/>
          </a:prstGeom>
          <a:noFill/>
          <a:ln/>
        </p:spPr>
        <p:txBody>
          <a:bodyPr wrap="square" rtlCol="0" anchor="t"/>
          <a:lstStyle/>
          <a:p>
            <a:pPr indent="0" marL="0">
              <a:spcAft>
                <a:spcPts val="400"/>
              </a:spcAft>
              <a:buNone/>
            </a:pPr>
            <a:r>
              <a:rPr lang="en-US" sz="1900" b="1" dirty="0">
                <a:solidFill>
                  <a:srgbClr val="0B2A4A"/>
                </a:solidFill>
              </a:rPr>
              <a:t>In one sentence</a:t>
            </a:r>
            <a:endParaRPr lang="en-US" sz="1900" dirty="0"/>
          </a:p>
          <a:p>
            <a:pPr indent="0" marL="0">
              <a:spcAft>
                <a:spcPts val="400"/>
              </a:spcAft>
              <a:buNone/>
            </a:pPr>
            <a:r>
              <a:rPr lang="en-US" sz="1600" dirty="0">
                <a:solidFill>
                  <a:srgbClr val="0B1F33"/>
                </a:solidFill>
              </a:rPr>
              <a:t>There is no trusted mechanism that checks identity, authority, multi-party approval, policy, time and lifecycle together in one access decision, with evidence that it is secure.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KEY IDEA</a:t>
            </a:r>
            <a:endParaRPr lang="en-US" sz="3000" dirty="0"/>
          </a:p>
        </p:txBody>
      </p:sp>
      <p:sp>
        <p:nvSpPr>
          <p:cNvPr id="4" name="idea box"/>
          <p:cNvSpPr/>
          <p:nvPr/>
        </p:nvSpPr>
        <p:spPr>
          <a:xfrm>
            <a:off x="822960" y="1188720"/>
            <a:ext cx="10424160" cy="1371600"/>
          </a:xfrm>
          <a:prstGeom prst="roundRect">
            <a:avLst>
              <a:gd name="adj" fmla="val 6667"/>
            </a:avLst>
          </a:prstGeom>
          <a:solidFill>
            <a:srgbClr val="0B2A4A">
              <a:alpha val="85000"/>
            </a:srgbClr>
          </a:solidFill>
          <a:ln w="19050">
            <a:solidFill>
              <a:srgbClr val="1FB5D6"/>
            </a:solidFill>
            <a:prstDash val="solid"/>
          </a:ln>
        </p:spPr>
      </p:sp>
      <p:sp>
        <p:nvSpPr>
          <p:cNvPr id="5" name="idea text"/>
          <p:cNvSpPr txBox="1"/>
          <p:nvPr/>
        </p:nvSpPr>
        <p:spPr>
          <a:xfrm>
            <a:off x="1005840" y="1234440"/>
            <a:ext cx="10058400" cy="1280160"/>
          </a:xfrm>
          <a:prstGeom prst="rect">
            <a:avLst/>
          </a:prstGeom>
          <a:noFill/>
          <a:ln/>
        </p:spPr>
        <p:txBody>
          <a:bodyPr wrap="square" rtlCol="0" anchor="ctr"/>
          <a:lstStyle/>
          <a:p>
            <a:pPr algn="ctr" indent="0" marL="0">
              <a:buNone/>
            </a:pPr>
            <a:r>
              <a:rPr lang="en-US" sz="2000" b="1" dirty="0">
                <a:solidFill>
                  <a:srgbClr val="FFFFFF"/>
                </a:solidFill>
              </a:rPr>
              <a:t>Consent is not a stored record. It is an object checked at every request.</a:t>
            </a:r>
            <a:endParaRPr lang="en-US" sz="2000" dirty="0"/>
          </a:p>
          <a:p>
            <a:pPr algn="ctr" indent="0" marL="0">
              <a:buNone/>
            </a:pPr>
            <a:r>
              <a:rPr lang="en-US" sz="2800" b="1" dirty="0">
                <a:solidFill>
                  <a:srgbClr val="1FB5D6"/>
                </a:solidFill>
              </a:rPr>
              <a:t>C = (I, A, P, T, L, E)</a:t>
            </a:r>
            <a:endParaRPr lang="en-US" sz="2000" dirty="0"/>
          </a:p>
        </p:txBody>
      </p:sp>
      <p:sp>
        <p:nvSpPr>
          <p:cNvPr id="6" name="card I  Identity"/>
          <p:cNvSpPr/>
          <p:nvPr/>
        </p:nvSpPr>
        <p:spPr>
          <a:xfrm>
            <a:off x="82296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7" name="card text I  Identity"/>
          <p:cNvSpPr txBox="1"/>
          <p:nvPr/>
        </p:nvSpPr>
        <p:spPr>
          <a:xfrm>
            <a:off x="96012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I  Identity</a:t>
            </a:r>
            <a:endParaRPr lang="en-US" sz="1900" dirty="0"/>
          </a:p>
          <a:p>
            <a:pPr indent="0" marL="0">
              <a:spcAft>
                <a:spcPts val="400"/>
              </a:spcAft>
              <a:buNone/>
            </a:pPr>
            <a:r>
              <a:rPr lang="en-US" sz="1600" dirty="0">
                <a:solidFill>
                  <a:srgbClr val="0B1F33"/>
                </a:solidFill>
              </a:rPr>
              <a:t>Who is the patient, the doctor and each guardian (DID).</a:t>
            </a:r>
            <a:endParaRPr lang="en-US" sz="1900" dirty="0"/>
          </a:p>
        </p:txBody>
      </p:sp>
      <p:sp>
        <p:nvSpPr>
          <p:cNvPr id="8" name="card A  Authority"/>
          <p:cNvSpPr/>
          <p:nvPr/>
        </p:nvSpPr>
        <p:spPr>
          <a:xfrm>
            <a:off x="438912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9" name="card text A  Authority"/>
          <p:cNvSpPr txBox="1"/>
          <p:nvPr/>
        </p:nvSpPr>
        <p:spPr>
          <a:xfrm>
            <a:off x="452628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A  Authority</a:t>
            </a:r>
            <a:endParaRPr lang="en-US" sz="1900" dirty="0"/>
          </a:p>
          <a:p>
            <a:pPr indent="0" marL="0">
              <a:spcAft>
                <a:spcPts val="400"/>
              </a:spcAft>
              <a:buNone/>
            </a:pPr>
            <a:r>
              <a:rPr lang="en-US" sz="1600" dirty="0">
                <a:solidFill>
                  <a:srgbClr val="0B1F33"/>
                </a:solidFill>
              </a:rPr>
              <a:t>The guardian set G and how many approvals are needed (N).</a:t>
            </a:r>
            <a:endParaRPr lang="en-US" sz="1900" dirty="0"/>
          </a:p>
        </p:txBody>
      </p:sp>
      <p:sp>
        <p:nvSpPr>
          <p:cNvPr id="10" name="card P  Policy"/>
          <p:cNvSpPr/>
          <p:nvPr/>
        </p:nvSpPr>
        <p:spPr>
          <a:xfrm>
            <a:off x="7955280" y="2788920"/>
            <a:ext cx="3291840" cy="1554480"/>
          </a:xfrm>
          <a:prstGeom prst="roundRect">
            <a:avLst>
              <a:gd name="adj" fmla="val 5882"/>
            </a:avLst>
          </a:prstGeom>
          <a:solidFill>
            <a:srgbClr val="FFFFFF">
              <a:alpha val="92000"/>
            </a:srgbClr>
          </a:solidFill>
          <a:ln w="19050">
            <a:solidFill>
              <a:srgbClr val="1FB5D6"/>
            </a:solidFill>
            <a:prstDash val="solid"/>
          </a:ln>
        </p:spPr>
      </p:sp>
      <p:sp>
        <p:nvSpPr>
          <p:cNvPr id="11" name="card text P  Policy"/>
          <p:cNvSpPr txBox="1"/>
          <p:nvPr/>
        </p:nvSpPr>
        <p:spPr>
          <a:xfrm>
            <a:off x="8092440" y="288036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P  Policy</a:t>
            </a:r>
            <a:endParaRPr lang="en-US" sz="1900" dirty="0"/>
          </a:p>
          <a:p>
            <a:pPr indent="0" marL="0">
              <a:spcAft>
                <a:spcPts val="400"/>
              </a:spcAft>
              <a:buNone/>
            </a:pPr>
            <a:r>
              <a:rPr lang="en-US" sz="1600" dirty="0">
                <a:solidFill>
                  <a:srgbClr val="0B1F33"/>
                </a:solidFill>
              </a:rPr>
              <a:t>The purpose and the data scope that were agreed.</a:t>
            </a:r>
            <a:endParaRPr lang="en-US" sz="1900" dirty="0"/>
          </a:p>
        </p:txBody>
      </p:sp>
      <p:sp>
        <p:nvSpPr>
          <p:cNvPr id="12" name="card T  Time"/>
          <p:cNvSpPr/>
          <p:nvPr/>
        </p:nvSpPr>
        <p:spPr>
          <a:xfrm>
            <a:off x="82296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3" name="card text T  Time"/>
          <p:cNvSpPr txBox="1"/>
          <p:nvPr/>
        </p:nvSpPr>
        <p:spPr>
          <a:xfrm>
            <a:off x="96012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T  Time</a:t>
            </a:r>
            <a:endParaRPr lang="en-US" sz="1900" dirty="0"/>
          </a:p>
          <a:p>
            <a:pPr indent="0" marL="0">
              <a:spcAft>
                <a:spcPts val="400"/>
              </a:spcAft>
              <a:buNone/>
            </a:pPr>
            <a:r>
              <a:rPr lang="en-US" sz="1600" dirty="0">
                <a:solidFill>
                  <a:srgbClr val="0B1F33"/>
                </a:solidFill>
              </a:rPr>
              <a:t>When the consent starts and when it expires.</a:t>
            </a:r>
            <a:endParaRPr lang="en-US" sz="1900" dirty="0"/>
          </a:p>
        </p:txBody>
      </p:sp>
      <p:sp>
        <p:nvSpPr>
          <p:cNvPr id="14" name="card L  Jurisdiction"/>
          <p:cNvSpPr/>
          <p:nvPr/>
        </p:nvSpPr>
        <p:spPr>
          <a:xfrm>
            <a:off x="438912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5" name="card text L  Jurisdiction"/>
          <p:cNvSpPr txBox="1"/>
          <p:nvPr/>
        </p:nvSpPr>
        <p:spPr>
          <a:xfrm>
            <a:off x="452628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L  Jurisdiction</a:t>
            </a:r>
            <a:endParaRPr lang="en-US" sz="1900" dirty="0"/>
          </a:p>
          <a:p>
            <a:pPr indent="0" marL="0">
              <a:spcAft>
                <a:spcPts val="400"/>
              </a:spcAft>
              <a:buNone/>
            </a:pPr>
            <a:r>
              <a:rPr lang="en-US" sz="1600" dirty="0">
                <a:solidFill>
                  <a:srgbClr val="0B1F33"/>
                </a:solidFill>
              </a:rPr>
              <a:t>Where the request may come from.</a:t>
            </a:r>
            <a:endParaRPr lang="en-US" sz="1900" dirty="0"/>
          </a:p>
        </p:txBody>
      </p:sp>
      <p:sp>
        <p:nvSpPr>
          <p:cNvPr id="16" name="card E  Evidence"/>
          <p:cNvSpPr/>
          <p:nvPr/>
        </p:nvSpPr>
        <p:spPr>
          <a:xfrm>
            <a:off x="7955280" y="4572000"/>
            <a:ext cx="3291840" cy="1554480"/>
          </a:xfrm>
          <a:prstGeom prst="roundRect">
            <a:avLst>
              <a:gd name="adj" fmla="val 5882"/>
            </a:avLst>
          </a:prstGeom>
          <a:solidFill>
            <a:srgbClr val="FFFFFF">
              <a:alpha val="92000"/>
            </a:srgbClr>
          </a:solidFill>
          <a:ln w="19050">
            <a:solidFill>
              <a:srgbClr val="1FB5D6"/>
            </a:solidFill>
            <a:prstDash val="solid"/>
          </a:ln>
        </p:spPr>
      </p:sp>
      <p:sp>
        <p:nvSpPr>
          <p:cNvPr id="17" name="card text E  Evidence"/>
          <p:cNvSpPr txBox="1"/>
          <p:nvPr/>
        </p:nvSpPr>
        <p:spPr>
          <a:xfrm>
            <a:off x="8092440" y="4663440"/>
            <a:ext cx="3017520" cy="1371600"/>
          </a:xfrm>
          <a:prstGeom prst="rect">
            <a:avLst/>
          </a:prstGeom>
          <a:noFill/>
          <a:ln/>
        </p:spPr>
        <p:txBody>
          <a:bodyPr wrap="square" rtlCol="0" anchor="t"/>
          <a:lstStyle/>
          <a:p>
            <a:pPr indent="0" marL="0">
              <a:spcAft>
                <a:spcPts val="400"/>
              </a:spcAft>
              <a:buNone/>
            </a:pPr>
            <a:r>
              <a:rPr lang="en-US" sz="1900" b="1" dirty="0">
                <a:solidFill>
                  <a:srgbClr val="0B2A4A"/>
                </a:solidFill>
              </a:rPr>
              <a:t>E  Evidence</a:t>
            </a:r>
            <a:endParaRPr lang="en-US" sz="1900" dirty="0"/>
          </a:p>
          <a:p>
            <a:pPr indent="0" marL="0">
              <a:spcAft>
                <a:spcPts val="400"/>
              </a:spcAft>
              <a:buNone/>
            </a:pPr>
            <a:r>
              <a:rPr lang="en-US" sz="1600" dirty="0">
                <a:solidFill>
                  <a:srgbClr val="0B1F33"/>
                </a:solidFill>
              </a:rPr>
              <a:t>Signatures, the token, and whether it is revoked.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HOW I DID IT</a:t>
            </a:r>
            <a:endParaRPr lang="en-US" sz="3000" dirty="0"/>
          </a:p>
        </p:txBody>
      </p:sp>
      <p:sp>
        <p:nvSpPr>
          <p:cNvPr id="4" name="F2 panel"/>
          <p:cNvSpPr/>
          <p:nvPr/>
        </p:nvSpPr>
        <p:spPr>
          <a:xfrm>
            <a:off x="640080" y="1097280"/>
            <a:ext cx="576072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749808" y="1288146"/>
            <a:ext cx="5541264" cy="5058949"/>
          </a:xfrm>
          <a:prstGeom prst="rect">
            <a:avLst/>
          </a:prstGeom>
        </p:spPr>
      </p:pic>
      <p:sp>
        <p:nvSpPr>
          <p:cNvPr id="6" name="stat records from seven databases"/>
          <p:cNvSpPr txBox="1"/>
          <p:nvPr/>
        </p:nvSpPr>
        <p:spPr>
          <a:xfrm>
            <a:off x="6949440" y="128016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9,256</a:t>
            </a:r>
            <a:endParaRPr lang="en-US" sz="4400" dirty="0"/>
          </a:p>
        </p:txBody>
      </p:sp>
      <p:sp>
        <p:nvSpPr>
          <p:cNvPr id="7" name="stat label records from seven databases"/>
          <p:cNvSpPr txBox="1"/>
          <p:nvPr/>
        </p:nvSpPr>
        <p:spPr>
          <a:xfrm>
            <a:off x="6949440" y="2148840"/>
            <a:ext cx="3291840" cy="640080"/>
          </a:xfrm>
          <a:prstGeom prst="rect">
            <a:avLst/>
          </a:prstGeom>
          <a:noFill/>
          <a:ln/>
        </p:spPr>
        <p:txBody>
          <a:bodyPr wrap="square" lIns="0" tIns="0" rIns="0" bIns="0" rtlCol="0" anchor="ctr"/>
          <a:lstStyle/>
          <a:p>
            <a:pPr indent="0" marL="0">
              <a:buNone/>
            </a:pPr>
            <a:r>
              <a:rPr lang="en-US" sz="1600" dirty="0">
                <a:solidFill>
                  <a:srgbClr val="FFFFFF"/>
                </a:solidFill>
              </a:rPr>
              <a:t>records from seven databases</a:t>
            </a:r>
            <a:endParaRPr lang="en-US" sz="1600" dirty="0"/>
          </a:p>
        </p:txBody>
      </p:sp>
      <p:sp>
        <p:nvSpPr>
          <p:cNvPr id="8" name="stat studies met the criteria at the checkpoint"/>
          <p:cNvSpPr txBox="1"/>
          <p:nvPr/>
        </p:nvSpPr>
        <p:spPr>
          <a:xfrm>
            <a:off x="6949440" y="292608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47</a:t>
            </a:r>
            <a:endParaRPr lang="en-US" sz="4400" dirty="0"/>
          </a:p>
        </p:txBody>
      </p:sp>
      <p:sp>
        <p:nvSpPr>
          <p:cNvPr id="9" name="stat label studies met the criteria at the checkpoint"/>
          <p:cNvSpPr txBox="1"/>
          <p:nvPr/>
        </p:nvSpPr>
        <p:spPr>
          <a:xfrm>
            <a:off x="6949440" y="3794760"/>
            <a:ext cx="3291840" cy="640080"/>
          </a:xfrm>
          <a:prstGeom prst="rect">
            <a:avLst/>
          </a:prstGeom>
          <a:noFill/>
          <a:ln/>
        </p:spPr>
        <p:txBody>
          <a:bodyPr wrap="square" lIns="0" tIns="0" rIns="0" bIns="0" rtlCol="0" anchor="ctr"/>
          <a:lstStyle/>
          <a:p>
            <a:pPr indent="0" marL="0">
              <a:buNone/>
            </a:pPr>
            <a:r>
              <a:rPr lang="en-US" sz="1600" dirty="0">
                <a:solidFill>
                  <a:srgbClr val="FFFFFF"/>
                </a:solidFill>
              </a:rPr>
              <a:t>studies met the criteria at the checkpoint</a:t>
            </a:r>
            <a:endParaRPr lang="en-US" sz="1600" dirty="0"/>
          </a:p>
        </p:txBody>
      </p:sp>
      <p:sp>
        <p:nvSpPr>
          <p:cNvPr id="10" name="stat primary studies analysed (23 core + 2)"/>
          <p:cNvSpPr txBox="1"/>
          <p:nvPr/>
        </p:nvSpPr>
        <p:spPr>
          <a:xfrm>
            <a:off x="6949440" y="4572000"/>
            <a:ext cx="3291840" cy="868680"/>
          </a:xfrm>
          <a:prstGeom prst="rect">
            <a:avLst/>
          </a:prstGeom>
          <a:noFill/>
          <a:ln/>
        </p:spPr>
        <p:txBody>
          <a:bodyPr wrap="square" lIns="0" tIns="0" rIns="0" bIns="0" rtlCol="0" anchor="ctr"/>
          <a:lstStyle/>
          <a:p>
            <a:pPr indent="0" marL="0">
              <a:buNone/>
            </a:pPr>
            <a:r>
              <a:rPr lang="en-US" sz="4400" b="1" dirty="0">
                <a:solidFill>
                  <a:srgbClr val="1FB5D6"/>
                </a:solidFill>
              </a:rPr>
              <a:t>25</a:t>
            </a:r>
            <a:endParaRPr lang="en-US" sz="4400" dirty="0"/>
          </a:p>
        </p:txBody>
      </p:sp>
      <p:sp>
        <p:nvSpPr>
          <p:cNvPr id="11" name="stat label primary studies analysed (23 core + 2)"/>
          <p:cNvSpPr txBox="1"/>
          <p:nvPr/>
        </p:nvSpPr>
        <p:spPr>
          <a:xfrm>
            <a:off x="6949440" y="5440680"/>
            <a:ext cx="3291840" cy="640080"/>
          </a:xfrm>
          <a:prstGeom prst="rect">
            <a:avLst/>
          </a:prstGeom>
          <a:noFill/>
          <a:ln/>
        </p:spPr>
        <p:txBody>
          <a:bodyPr wrap="square" lIns="0" tIns="0" rIns="0" bIns="0" rtlCol="0" anchor="ctr"/>
          <a:lstStyle/>
          <a:p>
            <a:pPr indent="0" marL="0">
              <a:buNone/>
            </a:pPr>
            <a:r>
              <a:rPr lang="en-US" sz="1600" dirty="0">
                <a:solidFill>
                  <a:srgbClr val="FFFFFF"/>
                </a:solidFill>
              </a:rPr>
              <a:t>primary studies analysed (23 core + 2)</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LITERATURE REVIEW: WHAT I FOUND</a:t>
            </a:r>
            <a:endParaRPr lang="en-US" sz="3000" dirty="0"/>
          </a:p>
        </p:txBody>
      </p:sp>
      <p:sp>
        <p:nvSpPr>
          <p:cNvPr id="4" name="F5 panel"/>
          <p:cNvSpPr/>
          <p:nvPr/>
        </p:nvSpPr>
        <p:spPr>
          <a:xfrm>
            <a:off x="640080" y="1097280"/>
            <a:ext cx="69494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749808" y="2129189"/>
            <a:ext cx="6729984" cy="3376861"/>
          </a:xfrm>
          <a:prstGeom prst="rect">
            <a:avLst/>
          </a:prstGeom>
        </p:spPr>
      </p:pic>
      <p:sp>
        <p:nvSpPr>
          <p:cNvPr id="6" name="card Conjunction gap"/>
          <p:cNvSpPr/>
          <p:nvPr/>
        </p:nvSpPr>
        <p:spPr>
          <a:xfrm>
            <a:off x="7863840" y="1280160"/>
            <a:ext cx="3657600" cy="2377440"/>
          </a:xfrm>
          <a:prstGeom prst="roundRect">
            <a:avLst>
              <a:gd name="adj" fmla="val 3846"/>
            </a:avLst>
          </a:prstGeom>
          <a:solidFill>
            <a:srgbClr val="FFFFFF">
              <a:alpha val="92000"/>
            </a:srgbClr>
          </a:solidFill>
          <a:ln w="19050">
            <a:solidFill>
              <a:srgbClr val="1FB5D6"/>
            </a:solidFill>
            <a:prstDash val="solid"/>
          </a:ln>
        </p:spPr>
      </p:sp>
      <p:sp>
        <p:nvSpPr>
          <p:cNvPr id="7" name="card text Conjunction gap"/>
          <p:cNvSpPr txBox="1"/>
          <p:nvPr/>
        </p:nvSpPr>
        <p:spPr>
          <a:xfrm>
            <a:off x="8001000" y="1371600"/>
            <a:ext cx="3383280" cy="2194560"/>
          </a:xfrm>
          <a:prstGeom prst="rect">
            <a:avLst/>
          </a:prstGeom>
          <a:noFill/>
          <a:ln/>
        </p:spPr>
        <p:txBody>
          <a:bodyPr wrap="square" rtlCol="0" anchor="t"/>
          <a:lstStyle/>
          <a:p>
            <a:pPr indent="0" marL="0">
              <a:spcAft>
                <a:spcPts val="400"/>
              </a:spcAft>
              <a:buNone/>
            </a:pPr>
            <a:r>
              <a:rPr lang="en-US" sz="1900" b="1" dirty="0">
                <a:solidFill>
                  <a:srgbClr val="1FB5D6"/>
                </a:solidFill>
              </a:rPr>
              <a:t>Conjunction gap</a:t>
            </a:r>
            <a:endParaRPr lang="en-US" sz="1900" dirty="0"/>
          </a:p>
          <a:p>
            <a:pPr indent="0" marL="0">
              <a:spcAft>
                <a:spcPts val="400"/>
              </a:spcAft>
              <a:buNone/>
            </a:pPr>
            <a:r>
              <a:rPr lang="en-US" sz="1600" dirty="0">
                <a:solidFill>
                  <a:srgbClr val="0B1F33"/>
                </a:solidFill>
              </a:rPr>
              <a:t>Each condition exists somewhere, but no study joins identity, authority, approval, policy and time in one decision.</a:t>
            </a:r>
            <a:endParaRPr lang="en-US" sz="1900" dirty="0"/>
          </a:p>
        </p:txBody>
      </p:sp>
      <p:sp>
        <p:nvSpPr>
          <p:cNvPr id="8" name="card Assurance gap"/>
          <p:cNvSpPr/>
          <p:nvPr/>
        </p:nvSpPr>
        <p:spPr>
          <a:xfrm>
            <a:off x="7863840" y="3931920"/>
            <a:ext cx="3657600" cy="2377440"/>
          </a:xfrm>
          <a:prstGeom prst="roundRect">
            <a:avLst>
              <a:gd name="adj" fmla="val 3846"/>
            </a:avLst>
          </a:prstGeom>
          <a:solidFill>
            <a:srgbClr val="FFFFFF">
              <a:alpha val="92000"/>
            </a:srgbClr>
          </a:solidFill>
          <a:ln w="19050">
            <a:solidFill>
              <a:srgbClr val="F2A900"/>
            </a:solidFill>
            <a:prstDash val="solid"/>
          </a:ln>
        </p:spPr>
      </p:sp>
      <p:sp>
        <p:nvSpPr>
          <p:cNvPr id="9" name="card text Assurance gap"/>
          <p:cNvSpPr txBox="1"/>
          <p:nvPr/>
        </p:nvSpPr>
        <p:spPr>
          <a:xfrm>
            <a:off x="8001000" y="4023360"/>
            <a:ext cx="3383280" cy="2194560"/>
          </a:xfrm>
          <a:prstGeom prst="rect">
            <a:avLst/>
          </a:prstGeom>
          <a:noFill/>
          <a:ln/>
        </p:spPr>
        <p:txBody>
          <a:bodyPr wrap="square" rtlCol="0" anchor="t"/>
          <a:lstStyle/>
          <a:p>
            <a:pPr indent="0" marL="0">
              <a:spcAft>
                <a:spcPts val="400"/>
              </a:spcAft>
              <a:buNone/>
            </a:pPr>
            <a:r>
              <a:rPr lang="en-US" sz="1900" b="1" dirty="0">
                <a:solidFill>
                  <a:srgbClr val="F2A900"/>
                </a:solidFill>
              </a:rPr>
              <a:t>Assurance gap</a:t>
            </a:r>
            <a:endParaRPr lang="en-US" sz="1900" dirty="0"/>
          </a:p>
          <a:p>
            <a:pPr indent="0" marL="0">
              <a:spcAft>
                <a:spcPts val="400"/>
              </a:spcAft>
              <a:buNone/>
            </a:pPr>
            <a:r>
              <a:rPr lang="en-US" sz="1600" dirty="0">
                <a:solidFill>
                  <a:srgbClr val="0B1F33"/>
                </a:solidFill>
              </a:rPr>
              <a:t>The whole decision is neither formally proved nor systematically tested. Proofs exist in only 4 of 25 studies.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SIX RESEARCH GAPS</a:t>
            </a:r>
            <a:endParaRPr lang="en-US" sz="3000" dirty="0"/>
          </a:p>
        </p:txBody>
      </p:sp>
      <p:sp>
        <p:nvSpPr>
          <p:cNvPr id="4" name="card Gap 1"/>
          <p:cNvSpPr/>
          <p:nvPr/>
        </p:nvSpPr>
        <p:spPr>
          <a:xfrm>
            <a:off x="64008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5" name="card text Gap 1"/>
          <p:cNvSpPr txBox="1"/>
          <p:nvPr/>
        </p:nvSpPr>
        <p:spPr>
          <a:xfrm>
            <a:off x="77724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1</a:t>
            </a:r>
            <a:endParaRPr lang="en-US" sz="1900" dirty="0"/>
          </a:p>
          <a:p>
            <a:pPr indent="0" marL="0">
              <a:spcAft>
                <a:spcPts val="400"/>
              </a:spcAft>
              <a:buNone/>
            </a:pPr>
            <a:r>
              <a:rPr lang="en-US" sz="1600" dirty="0">
                <a:solidFill>
                  <a:srgbClr val="0B1F33"/>
                </a:solidFill>
              </a:rPr>
              <a:t>Consent is treated as a record of permission, not as something the system evaluates.</a:t>
            </a:r>
            <a:endParaRPr lang="en-US" sz="1900" dirty="0"/>
          </a:p>
        </p:txBody>
      </p:sp>
      <p:sp>
        <p:nvSpPr>
          <p:cNvPr id="6" name="card Gap 2"/>
          <p:cNvSpPr/>
          <p:nvPr/>
        </p:nvSpPr>
        <p:spPr>
          <a:xfrm>
            <a:off x="617220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7" name="card text Gap 2"/>
          <p:cNvSpPr txBox="1"/>
          <p:nvPr/>
        </p:nvSpPr>
        <p:spPr>
          <a:xfrm>
            <a:off x="630936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2</a:t>
            </a:r>
            <a:endParaRPr lang="en-US" sz="1900" dirty="0"/>
          </a:p>
          <a:p>
            <a:pPr indent="0" marL="0">
              <a:spcAft>
                <a:spcPts val="400"/>
              </a:spcAft>
              <a:buNone/>
            </a:pPr>
            <a:r>
              <a:rPr lang="en-US" sz="1600" dirty="0">
                <a:solidFill>
                  <a:srgbClr val="0B1F33"/>
                </a:solidFill>
              </a:rPr>
              <a:t>Identity shows who a person is, not what they may do. Only 10 of 25 studies check authority separately.</a:t>
            </a:r>
            <a:endParaRPr lang="en-US" sz="1900" dirty="0"/>
          </a:p>
        </p:txBody>
      </p:sp>
      <p:sp>
        <p:nvSpPr>
          <p:cNvPr id="8" name="card Gap 3"/>
          <p:cNvSpPr/>
          <p:nvPr/>
        </p:nvSpPr>
        <p:spPr>
          <a:xfrm>
            <a:off x="64008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9" name="card text Gap 3"/>
          <p:cNvSpPr txBox="1"/>
          <p:nvPr/>
        </p:nvSpPr>
        <p:spPr>
          <a:xfrm>
            <a:off x="77724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3</a:t>
            </a:r>
            <a:endParaRPr lang="en-US" sz="1900" dirty="0"/>
          </a:p>
          <a:p>
            <a:pPr indent="0" marL="0">
              <a:spcAft>
                <a:spcPts val="400"/>
              </a:spcAft>
              <a:buNone/>
            </a:pPr>
            <a:r>
              <a:rPr lang="en-US" sz="1600" dirty="0">
                <a:solidFill>
                  <a:srgbClr val="0B1F33"/>
                </a:solidFill>
              </a:rPr>
              <a:t>Multi-party approval is a backup path or a one-time step, not a condition of every access.</a:t>
            </a:r>
            <a:endParaRPr lang="en-US" sz="1900" dirty="0"/>
          </a:p>
        </p:txBody>
      </p:sp>
      <p:sp>
        <p:nvSpPr>
          <p:cNvPr id="10" name="card Gap 4"/>
          <p:cNvSpPr/>
          <p:nvPr/>
        </p:nvSpPr>
        <p:spPr>
          <a:xfrm>
            <a:off x="617220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11" name="card text Gap 4"/>
          <p:cNvSpPr txBox="1"/>
          <p:nvPr/>
        </p:nvSpPr>
        <p:spPr>
          <a:xfrm>
            <a:off x="630936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4</a:t>
            </a:r>
            <a:endParaRPr lang="en-US" sz="1900" dirty="0"/>
          </a:p>
          <a:p>
            <a:pPr indent="0" marL="0">
              <a:spcAft>
                <a:spcPts val="400"/>
              </a:spcAft>
              <a:buNone/>
            </a:pPr>
            <a:r>
              <a:rPr lang="en-US" sz="1600" dirty="0">
                <a:solidFill>
                  <a:srgbClr val="0B1F33"/>
                </a:solidFill>
              </a:rPr>
              <a:t>Purpose, data scope and jurisdiction are rarely checked in the same decision as identity and approval.</a:t>
            </a:r>
            <a:endParaRPr lang="en-US" sz="1900" dirty="0"/>
          </a:p>
        </p:txBody>
      </p:sp>
      <p:sp>
        <p:nvSpPr>
          <p:cNvPr id="12" name="card Gap 5"/>
          <p:cNvSpPr/>
          <p:nvPr/>
        </p:nvSpPr>
        <p:spPr>
          <a:xfrm>
            <a:off x="64008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3" name="card text Gap 5"/>
          <p:cNvSpPr txBox="1"/>
          <p:nvPr/>
        </p:nvSpPr>
        <p:spPr>
          <a:xfrm>
            <a:off x="77724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5</a:t>
            </a:r>
            <a:endParaRPr lang="en-US" sz="1900" dirty="0"/>
          </a:p>
          <a:p>
            <a:pPr indent="0" marL="0">
              <a:spcAft>
                <a:spcPts val="400"/>
              </a:spcAft>
              <a:buNone/>
            </a:pPr>
            <a:r>
              <a:rPr lang="en-US" sz="1600" dirty="0">
                <a:solidFill>
                  <a:srgbClr val="0B1F33"/>
                </a:solidFill>
              </a:rPr>
              <a:t>Time, lifecycle and revocation are often checked once, at registration, not at each request.</a:t>
            </a:r>
            <a:endParaRPr lang="en-US" sz="1900" dirty="0"/>
          </a:p>
        </p:txBody>
      </p:sp>
      <p:sp>
        <p:nvSpPr>
          <p:cNvPr id="14" name="card Gap 6"/>
          <p:cNvSpPr/>
          <p:nvPr/>
        </p:nvSpPr>
        <p:spPr>
          <a:xfrm>
            <a:off x="617220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5" name="card text Gap 6"/>
          <p:cNvSpPr txBox="1"/>
          <p:nvPr/>
        </p:nvSpPr>
        <p:spPr>
          <a:xfrm>
            <a:off x="630936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6</a:t>
            </a:r>
            <a:endParaRPr lang="en-US" sz="1900" dirty="0"/>
          </a:p>
          <a:p>
            <a:pPr indent="0" marL="0">
              <a:spcAft>
                <a:spcPts val="400"/>
              </a:spcAft>
              <a:buNone/>
            </a:pPr>
            <a:r>
              <a:rPr lang="en-US" sz="1600" dirty="0">
                <a:solidFill>
                  <a:srgbClr val="0B1F33"/>
                </a:solidFill>
              </a:rPr>
              <a:t>The decision as a whole is neither formally proved nor systematically tested.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QUESTIONS</a:t>
            </a:r>
            <a:endParaRPr lang="en-US" sz="3000" dirty="0"/>
          </a:p>
        </p:txBody>
      </p:sp>
      <p:sp>
        <p:nvSpPr>
          <p:cNvPr id="4" name="rq box"/>
          <p:cNvSpPr/>
          <p:nvPr/>
        </p:nvSpPr>
        <p:spPr>
          <a:xfrm>
            <a:off x="731520" y="1143000"/>
            <a:ext cx="10698480" cy="1325880"/>
          </a:xfrm>
          <a:prstGeom prst="roundRect">
            <a:avLst>
              <a:gd name="adj" fmla="val 8276"/>
            </a:avLst>
          </a:prstGeom>
          <a:solidFill>
            <a:srgbClr val="0B2A4A">
              <a:alpha val="85000"/>
            </a:srgbClr>
          </a:solidFill>
          <a:ln w="25400">
            <a:solidFill>
              <a:srgbClr val="1FB5D6"/>
            </a:solidFill>
            <a:prstDash val="solid"/>
          </a:ln>
        </p:spPr>
      </p:sp>
      <p:sp>
        <p:nvSpPr>
          <p:cNvPr id="5" name="rq text"/>
          <p:cNvSpPr txBox="1"/>
          <p:nvPr/>
        </p:nvSpPr>
        <p:spPr>
          <a:xfrm>
            <a:off x="914400" y="1188720"/>
            <a:ext cx="10332720" cy="1234440"/>
          </a:xfrm>
          <a:prstGeom prst="rect">
            <a:avLst/>
          </a:prstGeom>
          <a:noFill/>
          <a:ln/>
        </p:spPr>
        <p:txBody>
          <a:bodyPr wrap="square" rtlCol="0" anchor="ctr"/>
          <a:lstStyle/>
          <a:p>
            <a:pPr algn="ctr" indent="0" marL="0">
              <a:buNone/>
            </a:pPr>
            <a:r>
              <a:rPr lang="en-US" sz="1800" i="1" dirty="0">
                <a:solidFill>
                  <a:srgbClr val="FFFFFF"/>
                </a:solidFill>
              </a:rPr>
              <a:t>How can a trust-oriented computing framework establish and enforce trustworthy multi-party consent for decentralised healthcare data sharing under identity, authority, and policy constraints?</a:t>
            </a:r>
            <a:endParaRPr lang="en-US" sz="1800" dirty="0"/>
          </a:p>
        </p:txBody>
      </p:sp>
      <p:sp>
        <p:nvSpPr>
          <p:cNvPr id="6" name="card RQ1"/>
          <p:cNvSpPr/>
          <p:nvPr/>
        </p:nvSpPr>
        <p:spPr>
          <a:xfrm>
            <a:off x="731520" y="2697480"/>
            <a:ext cx="3429000" cy="1691640"/>
          </a:xfrm>
          <a:prstGeom prst="roundRect">
            <a:avLst>
              <a:gd name="adj" fmla="val 5405"/>
            </a:avLst>
          </a:prstGeom>
          <a:solidFill>
            <a:srgbClr val="FFFFFF">
              <a:alpha val="92000"/>
            </a:srgbClr>
          </a:solidFill>
          <a:ln w="19050">
            <a:solidFill>
              <a:srgbClr val="1FB5D6"/>
            </a:solidFill>
            <a:prstDash val="solid"/>
          </a:ln>
        </p:spPr>
      </p:sp>
      <p:sp>
        <p:nvSpPr>
          <p:cNvPr id="7" name="card text RQ1"/>
          <p:cNvSpPr txBox="1"/>
          <p:nvPr/>
        </p:nvSpPr>
        <p:spPr>
          <a:xfrm>
            <a:off x="868680" y="278892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600" dirty="0">
                <a:solidFill>
                  <a:srgbClr val="0B1F33"/>
                </a:solidFill>
              </a:rPr>
              <a:t>How can consent be modelled as an object that carries identity, authority, policy and evidence?</a:t>
            </a:r>
            <a:endParaRPr lang="en-US" sz="1900" dirty="0"/>
          </a:p>
        </p:txBody>
      </p:sp>
      <p:sp>
        <p:nvSpPr>
          <p:cNvPr id="8" name="card RQ2"/>
          <p:cNvSpPr/>
          <p:nvPr/>
        </p:nvSpPr>
        <p:spPr>
          <a:xfrm>
            <a:off x="4343400" y="2697480"/>
            <a:ext cx="3429000" cy="1691640"/>
          </a:xfrm>
          <a:prstGeom prst="roundRect">
            <a:avLst>
              <a:gd name="adj" fmla="val 5405"/>
            </a:avLst>
          </a:prstGeom>
          <a:solidFill>
            <a:srgbClr val="FFFFFF">
              <a:alpha val="92000"/>
            </a:srgbClr>
          </a:solidFill>
          <a:ln w="19050">
            <a:solidFill>
              <a:srgbClr val="1FB5D6"/>
            </a:solidFill>
            <a:prstDash val="solid"/>
          </a:ln>
        </p:spPr>
      </p:sp>
      <p:sp>
        <p:nvSpPr>
          <p:cNvPr id="9" name="card text RQ2"/>
          <p:cNvSpPr txBox="1"/>
          <p:nvPr/>
        </p:nvSpPr>
        <p:spPr>
          <a:xfrm>
            <a:off x="4480560" y="278892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600" dirty="0">
                <a:solidFill>
                  <a:srgbClr val="0B1F33"/>
                </a:solidFill>
              </a:rPr>
              <a:t>How can DIDs and credentials prove who a person is and, separately, what they may do?</a:t>
            </a:r>
            <a:endParaRPr lang="en-US" sz="1900" dirty="0"/>
          </a:p>
        </p:txBody>
      </p:sp>
      <p:sp>
        <p:nvSpPr>
          <p:cNvPr id="10" name="card RQ3"/>
          <p:cNvSpPr/>
          <p:nvPr/>
        </p:nvSpPr>
        <p:spPr>
          <a:xfrm>
            <a:off x="7955280" y="2697480"/>
            <a:ext cx="3429000" cy="1691640"/>
          </a:xfrm>
          <a:prstGeom prst="roundRect">
            <a:avLst>
              <a:gd name="adj" fmla="val 5405"/>
            </a:avLst>
          </a:prstGeom>
          <a:solidFill>
            <a:srgbClr val="FFFFFF">
              <a:alpha val="92000"/>
            </a:srgbClr>
          </a:solidFill>
          <a:ln w="19050">
            <a:solidFill>
              <a:srgbClr val="1FB5D6"/>
            </a:solidFill>
            <a:prstDash val="solid"/>
          </a:ln>
        </p:spPr>
      </p:sp>
      <p:sp>
        <p:nvSpPr>
          <p:cNvPr id="11" name="card text RQ3"/>
          <p:cNvSpPr txBox="1"/>
          <p:nvPr/>
        </p:nvSpPr>
        <p:spPr>
          <a:xfrm>
            <a:off x="8092440" y="278892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600" dirty="0">
                <a:solidFill>
                  <a:srgbClr val="0B1F33"/>
                </a:solidFill>
              </a:rPr>
              <a:t>How can several guardians approve together, so that no single person can approve alone?</a:t>
            </a:r>
            <a:endParaRPr lang="en-US" sz="1900" dirty="0"/>
          </a:p>
        </p:txBody>
      </p:sp>
      <p:sp>
        <p:nvSpPr>
          <p:cNvPr id="12" name="card RQ4"/>
          <p:cNvSpPr/>
          <p:nvPr/>
        </p:nvSpPr>
        <p:spPr>
          <a:xfrm>
            <a:off x="731520" y="4572000"/>
            <a:ext cx="3429000" cy="1691640"/>
          </a:xfrm>
          <a:prstGeom prst="roundRect">
            <a:avLst>
              <a:gd name="adj" fmla="val 5405"/>
            </a:avLst>
          </a:prstGeom>
          <a:solidFill>
            <a:srgbClr val="FFFFFF">
              <a:alpha val="92000"/>
            </a:srgbClr>
          </a:solidFill>
          <a:ln w="19050">
            <a:solidFill>
              <a:srgbClr val="1FB5D6"/>
            </a:solidFill>
            <a:prstDash val="solid"/>
          </a:ln>
        </p:spPr>
      </p:sp>
      <p:sp>
        <p:nvSpPr>
          <p:cNvPr id="13" name="card text RQ4"/>
          <p:cNvSpPr txBox="1"/>
          <p:nvPr/>
        </p:nvSpPr>
        <p:spPr>
          <a:xfrm>
            <a:off x="868680" y="466344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600" dirty="0">
                <a:solidFill>
                  <a:srgbClr val="0B1F33"/>
                </a:solidFill>
              </a:rPr>
              <a:t>How can purpose and data scope stop valid identities from reaching data they were not given?</a:t>
            </a:r>
            <a:endParaRPr lang="en-US" sz="1900" dirty="0"/>
          </a:p>
        </p:txBody>
      </p:sp>
      <p:sp>
        <p:nvSpPr>
          <p:cNvPr id="14" name="card RQ5"/>
          <p:cNvSpPr/>
          <p:nvPr/>
        </p:nvSpPr>
        <p:spPr>
          <a:xfrm>
            <a:off x="4343400" y="4572000"/>
            <a:ext cx="3429000" cy="1691640"/>
          </a:xfrm>
          <a:prstGeom prst="roundRect">
            <a:avLst>
              <a:gd name="adj" fmla="val 5405"/>
            </a:avLst>
          </a:prstGeom>
          <a:solidFill>
            <a:srgbClr val="FFFFFF">
              <a:alpha val="92000"/>
            </a:srgbClr>
          </a:solidFill>
          <a:ln w="19050">
            <a:solidFill>
              <a:srgbClr val="1FB5D6"/>
            </a:solidFill>
            <a:prstDash val="solid"/>
          </a:ln>
        </p:spPr>
      </p:sp>
      <p:sp>
        <p:nvSpPr>
          <p:cNvPr id="15" name="card text RQ5"/>
          <p:cNvSpPr txBox="1"/>
          <p:nvPr/>
        </p:nvSpPr>
        <p:spPr>
          <a:xfrm>
            <a:off x="4480560" y="466344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600" dirty="0">
                <a:solidFill>
                  <a:srgbClr val="0B1F33"/>
                </a:solidFill>
              </a:rPr>
              <a:t>How can time and lifecycle controls reject access after expiry or revocation?</a:t>
            </a:r>
            <a:endParaRPr lang="en-US" sz="1900" dirty="0"/>
          </a:p>
        </p:txBody>
      </p:sp>
      <p:sp>
        <p:nvSpPr>
          <p:cNvPr id="16" name="card RQ6"/>
          <p:cNvSpPr/>
          <p:nvPr/>
        </p:nvSpPr>
        <p:spPr>
          <a:xfrm>
            <a:off x="7955280" y="4572000"/>
            <a:ext cx="3429000" cy="1691640"/>
          </a:xfrm>
          <a:prstGeom prst="roundRect">
            <a:avLst>
              <a:gd name="adj" fmla="val 5405"/>
            </a:avLst>
          </a:prstGeom>
          <a:solidFill>
            <a:srgbClr val="FFFFFF">
              <a:alpha val="92000"/>
            </a:srgbClr>
          </a:solidFill>
          <a:ln w="19050">
            <a:solidFill>
              <a:srgbClr val="1FB5D6"/>
            </a:solidFill>
            <a:prstDash val="solid"/>
          </a:ln>
        </p:spPr>
      </p:sp>
      <p:sp>
        <p:nvSpPr>
          <p:cNvPr id="17" name="card text RQ6"/>
          <p:cNvSpPr txBox="1"/>
          <p:nvPr/>
        </p:nvSpPr>
        <p:spPr>
          <a:xfrm>
            <a:off x="8092440" y="4663440"/>
            <a:ext cx="3154680" cy="150876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600" dirty="0">
                <a:solidFill>
                  <a:srgbClr val="0B1F33"/>
                </a:solidFill>
              </a:rPr>
              <a:t>How can the security properties be formally defined and empirically tested?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 AND STATUS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10698480" cy="914400"/>
        </p:xfrm>
        <a:graphic>
          <a:graphicData uri="http://schemas.openxmlformats.org/drawingml/2006/table">
            <a:tbl>
              <a:tblPr/>
              <a:tblGrid>
                <a:gridCol w="1371600"/>
                <a:gridCol w="6949440"/>
                <a:gridCol w="2377440"/>
              </a:tblGrid>
              <a:tr h="749808">
                <a:tc>
                  <a:txBody>
                    <a:bodyPr/>
                    <a:lstStyle/>
                    <a:p>
                      <a:pPr indent="0" marL="0">
                        <a:buNone/>
                      </a:pPr>
                      <a:r>
                        <a:rPr lang="en-US" sz="1600" b="1" dirty="0">
                          <a:solidFill>
                            <a:srgbClr val="FFFFFF"/>
                          </a:solidFill>
                        </a:rPr>
                        <a:t>Objective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In simple words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Status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49808">
                <a:tc>
                  <a:txBody>
                    <a:bodyPr/>
                    <a:lstStyle/>
                    <a:p>
                      <a:pPr indent="0" marL="0">
                        <a:buNone/>
                      </a:pPr>
                      <a:r>
                        <a:rPr lang="en-US" sz="1600" b="1" dirty="0">
                          <a:solidFill>
                            <a:srgbClr val="0B1F33"/>
                          </a:solidFill>
                        </a:rPr>
                        <a:t>RO1</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Make consent an object the system can check: C = (I, A, P, T, L, 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RO2</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Check who a person is (DID) separately from what they may do (credential)</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RO3</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Require approval from all listed guardians, each with a verified signature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RO4</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Allow only requests inside the agreed purpose, data scope and jurisdiction</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RO5</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Reject access after expiry or revocation, and control the consent lifecycle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In Progress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49808">
                <a:tc>
                  <a:txBody>
                    <a:bodyPr/>
                    <a:lstStyle/>
                    <a:p>
                      <a:pPr indent="0" marL="0">
                        <a:buNone/>
                      </a:pPr>
                      <a:r>
                        <a:rPr lang="en-US" sz="1600" b="1" dirty="0">
                          <a:solidFill>
                            <a:srgbClr val="0B1F33"/>
                          </a:solidFill>
                        </a:rPr>
                        <a:t>RO6</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Define the security properties, prove them formally and test them empirically</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Partially completed</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single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Gaps and questions</a:t>
            </a:r>
            <a:endParaRPr lang="en-US" sz="1400" dirty="0"/>
          </a:p>
          <a:p>
            <a:pPr algn="ctr" indent="0" marL="0">
              <a:spcAft>
                <a:spcPts val="800"/>
              </a:spcAft>
              <a:buNone/>
            </a:pPr>
            <a:r>
              <a:rPr lang="en-US" sz="1300" dirty="0">
                <a:solidFill>
                  <a:srgbClr val="0B1F33"/>
                </a:solidFill>
              </a:rPr>
              <a:t>Gap 1 to Gap 6;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12 attack tests; formal proofs next</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ARCHITECTURE</a:t>
            </a:r>
            <a:endParaRPr lang="en-US" sz="3000" dirty="0"/>
          </a:p>
        </p:txBody>
      </p:sp>
      <p:sp>
        <p:nvSpPr>
          <p:cNvPr id="4" name="F6 panel"/>
          <p:cNvSpPr/>
          <p:nvPr/>
        </p:nvSpPr>
        <p:spPr>
          <a:xfrm>
            <a:off x="1097280" y="1097280"/>
            <a:ext cx="996696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4799"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FRAMEWORK: THE DECISION RULE</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Decision(C, R, t) = ALLOW  ⟺  VI(u) ∧ VA(C) ∧ VP(C, R) ∧ VT(C, t) ∧ VL(C, R)</a:t>
            </a:r>
            <a:endParaRPr lang="en-US" sz="2400" dirty="0"/>
          </a:p>
        </p:txBody>
      </p:sp>
      <p:sp>
        <p:nvSpPr>
          <p:cNvPr id="6" name="card VI"/>
          <p:cNvSpPr/>
          <p:nvPr/>
        </p:nvSpPr>
        <p:spPr>
          <a:xfrm>
            <a:off x="731520"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Identity and authority are valid</a:t>
            </a:r>
            <a:endParaRPr lang="en-US" sz="1900" dirty="0"/>
          </a:p>
        </p:txBody>
      </p:sp>
      <p:sp>
        <p:nvSpPr>
          <p:cNvPr id="8" name="card VA"/>
          <p:cNvSpPr/>
          <p:nvPr/>
        </p:nvSpPr>
        <p:spPr>
          <a:xfrm>
            <a:off x="2898648"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All guardians approved; token exists; not revoked</a:t>
            </a:r>
            <a:endParaRPr lang="en-US" sz="1900" dirty="0"/>
          </a:p>
        </p:txBody>
      </p:sp>
      <p:sp>
        <p:nvSpPr>
          <p:cNvPr id="10" name="card VP"/>
          <p:cNvSpPr/>
          <p:nvPr/>
        </p:nvSpPr>
        <p:spPr>
          <a:xfrm>
            <a:off x="5065776"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Purpose and data scope are inside the consent</a:t>
            </a:r>
            <a:endParaRPr lang="en-US" sz="1900" dirty="0"/>
          </a:p>
        </p:txBody>
      </p:sp>
      <p:sp>
        <p:nvSpPr>
          <p:cNvPr id="12" name="card VT"/>
          <p:cNvSpPr/>
          <p:nvPr/>
        </p:nvSpPr>
        <p:spPr>
          <a:xfrm>
            <a:off x="7232904"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Inside the validity window</a:t>
            </a:r>
            <a:endParaRPr lang="en-US" sz="1900" dirty="0"/>
          </a:p>
        </p:txBody>
      </p:sp>
      <p:sp>
        <p:nvSpPr>
          <p:cNvPr id="14" name="card VL"/>
          <p:cNvSpPr/>
          <p:nvPr/>
        </p:nvSpPr>
        <p:spPr>
          <a:xfrm>
            <a:off x="9400032" y="2606040"/>
            <a:ext cx="2011680" cy="1600200"/>
          </a:xfrm>
          <a:prstGeom prst="roundRect">
            <a:avLst>
              <a:gd name="adj" fmla="val 5714"/>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41732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Jurisdiction matches</a:t>
            </a:r>
            <a:endParaRPr lang="en-US" sz="1900" dirty="0"/>
          </a:p>
        </p:txBody>
      </p:sp>
      <p:sp>
        <p:nvSpPr>
          <p:cNvPr id="16" name="bullets"/>
          <p:cNvSpPr txBox="1"/>
          <p:nvPr/>
        </p:nvSpPr>
        <p:spPr>
          <a:xfrm>
            <a:off x="822960" y="4480560"/>
            <a:ext cx="10515600" cy="182880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One failed check is enough to say DENY.</a:t>
            </a:r>
            <a:endParaRPr lang="en-US" sz="1800" dirty="0"/>
          </a:p>
          <a:p>
            <a:pPr marL="342900" indent="-342900">
              <a:spcAft>
                <a:spcPts val="1000"/>
              </a:spcAft>
              <a:buSzPct val="100000"/>
              <a:buChar char="•"/>
            </a:pPr>
            <a:r>
              <a:rPr lang="en-US" sz="1800" dirty="0">
                <a:solidFill>
                  <a:srgbClr val="FFFFFF"/>
                </a:solidFill>
              </a:rPr>
              <a:t>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Every decision on an ACTIVE consent is written to the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1: THE PATIENT CREATES THE CONSENT</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RO1: Trust-centric consent model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chooses the doctor, the guardians, the data modules, the start and expiry time, and the jurisdiction.</a:t>
            </a:r>
            <a:endParaRPr lang="en-US" sz="1600" dirty="0"/>
          </a:p>
          <a:p>
            <a:pPr marL="342900" indent="-342900">
              <a:spcAft>
                <a:spcPts val="1000"/>
              </a:spcAft>
              <a:buSzPct val="100000"/>
              <a:buChar char="•"/>
            </a:pPr>
            <a:r>
              <a:rPr lang="en-US" sz="1600" dirty="0">
                <a:solidFill>
                  <a:srgbClr val="FFFFFF"/>
                </a:solidFill>
              </a:rPr>
              <a:t>In this prototype the purpose is fixed to Treatment.</a:t>
            </a:r>
            <a:endParaRPr lang="en-US" sz="1600" dirty="0"/>
          </a:p>
          <a:p>
            <a:pPr marL="342900" indent="-342900">
              <a:spcAft>
                <a:spcPts val="1000"/>
              </a:spcAft>
              <a:buSzPct val="100000"/>
              <a:buChar char="•"/>
            </a:pPr>
            <a:r>
              <a:rPr lang="en-US" sz="1600" dirty="0">
                <a:solidFill>
                  <a:srgbClr val="FFFFFF"/>
                </a:solidFill>
              </a:rPr>
              <a:t>Bad input is rejected, for example an empty data scope or a malformed guardian DID.</a:t>
            </a:r>
            <a:endParaRPr lang="en-US" sz="1600" dirty="0"/>
          </a:p>
          <a:p>
            <a:pPr marL="342900" indent="-342900">
              <a:spcAft>
                <a:spcPts val="1000"/>
              </a:spcAft>
              <a:buSzPct val="100000"/>
              <a:buChar char="•"/>
            </a:pPr>
            <a:r>
              <a:rPr lang="en-US" sz="1600" dirty="0">
                <a:solidFill>
                  <a:srgbClr val="FFFFFF"/>
                </a:solidFill>
              </a:rPr>
              <a:t>The consent object C is built and stored as PENDING_SIGNATURE.</a:t>
            </a:r>
            <a:endParaRPr lang="en-US" sz="1600" dirty="0"/>
          </a:p>
          <a:p>
            <a:pPr marL="342900" indent="-342900">
              <a:spcAft>
                <a:spcPts val="1000"/>
              </a:spcAft>
              <a:buSzPct val="100000"/>
              <a:buChar char="•"/>
            </a:pPr>
            <a:r>
              <a:rPr lang="en-US" sz="1600" dirty="0">
                <a:solidFill>
                  <a:srgbClr val="FFFFFF"/>
                </a:solidFill>
              </a:rPr>
              <a:t>Nothing goes on the blockchain until all guardians approve.</a:t>
            </a:r>
            <a:endParaRPr lang="en-US" sz="1600" dirty="0"/>
          </a:p>
        </p:txBody>
      </p:sp>
      <p:sp>
        <p:nvSpPr>
          <p:cNvPr id="8" name="F10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F10.png">    </p:cNvPr>
          <p:cNvPicPr>
            <a:picLocks noChangeAspect="1"/>
          </p:cNvPicPr>
          <p:nvPr/>
        </p:nvPicPr>
        <p:blipFill>
          <a:blip r:embed="rId1"/>
          <a:stretch>
            <a:fillRect/>
          </a:stretch>
        </p:blipFill>
        <p:spPr>
          <a:xfrm>
            <a:off x="8135722" y="1115568"/>
            <a:ext cx="274807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2: WHO ARE YOU, AND WHAT MAY YOU DO?</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RO2: Decentralised identity and authority</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Identity is checked through the DID; authority through a verifiable credential.</a:t>
            </a:r>
            <a:endParaRPr lang="en-US" sz="1600" dirty="0"/>
          </a:p>
          <a:p>
            <a:pPr marL="342900" indent="-342900">
              <a:spcAft>
                <a:spcPts val="1000"/>
              </a:spcAft>
              <a:buSzPct val="100000"/>
              <a:buChar char="•"/>
            </a:pPr>
            <a:r>
              <a:rPr lang="en-US" sz="1600" dirty="0">
                <a:solidFill>
                  <a:srgbClr val="FFFFFF"/>
                </a:solidFill>
              </a:rPr>
              <a:t>Identity is not authority: a valid DID alone never gives access.</a:t>
            </a:r>
            <a:endParaRPr lang="en-US" sz="1600" dirty="0"/>
          </a:p>
          <a:p>
            <a:pPr marL="342900" indent="-342900">
              <a:spcAft>
                <a:spcPts val="1000"/>
              </a:spcAft>
              <a:buSzPct val="100000"/>
              <a:buChar char="•"/>
            </a:pPr>
            <a:r>
              <a:rPr lang="en-US" sz="1600" dirty="0">
                <a:solidFill>
                  <a:srgbClr val="FFFFFF"/>
                </a:solidFill>
              </a:rPr>
              <a:t>In the prototype: a DID-format check and EIP-712 signature recovery for each guardian.</a:t>
            </a:r>
            <a:endParaRPr lang="en-US" sz="1600" dirty="0"/>
          </a:p>
          <a:p>
            <a:pPr marL="342900" indent="-342900">
              <a:spcAft>
                <a:spcPts val="1000"/>
              </a:spcAft>
              <a:buSzPct val="100000"/>
              <a:buChar char="•"/>
            </a:pPr>
            <a:r>
              <a:rPr lang="en-US" sz="1600" dirty="0">
                <a:solidFill>
                  <a:srgbClr val="FFFFFF"/>
                </a:solidFill>
              </a:rPr>
              <a:t>Full DID resolution and credential validation are planned for the next stage.</a:t>
            </a:r>
            <a:endParaRPr lang="en-US" sz="1600" dirty="0"/>
          </a:p>
        </p:txBody>
      </p:sp>
      <p:sp>
        <p:nvSpPr>
          <p:cNvPr id="8" name="F12 panel"/>
          <p:cNvSpPr/>
          <p:nvPr/>
        </p:nvSpPr>
        <p:spPr>
          <a:xfrm>
            <a:off x="7498080" y="1005840"/>
            <a:ext cx="4023360" cy="493776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7926188" y="1115568"/>
            <a:ext cx="3167144" cy="4718304"/>
          </a:xfrm>
          <a:prstGeom prst="rect">
            <a:avLst/>
          </a:prstGeom>
        </p:spPr>
      </p:pic>
      <p:sp>
        <p:nvSpPr>
          <p:cNvPr id="10" name="caption"/>
          <p:cNvSpPr txBox="1"/>
          <p:nvPr/>
        </p:nvSpPr>
        <p:spPr>
          <a:xfrm>
            <a:off x="7498080" y="6035040"/>
            <a:ext cx="4023360" cy="548640"/>
          </a:xfrm>
          <a:prstGeom prst="rect">
            <a:avLst/>
          </a:prstGeom>
          <a:noFill/>
          <a:ln/>
        </p:spPr>
        <p:txBody>
          <a:bodyPr wrap="square" rtlCol="0" anchor="t"/>
          <a:lstStyle/>
          <a:p>
            <a:pPr algn="ctr" indent="0" marL="0">
              <a:buNone/>
            </a:pPr>
            <a:r>
              <a:rPr lang="en-US" sz="1200" i="1" dirty="0">
                <a:solidFill>
                  <a:srgbClr val="FFFFFF"/>
                </a:solidFill>
              </a:rPr>
              <a:t>Target design. The prototype now performs a DID-format check and EIP-712 signature recovery.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3: THE GUARDIANS APPROVE TOGETHER</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RO3: Multi-party authorisation</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guardian set G is fixed when the consent is created.</a:t>
            </a:r>
            <a:endParaRPr lang="en-US" sz="1600" dirty="0"/>
          </a:p>
          <a:p>
            <a:pPr marL="342900" indent="-342900">
              <a:spcAft>
                <a:spcPts val="1000"/>
              </a:spcAft>
              <a:buSzPct val="100000"/>
              <a:buChar char="•"/>
            </a:pPr>
            <a:r>
              <a:rPr lang="en-US" sz="1600" dirty="0">
                <a:solidFill>
                  <a:srgbClr val="FFFFFF"/>
                </a:solidFill>
              </a:rPr>
              <a:t>Each guardian signs an EIP-712 approval; the system recovers the signer and checks it is in G.</a:t>
            </a:r>
            <a:endParaRPr lang="en-US" sz="1600" dirty="0"/>
          </a:p>
          <a:p>
            <a:pPr marL="342900" indent="-342900">
              <a:spcAft>
                <a:spcPts val="1000"/>
              </a:spcAft>
              <a:buSzPct val="100000"/>
              <a:buChar char="•"/>
            </a:pPr>
            <a:r>
              <a:rPr lang="en-US" sz="1600" dirty="0">
                <a:solidFill>
                  <a:srgbClr val="FFFFFF"/>
                </a:solidFill>
              </a:rPr>
              <a:t>Approvals from outsiders, replays and duplicates are not counted.</a:t>
            </a:r>
            <a:endParaRPr lang="en-US" sz="1600" dirty="0"/>
          </a:p>
          <a:p>
            <a:pPr marL="342900" indent="-342900">
              <a:spcAft>
                <a:spcPts val="1000"/>
              </a:spcAft>
              <a:buSzPct val="100000"/>
              <a:buChar char="•"/>
            </a:pPr>
            <a:r>
              <a:rPr lang="en-US" sz="1600" dirty="0">
                <a:solidFill>
                  <a:srgbClr val="FFFFFF"/>
                </a:solidFill>
              </a:rPr>
              <a:t>N-of-N rule: every listed guardian must sign (2-of-2 in the demo).</a:t>
            </a:r>
            <a:endParaRPr lang="en-US" sz="1600" dirty="0"/>
          </a:p>
          <a:p>
            <a:pPr marL="342900" indent="-342900">
              <a:spcAft>
                <a:spcPts val="1000"/>
              </a:spcAft>
              <a:buSzPct val="100000"/>
              <a:buChar char="•"/>
            </a:pPr>
            <a:r>
              <a:rPr lang="en-US" sz="1600" dirty="0">
                <a:solidFill>
                  <a:srgbClr val="FFFFFF"/>
                </a:solidFill>
              </a:rPr>
              <a:t>When all have signed, a soulbound token is minted on Sepolia in the background.</a:t>
            </a:r>
            <a:endParaRPr lang="en-US" sz="1600" dirty="0"/>
          </a:p>
          <a:p>
            <a:pPr marL="342900" indent="-342900">
              <a:spcAft>
                <a:spcPts val="1000"/>
              </a:spcAft>
              <a:buSzPct val="100000"/>
              <a:buChar char="•"/>
            </a:pPr>
            <a:r>
              <a:rPr lang="en-US" sz="1600" dirty="0">
                <a:solidFill>
                  <a:srgbClr val="FFFFFF"/>
                </a:solidFill>
              </a:rPr>
              <a:t>In the prototype the guardian keys are derived from the guardian DIDs; wallet-held keys are for the next stage.</a:t>
            </a:r>
            <a:endParaRPr lang="en-US" sz="1600" dirty="0"/>
          </a:p>
        </p:txBody>
      </p:sp>
      <p:sp>
        <p:nvSpPr>
          <p:cNvPr id="8" name="F13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F13.png">    </p:cNvPr>
          <p:cNvPicPr>
            <a:picLocks noChangeAspect="1"/>
          </p:cNvPicPr>
          <p:nvPr/>
        </p:nvPicPr>
        <p:blipFill>
          <a:blip r:embed="rId1"/>
          <a:stretch>
            <a:fillRect/>
          </a:stretch>
        </p:blipFill>
        <p:spPr>
          <a:xfrm>
            <a:off x="7778618" y="1115568"/>
            <a:ext cx="346228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4: ONLY THE AGREED DATA AND PURPOSE</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RO4: Policy- and context-aware access</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requested data must be a non-empty subset of the agreed data scope.</a:t>
            </a:r>
            <a:endParaRPr lang="en-US" sz="1600" dirty="0"/>
          </a:p>
          <a:p>
            <a:pPr marL="342900" indent="-342900">
              <a:spcAft>
                <a:spcPts val="1000"/>
              </a:spcAft>
              <a:buSzPct val="100000"/>
              <a:buChar char="•"/>
            </a:pPr>
            <a:r>
              <a:rPr lang="en-US" sz="1600" dirty="0">
                <a:solidFill>
                  <a:srgbClr val="FFFFFF"/>
                </a:solidFill>
              </a:rPr>
              <a:t>The purpose must be a supported purpose of the consent.</a:t>
            </a:r>
            <a:endParaRPr lang="en-US" sz="1600" dirty="0"/>
          </a:p>
          <a:p>
            <a:pPr marL="342900" indent="-342900">
              <a:spcAft>
                <a:spcPts val="1000"/>
              </a:spcAft>
              <a:buSzPct val="100000"/>
              <a:buChar char="•"/>
            </a:pPr>
            <a:r>
              <a:rPr lang="en-US" sz="1600" dirty="0">
                <a:solidFill>
                  <a:srgbClr val="FFFFFF"/>
                </a:solidFill>
              </a:rPr>
              <a:t>Time and jurisdiction are checked in the same decision.</a:t>
            </a:r>
            <a:endParaRPr lang="en-US" sz="1600" dirty="0"/>
          </a:p>
          <a:p>
            <a:pPr marL="342900" indent="-342900">
              <a:spcAft>
                <a:spcPts val="1000"/>
              </a:spcAft>
              <a:buSzPct val="100000"/>
              <a:buChar char="•"/>
            </a:pPr>
            <a:r>
              <a:rPr lang="en-US" sz="1600" dirty="0">
                <a:solidFill>
                  <a:srgbClr val="FFFFFF"/>
                </a:solidFill>
              </a:rPr>
              <a:t>A Groth16 proof must verify before any data is retrieved.</a:t>
            </a:r>
            <a:endParaRPr lang="en-US" sz="1600" dirty="0"/>
          </a:p>
          <a:p>
            <a:pPr marL="342900" indent="-342900">
              <a:spcAft>
                <a:spcPts val="1000"/>
              </a:spcAft>
              <a:buSzPct val="100000"/>
              <a:buChar char="•"/>
            </a:pPr>
            <a:r>
              <a:rPr lang="en-US" sz="1600" dirty="0">
                <a:solidFill>
                  <a:srgbClr val="FFFFFF"/>
                </a:solidFill>
              </a:rPr>
              <a:t>Example: asking for Procedure when only Observation and Medication were agreed gives DENY.</a:t>
            </a:r>
            <a:endParaRPr lang="en-US" sz="1600" dirty="0"/>
          </a:p>
        </p:txBody>
      </p:sp>
      <p:sp>
        <p:nvSpPr>
          <p:cNvPr id="8" name="F14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F14.png">    </p:cNvPr>
          <p:cNvPicPr>
            <a:picLocks noChangeAspect="1"/>
          </p:cNvPicPr>
          <p:nvPr/>
        </p:nvPicPr>
        <p:blipFill>
          <a:blip r:embed="rId1"/>
          <a:stretch>
            <a:fillRect/>
          </a:stretch>
        </p:blipFill>
        <p:spPr>
          <a:xfrm>
            <a:off x="8016428" y="1115568"/>
            <a:ext cx="2986663"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5: TIME AND LIFECYCLE</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RO5: Time and lifecycle control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Working now: the validity window is stored on-chain and checked at every request.</a:t>
            </a:r>
            <a:endParaRPr lang="en-US" sz="1600" dirty="0"/>
          </a:p>
          <a:p>
            <a:pPr marL="342900" indent="-342900">
              <a:spcAft>
                <a:spcPts val="1000"/>
              </a:spcAft>
              <a:buSzPct val="100000"/>
              <a:buChar char="•"/>
            </a:pPr>
            <a:r>
              <a:rPr lang="en-US" sz="1600" dirty="0">
                <a:solidFill>
                  <a:srgbClr val="FFFFFF"/>
                </a:solidFill>
              </a:rPr>
              <a:t>Working now: revocation end to end, including an on-chain revoke transaction.</a:t>
            </a:r>
            <a:endParaRPr lang="en-US" sz="1600" dirty="0"/>
          </a:p>
          <a:p>
            <a:pPr marL="342900" indent="-342900">
              <a:spcAft>
                <a:spcPts val="1000"/>
              </a:spcAft>
              <a:buSzPct val="100000"/>
              <a:buChar char="•"/>
            </a:pPr>
            <a:r>
              <a:rPr lang="en-US" sz="1600" dirty="0">
                <a:solidFill>
                  <a:srgbClr val="FFFFFF"/>
                </a:solidFill>
              </a:rPr>
              <a:t>Working now: a clear lifecycle: PENDING_SIGNATURE, PENDING_TOKEN, NOT_STARTED, ACTIVE, EXPIRED, REVOKED.</a:t>
            </a:r>
            <a:endParaRPr lang="en-US" sz="1600" dirty="0"/>
          </a:p>
          <a:p>
            <a:pPr marL="342900" indent="-342900">
              <a:spcAft>
                <a:spcPts val="1000"/>
              </a:spcAft>
              <a:buSzPct val="100000"/>
              <a:buChar char="•"/>
            </a:pPr>
            <a:r>
              <a:rPr lang="en-US" sz="1600" dirty="0">
                <a:solidFill>
                  <a:srgbClr val="FFFFFF"/>
                </a:solidFill>
              </a:rPr>
              <a:t>Next stage: the lifecycle transition check, consent modification, delegation, guardian-set changes and a formal lifecycle model.</a:t>
            </a:r>
            <a:endParaRPr lang="en-US" sz="1600" dirty="0"/>
          </a:p>
        </p:txBody>
      </p:sp>
      <p:sp>
        <p:nvSpPr>
          <p:cNvPr id="8" name="F35 panel"/>
          <p:cNvSpPr/>
          <p:nvPr/>
        </p:nvSpPr>
        <p:spPr>
          <a:xfrm>
            <a:off x="7132320" y="1828800"/>
            <a:ext cx="4663440" cy="3291840"/>
          </a:xfrm>
          <a:prstGeom prst="roundRect">
            <a:avLst>
              <a:gd name="adj" fmla="val 333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F35.png">    </p:cNvPr>
          <p:cNvPicPr>
            <a:picLocks noChangeAspect="1"/>
          </p:cNvPicPr>
          <p:nvPr/>
        </p:nvPicPr>
        <p:blipFill>
          <a:blip r:embed="rId1"/>
          <a:stretch>
            <a:fillRect/>
          </a:stretch>
        </p:blipFill>
        <p:spPr>
          <a:xfrm>
            <a:off x="7242048" y="2601795"/>
            <a:ext cx="4443984" cy="1745851"/>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STEP 6: PROVE IT AND TEST IT</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RO6: Formal assurance and validation</a:t>
            </a:r>
            <a:endParaRPr lang="en-US" sz="2000" dirty="0"/>
          </a:p>
        </p:txBody>
      </p:sp>
      <p:sp>
        <p:nvSpPr>
          <p:cNvPr id="5" name="status chip"/>
          <p:cNvSpPr/>
          <p:nvPr/>
        </p:nvSpPr>
        <p:spPr>
          <a:xfrm>
            <a:off x="731520" y="146304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731520" y="146304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36 automated tests pass, including 12 attack scenarios A1 to A12.</a:t>
            </a:r>
            <a:endParaRPr lang="en-US" sz="1600" dirty="0"/>
          </a:p>
          <a:p>
            <a:pPr marL="342900" indent="-342900">
              <a:spcAft>
                <a:spcPts val="1000"/>
              </a:spcAft>
              <a:buSzPct val="100000"/>
              <a:buChar char="•"/>
            </a:pPr>
            <a:r>
              <a:rPr lang="en-US" sz="1600" dirty="0">
                <a:solidFill>
                  <a:srgbClr val="FFFFFF"/>
                </a:solidFill>
              </a:rPr>
              <a:t>Done: gas, confirmation latency and processing time measured.</a:t>
            </a:r>
            <a:endParaRPr lang="en-US" sz="1600" dirty="0"/>
          </a:p>
          <a:p>
            <a:pPr marL="342900" indent="-342900">
              <a:spcAft>
                <a:spcPts val="1000"/>
              </a:spcAft>
              <a:buSzPct val="100000"/>
              <a:buChar char="•"/>
            </a:pPr>
            <a:r>
              <a:rPr lang="en-US" sz="1600" dirty="0">
                <a:solidFill>
                  <a:srgbClr val="FFFFFF"/>
                </a:solidFill>
              </a:rPr>
              <a:t>Done: a live request from the wrong jurisdiction was refused against a Sepolia-anchored consent.</a:t>
            </a:r>
            <a:endParaRPr lang="en-US" sz="1600" dirty="0"/>
          </a:p>
          <a:p>
            <a:pPr marL="342900" indent="-342900">
              <a:spcAft>
                <a:spcPts val="1000"/>
              </a:spcAft>
              <a:buSzPct val="100000"/>
              <a:buChar char="•"/>
            </a:pPr>
            <a:r>
              <a:rPr lang="en-US" sz="1600" dirty="0">
                <a:solidFill>
                  <a:srgbClr val="FFFFFF"/>
                </a:solidFill>
              </a:rPr>
              <a:t>Next stage: formal proofs or model checking of the security properties, and a larger evaluation under load.</a:t>
            </a:r>
            <a:endParaRPr lang="en-US" sz="1600" dirty="0"/>
          </a:p>
        </p:txBody>
      </p:sp>
      <p:sp>
        <p:nvSpPr>
          <p:cNvPr id="8" name="F16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6" descr="/tmp/deck/img/F16.png">    </p:cNvPr>
          <p:cNvPicPr>
            <a:picLocks noChangeAspect="1"/>
          </p:cNvPicPr>
          <p:nvPr/>
        </p:nvPicPr>
        <p:blipFill>
          <a:blip r:embed="rId1"/>
          <a:stretch>
            <a:fillRect/>
          </a:stretch>
        </p:blipFill>
        <p:spPr>
          <a:xfrm>
            <a:off x="7607808" y="1638248"/>
            <a:ext cx="3803904" cy="4267303"/>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DOES IT DO WHAT IT SHOULD?</a:t>
            </a:r>
            <a:endParaRPr lang="en-US" sz="30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Evidence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What it checks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Pass rule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get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Observed = expected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Wrong requests are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gives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4: wrong jurisdiction refused. Scenario 5: revoked consent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Attack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check, A1 to A12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attack is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11 of 12 refused after the hardening (A11: the changed digest is not yet compared)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23 functional tests and 13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36 of 36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against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TWELVE ATTACK SCENARIOS</a:t>
            </a:r>
            <a:endParaRPr lang="en-US" sz="3000" dirty="0"/>
          </a:p>
        </p:txBody>
      </p:sp>
      <p:sp>
        <p:nvSpPr>
          <p:cNvPr id="4" name="F43 panel"/>
          <p:cNvSpPr/>
          <p:nvPr/>
        </p:nvSpPr>
        <p:spPr>
          <a:xfrm>
            <a:off x="640080" y="1097280"/>
            <a:ext cx="658368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43" descr="/tmp/deck/img/F43.png">    </p:cNvPr>
          <p:cNvPicPr>
            <a:picLocks noChangeAspect="1"/>
          </p:cNvPicPr>
          <p:nvPr/>
        </p:nvPicPr>
        <p:blipFill>
          <a:blip r:embed="rId1"/>
          <a:stretch>
            <a:fillRect/>
          </a:stretch>
        </p:blipFill>
        <p:spPr>
          <a:xfrm>
            <a:off x="749808" y="1488727"/>
            <a:ext cx="6364224" cy="4657786"/>
          </a:xfrm>
          <a:prstGeom prst="rect">
            <a:avLst/>
          </a:prstGeom>
        </p:spPr>
      </p:pic>
      <p:sp>
        <p:nvSpPr>
          <p:cNvPr id="6" name="stat attack scenarios, A1 to A12"/>
          <p:cNvSpPr txBox="1"/>
          <p:nvPr/>
        </p:nvSpPr>
        <p:spPr>
          <a:xfrm>
            <a:off x="7589520" y="1234440"/>
            <a:ext cx="3931920" cy="868680"/>
          </a:xfrm>
          <a:prstGeom prst="rect">
            <a:avLst/>
          </a:prstGeom>
          <a:noFill/>
          <a:ln/>
        </p:spPr>
        <p:txBody>
          <a:bodyPr wrap="square" lIns="0" tIns="0" rIns="0" bIns="0" rtlCol="0" anchor="ctr"/>
          <a:lstStyle/>
          <a:p>
            <a:pPr indent="0" marL="0">
              <a:buNone/>
            </a:pPr>
            <a:r>
              <a:rPr lang="en-US" sz="4400" b="1" dirty="0">
                <a:solidFill>
                  <a:srgbClr val="1FB5D6"/>
                </a:solidFill>
              </a:rPr>
              <a:t>12</a:t>
            </a:r>
            <a:endParaRPr lang="en-US" sz="4400" dirty="0"/>
          </a:p>
        </p:txBody>
      </p:sp>
      <p:sp>
        <p:nvSpPr>
          <p:cNvPr id="7" name="stat label attack scenarios, A1 to A12"/>
          <p:cNvSpPr txBox="1"/>
          <p:nvPr/>
        </p:nvSpPr>
        <p:spPr>
          <a:xfrm>
            <a:off x="7589520" y="2103120"/>
            <a:ext cx="3931920" cy="640080"/>
          </a:xfrm>
          <a:prstGeom prst="rect">
            <a:avLst/>
          </a:prstGeom>
          <a:noFill/>
          <a:ln/>
        </p:spPr>
        <p:txBody>
          <a:bodyPr wrap="square" lIns="0" tIns="0" rIns="0" bIns="0" rtlCol="0" anchor="ctr"/>
          <a:lstStyle/>
          <a:p>
            <a:pPr indent="0" marL="0">
              <a:buNone/>
            </a:pPr>
            <a:r>
              <a:rPr lang="en-US" sz="1600" dirty="0">
                <a:solidFill>
                  <a:srgbClr val="FFFFFF"/>
                </a:solidFill>
              </a:rPr>
              <a:t>attack scenarios, A1 to A12</a:t>
            </a:r>
            <a:endParaRPr lang="en-US" sz="1600" dirty="0"/>
          </a:p>
        </p:txBody>
      </p:sp>
      <p:sp>
        <p:nvSpPr>
          <p:cNvPr id="8" name="stat refused after the hardening"/>
          <p:cNvSpPr txBox="1"/>
          <p:nvPr/>
        </p:nvSpPr>
        <p:spPr>
          <a:xfrm>
            <a:off x="7589520" y="2971800"/>
            <a:ext cx="3931920" cy="868680"/>
          </a:xfrm>
          <a:prstGeom prst="rect">
            <a:avLst/>
          </a:prstGeom>
          <a:noFill/>
          <a:ln/>
        </p:spPr>
        <p:txBody>
          <a:bodyPr wrap="square" lIns="0" tIns="0" rIns="0" bIns="0" rtlCol="0" anchor="ctr"/>
          <a:lstStyle/>
          <a:p>
            <a:pPr indent="0" marL="0">
              <a:buNone/>
            </a:pPr>
            <a:r>
              <a:rPr lang="en-US" sz="4400" b="1" dirty="0">
                <a:solidFill>
                  <a:srgbClr val="1FB5D6"/>
                </a:solidFill>
              </a:rPr>
              <a:t>11 / 12</a:t>
            </a:r>
            <a:endParaRPr lang="en-US" sz="4400" dirty="0"/>
          </a:p>
        </p:txBody>
      </p:sp>
      <p:sp>
        <p:nvSpPr>
          <p:cNvPr id="9" name="stat label refused after the hardening"/>
          <p:cNvSpPr txBox="1"/>
          <p:nvPr/>
        </p:nvSpPr>
        <p:spPr>
          <a:xfrm>
            <a:off x="7589520" y="3840480"/>
            <a:ext cx="3931920" cy="640080"/>
          </a:xfrm>
          <a:prstGeom prst="rect">
            <a:avLst/>
          </a:prstGeom>
          <a:noFill/>
          <a:ln/>
        </p:spPr>
        <p:txBody>
          <a:bodyPr wrap="square" lIns="0" tIns="0" rIns="0" bIns="0" rtlCol="0" anchor="ctr"/>
          <a:lstStyle/>
          <a:p>
            <a:pPr indent="0" marL="0">
              <a:buNone/>
            </a:pPr>
            <a:r>
              <a:rPr lang="en-US" sz="1600" dirty="0">
                <a:solidFill>
                  <a:srgbClr val="FFFFFF"/>
                </a:solidFill>
              </a:rPr>
              <a:t>refused after the hardening</a:t>
            </a:r>
            <a:endParaRPr lang="en-US" sz="1600" dirty="0"/>
          </a:p>
        </p:txBody>
      </p:sp>
      <p:sp>
        <p:nvSpPr>
          <p:cNvPr id="10" name="stat automated tests pass"/>
          <p:cNvSpPr txBox="1"/>
          <p:nvPr/>
        </p:nvSpPr>
        <p:spPr>
          <a:xfrm>
            <a:off x="7589520" y="4709160"/>
            <a:ext cx="3931920" cy="868680"/>
          </a:xfrm>
          <a:prstGeom prst="rect">
            <a:avLst/>
          </a:prstGeom>
          <a:noFill/>
          <a:ln/>
        </p:spPr>
        <p:txBody>
          <a:bodyPr wrap="square" lIns="0" tIns="0" rIns="0" bIns="0" rtlCol="0" anchor="ctr"/>
          <a:lstStyle/>
          <a:p>
            <a:pPr indent="0" marL="0">
              <a:buNone/>
            </a:pPr>
            <a:r>
              <a:rPr lang="en-US" sz="4400" b="1" dirty="0">
                <a:solidFill>
                  <a:srgbClr val="1FB5D6"/>
                </a:solidFill>
              </a:rPr>
              <a:t>36</a:t>
            </a:r>
            <a:endParaRPr lang="en-US" sz="4400" dirty="0"/>
          </a:p>
        </p:txBody>
      </p:sp>
      <p:sp>
        <p:nvSpPr>
          <p:cNvPr id="11" name="stat label automated tests pass"/>
          <p:cNvSpPr txBox="1"/>
          <p:nvPr/>
        </p:nvSpPr>
        <p:spPr>
          <a:xfrm>
            <a:off x="7589520" y="5577840"/>
            <a:ext cx="3931920" cy="640080"/>
          </a:xfrm>
          <a:prstGeom prst="rect">
            <a:avLst/>
          </a:prstGeom>
          <a:noFill/>
          <a:ln/>
        </p:spPr>
        <p:txBody>
          <a:bodyPr wrap="square" lIns="0" tIns="0" rIns="0" bIns="0" rtlCol="0" anchor="ctr"/>
          <a:lstStyle/>
          <a:p>
            <a:pPr indent="0" marL="0">
              <a:buNone/>
            </a:pPr>
            <a:r>
              <a:rPr lang="en-US" sz="1600" dirty="0">
                <a:solidFill>
                  <a:srgbClr val="FFFFFF"/>
                </a:solidFill>
              </a:rPr>
              <a:t>automated tests pass</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HOW FAST AND HOW MUCH?</a:t>
            </a:r>
            <a:endParaRPr lang="en-US" sz="3000" dirty="0"/>
          </a:p>
        </p:txBody>
      </p:sp>
      <p:graphicFrame>
        <p:nvGraphicFramePr>
          <p:cNvPr id="22"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2103120"/>
                <a:gridCol w="1188720"/>
                <a:gridCol w="914400"/>
                <a:gridCol w="1005840"/>
                <a:gridCol w="640080"/>
              </a:tblGrid>
              <a:tr h="548640">
                <a:tc>
                  <a:txBody>
                    <a:bodyPr/>
                    <a:lstStyle/>
                    <a:p>
                      <a:pPr indent="0" marL="0">
                        <a:buNone/>
                      </a:pPr>
                      <a:r>
                        <a:rPr lang="en-US" sz="1200" b="1" dirty="0">
                          <a:solidFill>
                            <a:srgbClr val="FFFFFF"/>
                          </a:solidFill>
                        </a:rPr>
                        <a:t>Component</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Median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Min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Max</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200" b="1" dirty="0">
                          <a:solidFill>
                            <a:srgbClr val="FFFFFF"/>
                          </a:solidFill>
                        </a:rPr>
                        <a:t>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548640">
                <a:tc>
                  <a:txBody>
                    <a:bodyPr/>
                    <a:lstStyle/>
                    <a:p>
                      <a:pPr indent="0" marL="0">
                        <a:buNone/>
                      </a:pPr>
                      <a:r>
                        <a:rPr lang="en-US" sz="1200" b="1" dirty="0">
                          <a:solidFill>
                            <a:srgbClr val="0B1F33"/>
                          </a:solidFill>
                        </a:rPr>
                        <a:t>Decision rule, five checks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2.37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2.32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31.59 µs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1,000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One EIP-712 signature</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10.93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10.55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15.64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generation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1,401.1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1,342.8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5,349.6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Groth16 proof verification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465.3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441.0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525.1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573.5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715.5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On-chain checkValidAt read</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574.6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568.2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745.6 ms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20</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548640">
                <a:tc>
                  <a:txBody>
                    <a:bodyPr/>
                    <a:lstStyle/>
                    <a:p>
                      <a:pPr indent="0" marL="0">
                        <a:buNone/>
                      </a:pPr>
                      <a:r>
                        <a:rPr lang="en-US" sz="1200" b="1" dirty="0">
                          <a:solidFill>
                            <a:srgbClr val="0B1F33"/>
                          </a:solidFill>
                        </a:rPr>
                        <a:t>Anchoring confirmation</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11.5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4.9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22.1 s</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200" dirty="0">
                          <a:solidFill>
                            <a:srgbClr val="0B1F33"/>
                          </a:solidFill>
                        </a:rPr>
                        <a:t>5</a:t>
                      </a:r>
                      <a:endParaRPr lang="en-US" sz="12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gas line"/>
          <p:cNvSpPr txBox="1"/>
          <p:nvPr/>
        </p:nvSpPr>
        <p:spPr>
          <a:xfrm>
            <a:off x="731520" y="5760720"/>
            <a:ext cx="5852160" cy="457200"/>
          </a:xfrm>
          <a:prstGeom prst="rect">
            <a:avLst/>
          </a:prstGeom>
          <a:noFill/>
          <a:ln/>
        </p:spPr>
        <p:txBody>
          <a:bodyPr wrap="square" rtlCol="0" anchor="ctr"/>
          <a:lstStyle/>
          <a:p>
            <a:pPr indent="0" marL="0">
              <a:buNone/>
            </a:pPr>
            <a:r>
              <a:rPr lang="en-US" sz="1400" b="1" dirty="0">
                <a:solidFill>
                  <a:srgbClr val="FFFFFF"/>
                </a:solidFill>
              </a:rPr>
              <a:t>Gas used: mint #1 196,406; revoke #1 32,980. No fee above 0.00021 ETH.</a:t>
            </a:r>
            <a:endParaRPr lang="en-US" sz="1400" dirty="0"/>
          </a:p>
        </p:txBody>
      </p:sp>
      <p:sp>
        <p:nvSpPr>
          <p:cNvPr id="6" name="F42 panel"/>
          <p:cNvSpPr/>
          <p:nvPr/>
        </p:nvSpPr>
        <p:spPr>
          <a:xfrm>
            <a:off x="6812280" y="1280160"/>
            <a:ext cx="4709160" cy="3931920"/>
          </a:xfrm>
          <a:prstGeom prst="roundRect">
            <a:avLst>
              <a:gd name="adj" fmla="val 279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42" descr="/tmp/deck/img/F42.png">    </p:cNvPr>
          <p:cNvPicPr>
            <a:picLocks noChangeAspect="1"/>
          </p:cNvPicPr>
          <p:nvPr/>
        </p:nvPicPr>
        <p:blipFill>
          <a:blip r:embed="rId1"/>
          <a:stretch>
            <a:fillRect/>
          </a:stretch>
        </p:blipFill>
        <p:spPr>
          <a:xfrm>
            <a:off x="6922008" y="2117143"/>
            <a:ext cx="4489704" cy="2257954"/>
          </a:xfrm>
          <a:prstGeom prst="rect">
            <a:avLst/>
          </a:prstGeom>
        </p:spPr>
      </p:pic>
      <p:sp>
        <p:nvSpPr>
          <p:cNvPr id="8" name="caption"/>
          <p:cNvSpPr txBox="1"/>
          <p:nvPr/>
        </p:nvSpPr>
        <p:spPr>
          <a:xfrm>
            <a:off x="6812280" y="5303520"/>
            <a:ext cx="4709160" cy="320040"/>
          </a:xfrm>
          <a:prstGeom prst="rect">
            <a:avLst/>
          </a:prstGeom>
          <a:noFill/>
          <a:ln/>
        </p:spPr>
        <p:txBody>
          <a:bodyPr wrap="square" rtlCol="0" anchor="ctr"/>
          <a:lstStyle/>
          <a:p>
            <a:pPr algn="ctr" indent="0" marL="0">
              <a:buNone/>
            </a:pPr>
            <a:r>
              <a:rPr lang="en-US" sz="1200" i="1" dirty="0">
                <a:solidFill>
                  <a:srgbClr val="FFFFFF"/>
                </a:solidFill>
              </a:rPr>
              <a:t>Timings measured on 1 October 2026; gas and anchoring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DIFFERENT FROM TODAY'S SYSTEMS</a:t>
            </a:r>
            <a:endParaRPr lang="en-US" sz="3000" dirty="0"/>
          </a:p>
        </p:txBody>
      </p:sp>
      <p:graphicFrame>
        <p:nvGraphicFramePr>
          <p:cNvPr id="23"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881360" cy="914400"/>
        </p:xfrm>
        <a:graphic>
          <a:graphicData uri="http://schemas.openxmlformats.org/drawingml/2006/table">
            <a:tbl>
              <a:tblPr/>
              <a:tblGrid>
                <a:gridCol w="1828800"/>
                <a:gridCol w="4023360"/>
                <a:gridCol w="5029200"/>
              </a:tblGrid>
              <a:tr h="7315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 identity provider; institution login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DID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stored record that permission was given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static permission set by one party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listed guardians sign (EIP-712); no single party can approve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Log in,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each time; on-chain revoke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Each decision on an active consent logged with its decision matrix; state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AND PRIVACY</a:t>
            </a:r>
            <a:endParaRPr lang="en-US" sz="3000" dirty="0"/>
          </a:p>
        </p:txBody>
      </p:sp>
      <p:graphicFrame>
        <p:nvGraphicFramePr>
          <p:cNvPr id="24"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13232">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No real patient data. Synthetic records from the Synthea dataset (Observation, Medication, Condition, Procedure).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Pseudonymous patient and requester addresses, a hash of the purpose, the validity window, a jurisdiction code and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agreed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Each decision on an ACTIVE consent is recorded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WHY THIS MATTERS</a:t>
            </a:r>
            <a:endParaRPr lang="en-US" sz="3000" dirty="0"/>
          </a:p>
        </p:txBody>
      </p:sp>
      <p:sp>
        <p:nvSpPr>
          <p:cNvPr id="4" name="sci heading"/>
          <p:cNvSpPr txBox="1"/>
          <p:nvPr/>
        </p:nvSpPr>
        <p:spPr>
          <a:xfrm>
            <a:off x="731520" y="1051560"/>
            <a:ext cx="5120640" cy="411480"/>
          </a:xfrm>
          <a:prstGeom prst="rect">
            <a:avLst/>
          </a:prstGeom>
          <a:noFill/>
          <a:ln/>
        </p:spPr>
        <p:txBody>
          <a:bodyPr wrap="square" rtlCol="0" anchor="ctr"/>
          <a:lstStyle/>
          <a:p>
            <a:pPr indent="0" marL="0">
              <a:buNone/>
            </a:pPr>
            <a:r>
              <a:rPr lang="en-US" sz="2000" b="1" i="1" dirty="0">
                <a:solidFill>
                  <a:srgbClr val="1FB5D6"/>
                </a:solidFill>
              </a:rPr>
              <a:t>Scientific</a:t>
            </a:r>
            <a:endParaRPr lang="en-US" sz="2000" dirty="0"/>
          </a:p>
        </p:txBody>
      </p:sp>
      <p:sp>
        <p:nvSpPr>
          <p:cNvPr id="5" name="soc heading"/>
          <p:cNvSpPr txBox="1"/>
          <p:nvPr/>
        </p:nvSpPr>
        <p:spPr>
          <a:xfrm>
            <a:off x="6309360" y="1051560"/>
            <a:ext cx="5120640" cy="411480"/>
          </a:xfrm>
          <a:prstGeom prst="rect">
            <a:avLst/>
          </a:prstGeom>
          <a:noFill/>
          <a:ln/>
        </p:spPr>
        <p:txBody>
          <a:bodyPr wrap="square" rtlCol="0" anchor="ctr"/>
          <a:lstStyle/>
          <a:p>
            <a:pPr indent="0" marL="0">
              <a:buNone/>
            </a:pPr>
            <a:r>
              <a:rPr lang="en-US" sz="2000" b="1" i="1" dirty="0">
                <a:solidFill>
                  <a:srgbClr val="1FB5D6"/>
                </a:solidFill>
              </a:rPr>
              <a:t>Social</a:t>
            </a:r>
            <a:endParaRPr lang="en-US" sz="2000" dirty="0"/>
          </a:p>
        </p:txBody>
      </p:sp>
      <p:sp>
        <p:nvSpPr>
          <p:cNvPr id="6" name="bullets"/>
          <p:cNvSpPr txBox="1"/>
          <p:nvPr/>
        </p:nvSpPr>
        <p:spPr>
          <a:xfrm>
            <a:off x="731520" y="1554480"/>
            <a:ext cx="5212080" cy="484632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Consent is an evaluable object, C = (I, A, P, T, L, E), not a stored record.</a:t>
            </a:r>
            <a:endParaRPr lang="en-US" sz="1600" dirty="0"/>
          </a:p>
          <a:p>
            <a:pPr marL="342900" indent="-342900">
              <a:spcAft>
                <a:spcPts val="1000"/>
              </a:spcAft>
              <a:buSzPct val="100000"/>
              <a:buChar char="•"/>
            </a:pPr>
            <a:r>
              <a:rPr lang="en-US" sz="1600" dirty="0">
                <a:solidFill>
                  <a:srgbClr val="FFFFFF"/>
                </a:solidFill>
              </a:rPr>
              <a:t>Multi-party approval is a standing condition of every access decision, and the patient defines who must approve.</a:t>
            </a:r>
            <a:endParaRPr lang="en-US" sz="1600" dirty="0"/>
          </a:p>
          <a:p>
            <a:pPr marL="342900" indent="-342900">
              <a:spcAft>
                <a:spcPts val="1000"/>
              </a:spcAft>
              <a:buSzPct val="100000"/>
              <a:buChar char="•"/>
            </a:pPr>
            <a:r>
              <a:rPr lang="en-US" sz="1600" dirty="0">
                <a:solidFill>
                  <a:srgbClr val="FFFFFF"/>
                </a:solidFill>
              </a:rPr>
              <a:t>Identity is separated from authority, and all conditions are checked in one decision.</a:t>
            </a:r>
            <a:endParaRPr lang="en-US" sz="1600" dirty="0"/>
          </a:p>
          <a:p>
            <a:pPr marL="342900" indent="-342900">
              <a:spcAft>
                <a:spcPts val="1000"/>
              </a:spcAft>
              <a:buSzPct val="100000"/>
              <a:buChar char="•"/>
            </a:pPr>
            <a:r>
              <a:rPr lang="en-US" sz="1600" dirty="0">
                <a:solidFill>
                  <a:srgbClr val="FFFFFF"/>
                </a:solidFill>
              </a:rPr>
              <a:t>A PRISMA 2020 review of 25 studies names the conjunction gap and the assurance gap.</a:t>
            </a:r>
            <a:endParaRPr lang="en-US" sz="1600" dirty="0"/>
          </a:p>
          <a:p>
            <a:pPr marL="342900" indent="-342900">
              <a:spcAft>
                <a:spcPts val="1000"/>
              </a:spcAft>
              <a:buSzPct val="100000"/>
              <a:buChar char="•"/>
            </a:pPr>
            <a:r>
              <a:rPr lang="en-US" sz="1600" dirty="0">
                <a:solidFill>
                  <a:srgbClr val="FFFFFF"/>
                </a:solidFill>
              </a:rPr>
              <a:t>A working prototype on Sepolia, measured and attacked twelve times.</a:t>
            </a:r>
            <a:endParaRPr lang="en-US" sz="1600" dirty="0"/>
          </a:p>
        </p:txBody>
      </p:sp>
      <p:sp>
        <p:nvSpPr>
          <p:cNvPr id="7" name="bullets"/>
          <p:cNvSpPr txBox="1"/>
          <p:nvPr/>
        </p:nvSpPr>
        <p:spPr>
          <a:xfrm>
            <a:off x="6309360" y="1554480"/>
            <a:ext cx="5212080" cy="484632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Patients and their guardians decide together who may see the patient's data.</a:t>
            </a:r>
            <a:endParaRPr lang="en-US" sz="1600" dirty="0"/>
          </a:p>
          <a:p>
            <a:pPr marL="342900" indent="-342900">
              <a:spcAft>
                <a:spcPts val="1000"/>
              </a:spcAft>
              <a:buSzPct val="100000"/>
              <a:buChar char="•"/>
            </a:pPr>
            <a:r>
              <a:rPr lang="en-US" sz="1600" dirty="0">
                <a:solidFill>
                  <a:srgbClr val="FFFFFF"/>
                </a:solidFill>
              </a:rPr>
              <a:t>No single person can approve access to sensitive health data alone.</a:t>
            </a:r>
            <a:endParaRPr lang="en-US" sz="1600" dirty="0"/>
          </a:p>
          <a:p>
            <a:pPr marL="342900" indent="-342900">
              <a:spcAft>
                <a:spcPts val="1000"/>
              </a:spcAft>
              <a:buSzPct val="100000"/>
              <a:buChar char="•"/>
            </a:pPr>
            <a:r>
              <a:rPr lang="en-US" sz="1600" dirty="0">
                <a:solidFill>
                  <a:srgbClr val="FFFFFF"/>
                </a:solidFill>
              </a:rPr>
              <a:t>Every decision can be explained to an auditor: which check passed, which failed.</a:t>
            </a:r>
            <a:endParaRPr lang="en-US" sz="1600" dirty="0"/>
          </a:p>
          <a:p>
            <a:pPr marL="342900" indent="-342900">
              <a:spcAft>
                <a:spcPts val="1000"/>
              </a:spcAft>
              <a:buSzPct val="100000"/>
              <a:buChar char="•"/>
            </a:pPr>
            <a:r>
              <a:rPr lang="en-US" sz="1600" dirty="0">
                <a:solidFill>
                  <a:srgbClr val="FFFFFF"/>
                </a:solidFill>
              </a:rPr>
              <a:t>Medical records stay off-chain; only consent evidence is shared.</a:t>
            </a:r>
            <a:endParaRPr lang="en-US" sz="1600" dirty="0"/>
          </a:p>
          <a:p>
            <a:pPr marL="342900" indent="-342900">
              <a:spcAft>
                <a:spcPts val="1000"/>
              </a:spcAft>
              <a:buSzPct val="100000"/>
              <a:buChar char="•"/>
            </a:pPr>
            <a:r>
              <a:rPr lang="en-US" sz="1600" dirty="0">
                <a:solidFill>
                  <a:srgbClr val="FFFFFF"/>
                </a:solidFill>
              </a:rPr>
              <a:t>Supports trust when data move between hospitals and other independent parties.</a:t>
            </a:r>
            <a:endParaRPr lang="en-US" sz="1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WHAT IS STILL OPEN</a:t>
            </a:r>
            <a:endParaRPr lang="en-US" sz="3000" dirty="0"/>
          </a:p>
        </p:txBody>
      </p:sp>
      <p:sp>
        <p:nvSpPr>
          <p:cNvPr id="4" name="card Formal proofs"/>
          <p:cNvSpPr/>
          <p:nvPr/>
        </p:nvSpPr>
        <p:spPr>
          <a:xfrm>
            <a:off x="64008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5" name="card text Formal proof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F2A900"/>
                </a:solidFill>
              </a:rPr>
              <a:t>Formal proofs</a:t>
            </a:r>
            <a:endParaRPr lang="en-US" sz="1900" dirty="0"/>
          </a:p>
          <a:p>
            <a:pPr indent="0" marL="0">
              <a:spcAft>
                <a:spcPts val="400"/>
              </a:spcAft>
              <a:buNone/>
            </a:pPr>
            <a:r>
              <a:rPr lang="en-US" sz="1600" dirty="0">
                <a:solidFill>
                  <a:srgbClr val="0B1F33"/>
                </a:solidFill>
              </a:rPr>
              <a:t>The security properties are tested, not yet proved. Next: a formal model and model checking or proofs (RO6).</a:t>
            </a:r>
            <a:endParaRPr lang="en-US" sz="1900" dirty="0"/>
          </a:p>
        </p:txBody>
      </p:sp>
      <p:sp>
        <p:nvSpPr>
          <p:cNvPr id="6" name="card Lifecycle"/>
          <p:cNvSpPr/>
          <p:nvPr/>
        </p:nvSpPr>
        <p:spPr>
          <a:xfrm>
            <a:off x="4343400" y="1280160"/>
            <a:ext cx="3520440" cy="2240280"/>
          </a:xfrm>
          <a:prstGeom prst="roundRect">
            <a:avLst>
              <a:gd name="adj" fmla="val 4082"/>
            </a:avLst>
          </a:prstGeom>
          <a:solidFill>
            <a:srgbClr val="FFFFFF">
              <a:alpha val="92000"/>
            </a:srgbClr>
          </a:solidFill>
          <a:ln w="19050">
            <a:solidFill>
              <a:srgbClr val="F2A900"/>
            </a:solidFill>
            <a:prstDash val="solid"/>
          </a:ln>
        </p:spPr>
      </p:sp>
      <p:sp>
        <p:nvSpPr>
          <p:cNvPr id="7" name="card text Lifecycle"/>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F2A900"/>
                </a:solidFill>
              </a:rPr>
              <a:t>Lifecycle</a:t>
            </a:r>
            <a:endParaRPr lang="en-US" sz="1900" dirty="0"/>
          </a:p>
          <a:p>
            <a:pPr indent="0" marL="0">
              <a:spcAft>
                <a:spcPts val="400"/>
              </a:spcAft>
              <a:buNone/>
            </a:pPr>
            <a:r>
              <a:rPr lang="en-US" sz="1600" dirty="0">
                <a:solidFill>
                  <a:srgbClr val="0B1F33"/>
                </a:solidFill>
              </a:rPr>
              <a:t>Consent modification, delegation and guardian-set changes, with a formal lifecycle model (RO5).</a:t>
            </a:r>
            <a:endParaRPr lang="en-US" sz="1900" dirty="0"/>
          </a:p>
        </p:txBody>
      </p:sp>
      <p:sp>
        <p:nvSpPr>
          <p:cNvPr id="8" name="card Identity and keys"/>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Identity and keys"/>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Identity and keys</a:t>
            </a:r>
            <a:endParaRPr lang="en-US" sz="1900" dirty="0"/>
          </a:p>
          <a:p>
            <a:pPr indent="0" marL="0">
              <a:spcAft>
                <a:spcPts val="400"/>
              </a:spcAft>
              <a:buNone/>
            </a:pPr>
            <a:r>
              <a:rPr lang="en-US" sz="1600" dirty="0">
                <a:solidFill>
                  <a:srgbClr val="0B1F33"/>
                </a:solidFill>
              </a:rPr>
              <a:t>Full DID resolution, credential validation and wallet-held guardian keys. Today: a DID-format check, signature recovery and keys derived from the guardian DIDs (RO2, RO3).</a:t>
            </a:r>
            <a:endParaRPr lang="en-US" sz="1900" dirty="0"/>
          </a:p>
        </p:txBody>
      </p:sp>
      <p:sp>
        <p:nvSpPr>
          <p:cNvPr id="10" name="card Attack A11"/>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ttack A11"/>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Attack A11</a:t>
            </a:r>
            <a:endParaRPr lang="en-US" sz="1900" dirty="0"/>
          </a:p>
          <a:p>
            <a:pPr indent="0" marL="0">
              <a:spcAft>
                <a:spcPts val="400"/>
              </a:spcAft>
              <a:buNone/>
            </a:pPr>
            <a:r>
              <a:rPr lang="en-US" sz="1600" dirty="0">
                <a:solidFill>
                  <a:srgbClr val="0B1F33"/>
                </a:solidFill>
              </a:rPr>
              <a:t>A changed audit digest is not yet compared by any component. It is marked neutral, not refused.</a:t>
            </a:r>
            <a:endParaRPr lang="en-US" sz="1900" dirty="0"/>
          </a:p>
        </p:txBody>
      </p:sp>
      <p:sp>
        <p:nvSpPr>
          <p:cNvPr id="12" name="card Scale"/>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Scale"/>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Scale</a:t>
            </a:r>
            <a:endParaRPr lang="en-US" sz="1900" dirty="0"/>
          </a:p>
          <a:p>
            <a:pPr indent="0" marL="0">
              <a:spcAft>
                <a:spcPts val="400"/>
              </a:spcAft>
              <a:buNone/>
            </a:pPr>
            <a:r>
              <a:rPr lang="en-US" sz="1600" dirty="0">
                <a:solidFill>
                  <a:srgbClr val="0B1F33"/>
                </a:solidFill>
              </a:rPr>
              <a:t>A larger evaluation under load, with more users, consents and concurrent requests.</a:t>
            </a:r>
            <a:endParaRPr lang="en-US" sz="1900" dirty="0"/>
          </a:p>
        </p:txBody>
      </p:sp>
      <p:sp>
        <p:nvSpPr>
          <p:cNvPr id="14" name="card Purpose on-chain"/>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Purpose on-chain"/>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1FB5D6"/>
                </a:solidFill>
              </a:rPr>
              <a:t>Purpose on-chain</a:t>
            </a:r>
            <a:endParaRPr lang="en-US" sz="1900" dirty="0"/>
          </a:p>
          <a:p>
            <a:pPr indent="0" marL="0">
              <a:spcAft>
                <a:spcPts val="400"/>
              </a:spcAft>
              <a:buNone/>
            </a:pPr>
            <a:r>
              <a:rPr lang="en-US" sz="1600" dirty="0">
                <a:solidFill>
                  <a:srgbClr val="0B1F33"/>
                </a:solidFill>
              </a:rPr>
              <a:t>The plaintext purpose is visible in the mint transaction input.</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HALAH PROTOTYPE</a:t>
            </a:r>
            <a:endParaRPr lang="en-US" sz="3000" dirty="0"/>
          </a:p>
        </p:txBody>
      </p:sp>
      <p:sp>
        <p:nvSpPr>
          <p:cNvPr id="4" name="card Four interface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Four interface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Four interfaces</a:t>
            </a:r>
            <a:endParaRPr lang="en-US" sz="1900" dirty="0"/>
          </a:p>
          <a:p>
            <a:pPr indent="0" marL="0">
              <a:spcAft>
                <a:spcPts val="400"/>
              </a:spcAft>
              <a:buNone/>
            </a:pPr>
            <a:r>
              <a:rPr lang="en-US" sz="1600" dirty="0">
                <a:solidFill>
                  <a:srgbClr val="0B1F33"/>
                </a:solidFill>
              </a:rPr>
              <a:t>Patient, guardian, doctor and auditor</a:t>
            </a:r>
            <a:endParaRPr lang="en-US" sz="1900" dirty="0"/>
          </a:p>
        </p:txBody>
      </p:sp>
      <p:sp>
        <p:nvSpPr>
          <p:cNvPr id="6" name="card Smart contract"/>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Smart contract"/>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8" name="card Guardian approval"/>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Guardian approval"/>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0" name="card Access proof"/>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ccess proof"/>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2" name="card Data"/>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Data"/>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4" name="card Evidenc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Evidenc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Audit ledger of every decision on an active consent;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LIVE SCENARIOS</a:t>
            </a:r>
            <a:endParaRPr lang="en-US" sz="3000" dirty="0"/>
          </a:p>
        </p:txBody>
      </p:sp>
      <p:sp>
        <p:nvSpPr>
          <p:cNvPr id="4" name="F27 panel"/>
          <p:cNvSpPr/>
          <p:nvPr/>
        </p:nvSpPr>
        <p:spPr>
          <a:xfrm>
            <a:off x="640080" y="1188720"/>
            <a:ext cx="548640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7" descr="/tmp/deck/img/F27.png">    </p:cNvPr>
          <p:cNvPicPr>
            <a:picLocks noChangeAspect="1"/>
          </p:cNvPicPr>
          <p:nvPr/>
        </p:nvPicPr>
        <p:blipFill>
          <a:blip r:embed="rId1"/>
          <a:stretch>
            <a:fillRect/>
          </a:stretch>
        </p:blipFill>
        <p:spPr>
          <a:xfrm>
            <a:off x="749808" y="1353204"/>
            <a:ext cx="5266944" cy="4151591"/>
          </a:xfrm>
          <a:prstGeom prst="rect">
            <a:avLst/>
          </a:prstGeom>
        </p:spPr>
      </p:pic>
      <p:sp>
        <p:nvSpPr>
          <p:cNvPr id="6" name="F32 panel"/>
          <p:cNvSpPr/>
          <p:nvPr/>
        </p:nvSpPr>
        <p:spPr>
          <a:xfrm>
            <a:off x="6355080" y="1188720"/>
            <a:ext cx="521208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32" descr="/tmp/deck/img/F32.png">    </p:cNvPr>
          <p:cNvPicPr>
            <a:picLocks noChangeAspect="1"/>
          </p:cNvPicPr>
          <p:nvPr/>
        </p:nvPicPr>
        <p:blipFill>
          <a:blip r:embed="rId2"/>
          <a:stretch>
            <a:fillRect/>
          </a:stretch>
        </p:blipFill>
        <p:spPr>
          <a:xfrm>
            <a:off x="6464808" y="2195528"/>
            <a:ext cx="4992624" cy="2466944"/>
          </a:xfrm>
          <a:prstGeom prst="rect">
            <a:avLst/>
          </a:prstGeom>
        </p:spPr>
      </p:pic>
      <p:sp>
        <p:nvSpPr>
          <p:cNvPr id="8" name="caption"/>
          <p:cNvSpPr txBox="1"/>
          <p:nvPr/>
        </p:nvSpPr>
        <p:spPr>
          <a:xfrm>
            <a:off x="640080" y="5806440"/>
            <a:ext cx="5486400" cy="320040"/>
          </a:xfrm>
          <a:prstGeom prst="rect">
            <a:avLst/>
          </a:prstGeom>
          <a:noFill/>
          <a:ln/>
        </p:spPr>
        <p:txBody>
          <a:bodyPr wrap="square" rtlCol="0" anchor="ctr"/>
          <a:lstStyle/>
          <a:p>
            <a:pPr algn="ctr" indent="0" marL="0">
              <a:buNone/>
            </a:pPr>
            <a:r>
              <a:rPr lang="en-US" sz="1200" i="1" dirty="0">
                <a:solidFill>
                  <a:srgbClr val="FFFFFF"/>
                </a:solidFill>
              </a:rPr>
              <a:t>All five checks pass: ALLOW</a:t>
            </a:r>
            <a:endParaRPr lang="en-US" sz="1200" dirty="0"/>
          </a:p>
        </p:txBody>
      </p:sp>
      <p:sp>
        <p:nvSpPr>
          <p:cNvPr id="9" name="caption"/>
          <p:cNvSpPr txBox="1"/>
          <p:nvPr/>
        </p:nvSpPr>
        <p:spPr>
          <a:xfrm>
            <a:off x="6355080" y="5806440"/>
            <a:ext cx="5212080" cy="320040"/>
          </a:xfrm>
          <a:prstGeom prst="rect">
            <a:avLst/>
          </a:prstGeom>
          <a:noFill/>
          <a:ln/>
        </p:spPr>
        <p:txBody>
          <a:bodyPr wrap="square" rtlCol="0" anchor="ctr"/>
          <a:lstStyle/>
          <a:p>
            <a:pPr algn="ctr" indent="0" marL="0">
              <a:buNone/>
            </a:pPr>
            <a:r>
              <a:rPr lang="en-US" sz="1200" i="1" dirty="0">
                <a:solidFill>
                  <a:srgbClr val="FFFFFF"/>
                </a:solidFill>
              </a:rPr>
              <a:t>Different jurisdiction: VL fails, access denied</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EVIDENCE ON THE PUBLIC CHAIN</a:t>
            </a:r>
            <a:endParaRPr lang="en-US" sz="3000" dirty="0"/>
          </a:p>
        </p:txBody>
      </p:sp>
      <p:sp>
        <p:nvSpPr>
          <p:cNvPr id="4" name="F37 panel"/>
          <p:cNvSpPr/>
          <p:nvPr/>
        </p:nvSpPr>
        <p:spPr>
          <a:xfrm>
            <a:off x="640080" y="1097280"/>
            <a:ext cx="5120640"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37" descr="/tmp/deck/img/F37.png">    </p:cNvPr>
          <p:cNvPicPr>
            <a:picLocks noChangeAspect="1"/>
          </p:cNvPicPr>
          <p:nvPr/>
        </p:nvPicPr>
        <p:blipFill>
          <a:blip r:embed="rId1"/>
          <a:stretch>
            <a:fillRect/>
          </a:stretch>
        </p:blipFill>
        <p:spPr>
          <a:xfrm>
            <a:off x="749808" y="1377711"/>
            <a:ext cx="4901184" cy="4422617"/>
          </a:xfrm>
          <a:prstGeom prst="rect">
            <a:avLst/>
          </a:prstGeom>
        </p:spPr>
      </p:pic>
      <p:sp>
        <p:nvSpPr>
          <p:cNvPr id="6" name="caption"/>
          <p:cNvSpPr txBox="1"/>
          <p:nvPr/>
        </p:nvSpPr>
        <p:spPr>
          <a:xfrm>
            <a:off x="640080" y="6172200"/>
            <a:ext cx="5120640" cy="320040"/>
          </a:xfrm>
          <a:prstGeom prst="rect">
            <a:avLst/>
          </a:prstGeom>
          <a:noFill/>
          <a:ln/>
        </p:spPr>
        <p:txBody>
          <a:bodyPr wrap="square" rtlCol="0" anchor="ctr"/>
          <a:lstStyle/>
          <a:p>
            <a:pPr algn="ctr" indent="0" marL="0">
              <a:buNone/>
            </a:pPr>
            <a:r>
              <a:rPr lang="en-US" sz="1200" i="1" dirty="0">
                <a:solidFill>
                  <a:srgbClr val="FFFFFF"/>
                </a:solidFill>
              </a:rPr>
              <a:t>Revocation of token #1 on Sepolia Etherscan, block 11,771,307</a:t>
            </a:r>
            <a:endParaRPr lang="en-US" sz="1200" dirty="0"/>
          </a:p>
        </p:txBody>
      </p:sp>
      <p:sp>
        <p:nvSpPr>
          <p:cNvPr id="7" name="chart panel"/>
          <p:cNvSpPr/>
          <p:nvPr/>
        </p:nvSpPr>
        <p:spPr>
          <a:xfrm>
            <a:off x="6035040" y="1097280"/>
            <a:ext cx="55778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graphicFrame>
        <p:nvGraphicFramePr>
          <p:cNvPr id="8" name="gas chart" descr=""/>
          <p:cNvGraphicFramePr/>
          <p:nvPr/>
        </p:nvGraphicFramePr>
        <p:xfrm>
          <a:off x="6172200" y="1234440"/>
          <a:ext cx="5303520" cy="51663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(1/6)</a:t>
            </a:r>
            <a:endParaRPr lang="en-US" sz="3000" dirty="0"/>
          </a:p>
        </p:txBody>
      </p:sp>
      <p:sp>
        <p:nvSpPr>
          <p:cNvPr id="4"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[1] A. Ghafoor, I. Symeonidis, A. Rydberg, C. Lindahl, and A. Q. Abbasi. Towards empowering stakeholders through decentralized trust and secure livestock data sharing. Cryptography, 9(3):52, 2025. doi:10.3390/cryptography9030052</a:t>
            </a:r>
            <a:endParaRPr lang="en-US" sz="1000" dirty="0"/>
          </a:p>
          <a:p>
            <a:pPr indent="0" marL="0">
              <a:spcAft>
                <a:spcPts val="400"/>
              </a:spcAft>
              <a:buNone/>
            </a:pPr>
            <a:r>
              <a:rPr lang="en-US" sz="1000" dirty="0">
                <a:solidFill>
                  <a:srgbClr val="0B1F33"/>
                </a:solidFill>
              </a:rPr>
              <a:t>[2] R. K. Lomotey, S. Kumi, and R. Deters. Data trusts as a service: Providing a platform for multi-party data sharing. International Journal of Information Management Data Insights, 2(1):100075, 2022. doi:10.1016/j.jjimei.2022.100075</a:t>
            </a:r>
            <a:endParaRPr lang="en-US" sz="1000" dirty="0"/>
          </a:p>
          <a:p>
            <a:pPr indent="0" marL="0">
              <a:spcAft>
                <a:spcPts val="400"/>
              </a:spcAft>
              <a:buNone/>
            </a:pPr>
            <a:r>
              <a:rPr lang="en-US" sz="1000" dirty="0">
                <a:solidFill>
                  <a:srgbClr val="0B1F33"/>
                </a:solidFill>
              </a:rPr>
              <a:t>[3] T. L. Nguyen, L. Nguyen, T. Hoang, D. Bandara, Q. Wang, Q. Lu, et al. Blockchain-empowered trustworthy data sharing: Fundamentals, applications, and challenges. ACM Computing Surveys, 57(8):195, 2025. doi:10.1145/3718082</a:t>
            </a:r>
            <a:endParaRPr lang="en-US" sz="1000" dirty="0"/>
          </a:p>
          <a:p>
            <a:pPr indent="0" marL="0">
              <a:spcAft>
                <a:spcPts val="400"/>
              </a:spcAft>
              <a:buNone/>
            </a:pPr>
            <a:r>
              <a:rPr lang="en-US" sz="1000" dirty="0">
                <a:solidFill>
                  <a:srgbClr val="0B1F33"/>
                </a:solidFill>
              </a:rPr>
              <a:t>[4] E. C. Webber, D. Brick, J. P. Scibilia, P. Dehnel, Council on Clinical Information Technology, et al. Electronic communication of the health record and information with pediatric patients and their guardians. Pediatrics, 144(1):e20191359, 2019. doi:10.1542/peds.2019-1359</a:t>
            </a:r>
            <a:endParaRPr lang="en-US" sz="1000" dirty="0"/>
          </a:p>
          <a:p>
            <a:pPr indent="0" marL="0">
              <a:spcAft>
                <a:spcPts val="400"/>
              </a:spcAft>
              <a:buNone/>
            </a:pPr>
            <a:r>
              <a:rPr lang="en-US" sz="1000" dirty="0">
                <a:solidFill>
                  <a:srgbClr val="0B1F33"/>
                </a:solidFill>
              </a:rPr>
              <a:t>[5] C. Welzel, M. Ostermann, H. L. Smith, T. Minssen, T. Kirsten, and S. Gilbert. Enabling secure and self determined health data sharing and consent management. npj Digital Medicine, 8(1):560, 2025. doi:10.1038/s41746-025-01945-z</a:t>
            </a:r>
            <a:endParaRPr lang="en-US" sz="1000" dirty="0"/>
          </a:p>
          <a:p>
            <a:pPr indent="0" marL="0">
              <a:spcAft>
                <a:spcPts val="400"/>
              </a:spcAft>
              <a:buNone/>
            </a:pPr>
            <a:r>
              <a:rPr lang="en-US" sz="1000" dirty="0">
                <a:solidFill>
                  <a:srgbClr val="0B1F33"/>
                </a:solidFill>
              </a:rPr>
              <a:t>[6] M. R. Narkhede, N. I. Wankhede, and A. M. Kamble. Enhancing patient autonomy in data ownership: Privacy models and consent frameworks for healthcare. Journal of Digital Health, 4(1):1–23, 2025. doi:10.55976/jdh.4202513361-23</a:t>
            </a:r>
            <a:endParaRPr lang="en-US" sz="1000" dirty="0"/>
          </a:p>
          <a:p>
            <a:pPr indent="0" marL="0">
              <a:spcAft>
                <a:spcPts val="400"/>
              </a:spcAft>
              <a:buNone/>
            </a:pPr>
            <a:r>
              <a:rPr lang="en-US" sz="1000" dirty="0">
                <a:solidFill>
                  <a:srgbClr val="0B1F33"/>
                </a:solidFill>
              </a:rPr>
              <a:t>[7] R. McClelland and C. M. Harper. Information privacy in healthcare — the vital role of informed consent. European Journal of Health Law, 30(4):469–480, 2023. doi:10.1163/15718093-bja10097</a:t>
            </a:r>
            <a:endParaRPr lang="en-US" sz="1000" dirty="0"/>
          </a:p>
          <a:p>
            <a:pPr indent="0" marL="0">
              <a:spcAft>
                <a:spcPts val="400"/>
              </a:spcAft>
              <a:buNone/>
            </a:pPr>
            <a:r>
              <a:rPr lang="en-US" sz="1000" dirty="0">
                <a:solidFill>
                  <a:srgbClr val="0B1F33"/>
                </a:solidFill>
              </a:rPr>
              <a:t>[8] K. Kaplow, M. Downey, D. Stewart, A. B. Massie, J. D. Motter, L. Taylor, et al. Data professionals’ attitudes on data privacy, sharing, and consent in healthcare and research. Digital Health, 10:20552076241290964, 2024. doi:10.1177/20552076241290964</a:t>
            </a:r>
            <a:endParaRPr lang="en-US" sz="1000" dirty="0"/>
          </a:p>
          <a:p>
            <a:pPr indent="0" marL="0">
              <a:spcAft>
                <a:spcPts val="400"/>
              </a:spcAft>
              <a:buNone/>
            </a:pPr>
            <a:r>
              <a:rPr lang="en-US" sz="1000" dirty="0">
                <a:solidFill>
                  <a:srgbClr val="0B1F33"/>
                </a:solidFill>
              </a:rPr>
              <a:t>[9] A. Nazir, M. H. Rehmani, B. Butler, and D. O’Shea. Access control in healthcare IoT: A comprehensive survey. Engineering Reports, 8(4):e70766, 2026. doi:10.1002/eng2.70766</a:t>
            </a:r>
            <a:endParaRPr lang="en-US" sz="1000" dirty="0"/>
          </a:p>
          <a:p>
            <a:pPr indent="0" marL="0">
              <a:spcAft>
                <a:spcPts val="400"/>
              </a:spcAft>
              <a:buNone/>
            </a:pPr>
            <a:r>
              <a:rPr lang="en-US" sz="1000" dirty="0">
                <a:solidFill>
                  <a:srgbClr val="0B1F33"/>
                </a:solidFill>
              </a:rPr>
              <a:t>[10] A. M. Tawfik, A. Al-Ahwal, A. S. Tag Eldien, and H. H. Zayed. Blockchain-based access control and privacy preservation in healthcare: A comprehensive survey. Cluster Computing, 28:529, 2025. doi:10.1007/s10586-025-05308-x</a:t>
            </a:r>
            <a:endParaRPr lang="en-US" sz="1000" dirty="0"/>
          </a:p>
          <a:p>
            <a:pPr indent="0" marL="0">
              <a:spcAft>
                <a:spcPts val="400"/>
              </a:spcAft>
              <a:buNone/>
            </a:pPr>
            <a:r>
              <a:rPr lang="en-US" sz="1000" dirty="0">
                <a:solidFill>
                  <a:srgbClr val="0B1F33"/>
                </a:solidFill>
              </a:rPr>
              <a:t>[11] A. M. Ibrahim, H. R. Abdel-Aziz, H. A. H. Mohamed, D. E. F. Zaghamir, N. M. I. Wahba, G. A. Hassan, et al. Balancing confidentiality and care coordination: Challenges in patient privacy. BMC Nursing, 23(1):564, 2024. doi:10.1186/s12912-024-02231-1</a:t>
            </a:r>
            <a:endParaRPr lang="en-US" sz="1000" dirty="0"/>
          </a:p>
          <a:p>
            <a:pPr indent="0" marL="0">
              <a:spcAft>
                <a:spcPts val="400"/>
              </a:spcAft>
              <a:buNone/>
            </a:pPr>
            <a:r>
              <a:rPr lang="en-US" sz="1000" dirty="0">
                <a:solidFill>
                  <a:srgbClr val="0B1F33"/>
                </a:solidFill>
              </a:rPr>
              <a:t>[12] L. Theodorakopoulos, A. Theodoropoulou, and C. Halkiopoulos. Enhancing decentralized decision-making with big data and blockchain technology: A comprehensive review. Applied Sciences, 14(16):7007, 2024. doi:10.3390/app14167007</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[13] A. Al Mamun, S. Azam, and C. Gritti. Blockchain-based electronic health records management: A comprehensive review and future research direction. IEEE Access, 10:5768–5789, 2022. doi:10.1109/ACCESS.2022.3141079</a:t>
            </a:r>
            <a:endParaRPr lang="en-US" sz="1000" dirty="0"/>
          </a:p>
          <a:p>
            <a:pPr indent="0" marL="0">
              <a:spcAft>
                <a:spcPts val="400"/>
              </a:spcAft>
              <a:buNone/>
            </a:pPr>
            <a:r>
              <a:rPr lang="en-US" sz="1000" dirty="0">
                <a:solidFill>
                  <a:srgbClr val="0B1F33"/>
                </a:solidFill>
              </a:rPr>
              <a:t>[14] R. Hellstern, D. C. Park, V. Lemieux, and G. Salimjan. Leveraging blockchain-based archival solutions for sensitive documentation: A Xinjiang case study. Digital Society, 1(1):4, 2022. doi:10.1007/s44206-022-00007-1</a:t>
            </a:r>
            <a:endParaRPr lang="en-US" sz="1000" dirty="0"/>
          </a:p>
          <a:p>
            <a:pPr indent="0" marL="0">
              <a:spcAft>
                <a:spcPts val="400"/>
              </a:spcAft>
              <a:buNone/>
            </a:pPr>
            <a:r>
              <a:rPr lang="en-US" sz="1000" dirty="0">
                <a:solidFill>
                  <a:srgbClr val="0B1F33"/>
                </a:solidFill>
              </a:rPr>
              <a:t>[15] L. Li, C. Z. Liu, and S. Shrestha. Analytical entropy approach for measuring blockchain immutability and tamper-resilient trust. Entropy, 28(6):690, 2026. doi:10.3390/e28060690</a:t>
            </a:r>
            <a:endParaRPr lang="en-US" sz="1000" dirty="0"/>
          </a:p>
          <a:p>
            <a:pPr indent="0" marL="0">
              <a:spcAft>
                <a:spcPts val="400"/>
              </a:spcAft>
              <a:buNone/>
            </a:pPr>
            <a:r>
              <a:rPr lang="en-US" sz="1000" dirty="0">
                <a:solidFill>
                  <a:srgbClr val="0B1F33"/>
                </a:solidFill>
              </a:rPr>
              <a:t>[16] C. Mazzocca, A. Acar, A. S. Uluagac, R. Montanari, P. Bellavista, and M. Conti. A survey on decentralized identifiers and verifiable credentials. IEEE Communications Surveys &amp; Tutorials, 27(6):3641–3671, 2025. doi:10.1109/COMST.2025.3543197</a:t>
            </a:r>
            <a:endParaRPr lang="en-US" sz="1000" dirty="0"/>
          </a:p>
          <a:p>
            <a:pPr indent="0" marL="0">
              <a:spcAft>
                <a:spcPts val="400"/>
              </a:spcAft>
              <a:buNone/>
            </a:pPr>
            <a:r>
              <a:rPr lang="en-US" sz="1000" dirty="0">
                <a:solidFill>
                  <a:srgbClr val="0B1F33"/>
                </a:solidFill>
              </a:rPr>
              <a:t>[17] A. Flamini, G. Sciarretta, M. Scuro, A. Sharif, A. Tomasi, and S. Ranise. On cryptographic mechanisms for the selective disclosure of verifiable credentials. Journal of Information Security and Applications, 83:103789, 2024. doi:10.1016/j.jisa.2024.103789</a:t>
            </a:r>
            <a:endParaRPr lang="en-US" sz="1000" dirty="0"/>
          </a:p>
          <a:p>
            <a:pPr indent="0" marL="0">
              <a:spcAft>
                <a:spcPts val="400"/>
              </a:spcAft>
              <a:buNone/>
            </a:pPr>
            <a:r>
              <a:rPr lang="en-US" sz="1000" dirty="0">
                <a:solidFill>
                  <a:srgbClr val="0B1F33"/>
                </a:solidFill>
              </a:rPr>
              <a:t>[18] J. Andrew, D. P. Isravel, K. M. Sagayam, B. Bhushan, Y. Sei, and J. Eunice. Blockchain for healthcare systems: Architecture, security challenges, trends and future directions. Journal of Network and Computer Applications, 215:103633, 2023. doi:10.1016/j.jnca.2023.103633</a:t>
            </a:r>
            <a:endParaRPr lang="en-US" sz="1000" dirty="0"/>
          </a:p>
          <a:p>
            <a:pPr indent="0" marL="0">
              <a:spcAft>
                <a:spcPts val="400"/>
              </a:spcAft>
              <a:buNone/>
            </a:pPr>
            <a:r>
              <a:rPr lang="en-US" sz="1000" dirty="0">
                <a:solidFill>
                  <a:srgbClr val="0B1F33"/>
                </a:solidFill>
              </a:rPr>
              <a:t>[19] M. I. Khalid, M. Ahmed, M. Helfert, and J. Kim. Privacy-first paradigm for dynamic consent management systems: Empowering data subjects through decentralized data controllers and privacy-preserving techniques. Electronics, 12(24):4973, 2023. doi:10.3390/electronics12244973</a:t>
            </a:r>
            <a:endParaRPr lang="en-US" sz="1000" dirty="0"/>
          </a:p>
          <a:p>
            <a:pPr indent="0" marL="0">
              <a:spcAft>
                <a:spcPts val="400"/>
              </a:spcAft>
              <a:buNone/>
            </a:pPr>
            <a:r>
              <a:rPr lang="en-US" sz="1000" dirty="0">
                <a:solidFill>
                  <a:srgbClr val="0B1F33"/>
                </a:solidFill>
              </a:rPr>
              <a:t>[20] V. Jesus and H. J. Pandit. Consent receipts for a usable and auditable web of personal data. IEEE Access, 10:28545–28563, 2022. doi:10.1109/ACCESS.2022.3157850</a:t>
            </a:r>
            <a:endParaRPr lang="en-US" sz="1000" dirty="0"/>
          </a:p>
          <a:p>
            <a:pPr indent="0" marL="0">
              <a:spcAft>
                <a:spcPts val="400"/>
              </a:spcAft>
              <a:buNone/>
            </a:pPr>
            <a:r>
              <a:rPr lang="en-US" sz="1000" dirty="0">
                <a:solidFill>
                  <a:srgbClr val="0B1F33"/>
                </a:solidFill>
              </a:rPr>
              <a:t>[21] S. Phuyal, M. Bhandari, R. Bista, and J. C. Ferreira. Enabling cross-institution health data sharing in Norway: EUDI wallets, on-chain consent, and openEHR↔FHIR translation. IEEE Access, 14:20309–20327, 2026. doi:10.1109/ACCESS.2026.3661642</a:t>
            </a:r>
            <a:endParaRPr lang="en-US" sz="1000" dirty="0"/>
          </a:p>
          <a:p>
            <a:pPr indent="0" marL="0">
              <a:spcAft>
                <a:spcPts val="400"/>
              </a:spcAft>
              <a:buNone/>
            </a:pPr>
            <a:r>
              <a:rPr lang="en-US" sz="1000" dirty="0">
                <a:solidFill>
                  <a:srgbClr val="0B1F33"/>
                </a:solidFill>
              </a:rPr>
              <a:t>[22] Z. Wu and D. Zhang. HealthDID: An efficient and authorizable multi-party privacy-preserving EMR sharing system based on DID. Computer Standards &amp; Interfaces, 93:103967, 2025. doi:10.1016/j.csi.2024.103967</a:t>
            </a:r>
            <a:endParaRPr lang="en-US" sz="1000" dirty="0"/>
          </a:p>
          <a:p>
            <a:pPr indent="0" marL="0">
              <a:spcAft>
                <a:spcPts val="400"/>
              </a:spcAft>
              <a:buNone/>
            </a:pPr>
            <a:r>
              <a:rPr lang="en-US" sz="1000" dirty="0">
                <a:solidFill>
                  <a:srgbClr val="0B1F33"/>
                </a:solidFill>
              </a:rPr>
              <a:t>[23] M. M. Madine, K. Salah, R. Jayaraman, I. Yaqoob, Y. Al-Hammadi, S. Ellahham, et al. Fully decentralized multi-party consent management for secure sharing of patient health records. IEEE Access, 8:225777–225791, 2020. doi:10.1109/ACCESS.2020.3045048</a:t>
            </a:r>
            <a:endParaRPr lang="en-US" sz="1000" dirty="0"/>
          </a:p>
          <a:p>
            <a:pPr indent="0" marL="0">
              <a:spcAft>
                <a:spcPts val="400"/>
              </a:spcAft>
              <a:buNone/>
            </a:pPr>
            <a:r>
              <a:rPr lang="en-US" sz="1000" dirty="0">
                <a:solidFill>
                  <a:srgbClr val="0B1F33"/>
                </a:solidFill>
              </a:rPr>
              <a:t>[24] D. Tith, J.-S. Lee, H. Suzuki, W. M. A. B. Wijesundara, N. Taira, T. Obi, et al. Patient consent management by a purpose-based consent model for electronic health record based on blockchain technology. Healthcare Informatics Research, 26(4):265–273, 2020. doi:10.4258/hir.2020.26.4.265</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[25] A. Punia, P. Gulia, N. S. Gill, D. Kaushik, N. Alduaiji, P. K. Shukla, et al. An access control system for cloud-based healthcare systems driven by blockchain. Journal of Cloud Computing, 14(1):78, 2025. doi:10.1186/s13677-025-00831-z</a:t>
            </a:r>
            <a:endParaRPr lang="en-US" sz="1000" dirty="0"/>
          </a:p>
          <a:p>
            <a:pPr indent="0" marL="0">
              <a:spcAft>
                <a:spcPts val="400"/>
              </a:spcAft>
              <a:buNone/>
            </a:pPr>
            <a:r>
              <a:rPr lang="en-US" sz="1000" dirty="0">
                <a:solidFill>
                  <a:srgbClr val="0B1F33"/>
                </a:solidFill>
              </a:rPr>
              <a:t>[26] K.-L. Tan, C.-H. Chi, and K.-Y. Lam. Secure and privacy-preserving sharing of personal health records with multi-party pre-authorization verification. Wireless Networks, 30(4):4773–4795, 2024. doi:10.1007/s11276-022-03114-6</a:t>
            </a:r>
            <a:endParaRPr lang="en-US" sz="1000" dirty="0"/>
          </a:p>
          <a:p>
            <a:pPr indent="0" marL="0">
              <a:spcAft>
                <a:spcPts val="400"/>
              </a:spcAft>
              <a:buNone/>
            </a:pPr>
            <a:r>
              <a:rPr lang="en-US" sz="1000" dirty="0">
                <a:solidFill>
                  <a:srgbClr val="0B1F33"/>
                </a:solidFill>
              </a:rPr>
              <a:t>[27] K. Ekholm, A. Augustinsson, J. Sundström, C. Johansen, M. Storgärds, L. Ljöstad, et al. Implementing electronic informed consent in rare disease genomics. Scientific Reports, 15(1):44419, 2025. doi:10.1038/s41598-025-32740-1</a:t>
            </a:r>
            <a:endParaRPr lang="en-US" sz="1000" dirty="0"/>
          </a:p>
          <a:p>
            <a:pPr indent="0" marL="0">
              <a:spcAft>
                <a:spcPts val="400"/>
              </a:spcAft>
              <a:buNone/>
            </a:pPr>
            <a:r>
              <a:rPr lang="en-US" sz="1000" dirty="0">
                <a:solidFill>
                  <a:srgbClr val="0B1F33"/>
                </a:solidFill>
              </a:rPr>
              <a:t>[28] A. U. Eneh, L. A. C. Ahakonye, J. M. Lee, and D.-S. Kim. Demo: EdgeConsent: On-chain attribute-based access control for data consent management. In 2026 IEEE International Conference on Blockchain and Cryptocurrency (ICBC), pages 1–2, 2026. doi:10.1109/ICBC67748.2026.11575534</a:t>
            </a:r>
            <a:endParaRPr lang="en-US" sz="1000" dirty="0"/>
          </a:p>
          <a:p>
            <a:pPr indent="0" marL="0">
              <a:spcAft>
                <a:spcPts val="400"/>
              </a:spcAft>
              <a:buNone/>
            </a:pPr>
            <a:r>
              <a:rPr lang="en-US" sz="1000" dirty="0">
                <a:solidFill>
                  <a:srgbClr val="0B1F33"/>
                </a:solidFill>
              </a:rPr>
              <a:t>[29] D. P. Panagoulias, A. I. Damian, C. Stamate, V. Toderian, P. Butusina, A. De Franceschi, et al. Blockchain-enabled trust and compliance for clinical AI: Decentralized governance without decentralized data storage. Electronics, 15(14):3046, 2026. doi:10.3390/electronics15143046</a:t>
            </a:r>
            <a:endParaRPr lang="en-US" sz="1000" dirty="0"/>
          </a:p>
          <a:p>
            <a:pPr indent="0" marL="0">
              <a:spcAft>
                <a:spcPts val="400"/>
              </a:spcAft>
              <a:buNone/>
            </a:pPr>
            <a:r>
              <a:rPr lang="en-US" sz="1000" dirty="0">
                <a:solidFill>
                  <a:srgbClr val="0B1F33"/>
                </a:solidFill>
              </a:rPr>
              <a:t>[30] I. Román-Martínez, J. Calvillo-Arbizu, V. J. Mayor-Gallego, G. Madinabeitia-Luque, A. J. Estepa-Alonso, and R. M. Estepa-Alonso. Blockchain-based service-oriented architecture for consent management, access control, and auditing. IEEE Access, 11:12727–12741, 2023. doi:10.1109/ACCESS.2023.3242605</a:t>
            </a:r>
            <a:endParaRPr lang="en-US" sz="1000" dirty="0"/>
          </a:p>
          <a:p>
            <a:pPr indent="0" marL="0">
              <a:spcAft>
                <a:spcPts val="400"/>
              </a:spcAft>
              <a:buNone/>
            </a:pPr>
            <a:r>
              <a:rPr lang="en-US" sz="1000" dirty="0">
                <a:solidFill>
                  <a:srgbClr val="0B1F33"/>
                </a:solidFill>
              </a:rPr>
              <a:t>[31] B. Khayer, S. Mirzaei, H. Alavizadeh, and A. Salehi Shahraki. Blockchain for secure IoT: A review of identity management, access control, and trust mechanisms. IoT, 6(4):65, 2025. doi:10.3390/iot6040065</a:t>
            </a:r>
            <a:endParaRPr lang="en-US" sz="1000" dirty="0"/>
          </a:p>
          <a:p>
            <a:pPr indent="0" marL="0">
              <a:spcAft>
                <a:spcPts val="400"/>
              </a:spcAft>
              <a:buNone/>
            </a:pPr>
            <a:r>
              <a:rPr lang="en-US" sz="1000" dirty="0">
                <a:solidFill>
                  <a:srgbClr val="0B1F33"/>
                </a:solidFill>
              </a:rPr>
              <a:t>[32] J. C. Ferreira, R. Correia, L. Rosário, and A. Vila. Blockchain integration for trust and consent management in MCP-enabled FHIR systems. In 2025 IEEE International Conference on Distributed Ledger Technologies (ICDLT), pages 1–10, 2025. doi:10.1109/ICDLT66400.2025.11466653</a:t>
            </a:r>
            <a:endParaRPr lang="en-US" sz="1000" dirty="0"/>
          </a:p>
          <a:p>
            <a:pPr indent="0" marL="0">
              <a:spcAft>
                <a:spcPts val="400"/>
              </a:spcAft>
              <a:buNone/>
            </a:pPr>
            <a:r>
              <a:rPr lang="en-US" sz="1000" dirty="0">
                <a:solidFill>
                  <a:srgbClr val="0B1F33"/>
                </a:solidFill>
              </a:rPr>
              <a:t>[33] J. Ménétrey, C. Göttel, A. Khurshid, M. Pasin, P. Felber, V. Schiavoni, et al. Attestation mechanisms for trusted execution environments demystified. In IFIP International Conference on Distributed Applications and Interoperable Systems (DAIS 2022), LNCS, vol. 13272, pages 95–113. Springer, 2022. doi:10.1007/978-3-031-16092-9_7</a:t>
            </a:r>
            <a:endParaRPr lang="en-US" sz="1000" dirty="0"/>
          </a:p>
          <a:p>
            <a:pPr indent="0" marL="0">
              <a:spcAft>
                <a:spcPts val="400"/>
              </a:spcAft>
              <a:buNone/>
            </a:pPr>
            <a:r>
              <a:rPr lang="en-US" sz="1000" dirty="0">
                <a:solidFill>
                  <a:srgbClr val="0B1F33"/>
                </a:solidFill>
              </a:rPr>
              <a:t>[34] L. Li, C. Z. Liu, K. Huang, R. Deng, M. A. Alrowaily, M. Alghamdi, et al. Trust-aware environmental state consensus for smart agriculture with TEE-enabled sensing and Byzantine-resilient blockchain coordination. Sensors, 26(14):4577, 2026. doi:10.3390/s26144577</a:t>
            </a:r>
            <a:endParaRPr lang="en-US" sz="1000" dirty="0"/>
          </a:p>
          <a:p>
            <a:pPr indent="0" marL="0">
              <a:spcAft>
                <a:spcPts val="400"/>
              </a:spcAft>
              <a:buNone/>
            </a:pPr>
            <a:r>
              <a:rPr lang="en-US" sz="1000" dirty="0">
                <a:solidFill>
                  <a:srgbClr val="0B1F33"/>
                </a:solidFill>
              </a:rPr>
              <a:t>[35] J. Walonoski, M. Kramer, J. Nichols, A. Quina, C. Moesel, D. Hall, et al. Synthea: An approach, method, and software mechanism for generating synthetic patients and the synthetic electronic health care record. Journal of the American Medical Informatics Association, 25(3):230–238, 2018. doi:10.1093/jamia/ocx079</a:t>
            </a:r>
            <a:endParaRPr lang="en-US" sz="1000" dirty="0"/>
          </a:p>
          <a:p>
            <a:pPr indent="0" marL="0">
              <a:spcAft>
                <a:spcPts val="400"/>
              </a:spcAft>
              <a:buNone/>
            </a:pPr>
            <a:r>
              <a:rPr lang="en-US" sz="1000" dirty="0">
                <a:solidFill>
                  <a:srgbClr val="0B1F33"/>
                </a:solidFill>
              </a:rPr>
              <a:t>[36] A. Kharlamov, R. Hohmann, and G. Parry. Data sharing decisions: Perceptions and intentions in healthcare. Strategic Change, 32(6):223–237, 2023. doi:10.1002/jsc.2558</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(4/6)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[37] P. K. Ghosh, A. Chakraborty, M. Hasan, K. Rashid, and A. H. Siddique. Blockchain application in healthcare systems: A review. Systems, 11(1):38, 2023. doi:10.3390/systems11010038</a:t>
            </a:r>
            <a:endParaRPr lang="en-US" sz="1000" dirty="0"/>
          </a:p>
          <a:p>
            <a:pPr indent="0" marL="0">
              <a:spcAft>
                <a:spcPts val="400"/>
              </a:spcAft>
              <a:buNone/>
            </a:pPr>
            <a:r>
              <a:rPr lang="en-US" sz="1000" dirty="0">
                <a:solidFill>
                  <a:srgbClr val="0B1F33"/>
                </a:solidFill>
              </a:rPr>
              <a:t>[38] M. S. Arbabi, C. Lal, N. R. Veeraragavan, D. Marijan, J. F. Nygård, and R. Vitenberg. A survey on blockchain for healthcare: Challenges, benefits, and future directions. IEEE Communications Surveys &amp; Tutorials, 25(1):386–424, 2023. doi:10.1109/COMST.2022.3224644</a:t>
            </a:r>
            <a:endParaRPr lang="en-US" sz="1000" dirty="0"/>
          </a:p>
          <a:p>
            <a:pPr indent="0" marL="0">
              <a:spcAft>
                <a:spcPts val="400"/>
              </a:spcAft>
              <a:buNone/>
            </a:pPr>
            <a:r>
              <a:rPr lang="en-US" sz="1000" dirty="0">
                <a:solidFill>
                  <a:srgbClr val="0B1F33"/>
                </a:solidFill>
              </a:rPr>
              <a:t>[39] M. N. Turan, I. A. Hashimzai, and M. Q. Qiam. A blockchain-based framework for secure and transparent environmental data sharing in smart cities: Enhancing trust, integrity, and interoperability in urban sustainability systems. Nata Palemahan: Journal of Environmental Engineering Innovations, 2(2):70–79, 2025. doi:10.38043/natapalemahan.v2i2.6996</a:t>
            </a:r>
            <a:endParaRPr lang="en-US" sz="1000" dirty="0"/>
          </a:p>
          <a:p>
            <a:pPr indent="0" marL="0">
              <a:spcAft>
                <a:spcPts val="400"/>
              </a:spcAft>
              <a:buNone/>
            </a:pPr>
            <a:r>
              <a:rPr lang="en-US" sz="1000" dirty="0">
                <a:solidFill>
                  <a:srgbClr val="0B1F33"/>
                </a:solidFill>
              </a:rPr>
              <a:t>[40] J. Yin, Y. Xiao, Q. Chen, Y. Z. Lim, X. Liu, Q. Pei, et al. DP-DID: A dynamic and proactive decentralized identity system. IEEE Transactions on Information Forensics and Security, 20:4999–5014, 2025. doi:10.1109/TIFS.2025.3561662</a:t>
            </a:r>
            <a:endParaRPr lang="en-US" sz="1000" dirty="0"/>
          </a:p>
          <a:p>
            <a:pPr indent="0" marL="0">
              <a:spcAft>
                <a:spcPts val="400"/>
              </a:spcAft>
              <a:buNone/>
            </a:pPr>
            <a:r>
              <a:rPr lang="en-US" sz="1000" dirty="0">
                <a:solidFill>
                  <a:srgbClr val="0B1F33"/>
                </a:solidFill>
              </a:rPr>
              <a:t>[41] H. Deng, J. Liang, C. Zhang, X. Liu, L. Zhu, and S. Guo. FutureDID: A fully decentralized identity system with multi-party verification. IEEE Transactions on Computers, 73(8):2051–2065, 2024. doi:10.1109/TC.2024.3398509</a:t>
            </a:r>
            <a:endParaRPr lang="en-US" sz="1000" dirty="0"/>
          </a:p>
          <a:p>
            <a:pPr indent="0" marL="0">
              <a:spcAft>
                <a:spcPts val="400"/>
              </a:spcAft>
              <a:buNone/>
            </a:pPr>
            <a:r>
              <a:rPr lang="en-US" sz="1000" dirty="0">
                <a:solidFill>
                  <a:srgbClr val="0B1F33"/>
                </a:solidFill>
              </a:rPr>
              <a:t>[42] C. D. Nassar Kyriakidou, A. M. Papathanasiou, and G. C. Polyzos. Decentralized identity with applications to security and privacy for the internet of things. Computer Networks and Communications, 1(2):244–271, 2023. doi:10.37256/cnc.1220233048</a:t>
            </a:r>
            <a:endParaRPr lang="en-US" sz="1000" dirty="0"/>
          </a:p>
          <a:p>
            <a:pPr indent="0" marL="0">
              <a:spcAft>
                <a:spcPts val="400"/>
              </a:spcAft>
              <a:buNone/>
            </a:pPr>
            <a:r>
              <a:rPr lang="en-US" sz="1000" dirty="0">
                <a:solidFill>
                  <a:srgbClr val="0B1F33"/>
                </a:solidFill>
              </a:rPr>
              <a:t>[43] R. P. Parameswarath, P. Gope, and B. Sikdar. User-empowered privacy-preserving authentication protocol for electric vehicle charging based on decentralized identity and verifiable credential. ACM Transactions on Management Information Systems, 13(4):44, 2022. doi:10.1145/3532869</a:t>
            </a:r>
            <a:endParaRPr lang="en-US" sz="1000" dirty="0"/>
          </a:p>
          <a:p>
            <a:pPr indent="0" marL="0">
              <a:spcAft>
                <a:spcPts val="400"/>
              </a:spcAft>
              <a:buNone/>
            </a:pPr>
            <a:r>
              <a:rPr lang="en-US" sz="1000" dirty="0">
                <a:solidFill>
                  <a:srgbClr val="0B1F33"/>
                </a:solidFill>
              </a:rPr>
              <a:t>[44] H. Yin, Y. Zhao, L. Zhang, B. Qiao, W. Chen, and H. Wang. Attribute-based searchable encryption with decentralized key management for healthcare data sharing. Journal of Systems Architecture, 148:103081, 2024. doi:10.1016/j.sysarc.2024.103081</a:t>
            </a:r>
            <a:endParaRPr lang="en-US" sz="1000" dirty="0"/>
          </a:p>
          <a:p>
            <a:pPr indent="0" marL="0">
              <a:spcAft>
                <a:spcPts val="400"/>
              </a:spcAft>
              <a:buNone/>
            </a:pPr>
            <a:r>
              <a:rPr lang="en-US" sz="1000" dirty="0">
                <a:solidFill>
                  <a:srgbClr val="0B1F33"/>
                </a:solidFill>
              </a:rPr>
              <a:t>[45] R. Jiang, X. Chen, Y. Yu, Y. Zhang, and W. Ding. Risk and UCON-based access control model for healthcare big data. Journal of Big Data, 10(1):104, 2023. doi:10.1186/s40537-023-00783-8</a:t>
            </a:r>
            <a:endParaRPr lang="en-US" sz="1000" dirty="0"/>
          </a:p>
          <a:p>
            <a:pPr indent="0" marL="0">
              <a:spcAft>
                <a:spcPts val="400"/>
              </a:spcAft>
              <a:buNone/>
            </a:pPr>
            <a:r>
              <a:rPr lang="en-US" sz="1000" dirty="0">
                <a:solidFill>
                  <a:srgbClr val="0B1F33"/>
                </a:solidFill>
              </a:rPr>
              <a:t>[46] M. J. Page, J. E. McKenzie, P. M. Bossuyt, I. Boutron, T. C. Hoffmann, C. D. Mulrow, et al. The PRISMA 2020 statement: An updated guideline for reporting systematic reviews. BMJ, 372:n71, 2021. doi:10.1136/bmj.n71</a:t>
            </a:r>
            <a:endParaRPr lang="en-US" sz="1000" dirty="0"/>
          </a:p>
          <a:p>
            <a:pPr indent="0" marL="0">
              <a:spcAft>
                <a:spcPts val="400"/>
              </a:spcAft>
              <a:buNone/>
            </a:pPr>
            <a:r>
              <a:rPr lang="en-US" sz="1000" dirty="0">
                <a:solidFill>
                  <a:srgbClr val="0B1F33"/>
                </a:solidFill>
              </a:rPr>
              <a:t>[47] V. Jaiman and V. Urovi. A consent model for blockchain-based health data sharing platforms. IEEE Access, 8:143734–143745, 2020. doi:10.1109/ACCESS.2020.3014565</a:t>
            </a:r>
            <a:endParaRPr lang="en-US" sz="1000" dirty="0"/>
          </a:p>
          <a:p>
            <a:pPr indent="0" marL="0">
              <a:spcAft>
                <a:spcPts val="400"/>
              </a:spcAft>
              <a:buNone/>
            </a:pPr>
            <a:r>
              <a:rPr lang="en-US" sz="1000" dirty="0">
                <a:solidFill>
                  <a:srgbClr val="0B1F33"/>
                </a:solidFill>
              </a:rPr>
              <a:t>[48] F. Albalwy, A. Brass, and A. Davies. A blockchain-based dynamic consent architecture to support clinical genomic data sharing (ConsentChain): Proof-of-concept study. JMIR Medical Informatics, 9(11):e27816, 2021. doi:10.2196/27816</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(5/6)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[49] H. Li, D. Li, G. Lv, N. Crespi, R. Minerva, W. Shao, et al. Privacy-preserving fine-grained EMR access control for IoMT: A hybrid RBAC-smart contract scheme with attribute-based authorization. IEEE Internet of Things Journal, 13(2):2970–2987, 2026. doi:10.1109/JIOT.2025.3633504</a:t>
            </a:r>
            <a:endParaRPr lang="en-US" sz="1000" dirty="0"/>
          </a:p>
          <a:p>
            <a:pPr indent="0" marL="0">
              <a:spcAft>
                <a:spcPts val="400"/>
              </a:spcAft>
              <a:buNone/>
            </a:pPr>
            <a:r>
              <a:rPr lang="en-US" sz="1000" dirty="0">
                <a:solidFill>
                  <a:srgbClr val="0B1F33"/>
                </a:solidFill>
              </a:rPr>
              <a:t>[50] A. Abbasi, M. N. Humeidi, and Q. Wang. Nexa: Enabling secure, scalable, and decentralized management of electronic health records using threshold cryptography and public blockchains. IEEE Access, 14:50791–50810, 2026. doi:10.1109/ACCESS.2026.3677499</a:t>
            </a:r>
            <a:endParaRPr lang="en-US" sz="1000" dirty="0"/>
          </a:p>
          <a:p>
            <a:pPr indent="0" marL="0">
              <a:spcAft>
                <a:spcPts val="400"/>
              </a:spcAft>
              <a:buNone/>
            </a:pPr>
            <a:r>
              <a:rPr lang="en-US" sz="1000" dirty="0">
                <a:solidFill>
                  <a:srgbClr val="0B1F33"/>
                </a:solidFill>
              </a:rPr>
              <a:t>[51] M. Al Amin, A. Altarawneh, and I. Ray. Informed consent as patient driven policy for clinical diagnosis and treatment: A smart contract based approach. In Proceedings of the 20th International Conference on Security and Cryptography (SECRYPT 2023), pages 159–170. SciTePress, 2023. doi:10.5220/0012090600003555</a:t>
            </a:r>
            <a:endParaRPr lang="en-US" sz="1000" dirty="0"/>
          </a:p>
          <a:p>
            <a:pPr indent="0" marL="0">
              <a:spcAft>
                <a:spcPts val="400"/>
              </a:spcAft>
              <a:buNone/>
            </a:pPr>
            <a:r>
              <a:rPr lang="en-US" sz="1000" dirty="0">
                <a:solidFill>
                  <a:srgbClr val="0B1F33"/>
                </a:solidFill>
              </a:rPr>
              <a:t>[52] J. Hagström, M. Hägglund, M. Holmroos, P. Lähteenmäki, and I. Hörhammer. Minors’ and guardian access to and use of a national patient portal: A retrospective comparative case study of Sweden and Finland. International Journal of Medical Informatics, 187:105465, 2024. doi:10.1016/j.ijmedinf.2024.105465</a:t>
            </a:r>
            <a:endParaRPr lang="en-US" sz="1000" dirty="0"/>
          </a:p>
          <a:p>
            <a:pPr indent="0" marL="0">
              <a:spcAft>
                <a:spcPts val="400"/>
              </a:spcAft>
              <a:buNone/>
            </a:pPr>
            <a:r>
              <a:rPr lang="en-US" sz="1000" dirty="0">
                <a:solidFill>
                  <a:srgbClr val="0B1F33"/>
                </a:solidFill>
              </a:rPr>
              <a:t>[53] J. Zhao and Q. Su. A threshold traceable delegation authorization scheme for data sharing in healthcare. Computers &amp; Security, 139:103686, 2024. doi:10.1016/j.cose.2023.103686</a:t>
            </a:r>
            <a:endParaRPr lang="en-US" sz="1000" dirty="0"/>
          </a:p>
          <a:p>
            <a:pPr indent="0" marL="0">
              <a:spcAft>
                <a:spcPts val="400"/>
              </a:spcAft>
              <a:buNone/>
            </a:pPr>
            <a:r>
              <a:rPr lang="en-US" sz="1000" dirty="0">
                <a:solidFill>
                  <a:srgbClr val="0B1F33"/>
                </a:solidFill>
              </a:rPr>
              <a:t>[54] V. Maruthi and K. Singh. Enhancing security and privacy of IoMT data for unconscious patient with blockchain. IEEE Transactions on Network and Service Management, 22(6):5223–5238, 2025. doi:10.1109/TNSM.2025.3602117</a:t>
            </a:r>
            <a:endParaRPr lang="en-US" sz="1000" dirty="0"/>
          </a:p>
          <a:p>
            <a:pPr indent="0" marL="0">
              <a:spcAft>
                <a:spcPts val="400"/>
              </a:spcAft>
              <a:buNone/>
            </a:pPr>
            <a:r>
              <a:rPr lang="en-US" sz="1000" dirty="0">
                <a:solidFill>
                  <a:srgbClr val="0B1F33"/>
                </a:solidFill>
              </a:rPr>
              <a:t>[55] L. Mei, K. Huang, X. Li, H. Wang, and X. Zhang. Efficient dual-revocation CP-ABE for secure and fine-grained data sharing in IoMT. IEEE Internet of Things Journal, 13(14):30933–30940, 2026. doi:10.1109/JIOT.2026.3685269</a:t>
            </a:r>
            <a:endParaRPr lang="en-US" sz="1000" dirty="0"/>
          </a:p>
          <a:p>
            <a:pPr indent="0" marL="0">
              <a:spcAft>
                <a:spcPts val="400"/>
              </a:spcAft>
              <a:buNone/>
            </a:pPr>
            <a:r>
              <a:rPr lang="en-US" sz="1000" dirty="0">
                <a:solidFill>
                  <a:srgbClr val="0B1F33"/>
                </a:solidFill>
              </a:rPr>
              <a:t>[56] S. Phuyal, M. Bhandari, R. Bista, and J. C. Ferreira. A blockchain-based architecture for dynamic and auditable patient consent in secondary use of health data. Blockchain in Healthcare Today, 9(1):491, 2026. doi:10.30953/bhty.v9.491</a:t>
            </a:r>
            <a:endParaRPr lang="en-US" sz="1000" dirty="0"/>
          </a:p>
          <a:p>
            <a:pPr indent="0" marL="0">
              <a:spcAft>
                <a:spcPts val="400"/>
              </a:spcAft>
              <a:buNone/>
            </a:pPr>
            <a:r>
              <a:rPr lang="en-US" sz="1000" dirty="0">
                <a:solidFill>
                  <a:srgbClr val="0B1F33"/>
                </a:solidFill>
              </a:rPr>
              <a:t>[57] S. Hema, G. B. S. Reddy, and R. Shalini. Patient centric cryptographic protection of cloud electronic health records. In 2026 6th International Conference on Expert Clouds and Applications (ICOECA), pages 293–300, 2026. doi:10.1109/ICOECA68095.2026.11485301</a:t>
            </a:r>
            <a:endParaRPr lang="en-US" sz="1000" dirty="0"/>
          </a:p>
          <a:p>
            <a:pPr indent="0" marL="0">
              <a:spcAft>
                <a:spcPts val="400"/>
              </a:spcAft>
              <a:buNone/>
            </a:pPr>
            <a:r>
              <a:rPr lang="en-US" sz="1000" dirty="0">
                <a:solidFill>
                  <a:srgbClr val="0B1F33"/>
                </a:solidFill>
              </a:rPr>
              <a:t>[58] S. L. SooHoo, M. S. Keller, Y. Chen, D. Hu, S.-C. Huang, T.-T. Kuo, et al. Development of the authentication and authorization processes for the iAgree portal, a platform for patient-controlled data sharing across health systems. JAMIA Open, 9(3):ooag111, 2026. doi:10.1093/jamiaopen/ooag111</a:t>
            </a:r>
            <a:endParaRPr lang="en-US" sz="1000" dirty="0"/>
          </a:p>
          <a:p>
            <a:pPr indent="0" marL="0">
              <a:spcAft>
                <a:spcPts val="400"/>
              </a:spcAft>
              <a:buNone/>
            </a:pPr>
            <a:r>
              <a:rPr lang="en-US" sz="1000" dirty="0">
                <a:solidFill>
                  <a:srgbClr val="0B1F33"/>
                </a:solidFill>
              </a:rPr>
              <a:t>[59] G. Tremper, T. Brenner, M. Ben Amor, T. Kussel, and M. Lablans. Mainzelliste: Ten years of pseudonymization, record linkage, and informed consent management. Patterns, 7(1):101432, 2026. doi:10.1016/j.patter.2025.101432</a:t>
            </a:r>
            <a:endParaRPr lang="en-US" sz="1000" dirty="0"/>
          </a:p>
          <a:p>
            <a:pPr indent="0" marL="0">
              <a:spcAft>
                <a:spcPts val="400"/>
              </a:spcAft>
              <a:buNone/>
            </a:pPr>
            <a:r>
              <a:rPr lang="en-US" sz="1000" dirty="0">
                <a:solidFill>
                  <a:srgbClr val="0B1F33"/>
                </a:solidFill>
              </a:rPr>
              <a:t>[60] C.-H. Tseng, Y.-H. Hsieh, H.-Y. Lin, and S.-M. Yuan. EMR-Chain: Decentralized electronic medical record exchange system. Technologies, 13(10):446, 2025. doi:10.3390/technologies13100446</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(6/6)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[61] Y. Wu, C. Liu, L. Sebald, P. Nguyen, and Y. Yesha. Apply trust computing and privacy preserving smart contracts to manage, share, and analyze multi-site clinical trial data. In Proceedings of the International Conference on Deep Learning, Big Data and Blockchain (DBB 2022), LNNS, vol. 541, pages 3–14. Springer, 2022. doi:10.1007/978-3-031-16035-6_1</a:t>
            </a:r>
            <a:endParaRPr lang="en-US" sz="1000" dirty="0"/>
          </a:p>
          <a:p>
            <a:pPr indent="0" marL="0">
              <a:spcAft>
                <a:spcPts val="400"/>
              </a:spcAft>
              <a:buNone/>
            </a:pPr>
            <a:r>
              <a:rPr lang="en-US" sz="1000" dirty="0">
                <a:solidFill>
                  <a:srgbClr val="0B1F33"/>
                </a:solidFill>
              </a:rPr>
              <a:t>[62] S. Akter and T. F. Sanam. A blockchain framework for secure healthcare data management using role-based access control and smart contracts. In 2025 International Conference on Electrical, Computer and Communication Engineering (ECCE), pages 1–6, 2025. doi:10.1109/ECCE64574.2025.11013162</a:t>
            </a:r>
            <a:endParaRPr lang="en-US" sz="1000" dirty="0"/>
          </a:p>
          <a:p>
            <a:pPr indent="0" marL="0">
              <a:spcAft>
                <a:spcPts val="400"/>
              </a:spcAft>
              <a:buNone/>
            </a:pPr>
            <a:r>
              <a:rPr lang="en-US" sz="1000" dirty="0">
                <a:solidFill>
                  <a:srgbClr val="0B1F33"/>
                </a:solidFill>
              </a:rPr>
              <a:t>[63] M. S. Prashanth, R. Karnati, M. S. Velpuru, and H. Venkateshwara Reddy. Enhancing health record security and privacy with blockchain-based access management. In Pervasive Knowledge and Collective Intelligence on Web and Social Media (PerSOM 2023), LNICST, vol. 517, pages 182–202. Springer, 2024. doi:10.1007/978-3-031-66044-3_13</a:t>
            </a:r>
            <a:endParaRPr lang="en-US" sz="1000" dirty="0"/>
          </a:p>
          <a:p>
            <a:pPr indent="0" marL="0">
              <a:spcAft>
                <a:spcPts val="400"/>
              </a:spcAft>
              <a:buNone/>
            </a:pPr>
            <a:r>
              <a:rPr lang="en-US" sz="1000" dirty="0">
                <a:solidFill>
                  <a:srgbClr val="0B1F33"/>
                </a:solidFill>
              </a:rPr>
              <a:t>[64] L. Zhang, H. Kan, and H. Huang. Patient-centered cross-enterprise document sharing and dynamic consent framework using consortium blockchain and ciphertext-policy attribute-based encryption. In Proceedings of the 19th ACM International Conference on Computing Frontiers (CF ’22), pages 58–66, 2022. doi:10.1145/3528416.3530228</a:t>
            </a:r>
            <a:endParaRPr lang="en-US" sz="1000" dirty="0"/>
          </a:p>
          <a:p>
            <a:pPr indent="0" marL="0">
              <a:spcAft>
                <a:spcPts val="400"/>
              </a:spcAft>
              <a:buNone/>
            </a:pPr>
            <a:r>
              <a:rPr lang="en-US" sz="1000" dirty="0">
                <a:solidFill>
                  <a:srgbClr val="0B1F33"/>
                </a:solidFill>
              </a:rPr>
              <a:t>[65] A. Teeda and Y. V. Subba Rao. A patient-centric blockchain based electronic health records for data privacy and confidentiality. In International Conference on Smart Computing and Informatics, LNNS, vol. 1684, pages 179–192. Springer, 2026. doi:10.1007/978-3-032-08246-6_15</a:t>
            </a:r>
            <a:endParaRPr lang="en-US" sz="1000" dirty="0"/>
          </a:p>
          <a:p>
            <a:pPr indent="0" marL="0">
              <a:spcAft>
                <a:spcPts val="400"/>
              </a:spcAft>
              <a:buNone/>
            </a:pPr>
            <a:r>
              <a:rPr lang="en-US" sz="1000" dirty="0">
                <a:solidFill>
                  <a:srgbClr val="0B1F33"/>
                </a:solidFill>
              </a:rPr>
              <a:t>[66] R. Bloemen, L. Logvinov, and J. Evans. EIP-712: Typed structured data hashing and signing. Ethereum Improvement Proposals, no. 712, 2017.</a:t>
            </a:r>
            <a:endParaRPr lang="en-US" sz="1000" dirty="0"/>
          </a:p>
          <a:p>
            <a:pPr indent="0" marL="0">
              <a:spcAft>
                <a:spcPts val="400"/>
              </a:spcAft>
              <a:buNone/>
            </a:pPr>
            <a:r>
              <a:rPr lang="en-US" sz="1000" dirty="0">
                <a:solidFill>
                  <a:srgbClr val="0B1F33"/>
                </a:solidFill>
              </a:rPr>
              <a:t>[67] M. Shanmugham and C. Senthilkumar. Blockchain enabled self-sovereign identity and consent framework for secure healthcare data access. In 2026 3rd International Conference on Emerging Trends in Engineering and Medical Sciences (ICETEMS), pages 1–6, 2026. doi:10.1109/ICETEMS66917.2026.11469586</a:t>
            </a:r>
            <a:endParaRPr lang="en-US" sz="1000" dirty="0"/>
          </a:p>
          <a:p>
            <a:pPr indent="0" marL="0">
              <a:spcAft>
                <a:spcPts val="400"/>
              </a:spcAft>
              <a:buNone/>
            </a:pPr>
            <a:r>
              <a:rPr lang="en-US" sz="1000" dirty="0">
                <a:solidFill>
                  <a:srgbClr val="0B1F33"/>
                </a:solidFill>
              </a:rPr>
              <a:t>[68] N. M. Sawant and J. Gomes. A decentralized solution for smarter and safer healthcare systems with FabricMedChain. Iranian Journal of Science and Technology, Transactions of Electrical Engineering, 50:2843–2869, 2026. doi:10.1007/s40998-025-00994-0</a:t>
            </a:r>
            <a:endParaRPr lang="en-US" sz="1000" dirty="0"/>
          </a:p>
          <a:p>
            <a:pPr indent="0" marL="0">
              <a:spcAft>
                <a:spcPts val="400"/>
              </a:spcAft>
              <a:buNone/>
            </a:pPr>
            <a:r>
              <a:rPr lang="en-US" sz="1000" dirty="0">
                <a:solidFill>
                  <a:srgbClr val="0B1F33"/>
                </a:solidFill>
              </a:rPr>
              <a:t>[69] J. Groth. On the size of pairing-based non-interactive arguments. In Advances in Cryptology – EUROCRYPT 2016, LNCS, vol. 9666, pages 305–326. Springer, 2016. doi:10.1007/978-3-662-49896-5_11</a:t>
            </a:r>
            <a:endParaRPr lang="en-US" sz="1000" dirty="0"/>
          </a:p>
          <a:p>
            <a:pPr indent="0" marL="0">
              <a:spcAft>
                <a:spcPts val="400"/>
              </a:spcAft>
              <a:buNone/>
            </a:pPr>
            <a:r>
              <a:rPr lang="en-US" sz="1000" dirty="0">
                <a:solidFill>
                  <a:srgbClr val="0B1F33"/>
                </a:solidFill>
              </a:rPr>
              <a:t>[70] L. Grassi, D. Khovratovich, C. Rechberger, A. Roy, and M. Schofnegger. Poseidon: A new hash function for zero-knowledge proof systems. In Proceedings of the 30th USENIX Security Symposium, pages 519–535, 2021.</a:t>
            </a:r>
            <a:endParaRPr lang="en-US" sz="1000" dirty="0"/>
          </a:p>
          <a:p>
            <a:pPr indent="0" marL="0">
              <a:spcAft>
                <a:spcPts val="400"/>
              </a:spcAft>
              <a:buNone/>
            </a:pPr>
            <a:r>
              <a:rPr lang="en-US" sz="1000" dirty="0">
                <a:solidFill>
                  <a:srgbClr val="0B1F33"/>
                </a:solidFill>
              </a:rPr>
              <a:t>[71] W. Entriken, D. Shirley, J. Evans, and N. Sachs. ERC-721: Non-fungible token standard. Ethereum Improvement Proposals, no. 721, 2018.</a:t>
            </a:r>
            <a:endParaRPr lang="en-US" sz="1000" dirty="0"/>
          </a:p>
          <a:p>
            <a:pPr indent="0" marL="0">
              <a:spcAft>
                <a:spcPts val="400"/>
              </a:spcAft>
              <a:buNone/>
            </a:pPr>
            <a:r>
              <a:rPr lang="en-US" sz="1000" dirty="0">
                <a:solidFill>
                  <a:srgbClr val="0B1F33"/>
                </a:solidFill>
              </a:rPr>
              <a:t>[72] B. Cai. ERC-5484: Consensual soulbound tokens. Ethereum Improvement Proposals, no. 5484, 2022.</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2026-10-06T11:03:04Z</dcterms:created>
  <dcterms:modified xsi:type="dcterms:W3CDTF">2026-10-06T11:03:04Z</dcterms:modified>
</cp:coreProperties>
</file>
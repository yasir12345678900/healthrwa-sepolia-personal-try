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Calibri"/>
              </a:defRPr>
            </a:pPr>
            <a:r>
              <a:rPr sz="1400" b="0" i="0" u="none" strike="noStrike">
                <a:solidFill>
                  <a:srgbClr val="0E3B43"/>
                </a:solidFill>
                <a:latin typeface="Calibri"/>
              </a:rPr>
              <a:t>Shortlisted studies per category (n = 33)</a:t>
            </a:r>
          </a:p>
        </c:rich>
      </c:tx>
      <c:layout/>
      <c:overlay val="0"/>
    </c:title>
    <c:autoTitleDeleted val="0"/>
    <c:plotArea>
      <c:layout/>
      <c:barChart>
        <c:barDir val="bar"/>
        <c:grouping val="clustered"/>
        <c:varyColors val="0"/>
        <c:ser>
          <c:idx val="0"/>
          <c:order val="0"/>
          <c:tx>
            <c:strRef>
              <c:f>Sheet1!$B$1</c:f>
              <c:strCache>
                <c:ptCount val="1"/>
                <c:pt idx="0">
                  <c:v>Studies</c:v>
                </c:pt>
              </c:strCache>
            </c:strRef>
          </c:tx>
          <c:spPr>
            <a:solidFill>
              <a:srgbClr val="13707B"/>
            </a:solidFill>
            <a:effectLst/>
          </c:spPr>
          <c:invertIfNegative val="0"/>
          <c:dLbls>
            <c:numFmt formatCode="#,##0" sourceLinked="0"/>
            <c:txPr>
              <a:bodyPr/>
              <a:lstStyle/>
              <a:p>
                <a:pPr>
                  <a:defRPr b="1" i="0" strike="noStrike" sz="1300" u="none">
                    <a:solidFill>
                      <a:srgbClr val="1C2B31"/>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Trusted Computing and secure execution</c:v>
                  </c:pt>
                  <c:pt idx="1">
                    <c:v>Policy-based and healthcare access control</c:v>
                  </c:pt>
                  <c:pt idx="2">
                    <c:v>Multi-party and decentralised governance</c:v>
                  </c:pt>
                  <c:pt idx="3">
                    <c:v>Decentralised identity and verifiable credentials</c:v>
                  </c:pt>
                  <c:pt idx="4">
                    <c:v>Blockchain-based healthcare data governance</c:v>
                  </c:pt>
                  <c:pt idx="5">
                    <c:v>Healthcare consent and privacy governance</c:v>
                  </c:pt>
                </c:lvl>
              </c:multiLvlStrCache>
            </c:multiLvlStrRef>
          </c:cat>
          <c:val>
            <c:numRef>
              <c:f>Sheet1!$B$2:$B$7</c:f>
              <c:numCache>
                <c:formatCode>General</c:formatCode>
                <c:ptCount val="6"/>
                <c:pt idx="0">
                  <c:v>1</c:v>
                </c:pt>
                <c:pt idx="1">
                  <c:v>7</c:v>
                </c:pt>
                <c:pt idx="2">
                  <c:v>4</c:v>
                </c:pt>
                <c:pt idx="3">
                  <c:v>7</c:v>
                </c:pt>
                <c:pt idx="4">
                  <c:v>5</c:v>
                </c:pt>
                <c:pt idx="5">
                  <c:v>9</c:v>
                </c:pt>
              </c:numCache>
            </c:numRef>
          </c:val>
        </c:ser>
        <c:dLbls>
          <c:numFmt formatCode="#,##0" sourceLinked="0"/>
          <c:txPr>
            <a:bodyPr/>
            <a:lstStyle/>
            <a:p>
              <a:pPr>
                <a:defRPr b="1" i="0" strike="noStrike" sz="1300" u="none">
                  <a:solidFill>
                    <a:srgbClr val="1C2B3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1C2B31"/>
                </a:solidFill>
                <a:latin typeface="Calibri"/>
              </a:defRPr>
            </a:pPr>
            <a:endParaRPr lang="en-US"/>
          </a:p>
        </c:txPr>
        <c:crossAx val="2094734552"/>
        <c:crosses val="autoZero"/>
        <c:auto val="1"/>
        <c:lblAlgn val="ctr"/>
        <c:noMultiLvlLbl val="1"/>
      </c:catAx>
      <c:valAx>
        <c:axId val="2094734552"/>
        <c:scaling>
          <c:orientation val="minMax"/>
          <c:max val="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AU"/>
              <a:t>7/23/19</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AU"/>
              <a:t>‹#›</a:t>
            </a:fld>
            <a:endParaRPr lang="en-AU"/>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My name is Yasir Dhaifallah O Alyoubi, and this is my Candidature Assessment 2 (CA2) presentation. My research asks how a healthcare data-access decision can be trusted when several independent parties, such as a patient, a guardian and a healthcare professional, take part in consent. I will cover the background and literature review, the research design, the architecture and proposed solution, the HALAH prototype and its evidence, and finally my progress and the plan for the next stage. One idea runs through the whole talk: a valid identity is not valid authority.</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is the structure of the talk. It follows the ten chapters of the report in five parts. Part A covers Chapters 1 and 2: the research context, the problem, the five key requirements and the systematic literature review of 33 studies. In Part B, Chapters 3 and 4, the gap becomes one main research question, six sub-research questions, SRQ1 to SRQ6, and six research objectives, RO1 to RO6. Part C covers the Model–View–Controller architecture in Chapter 5 and, in Chapter 6, the workflow, procedure and algorithm for each objective. Part D is the HALAH prototype in Chapter 7, with its four subsystems, test evidence and on-chain evidence. Part E, Chapters 8 to 10, covers progress, the publication plan and the research plan for the current and next stages.</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first part sets up the argument. In Chapter 1 I describe the research context, including the Australian regulatory setting, and the problem. Consent is usually stored as a record, but the record does not necessarily show that the participants were legitimate, that they held the required authority, that all of them took part in the decision, or that a later request stays within the conditions originally authorised. Chapter 2 is the systematic literature review. It defines five key requirements and shortlists 33 studies published between 2022 and 2026, through a four-step process that follows PRISMA 2020. The review shows that at least one stream of research addresses each requirement on its own, but no existing approach combines them into one independently verifiable authorisation decision.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summarises the research context from Section 1.1, with the participant roles drawn from Sections 2.2, 2.4.1 and 5.1. Healthcare data sharing involves patients, guardians, healthcare professionals and institutional authorities, and no single participant may have enough authority to decide access alone. That is why I treat authorisation as a distributed governance problem, not just authenticating a user and checking a static permission. The last two cards show the Australian setting. Under the Privacy Act 1988, health information is sensitive information; APP 3 ties collection to consent, and APP 6 ties use to the primary or a directly related purpose. The My Health Records Act 2012 lets consumers control which provider organisations can access their record, and the Healthcare Identifiers Act 2010 governs the national identifiers. HALAH reflects this through purpose-bound consent, module-level data scope and a jurisdiction attribute that defaults to AU.</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4</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states the core problem from Section 1.2. Existing approaches usually represent authorisation through database records, access-control entries, smart contracts or blockchain transactions. That improves integrity, traceability and auditability, but consent itself often remains a passive artefact. The key point here is the gap between representing consent and enforcing authorisation in a way that can be trusted. First, immutability protects the record but does not show the participants were legitimate, and authentication identifies an entity but does not give it authority over a particular patient's information. Second, when guardians, healthcare professionals or institutional authorities also take part, no single participant should decide alone. Third, even with verified identities and enough approvals, a request can still exceed the authorised purpose or data scope. What is missing is one integrated mechanism that connects these conditions.</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5</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Table 1.1 shows how the research is split into two stages. In the current stage, CA2, I work on four foundational dimensions: RO1, a trust-centric consent model; RO2, decentralised identity, with authority kept separate from identity; RO3, multi-party authorisation among independently verified participants; and RO4, policy- and context-aware access control, which stops valid identities and approvals from reaching data beyond the authorised scope. The next stage, CA3, adds RO5, temporal and lifecycle trust, because a consent that was valid when approved can later expire or be revoked. It also adds RO6, formal security assurance and empirical validation of the complete HALAH implementation, including negative and adversarial scenarios.</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6</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Section 2.3 describes how I shortlisted the studies, following the PRISMA 2020 guideline in four steps. In Step 1 I searched seven databases: IEEE Xplore, ACM Digital Library, ScienceDirect, SpringerLink, PubMed, Scopus and Web of Science. Figure 2.1 shows the search string: four concept groups, with OR inside each group and AND between them. The search covered 2022 to 2026 and was run on 15 August 2026. In Step 2 I applied six inclusion and six exclusion criteria, defined before screening. Step 3 screened titles and abstracts, then full texts, and scored each full text on QA1 to QA5. In Step 4 I extracted the data with a predefined framework and placed the 33 studies in six categories, listed in Table 2.3.</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7</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funnel follows the PRISMA flow in Figure 2.2 and Table 2.2. The search returned 125 records: 31 from IEEE Xplore, 14 from ACM, 23 from ScienceDirect, 18 from SpringerLink, 12 from PubMed, 17 from Scopus and 10 from Web of Science. Before screening I removed 35 duplicates and 7 records flagged by automation tools, which left 83. Title and abstract screening excluded 40 unrelated records, so 43 full texts were sought. Three could not be retrieved, and I scored the 40 I assessed on QA1 to QA5. Three scored below 2.5 and four were outside the review scope, which left 33 included studies. Five of them come from outside healthcare, because their mechanisms transfer directly to healthcare authorisation.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8</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Now I set out the five requirements of Section 2.2, drawn from the Chapter 1 problem and the Australian setting: the Australian Privacy Principles (APPs) of the Privacy Act 1988, the My Health Records Act 2012 and the Healthcare Identifiers Act 2010. Req 1 asks for consent that can be evaluated, not just recorded. Req 2 separates identity from authority: a valid credential shows someone is a registered practitioner or legal guardian, not that they are authorised for this patient, this purpose and this data. Req 3 reflects paediatric, aged-care and shared-guardianship settings, where no single party should grant access alone. Req 4 follows the APPs, which limit the use of health information to the primary purpose of collection or a directly related purpose. Req 5 adds expiry, revocation and evidence. Section 2.4 assesses every study against them.</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9</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how the 33 included studies, S1 to S33 in Table 2.3, fall into six categories. In Step 4 I analysed each paper by its scope, topic area, authors, venue, contribution and limitations, and placed it in one of six areas. Healthcare consent and privacy governance is the largest group with nine studies, then decentralised identity and policy-based access control with seven each, blockchain with five, multi-party governance with four, and a single Trusted Computing study on remote attestation. The key point is that each group builds its own mechanism: as Section 2.4.7 notes, these contributions address different layers of the security problem. I kept five studies from outside healthcare because their mechanisms transfer directly to healthcare authorisation. Integrating trusted execution is left as future work in Section 10.2.</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10</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 summarise Tables 2.4 to 2.9. Each study is marked as addressing or not addressing each requirement, and the matrix counts those studies per category. Req 4 and Req 5 are the best covered, with 17 and 18 studies, much of that from the blockchain and access-control categories. Req 1 is addressed by nine studies and Req 2 by eleven, but they cluster in the consent-governance and identity categories. Req 3, multi-party threshold authorisation, is addressed by only three studies: S15, S23 and S25. No single study reaches more than three of the five; S7, S22 and S24 reach three, and S1 and S33 reach none. As Section 2.6 concludes, each requirement is addressed in isolation by at least one stream, but no approach combines them into a single, independently verifiable decision.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11</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Next I turn the coverage into gaps, following Section 2.5. The common thread is fragmentation: a valid blockchain record does not show that legitimate participants made the decision, a verified identity does not imply permission, and sufficient approvals do not keep a request within the authorised purpose or data scope. The gaps map in order onto RO1 to RO5, and RO6 validates the resulting decisions formally and empirically. So the central gap is the lack of an integrated Trust Computing framework that relates these conditions. In the current stage, CA2, the foundational decision is Equation 6: Decision(C, R) = ALLOW if and only if V_I(u) ∧ V_A(C) ∧ V_P(C, R). In the next stage, CA3, I will extend it towards lifecycle trust, formal security assurance, adversarial evaluation and empirical validation with the HALAH prototype.</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12</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Table 2.10 puts the six research streams side by side with the proposed framework. Reading across, each stream makes a real contribution: consent governance brings patient autonomy, blockchain brings tamper-resistant records, and identity work brings verifiable attributes. Reading down the limitation column, none of them on its own establishes that a data-access decision is trustworthy. As Section 2.4.7 puts it, a blockchain record does not establish participant authority, a valid DID does not establish access permission, and secure execution does not guarantee that the policy is correct. So my contribution is not to replace these technologies but to relate them within one authorisation process. I kept the framework's own limitation on the slide: lifecycle trust, formal assurance and empirical validation remain for the next stage, CA3.</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13</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part I move from the literature review to the research design. Chapter 3 states the research gap, the main research question and the six sub-research questions, SRQ1 to SRQ6. Chapter 4 turns each question into a research objective, RO1 to RO6, and Tables 4.1 and 4.2 map them one to one. RO1 to RO5 each answer one requirement from Section 2.2, Req 1 to Req 5, and RO6 provides the formal and empirical assurance that they are met. The key point is the staging. RO1 to RO4 form the foundational model for the current stage, CA2, and RO5 and RO6 are the principal agenda for CA3. The split reflects research scope and maturity, not a different set of questions.</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14</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key point here is that the gap is not a missing technology. Section 3.1 notes that blockchain consent, decentralised identity, verifiable credentials, policy-based authorisation and multi-party approval are each well studied, but usually as independent technical solutions. Against the five requirements, no study meets more than three, and none meets both Req 1, consent as an evaluable object, and Req 3, threshold authorisation. A blockchain can make a consent event immutable without making its participants legitimate, and a valid DID says who someone is, not what they may do. So I treat trust as an emergent property of a verifiable authorisation process. The main research question in Section 3.2 follows from this. Establish covers how participants, authority and collective decisions are created; enforce covers how they are evaluated when a request is made.</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15</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table condenses Tables 4.1 and 4.2 in Chapter 4. Each sub-research question has one matching objective. SRQ1 and RO1 model consent as an evaluable authorisation object. SRQ2 and RO2 verify identity through DIDs and authority through VCs, as separate conditions. SRQ3 and RO3 require a threshold of independently verified approvals, so no single participant can authorise alone where collective approval is required. SRQ4 and RO4 check purpose and data scope, so a valid identity and enough approvals still cannot reach data outside the consent. These four form the current stage. SRQ5 and RO5 add the validity interval, expiry, revocation and controlled state transitions, and SRQ6 and RO6 add formal analysis and empirical validation through the HALAH prototype, including negative and adversarial testing. Both are next-stage work for CA3.</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16</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brings the questions together in one decision rule. The consent object C = (I, A, P, E) from Eq. 7 holds identity information, authority requirements, policy constraints and authorisation evidence. In the current stage, Eq. 6 allows access only when V_I, V_A and V_P all hold. Eq. 24 in Section 3.4 extends this for the next stage with V_T for the validity interval and V_L for the lifecycle state. That matches the extended object C = (I, A, P, T, L, E) already used by the HALAH prototype (Section 7.2). The key point is Eq. 1: identity is not authorisation, so a verified DID does not by itself grant access. Any failed predicate means DENY. SRQ6 is not a sixth predicate; it is the assurance layer that checks these properties formally and empirically.</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17</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part I move from the research design to the solution. Chapter 5 presents the research architecture, a layered Model-View-Controller design. The Model holds the trust and governance state, the View lets independent stakeholders submit or inspect operations, and the Controller evaluates the trust predicates and produces the decision. Chapter 6 then presents the solution objective by objective, with a workflow, a step-by-step procedure and an algorithm for each of RO1 to RO6. RO1 to RO4 belong to the current stage, CA2, and RO5 and RO6 belong mainly to the next stage, CA3. The key point I want to carry through this part is that MVC itself is not the security claim. Security comes from placing trust-sensitive operations in the Controller, structuring security state in the Model and keeping security decisions out of the View.</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18</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 show Figure 5.1, the layered MVC architecture of HALAH from Section 5.1. The View has role-specific interfaces for patients, guardians or other authorised participants, healthcare professionals and auditors. Anything submitted there I treat as a request or claim, not a trusted outcome. The Controller is the security enforcement boundary. It coordinates request validation, decentralised identity verification, credential and authority verification, multi-party approval evaluation, policy and data-scope evaluation and final authorisation, and it generates audit evidence. The Model holds the security state, but a consent, credential or approval record does not by itself produce an access decision. Protected healthcare data sit outside the three layers and are reached only through the Controller. As Section 5.1.4 says, I do not claim that MVC itself provides security. Section 7.10 maps each layer to the code.</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19</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Figure 5.3, from Section 5.1.2, which shows how the Controller evaluates the trust predicates using evidence held in the Model. V_I checks identity and authority, V_A the approval threshold, V_P purpose and data scope, V_T time validity and V_L lifecycle state. The integrated decision is Eq. 24, and if any required predicate is false the decision is DENY, as in Eq. 18. Both successful and unsuccessful decisions are associated with authorisation evidence. The four points are four of the six security properties in Table 5.1, Section 5.9. The other two are identity-dependent participation and the separation of interaction and enforcement. The key point I want to make is that these properties come from the interaction of the three layers, not from any single technology. V_T and V_L are the next-stage extension; the current-stage decision is Eq. 6.</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20</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 walk through Figure 5.4, the end-to-end workflow in Section 5.2. It puts into practice my premise that trustworthy access cannot come from a single mechanism, such as a blockchain record or an authenticated identity. First, the patient specifies purpose, scope and conditions. DID and VC verification establishes identity and authority, but this alone does not grant access to patient data. Next, the required participants, for example a patient with one or more guardians, give independent approvals, and if the threshold is not met the request is denied. Policy evaluation then catches a legitimate participant asking for data outside the consent, such as the request in Eq. 4, which adds Observation to a consent for Medication and Procedure. The decision is the conjunction in Eq. 6, and both granted and denied decisions are recorded in the audit layer.</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21</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With RO1 I answer SRQ1 by turning consent into a structured and evaluable authorisation object, C = (I, A, P, E), from Eq. 7. Figure 6.1 shows the creation workflow. In HALAH the patient selects a patient DID, an authorised doctor, guardian DIDs, data modules such as Observation, Medication, Condition and Procedure, and a start and expiry time. Algorithm 1 validates these inputs and returns the consent object C or REJECT. It does not grant access directly; it sets the conditions that RO2, RO3 and RO4 later evaluate through I, A and P. On status, Section 6.1.2 is explicit. Steps 1 to 3 are not yet enforced at creation, a syntactic DID check is applied later at guardian approval and doctor access, and credential-based authority validation is scheduled for Stage 2, CA3. Step 6, the time check, is implemented.</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22</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With RO2 I answer SRQ2, and it rests on Eq. 1: identity is not authorisation. A DID gives an identity reference and a VC gives evidence of role or authority, and neither grants access on its own. Figure 6.2 and Algorithm 2 resolve and verify the DID, retrieve and verify the VC, and check the extracted claims against the consent's authority requirements, returning INVALID at the first failure. In HALAH this happens in two steps. The guardian DID is checked for syntax, and the approval is an EIP-712 typed-data signature over the consent identifier that counts only if the recovered address matches the address bound to that DID. For the demonstration, guardian keys are derived from the DID. Full W3C VC verification is specified but scheduled for Stage 2, CA3, so I do not yet verify credential-based authority.</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23</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part I present RO3, which answers SRQ3. The key point is that the threshold counts only approvals that pass three checks. Algorithm 3 first verifies the identity and authority of the approving participant, then checks that the participant belongs to the required set G, and then refuses a second approval from the same participant. Each failure is recorded and returns DENY. Only an approval that passes all three is added to A_v. If |A_v| ≥ N, the authorisation is activated and a threshold-satisfied event is recorded; otherwise the consent stays pending. In HALAH, N equals |G|, so with two guardians one signature leaves the consent in PENDING_SIGNATURE, and two signatures plus the SBT mint activate it. The SBT represents the consent state; it is not the source of trust. This is Section 6.3 and Figure 6.3.</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24</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 move to RO4, which answers SRQ4. The point is that a legitimate doctor with a valid, fully approved consent may still ask for too much. Algorithm 4 checks identity, consent state and the threshold first, and only then purpose and scope, before any data are released. For example, the request in Eq. 4 adds Observation to a consent for Medication and Procedure, so it must be denied. In HALAH the scope check is enforced in the doctor interface and again in the service layer, and a failure is written to the audit log. Purpose is only partly implemented: the requester does not yet declare a purpose, so the comparison is planned for CA3. Routing the release gate through the full decision matrix is a small planned change. This is Section 6.4 and Figure 6.4.</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25</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RO5 answers SRQ5 and belongs primarily to the next stage, CA3; Figure 6.5 shows the planned workflow. The key point is that an existing consent is not necessarily usable: once it has expired or been revoked, it must not stay usable just because its approval threshold was once met. Algorithm 5 checks the time interval, whether the current state permits the operation, whether the consent has been revoked, and whether the requested transition is permitted; any failure returns INVALID. HALAH already has a first version: the consent engine checks states in a fixed order, only ACTIVE releases data, V_T is computed in the decision matrix, and a patient revocation calls revoke() on the consent contract. One notation point: the prototype labels a jurisdiction check VL; it will be renamed V_J, so V_L means lifecycle validity. This is Section 6.5.</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26</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RO6 answers SRQ6 and is the assurance layer. It belongs mainly to the next stage, CA3, and is only partly done so far. The key point is that a system can return data without showing that it should have. So Algorithm 6 defines six expected properties, then runs three scenario classes: valid workflows; negative cases such as expired or revoked consent and out-of-scope requests; and adversarial cases such as replayed or duplicate approvals and forged credentials. A scenario passes only when the observed decision equals the expected one, and the evidence is kept so a failure can be traced back to its condition. Formal reasoning defines what the framework should guarantee, and testing checks whether the implementation does. The current HALAH evidence in Sections 7.11 and 7.12 is my starting point. This is Section 6.6 and Figure 6.6.</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27</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table brings the six algorithms together, as Section 6.7 does. Each algorithm maps to one objective, and together they form a progressive structure. Algorithm 1 builds the consent object but grants no access. Algorithm 2 turns DID and VC evidence into V_I, Algorithm 3 turns verified approvals into V_A, and Algorithm 4 checks the specific request against purpose and scope before data are released. Together these give the current-stage decision in Eq. 6. Algorithms 5 and 6 are next-stage work for CA3: temporal and lifecycle validity complete Eq. 24, and formal and empirical validation tests whether the whole lifecycle keeps its security properties. The point I want to leave you with is that blockchain contributes integrity and auditability, but trust comes from all of these conditions holding together.</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28</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brings me to Part D, which is Chapter 7 of the report. So far I have described the model and the six algorithms. In this part I show how the current-stage (CA2) mechanisms are realised in the HALAH prototype. I start with an overview of the four subsystems, then walk through the patient, guardian, doctor and auditor views using the screenshots in Figures 7.1 to 7.5. After that I show how the MVC layers map to the source code in Table 7.2, the automated test results in Table 7.3, and the consent tokens anchored on the Sepolia testnet in Table 7.4. I close the part with the limitations in Section 7.13, because they define what the next stage, CA3, still has to demonstrate.</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29</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gives the overview of HALAH, from Sections 7.1 and 7.8 to 7.10. The platform is role-based: patient, guardian, doctor and auditor all work on the same consent lifecycle, and the blockchain and cryptographic mechanisms sit inside the workflow rather than being shown as separate components. Figure 7.6 traces one consent through the four views. The consent is stored as PENDING_SIGNATURE, guardians sign EIP-712 approvals until N = |G| is reached, and then the SBT is minted and the consent becomes ACTIVE. The doctor gets access only when the state is ACTIVE, the access proof is valid and S_R ⊆ S_C. The figure also shows which events each step writes to the audit log, and Table 7.1 maps the framework components to the subsystems that implement them.</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30</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 show the first two subsystems. On the left is the patient's Create Smart Consent Contract module, from Section 7.2. The patient sets the Patient DID, the Authorised Doctor DID, the data access scope as EMR modules such as medication and procedure, the designated guardian DIDs, and the start and expiry time. Together these build the consent object C = (I, A, P, T, L, E), so consent is bound to a specific subject and a specific actor, and the guardians are part of it from the start. On the right, from Section 7.3, each guardian enters the Consent ID, selects their Guardian DID and signs. The consent is not activated just because the patient created it. Only when both signatures are present is the SBT minted and the consent fully activated.</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31</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is the doctor side, from Section 7.4. In Figure 7.3 the doctor enters an authorised Consent ID and the system shows the patient DID, the consent ID, the purpose and the current state, here ACTIVE, with the authorised data scope of Medication and Procedure. Holding a Consent ID is not enough, because the system first checks that the authorisation is still valid. In Figure 7.4 the doctor selects the modules to request, the system verifies the request and reports Access Granted, and only the MEDICATION and PROCEDURE records are released. The key point is that consent and data access are separate events: consent, then verification, then the access decision. In version 1 the integrity proof is a placeholder until the zero-knowledge circuit is built.</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32</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fourth subsystem is the auditor view, from Sections 7.5 to 7.7. It first gives aggregate indicators: 21 total events, 3 consent events and 3 access requests, with Blockchain Integrity shown as VERIFIED. The Consent Lifecycle section in Figure 7.5 then reconstructs the chain of evidence: the patient creates the consent, guardians A and B sign, the smart contract mints the SBT, the Consent Engine checks the state, and the doctor's DATA_ACCESS is GRANTED. Repeated state checks are left out of the figure, and on this slide I have arranged its six event blocks in time order, numbered 1 to 6. The Detailed Audit Records give the event-level evidence, and the Complete Blockchain Audit Ledger records the whole lifecycle, not only successful access. The key point is that this gives the evidence base for accountability, traceability, integrity and non-repudiation.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33</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Table 7.2, from Section 7.10, I map the MVC architecture of Chapter 5 onto the code at repository commit 0a960ca of 22 September 2026, so the architectural claims can be checked against the source. The View is app.py with the four role pages, and it only submits requests. The Controller services hold the logic: consent creation for Algorithm 1, the scope check, release gate and decision matrix for Algorithm 4, and SBT minting, revocation and on-chain anchoring as the evidence E. The Model holds the consent object C = (I, A, P, T, L, E), the access request R, and the SQLite persistence with the audit log and DID mapping. The synthetic Synthea EMR modules are the protected resource, released only after authorisation.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34</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Table 7.3 in Section 7.11 gives the automated test evidence. The suite was run with pytest 9.1.1 on Python 3.11 on 28 September 2026: 16 tests passed, 2 were skipped and none failed. T1 checks that a valid EIP-712 approval is accepted and that a wrong guardian, a wrong consent ID or a missing signature is rejected. T2 checks that the decision matrix returns ALLOW when all conditions hold and that each tested violation fails the corresponding predicate. T3 and T4 cover the lifecycle and revocation. The two Groth16 tests are skipped because the circuit is not built. These are functional tests with a mocked blockchain, giving initial evidence for SRQ1 to SRQ4 and the first SRQ5 checks. Stage 2 (CA3) still has to add insufficient approvals at the release gate, a duplicate approval, an out-of-scope request submitted directly to the service interface, and a request with a mismatched declared purpose.</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35</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 show the on-chain evidence from Section 7.12. Table 7.4 lists four consent tokens anchored on the Ethereum Sepolia testnet, chain ID 11155111, by the ConsentSBTv2 contract at the address shown, in blocks 11750525 to 11750722. The full transaction hashes are in the report. ConsentSBTv2 was the deployed version when this evidence was recorded; ConsentSBTv3, listed in Table 7.2, is the current source and is exercised by test T5. The holder of token number four equals the address derived from the patient DID did:patient:demo, which demonstrates the DID-to-address binding the prototype uses. The key point is that this is testnet evidence of anchoring, not a production deployment, as Section 7.13 states.</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36</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close Part D with the implementation status and limitations in Section 7.13. The screenshots in Figures 7.1 to 7.5 come from the first version. The current version, v1.1, records guardian approvals as EIP-712 signatures, labels the data-access proof as a placeholder unless the zero-knowledge circuit is built, and reports on-chain anchoring per event. Guardian keys are derived from the DID for demonstration, whereas a deployment would use each guardian's own wallet. DID verification is syntactic, and no Verifiable Credential is issued or verified yet. The threshold is all designated guardians, purpose uses a fixed list with per-request binding left to Stage 2, and release is not yet gated by the full decision matrix. Performance and adversarial measurements are also Stage 2, that is CA3, work.</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37</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brings me to Part E, which covers Chapters 8 to 10. Having shown the architecture and the HALAH evidence, I now report where each research objective stands, what I plan to publish and what the next stage will add. The key point here is the split between the two stages. RO1 to RO4 form the current stage, CA2, and have been implemented at prototype level. RO5 and RO6 belong to the next stage, CA3, although a first version of RO5, covering expiry and revocation, already runs in the prototype. I will go through Chapter 8 objective by objective, then Table 9.1 on publications and Table 10.1 on the research plan.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38</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summarises Chapter 8, one row per objective. The report's Stage 2 is the next stage, CA3, as Section 1.3 defines it. RO1 turns consent into the evaluable object C = (I, A, P, E), and the prototype implements the extended form with T and L. RO2 separates identity from authority; guardian approvals are EIP-712 signatures, and W3C credential verification comes in CA3. RO3 enforces the threshold: with two guardians, one approval leaves the consent pending. RO4 enforces S_R ⊆ S_C in the service layer, while binding the declared purpose to the consented purpose is CA3 work. RO5 and RO6 are partial: expiry and revocation already run and 16 automated tests passed, but formal and adversarial evaluation come next.</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39</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Chapter 9 sets out three research outputs, summarised here from Table 9.1. The first is the Trust-Centric Consent Framework paper on the model architecture and multi-party authorisation policies. The draft is complete and I plan to submit it to Computers and Security, published by Elsevier, in November 2026. It is the core architectural contribution and addresses SRQ1 to SRQ4. The second covers the HALAH prototype, the empirical validation platform, with its decentralised implementation and functional security evaluation; it is aimed at a systems or security conference and is in progress. The third, formal security and lifecycle analysis of temporal constraints and state transitions, is planned for a specialised workshop or journal as the next-stage extension. So the current stage lays the foundation, and the next stage adds formal analysis and empirical validation.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40</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 follow Section 10.2 and Table 10.1: the four focuses of the next stage, CA3, in order. First, temporal and lifecycle trust, because a consent that was valid when approved may no longer be valid when it is used. Second, formal security assurance: explicit security properties, analysed under invalid identities, insufficient approvals, policy violations, expired or revoked consent and illegal transitions. Third, empirical validation in HALAH, checking that ALLOW is produced only when all trust conditions hold and DENY otherwise, and measuring runtime, overhead and enforcement accuracy. Fourth, which appears only in Table 10.1, is integrated end-to-end evaluation. Under Eq. (35), the final decision is ALLOW only when identity and authority, multi-party approval, policy, and temporal and lifecycle validity all hold; a denial should keep enough evidence to explain its reason.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41</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To conclude, I bring the contributions together, drawing on Chapters 1, 5 and 10 and the conclusion in Section 2.6. The review found that each requirement is addressed in isolation, but no existing approach combines them into one independently verifiable decision. My response has four parts. The conceptual model treats consent as an evaluable object and makes access the conjunction of V_I, V_A and V_P. The MVC architecture routes every sensitive decision through the Controller, so neither the interface nor a stored record can decide access on its own. HALAH implements these conditions at prototype level in a decentralised healthcare setting. The evidence so far is functional; CA3 adds temporal and lifecycle trust, formal assurance and empirical validation, moving from static consent management to dynamic trustworthy authorisation.</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42</a:t>
            </a:fld>
            <a:endParaRPr lang="en-AU"/>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Thank you to the panel for your time and attention. I am happy to take questions on any part of the report. There are two points where your feedback would be most useful to me. The first is the gap analysis in Section 2.5: whether the gaps I derived from the 33 shortlisted studies, one for each of the five requirements, are stated fairly and map correctly to RO1 to RO5. The second is the integrated decision in Section 6.7: whether expressing trustworthy access as a conjunction of predicates, Eq. (6) for the current stage, CA2, and Eq. (24) for CA3, is the right basis for the formal and empirical work in the next stage.</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AU"/>
              <a:t>43</a:t>
            </a:fld>
            <a:endParaRPr lang="en-AU"/>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A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3"/>
        </a:solidFill>
      </p:bgPr>
    </p:bg>
    <p:spTree>
      <p:nvGrpSpPr>
        <p:cNvPr id="1" name=""/>
        <p:cNvGrpSpPr/>
        <p:nvPr/>
      </p:nvGrpSpPr>
      <p:grpSpPr>
        <a:xfrm>
          <a:off x="0" y="0"/>
          <a:ext cx="0" cy="0"/>
          <a:chOff x="0" y="0"/>
          <a:chExt cx="0" cy="0"/>
        </a:xfrm>
      </p:grpSpPr>
      <p:sp>
        <p:nvSpPr>
          <p:cNvPr id="3" name="Text 0"/>
          <p:cNvSpPr txBox="1"/>
          <p:nvPr/>
        </p:nvSpPr>
        <p:spPr>
          <a:xfrm>
            <a:off x="548640" y="548640"/>
            <a:ext cx="7315200" cy="320040"/>
          </a:xfrm>
          <a:prstGeom prst="rect">
            <a:avLst/>
          </a:prstGeom>
          <a:noFill/>
          <a:ln/>
        </p:spPr>
        <p:txBody>
          <a:bodyPr wrap="square" lIns="0" tIns="0" rIns="0" bIns="0" rtlCol="0" anchor="t"/>
          <a:lstStyle/>
          <a:p>
            <a:pPr indent="0" marL="0">
              <a:buNone/>
            </a:pPr>
            <a:r>
              <a:rPr lang="en-AU" sz="1300" b="1" spc="200" kern="0" dirty="0">
                <a:solidFill>
                  <a:srgbClr val="D4A12A"/>
                </a:solidFill>
                <a:latin typeface="Calibri" pitchFamily="34" charset="0"/>
                <a:ea typeface="Calibri" pitchFamily="34" charset="-122"/>
                <a:cs typeface="Calibri" pitchFamily="34" charset="-120"/>
              </a:rPr>
              <a:t>UTS  ·  CANDIDATURE ASSESSMENT 2</a:t>
            </a:r>
            <a:endParaRPr lang="en-AU" sz="1300" dirty="0"/>
          </a:p>
        </p:txBody>
      </p:sp>
      <p:sp>
        <p:nvSpPr>
          <p:cNvPr id="4" name="Text 1"/>
          <p:cNvSpPr txBox="1"/>
          <p:nvPr/>
        </p:nvSpPr>
        <p:spPr>
          <a:xfrm>
            <a:off x="548640" y="1143000"/>
            <a:ext cx="7863840" cy="2103120"/>
          </a:xfrm>
          <a:prstGeom prst="rect">
            <a:avLst/>
          </a:prstGeom>
          <a:noFill/>
          <a:ln/>
        </p:spPr>
        <p:txBody>
          <a:bodyPr wrap="square" lIns="0" tIns="0" rIns="0" bIns="0" rtlCol="0" anchor="t"/>
          <a:lstStyle/>
          <a:p>
            <a:pPr indent="0" marL="0">
              <a:buNone/>
            </a:pPr>
            <a:r>
              <a:rPr lang="en-AU" sz="3800" b="1" dirty="0">
                <a:solidFill>
                  <a:srgbClr val="FFFFFF"/>
                </a:solidFill>
                <a:latin typeface="Cambria" pitchFamily="34" charset="0"/>
                <a:ea typeface="Cambria" pitchFamily="34" charset="-122"/>
                <a:cs typeface="Cambria" pitchFamily="34" charset="-120"/>
              </a:rPr>
              <a:t>A Trusted Authorisation Framework for Multi-Party Patient Consent in Healthcare Data Sharing</a:t>
            </a:r>
            <a:endParaRPr lang="en-AU" sz="3800" dirty="0"/>
          </a:p>
        </p:txBody>
      </p:sp>
      <p:sp>
        <p:nvSpPr>
          <p:cNvPr id="5" name="Text 2"/>
          <p:cNvSpPr txBox="1"/>
          <p:nvPr/>
        </p:nvSpPr>
        <p:spPr>
          <a:xfrm>
            <a:off x="548640" y="3337560"/>
            <a:ext cx="7863840" cy="411480"/>
          </a:xfrm>
          <a:prstGeom prst="rect">
            <a:avLst/>
          </a:prstGeom>
          <a:noFill/>
          <a:ln/>
        </p:spPr>
        <p:txBody>
          <a:bodyPr wrap="square" lIns="0" tIns="0" rIns="0" bIns="0" rtlCol="0" anchor="t"/>
          <a:lstStyle/>
          <a:p>
            <a:pPr indent="0" marL="0">
              <a:buNone/>
            </a:pPr>
            <a:r>
              <a:rPr lang="en-AU" sz="1800" dirty="0">
                <a:solidFill>
                  <a:srgbClr val="CFE3E6"/>
                </a:solidFill>
                <a:latin typeface="Calibri" pitchFamily="34" charset="0"/>
                <a:ea typeface="Calibri" pitchFamily="34" charset="-122"/>
                <a:cs typeface="Calibri" pitchFamily="34" charset="-120"/>
              </a:rPr>
              <a:t>Design, HALAH prototype and evidence for RO1–RO4, with the plan for RO5–RO6</a:t>
            </a:r>
            <a:endParaRPr lang="en-AU" sz="1800" dirty="0"/>
          </a:p>
        </p:txBody>
      </p:sp>
      <p:sp>
        <p:nvSpPr>
          <p:cNvPr id="6" name="Text 3"/>
          <p:cNvSpPr txBox="1"/>
          <p:nvPr/>
        </p:nvSpPr>
        <p:spPr>
          <a:xfrm>
            <a:off x="548640" y="4160520"/>
            <a:ext cx="6400800" cy="2011680"/>
          </a:xfrm>
          <a:prstGeom prst="rect">
            <a:avLst/>
          </a:prstGeom>
          <a:noFill/>
          <a:ln/>
        </p:spPr>
        <p:txBody>
          <a:bodyPr wrap="square" lIns="0" tIns="0" rIns="0" bIns="0" rtlCol="0" anchor="t"/>
          <a:lstStyle/>
          <a:p>
            <a:pPr indent="0" marL="0">
              <a:buNone/>
            </a:pPr>
            <a:r>
              <a:rPr lang="en-AU" sz="1800" b="1" dirty="0">
                <a:solidFill>
                  <a:srgbClr val="FFFFFF"/>
                </a:solidFill>
                <a:latin typeface="Calibri" pitchFamily="34" charset="0"/>
                <a:ea typeface="Calibri" pitchFamily="34" charset="-122"/>
                <a:cs typeface="Calibri" pitchFamily="34" charset="-120"/>
              </a:rPr>
              <a:t>Yasir Dhaifallah O Alyoubi</a:t>
            </a:r>
            <a:endParaRPr lang="en-AU" sz="1800" dirty="0"/>
          </a:p>
          <a:p>
            <a:pPr indent="0" marL="0">
              <a:buNone/>
            </a:pPr>
            <a:r>
              <a:rPr lang="en-AU" sz="1400" dirty="0">
                <a:solidFill>
                  <a:srgbClr val="CFE3E6"/>
                </a:solidFill>
                <a:latin typeface="Calibri" pitchFamily="34" charset="0"/>
                <a:ea typeface="Calibri" pitchFamily="34" charset="-122"/>
                <a:cs typeface="Calibri" pitchFamily="34" charset="-120"/>
              </a:rPr>
              <a:t>Student ID 24724078</a:t>
            </a:r>
            <a:endParaRPr lang="en-AU" sz="1800" dirty="0"/>
          </a:p>
          <a:p>
            <a:pPr indent="0" marL="0">
              <a:buNone/>
            </a:pPr>
            <a:r>
              <a:rPr lang="en-AU" sz="1400" dirty="0">
                <a:solidFill>
                  <a:srgbClr val="CFE3E6"/>
                </a:solidFill>
                <a:latin typeface="Calibri" pitchFamily="34" charset="0"/>
                <a:ea typeface="Calibri" pitchFamily="34" charset="-122"/>
                <a:cs typeface="Calibri" pitchFamily="34" charset="-120"/>
              </a:rPr>
              <a:t>Principal Supervisor: Professor Farookh Hussain</a:t>
            </a:r>
            <a:endParaRPr lang="en-AU" sz="1800" dirty="0"/>
          </a:p>
          <a:p>
            <a:pPr indent="0" marL="0">
              <a:buNone/>
            </a:pPr>
            <a:r>
              <a:rPr lang="en-AU" sz="1400" dirty="0">
                <a:solidFill>
                  <a:srgbClr val="CFE3E6"/>
                </a:solidFill>
                <a:latin typeface="Calibri" pitchFamily="34" charset="0"/>
                <a:ea typeface="Calibri" pitchFamily="34" charset="-122"/>
                <a:cs typeface="Calibri" pitchFamily="34" charset="-120"/>
              </a:rPr>
              <a:t>Co-Supervisor: Dr Firas Al-Doghman</a:t>
            </a:r>
            <a:endParaRPr lang="en-AU" sz="1800" dirty="0"/>
          </a:p>
          <a:p>
            <a:pPr indent="0" marL="0">
              <a:buNone/>
            </a:pPr>
            <a:r>
              <a:rPr lang="en-AU" sz="1400" b="1" dirty="0">
                <a:solidFill>
                  <a:srgbClr val="D4A12A"/>
                </a:solidFill>
                <a:latin typeface="Calibri" pitchFamily="34" charset="0"/>
                <a:ea typeface="Calibri" pitchFamily="34" charset="-122"/>
                <a:cs typeface="Calibri" pitchFamily="34" charset="-120"/>
              </a:rPr>
              <a:t>September 2026</a:t>
            </a:r>
            <a:endParaRPr lang="en-AU" sz="1800" dirty="0"/>
          </a:p>
        </p:txBody>
      </p:sp>
      <p:sp>
        <p:nvSpPr>
          <p:cNvPr id="7" name="Shape 4"/>
          <p:cNvSpPr/>
          <p:nvPr/>
        </p:nvSpPr>
        <p:spPr>
          <a:xfrm>
            <a:off x="9464040" y="868680"/>
            <a:ext cx="786384" cy="786384"/>
          </a:xfrm>
          <a:prstGeom prst="ellipse">
            <a:avLst/>
          </a:prstGeom>
          <a:solidFill>
            <a:srgbClr val="13707B"/>
          </a:solidFill>
          <a:ln w="9525">
            <a:solidFill>
              <a:srgbClr val="D4A12A"/>
            </a:solidFill>
            <a:prstDash val="solid"/>
          </a:ln>
        </p:spPr>
      </p:sp>
      <p:sp>
        <p:nvSpPr>
          <p:cNvPr id="8" name="Text 5"/>
          <p:cNvSpPr txBox="1"/>
          <p:nvPr/>
        </p:nvSpPr>
        <p:spPr>
          <a:xfrm>
            <a:off x="9464040" y="868680"/>
            <a:ext cx="786384" cy="786384"/>
          </a:xfrm>
          <a:prstGeom prst="rect">
            <a:avLst/>
          </a:prstGeom>
          <a:noFill/>
          <a:ln/>
        </p:spPr>
        <p:txBody>
          <a:bodyPr wrap="square" lIns="0" tIns="0" rIns="0" bIns="0" rtlCol="0" anchor="ctr"/>
          <a:lstStyle/>
          <a:p>
            <a:pPr algn="ctr" indent="0" marL="0">
              <a:lnSpc>
                <a:spcPts val="2400"/>
              </a:lnSpc>
              <a:buNone/>
            </a:pPr>
            <a:r>
              <a:rPr lang="en-AU" sz="2000" b="1" dirty="0">
                <a:solidFill>
                  <a:srgbClr val="FFFFFF"/>
                </a:solidFill>
                <a:latin typeface="Cambria" pitchFamily="34" charset="0"/>
                <a:ea typeface="Cambria" pitchFamily="34" charset="-122"/>
                <a:cs typeface="Cambria" pitchFamily="34" charset="-120"/>
              </a:rPr>
              <a:t>V</a:t>
            </a:r>
            <a:r>
              <a:rPr lang="en-AU" sz="2360" b="1" baseline="-25000" dirty="0">
                <a:solidFill>
                  <a:srgbClr val="FFFFFF"/>
                </a:solidFill>
                <a:latin typeface="Cambria" pitchFamily="34" charset="0"/>
                <a:ea typeface="Cambria" pitchFamily="34" charset="-122"/>
                <a:cs typeface="Cambria" pitchFamily="34" charset="-120"/>
              </a:rPr>
              <a:t>I</a:t>
            </a:r>
            <a:endParaRPr lang="en-AU" sz="2000" dirty="0"/>
          </a:p>
        </p:txBody>
      </p:sp>
      <p:sp>
        <p:nvSpPr>
          <p:cNvPr id="9" name="Text 6"/>
          <p:cNvSpPr txBox="1"/>
          <p:nvPr/>
        </p:nvSpPr>
        <p:spPr>
          <a:xfrm>
            <a:off x="10433304" y="941832"/>
            <a:ext cx="1417320" cy="640080"/>
          </a:xfrm>
          <a:prstGeom prst="rect">
            <a:avLst/>
          </a:prstGeom>
          <a:noFill/>
          <a:ln/>
        </p:spPr>
        <p:txBody>
          <a:bodyPr wrap="square" lIns="0" tIns="0" rIns="0" bIns="0" rtlCol="0" anchor="ctr"/>
          <a:lstStyle/>
          <a:p>
            <a:pPr indent="0" marL="0">
              <a:buNone/>
            </a:pPr>
            <a:r>
              <a:rPr lang="en-AU" sz="1400" dirty="0">
                <a:solidFill>
                  <a:srgbClr val="FFFFFF"/>
                </a:solidFill>
                <a:latin typeface="Calibri" pitchFamily="34" charset="0"/>
                <a:ea typeface="Calibri" pitchFamily="34" charset="-122"/>
                <a:cs typeface="Calibri" pitchFamily="34" charset="-120"/>
              </a:rPr>
              <a:t>Identity and authority</a:t>
            </a:r>
            <a:endParaRPr lang="en-AU" sz="1400" dirty="0"/>
          </a:p>
        </p:txBody>
      </p:sp>
      <p:sp>
        <p:nvSpPr>
          <p:cNvPr id="10" name="Shape 7"/>
          <p:cNvSpPr/>
          <p:nvPr/>
        </p:nvSpPr>
        <p:spPr>
          <a:xfrm>
            <a:off x="9464040" y="1892808"/>
            <a:ext cx="786384" cy="786384"/>
          </a:xfrm>
          <a:prstGeom prst="ellipse">
            <a:avLst/>
          </a:prstGeom>
          <a:solidFill>
            <a:srgbClr val="13707B"/>
          </a:solidFill>
          <a:ln w="9525">
            <a:solidFill>
              <a:srgbClr val="D4A12A"/>
            </a:solidFill>
            <a:prstDash val="solid"/>
          </a:ln>
        </p:spPr>
      </p:sp>
      <p:sp>
        <p:nvSpPr>
          <p:cNvPr id="11" name="Text 8"/>
          <p:cNvSpPr txBox="1"/>
          <p:nvPr/>
        </p:nvSpPr>
        <p:spPr>
          <a:xfrm>
            <a:off x="9464040" y="1892808"/>
            <a:ext cx="786384" cy="786384"/>
          </a:xfrm>
          <a:prstGeom prst="rect">
            <a:avLst/>
          </a:prstGeom>
          <a:noFill/>
          <a:ln/>
        </p:spPr>
        <p:txBody>
          <a:bodyPr wrap="square" lIns="0" tIns="0" rIns="0" bIns="0" rtlCol="0" anchor="ctr"/>
          <a:lstStyle/>
          <a:p>
            <a:pPr algn="ctr" indent="0" marL="0">
              <a:lnSpc>
                <a:spcPts val="2400"/>
              </a:lnSpc>
              <a:buNone/>
            </a:pPr>
            <a:r>
              <a:rPr lang="en-AU" sz="2000" b="1" dirty="0">
                <a:solidFill>
                  <a:srgbClr val="FFFFFF"/>
                </a:solidFill>
                <a:latin typeface="Cambria" pitchFamily="34" charset="0"/>
                <a:ea typeface="Cambria" pitchFamily="34" charset="-122"/>
                <a:cs typeface="Cambria" pitchFamily="34" charset="-120"/>
              </a:rPr>
              <a:t>V</a:t>
            </a:r>
            <a:r>
              <a:rPr lang="en-AU" sz="2360" b="1" baseline="-25000" dirty="0">
                <a:solidFill>
                  <a:srgbClr val="FFFFFF"/>
                </a:solidFill>
                <a:latin typeface="Cambria" pitchFamily="34" charset="0"/>
                <a:ea typeface="Cambria" pitchFamily="34" charset="-122"/>
                <a:cs typeface="Cambria" pitchFamily="34" charset="-120"/>
              </a:rPr>
              <a:t>A</a:t>
            </a:r>
            <a:endParaRPr lang="en-AU" sz="2000" dirty="0"/>
          </a:p>
        </p:txBody>
      </p:sp>
      <p:sp>
        <p:nvSpPr>
          <p:cNvPr id="12" name="Text 9"/>
          <p:cNvSpPr txBox="1"/>
          <p:nvPr/>
        </p:nvSpPr>
        <p:spPr>
          <a:xfrm>
            <a:off x="10433304" y="1965960"/>
            <a:ext cx="1417320" cy="640080"/>
          </a:xfrm>
          <a:prstGeom prst="rect">
            <a:avLst/>
          </a:prstGeom>
          <a:noFill/>
          <a:ln/>
        </p:spPr>
        <p:txBody>
          <a:bodyPr wrap="square" lIns="0" tIns="0" rIns="0" bIns="0" rtlCol="0" anchor="ctr"/>
          <a:lstStyle/>
          <a:p>
            <a:pPr indent="0" marL="0">
              <a:buNone/>
            </a:pPr>
            <a:r>
              <a:rPr lang="en-AU" sz="1400" dirty="0">
                <a:solidFill>
                  <a:srgbClr val="FFFFFF"/>
                </a:solidFill>
                <a:latin typeface="Calibri" pitchFamily="34" charset="0"/>
                <a:ea typeface="Calibri" pitchFamily="34" charset="-122"/>
                <a:cs typeface="Calibri" pitchFamily="34" charset="-120"/>
              </a:rPr>
              <a:t>Approval</a:t>
            </a:r>
            <a:endParaRPr lang="en-AU" sz="1400" dirty="0"/>
          </a:p>
        </p:txBody>
      </p:sp>
      <p:sp>
        <p:nvSpPr>
          <p:cNvPr id="13" name="Shape 10"/>
          <p:cNvSpPr/>
          <p:nvPr/>
        </p:nvSpPr>
        <p:spPr>
          <a:xfrm>
            <a:off x="9464040" y="2916936"/>
            <a:ext cx="786384" cy="786384"/>
          </a:xfrm>
          <a:prstGeom prst="ellipse">
            <a:avLst/>
          </a:prstGeom>
          <a:solidFill>
            <a:srgbClr val="13707B"/>
          </a:solidFill>
          <a:ln w="9525">
            <a:solidFill>
              <a:srgbClr val="D4A12A"/>
            </a:solidFill>
            <a:prstDash val="solid"/>
          </a:ln>
        </p:spPr>
      </p:sp>
      <p:sp>
        <p:nvSpPr>
          <p:cNvPr id="14" name="Text 11"/>
          <p:cNvSpPr txBox="1"/>
          <p:nvPr/>
        </p:nvSpPr>
        <p:spPr>
          <a:xfrm>
            <a:off x="9464040" y="2916936"/>
            <a:ext cx="786384" cy="786384"/>
          </a:xfrm>
          <a:prstGeom prst="rect">
            <a:avLst/>
          </a:prstGeom>
          <a:noFill/>
          <a:ln/>
        </p:spPr>
        <p:txBody>
          <a:bodyPr wrap="square" lIns="0" tIns="0" rIns="0" bIns="0" rtlCol="0" anchor="ctr"/>
          <a:lstStyle/>
          <a:p>
            <a:pPr algn="ctr" indent="0" marL="0">
              <a:lnSpc>
                <a:spcPts val="2400"/>
              </a:lnSpc>
              <a:buNone/>
            </a:pPr>
            <a:r>
              <a:rPr lang="en-AU" sz="2000" b="1" dirty="0">
                <a:solidFill>
                  <a:srgbClr val="FFFFFF"/>
                </a:solidFill>
                <a:latin typeface="Cambria" pitchFamily="34" charset="0"/>
                <a:ea typeface="Cambria" pitchFamily="34" charset="-122"/>
                <a:cs typeface="Cambria" pitchFamily="34" charset="-120"/>
              </a:rPr>
              <a:t>V</a:t>
            </a:r>
            <a:r>
              <a:rPr lang="en-AU" sz="2360" b="1" baseline="-25000" dirty="0">
                <a:solidFill>
                  <a:srgbClr val="FFFFFF"/>
                </a:solidFill>
                <a:latin typeface="Cambria" pitchFamily="34" charset="0"/>
                <a:ea typeface="Cambria" pitchFamily="34" charset="-122"/>
                <a:cs typeface="Cambria" pitchFamily="34" charset="-120"/>
              </a:rPr>
              <a:t>P</a:t>
            </a:r>
            <a:endParaRPr lang="en-AU" sz="2000" dirty="0"/>
          </a:p>
        </p:txBody>
      </p:sp>
      <p:sp>
        <p:nvSpPr>
          <p:cNvPr id="15" name="Text 12"/>
          <p:cNvSpPr txBox="1"/>
          <p:nvPr/>
        </p:nvSpPr>
        <p:spPr>
          <a:xfrm>
            <a:off x="10433304" y="2990088"/>
            <a:ext cx="1417320" cy="640080"/>
          </a:xfrm>
          <a:prstGeom prst="rect">
            <a:avLst/>
          </a:prstGeom>
          <a:noFill/>
          <a:ln/>
        </p:spPr>
        <p:txBody>
          <a:bodyPr wrap="square" lIns="0" tIns="0" rIns="0" bIns="0" rtlCol="0" anchor="ctr"/>
          <a:lstStyle/>
          <a:p>
            <a:pPr indent="0" marL="0">
              <a:buNone/>
            </a:pPr>
            <a:r>
              <a:rPr lang="en-AU" sz="1400" dirty="0">
                <a:solidFill>
                  <a:srgbClr val="FFFFFF"/>
                </a:solidFill>
                <a:latin typeface="Calibri" pitchFamily="34" charset="0"/>
                <a:ea typeface="Calibri" pitchFamily="34" charset="-122"/>
                <a:cs typeface="Calibri" pitchFamily="34" charset="-120"/>
              </a:rPr>
              <a:t>Policy</a:t>
            </a:r>
            <a:endParaRPr lang="en-AU" sz="1400" dirty="0"/>
          </a:p>
        </p:txBody>
      </p:sp>
      <p:sp>
        <p:nvSpPr>
          <p:cNvPr id="16" name="Shape 13"/>
          <p:cNvSpPr/>
          <p:nvPr/>
        </p:nvSpPr>
        <p:spPr>
          <a:xfrm>
            <a:off x="9464040" y="3941064"/>
            <a:ext cx="786384" cy="786384"/>
          </a:xfrm>
          <a:prstGeom prst="ellipse">
            <a:avLst/>
          </a:prstGeom>
          <a:solidFill>
            <a:srgbClr val="0E3B43"/>
          </a:solidFill>
          <a:ln w="19050">
            <a:solidFill>
              <a:srgbClr val="D4A12A"/>
            </a:solidFill>
            <a:prstDash val="solid"/>
          </a:ln>
        </p:spPr>
      </p:sp>
      <p:sp>
        <p:nvSpPr>
          <p:cNvPr id="17" name="Text 14"/>
          <p:cNvSpPr txBox="1"/>
          <p:nvPr/>
        </p:nvSpPr>
        <p:spPr>
          <a:xfrm>
            <a:off x="9464040" y="3941064"/>
            <a:ext cx="786384" cy="786384"/>
          </a:xfrm>
          <a:prstGeom prst="rect">
            <a:avLst/>
          </a:prstGeom>
          <a:noFill/>
          <a:ln/>
        </p:spPr>
        <p:txBody>
          <a:bodyPr wrap="square" lIns="0" tIns="0" rIns="0" bIns="0" rtlCol="0" anchor="ctr"/>
          <a:lstStyle/>
          <a:p>
            <a:pPr algn="ctr" indent="0" marL="0">
              <a:lnSpc>
                <a:spcPts val="2400"/>
              </a:lnSpc>
              <a:buNone/>
            </a:pPr>
            <a:r>
              <a:rPr lang="en-AU" sz="2000" b="1" dirty="0">
                <a:solidFill>
                  <a:srgbClr val="FFFFFF"/>
                </a:solidFill>
                <a:latin typeface="Cambria" pitchFamily="34" charset="0"/>
                <a:ea typeface="Cambria" pitchFamily="34" charset="-122"/>
                <a:cs typeface="Cambria" pitchFamily="34" charset="-120"/>
              </a:rPr>
              <a:t>V</a:t>
            </a:r>
            <a:r>
              <a:rPr lang="en-AU" sz="2360" b="1" baseline="-25000" dirty="0">
                <a:solidFill>
                  <a:srgbClr val="FFFFFF"/>
                </a:solidFill>
                <a:latin typeface="Cambria" pitchFamily="34" charset="0"/>
                <a:ea typeface="Cambria" pitchFamily="34" charset="-122"/>
                <a:cs typeface="Cambria" pitchFamily="34" charset="-120"/>
              </a:rPr>
              <a:t>T</a:t>
            </a:r>
            <a:endParaRPr lang="en-AU" sz="2000" dirty="0"/>
          </a:p>
        </p:txBody>
      </p:sp>
      <p:sp>
        <p:nvSpPr>
          <p:cNvPr id="18" name="Text 15"/>
          <p:cNvSpPr txBox="1"/>
          <p:nvPr/>
        </p:nvSpPr>
        <p:spPr>
          <a:xfrm>
            <a:off x="10433304" y="4014216"/>
            <a:ext cx="1417320" cy="640080"/>
          </a:xfrm>
          <a:prstGeom prst="rect">
            <a:avLst/>
          </a:prstGeom>
          <a:noFill/>
          <a:ln/>
        </p:spPr>
        <p:txBody>
          <a:bodyPr wrap="square" lIns="0" tIns="0" rIns="0" bIns="0" rtlCol="0" anchor="ctr"/>
          <a:lstStyle/>
          <a:p>
            <a:pPr indent="0" marL="0">
              <a:buNone/>
            </a:pPr>
            <a:r>
              <a:rPr lang="en-AU" sz="1400" dirty="0">
                <a:solidFill>
                  <a:srgbClr val="CFE3E6"/>
                </a:solidFill>
                <a:latin typeface="Calibri" pitchFamily="34" charset="0"/>
                <a:ea typeface="Calibri" pitchFamily="34" charset="-122"/>
                <a:cs typeface="Calibri" pitchFamily="34" charset="-120"/>
              </a:rPr>
              <a:t>Time</a:t>
            </a:r>
            <a:endParaRPr lang="en-AU" sz="1400" dirty="0"/>
          </a:p>
        </p:txBody>
      </p:sp>
      <p:sp>
        <p:nvSpPr>
          <p:cNvPr id="19" name="Shape 16"/>
          <p:cNvSpPr/>
          <p:nvPr/>
        </p:nvSpPr>
        <p:spPr>
          <a:xfrm>
            <a:off x="9464040" y="4965192"/>
            <a:ext cx="786384" cy="786384"/>
          </a:xfrm>
          <a:prstGeom prst="ellipse">
            <a:avLst/>
          </a:prstGeom>
          <a:solidFill>
            <a:srgbClr val="0E3B43"/>
          </a:solidFill>
          <a:ln w="19050">
            <a:solidFill>
              <a:srgbClr val="D4A12A"/>
            </a:solidFill>
            <a:prstDash val="solid"/>
          </a:ln>
        </p:spPr>
      </p:sp>
      <p:sp>
        <p:nvSpPr>
          <p:cNvPr id="20" name="Text 17"/>
          <p:cNvSpPr txBox="1"/>
          <p:nvPr/>
        </p:nvSpPr>
        <p:spPr>
          <a:xfrm>
            <a:off x="9464040" y="4965192"/>
            <a:ext cx="786384" cy="786384"/>
          </a:xfrm>
          <a:prstGeom prst="rect">
            <a:avLst/>
          </a:prstGeom>
          <a:noFill/>
          <a:ln/>
        </p:spPr>
        <p:txBody>
          <a:bodyPr wrap="square" lIns="0" tIns="0" rIns="0" bIns="0" rtlCol="0" anchor="ctr"/>
          <a:lstStyle/>
          <a:p>
            <a:pPr algn="ctr" indent="0" marL="0">
              <a:lnSpc>
                <a:spcPts val="2400"/>
              </a:lnSpc>
              <a:buNone/>
            </a:pPr>
            <a:r>
              <a:rPr lang="en-AU" sz="2000" b="1" dirty="0">
                <a:solidFill>
                  <a:srgbClr val="FFFFFF"/>
                </a:solidFill>
                <a:latin typeface="Cambria" pitchFamily="34" charset="0"/>
                <a:ea typeface="Cambria" pitchFamily="34" charset="-122"/>
                <a:cs typeface="Cambria" pitchFamily="34" charset="-120"/>
              </a:rPr>
              <a:t>V</a:t>
            </a:r>
            <a:r>
              <a:rPr lang="en-AU" sz="2360" b="1" baseline="-25000" dirty="0">
                <a:solidFill>
                  <a:srgbClr val="FFFFFF"/>
                </a:solidFill>
                <a:latin typeface="Cambria" pitchFamily="34" charset="0"/>
                <a:ea typeface="Cambria" pitchFamily="34" charset="-122"/>
                <a:cs typeface="Cambria" pitchFamily="34" charset="-120"/>
              </a:rPr>
              <a:t>L</a:t>
            </a:r>
            <a:endParaRPr lang="en-AU" sz="2000" dirty="0"/>
          </a:p>
        </p:txBody>
      </p:sp>
      <p:sp>
        <p:nvSpPr>
          <p:cNvPr id="21" name="Text 18"/>
          <p:cNvSpPr txBox="1"/>
          <p:nvPr/>
        </p:nvSpPr>
        <p:spPr>
          <a:xfrm>
            <a:off x="10433304" y="5038344"/>
            <a:ext cx="1417320" cy="640080"/>
          </a:xfrm>
          <a:prstGeom prst="rect">
            <a:avLst/>
          </a:prstGeom>
          <a:noFill/>
          <a:ln/>
        </p:spPr>
        <p:txBody>
          <a:bodyPr wrap="square" lIns="0" tIns="0" rIns="0" bIns="0" rtlCol="0" anchor="ctr"/>
          <a:lstStyle/>
          <a:p>
            <a:pPr indent="0" marL="0">
              <a:buNone/>
            </a:pPr>
            <a:r>
              <a:rPr lang="en-AU" sz="1400" dirty="0">
                <a:solidFill>
                  <a:srgbClr val="CFE3E6"/>
                </a:solidFill>
                <a:latin typeface="Calibri" pitchFamily="34" charset="0"/>
                <a:ea typeface="Calibri" pitchFamily="34" charset="-122"/>
                <a:cs typeface="Calibri" pitchFamily="34" charset="-120"/>
              </a:rPr>
              <a:t>Lifecycle</a:t>
            </a:r>
            <a:endParaRPr lang="en-AU" sz="1400" dirty="0"/>
          </a:p>
        </p:txBody>
      </p:sp>
      <p:sp>
        <p:nvSpPr>
          <p:cNvPr id="22" name="Shape 19"/>
          <p:cNvSpPr/>
          <p:nvPr/>
        </p:nvSpPr>
        <p:spPr>
          <a:xfrm>
            <a:off x="9464040" y="6108192"/>
            <a:ext cx="182880" cy="182880"/>
          </a:xfrm>
          <a:prstGeom prst="ellipse">
            <a:avLst/>
          </a:prstGeom>
          <a:solidFill>
            <a:srgbClr val="13707B"/>
          </a:solidFill>
          <a:ln w="9525">
            <a:solidFill>
              <a:srgbClr val="D4A12A"/>
            </a:solidFill>
            <a:prstDash val="solid"/>
          </a:ln>
        </p:spPr>
      </p:sp>
      <p:sp>
        <p:nvSpPr>
          <p:cNvPr id="23" name="Text 20"/>
          <p:cNvSpPr txBox="1"/>
          <p:nvPr/>
        </p:nvSpPr>
        <p:spPr>
          <a:xfrm>
            <a:off x="9710928" y="6053328"/>
            <a:ext cx="1143000" cy="292608"/>
          </a:xfrm>
          <a:prstGeom prst="rect">
            <a:avLst/>
          </a:prstGeom>
          <a:noFill/>
          <a:ln/>
        </p:spPr>
        <p:txBody>
          <a:bodyPr wrap="square" lIns="0" tIns="0" rIns="0" bIns="0" rtlCol="0" anchor="ctr"/>
          <a:lstStyle/>
          <a:p>
            <a:pPr indent="0" marL="0">
              <a:buNone/>
            </a:pPr>
            <a:r>
              <a:rPr lang="en-AU" sz="1200" dirty="0">
                <a:solidFill>
                  <a:srgbClr val="CFE3E6"/>
                </a:solidFill>
                <a:latin typeface="Calibri" pitchFamily="34" charset="0"/>
                <a:ea typeface="Calibri" pitchFamily="34" charset="-122"/>
                <a:cs typeface="Calibri" pitchFamily="34" charset="-120"/>
              </a:rPr>
              <a:t>current stage</a:t>
            </a:r>
            <a:endParaRPr lang="en-AU" sz="1200" dirty="0"/>
          </a:p>
        </p:txBody>
      </p:sp>
      <p:sp>
        <p:nvSpPr>
          <p:cNvPr id="24" name="Shape 21"/>
          <p:cNvSpPr/>
          <p:nvPr/>
        </p:nvSpPr>
        <p:spPr>
          <a:xfrm>
            <a:off x="10835640" y="6108192"/>
            <a:ext cx="182880" cy="182880"/>
          </a:xfrm>
          <a:prstGeom prst="ellipse">
            <a:avLst/>
          </a:prstGeom>
          <a:solidFill>
            <a:srgbClr val="0E3B43"/>
          </a:solidFill>
          <a:ln w="15240">
            <a:solidFill>
              <a:srgbClr val="D4A12A"/>
            </a:solidFill>
            <a:prstDash val="solid"/>
          </a:ln>
        </p:spPr>
      </p:sp>
      <p:sp>
        <p:nvSpPr>
          <p:cNvPr id="25" name="Text 22"/>
          <p:cNvSpPr txBox="1"/>
          <p:nvPr/>
        </p:nvSpPr>
        <p:spPr>
          <a:xfrm>
            <a:off x="11082528" y="6053328"/>
            <a:ext cx="960120" cy="292608"/>
          </a:xfrm>
          <a:prstGeom prst="rect">
            <a:avLst/>
          </a:prstGeom>
          <a:noFill/>
          <a:ln/>
        </p:spPr>
        <p:txBody>
          <a:bodyPr wrap="square" lIns="0" tIns="0" rIns="0" bIns="0" rtlCol="0" anchor="ctr"/>
          <a:lstStyle/>
          <a:p>
            <a:pPr indent="0" marL="0">
              <a:buNone/>
            </a:pPr>
            <a:r>
              <a:rPr lang="en-AU" sz="1200" dirty="0">
                <a:solidFill>
                  <a:srgbClr val="CFE3E6"/>
                </a:solidFill>
                <a:latin typeface="Calibri" pitchFamily="34" charset="0"/>
                <a:ea typeface="Calibri" pitchFamily="34" charset="-122"/>
                <a:cs typeface="Calibri" pitchFamily="34" charset="-120"/>
              </a:rPr>
              <a:t>next stage</a:t>
            </a:r>
            <a:endParaRPr lang="en-AU"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Five parts of this presentation</a:t>
            </a:r>
            <a:endParaRPr lang="en-AU" sz="3000" dirty="0"/>
          </a:p>
        </p:txBody>
      </p:sp>
      <p:sp>
        <p:nvSpPr>
          <p:cNvPr id="4" name="Text 1"/>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5" name="Text 2"/>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 / 43</a:t>
            </a:r>
            <a:endParaRPr lang="en-AU" sz="1000" dirty="0"/>
          </a:p>
        </p:txBody>
      </p:sp>
      <p:sp>
        <p:nvSpPr>
          <p:cNvPr id="6" name="Shape 3"/>
          <p:cNvSpPr/>
          <p:nvPr/>
        </p:nvSpPr>
        <p:spPr>
          <a:xfrm>
            <a:off x="640080" y="1463040"/>
            <a:ext cx="658368" cy="658368"/>
          </a:xfrm>
          <a:prstGeom prst="ellipse">
            <a:avLst/>
          </a:prstGeom>
          <a:solidFill>
            <a:srgbClr val="0E3B43"/>
          </a:solidFill>
          <a:ln w="12700">
            <a:solidFill>
              <a:srgbClr val="0E3B43"/>
            </a:solidFill>
            <a:prstDash val="solid"/>
          </a:ln>
        </p:spPr>
      </p:sp>
      <p:sp>
        <p:nvSpPr>
          <p:cNvPr id="7" name="Text 4"/>
          <p:cNvSpPr txBox="1"/>
          <p:nvPr/>
        </p:nvSpPr>
        <p:spPr>
          <a:xfrm>
            <a:off x="640080" y="1463040"/>
            <a:ext cx="658368" cy="658368"/>
          </a:xfrm>
          <a:prstGeom prst="rect">
            <a:avLst/>
          </a:prstGeom>
          <a:noFill/>
          <a:ln/>
        </p:spPr>
        <p:txBody>
          <a:bodyPr wrap="square" lIns="0" tIns="0" rIns="0" bIns="0" rtlCol="0" anchor="ctr"/>
          <a:lstStyle/>
          <a:p>
            <a:pPr algn="ctr" indent="0" marL="0">
              <a:buNone/>
            </a:pPr>
            <a:r>
              <a:rPr lang="en-AU" sz="2200" b="1" dirty="0">
                <a:solidFill>
                  <a:srgbClr val="FFFFFF"/>
                </a:solidFill>
                <a:latin typeface="Calibri" pitchFamily="34" charset="0"/>
                <a:ea typeface="Calibri" pitchFamily="34" charset="-122"/>
                <a:cs typeface="Calibri" pitchFamily="34" charset="-120"/>
              </a:rPr>
              <a:t>A</a:t>
            </a:r>
            <a:endParaRPr lang="en-AU" sz="2200" dirty="0"/>
          </a:p>
        </p:txBody>
      </p:sp>
      <p:sp>
        <p:nvSpPr>
          <p:cNvPr id="8" name="Text 5"/>
          <p:cNvSpPr txBox="1"/>
          <p:nvPr/>
        </p:nvSpPr>
        <p:spPr>
          <a:xfrm>
            <a:off x="1554480" y="1435608"/>
            <a:ext cx="9875520" cy="384048"/>
          </a:xfrm>
          <a:prstGeom prst="rect">
            <a:avLst/>
          </a:prstGeom>
          <a:noFill/>
          <a:ln/>
        </p:spPr>
        <p:txBody>
          <a:bodyPr wrap="square" lIns="0" tIns="0" rIns="0" bIns="0" rtlCol="0" anchor="t"/>
          <a:lstStyle/>
          <a:p>
            <a:pPr indent="0" marL="0">
              <a:buNone/>
            </a:pPr>
            <a:r>
              <a:rPr lang="en-AU" sz="2100" b="1" dirty="0">
                <a:solidFill>
                  <a:srgbClr val="0E3B43"/>
                </a:solidFill>
                <a:latin typeface="Cambria" pitchFamily="34" charset="0"/>
                <a:ea typeface="Cambria" pitchFamily="34" charset="-122"/>
                <a:cs typeface="Cambria" pitchFamily="34" charset="-120"/>
              </a:rPr>
              <a:t>Background and literature</a:t>
            </a:r>
            <a:endParaRPr lang="en-AU" sz="2100" dirty="0"/>
          </a:p>
        </p:txBody>
      </p:sp>
      <p:sp>
        <p:nvSpPr>
          <p:cNvPr id="9" name="Text 6"/>
          <p:cNvSpPr txBox="1"/>
          <p:nvPr/>
        </p:nvSpPr>
        <p:spPr>
          <a:xfrm>
            <a:off x="1554480" y="1828800"/>
            <a:ext cx="9875520" cy="347472"/>
          </a:xfrm>
          <a:prstGeom prst="rect">
            <a:avLst/>
          </a:prstGeom>
          <a:noFill/>
          <a:ln/>
        </p:spPr>
        <p:txBody>
          <a:bodyPr wrap="square" lIns="0" tIns="0" rIns="0" bIns="0" rtlCol="0" anchor="t"/>
          <a:lstStyle/>
          <a:p>
            <a:pPr indent="0" marL="0">
              <a:buNone/>
            </a:pPr>
            <a:r>
              <a:rPr lang="en-AU" sz="1500" dirty="0">
                <a:solidFill>
                  <a:srgbClr val="5E6E73"/>
                </a:solidFill>
                <a:latin typeface="Calibri" pitchFamily="34" charset="0"/>
                <a:ea typeface="Calibri" pitchFamily="34" charset="-122"/>
                <a:cs typeface="Calibri" pitchFamily="34" charset="-120"/>
              </a:rPr>
              <a:t>Chapters 1–2: context, problem, key requirements and systematic review</a:t>
            </a:r>
            <a:endParaRPr lang="en-AU" sz="1500" dirty="0"/>
          </a:p>
        </p:txBody>
      </p:sp>
      <p:sp>
        <p:nvSpPr>
          <p:cNvPr id="10" name="Shape 7"/>
          <p:cNvSpPr/>
          <p:nvPr/>
        </p:nvSpPr>
        <p:spPr>
          <a:xfrm>
            <a:off x="640080" y="2395728"/>
            <a:ext cx="658368" cy="658368"/>
          </a:xfrm>
          <a:prstGeom prst="ellipse">
            <a:avLst/>
          </a:prstGeom>
          <a:solidFill>
            <a:srgbClr val="13707B"/>
          </a:solidFill>
          <a:ln w="12700">
            <a:solidFill>
              <a:srgbClr val="13707B"/>
            </a:solidFill>
            <a:prstDash val="solid"/>
          </a:ln>
        </p:spPr>
      </p:sp>
      <p:sp>
        <p:nvSpPr>
          <p:cNvPr id="11" name="Text 8"/>
          <p:cNvSpPr txBox="1"/>
          <p:nvPr/>
        </p:nvSpPr>
        <p:spPr>
          <a:xfrm>
            <a:off x="640080" y="2395728"/>
            <a:ext cx="658368" cy="658368"/>
          </a:xfrm>
          <a:prstGeom prst="rect">
            <a:avLst/>
          </a:prstGeom>
          <a:noFill/>
          <a:ln/>
        </p:spPr>
        <p:txBody>
          <a:bodyPr wrap="square" lIns="0" tIns="0" rIns="0" bIns="0" rtlCol="0" anchor="ctr"/>
          <a:lstStyle/>
          <a:p>
            <a:pPr algn="ctr" indent="0" marL="0">
              <a:buNone/>
            </a:pPr>
            <a:r>
              <a:rPr lang="en-AU" sz="2200" b="1" dirty="0">
                <a:solidFill>
                  <a:srgbClr val="FFFFFF"/>
                </a:solidFill>
                <a:latin typeface="Calibri" pitchFamily="34" charset="0"/>
                <a:ea typeface="Calibri" pitchFamily="34" charset="-122"/>
                <a:cs typeface="Calibri" pitchFamily="34" charset="-120"/>
              </a:rPr>
              <a:t>B</a:t>
            </a:r>
            <a:endParaRPr lang="en-AU" sz="2200" dirty="0"/>
          </a:p>
        </p:txBody>
      </p:sp>
      <p:sp>
        <p:nvSpPr>
          <p:cNvPr id="12" name="Text 9"/>
          <p:cNvSpPr txBox="1"/>
          <p:nvPr/>
        </p:nvSpPr>
        <p:spPr>
          <a:xfrm>
            <a:off x="1554480" y="2368296"/>
            <a:ext cx="9875520" cy="384048"/>
          </a:xfrm>
          <a:prstGeom prst="rect">
            <a:avLst/>
          </a:prstGeom>
          <a:noFill/>
          <a:ln/>
        </p:spPr>
        <p:txBody>
          <a:bodyPr wrap="square" lIns="0" tIns="0" rIns="0" bIns="0" rtlCol="0" anchor="t"/>
          <a:lstStyle/>
          <a:p>
            <a:pPr indent="0" marL="0">
              <a:buNone/>
            </a:pPr>
            <a:r>
              <a:rPr lang="en-AU" sz="2100" b="1" dirty="0">
                <a:solidFill>
                  <a:srgbClr val="0E3B43"/>
                </a:solidFill>
                <a:latin typeface="Cambria" pitchFamily="34" charset="0"/>
                <a:ea typeface="Cambria" pitchFamily="34" charset="-122"/>
                <a:cs typeface="Cambria" pitchFamily="34" charset="-120"/>
              </a:rPr>
              <a:t>Research design</a:t>
            </a:r>
            <a:endParaRPr lang="en-AU" sz="2100" dirty="0"/>
          </a:p>
        </p:txBody>
      </p:sp>
      <p:sp>
        <p:nvSpPr>
          <p:cNvPr id="13" name="Text 10"/>
          <p:cNvSpPr txBox="1"/>
          <p:nvPr/>
        </p:nvSpPr>
        <p:spPr>
          <a:xfrm>
            <a:off x="1554480" y="2761488"/>
            <a:ext cx="9875520" cy="347472"/>
          </a:xfrm>
          <a:prstGeom prst="rect">
            <a:avLst/>
          </a:prstGeom>
          <a:noFill/>
          <a:ln/>
        </p:spPr>
        <p:txBody>
          <a:bodyPr wrap="square" lIns="0" tIns="0" rIns="0" bIns="0" rtlCol="0" anchor="t"/>
          <a:lstStyle/>
          <a:p>
            <a:pPr indent="0" marL="0">
              <a:buNone/>
            </a:pPr>
            <a:r>
              <a:rPr lang="en-AU" sz="1500" dirty="0">
                <a:solidFill>
                  <a:srgbClr val="5E6E73"/>
                </a:solidFill>
                <a:latin typeface="Calibri" pitchFamily="34" charset="0"/>
                <a:ea typeface="Calibri" pitchFamily="34" charset="-122"/>
                <a:cs typeface="Calibri" pitchFamily="34" charset="-120"/>
              </a:rPr>
              <a:t>Chapters 3–4: research gap, main question, SRQ1–SRQ6 and RO1–RO6</a:t>
            </a:r>
            <a:endParaRPr lang="en-AU" sz="1500" dirty="0"/>
          </a:p>
        </p:txBody>
      </p:sp>
      <p:sp>
        <p:nvSpPr>
          <p:cNvPr id="14" name="Shape 11"/>
          <p:cNvSpPr/>
          <p:nvPr/>
        </p:nvSpPr>
        <p:spPr>
          <a:xfrm>
            <a:off x="640080" y="3328416"/>
            <a:ext cx="658368" cy="658368"/>
          </a:xfrm>
          <a:prstGeom prst="ellipse">
            <a:avLst/>
          </a:prstGeom>
          <a:solidFill>
            <a:srgbClr val="0E3B43"/>
          </a:solidFill>
          <a:ln w="12700">
            <a:solidFill>
              <a:srgbClr val="0E3B43"/>
            </a:solidFill>
            <a:prstDash val="solid"/>
          </a:ln>
        </p:spPr>
      </p:sp>
      <p:sp>
        <p:nvSpPr>
          <p:cNvPr id="15" name="Text 12"/>
          <p:cNvSpPr txBox="1"/>
          <p:nvPr/>
        </p:nvSpPr>
        <p:spPr>
          <a:xfrm>
            <a:off x="640080" y="3328416"/>
            <a:ext cx="658368" cy="658368"/>
          </a:xfrm>
          <a:prstGeom prst="rect">
            <a:avLst/>
          </a:prstGeom>
          <a:noFill/>
          <a:ln/>
        </p:spPr>
        <p:txBody>
          <a:bodyPr wrap="square" lIns="0" tIns="0" rIns="0" bIns="0" rtlCol="0" anchor="ctr"/>
          <a:lstStyle/>
          <a:p>
            <a:pPr algn="ctr" indent="0" marL="0">
              <a:buNone/>
            </a:pPr>
            <a:r>
              <a:rPr lang="en-AU" sz="2200" b="1" dirty="0">
                <a:solidFill>
                  <a:srgbClr val="FFFFFF"/>
                </a:solidFill>
                <a:latin typeface="Calibri" pitchFamily="34" charset="0"/>
                <a:ea typeface="Calibri" pitchFamily="34" charset="-122"/>
                <a:cs typeface="Calibri" pitchFamily="34" charset="-120"/>
              </a:rPr>
              <a:t>C</a:t>
            </a:r>
            <a:endParaRPr lang="en-AU" sz="2200" dirty="0"/>
          </a:p>
        </p:txBody>
      </p:sp>
      <p:sp>
        <p:nvSpPr>
          <p:cNvPr id="16" name="Text 13"/>
          <p:cNvSpPr txBox="1"/>
          <p:nvPr/>
        </p:nvSpPr>
        <p:spPr>
          <a:xfrm>
            <a:off x="1554480" y="3300984"/>
            <a:ext cx="9875520" cy="384048"/>
          </a:xfrm>
          <a:prstGeom prst="rect">
            <a:avLst/>
          </a:prstGeom>
          <a:noFill/>
          <a:ln/>
        </p:spPr>
        <p:txBody>
          <a:bodyPr wrap="square" lIns="0" tIns="0" rIns="0" bIns="0" rtlCol="0" anchor="t"/>
          <a:lstStyle/>
          <a:p>
            <a:pPr indent="0" marL="0">
              <a:buNone/>
            </a:pPr>
            <a:r>
              <a:rPr lang="en-AU" sz="2100" b="1" dirty="0">
                <a:solidFill>
                  <a:srgbClr val="0E3B43"/>
                </a:solidFill>
                <a:latin typeface="Cambria" pitchFamily="34" charset="0"/>
                <a:ea typeface="Cambria" pitchFamily="34" charset="-122"/>
                <a:cs typeface="Cambria" pitchFamily="34" charset="-120"/>
              </a:rPr>
              <a:t>Architecture and solution</a:t>
            </a:r>
            <a:endParaRPr lang="en-AU" sz="2100" dirty="0"/>
          </a:p>
        </p:txBody>
      </p:sp>
      <p:sp>
        <p:nvSpPr>
          <p:cNvPr id="17" name="Text 14"/>
          <p:cNvSpPr txBox="1"/>
          <p:nvPr/>
        </p:nvSpPr>
        <p:spPr>
          <a:xfrm>
            <a:off x="1554480" y="3694176"/>
            <a:ext cx="9875520" cy="347472"/>
          </a:xfrm>
          <a:prstGeom prst="rect">
            <a:avLst/>
          </a:prstGeom>
          <a:noFill/>
          <a:ln/>
        </p:spPr>
        <p:txBody>
          <a:bodyPr wrap="square" lIns="0" tIns="0" rIns="0" bIns="0" rtlCol="0" anchor="t"/>
          <a:lstStyle/>
          <a:p>
            <a:pPr indent="0" marL="0">
              <a:buNone/>
            </a:pPr>
            <a:r>
              <a:rPr lang="en-AU" sz="1500" dirty="0">
                <a:solidFill>
                  <a:srgbClr val="5E6E73"/>
                </a:solidFill>
                <a:latin typeface="Calibri" pitchFamily="34" charset="0"/>
                <a:ea typeface="Calibri" pitchFamily="34" charset="-122"/>
                <a:cs typeface="Calibri" pitchFamily="34" charset="-120"/>
              </a:rPr>
              <a:t>Chapters 5–6: MVC architecture; workflow and algorithm for each RO</a:t>
            </a:r>
            <a:endParaRPr lang="en-AU" sz="1500" dirty="0"/>
          </a:p>
        </p:txBody>
      </p:sp>
      <p:sp>
        <p:nvSpPr>
          <p:cNvPr id="18" name="Shape 15"/>
          <p:cNvSpPr/>
          <p:nvPr/>
        </p:nvSpPr>
        <p:spPr>
          <a:xfrm>
            <a:off x="640080" y="4261104"/>
            <a:ext cx="658368" cy="658368"/>
          </a:xfrm>
          <a:prstGeom prst="ellipse">
            <a:avLst/>
          </a:prstGeom>
          <a:solidFill>
            <a:srgbClr val="13707B"/>
          </a:solidFill>
          <a:ln w="12700">
            <a:solidFill>
              <a:srgbClr val="13707B"/>
            </a:solidFill>
            <a:prstDash val="solid"/>
          </a:ln>
        </p:spPr>
      </p:sp>
      <p:sp>
        <p:nvSpPr>
          <p:cNvPr id="19" name="Text 16"/>
          <p:cNvSpPr txBox="1"/>
          <p:nvPr/>
        </p:nvSpPr>
        <p:spPr>
          <a:xfrm>
            <a:off x="640080" y="4261104"/>
            <a:ext cx="658368" cy="658368"/>
          </a:xfrm>
          <a:prstGeom prst="rect">
            <a:avLst/>
          </a:prstGeom>
          <a:noFill/>
          <a:ln/>
        </p:spPr>
        <p:txBody>
          <a:bodyPr wrap="square" lIns="0" tIns="0" rIns="0" bIns="0" rtlCol="0" anchor="ctr"/>
          <a:lstStyle/>
          <a:p>
            <a:pPr algn="ctr" indent="0" marL="0">
              <a:buNone/>
            </a:pPr>
            <a:r>
              <a:rPr lang="en-AU" sz="2200" b="1" dirty="0">
                <a:solidFill>
                  <a:srgbClr val="FFFFFF"/>
                </a:solidFill>
                <a:latin typeface="Calibri" pitchFamily="34" charset="0"/>
                <a:ea typeface="Calibri" pitchFamily="34" charset="-122"/>
                <a:cs typeface="Calibri" pitchFamily="34" charset="-120"/>
              </a:rPr>
              <a:t>D</a:t>
            </a:r>
            <a:endParaRPr lang="en-AU" sz="2200" dirty="0"/>
          </a:p>
        </p:txBody>
      </p:sp>
      <p:sp>
        <p:nvSpPr>
          <p:cNvPr id="20" name="Text 17"/>
          <p:cNvSpPr txBox="1"/>
          <p:nvPr/>
        </p:nvSpPr>
        <p:spPr>
          <a:xfrm>
            <a:off x="1554480" y="4233672"/>
            <a:ext cx="9875520" cy="384048"/>
          </a:xfrm>
          <a:prstGeom prst="rect">
            <a:avLst/>
          </a:prstGeom>
          <a:noFill/>
          <a:ln/>
        </p:spPr>
        <p:txBody>
          <a:bodyPr wrap="square" lIns="0" tIns="0" rIns="0" bIns="0" rtlCol="0" anchor="t"/>
          <a:lstStyle/>
          <a:p>
            <a:pPr indent="0" marL="0">
              <a:buNone/>
            </a:pPr>
            <a:r>
              <a:rPr lang="en-AU" sz="2100" b="1" dirty="0">
                <a:solidFill>
                  <a:srgbClr val="0E3B43"/>
                </a:solidFill>
                <a:latin typeface="Cambria" pitchFamily="34" charset="0"/>
                <a:ea typeface="Cambria" pitchFamily="34" charset="-122"/>
                <a:cs typeface="Cambria" pitchFamily="34" charset="-120"/>
              </a:rPr>
              <a:t>HALAH prototype and evidence</a:t>
            </a:r>
            <a:endParaRPr lang="en-AU" sz="2100" dirty="0"/>
          </a:p>
        </p:txBody>
      </p:sp>
      <p:sp>
        <p:nvSpPr>
          <p:cNvPr id="21" name="Text 18"/>
          <p:cNvSpPr txBox="1"/>
          <p:nvPr/>
        </p:nvSpPr>
        <p:spPr>
          <a:xfrm>
            <a:off x="1554480" y="4626864"/>
            <a:ext cx="9875520" cy="347472"/>
          </a:xfrm>
          <a:prstGeom prst="rect">
            <a:avLst/>
          </a:prstGeom>
          <a:noFill/>
          <a:ln/>
        </p:spPr>
        <p:txBody>
          <a:bodyPr wrap="square" lIns="0" tIns="0" rIns="0" bIns="0" rtlCol="0" anchor="t"/>
          <a:lstStyle/>
          <a:p>
            <a:pPr indent="0" marL="0">
              <a:buNone/>
            </a:pPr>
            <a:r>
              <a:rPr lang="en-AU" sz="1500" dirty="0">
                <a:solidFill>
                  <a:srgbClr val="5E6E73"/>
                </a:solidFill>
                <a:latin typeface="Calibri" pitchFamily="34" charset="0"/>
                <a:ea typeface="Calibri" pitchFamily="34" charset="-122"/>
                <a:cs typeface="Calibri" pitchFamily="34" charset="-120"/>
              </a:rPr>
              <a:t>Chapter 7: four subsystems, code mapping, tests and on-chain evidence</a:t>
            </a:r>
            <a:endParaRPr lang="en-AU" sz="1500" dirty="0"/>
          </a:p>
        </p:txBody>
      </p:sp>
      <p:sp>
        <p:nvSpPr>
          <p:cNvPr id="22" name="Shape 19"/>
          <p:cNvSpPr/>
          <p:nvPr/>
        </p:nvSpPr>
        <p:spPr>
          <a:xfrm>
            <a:off x="640080" y="5193792"/>
            <a:ext cx="658368" cy="658368"/>
          </a:xfrm>
          <a:prstGeom prst="ellipse">
            <a:avLst/>
          </a:prstGeom>
          <a:solidFill>
            <a:srgbClr val="0E3B43"/>
          </a:solidFill>
          <a:ln w="12700">
            <a:solidFill>
              <a:srgbClr val="0E3B43"/>
            </a:solidFill>
            <a:prstDash val="solid"/>
          </a:ln>
        </p:spPr>
      </p:sp>
      <p:sp>
        <p:nvSpPr>
          <p:cNvPr id="23" name="Text 20"/>
          <p:cNvSpPr txBox="1"/>
          <p:nvPr/>
        </p:nvSpPr>
        <p:spPr>
          <a:xfrm>
            <a:off x="640080" y="5193792"/>
            <a:ext cx="658368" cy="658368"/>
          </a:xfrm>
          <a:prstGeom prst="rect">
            <a:avLst/>
          </a:prstGeom>
          <a:noFill/>
          <a:ln/>
        </p:spPr>
        <p:txBody>
          <a:bodyPr wrap="square" lIns="0" tIns="0" rIns="0" bIns="0" rtlCol="0" anchor="ctr"/>
          <a:lstStyle/>
          <a:p>
            <a:pPr algn="ctr" indent="0" marL="0">
              <a:buNone/>
            </a:pPr>
            <a:r>
              <a:rPr lang="en-AU" sz="2200" b="1" dirty="0">
                <a:solidFill>
                  <a:srgbClr val="FFFFFF"/>
                </a:solidFill>
                <a:latin typeface="Calibri" pitchFamily="34" charset="0"/>
                <a:ea typeface="Calibri" pitchFamily="34" charset="-122"/>
                <a:cs typeface="Calibri" pitchFamily="34" charset="-120"/>
              </a:rPr>
              <a:t>E</a:t>
            </a:r>
            <a:endParaRPr lang="en-AU" sz="2200" dirty="0"/>
          </a:p>
        </p:txBody>
      </p:sp>
      <p:sp>
        <p:nvSpPr>
          <p:cNvPr id="24" name="Text 21"/>
          <p:cNvSpPr txBox="1"/>
          <p:nvPr/>
        </p:nvSpPr>
        <p:spPr>
          <a:xfrm>
            <a:off x="1554480" y="5166360"/>
            <a:ext cx="9875520" cy="384048"/>
          </a:xfrm>
          <a:prstGeom prst="rect">
            <a:avLst/>
          </a:prstGeom>
          <a:noFill/>
          <a:ln/>
        </p:spPr>
        <p:txBody>
          <a:bodyPr wrap="square" lIns="0" tIns="0" rIns="0" bIns="0" rtlCol="0" anchor="t"/>
          <a:lstStyle/>
          <a:p>
            <a:pPr indent="0" marL="0">
              <a:buNone/>
            </a:pPr>
            <a:r>
              <a:rPr lang="en-AU" sz="2100" b="1" dirty="0">
                <a:solidFill>
                  <a:srgbClr val="0E3B43"/>
                </a:solidFill>
                <a:latin typeface="Cambria" pitchFamily="34" charset="0"/>
                <a:ea typeface="Cambria" pitchFamily="34" charset="-122"/>
                <a:cs typeface="Cambria" pitchFamily="34" charset="-120"/>
              </a:rPr>
              <a:t>Progress and research plan</a:t>
            </a:r>
            <a:endParaRPr lang="en-AU" sz="2100" dirty="0"/>
          </a:p>
        </p:txBody>
      </p:sp>
      <p:sp>
        <p:nvSpPr>
          <p:cNvPr id="25" name="Text 22"/>
          <p:cNvSpPr txBox="1"/>
          <p:nvPr/>
        </p:nvSpPr>
        <p:spPr>
          <a:xfrm>
            <a:off x="1554480" y="5559552"/>
            <a:ext cx="9875520" cy="347472"/>
          </a:xfrm>
          <a:prstGeom prst="rect">
            <a:avLst/>
          </a:prstGeom>
          <a:noFill/>
          <a:ln/>
        </p:spPr>
        <p:txBody>
          <a:bodyPr wrap="square" lIns="0" tIns="0" rIns="0" bIns="0" rtlCol="0" anchor="t"/>
          <a:lstStyle/>
          <a:p>
            <a:pPr indent="0" marL="0">
              <a:buNone/>
            </a:pPr>
            <a:r>
              <a:rPr lang="en-AU" sz="1500" dirty="0">
                <a:solidFill>
                  <a:srgbClr val="5E6E73"/>
                </a:solidFill>
                <a:latin typeface="Calibri" pitchFamily="34" charset="0"/>
                <a:ea typeface="Calibri" pitchFamily="34" charset="-122"/>
                <a:cs typeface="Calibri" pitchFamily="34" charset="-120"/>
              </a:rPr>
              <a:t>Chapters 8–10: progress per RO, publications and next-stage work (RO5–RO6)</a:t>
            </a:r>
            <a:endParaRPr lang="en-AU"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43"/>
        </a:solidFill>
      </p:bgPr>
    </p:bg>
    <p:spTree>
      <p:nvGrpSpPr>
        <p:cNvPr id="1" name=""/>
        <p:cNvGrpSpPr/>
        <p:nvPr/>
      </p:nvGrpSpPr>
      <p:grpSpPr>
        <a:xfrm>
          <a:off x="0" y="0"/>
          <a:ext cx="0" cy="0"/>
          <a:chOff x="0" y="0"/>
          <a:chExt cx="0" cy="0"/>
        </a:xfrm>
      </p:grpSpPr>
      <p:sp>
        <p:nvSpPr>
          <p:cNvPr id="3" name="Shape 0"/>
          <p:cNvSpPr/>
          <p:nvPr/>
        </p:nvSpPr>
        <p:spPr>
          <a:xfrm>
            <a:off x="1005840" y="1737360"/>
            <a:ext cx="3108960" cy="3108960"/>
          </a:xfrm>
          <a:prstGeom prst="ellipse">
            <a:avLst/>
          </a:prstGeom>
          <a:solidFill>
            <a:srgbClr val="0E3B43"/>
          </a:solidFill>
          <a:ln w="38100">
            <a:solidFill>
              <a:srgbClr val="D4A12A"/>
            </a:solidFill>
            <a:prstDash val="solid"/>
          </a:ln>
        </p:spPr>
      </p:sp>
      <p:sp>
        <p:nvSpPr>
          <p:cNvPr id="4" name="Text 1"/>
          <p:cNvSpPr txBox="1"/>
          <p:nvPr/>
        </p:nvSpPr>
        <p:spPr>
          <a:xfrm>
            <a:off x="1005840" y="1737360"/>
            <a:ext cx="3108960" cy="3108960"/>
          </a:xfrm>
          <a:prstGeom prst="rect">
            <a:avLst/>
          </a:prstGeom>
          <a:noFill/>
          <a:ln/>
        </p:spPr>
        <p:txBody>
          <a:bodyPr wrap="square" lIns="0" tIns="0" rIns="0" bIns="0" rtlCol="0" anchor="ctr"/>
          <a:lstStyle/>
          <a:p>
            <a:pPr algn="ctr" indent="0" marL="0">
              <a:buNone/>
            </a:pPr>
            <a:r>
              <a:rPr lang="en-AU" sz="12000" b="1" dirty="0">
                <a:solidFill>
                  <a:srgbClr val="D4A12A"/>
                </a:solidFill>
                <a:latin typeface="Cambria" pitchFamily="34" charset="0"/>
                <a:ea typeface="Cambria" pitchFamily="34" charset="-122"/>
                <a:cs typeface="Cambria" pitchFamily="34" charset="-120"/>
              </a:rPr>
              <a:t>A</a:t>
            </a:r>
            <a:endParaRPr lang="en-AU" sz="12000" dirty="0"/>
          </a:p>
        </p:txBody>
      </p:sp>
      <p:sp>
        <p:nvSpPr>
          <p:cNvPr id="5" name="Text 2"/>
          <p:cNvSpPr txBox="1"/>
          <p:nvPr/>
        </p:nvSpPr>
        <p:spPr>
          <a:xfrm>
            <a:off x="4846320" y="2347468"/>
            <a:ext cx="6766560" cy="365760"/>
          </a:xfrm>
          <a:prstGeom prst="rect">
            <a:avLst/>
          </a:prstGeom>
          <a:noFill/>
          <a:ln/>
        </p:spPr>
        <p:txBody>
          <a:bodyPr wrap="square" lIns="0" tIns="0" rIns="0" bIns="0" rtlCol="0" anchor="ctr"/>
          <a:lstStyle/>
          <a:p>
            <a:pPr indent="0" marL="0">
              <a:buNone/>
            </a:pPr>
            <a:r>
              <a:rPr lang="en-AU" sz="1400" b="1" spc="200" kern="0" dirty="0">
                <a:solidFill>
                  <a:srgbClr val="D4A12A"/>
                </a:solidFill>
                <a:latin typeface="Calibri" pitchFamily="34" charset="0"/>
                <a:ea typeface="Calibri" pitchFamily="34" charset="-122"/>
                <a:cs typeface="Calibri" pitchFamily="34" charset="-120"/>
              </a:rPr>
              <a:t>PART A  ·  CHAPTERS 1–2</a:t>
            </a:r>
            <a:endParaRPr lang="en-AU" sz="1400" dirty="0"/>
          </a:p>
        </p:txBody>
      </p:sp>
      <p:sp>
        <p:nvSpPr>
          <p:cNvPr id="6" name="Text 3"/>
          <p:cNvSpPr txBox="1"/>
          <p:nvPr/>
        </p:nvSpPr>
        <p:spPr>
          <a:xfrm>
            <a:off x="4846320" y="2822956"/>
            <a:ext cx="6766560" cy="645160"/>
          </a:xfrm>
          <a:prstGeom prst="rect">
            <a:avLst/>
          </a:prstGeom>
          <a:noFill/>
          <a:ln/>
        </p:spPr>
        <p:txBody>
          <a:bodyPr wrap="square" lIns="0" tIns="0" rIns="0" bIns="0" rtlCol="0" anchor="t"/>
          <a:lstStyle/>
          <a:p>
            <a:pPr indent="0" marL="0">
              <a:buNone/>
            </a:pPr>
            <a:r>
              <a:rPr lang="en-AU" sz="4000" b="1" dirty="0">
                <a:solidFill>
                  <a:srgbClr val="FFFFFF"/>
                </a:solidFill>
                <a:latin typeface="Cambria" pitchFamily="34" charset="0"/>
                <a:ea typeface="Cambria" pitchFamily="34" charset="-122"/>
                <a:cs typeface="Cambria" pitchFamily="34" charset="-120"/>
              </a:rPr>
              <a:t>Background and literature</a:t>
            </a:r>
            <a:endParaRPr lang="en-AU" sz="4000" dirty="0"/>
          </a:p>
        </p:txBody>
      </p:sp>
      <p:sp>
        <p:nvSpPr>
          <p:cNvPr id="7" name="Text 4"/>
          <p:cNvSpPr txBox="1"/>
          <p:nvPr/>
        </p:nvSpPr>
        <p:spPr>
          <a:xfrm>
            <a:off x="4846320" y="3678428"/>
            <a:ext cx="6583680" cy="649224"/>
          </a:xfrm>
          <a:prstGeom prst="rect">
            <a:avLst/>
          </a:prstGeom>
          <a:noFill/>
          <a:ln/>
        </p:spPr>
        <p:txBody>
          <a:bodyPr wrap="square" lIns="0" tIns="0" rIns="0" bIns="0" rtlCol="0" anchor="t"/>
          <a:lstStyle/>
          <a:p>
            <a:pPr indent="0" marL="0">
              <a:buNone/>
            </a:pPr>
            <a:r>
              <a:rPr lang="en-AU" sz="1800" dirty="0">
                <a:solidFill>
                  <a:srgbClr val="CFE3E6"/>
                </a:solidFill>
                <a:latin typeface="Calibri" pitchFamily="34" charset="0"/>
                <a:ea typeface="Calibri" pitchFamily="34" charset="-122"/>
                <a:cs typeface="Calibri" pitchFamily="34" charset="-120"/>
              </a:rPr>
              <a:t>Consent is recorded, not evaluated; none of the 33 studies combines all five requirements in one decision</a:t>
            </a:r>
            <a:endParaRPr lang="en-AU" sz="1800" dirty="0"/>
          </a:p>
        </p:txBody>
      </p:sp>
      <p:sp>
        <p:nvSpPr>
          <p:cNvPr id="8" name="Text 5"/>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CFE3E6"/>
                </a:solidFill>
                <a:latin typeface="Calibri" pitchFamily="34" charset="0"/>
                <a:ea typeface="Calibri" pitchFamily="34" charset="-122"/>
                <a:cs typeface="Calibri" pitchFamily="34" charset="-120"/>
              </a:rPr>
              <a:t>3 / 43</a:t>
            </a:r>
            <a:endParaRPr lang="en-AU"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Who shares healthcare data, and under which rules</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Sections 1.1, 2.2, 2.4.1 and 5.1: authorisation as a distributed governance problem in the Australian setting</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4 / 43</a:t>
            </a:r>
            <a:endParaRPr lang="en-AU" sz="1000" dirty="0"/>
          </a:p>
        </p:txBody>
      </p:sp>
      <p:sp>
        <p:nvSpPr>
          <p:cNvPr id="7" name="Text 4"/>
          <p:cNvSpPr txBox="1"/>
          <p:nvPr/>
        </p:nvSpPr>
        <p:spPr>
          <a:xfrm>
            <a:off x="548640" y="1645920"/>
            <a:ext cx="11094415" cy="566928"/>
          </a:xfrm>
          <a:prstGeom prst="rect">
            <a:avLst/>
          </a:prstGeom>
          <a:noFill/>
          <a:ln/>
        </p:spPr>
        <p:txBody>
          <a:bodyPr wrap="square" lIns="0" tIns="0" rIns="0" bIns="0" rtlCol="0" anchor="t"/>
          <a:lstStyle/>
          <a:p>
            <a:pPr indent="0" marL="0">
              <a:buNone/>
            </a:pPr>
            <a:r>
              <a:rPr lang="en-AU" sz="1500" dirty="0">
                <a:solidFill>
                  <a:srgbClr val="1C2B31"/>
                </a:solidFill>
                <a:latin typeface="Calibri" pitchFamily="34" charset="0"/>
                <a:ea typeface="Calibri" pitchFamily="34" charset="-122"/>
                <a:cs typeface="Calibri" pitchFamily="34" charset="-120"/>
              </a:rPr>
              <a:t>Several independent parties take part in healthcare data sharing, and no single participant may hold enough authority to decide access alone.</a:t>
            </a:r>
            <a:endParaRPr lang="en-AU" sz="1500" dirty="0"/>
          </a:p>
        </p:txBody>
      </p:sp>
      <p:sp>
        <p:nvSpPr>
          <p:cNvPr id="8" name="Shape 5"/>
          <p:cNvSpPr/>
          <p:nvPr/>
        </p:nvSpPr>
        <p:spPr>
          <a:xfrm>
            <a:off x="548640" y="2377440"/>
            <a:ext cx="3515258" cy="1783080"/>
          </a:xfrm>
          <a:prstGeom prst="roundRect">
            <a:avLst>
              <a:gd name="adj" fmla="val 5128"/>
            </a:avLst>
          </a:prstGeom>
          <a:solidFill>
            <a:srgbClr val="EEF4F5"/>
          </a:solidFill>
          <a:ln w="12700">
            <a:solidFill>
              <a:srgbClr val="EEF4F5"/>
            </a:solidFill>
            <a:prstDash val="solid"/>
          </a:ln>
        </p:spPr>
      </p:sp>
      <p:sp>
        <p:nvSpPr>
          <p:cNvPr id="9" name="Shape 6"/>
          <p:cNvSpPr/>
          <p:nvPr/>
        </p:nvSpPr>
        <p:spPr>
          <a:xfrm>
            <a:off x="749808" y="2606040"/>
            <a:ext cx="512064" cy="512064"/>
          </a:xfrm>
          <a:prstGeom prst="ellipse">
            <a:avLst/>
          </a:prstGeom>
          <a:solidFill>
            <a:srgbClr val="13707B"/>
          </a:solidFill>
          <a:ln w="12700">
            <a:solidFill>
              <a:srgbClr val="13707B"/>
            </a:solidFill>
            <a:prstDash val="solid"/>
          </a:ln>
        </p:spPr>
      </p:sp>
      <p:pic>
        <p:nvPicPr>
          <p:cNvPr id="10" name="Image 0" descr="preencoded.png">    </p:cNvPr>
          <p:cNvPicPr>
            <a:picLocks noChangeAspect="1"/>
          </p:cNvPicPr>
          <p:nvPr/>
        </p:nvPicPr>
        <p:blipFill>
          <a:blip r:embed="rId1"/>
          <a:stretch>
            <a:fillRect/>
          </a:stretch>
        </p:blipFill>
        <p:spPr>
          <a:xfrm>
            <a:off x="872703" y="2728935"/>
            <a:ext cx="266273" cy="266273"/>
          </a:xfrm>
          <a:prstGeom prst="rect">
            <a:avLst/>
          </a:prstGeom>
        </p:spPr>
      </p:pic>
      <p:sp>
        <p:nvSpPr>
          <p:cNvPr id="11" name="Text 7"/>
          <p:cNvSpPr txBox="1"/>
          <p:nvPr/>
        </p:nvSpPr>
        <p:spPr>
          <a:xfrm>
            <a:off x="1389888" y="25603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Patients</a:t>
            </a:r>
            <a:endParaRPr lang="en-AU" sz="1600" dirty="0"/>
          </a:p>
        </p:txBody>
      </p:sp>
      <p:sp>
        <p:nvSpPr>
          <p:cNvPr id="12" name="Text 8"/>
          <p:cNvSpPr txBox="1"/>
          <p:nvPr/>
        </p:nvSpPr>
        <p:spPr>
          <a:xfrm>
            <a:off x="749808" y="32918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Initiate consent and should have greater control over how their data is accessed, shared and reused</a:t>
            </a:r>
            <a:endParaRPr lang="en-AU" sz="1350" dirty="0"/>
          </a:p>
        </p:txBody>
      </p:sp>
      <p:sp>
        <p:nvSpPr>
          <p:cNvPr id="13" name="Shape 9"/>
          <p:cNvSpPr/>
          <p:nvPr/>
        </p:nvSpPr>
        <p:spPr>
          <a:xfrm>
            <a:off x="4338218" y="2377440"/>
            <a:ext cx="3515258" cy="1783080"/>
          </a:xfrm>
          <a:prstGeom prst="roundRect">
            <a:avLst>
              <a:gd name="adj" fmla="val 5128"/>
            </a:avLst>
          </a:prstGeom>
          <a:solidFill>
            <a:srgbClr val="EEF4F5"/>
          </a:solidFill>
          <a:ln w="12700">
            <a:solidFill>
              <a:srgbClr val="EEF4F5"/>
            </a:solidFill>
            <a:prstDash val="solid"/>
          </a:ln>
        </p:spPr>
      </p:sp>
      <p:sp>
        <p:nvSpPr>
          <p:cNvPr id="14" name="Shape 10"/>
          <p:cNvSpPr/>
          <p:nvPr/>
        </p:nvSpPr>
        <p:spPr>
          <a:xfrm>
            <a:off x="4539386" y="2606040"/>
            <a:ext cx="512064" cy="512064"/>
          </a:xfrm>
          <a:prstGeom prst="ellipse">
            <a:avLst/>
          </a:prstGeom>
          <a:solidFill>
            <a:srgbClr val="13707B"/>
          </a:solidFill>
          <a:ln w="12700">
            <a:solidFill>
              <a:srgbClr val="13707B"/>
            </a:solidFill>
            <a:prstDash val="solid"/>
          </a:ln>
        </p:spPr>
      </p:sp>
      <p:pic>
        <p:nvPicPr>
          <p:cNvPr id="15" name="Image 1" descr="preencoded.png">    </p:cNvPr>
          <p:cNvPicPr>
            <a:picLocks noChangeAspect="1"/>
          </p:cNvPicPr>
          <p:nvPr/>
        </p:nvPicPr>
        <p:blipFill>
          <a:blip r:embed="rId2"/>
          <a:stretch>
            <a:fillRect/>
          </a:stretch>
        </p:blipFill>
        <p:spPr>
          <a:xfrm>
            <a:off x="4662282" y="2728935"/>
            <a:ext cx="266273" cy="266273"/>
          </a:xfrm>
          <a:prstGeom prst="rect">
            <a:avLst/>
          </a:prstGeom>
        </p:spPr>
      </p:pic>
      <p:sp>
        <p:nvSpPr>
          <p:cNvPr id="16" name="Text 11"/>
          <p:cNvSpPr txBox="1"/>
          <p:nvPr/>
        </p:nvSpPr>
        <p:spPr>
          <a:xfrm>
            <a:off x="5179466" y="25603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Guardians, authorised parties</a:t>
            </a:r>
            <a:endParaRPr lang="en-AU" sz="1600" dirty="0"/>
          </a:p>
        </p:txBody>
      </p:sp>
      <p:sp>
        <p:nvSpPr>
          <p:cNvPr id="17" name="Text 12"/>
          <p:cNvSpPr txBox="1"/>
          <p:nvPr/>
        </p:nvSpPr>
        <p:spPr>
          <a:xfrm>
            <a:off x="4539386" y="32918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Hold part of the authority in paediatric, aged-care and shared-guardianship settings</a:t>
            </a:r>
            <a:endParaRPr lang="en-AU" sz="1350" dirty="0"/>
          </a:p>
        </p:txBody>
      </p:sp>
      <p:sp>
        <p:nvSpPr>
          <p:cNvPr id="18" name="Shape 13"/>
          <p:cNvSpPr/>
          <p:nvPr/>
        </p:nvSpPr>
        <p:spPr>
          <a:xfrm>
            <a:off x="8127797" y="2377440"/>
            <a:ext cx="3515258" cy="1783080"/>
          </a:xfrm>
          <a:prstGeom prst="roundRect">
            <a:avLst>
              <a:gd name="adj" fmla="val 5128"/>
            </a:avLst>
          </a:prstGeom>
          <a:solidFill>
            <a:srgbClr val="EEF4F5"/>
          </a:solidFill>
          <a:ln w="12700">
            <a:solidFill>
              <a:srgbClr val="EEF4F5"/>
            </a:solidFill>
            <a:prstDash val="solid"/>
          </a:ln>
        </p:spPr>
      </p:sp>
      <p:sp>
        <p:nvSpPr>
          <p:cNvPr id="19" name="Shape 14"/>
          <p:cNvSpPr/>
          <p:nvPr/>
        </p:nvSpPr>
        <p:spPr>
          <a:xfrm>
            <a:off x="8328965" y="2606040"/>
            <a:ext cx="512064" cy="512064"/>
          </a:xfrm>
          <a:prstGeom prst="ellipse">
            <a:avLst/>
          </a:prstGeom>
          <a:solidFill>
            <a:srgbClr val="13707B"/>
          </a:solidFill>
          <a:ln w="12700">
            <a:solidFill>
              <a:srgbClr val="13707B"/>
            </a:solidFill>
            <a:prstDash val="solid"/>
          </a:ln>
        </p:spPr>
      </p:sp>
      <p:pic>
        <p:nvPicPr>
          <p:cNvPr id="20" name="Image 2" descr="preencoded.png">    </p:cNvPr>
          <p:cNvPicPr>
            <a:picLocks noChangeAspect="1"/>
          </p:cNvPicPr>
          <p:nvPr/>
        </p:nvPicPr>
        <p:blipFill>
          <a:blip r:embed="rId3"/>
          <a:stretch>
            <a:fillRect/>
          </a:stretch>
        </p:blipFill>
        <p:spPr>
          <a:xfrm>
            <a:off x="8451860" y="2728935"/>
            <a:ext cx="266273" cy="266273"/>
          </a:xfrm>
          <a:prstGeom prst="rect">
            <a:avLst/>
          </a:prstGeom>
        </p:spPr>
      </p:pic>
      <p:sp>
        <p:nvSpPr>
          <p:cNvPr id="21" name="Text 15"/>
          <p:cNvSpPr txBox="1"/>
          <p:nvPr/>
        </p:nvSpPr>
        <p:spPr>
          <a:xfrm>
            <a:off x="8969045" y="25603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Healthcare professionals</a:t>
            </a:r>
            <a:endParaRPr lang="en-AU" sz="1600" dirty="0"/>
          </a:p>
        </p:txBody>
      </p:sp>
      <p:sp>
        <p:nvSpPr>
          <p:cNvPr id="22" name="Text 16"/>
          <p:cNvSpPr txBox="1"/>
          <p:nvPr/>
        </p:nvSpPr>
        <p:spPr>
          <a:xfrm>
            <a:off x="8328965" y="32918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A valid credential shows a registered practitioner, not authority for this patient, purpose and data</a:t>
            </a:r>
            <a:endParaRPr lang="en-AU" sz="1350" dirty="0"/>
          </a:p>
        </p:txBody>
      </p:sp>
      <p:sp>
        <p:nvSpPr>
          <p:cNvPr id="23" name="Shape 17"/>
          <p:cNvSpPr/>
          <p:nvPr/>
        </p:nvSpPr>
        <p:spPr>
          <a:xfrm>
            <a:off x="548640" y="4434840"/>
            <a:ext cx="3515258" cy="1783080"/>
          </a:xfrm>
          <a:prstGeom prst="roundRect">
            <a:avLst>
              <a:gd name="adj" fmla="val 5128"/>
            </a:avLst>
          </a:prstGeom>
          <a:solidFill>
            <a:srgbClr val="EEF4F5"/>
          </a:solidFill>
          <a:ln w="12700">
            <a:solidFill>
              <a:srgbClr val="EEF4F5"/>
            </a:solidFill>
            <a:prstDash val="solid"/>
          </a:ln>
        </p:spPr>
      </p:sp>
      <p:sp>
        <p:nvSpPr>
          <p:cNvPr id="24" name="Shape 18"/>
          <p:cNvSpPr/>
          <p:nvPr/>
        </p:nvSpPr>
        <p:spPr>
          <a:xfrm>
            <a:off x="749808" y="4663440"/>
            <a:ext cx="512064" cy="512064"/>
          </a:xfrm>
          <a:prstGeom prst="ellipse">
            <a:avLst/>
          </a:prstGeom>
          <a:solidFill>
            <a:srgbClr val="13707B"/>
          </a:solidFill>
          <a:ln w="12700">
            <a:solidFill>
              <a:srgbClr val="13707B"/>
            </a:solidFill>
            <a:prstDash val="solid"/>
          </a:ln>
        </p:spPr>
      </p:sp>
      <p:pic>
        <p:nvPicPr>
          <p:cNvPr id="25" name="Image 3" descr="preencoded.png">    </p:cNvPr>
          <p:cNvPicPr>
            <a:picLocks noChangeAspect="1"/>
          </p:cNvPicPr>
          <p:nvPr/>
        </p:nvPicPr>
        <p:blipFill>
          <a:blip r:embed="rId4"/>
          <a:stretch>
            <a:fillRect/>
          </a:stretch>
        </p:blipFill>
        <p:spPr>
          <a:xfrm>
            <a:off x="872703" y="4786335"/>
            <a:ext cx="266273" cy="266273"/>
          </a:xfrm>
          <a:prstGeom prst="rect">
            <a:avLst/>
          </a:prstGeom>
        </p:spPr>
      </p:pic>
      <p:sp>
        <p:nvSpPr>
          <p:cNvPr id="26" name="Text 19"/>
          <p:cNvSpPr txBox="1"/>
          <p:nvPr/>
        </p:nvSpPr>
        <p:spPr>
          <a:xfrm>
            <a:off x="1389888" y="46177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Institutions and auditors</a:t>
            </a:r>
            <a:endParaRPr lang="en-AU" sz="1600" dirty="0"/>
          </a:p>
        </p:txBody>
      </p:sp>
      <p:sp>
        <p:nvSpPr>
          <p:cNvPr id="27" name="Text 20"/>
          <p:cNvSpPr txBox="1"/>
          <p:nvPr/>
        </p:nvSpPr>
        <p:spPr>
          <a:xfrm>
            <a:off x="749808" y="53492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Institutions may hold part of the authority; auditors inspect authorisation evidence and audit history</a:t>
            </a:r>
            <a:endParaRPr lang="en-AU" sz="1350" dirty="0"/>
          </a:p>
        </p:txBody>
      </p:sp>
      <p:sp>
        <p:nvSpPr>
          <p:cNvPr id="28" name="Shape 21"/>
          <p:cNvSpPr/>
          <p:nvPr/>
        </p:nvSpPr>
        <p:spPr>
          <a:xfrm>
            <a:off x="4338218" y="4434840"/>
            <a:ext cx="3515258" cy="1783080"/>
          </a:xfrm>
          <a:prstGeom prst="roundRect">
            <a:avLst>
              <a:gd name="adj" fmla="val 5128"/>
            </a:avLst>
          </a:prstGeom>
          <a:solidFill>
            <a:srgbClr val="EEF4F5"/>
          </a:solidFill>
          <a:ln w="12700">
            <a:solidFill>
              <a:srgbClr val="EEF4F5"/>
            </a:solidFill>
            <a:prstDash val="solid"/>
          </a:ln>
        </p:spPr>
      </p:sp>
      <p:sp>
        <p:nvSpPr>
          <p:cNvPr id="29" name="Shape 22"/>
          <p:cNvSpPr/>
          <p:nvPr/>
        </p:nvSpPr>
        <p:spPr>
          <a:xfrm>
            <a:off x="4539386" y="4663440"/>
            <a:ext cx="512064" cy="512064"/>
          </a:xfrm>
          <a:prstGeom prst="ellipse">
            <a:avLst/>
          </a:prstGeom>
          <a:solidFill>
            <a:srgbClr val="13707B"/>
          </a:solidFill>
          <a:ln w="12700">
            <a:solidFill>
              <a:srgbClr val="13707B"/>
            </a:solidFill>
            <a:prstDash val="solid"/>
          </a:ln>
        </p:spPr>
      </p:sp>
      <p:pic>
        <p:nvPicPr>
          <p:cNvPr id="30" name="Image 4" descr="preencoded.png">    </p:cNvPr>
          <p:cNvPicPr>
            <a:picLocks noChangeAspect="1"/>
          </p:cNvPicPr>
          <p:nvPr/>
        </p:nvPicPr>
        <p:blipFill>
          <a:blip r:embed="rId5"/>
          <a:stretch>
            <a:fillRect/>
          </a:stretch>
        </p:blipFill>
        <p:spPr>
          <a:xfrm>
            <a:off x="4662282" y="4786335"/>
            <a:ext cx="266273" cy="266273"/>
          </a:xfrm>
          <a:prstGeom prst="rect">
            <a:avLst/>
          </a:prstGeom>
        </p:spPr>
      </p:pic>
      <p:sp>
        <p:nvSpPr>
          <p:cNvPr id="31" name="Text 23"/>
          <p:cNvSpPr txBox="1"/>
          <p:nvPr/>
        </p:nvSpPr>
        <p:spPr>
          <a:xfrm>
            <a:off x="5179466" y="46177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Privacy Act 1988 and APPs</a:t>
            </a:r>
            <a:endParaRPr lang="en-AU" sz="1600" dirty="0"/>
          </a:p>
        </p:txBody>
      </p:sp>
      <p:sp>
        <p:nvSpPr>
          <p:cNvPr id="32" name="Text 24"/>
          <p:cNvSpPr txBox="1"/>
          <p:nvPr/>
        </p:nvSpPr>
        <p:spPr>
          <a:xfrm>
            <a:off x="4539386" y="53492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Sensitive information: collect with consent (APP 3); use for primary or directly related purpose (APP 6)</a:t>
            </a:r>
            <a:endParaRPr lang="en-AU" sz="1350" dirty="0"/>
          </a:p>
        </p:txBody>
      </p:sp>
      <p:sp>
        <p:nvSpPr>
          <p:cNvPr id="33" name="Shape 25"/>
          <p:cNvSpPr/>
          <p:nvPr/>
        </p:nvSpPr>
        <p:spPr>
          <a:xfrm>
            <a:off x="8127797" y="4434840"/>
            <a:ext cx="3515258" cy="1783080"/>
          </a:xfrm>
          <a:prstGeom prst="roundRect">
            <a:avLst>
              <a:gd name="adj" fmla="val 5128"/>
            </a:avLst>
          </a:prstGeom>
          <a:solidFill>
            <a:srgbClr val="EEF4F5"/>
          </a:solidFill>
          <a:ln w="12700">
            <a:solidFill>
              <a:srgbClr val="EEF4F5"/>
            </a:solidFill>
            <a:prstDash val="solid"/>
          </a:ln>
        </p:spPr>
      </p:sp>
      <p:sp>
        <p:nvSpPr>
          <p:cNvPr id="34" name="Shape 26"/>
          <p:cNvSpPr/>
          <p:nvPr/>
        </p:nvSpPr>
        <p:spPr>
          <a:xfrm>
            <a:off x="8328965" y="4663440"/>
            <a:ext cx="512064" cy="512064"/>
          </a:xfrm>
          <a:prstGeom prst="ellipse">
            <a:avLst/>
          </a:prstGeom>
          <a:solidFill>
            <a:srgbClr val="13707B"/>
          </a:solidFill>
          <a:ln w="12700">
            <a:solidFill>
              <a:srgbClr val="13707B"/>
            </a:solidFill>
            <a:prstDash val="solid"/>
          </a:ln>
        </p:spPr>
      </p:sp>
      <p:pic>
        <p:nvPicPr>
          <p:cNvPr id="35" name="Image 5" descr="preencoded.png">    </p:cNvPr>
          <p:cNvPicPr>
            <a:picLocks noChangeAspect="1"/>
          </p:cNvPicPr>
          <p:nvPr/>
        </p:nvPicPr>
        <p:blipFill>
          <a:blip r:embed="rId6"/>
          <a:stretch>
            <a:fillRect/>
          </a:stretch>
        </p:blipFill>
        <p:spPr>
          <a:xfrm>
            <a:off x="8451860" y="4786335"/>
            <a:ext cx="266273" cy="266273"/>
          </a:xfrm>
          <a:prstGeom prst="rect">
            <a:avLst/>
          </a:prstGeom>
        </p:spPr>
      </p:pic>
      <p:sp>
        <p:nvSpPr>
          <p:cNvPr id="36" name="Text 27"/>
          <p:cNvSpPr txBox="1"/>
          <p:nvPr/>
        </p:nvSpPr>
        <p:spPr>
          <a:xfrm>
            <a:off x="8969045" y="46177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My Health Records and HI Acts</a:t>
            </a:r>
            <a:endParaRPr lang="en-AU" sz="1600" dirty="0"/>
          </a:p>
        </p:txBody>
      </p:sp>
      <p:sp>
        <p:nvSpPr>
          <p:cNvPr id="37" name="Text 28"/>
          <p:cNvSpPr txBox="1"/>
          <p:nvPr/>
        </p:nvSpPr>
        <p:spPr>
          <a:xfrm>
            <a:off x="8328965" y="53492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My Health Records Act 2012: consumers control provider access; Healthcare Identifiers Act 2010: IHI, HPI-I, HPI-O</a:t>
            </a:r>
            <a:endParaRPr lang="en-AU"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The core problem</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1.2: consent often remains a passive artefact, separate from the access decision</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5 / 43</a:t>
            </a:r>
            <a:endParaRPr lang="en-AU" sz="1000" dirty="0"/>
          </a:p>
        </p:txBody>
      </p:sp>
      <p:sp>
        <p:nvSpPr>
          <p:cNvPr id="7" name="Shape 4"/>
          <p:cNvSpPr/>
          <p:nvPr/>
        </p:nvSpPr>
        <p:spPr>
          <a:xfrm>
            <a:off x="548640" y="1691640"/>
            <a:ext cx="5120640" cy="3840480"/>
          </a:xfrm>
          <a:prstGeom prst="roundRect">
            <a:avLst>
              <a:gd name="adj" fmla="val 2857"/>
            </a:avLst>
          </a:prstGeom>
          <a:solidFill>
            <a:srgbClr val="0E3B43"/>
          </a:solidFill>
          <a:ln w="12700">
            <a:solidFill>
              <a:srgbClr val="0E3B43"/>
            </a:solidFill>
            <a:prstDash val="solid"/>
          </a:ln>
        </p:spPr>
      </p:sp>
      <p:sp>
        <p:nvSpPr>
          <p:cNvPr id="8" name="Shape 5"/>
          <p:cNvSpPr/>
          <p:nvPr/>
        </p:nvSpPr>
        <p:spPr>
          <a:xfrm>
            <a:off x="914400" y="2523744"/>
            <a:ext cx="640080" cy="640080"/>
          </a:xfrm>
          <a:prstGeom prst="ellipse">
            <a:avLst/>
          </a:prstGeom>
          <a:solidFill>
            <a:srgbClr val="D4A12A"/>
          </a:solidFill>
          <a:ln w="12700">
            <a:solidFill>
              <a:srgbClr val="D4A12A"/>
            </a:solidFill>
            <a:prstDash val="solid"/>
          </a:ln>
        </p:spPr>
      </p:sp>
      <p:pic>
        <p:nvPicPr>
          <p:cNvPr id="9" name="Image 0" descr="preencoded.png">    </p:cNvPr>
          <p:cNvPicPr>
            <a:picLocks noChangeAspect="1"/>
          </p:cNvPicPr>
          <p:nvPr/>
        </p:nvPicPr>
        <p:blipFill>
          <a:blip r:embed="rId1"/>
          <a:stretch>
            <a:fillRect/>
          </a:stretch>
        </p:blipFill>
        <p:spPr>
          <a:xfrm>
            <a:off x="1068019" y="2677363"/>
            <a:ext cx="332842" cy="332842"/>
          </a:xfrm>
          <a:prstGeom prst="rect">
            <a:avLst/>
          </a:prstGeom>
        </p:spPr>
      </p:pic>
      <p:sp>
        <p:nvSpPr>
          <p:cNvPr id="10" name="Text 6"/>
          <p:cNvSpPr txBox="1"/>
          <p:nvPr/>
        </p:nvSpPr>
        <p:spPr>
          <a:xfrm>
            <a:off x="914400" y="3419856"/>
            <a:ext cx="4389120" cy="1371600"/>
          </a:xfrm>
          <a:prstGeom prst="rect">
            <a:avLst/>
          </a:prstGeom>
          <a:noFill/>
          <a:ln/>
        </p:spPr>
        <p:txBody>
          <a:bodyPr wrap="square" lIns="0" tIns="0" rIns="0" bIns="0" rtlCol="0" anchor="t"/>
          <a:lstStyle/>
          <a:p>
            <a:pPr indent="0" marL="0">
              <a:buNone/>
            </a:pPr>
            <a:r>
              <a:rPr lang="en-AU" sz="2800" b="1" dirty="0">
                <a:solidFill>
                  <a:srgbClr val="FFFFFF"/>
                </a:solidFill>
                <a:latin typeface="Cambria" pitchFamily="34" charset="0"/>
                <a:ea typeface="Cambria" pitchFamily="34" charset="-122"/>
                <a:cs typeface="Cambria" pitchFamily="34" charset="-120"/>
              </a:rPr>
              <a:t>Identity is not authority; recorded consent is not evaluated consent</a:t>
            </a:r>
            <a:endParaRPr lang="en-AU" sz="2800" dirty="0"/>
          </a:p>
        </p:txBody>
      </p:sp>
      <p:sp>
        <p:nvSpPr>
          <p:cNvPr id="11" name="Shape 7"/>
          <p:cNvSpPr/>
          <p:nvPr/>
        </p:nvSpPr>
        <p:spPr>
          <a:xfrm>
            <a:off x="6172200" y="1783080"/>
            <a:ext cx="457200" cy="457200"/>
          </a:xfrm>
          <a:prstGeom prst="ellipse">
            <a:avLst/>
          </a:prstGeom>
          <a:solidFill>
            <a:srgbClr val="D4A12A"/>
          </a:solidFill>
          <a:ln w="12700">
            <a:solidFill>
              <a:srgbClr val="D4A12A"/>
            </a:solidFill>
            <a:prstDash val="solid"/>
          </a:ln>
        </p:spPr>
      </p:sp>
      <p:sp>
        <p:nvSpPr>
          <p:cNvPr id="12" name="Text 8"/>
          <p:cNvSpPr txBox="1"/>
          <p:nvPr/>
        </p:nvSpPr>
        <p:spPr>
          <a:xfrm>
            <a:off x="6172200" y="1783080"/>
            <a:ext cx="457200" cy="457200"/>
          </a:xfrm>
          <a:prstGeom prst="rect">
            <a:avLst/>
          </a:prstGeom>
          <a:noFill/>
          <a:ln/>
        </p:spPr>
        <p:txBody>
          <a:bodyPr wrap="square" lIns="0" tIns="0" rIns="0" bIns="0" rtlCol="0" anchor="ctr"/>
          <a:lstStyle/>
          <a:p>
            <a:pPr algn="ctr" indent="0" marL="0">
              <a:buNone/>
            </a:pPr>
            <a:r>
              <a:rPr lang="en-AU" sz="1600" b="1" dirty="0">
                <a:solidFill>
                  <a:srgbClr val="0E3B43"/>
                </a:solidFill>
                <a:latin typeface="Calibri" pitchFamily="34" charset="0"/>
                <a:ea typeface="Calibri" pitchFamily="34" charset="-122"/>
                <a:cs typeface="Calibri" pitchFamily="34" charset="-120"/>
              </a:rPr>
              <a:t>1</a:t>
            </a:r>
            <a:endParaRPr lang="en-AU" sz="1600" dirty="0"/>
          </a:p>
        </p:txBody>
      </p:sp>
      <p:sp>
        <p:nvSpPr>
          <p:cNvPr id="13" name="Text 9"/>
          <p:cNvSpPr txBox="1"/>
          <p:nvPr/>
        </p:nvSpPr>
        <p:spPr>
          <a:xfrm>
            <a:off x="6812280" y="1764792"/>
            <a:ext cx="4830775" cy="329184"/>
          </a:xfrm>
          <a:prstGeom prst="rect">
            <a:avLst/>
          </a:prstGeom>
          <a:noFill/>
          <a:ln/>
        </p:spPr>
        <p:txBody>
          <a:bodyPr wrap="square" lIns="0" tIns="0" rIns="0" bIns="0" rtlCol="0" anchor="t"/>
          <a:lstStyle/>
          <a:p>
            <a:pPr indent="0" marL="0">
              <a:buNone/>
            </a:pPr>
            <a:r>
              <a:rPr lang="en-AU" sz="1700" b="1" dirty="0">
                <a:solidFill>
                  <a:srgbClr val="0E3B43"/>
                </a:solidFill>
                <a:latin typeface="Calibri" pitchFamily="34" charset="0"/>
                <a:ea typeface="Calibri" pitchFamily="34" charset="-122"/>
                <a:cs typeface="Calibri" pitchFamily="34" charset="-120"/>
              </a:rPr>
              <a:t>Identity without authority</a:t>
            </a:r>
            <a:endParaRPr lang="en-AU" sz="1700" dirty="0"/>
          </a:p>
        </p:txBody>
      </p:sp>
      <p:sp>
        <p:nvSpPr>
          <p:cNvPr id="14" name="Text 10"/>
          <p:cNvSpPr txBox="1"/>
          <p:nvPr/>
        </p:nvSpPr>
        <p:spPr>
          <a:xfrm>
            <a:off x="6812280" y="2093976"/>
            <a:ext cx="4830775" cy="82905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An immutable record does not prove participants were legitimate; authentication does not prove authority</a:t>
            </a:r>
            <a:endParaRPr lang="en-AU" sz="1400" dirty="0"/>
          </a:p>
        </p:txBody>
      </p:sp>
      <p:sp>
        <p:nvSpPr>
          <p:cNvPr id="15" name="Shape 11"/>
          <p:cNvSpPr/>
          <p:nvPr/>
        </p:nvSpPr>
        <p:spPr>
          <a:xfrm>
            <a:off x="6172200" y="3087624"/>
            <a:ext cx="457200" cy="457200"/>
          </a:xfrm>
          <a:prstGeom prst="ellipse">
            <a:avLst/>
          </a:prstGeom>
          <a:solidFill>
            <a:srgbClr val="D4A12A"/>
          </a:solidFill>
          <a:ln w="12700">
            <a:solidFill>
              <a:srgbClr val="D4A12A"/>
            </a:solidFill>
            <a:prstDash val="solid"/>
          </a:ln>
        </p:spPr>
      </p:sp>
      <p:sp>
        <p:nvSpPr>
          <p:cNvPr id="16" name="Text 12"/>
          <p:cNvSpPr txBox="1"/>
          <p:nvPr/>
        </p:nvSpPr>
        <p:spPr>
          <a:xfrm>
            <a:off x="6172200" y="3087624"/>
            <a:ext cx="457200" cy="457200"/>
          </a:xfrm>
          <a:prstGeom prst="rect">
            <a:avLst/>
          </a:prstGeom>
          <a:noFill/>
          <a:ln/>
        </p:spPr>
        <p:txBody>
          <a:bodyPr wrap="square" lIns="0" tIns="0" rIns="0" bIns="0" rtlCol="0" anchor="ctr"/>
          <a:lstStyle/>
          <a:p>
            <a:pPr algn="ctr" indent="0" marL="0">
              <a:buNone/>
            </a:pPr>
            <a:r>
              <a:rPr lang="en-AU" sz="1600" b="1" dirty="0">
                <a:solidFill>
                  <a:srgbClr val="0E3B43"/>
                </a:solidFill>
                <a:latin typeface="Calibri" pitchFamily="34" charset="0"/>
                <a:ea typeface="Calibri" pitchFamily="34" charset="-122"/>
                <a:cs typeface="Calibri" pitchFamily="34" charset="-120"/>
              </a:rPr>
              <a:t>2</a:t>
            </a:r>
            <a:endParaRPr lang="en-AU" sz="1600" dirty="0"/>
          </a:p>
        </p:txBody>
      </p:sp>
      <p:sp>
        <p:nvSpPr>
          <p:cNvPr id="17" name="Text 13"/>
          <p:cNvSpPr txBox="1"/>
          <p:nvPr/>
        </p:nvSpPr>
        <p:spPr>
          <a:xfrm>
            <a:off x="6812280" y="3069336"/>
            <a:ext cx="4830775" cy="329184"/>
          </a:xfrm>
          <a:prstGeom prst="rect">
            <a:avLst/>
          </a:prstGeom>
          <a:noFill/>
          <a:ln/>
        </p:spPr>
        <p:txBody>
          <a:bodyPr wrap="square" lIns="0" tIns="0" rIns="0" bIns="0" rtlCol="0" anchor="t"/>
          <a:lstStyle/>
          <a:p>
            <a:pPr indent="0" marL="0">
              <a:buNone/>
            </a:pPr>
            <a:r>
              <a:rPr lang="en-AU" sz="1700" b="1" dirty="0">
                <a:solidFill>
                  <a:srgbClr val="0E3B43"/>
                </a:solidFill>
                <a:latin typeface="Calibri" pitchFamily="34" charset="0"/>
                <a:ea typeface="Calibri" pitchFamily="34" charset="-122"/>
                <a:cs typeface="Calibri" pitchFamily="34" charset="-120"/>
              </a:rPr>
              <a:t>One party acting alone</a:t>
            </a:r>
            <a:endParaRPr lang="en-AU" sz="1700" dirty="0"/>
          </a:p>
        </p:txBody>
      </p:sp>
      <p:sp>
        <p:nvSpPr>
          <p:cNvPr id="18" name="Text 14"/>
          <p:cNvSpPr txBox="1"/>
          <p:nvPr/>
        </p:nvSpPr>
        <p:spPr>
          <a:xfrm>
            <a:off x="6812280" y="3398520"/>
            <a:ext cx="4830775" cy="82905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Guardians, clinicians or institutions may also need to approve; one participant should not decide alone</a:t>
            </a:r>
            <a:endParaRPr lang="en-AU" sz="1400" dirty="0"/>
          </a:p>
        </p:txBody>
      </p:sp>
      <p:sp>
        <p:nvSpPr>
          <p:cNvPr id="19" name="Shape 15"/>
          <p:cNvSpPr/>
          <p:nvPr/>
        </p:nvSpPr>
        <p:spPr>
          <a:xfrm>
            <a:off x="6172200" y="4392168"/>
            <a:ext cx="457200" cy="457200"/>
          </a:xfrm>
          <a:prstGeom prst="ellipse">
            <a:avLst/>
          </a:prstGeom>
          <a:solidFill>
            <a:srgbClr val="D4A12A"/>
          </a:solidFill>
          <a:ln w="12700">
            <a:solidFill>
              <a:srgbClr val="D4A12A"/>
            </a:solidFill>
            <a:prstDash val="solid"/>
          </a:ln>
        </p:spPr>
      </p:sp>
      <p:sp>
        <p:nvSpPr>
          <p:cNvPr id="20" name="Text 16"/>
          <p:cNvSpPr txBox="1"/>
          <p:nvPr/>
        </p:nvSpPr>
        <p:spPr>
          <a:xfrm>
            <a:off x="6172200" y="4392168"/>
            <a:ext cx="457200" cy="457200"/>
          </a:xfrm>
          <a:prstGeom prst="rect">
            <a:avLst/>
          </a:prstGeom>
          <a:noFill/>
          <a:ln/>
        </p:spPr>
        <p:txBody>
          <a:bodyPr wrap="square" lIns="0" tIns="0" rIns="0" bIns="0" rtlCol="0" anchor="ctr"/>
          <a:lstStyle/>
          <a:p>
            <a:pPr algn="ctr" indent="0" marL="0">
              <a:buNone/>
            </a:pPr>
            <a:r>
              <a:rPr lang="en-AU" sz="1600" b="1" dirty="0">
                <a:solidFill>
                  <a:srgbClr val="0E3B43"/>
                </a:solidFill>
                <a:latin typeface="Calibri" pitchFamily="34" charset="0"/>
                <a:ea typeface="Calibri" pitchFamily="34" charset="-122"/>
                <a:cs typeface="Calibri" pitchFamily="34" charset="-120"/>
              </a:rPr>
              <a:t>3</a:t>
            </a:r>
            <a:endParaRPr lang="en-AU" sz="1600" dirty="0"/>
          </a:p>
        </p:txBody>
      </p:sp>
      <p:sp>
        <p:nvSpPr>
          <p:cNvPr id="21" name="Text 17"/>
          <p:cNvSpPr txBox="1"/>
          <p:nvPr/>
        </p:nvSpPr>
        <p:spPr>
          <a:xfrm>
            <a:off x="6812280" y="4373880"/>
            <a:ext cx="4830775" cy="329184"/>
          </a:xfrm>
          <a:prstGeom prst="rect">
            <a:avLst/>
          </a:prstGeom>
          <a:noFill/>
          <a:ln/>
        </p:spPr>
        <p:txBody>
          <a:bodyPr wrap="square" lIns="0" tIns="0" rIns="0" bIns="0" rtlCol="0" anchor="t"/>
          <a:lstStyle/>
          <a:p>
            <a:pPr indent="0" marL="0">
              <a:buNone/>
            </a:pPr>
            <a:r>
              <a:rPr lang="en-AU" sz="1700" b="1" dirty="0">
                <a:solidFill>
                  <a:srgbClr val="0E3B43"/>
                </a:solidFill>
                <a:latin typeface="Calibri" pitchFamily="34" charset="0"/>
                <a:ea typeface="Calibri" pitchFamily="34" charset="-122"/>
                <a:cs typeface="Calibri" pitchFamily="34" charset="-120"/>
              </a:rPr>
              <a:t>Requests beyond scope</a:t>
            </a:r>
            <a:endParaRPr lang="en-AU" sz="1700" dirty="0"/>
          </a:p>
        </p:txBody>
      </p:sp>
      <p:sp>
        <p:nvSpPr>
          <p:cNvPr id="22" name="Text 18"/>
          <p:cNvSpPr txBox="1"/>
          <p:nvPr/>
        </p:nvSpPr>
        <p:spPr>
          <a:xfrm>
            <a:off x="6812280" y="4703064"/>
            <a:ext cx="4830775" cy="82905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A verified, approved professional may still request data outside the purpose or scope the patient authorised</a:t>
            </a:r>
            <a:endParaRPr lang="en-AU"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Research scope and progression</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Table 1.1: four objectives in the current stage, two in the next stage</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6 / 43</a:t>
            </a:r>
            <a:endParaRPr lang="en-AU" sz="1000" dirty="0"/>
          </a:p>
        </p:txBody>
      </p:sp>
      <p:sp>
        <p:nvSpPr>
          <p:cNvPr id="7" name="Shape 4"/>
          <p:cNvSpPr/>
          <p:nvPr/>
        </p:nvSpPr>
        <p:spPr>
          <a:xfrm>
            <a:off x="548640" y="1691640"/>
            <a:ext cx="5364328" cy="3749040"/>
          </a:xfrm>
          <a:prstGeom prst="roundRect">
            <a:avLst>
              <a:gd name="adj" fmla="val 2439"/>
            </a:avLst>
          </a:prstGeom>
          <a:solidFill>
            <a:srgbClr val="EEF4F5"/>
          </a:solidFill>
          <a:ln w="12700">
            <a:solidFill>
              <a:srgbClr val="EEF4F5"/>
            </a:solidFill>
            <a:prstDash val="solid"/>
          </a:ln>
        </p:spPr>
      </p:sp>
      <p:sp>
        <p:nvSpPr>
          <p:cNvPr id="8" name="Shape 5"/>
          <p:cNvSpPr/>
          <p:nvPr/>
        </p:nvSpPr>
        <p:spPr>
          <a:xfrm>
            <a:off x="822960" y="1965960"/>
            <a:ext cx="4815688" cy="502920"/>
          </a:xfrm>
          <a:prstGeom prst="roundRect">
            <a:avLst>
              <a:gd name="adj" fmla="val 14545"/>
            </a:avLst>
          </a:prstGeom>
          <a:solidFill>
            <a:srgbClr val="13707B"/>
          </a:solidFill>
          <a:ln w="12700">
            <a:solidFill>
              <a:srgbClr val="13707B"/>
            </a:solidFill>
            <a:prstDash val="solid"/>
          </a:ln>
        </p:spPr>
      </p:sp>
      <p:sp>
        <p:nvSpPr>
          <p:cNvPr id="9" name="Text 6"/>
          <p:cNvSpPr txBox="1"/>
          <p:nvPr/>
        </p:nvSpPr>
        <p:spPr>
          <a:xfrm>
            <a:off x="822960" y="1965960"/>
            <a:ext cx="4815688" cy="502920"/>
          </a:xfrm>
          <a:prstGeom prst="rect">
            <a:avLst/>
          </a:prstGeom>
          <a:noFill/>
          <a:ln/>
        </p:spPr>
        <p:txBody>
          <a:bodyPr wrap="square" lIns="0" tIns="0" rIns="0" bIns="0" rtlCol="0" anchor="ctr"/>
          <a:lstStyle/>
          <a:p>
            <a:pPr algn="ctr" indent="0" marL="0">
              <a:buNone/>
            </a:pPr>
            <a:r>
              <a:rPr lang="en-AU" sz="1700" b="1" dirty="0">
                <a:solidFill>
                  <a:srgbClr val="FFFFFF"/>
                </a:solidFill>
                <a:latin typeface="Calibri" pitchFamily="34" charset="0"/>
                <a:ea typeface="Calibri" pitchFamily="34" charset="-122"/>
                <a:cs typeface="Calibri" pitchFamily="34" charset="-120"/>
              </a:rPr>
              <a:t>Current stage (CA2)</a:t>
            </a:r>
            <a:endParaRPr lang="en-AU" sz="1700" dirty="0"/>
          </a:p>
        </p:txBody>
      </p:sp>
      <p:sp>
        <p:nvSpPr>
          <p:cNvPr id="10" name="Shape 7"/>
          <p:cNvSpPr/>
          <p:nvPr/>
        </p:nvSpPr>
        <p:spPr>
          <a:xfrm>
            <a:off x="868680" y="2697480"/>
            <a:ext cx="475488" cy="475488"/>
          </a:xfrm>
          <a:prstGeom prst="ellipse">
            <a:avLst/>
          </a:prstGeom>
          <a:solidFill>
            <a:srgbClr val="0E3B43"/>
          </a:solidFill>
          <a:ln w="12700">
            <a:solidFill>
              <a:srgbClr val="0E3B43"/>
            </a:solidFill>
            <a:prstDash val="solid"/>
          </a:ln>
        </p:spPr>
      </p:sp>
      <p:sp>
        <p:nvSpPr>
          <p:cNvPr id="11" name="Text 8"/>
          <p:cNvSpPr txBox="1"/>
          <p:nvPr/>
        </p:nvSpPr>
        <p:spPr>
          <a:xfrm>
            <a:off x="868680" y="2697480"/>
            <a:ext cx="475488" cy="475488"/>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RO1</a:t>
            </a:r>
            <a:endParaRPr lang="en-AU" sz="1200" dirty="0"/>
          </a:p>
        </p:txBody>
      </p:sp>
      <p:sp>
        <p:nvSpPr>
          <p:cNvPr id="12" name="Text 9"/>
          <p:cNvSpPr txBox="1"/>
          <p:nvPr/>
        </p:nvSpPr>
        <p:spPr>
          <a:xfrm>
            <a:off x="1508760" y="2697480"/>
            <a:ext cx="4175608" cy="475488"/>
          </a:xfrm>
          <a:prstGeom prst="rect">
            <a:avLst/>
          </a:prstGeom>
          <a:noFill/>
          <a:ln/>
        </p:spPr>
        <p:txBody>
          <a:bodyPr wrap="square" lIns="0" tIns="0" rIns="0" bIns="0" rtlCol="0" anchor="ctr"/>
          <a:lstStyle/>
          <a:p>
            <a:pPr indent="0" marL="0">
              <a:buNone/>
            </a:pPr>
            <a:r>
              <a:rPr lang="en-AU" sz="1600" dirty="0">
                <a:solidFill>
                  <a:srgbClr val="1C2B31"/>
                </a:solidFill>
                <a:latin typeface="Calibri" pitchFamily="34" charset="0"/>
                <a:ea typeface="Calibri" pitchFamily="34" charset="-122"/>
                <a:cs typeface="Calibri" pitchFamily="34" charset="-120"/>
              </a:rPr>
              <a:t>Trust-Centric Consent Model</a:t>
            </a:r>
            <a:endParaRPr lang="en-AU" sz="1600" dirty="0"/>
          </a:p>
        </p:txBody>
      </p:sp>
      <p:sp>
        <p:nvSpPr>
          <p:cNvPr id="13" name="Shape 10"/>
          <p:cNvSpPr/>
          <p:nvPr/>
        </p:nvSpPr>
        <p:spPr>
          <a:xfrm>
            <a:off x="868680" y="3348990"/>
            <a:ext cx="475488" cy="475488"/>
          </a:xfrm>
          <a:prstGeom prst="ellipse">
            <a:avLst/>
          </a:prstGeom>
          <a:solidFill>
            <a:srgbClr val="0E3B43"/>
          </a:solidFill>
          <a:ln w="12700">
            <a:solidFill>
              <a:srgbClr val="0E3B43"/>
            </a:solidFill>
            <a:prstDash val="solid"/>
          </a:ln>
        </p:spPr>
      </p:sp>
      <p:sp>
        <p:nvSpPr>
          <p:cNvPr id="14" name="Text 11"/>
          <p:cNvSpPr txBox="1"/>
          <p:nvPr/>
        </p:nvSpPr>
        <p:spPr>
          <a:xfrm>
            <a:off x="868680" y="3348990"/>
            <a:ext cx="475488" cy="475488"/>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RO2</a:t>
            </a:r>
            <a:endParaRPr lang="en-AU" sz="1200" dirty="0"/>
          </a:p>
        </p:txBody>
      </p:sp>
      <p:sp>
        <p:nvSpPr>
          <p:cNvPr id="15" name="Text 12"/>
          <p:cNvSpPr txBox="1"/>
          <p:nvPr/>
        </p:nvSpPr>
        <p:spPr>
          <a:xfrm>
            <a:off x="1508760" y="3348990"/>
            <a:ext cx="4175608" cy="475488"/>
          </a:xfrm>
          <a:prstGeom prst="rect">
            <a:avLst/>
          </a:prstGeom>
          <a:noFill/>
          <a:ln/>
        </p:spPr>
        <p:txBody>
          <a:bodyPr wrap="square" lIns="0" tIns="0" rIns="0" bIns="0" rtlCol="0" anchor="ctr"/>
          <a:lstStyle/>
          <a:p>
            <a:pPr indent="0" marL="0">
              <a:buNone/>
            </a:pPr>
            <a:r>
              <a:rPr lang="en-AU" sz="1600" dirty="0">
                <a:solidFill>
                  <a:srgbClr val="1C2B31"/>
                </a:solidFill>
                <a:latin typeface="Calibri" pitchFamily="34" charset="0"/>
                <a:ea typeface="Calibri" pitchFamily="34" charset="-122"/>
                <a:cs typeface="Calibri" pitchFamily="34" charset="-120"/>
              </a:rPr>
              <a:t>Decentralised Identity and Authority Trust</a:t>
            </a:r>
            <a:endParaRPr lang="en-AU" sz="1600" dirty="0"/>
          </a:p>
        </p:txBody>
      </p:sp>
      <p:sp>
        <p:nvSpPr>
          <p:cNvPr id="16" name="Shape 13"/>
          <p:cNvSpPr/>
          <p:nvPr/>
        </p:nvSpPr>
        <p:spPr>
          <a:xfrm>
            <a:off x="868680" y="4000500"/>
            <a:ext cx="475488" cy="475488"/>
          </a:xfrm>
          <a:prstGeom prst="ellipse">
            <a:avLst/>
          </a:prstGeom>
          <a:solidFill>
            <a:srgbClr val="0E3B43"/>
          </a:solidFill>
          <a:ln w="12700">
            <a:solidFill>
              <a:srgbClr val="0E3B43"/>
            </a:solidFill>
            <a:prstDash val="solid"/>
          </a:ln>
        </p:spPr>
      </p:sp>
      <p:sp>
        <p:nvSpPr>
          <p:cNvPr id="17" name="Text 14"/>
          <p:cNvSpPr txBox="1"/>
          <p:nvPr/>
        </p:nvSpPr>
        <p:spPr>
          <a:xfrm>
            <a:off x="868680" y="4000500"/>
            <a:ext cx="475488" cy="475488"/>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RO3</a:t>
            </a:r>
            <a:endParaRPr lang="en-AU" sz="1200" dirty="0"/>
          </a:p>
        </p:txBody>
      </p:sp>
      <p:sp>
        <p:nvSpPr>
          <p:cNvPr id="18" name="Text 15"/>
          <p:cNvSpPr txBox="1"/>
          <p:nvPr/>
        </p:nvSpPr>
        <p:spPr>
          <a:xfrm>
            <a:off x="1508760" y="4000500"/>
            <a:ext cx="4175608" cy="475488"/>
          </a:xfrm>
          <a:prstGeom prst="rect">
            <a:avLst/>
          </a:prstGeom>
          <a:noFill/>
          <a:ln/>
        </p:spPr>
        <p:txBody>
          <a:bodyPr wrap="square" lIns="0" tIns="0" rIns="0" bIns="0" rtlCol="0" anchor="ctr"/>
          <a:lstStyle/>
          <a:p>
            <a:pPr indent="0" marL="0">
              <a:buNone/>
            </a:pPr>
            <a:r>
              <a:rPr lang="en-AU" sz="1600" dirty="0">
                <a:solidFill>
                  <a:srgbClr val="1C2B31"/>
                </a:solidFill>
                <a:latin typeface="Calibri" pitchFamily="34" charset="0"/>
                <a:ea typeface="Calibri" pitchFamily="34" charset="-122"/>
                <a:cs typeface="Calibri" pitchFamily="34" charset="-120"/>
              </a:rPr>
              <a:t>Trustworthy Multi-Party Authorisation</a:t>
            </a:r>
            <a:endParaRPr lang="en-AU" sz="1600" dirty="0"/>
          </a:p>
        </p:txBody>
      </p:sp>
      <p:sp>
        <p:nvSpPr>
          <p:cNvPr id="19" name="Shape 16"/>
          <p:cNvSpPr/>
          <p:nvPr/>
        </p:nvSpPr>
        <p:spPr>
          <a:xfrm>
            <a:off x="868680" y="4652010"/>
            <a:ext cx="475488" cy="475488"/>
          </a:xfrm>
          <a:prstGeom prst="ellipse">
            <a:avLst/>
          </a:prstGeom>
          <a:solidFill>
            <a:srgbClr val="0E3B43"/>
          </a:solidFill>
          <a:ln w="12700">
            <a:solidFill>
              <a:srgbClr val="0E3B43"/>
            </a:solidFill>
            <a:prstDash val="solid"/>
          </a:ln>
        </p:spPr>
      </p:sp>
      <p:sp>
        <p:nvSpPr>
          <p:cNvPr id="20" name="Text 17"/>
          <p:cNvSpPr txBox="1"/>
          <p:nvPr/>
        </p:nvSpPr>
        <p:spPr>
          <a:xfrm>
            <a:off x="868680" y="4652010"/>
            <a:ext cx="475488" cy="475488"/>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RO4</a:t>
            </a:r>
            <a:endParaRPr lang="en-AU" sz="1200" dirty="0"/>
          </a:p>
        </p:txBody>
      </p:sp>
      <p:sp>
        <p:nvSpPr>
          <p:cNvPr id="21" name="Text 18"/>
          <p:cNvSpPr txBox="1"/>
          <p:nvPr/>
        </p:nvSpPr>
        <p:spPr>
          <a:xfrm>
            <a:off x="1508760" y="4652010"/>
            <a:ext cx="4175608" cy="475488"/>
          </a:xfrm>
          <a:prstGeom prst="rect">
            <a:avLst/>
          </a:prstGeom>
          <a:noFill/>
          <a:ln/>
        </p:spPr>
        <p:txBody>
          <a:bodyPr wrap="square" lIns="0" tIns="0" rIns="0" bIns="0" rtlCol="0" anchor="ctr"/>
          <a:lstStyle/>
          <a:p>
            <a:pPr indent="0" marL="0">
              <a:buNone/>
            </a:pPr>
            <a:r>
              <a:rPr lang="en-AU" sz="1600" dirty="0">
                <a:solidFill>
                  <a:srgbClr val="1C2B31"/>
                </a:solidFill>
                <a:latin typeface="Calibri" pitchFamily="34" charset="0"/>
                <a:ea typeface="Calibri" pitchFamily="34" charset="-122"/>
                <a:cs typeface="Calibri" pitchFamily="34" charset="-120"/>
              </a:rPr>
              <a:t>Policy- and Context-Aware Access Control</a:t>
            </a:r>
            <a:endParaRPr lang="en-AU" sz="1600" dirty="0"/>
          </a:p>
        </p:txBody>
      </p:sp>
      <p:sp>
        <p:nvSpPr>
          <p:cNvPr id="22" name="Shape 19"/>
          <p:cNvSpPr/>
          <p:nvPr/>
        </p:nvSpPr>
        <p:spPr>
          <a:xfrm>
            <a:off x="6278728" y="1691640"/>
            <a:ext cx="5364328" cy="3749040"/>
          </a:xfrm>
          <a:prstGeom prst="roundRect">
            <a:avLst>
              <a:gd name="adj" fmla="val 2439"/>
            </a:avLst>
          </a:prstGeom>
          <a:solidFill>
            <a:srgbClr val="FBF1D3"/>
          </a:solidFill>
          <a:ln w="12700">
            <a:solidFill>
              <a:srgbClr val="FBF1D3"/>
            </a:solidFill>
            <a:prstDash val="solid"/>
          </a:ln>
        </p:spPr>
      </p:sp>
      <p:sp>
        <p:nvSpPr>
          <p:cNvPr id="23" name="Shape 20"/>
          <p:cNvSpPr/>
          <p:nvPr/>
        </p:nvSpPr>
        <p:spPr>
          <a:xfrm>
            <a:off x="6553048" y="1965960"/>
            <a:ext cx="4815688" cy="502920"/>
          </a:xfrm>
          <a:prstGeom prst="roundRect">
            <a:avLst>
              <a:gd name="adj" fmla="val 14545"/>
            </a:avLst>
          </a:prstGeom>
          <a:solidFill>
            <a:srgbClr val="D4A12A"/>
          </a:solidFill>
          <a:ln w="12700">
            <a:solidFill>
              <a:srgbClr val="D4A12A"/>
            </a:solidFill>
            <a:prstDash val="solid"/>
          </a:ln>
        </p:spPr>
      </p:sp>
      <p:sp>
        <p:nvSpPr>
          <p:cNvPr id="24" name="Text 21"/>
          <p:cNvSpPr txBox="1"/>
          <p:nvPr/>
        </p:nvSpPr>
        <p:spPr>
          <a:xfrm>
            <a:off x="6553048" y="1965960"/>
            <a:ext cx="4815688" cy="502920"/>
          </a:xfrm>
          <a:prstGeom prst="rect">
            <a:avLst/>
          </a:prstGeom>
          <a:noFill/>
          <a:ln/>
        </p:spPr>
        <p:txBody>
          <a:bodyPr wrap="square" lIns="0" tIns="0" rIns="0" bIns="0" rtlCol="0" anchor="ctr"/>
          <a:lstStyle/>
          <a:p>
            <a:pPr algn="ctr" indent="0" marL="0">
              <a:buNone/>
            </a:pPr>
            <a:r>
              <a:rPr lang="en-AU" sz="1700" b="1" dirty="0">
                <a:solidFill>
                  <a:srgbClr val="1C2B31"/>
                </a:solidFill>
                <a:latin typeface="Calibri" pitchFamily="34" charset="0"/>
                <a:ea typeface="Calibri" pitchFamily="34" charset="-122"/>
                <a:cs typeface="Calibri" pitchFamily="34" charset="-120"/>
              </a:rPr>
              <a:t>Next stage (CA3)</a:t>
            </a:r>
            <a:endParaRPr lang="en-AU" sz="1700" dirty="0"/>
          </a:p>
        </p:txBody>
      </p:sp>
      <p:sp>
        <p:nvSpPr>
          <p:cNvPr id="25" name="Shape 22"/>
          <p:cNvSpPr/>
          <p:nvPr/>
        </p:nvSpPr>
        <p:spPr>
          <a:xfrm>
            <a:off x="6598768" y="2743200"/>
            <a:ext cx="475488" cy="475488"/>
          </a:xfrm>
          <a:prstGeom prst="ellipse">
            <a:avLst/>
          </a:prstGeom>
          <a:solidFill>
            <a:srgbClr val="9A7414"/>
          </a:solidFill>
          <a:ln w="12700">
            <a:solidFill>
              <a:srgbClr val="9A7414"/>
            </a:solidFill>
            <a:prstDash val="solid"/>
          </a:ln>
        </p:spPr>
      </p:sp>
      <p:sp>
        <p:nvSpPr>
          <p:cNvPr id="26" name="Text 23"/>
          <p:cNvSpPr txBox="1"/>
          <p:nvPr/>
        </p:nvSpPr>
        <p:spPr>
          <a:xfrm>
            <a:off x="6598768" y="2743200"/>
            <a:ext cx="475488" cy="475488"/>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RO5</a:t>
            </a:r>
            <a:endParaRPr lang="en-AU" sz="1200" dirty="0"/>
          </a:p>
        </p:txBody>
      </p:sp>
      <p:sp>
        <p:nvSpPr>
          <p:cNvPr id="27" name="Text 24"/>
          <p:cNvSpPr txBox="1"/>
          <p:nvPr/>
        </p:nvSpPr>
        <p:spPr>
          <a:xfrm>
            <a:off x="7238848" y="2697480"/>
            <a:ext cx="4175608" cy="566928"/>
          </a:xfrm>
          <a:prstGeom prst="rect">
            <a:avLst/>
          </a:prstGeom>
          <a:noFill/>
          <a:ln/>
        </p:spPr>
        <p:txBody>
          <a:bodyPr wrap="square" lIns="0" tIns="0" rIns="0" bIns="0" rtlCol="0" anchor="ctr"/>
          <a:lstStyle/>
          <a:p>
            <a:pPr indent="0" marL="0">
              <a:buNone/>
            </a:pPr>
            <a:r>
              <a:rPr lang="en-AU" sz="1600" b="1" dirty="0">
                <a:solidFill>
                  <a:srgbClr val="1C2B31"/>
                </a:solidFill>
                <a:latin typeface="Calibri" pitchFamily="34" charset="0"/>
                <a:ea typeface="Calibri" pitchFamily="34" charset="-122"/>
                <a:cs typeface="Calibri" pitchFamily="34" charset="-120"/>
              </a:rPr>
              <a:t>Temporal and Lifecycle Trust</a:t>
            </a:r>
            <a:endParaRPr lang="en-AU" sz="1600" dirty="0"/>
          </a:p>
        </p:txBody>
      </p:sp>
      <p:sp>
        <p:nvSpPr>
          <p:cNvPr id="28" name="Text 25"/>
          <p:cNvSpPr txBox="1"/>
          <p:nvPr/>
        </p:nvSpPr>
        <p:spPr>
          <a:xfrm>
            <a:off x="7238848" y="3300984"/>
            <a:ext cx="4175608" cy="644652"/>
          </a:xfrm>
          <a:prstGeom prst="rect">
            <a:avLst/>
          </a:prstGeom>
          <a:noFill/>
          <a:ln/>
        </p:spPr>
        <p:txBody>
          <a:bodyPr wrap="square" lIns="0" tIns="0" rIns="0" bIns="0" rtlCol="0" anchor="t"/>
          <a:lstStyle/>
          <a:p>
            <a:pPr indent="0" marL="0">
              <a:buNone/>
            </a:pPr>
            <a:r>
              <a:rPr lang="en-AU" sz="1350" dirty="0">
                <a:solidFill>
                  <a:srgbClr val="5E6E73"/>
                </a:solidFill>
                <a:latin typeface="Calibri" pitchFamily="34" charset="0"/>
                <a:ea typeface="Calibri" pitchFamily="34" charset="-122"/>
                <a:cs typeface="Calibri" pitchFamily="34" charset="-120"/>
              </a:rPr>
              <a:t>Validity periods, expiration, revocation and controlled consent-state transitions</a:t>
            </a:r>
            <a:endParaRPr lang="en-AU" sz="1350" dirty="0"/>
          </a:p>
        </p:txBody>
      </p:sp>
      <p:sp>
        <p:nvSpPr>
          <p:cNvPr id="29" name="Shape 26"/>
          <p:cNvSpPr/>
          <p:nvPr/>
        </p:nvSpPr>
        <p:spPr>
          <a:xfrm>
            <a:off x="6598768" y="4046220"/>
            <a:ext cx="475488" cy="475488"/>
          </a:xfrm>
          <a:prstGeom prst="ellipse">
            <a:avLst/>
          </a:prstGeom>
          <a:solidFill>
            <a:srgbClr val="9A7414"/>
          </a:solidFill>
          <a:ln w="12700">
            <a:solidFill>
              <a:srgbClr val="9A7414"/>
            </a:solidFill>
            <a:prstDash val="solid"/>
          </a:ln>
        </p:spPr>
      </p:sp>
      <p:sp>
        <p:nvSpPr>
          <p:cNvPr id="30" name="Text 27"/>
          <p:cNvSpPr txBox="1"/>
          <p:nvPr/>
        </p:nvSpPr>
        <p:spPr>
          <a:xfrm>
            <a:off x="6598768" y="4046220"/>
            <a:ext cx="475488" cy="475488"/>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RO6</a:t>
            </a:r>
            <a:endParaRPr lang="en-AU" sz="1200" dirty="0"/>
          </a:p>
        </p:txBody>
      </p:sp>
      <p:sp>
        <p:nvSpPr>
          <p:cNvPr id="31" name="Text 28"/>
          <p:cNvSpPr txBox="1"/>
          <p:nvPr/>
        </p:nvSpPr>
        <p:spPr>
          <a:xfrm>
            <a:off x="7238848" y="4000500"/>
            <a:ext cx="4175608" cy="566928"/>
          </a:xfrm>
          <a:prstGeom prst="rect">
            <a:avLst/>
          </a:prstGeom>
          <a:noFill/>
          <a:ln/>
        </p:spPr>
        <p:txBody>
          <a:bodyPr wrap="square" lIns="0" tIns="0" rIns="0" bIns="0" rtlCol="0" anchor="ctr"/>
          <a:lstStyle/>
          <a:p>
            <a:pPr indent="0" marL="0">
              <a:buNone/>
            </a:pPr>
            <a:r>
              <a:rPr lang="en-AU" sz="1600" b="1" dirty="0">
                <a:solidFill>
                  <a:srgbClr val="1C2B31"/>
                </a:solidFill>
                <a:latin typeface="Calibri" pitchFamily="34" charset="0"/>
                <a:ea typeface="Calibri" pitchFamily="34" charset="-122"/>
                <a:cs typeface="Calibri" pitchFamily="34" charset="-120"/>
              </a:rPr>
              <a:t>Formal Security Assurance and Empirical Validation</a:t>
            </a:r>
            <a:endParaRPr lang="en-AU" sz="1600" dirty="0"/>
          </a:p>
        </p:txBody>
      </p:sp>
      <p:sp>
        <p:nvSpPr>
          <p:cNvPr id="32" name="Text 29"/>
          <p:cNvSpPr txBox="1"/>
          <p:nvPr/>
        </p:nvSpPr>
        <p:spPr>
          <a:xfrm>
            <a:off x="7238848" y="4604004"/>
            <a:ext cx="4175608" cy="644652"/>
          </a:xfrm>
          <a:prstGeom prst="rect">
            <a:avLst/>
          </a:prstGeom>
          <a:noFill/>
          <a:ln/>
        </p:spPr>
        <p:txBody>
          <a:bodyPr wrap="square" lIns="0" tIns="0" rIns="0" bIns="0" rtlCol="0" anchor="t"/>
          <a:lstStyle/>
          <a:p>
            <a:pPr indent="0" marL="0">
              <a:buNone/>
            </a:pPr>
            <a:r>
              <a:rPr lang="en-AU" sz="1350" dirty="0">
                <a:solidFill>
                  <a:srgbClr val="5E6E73"/>
                </a:solidFill>
                <a:latin typeface="Calibri" pitchFamily="34" charset="0"/>
                <a:ea typeface="Calibri" pitchFamily="34" charset="-122"/>
                <a:cs typeface="Calibri" pitchFamily="34" charset="-120"/>
              </a:rPr>
              <a:t>Formal security and authorisation properties; empirical evaluation with negative and adversarial scenarios</a:t>
            </a:r>
            <a:endParaRPr lang="en-AU" sz="1350" dirty="0"/>
          </a:p>
        </p:txBody>
      </p:sp>
      <p:sp>
        <p:nvSpPr>
          <p:cNvPr id="33" name="Text 30"/>
          <p:cNvSpPr txBox="1"/>
          <p:nvPr/>
        </p:nvSpPr>
        <p:spPr>
          <a:xfrm>
            <a:off x="548640" y="5623560"/>
            <a:ext cx="11094415" cy="548640"/>
          </a:xfrm>
          <a:prstGeom prst="rect">
            <a:avLst/>
          </a:prstGeom>
          <a:noFill/>
          <a:ln/>
        </p:spPr>
        <p:txBody>
          <a:bodyPr wrap="square" lIns="0" tIns="0" rIns="0" bIns="0" rtlCol="0" anchor="ctr"/>
          <a:lstStyle/>
          <a:p>
            <a:pPr indent="0" marL="0">
              <a:buNone/>
            </a:pPr>
            <a:r>
              <a:rPr lang="en-AU" sz="1500" i="1" dirty="0">
                <a:solidFill>
                  <a:srgbClr val="0B5560"/>
                </a:solidFill>
                <a:latin typeface="Calibri" pitchFamily="34" charset="0"/>
                <a:ea typeface="Calibri" pitchFamily="34" charset="-122"/>
                <a:cs typeface="Calibri" pitchFamily="34" charset="-120"/>
              </a:rPr>
              <a:t>CA2 lays the foundations of trustworthy multi-party authorisation; CA3 extends it over time and validates it formally and empirically</a:t>
            </a:r>
            <a:endParaRPr lang="en-AU"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SLR method: PRISMA 2020 in four steps</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2.3: peer-reviewed studies, 2022–2026, on consent, identity, authorisation and access control</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7 / 43</a:t>
            </a:r>
            <a:endParaRPr lang="en-AU" sz="1000" dirty="0"/>
          </a:p>
        </p:txBody>
      </p:sp>
      <p:sp>
        <p:nvSpPr>
          <p:cNvPr id="7" name="Shape 4"/>
          <p:cNvSpPr/>
          <p:nvPr/>
        </p:nvSpPr>
        <p:spPr>
          <a:xfrm>
            <a:off x="795528" y="1965960"/>
            <a:ext cx="0" cy="3360420"/>
          </a:xfrm>
          <a:prstGeom prst="line">
            <a:avLst/>
          </a:prstGeom>
          <a:noFill/>
          <a:ln w="25400">
            <a:solidFill>
              <a:srgbClr val="D5E0E2"/>
            </a:solidFill>
            <a:prstDash val="solid"/>
          </a:ln>
        </p:spPr>
      </p:sp>
      <p:sp>
        <p:nvSpPr>
          <p:cNvPr id="8" name="Shape 5"/>
          <p:cNvSpPr/>
          <p:nvPr/>
        </p:nvSpPr>
        <p:spPr>
          <a:xfrm>
            <a:off x="548640" y="1691640"/>
            <a:ext cx="502920" cy="502920"/>
          </a:xfrm>
          <a:prstGeom prst="ellipse">
            <a:avLst/>
          </a:prstGeom>
          <a:solidFill>
            <a:srgbClr val="D4A12A"/>
          </a:solidFill>
          <a:ln w="12700">
            <a:solidFill>
              <a:srgbClr val="D4A12A"/>
            </a:solidFill>
            <a:prstDash val="solid"/>
          </a:ln>
        </p:spPr>
      </p:sp>
      <p:sp>
        <p:nvSpPr>
          <p:cNvPr id="9" name="Text 6"/>
          <p:cNvSpPr txBox="1"/>
          <p:nvPr/>
        </p:nvSpPr>
        <p:spPr>
          <a:xfrm>
            <a:off x="548640" y="1691640"/>
            <a:ext cx="502920" cy="502920"/>
          </a:xfrm>
          <a:prstGeom prst="rect">
            <a:avLst/>
          </a:prstGeom>
          <a:noFill/>
          <a:ln/>
        </p:spPr>
        <p:txBody>
          <a:bodyPr wrap="square" lIns="0" tIns="0" rIns="0" bIns="0" rtlCol="0" anchor="ctr"/>
          <a:lstStyle/>
          <a:p>
            <a:pPr algn="ctr" indent="0" marL="0">
              <a:buNone/>
            </a:pPr>
            <a:r>
              <a:rPr lang="en-AU" sz="1600" b="1" dirty="0">
                <a:solidFill>
                  <a:srgbClr val="1C2B31"/>
                </a:solidFill>
                <a:latin typeface="Calibri" pitchFamily="34" charset="0"/>
                <a:ea typeface="Calibri" pitchFamily="34" charset="-122"/>
                <a:cs typeface="Calibri" pitchFamily="34" charset="-120"/>
              </a:rPr>
              <a:t>1</a:t>
            </a:r>
            <a:endParaRPr lang="en-AU" sz="1600" dirty="0"/>
          </a:p>
        </p:txBody>
      </p:sp>
      <p:sp>
        <p:nvSpPr>
          <p:cNvPr id="10" name="Text 7"/>
          <p:cNvSpPr txBox="1"/>
          <p:nvPr/>
        </p:nvSpPr>
        <p:spPr>
          <a:xfrm>
            <a:off x="1280160" y="1673352"/>
            <a:ext cx="3200400" cy="347472"/>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Literature search</a:t>
            </a:r>
            <a:endParaRPr lang="en-AU" sz="1600" dirty="0"/>
          </a:p>
        </p:txBody>
      </p:sp>
      <p:sp>
        <p:nvSpPr>
          <p:cNvPr id="11" name="Text 8"/>
          <p:cNvSpPr txBox="1"/>
          <p:nvPr/>
        </p:nvSpPr>
        <p:spPr>
          <a:xfrm>
            <a:off x="1280160" y="2020824"/>
            <a:ext cx="3200400" cy="708660"/>
          </a:xfrm>
          <a:prstGeom prst="rect">
            <a:avLst/>
          </a:prstGeom>
          <a:noFill/>
          <a:ln/>
        </p:spPr>
        <p:txBody>
          <a:bodyPr wrap="square" lIns="0" tIns="0" rIns="0" bIns="0" rtlCol="0" anchor="t"/>
          <a:lstStyle/>
          <a:p>
            <a:pPr indent="0" marL="0">
              <a:buNone/>
            </a:pPr>
            <a:r>
              <a:rPr lang="en-AU" sz="1300" dirty="0">
                <a:solidFill>
                  <a:srgbClr val="1C2B31"/>
                </a:solidFill>
                <a:latin typeface="Calibri" pitchFamily="34" charset="0"/>
                <a:ea typeface="Calibri" pitchFamily="34" charset="-122"/>
                <a:cs typeface="Calibri" pitchFamily="34" charset="-120"/>
              </a:rPr>
              <a:t>Seven databases, 2022–2026, Boolean search string (Figure 2.1); searched 15 August 2026</a:t>
            </a:r>
            <a:endParaRPr lang="en-AU" sz="1300" dirty="0"/>
          </a:p>
        </p:txBody>
      </p:sp>
      <p:sp>
        <p:nvSpPr>
          <p:cNvPr id="12" name="Shape 9"/>
          <p:cNvSpPr/>
          <p:nvPr/>
        </p:nvSpPr>
        <p:spPr>
          <a:xfrm>
            <a:off x="548640" y="2811780"/>
            <a:ext cx="502920" cy="502920"/>
          </a:xfrm>
          <a:prstGeom prst="ellipse">
            <a:avLst/>
          </a:prstGeom>
          <a:solidFill>
            <a:srgbClr val="D4A12A"/>
          </a:solidFill>
          <a:ln w="12700">
            <a:solidFill>
              <a:srgbClr val="D4A12A"/>
            </a:solidFill>
            <a:prstDash val="solid"/>
          </a:ln>
        </p:spPr>
      </p:sp>
      <p:sp>
        <p:nvSpPr>
          <p:cNvPr id="13" name="Text 10"/>
          <p:cNvSpPr txBox="1"/>
          <p:nvPr/>
        </p:nvSpPr>
        <p:spPr>
          <a:xfrm>
            <a:off x="548640" y="2811780"/>
            <a:ext cx="502920" cy="502920"/>
          </a:xfrm>
          <a:prstGeom prst="rect">
            <a:avLst/>
          </a:prstGeom>
          <a:noFill/>
          <a:ln/>
        </p:spPr>
        <p:txBody>
          <a:bodyPr wrap="square" lIns="0" tIns="0" rIns="0" bIns="0" rtlCol="0" anchor="ctr"/>
          <a:lstStyle/>
          <a:p>
            <a:pPr algn="ctr" indent="0" marL="0">
              <a:buNone/>
            </a:pPr>
            <a:r>
              <a:rPr lang="en-AU" sz="1600" b="1" dirty="0">
                <a:solidFill>
                  <a:srgbClr val="1C2B31"/>
                </a:solidFill>
                <a:latin typeface="Calibri" pitchFamily="34" charset="0"/>
                <a:ea typeface="Calibri" pitchFamily="34" charset="-122"/>
                <a:cs typeface="Calibri" pitchFamily="34" charset="-120"/>
              </a:rPr>
              <a:t>2</a:t>
            </a:r>
            <a:endParaRPr lang="en-AU" sz="1600" dirty="0"/>
          </a:p>
        </p:txBody>
      </p:sp>
      <p:sp>
        <p:nvSpPr>
          <p:cNvPr id="14" name="Text 11"/>
          <p:cNvSpPr txBox="1"/>
          <p:nvPr/>
        </p:nvSpPr>
        <p:spPr>
          <a:xfrm>
            <a:off x="1280160" y="2793492"/>
            <a:ext cx="3200400" cy="347472"/>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Inclusion/exclusion</a:t>
            </a:r>
            <a:endParaRPr lang="en-AU" sz="1600" dirty="0"/>
          </a:p>
        </p:txBody>
      </p:sp>
      <p:sp>
        <p:nvSpPr>
          <p:cNvPr id="15" name="Text 12"/>
          <p:cNvSpPr txBox="1"/>
          <p:nvPr/>
        </p:nvSpPr>
        <p:spPr>
          <a:xfrm>
            <a:off x="1280160" y="3140964"/>
            <a:ext cx="3200400" cy="708660"/>
          </a:xfrm>
          <a:prstGeom prst="rect">
            <a:avLst/>
          </a:prstGeom>
          <a:noFill/>
          <a:ln/>
        </p:spPr>
        <p:txBody>
          <a:bodyPr wrap="square" lIns="0" tIns="0" rIns="0" bIns="0" rtlCol="0" anchor="t"/>
          <a:lstStyle/>
          <a:p>
            <a:pPr indent="0" marL="0">
              <a:buNone/>
            </a:pPr>
            <a:r>
              <a:rPr lang="en-AU" sz="1300" dirty="0">
                <a:solidFill>
                  <a:srgbClr val="1C2B31"/>
                </a:solidFill>
                <a:latin typeface="Calibri" pitchFamily="34" charset="0"/>
                <a:ea typeface="Calibri" pitchFamily="34" charset="-122"/>
                <a:cs typeface="Calibri" pitchFamily="34" charset="-120"/>
              </a:rPr>
              <a:t>Six inclusion and six exclusion criteria set before screening (peer-reviewed, full text, English)</a:t>
            </a:r>
            <a:endParaRPr lang="en-AU" sz="1300" dirty="0"/>
          </a:p>
        </p:txBody>
      </p:sp>
      <p:sp>
        <p:nvSpPr>
          <p:cNvPr id="16" name="Shape 13"/>
          <p:cNvSpPr/>
          <p:nvPr/>
        </p:nvSpPr>
        <p:spPr>
          <a:xfrm>
            <a:off x="548640" y="3931920"/>
            <a:ext cx="502920" cy="502920"/>
          </a:xfrm>
          <a:prstGeom prst="ellipse">
            <a:avLst/>
          </a:prstGeom>
          <a:solidFill>
            <a:srgbClr val="D4A12A"/>
          </a:solidFill>
          <a:ln w="12700">
            <a:solidFill>
              <a:srgbClr val="D4A12A"/>
            </a:solidFill>
            <a:prstDash val="solid"/>
          </a:ln>
        </p:spPr>
      </p:sp>
      <p:sp>
        <p:nvSpPr>
          <p:cNvPr id="17" name="Text 14"/>
          <p:cNvSpPr txBox="1"/>
          <p:nvPr/>
        </p:nvSpPr>
        <p:spPr>
          <a:xfrm>
            <a:off x="548640" y="3931920"/>
            <a:ext cx="502920" cy="502920"/>
          </a:xfrm>
          <a:prstGeom prst="rect">
            <a:avLst/>
          </a:prstGeom>
          <a:noFill/>
          <a:ln/>
        </p:spPr>
        <p:txBody>
          <a:bodyPr wrap="square" lIns="0" tIns="0" rIns="0" bIns="0" rtlCol="0" anchor="ctr"/>
          <a:lstStyle/>
          <a:p>
            <a:pPr algn="ctr" indent="0" marL="0">
              <a:buNone/>
            </a:pPr>
            <a:r>
              <a:rPr lang="en-AU" sz="1600" b="1" dirty="0">
                <a:solidFill>
                  <a:srgbClr val="1C2B31"/>
                </a:solidFill>
                <a:latin typeface="Calibri" pitchFamily="34" charset="0"/>
                <a:ea typeface="Calibri" pitchFamily="34" charset="-122"/>
                <a:cs typeface="Calibri" pitchFamily="34" charset="-120"/>
              </a:rPr>
              <a:t>3</a:t>
            </a:r>
            <a:endParaRPr lang="en-AU" sz="1600" dirty="0"/>
          </a:p>
        </p:txBody>
      </p:sp>
      <p:sp>
        <p:nvSpPr>
          <p:cNvPr id="18" name="Text 15"/>
          <p:cNvSpPr txBox="1"/>
          <p:nvPr/>
        </p:nvSpPr>
        <p:spPr>
          <a:xfrm>
            <a:off x="1280160" y="3913632"/>
            <a:ext cx="3200400" cy="347472"/>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Screening and quality</a:t>
            </a:r>
            <a:endParaRPr lang="en-AU" sz="1600" dirty="0"/>
          </a:p>
        </p:txBody>
      </p:sp>
      <p:sp>
        <p:nvSpPr>
          <p:cNvPr id="19" name="Text 16"/>
          <p:cNvSpPr txBox="1"/>
          <p:nvPr/>
        </p:nvSpPr>
        <p:spPr>
          <a:xfrm>
            <a:off x="1280160" y="4261104"/>
            <a:ext cx="3200400" cy="708660"/>
          </a:xfrm>
          <a:prstGeom prst="rect">
            <a:avLst/>
          </a:prstGeom>
          <a:noFill/>
          <a:ln/>
        </p:spPr>
        <p:txBody>
          <a:bodyPr wrap="square" lIns="0" tIns="0" rIns="0" bIns="0" rtlCol="0" anchor="t"/>
          <a:lstStyle/>
          <a:p>
            <a:pPr indent="0" marL="0">
              <a:buNone/>
            </a:pPr>
            <a:r>
              <a:rPr lang="en-AU" sz="1300" dirty="0">
                <a:solidFill>
                  <a:srgbClr val="1C2B31"/>
                </a:solidFill>
                <a:latin typeface="Calibri" pitchFamily="34" charset="0"/>
                <a:ea typeface="Calibri" pitchFamily="34" charset="-122"/>
                <a:cs typeface="Calibri" pitchFamily="34" charset="-120"/>
              </a:rPr>
              <a:t>Title-abstract, then full-text screening; each study scored 1, 0.5 or 0 on QA1–QA5; below 2.5 of 5 excluded</a:t>
            </a:r>
            <a:endParaRPr lang="en-AU" sz="1300" dirty="0"/>
          </a:p>
        </p:txBody>
      </p:sp>
      <p:sp>
        <p:nvSpPr>
          <p:cNvPr id="20" name="Shape 17"/>
          <p:cNvSpPr/>
          <p:nvPr/>
        </p:nvSpPr>
        <p:spPr>
          <a:xfrm>
            <a:off x="548640" y="5052060"/>
            <a:ext cx="502920" cy="502920"/>
          </a:xfrm>
          <a:prstGeom prst="ellipse">
            <a:avLst/>
          </a:prstGeom>
          <a:solidFill>
            <a:srgbClr val="D4A12A"/>
          </a:solidFill>
          <a:ln w="12700">
            <a:solidFill>
              <a:srgbClr val="D4A12A"/>
            </a:solidFill>
            <a:prstDash val="solid"/>
          </a:ln>
        </p:spPr>
      </p:sp>
      <p:sp>
        <p:nvSpPr>
          <p:cNvPr id="21" name="Text 18"/>
          <p:cNvSpPr txBox="1"/>
          <p:nvPr/>
        </p:nvSpPr>
        <p:spPr>
          <a:xfrm>
            <a:off x="548640" y="5052060"/>
            <a:ext cx="502920" cy="502920"/>
          </a:xfrm>
          <a:prstGeom prst="rect">
            <a:avLst/>
          </a:prstGeom>
          <a:noFill/>
          <a:ln/>
        </p:spPr>
        <p:txBody>
          <a:bodyPr wrap="square" lIns="0" tIns="0" rIns="0" bIns="0" rtlCol="0" anchor="ctr"/>
          <a:lstStyle/>
          <a:p>
            <a:pPr algn="ctr" indent="0" marL="0">
              <a:buNone/>
            </a:pPr>
            <a:r>
              <a:rPr lang="en-AU" sz="1600" b="1" dirty="0">
                <a:solidFill>
                  <a:srgbClr val="1C2B31"/>
                </a:solidFill>
                <a:latin typeface="Calibri" pitchFamily="34" charset="0"/>
                <a:ea typeface="Calibri" pitchFamily="34" charset="-122"/>
                <a:cs typeface="Calibri" pitchFamily="34" charset="-120"/>
              </a:rPr>
              <a:t>4</a:t>
            </a:r>
            <a:endParaRPr lang="en-AU" sz="1600" dirty="0"/>
          </a:p>
        </p:txBody>
      </p:sp>
      <p:sp>
        <p:nvSpPr>
          <p:cNvPr id="22" name="Text 19"/>
          <p:cNvSpPr txBox="1"/>
          <p:nvPr/>
        </p:nvSpPr>
        <p:spPr>
          <a:xfrm>
            <a:off x="1280160" y="5033772"/>
            <a:ext cx="3200400" cy="347472"/>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Extract and categorise</a:t>
            </a:r>
            <a:endParaRPr lang="en-AU" sz="1600" dirty="0"/>
          </a:p>
        </p:txBody>
      </p:sp>
      <p:sp>
        <p:nvSpPr>
          <p:cNvPr id="23" name="Text 20"/>
          <p:cNvSpPr txBox="1"/>
          <p:nvPr/>
        </p:nvSpPr>
        <p:spPr>
          <a:xfrm>
            <a:off x="1280160" y="5381244"/>
            <a:ext cx="3200400" cy="708660"/>
          </a:xfrm>
          <a:prstGeom prst="rect">
            <a:avLst/>
          </a:prstGeom>
          <a:noFill/>
          <a:ln/>
        </p:spPr>
        <p:txBody>
          <a:bodyPr wrap="square" lIns="0" tIns="0" rIns="0" bIns="0" rtlCol="0" anchor="t"/>
          <a:lstStyle/>
          <a:p>
            <a:pPr indent="0" marL="0">
              <a:buNone/>
            </a:pPr>
            <a:r>
              <a:rPr lang="en-AU" sz="1300" dirty="0">
                <a:solidFill>
                  <a:srgbClr val="1C2B31"/>
                </a:solidFill>
                <a:latin typeface="Calibri" pitchFamily="34" charset="0"/>
                <a:ea typeface="Calibri" pitchFamily="34" charset="-122"/>
                <a:cs typeface="Calibri" pitchFamily="34" charset="-120"/>
              </a:rPr>
              <a:t>Predefined extraction framework; 33 studies coded S1–S33 and placed in six categories (Table 2.3)</a:t>
            </a:r>
            <a:endParaRPr lang="en-AU" sz="1300" dirty="0"/>
          </a:p>
        </p:txBody>
      </p:sp>
      <p:sp>
        <p:nvSpPr>
          <p:cNvPr id="24" name="Shape 21"/>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25" name="Shape 22"/>
          <p:cNvSpPr/>
          <p:nvPr/>
        </p:nvSpPr>
        <p:spPr>
          <a:xfrm>
            <a:off x="5135728" y="1627632"/>
            <a:ext cx="1920240" cy="384048"/>
          </a:xfrm>
          <a:prstGeom prst="roundRect">
            <a:avLst>
              <a:gd name="adj" fmla="val 50000"/>
            </a:avLst>
          </a:prstGeom>
          <a:solidFill>
            <a:srgbClr val="1B3A5C"/>
          </a:solidFill>
          <a:ln w="19050">
            <a:solidFill>
              <a:srgbClr val="1B3A5C"/>
            </a:solidFill>
            <a:prstDash val="solid"/>
          </a:ln>
        </p:spPr>
      </p:sp>
      <p:sp>
        <p:nvSpPr>
          <p:cNvPr id="26" name="Text 23"/>
          <p:cNvSpPr txBox="1"/>
          <p:nvPr/>
        </p:nvSpPr>
        <p:spPr>
          <a:xfrm>
            <a:off x="5199736" y="1655064"/>
            <a:ext cx="1792224" cy="329184"/>
          </a:xfrm>
          <a:prstGeom prst="rect">
            <a:avLst/>
          </a:prstGeom>
          <a:noFill/>
          <a:ln/>
        </p:spPr>
        <p:txBody>
          <a:bodyPr wrap="square" lIns="0" tIns="0" rIns="0" bIns="0" rtlCol="0" anchor="ctr"/>
          <a:lstStyle/>
          <a:p>
            <a:pPr algn="ctr" indent="0" marL="0">
              <a:lnSpc>
                <a:spcPct val="95000"/>
              </a:lnSpc>
              <a:buNone/>
            </a:pPr>
            <a:r>
              <a:rPr lang="en-AU" sz="1200" b="1" dirty="0">
                <a:solidFill>
                  <a:srgbClr val="FFFFFF"/>
                </a:solidFill>
                <a:latin typeface="Calibri" pitchFamily="34" charset="0"/>
                <a:ea typeface="Calibri" pitchFamily="34" charset="-122"/>
                <a:cs typeface="Calibri" pitchFamily="34" charset="-120"/>
              </a:rPr>
              <a:t>SLR Search Query</a:t>
            </a:r>
            <a:endParaRPr lang="en-AU" sz="1200" dirty="0"/>
          </a:p>
        </p:txBody>
      </p:sp>
      <p:sp>
        <p:nvSpPr>
          <p:cNvPr id="27" name="Shape 24"/>
          <p:cNvSpPr/>
          <p:nvPr/>
        </p:nvSpPr>
        <p:spPr>
          <a:xfrm>
            <a:off x="5135728" y="2194560"/>
            <a:ext cx="1920240" cy="566928"/>
          </a:xfrm>
          <a:prstGeom prst="rect">
            <a:avLst/>
          </a:prstGeom>
          <a:solidFill>
            <a:srgbClr val="E8F0FB"/>
          </a:solidFill>
          <a:ln w="19050">
            <a:solidFill>
              <a:srgbClr val="5B8FD0"/>
            </a:solidFill>
            <a:prstDash val="solid"/>
          </a:ln>
        </p:spPr>
      </p:sp>
      <p:sp>
        <p:nvSpPr>
          <p:cNvPr id="28" name="Text 25"/>
          <p:cNvSpPr txBox="1"/>
          <p:nvPr/>
        </p:nvSpPr>
        <p:spPr>
          <a:xfrm>
            <a:off x="5199736" y="2221992"/>
            <a:ext cx="1792224" cy="512064"/>
          </a:xfrm>
          <a:prstGeom prst="rect">
            <a:avLst/>
          </a:prstGeom>
          <a:noFill/>
          <a:ln/>
        </p:spPr>
        <p:txBody>
          <a:bodyPr wrap="square" lIns="0" tIns="0" rIns="0" bIns="0" rtlCol="0" anchor="ctr"/>
          <a:lstStyle/>
          <a:p>
            <a:pPr algn="ctr" indent="0" marL="0">
              <a:lnSpc>
                <a:spcPct val="95000"/>
              </a:lnSpc>
              <a:buNone/>
            </a:pPr>
            <a:r>
              <a:rPr lang="en-AU" sz="1250" b="1" dirty="0">
                <a:solidFill>
                  <a:srgbClr val="22508A"/>
                </a:solidFill>
                <a:latin typeface="Calibri" pitchFamily="34" charset="0"/>
                <a:ea typeface="Calibri" pitchFamily="34" charset="-122"/>
                <a:cs typeface="Calibri" pitchFamily="34" charset="-120"/>
              </a:rPr>
              <a:t>Multi-Party Trust Management</a:t>
            </a:r>
            <a:endParaRPr lang="en-AU" sz="1250" dirty="0"/>
          </a:p>
        </p:txBody>
      </p:sp>
      <p:sp>
        <p:nvSpPr>
          <p:cNvPr id="29" name="Shape 26"/>
          <p:cNvSpPr/>
          <p:nvPr/>
        </p:nvSpPr>
        <p:spPr>
          <a:xfrm>
            <a:off x="7284568" y="2194560"/>
            <a:ext cx="4160520" cy="566928"/>
          </a:xfrm>
          <a:prstGeom prst="rect">
            <a:avLst/>
          </a:prstGeom>
          <a:solidFill>
            <a:srgbClr val="FFFFFF"/>
          </a:solidFill>
          <a:ln w="19050">
            <a:solidFill>
              <a:srgbClr val="5B8FD0"/>
            </a:solidFill>
            <a:prstDash val="solid"/>
          </a:ln>
        </p:spPr>
      </p:sp>
      <p:sp>
        <p:nvSpPr>
          <p:cNvPr id="30" name="Text 27"/>
          <p:cNvSpPr txBox="1"/>
          <p:nvPr/>
        </p:nvSpPr>
        <p:spPr>
          <a:xfrm>
            <a:off x="7348576" y="2221992"/>
            <a:ext cx="4032504" cy="512064"/>
          </a:xfrm>
          <a:prstGeom prst="rect">
            <a:avLst/>
          </a:prstGeom>
          <a:noFill/>
          <a:ln/>
        </p:spPr>
        <p:txBody>
          <a:bodyPr wrap="square" lIns="0" tIns="0" rIns="0" bIns="0" rtlCol="0" anchor="ctr"/>
          <a:lstStyle/>
          <a:p>
            <a:pPr algn="l" indent="0" marL="0">
              <a:lnSpc>
                <a:spcPct val="95000"/>
              </a:lnSpc>
              <a:buNone/>
            </a:pPr>
            <a:r>
              <a:rPr lang="en-AU" sz="1200" dirty="0">
                <a:solidFill>
                  <a:srgbClr val="1C2B31"/>
                </a:solidFill>
                <a:latin typeface="Calibri" pitchFamily="34" charset="0"/>
                <a:ea typeface="Calibri" pitchFamily="34" charset="-122"/>
                <a:cs typeface="Calibri" pitchFamily="34" charset="-120"/>
              </a:rPr>
              <a:t>distributed trust</a:t>
            </a:r>
            <a:r>
              <a:rPr lang="en-AU" sz="1050" b="1" dirty="0">
                <a:solidFill>
                  <a:srgbClr val="22508A"/>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multiparty trust</a:t>
            </a:r>
            <a:r>
              <a:rPr lang="en-AU" sz="1050" b="1" dirty="0">
                <a:solidFill>
                  <a:srgbClr val="22508A"/>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decentralisation</a:t>
            </a:r>
            <a:endParaRPr lang="en-AU" sz="1200" dirty="0"/>
          </a:p>
        </p:txBody>
      </p:sp>
      <p:sp>
        <p:nvSpPr>
          <p:cNvPr id="31" name="Shape 28"/>
          <p:cNvSpPr/>
          <p:nvPr/>
        </p:nvSpPr>
        <p:spPr>
          <a:xfrm>
            <a:off x="7055968" y="2478024"/>
            <a:ext cx="228600" cy="0"/>
          </a:xfrm>
          <a:prstGeom prst="line">
            <a:avLst/>
          </a:prstGeom>
          <a:noFill/>
          <a:ln w="19050">
            <a:solidFill>
              <a:srgbClr val="5B8FD0"/>
            </a:solidFill>
            <a:prstDash val="solid"/>
          </a:ln>
        </p:spPr>
      </p:sp>
      <p:sp>
        <p:nvSpPr>
          <p:cNvPr id="32" name="Shape 29"/>
          <p:cNvSpPr/>
          <p:nvPr/>
        </p:nvSpPr>
        <p:spPr>
          <a:xfrm>
            <a:off x="6095848" y="2011680"/>
            <a:ext cx="0" cy="182880"/>
          </a:xfrm>
          <a:prstGeom prst="line">
            <a:avLst/>
          </a:prstGeom>
          <a:noFill/>
          <a:ln w="19050">
            <a:solidFill>
              <a:srgbClr val="A8842A"/>
            </a:solidFill>
            <a:prstDash val="solid"/>
            <a:tailEnd type="triangle"/>
          </a:ln>
        </p:spPr>
      </p:sp>
      <p:sp>
        <p:nvSpPr>
          <p:cNvPr id="33" name="Shape 30"/>
          <p:cNvSpPr/>
          <p:nvPr/>
        </p:nvSpPr>
        <p:spPr>
          <a:xfrm>
            <a:off x="5135728" y="3054096"/>
            <a:ext cx="1920240" cy="566928"/>
          </a:xfrm>
          <a:prstGeom prst="rect">
            <a:avLst/>
          </a:prstGeom>
          <a:solidFill>
            <a:srgbClr val="E8F5E4"/>
          </a:solidFill>
          <a:ln w="19050">
            <a:solidFill>
              <a:srgbClr val="6AAB50"/>
            </a:solidFill>
            <a:prstDash val="solid"/>
          </a:ln>
        </p:spPr>
      </p:sp>
      <p:sp>
        <p:nvSpPr>
          <p:cNvPr id="34" name="Text 31"/>
          <p:cNvSpPr txBox="1"/>
          <p:nvPr/>
        </p:nvSpPr>
        <p:spPr>
          <a:xfrm>
            <a:off x="5199736" y="3081528"/>
            <a:ext cx="1792224" cy="512064"/>
          </a:xfrm>
          <a:prstGeom prst="rect">
            <a:avLst/>
          </a:prstGeom>
          <a:noFill/>
          <a:ln/>
        </p:spPr>
        <p:txBody>
          <a:bodyPr wrap="square" lIns="0" tIns="0" rIns="0" bIns="0" rtlCol="0" anchor="ctr"/>
          <a:lstStyle/>
          <a:p>
            <a:pPr algn="ctr" indent="0" marL="0">
              <a:lnSpc>
                <a:spcPct val="95000"/>
              </a:lnSpc>
              <a:buNone/>
            </a:pPr>
            <a:r>
              <a:rPr lang="en-AU" sz="1250" b="1" dirty="0">
                <a:solidFill>
                  <a:srgbClr val="2E6B2A"/>
                </a:solidFill>
                <a:latin typeface="Calibri" pitchFamily="34" charset="0"/>
                <a:ea typeface="Calibri" pitchFamily="34" charset="-122"/>
                <a:cs typeface="Calibri" pitchFamily="34" charset="-120"/>
              </a:rPr>
              <a:t>Healthcare Context</a:t>
            </a:r>
            <a:endParaRPr lang="en-AU" sz="1250" dirty="0"/>
          </a:p>
        </p:txBody>
      </p:sp>
      <p:sp>
        <p:nvSpPr>
          <p:cNvPr id="35" name="Shape 32"/>
          <p:cNvSpPr/>
          <p:nvPr/>
        </p:nvSpPr>
        <p:spPr>
          <a:xfrm>
            <a:off x="7284568" y="3054096"/>
            <a:ext cx="4160520" cy="566928"/>
          </a:xfrm>
          <a:prstGeom prst="rect">
            <a:avLst/>
          </a:prstGeom>
          <a:solidFill>
            <a:srgbClr val="FFFFFF"/>
          </a:solidFill>
          <a:ln w="19050">
            <a:solidFill>
              <a:srgbClr val="6AAB50"/>
            </a:solidFill>
            <a:prstDash val="solid"/>
          </a:ln>
        </p:spPr>
      </p:sp>
      <p:sp>
        <p:nvSpPr>
          <p:cNvPr id="36" name="Text 33"/>
          <p:cNvSpPr txBox="1"/>
          <p:nvPr/>
        </p:nvSpPr>
        <p:spPr>
          <a:xfrm>
            <a:off x="7348576" y="3081528"/>
            <a:ext cx="4032504" cy="512064"/>
          </a:xfrm>
          <a:prstGeom prst="rect">
            <a:avLst/>
          </a:prstGeom>
          <a:noFill/>
          <a:ln/>
        </p:spPr>
        <p:txBody>
          <a:bodyPr wrap="square" lIns="0" tIns="0" rIns="0" bIns="0" rtlCol="0" anchor="ctr"/>
          <a:lstStyle/>
          <a:p>
            <a:pPr algn="l" indent="0" marL="0">
              <a:lnSpc>
                <a:spcPct val="95000"/>
              </a:lnSpc>
              <a:buNone/>
            </a:pPr>
            <a:r>
              <a:rPr lang="en-AU" sz="1200" dirty="0">
                <a:solidFill>
                  <a:srgbClr val="1C2B31"/>
                </a:solidFill>
                <a:latin typeface="Calibri" pitchFamily="34" charset="0"/>
                <a:ea typeface="Calibri" pitchFamily="34" charset="-122"/>
                <a:cs typeface="Calibri" pitchFamily="34" charset="-120"/>
              </a:rPr>
              <a:t>healthcare</a:t>
            </a:r>
            <a:r>
              <a:rPr lang="en-AU" sz="1050" b="1" dirty="0">
                <a:solidFill>
                  <a:srgbClr val="2E6B2A"/>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EHR</a:t>
            </a:r>
            <a:r>
              <a:rPr lang="en-AU" sz="1050" b="1" dirty="0">
                <a:solidFill>
                  <a:srgbClr val="2E6B2A"/>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health data</a:t>
            </a:r>
            <a:r>
              <a:rPr lang="en-AU" sz="1050" b="1" dirty="0">
                <a:solidFill>
                  <a:srgbClr val="2E6B2A"/>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medical data</a:t>
            </a:r>
            <a:endParaRPr lang="en-AU" sz="1200" dirty="0"/>
          </a:p>
        </p:txBody>
      </p:sp>
      <p:sp>
        <p:nvSpPr>
          <p:cNvPr id="37" name="Shape 34"/>
          <p:cNvSpPr/>
          <p:nvPr/>
        </p:nvSpPr>
        <p:spPr>
          <a:xfrm>
            <a:off x="7055968" y="3337560"/>
            <a:ext cx="228600" cy="0"/>
          </a:xfrm>
          <a:prstGeom prst="line">
            <a:avLst/>
          </a:prstGeom>
          <a:noFill/>
          <a:ln w="19050">
            <a:solidFill>
              <a:srgbClr val="6AAB50"/>
            </a:solidFill>
            <a:prstDash val="solid"/>
          </a:ln>
        </p:spPr>
      </p:sp>
      <p:sp>
        <p:nvSpPr>
          <p:cNvPr id="38" name="Shape 35"/>
          <p:cNvSpPr/>
          <p:nvPr/>
        </p:nvSpPr>
        <p:spPr>
          <a:xfrm>
            <a:off x="6095848" y="2761488"/>
            <a:ext cx="0" cy="27432"/>
          </a:xfrm>
          <a:prstGeom prst="line">
            <a:avLst/>
          </a:prstGeom>
          <a:noFill/>
          <a:ln w="19050">
            <a:solidFill>
              <a:srgbClr val="A8842A"/>
            </a:solidFill>
            <a:prstDash val="solid"/>
          </a:ln>
        </p:spPr>
      </p:sp>
      <p:sp>
        <p:nvSpPr>
          <p:cNvPr id="39" name="Shape 36"/>
          <p:cNvSpPr/>
          <p:nvPr/>
        </p:nvSpPr>
        <p:spPr>
          <a:xfrm>
            <a:off x="5766664" y="2788920"/>
            <a:ext cx="658368" cy="237744"/>
          </a:xfrm>
          <a:prstGeom prst="hexagon">
            <a:avLst/>
          </a:prstGeom>
          <a:solidFill>
            <a:srgbClr val="F0F0F0"/>
          </a:solidFill>
          <a:ln w="19050">
            <a:solidFill>
              <a:srgbClr val="999999"/>
            </a:solidFill>
            <a:prstDash val="solid"/>
          </a:ln>
        </p:spPr>
      </p:sp>
      <p:sp>
        <p:nvSpPr>
          <p:cNvPr id="40" name="Text 37"/>
          <p:cNvSpPr txBox="1"/>
          <p:nvPr/>
        </p:nvSpPr>
        <p:spPr>
          <a:xfrm>
            <a:off x="5858835" y="2816352"/>
            <a:ext cx="474025" cy="182880"/>
          </a:xfrm>
          <a:prstGeom prst="rect">
            <a:avLst/>
          </a:prstGeom>
          <a:noFill/>
          <a:ln/>
        </p:spPr>
        <p:txBody>
          <a:bodyPr wrap="square" lIns="0" tIns="0" rIns="0" bIns="0" rtlCol="0" anchor="ctr"/>
          <a:lstStyle/>
          <a:p>
            <a:pPr algn="ctr" indent="0" marL="0">
              <a:lnSpc>
                <a:spcPct val="95000"/>
              </a:lnSpc>
              <a:buNone/>
            </a:pPr>
            <a:r>
              <a:rPr lang="en-AU" sz="1000" b="1" dirty="0">
                <a:solidFill>
                  <a:srgbClr val="333333"/>
                </a:solidFill>
                <a:latin typeface="Calibri" pitchFamily="34" charset="0"/>
                <a:ea typeface="Calibri" pitchFamily="34" charset="-122"/>
                <a:cs typeface="Calibri" pitchFamily="34" charset="-120"/>
              </a:rPr>
              <a:t>AND</a:t>
            </a:r>
            <a:endParaRPr lang="en-AU" sz="1000" dirty="0"/>
          </a:p>
        </p:txBody>
      </p:sp>
      <p:sp>
        <p:nvSpPr>
          <p:cNvPr id="41" name="Shape 38"/>
          <p:cNvSpPr/>
          <p:nvPr/>
        </p:nvSpPr>
        <p:spPr>
          <a:xfrm>
            <a:off x="6095848" y="3026664"/>
            <a:ext cx="0" cy="27432"/>
          </a:xfrm>
          <a:prstGeom prst="line">
            <a:avLst/>
          </a:prstGeom>
          <a:noFill/>
          <a:ln w="19050">
            <a:solidFill>
              <a:srgbClr val="A8842A"/>
            </a:solidFill>
            <a:prstDash val="solid"/>
            <a:tailEnd type="triangle"/>
          </a:ln>
        </p:spPr>
      </p:sp>
      <p:sp>
        <p:nvSpPr>
          <p:cNvPr id="42" name="Shape 39"/>
          <p:cNvSpPr/>
          <p:nvPr/>
        </p:nvSpPr>
        <p:spPr>
          <a:xfrm>
            <a:off x="5135728" y="3913632"/>
            <a:ext cx="1920240" cy="566928"/>
          </a:xfrm>
          <a:prstGeom prst="rect">
            <a:avLst/>
          </a:prstGeom>
          <a:solidFill>
            <a:srgbClr val="FFF2CC"/>
          </a:solidFill>
          <a:ln w="19050">
            <a:solidFill>
              <a:srgbClr val="D3A128"/>
            </a:solidFill>
            <a:prstDash val="solid"/>
          </a:ln>
        </p:spPr>
      </p:sp>
      <p:sp>
        <p:nvSpPr>
          <p:cNvPr id="43" name="Text 40"/>
          <p:cNvSpPr txBox="1"/>
          <p:nvPr/>
        </p:nvSpPr>
        <p:spPr>
          <a:xfrm>
            <a:off x="5199736" y="3941064"/>
            <a:ext cx="1792224" cy="512064"/>
          </a:xfrm>
          <a:prstGeom prst="rect">
            <a:avLst/>
          </a:prstGeom>
          <a:noFill/>
          <a:ln/>
        </p:spPr>
        <p:txBody>
          <a:bodyPr wrap="square" lIns="0" tIns="0" rIns="0" bIns="0" rtlCol="0" anchor="ctr"/>
          <a:lstStyle/>
          <a:p>
            <a:pPr algn="ctr" indent="0" marL="0">
              <a:lnSpc>
                <a:spcPct val="95000"/>
              </a:lnSpc>
              <a:buNone/>
            </a:pPr>
            <a:r>
              <a:rPr lang="en-AU" sz="1250" b="1" dirty="0">
                <a:solidFill>
                  <a:srgbClr val="7A5A00"/>
                </a:solidFill>
                <a:latin typeface="Calibri" pitchFamily="34" charset="0"/>
                <a:ea typeface="Calibri" pitchFamily="34" charset="-122"/>
                <a:cs typeface="Calibri" pitchFamily="34" charset="-120"/>
              </a:rPr>
              <a:t>Consent Management</a:t>
            </a:r>
            <a:endParaRPr lang="en-AU" sz="1250" dirty="0"/>
          </a:p>
        </p:txBody>
      </p:sp>
      <p:sp>
        <p:nvSpPr>
          <p:cNvPr id="44" name="Shape 41"/>
          <p:cNvSpPr/>
          <p:nvPr/>
        </p:nvSpPr>
        <p:spPr>
          <a:xfrm>
            <a:off x="7284568" y="3913632"/>
            <a:ext cx="4160520" cy="566928"/>
          </a:xfrm>
          <a:prstGeom prst="rect">
            <a:avLst/>
          </a:prstGeom>
          <a:solidFill>
            <a:srgbClr val="FFFFFF"/>
          </a:solidFill>
          <a:ln w="19050">
            <a:solidFill>
              <a:srgbClr val="D3A128"/>
            </a:solidFill>
            <a:prstDash val="solid"/>
          </a:ln>
        </p:spPr>
      </p:sp>
      <p:sp>
        <p:nvSpPr>
          <p:cNvPr id="45" name="Text 42"/>
          <p:cNvSpPr txBox="1"/>
          <p:nvPr/>
        </p:nvSpPr>
        <p:spPr>
          <a:xfrm>
            <a:off x="7348576" y="3941064"/>
            <a:ext cx="4032504" cy="512064"/>
          </a:xfrm>
          <a:prstGeom prst="rect">
            <a:avLst/>
          </a:prstGeom>
          <a:noFill/>
          <a:ln/>
        </p:spPr>
        <p:txBody>
          <a:bodyPr wrap="square" lIns="0" tIns="0" rIns="0" bIns="0" rtlCol="0" anchor="ctr"/>
          <a:lstStyle/>
          <a:p>
            <a:pPr algn="l" indent="0" marL="0">
              <a:lnSpc>
                <a:spcPct val="95000"/>
              </a:lnSpc>
              <a:buNone/>
            </a:pPr>
            <a:r>
              <a:rPr lang="en-AU" sz="1200" dirty="0">
                <a:solidFill>
                  <a:srgbClr val="1C2B31"/>
                </a:solidFill>
                <a:latin typeface="Calibri" pitchFamily="34" charset="0"/>
                <a:ea typeface="Calibri" pitchFamily="34" charset="-122"/>
                <a:cs typeface="Calibri" pitchFamily="34" charset="-120"/>
              </a:rPr>
              <a:t>consent</a:t>
            </a:r>
            <a:r>
              <a:rPr lang="en-AU" sz="1050" b="1" dirty="0">
                <a:solidFill>
                  <a:srgbClr val="7A5A00"/>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patient consent</a:t>
            </a:r>
            <a:r>
              <a:rPr lang="en-AU" sz="1050" b="1" dirty="0">
                <a:solidFill>
                  <a:srgbClr val="7A5A00"/>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dynamic consent</a:t>
            </a:r>
            <a:r>
              <a:rPr lang="en-AU" sz="1050" b="1" dirty="0">
                <a:solidFill>
                  <a:srgbClr val="7A5A00"/>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consent management</a:t>
            </a:r>
            <a:endParaRPr lang="en-AU" sz="1200" dirty="0"/>
          </a:p>
        </p:txBody>
      </p:sp>
      <p:sp>
        <p:nvSpPr>
          <p:cNvPr id="46" name="Shape 43"/>
          <p:cNvSpPr/>
          <p:nvPr/>
        </p:nvSpPr>
        <p:spPr>
          <a:xfrm>
            <a:off x="7055968" y="4197096"/>
            <a:ext cx="228600" cy="0"/>
          </a:xfrm>
          <a:prstGeom prst="line">
            <a:avLst/>
          </a:prstGeom>
          <a:noFill/>
          <a:ln w="19050">
            <a:solidFill>
              <a:srgbClr val="D3A128"/>
            </a:solidFill>
            <a:prstDash val="solid"/>
          </a:ln>
        </p:spPr>
      </p:sp>
      <p:sp>
        <p:nvSpPr>
          <p:cNvPr id="47" name="Shape 44"/>
          <p:cNvSpPr/>
          <p:nvPr/>
        </p:nvSpPr>
        <p:spPr>
          <a:xfrm>
            <a:off x="6095848" y="3621024"/>
            <a:ext cx="0" cy="27432"/>
          </a:xfrm>
          <a:prstGeom prst="line">
            <a:avLst/>
          </a:prstGeom>
          <a:noFill/>
          <a:ln w="19050">
            <a:solidFill>
              <a:srgbClr val="A8842A"/>
            </a:solidFill>
            <a:prstDash val="solid"/>
          </a:ln>
        </p:spPr>
      </p:sp>
      <p:sp>
        <p:nvSpPr>
          <p:cNvPr id="48" name="Shape 45"/>
          <p:cNvSpPr/>
          <p:nvPr/>
        </p:nvSpPr>
        <p:spPr>
          <a:xfrm>
            <a:off x="5766664" y="3648456"/>
            <a:ext cx="658368" cy="237744"/>
          </a:xfrm>
          <a:prstGeom prst="hexagon">
            <a:avLst/>
          </a:prstGeom>
          <a:solidFill>
            <a:srgbClr val="F0F0F0"/>
          </a:solidFill>
          <a:ln w="19050">
            <a:solidFill>
              <a:srgbClr val="999999"/>
            </a:solidFill>
            <a:prstDash val="solid"/>
          </a:ln>
        </p:spPr>
      </p:sp>
      <p:sp>
        <p:nvSpPr>
          <p:cNvPr id="49" name="Text 46"/>
          <p:cNvSpPr txBox="1"/>
          <p:nvPr/>
        </p:nvSpPr>
        <p:spPr>
          <a:xfrm>
            <a:off x="5858835" y="3675888"/>
            <a:ext cx="474025" cy="182880"/>
          </a:xfrm>
          <a:prstGeom prst="rect">
            <a:avLst/>
          </a:prstGeom>
          <a:noFill/>
          <a:ln/>
        </p:spPr>
        <p:txBody>
          <a:bodyPr wrap="square" lIns="0" tIns="0" rIns="0" bIns="0" rtlCol="0" anchor="ctr"/>
          <a:lstStyle/>
          <a:p>
            <a:pPr algn="ctr" indent="0" marL="0">
              <a:lnSpc>
                <a:spcPct val="95000"/>
              </a:lnSpc>
              <a:buNone/>
            </a:pPr>
            <a:r>
              <a:rPr lang="en-AU" sz="1000" b="1" dirty="0">
                <a:solidFill>
                  <a:srgbClr val="333333"/>
                </a:solidFill>
                <a:latin typeface="Calibri" pitchFamily="34" charset="0"/>
                <a:ea typeface="Calibri" pitchFamily="34" charset="-122"/>
                <a:cs typeface="Calibri" pitchFamily="34" charset="-120"/>
              </a:rPr>
              <a:t>AND</a:t>
            </a:r>
            <a:endParaRPr lang="en-AU" sz="1000" dirty="0"/>
          </a:p>
        </p:txBody>
      </p:sp>
      <p:sp>
        <p:nvSpPr>
          <p:cNvPr id="50" name="Shape 47"/>
          <p:cNvSpPr/>
          <p:nvPr/>
        </p:nvSpPr>
        <p:spPr>
          <a:xfrm>
            <a:off x="6095848" y="3886200"/>
            <a:ext cx="0" cy="27432"/>
          </a:xfrm>
          <a:prstGeom prst="line">
            <a:avLst/>
          </a:prstGeom>
          <a:noFill/>
          <a:ln w="19050">
            <a:solidFill>
              <a:srgbClr val="A8842A"/>
            </a:solidFill>
            <a:prstDash val="solid"/>
            <a:tailEnd type="triangle"/>
          </a:ln>
        </p:spPr>
      </p:sp>
      <p:sp>
        <p:nvSpPr>
          <p:cNvPr id="51" name="Shape 48"/>
          <p:cNvSpPr/>
          <p:nvPr/>
        </p:nvSpPr>
        <p:spPr>
          <a:xfrm>
            <a:off x="5135728" y="4773168"/>
            <a:ext cx="1920240" cy="566928"/>
          </a:xfrm>
          <a:prstGeom prst="rect">
            <a:avLst/>
          </a:prstGeom>
          <a:solidFill>
            <a:srgbClr val="FDE3D8"/>
          </a:solidFill>
          <a:ln w="19050">
            <a:solidFill>
              <a:srgbClr val="E0875A"/>
            </a:solidFill>
            <a:prstDash val="solid"/>
          </a:ln>
        </p:spPr>
      </p:sp>
      <p:sp>
        <p:nvSpPr>
          <p:cNvPr id="52" name="Text 49"/>
          <p:cNvSpPr txBox="1"/>
          <p:nvPr/>
        </p:nvSpPr>
        <p:spPr>
          <a:xfrm>
            <a:off x="5199736" y="4800600"/>
            <a:ext cx="1792224" cy="512064"/>
          </a:xfrm>
          <a:prstGeom prst="rect">
            <a:avLst/>
          </a:prstGeom>
          <a:noFill/>
          <a:ln/>
        </p:spPr>
        <p:txBody>
          <a:bodyPr wrap="square" lIns="0" tIns="0" rIns="0" bIns="0" rtlCol="0" anchor="ctr"/>
          <a:lstStyle/>
          <a:p>
            <a:pPr algn="ctr" indent="0" marL="0">
              <a:lnSpc>
                <a:spcPct val="95000"/>
              </a:lnSpc>
              <a:buNone/>
            </a:pPr>
            <a:r>
              <a:rPr lang="en-AU" sz="1250" b="1" dirty="0">
                <a:solidFill>
                  <a:srgbClr val="9A3B12"/>
                </a:solidFill>
                <a:latin typeface="Calibri" pitchFamily="34" charset="0"/>
                <a:ea typeface="Calibri" pitchFamily="34" charset="-122"/>
                <a:cs typeface="Calibri" pitchFamily="34" charset="-120"/>
              </a:rPr>
              <a:t>Supporting Requirements</a:t>
            </a:r>
            <a:endParaRPr lang="en-AU" sz="1250" dirty="0"/>
          </a:p>
        </p:txBody>
      </p:sp>
      <p:sp>
        <p:nvSpPr>
          <p:cNvPr id="53" name="Shape 50"/>
          <p:cNvSpPr/>
          <p:nvPr/>
        </p:nvSpPr>
        <p:spPr>
          <a:xfrm>
            <a:off x="7284568" y="4773168"/>
            <a:ext cx="4160520" cy="566928"/>
          </a:xfrm>
          <a:prstGeom prst="rect">
            <a:avLst/>
          </a:prstGeom>
          <a:solidFill>
            <a:srgbClr val="FFFFFF"/>
          </a:solidFill>
          <a:ln w="19050">
            <a:solidFill>
              <a:srgbClr val="E0875A"/>
            </a:solidFill>
            <a:prstDash val="solid"/>
          </a:ln>
        </p:spPr>
      </p:sp>
      <p:sp>
        <p:nvSpPr>
          <p:cNvPr id="54" name="Text 51"/>
          <p:cNvSpPr txBox="1"/>
          <p:nvPr/>
        </p:nvSpPr>
        <p:spPr>
          <a:xfrm>
            <a:off x="7348576" y="4800600"/>
            <a:ext cx="4032504" cy="512064"/>
          </a:xfrm>
          <a:prstGeom prst="rect">
            <a:avLst/>
          </a:prstGeom>
          <a:noFill/>
          <a:ln/>
        </p:spPr>
        <p:txBody>
          <a:bodyPr wrap="square" lIns="0" tIns="0" rIns="0" bIns="0" rtlCol="0" anchor="ctr"/>
          <a:lstStyle/>
          <a:p>
            <a:pPr algn="l" indent="0" marL="0">
              <a:lnSpc>
                <a:spcPct val="95000"/>
              </a:lnSpc>
              <a:buNone/>
            </a:pPr>
            <a:r>
              <a:rPr lang="en-AU" sz="1200" dirty="0">
                <a:solidFill>
                  <a:srgbClr val="1C2B31"/>
                </a:solidFill>
                <a:latin typeface="Calibri" pitchFamily="34" charset="0"/>
                <a:ea typeface="Calibri" pitchFamily="34" charset="-122"/>
                <a:cs typeface="Calibri" pitchFamily="34" charset="-120"/>
              </a:rPr>
              <a:t>access control</a:t>
            </a:r>
            <a:r>
              <a:rPr lang="en-AU" sz="1050" b="1" dirty="0">
                <a:solidFill>
                  <a:srgbClr val="9A3B12"/>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authentication</a:t>
            </a:r>
            <a:r>
              <a:rPr lang="en-AU" sz="1050" b="1" dirty="0">
                <a:solidFill>
                  <a:srgbClr val="9A3B12"/>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DID</a:t>
            </a:r>
            <a:r>
              <a:rPr lang="en-AU" sz="1050" b="1" dirty="0">
                <a:solidFill>
                  <a:srgbClr val="9A3B12"/>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verifiable credential</a:t>
            </a:r>
            <a:r>
              <a:rPr lang="en-AU" sz="1050" b="1" dirty="0">
                <a:solidFill>
                  <a:srgbClr val="9A3B12"/>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privacy</a:t>
            </a:r>
            <a:r>
              <a:rPr lang="en-AU" sz="1050" b="1" dirty="0">
                <a:solidFill>
                  <a:srgbClr val="9A3B12"/>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auditability</a:t>
            </a:r>
            <a:r>
              <a:rPr lang="en-AU" sz="1050" b="1" dirty="0">
                <a:solidFill>
                  <a:srgbClr val="9A3B12"/>
                </a:solidFill>
                <a:latin typeface="Calibri" pitchFamily="34" charset="0"/>
                <a:ea typeface="Calibri" pitchFamily="34" charset="-122"/>
                <a:cs typeface="Calibri" pitchFamily="34" charset="-120"/>
              </a:rPr>
              <a:t>  OR  </a:t>
            </a:r>
            <a:r>
              <a:rPr lang="en-AU" sz="1200" dirty="0">
                <a:solidFill>
                  <a:srgbClr val="1C2B31"/>
                </a:solidFill>
                <a:latin typeface="Calibri" pitchFamily="34" charset="0"/>
                <a:ea typeface="Calibri" pitchFamily="34" charset="-122"/>
                <a:cs typeface="Calibri" pitchFamily="34" charset="-120"/>
              </a:rPr>
              <a:t>interoperability</a:t>
            </a:r>
            <a:endParaRPr lang="en-AU" sz="1200" dirty="0"/>
          </a:p>
        </p:txBody>
      </p:sp>
      <p:sp>
        <p:nvSpPr>
          <p:cNvPr id="55" name="Shape 52"/>
          <p:cNvSpPr/>
          <p:nvPr/>
        </p:nvSpPr>
        <p:spPr>
          <a:xfrm>
            <a:off x="7055968" y="5056632"/>
            <a:ext cx="228600" cy="0"/>
          </a:xfrm>
          <a:prstGeom prst="line">
            <a:avLst/>
          </a:prstGeom>
          <a:noFill/>
          <a:ln w="19050">
            <a:solidFill>
              <a:srgbClr val="E0875A"/>
            </a:solidFill>
            <a:prstDash val="solid"/>
          </a:ln>
        </p:spPr>
      </p:sp>
      <p:sp>
        <p:nvSpPr>
          <p:cNvPr id="56" name="Shape 53"/>
          <p:cNvSpPr/>
          <p:nvPr/>
        </p:nvSpPr>
        <p:spPr>
          <a:xfrm>
            <a:off x="6095848" y="4480560"/>
            <a:ext cx="0" cy="27432"/>
          </a:xfrm>
          <a:prstGeom prst="line">
            <a:avLst/>
          </a:prstGeom>
          <a:noFill/>
          <a:ln w="19050">
            <a:solidFill>
              <a:srgbClr val="A8842A"/>
            </a:solidFill>
            <a:prstDash val="solid"/>
          </a:ln>
        </p:spPr>
      </p:sp>
      <p:sp>
        <p:nvSpPr>
          <p:cNvPr id="57" name="Shape 54"/>
          <p:cNvSpPr/>
          <p:nvPr/>
        </p:nvSpPr>
        <p:spPr>
          <a:xfrm>
            <a:off x="5766664" y="4507992"/>
            <a:ext cx="658368" cy="237744"/>
          </a:xfrm>
          <a:prstGeom prst="hexagon">
            <a:avLst/>
          </a:prstGeom>
          <a:solidFill>
            <a:srgbClr val="F0F0F0"/>
          </a:solidFill>
          <a:ln w="19050">
            <a:solidFill>
              <a:srgbClr val="999999"/>
            </a:solidFill>
            <a:prstDash val="solid"/>
          </a:ln>
        </p:spPr>
      </p:sp>
      <p:sp>
        <p:nvSpPr>
          <p:cNvPr id="58" name="Text 55"/>
          <p:cNvSpPr txBox="1"/>
          <p:nvPr/>
        </p:nvSpPr>
        <p:spPr>
          <a:xfrm>
            <a:off x="5858835" y="4535424"/>
            <a:ext cx="474025" cy="182880"/>
          </a:xfrm>
          <a:prstGeom prst="rect">
            <a:avLst/>
          </a:prstGeom>
          <a:noFill/>
          <a:ln/>
        </p:spPr>
        <p:txBody>
          <a:bodyPr wrap="square" lIns="0" tIns="0" rIns="0" bIns="0" rtlCol="0" anchor="ctr"/>
          <a:lstStyle/>
          <a:p>
            <a:pPr algn="ctr" indent="0" marL="0">
              <a:lnSpc>
                <a:spcPct val="95000"/>
              </a:lnSpc>
              <a:buNone/>
            </a:pPr>
            <a:r>
              <a:rPr lang="en-AU" sz="1000" b="1" dirty="0">
                <a:solidFill>
                  <a:srgbClr val="333333"/>
                </a:solidFill>
                <a:latin typeface="Calibri" pitchFamily="34" charset="0"/>
                <a:ea typeface="Calibri" pitchFamily="34" charset="-122"/>
                <a:cs typeface="Calibri" pitchFamily="34" charset="-120"/>
              </a:rPr>
              <a:t>AND</a:t>
            </a:r>
            <a:endParaRPr lang="en-AU" sz="1000" dirty="0"/>
          </a:p>
        </p:txBody>
      </p:sp>
      <p:sp>
        <p:nvSpPr>
          <p:cNvPr id="59" name="Shape 56"/>
          <p:cNvSpPr/>
          <p:nvPr/>
        </p:nvSpPr>
        <p:spPr>
          <a:xfrm>
            <a:off x="6095848" y="4745736"/>
            <a:ext cx="0" cy="27432"/>
          </a:xfrm>
          <a:prstGeom prst="line">
            <a:avLst/>
          </a:prstGeom>
          <a:noFill/>
          <a:ln w="19050">
            <a:solidFill>
              <a:srgbClr val="A8842A"/>
            </a:solidFill>
            <a:prstDash val="solid"/>
            <a:tailEnd type="triangle"/>
          </a:ln>
        </p:spPr>
      </p:sp>
      <p:sp>
        <p:nvSpPr>
          <p:cNvPr id="60" name="Shape 57"/>
          <p:cNvSpPr/>
          <p:nvPr/>
        </p:nvSpPr>
        <p:spPr>
          <a:xfrm>
            <a:off x="5044288" y="5559552"/>
            <a:ext cx="2103120" cy="384048"/>
          </a:xfrm>
          <a:prstGeom prst="roundRect">
            <a:avLst>
              <a:gd name="adj" fmla="val 50000"/>
            </a:avLst>
          </a:prstGeom>
          <a:solidFill>
            <a:srgbClr val="4E7F2E"/>
          </a:solidFill>
          <a:ln w="19050">
            <a:solidFill>
              <a:srgbClr val="4E7F2E"/>
            </a:solidFill>
            <a:prstDash val="solid"/>
          </a:ln>
        </p:spPr>
      </p:sp>
      <p:sp>
        <p:nvSpPr>
          <p:cNvPr id="61" name="Text 58"/>
          <p:cNvSpPr txBox="1"/>
          <p:nvPr/>
        </p:nvSpPr>
        <p:spPr>
          <a:xfrm>
            <a:off x="5108296" y="5586984"/>
            <a:ext cx="1975104" cy="329184"/>
          </a:xfrm>
          <a:prstGeom prst="rect">
            <a:avLst/>
          </a:prstGeom>
          <a:noFill/>
          <a:ln/>
        </p:spPr>
        <p:txBody>
          <a:bodyPr wrap="square" lIns="0" tIns="0" rIns="0" bIns="0" rtlCol="0" anchor="ctr"/>
          <a:lstStyle/>
          <a:p>
            <a:pPr algn="ctr" indent="0" marL="0">
              <a:lnSpc>
                <a:spcPct val="95000"/>
              </a:lnSpc>
              <a:buNone/>
            </a:pPr>
            <a:r>
              <a:rPr lang="en-AU" sz="1200" b="1" dirty="0">
                <a:solidFill>
                  <a:srgbClr val="FFFFFF"/>
                </a:solidFill>
                <a:latin typeface="Calibri" pitchFamily="34" charset="0"/>
                <a:ea typeface="Calibri" pitchFamily="34" charset="-122"/>
                <a:cs typeface="Calibri" pitchFamily="34" charset="-120"/>
              </a:rPr>
              <a:t>Final Search Results</a:t>
            </a:r>
            <a:endParaRPr lang="en-AU" sz="1200" dirty="0"/>
          </a:p>
        </p:txBody>
      </p:sp>
      <p:sp>
        <p:nvSpPr>
          <p:cNvPr id="62" name="Shape 59"/>
          <p:cNvSpPr/>
          <p:nvPr/>
        </p:nvSpPr>
        <p:spPr>
          <a:xfrm>
            <a:off x="6095848" y="5340096"/>
            <a:ext cx="0" cy="219456"/>
          </a:xfrm>
          <a:prstGeom prst="line">
            <a:avLst/>
          </a:prstGeom>
          <a:noFill/>
          <a:ln w="19050">
            <a:solidFill>
              <a:srgbClr val="A8842A"/>
            </a:solidFill>
            <a:prstDash val="solid"/>
            <a:tailEnd type="triangle"/>
          </a:ln>
        </p:spPr>
      </p:sp>
      <p:sp>
        <p:nvSpPr>
          <p:cNvPr id="63" name="Text 60"/>
          <p:cNvSpPr txBox="1"/>
          <p:nvPr/>
        </p:nvSpPr>
        <p:spPr>
          <a:xfrm>
            <a:off x="7284568" y="1627632"/>
            <a:ext cx="4160520" cy="384048"/>
          </a:xfrm>
          <a:prstGeom prst="rect">
            <a:avLst/>
          </a:prstGeom>
          <a:noFill/>
          <a:ln/>
        </p:spPr>
        <p:txBody>
          <a:bodyPr wrap="square" lIns="0" tIns="0" rIns="0" bIns="0" rtlCol="0" anchor="ctr"/>
          <a:lstStyle/>
          <a:p>
            <a:pPr algn="l" indent="0" marL="0">
              <a:buNone/>
            </a:pPr>
            <a:r>
              <a:rPr lang="en-AU" sz="1050" i="1" dirty="0">
                <a:solidFill>
                  <a:srgbClr val="5E6E73"/>
                </a:solidFill>
                <a:latin typeface="Calibri" pitchFamily="34" charset="0"/>
                <a:ea typeface="Calibri" pitchFamily="34" charset="-122"/>
                <a:cs typeface="Calibri" pitchFamily="34" charset="-120"/>
              </a:rPr>
              <a:t>Terms within a group are joined by OR; the four groups are joined by AND.</a:t>
            </a:r>
            <a:endParaRPr lang="en-AU" sz="1050" dirty="0"/>
          </a:p>
        </p:txBody>
      </p:sp>
      <p:sp>
        <p:nvSpPr>
          <p:cNvPr id="64" name="Text 61"/>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2.1: SLR search string definition</a:t>
            </a:r>
            <a:endParaRPr lang="en-AU"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PRISMA selection: from 125 records to 33 studies</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Figure 2.2 and Table 2.2: identification, screening, eligibility and inclusion</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8 / 43</a:t>
            </a:r>
            <a:endParaRPr lang="en-AU" sz="1000" dirty="0"/>
          </a:p>
        </p:txBody>
      </p:sp>
      <p:sp>
        <p:nvSpPr>
          <p:cNvPr id="7" name="Shape 4"/>
          <p:cNvSpPr/>
          <p:nvPr/>
        </p:nvSpPr>
        <p:spPr>
          <a:xfrm>
            <a:off x="548640" y="1737360"/>
            <a:ext cx="4233672" cy="713232"/>
          </a:xfrm>
          <a:prstGeom prst="roundRect">
            <a:avLst>
              <a:gd name="adj" fmla="val 7692"/>
            </a:avLst>
          </a:prstGeom>
          <a:solidFill>
            <a:srgbClr val="0E3B43"/>
          </a:solidFill>
          <a:ln w="12700">
            <a:solidFill>
              <a:srgbClr val="0E3B43"/>
            </a:solidFill>
            <a:prstDash val="solid"/>
          </a:ln>
        </p:spPr>
      </p:sp>
      <p:sp>
        <p:nvSpPr>
          <p:cNvPr id="8" name="Text 5"/>
          <p:cNvSpPr txBox="1"/>
          <p:nvPr/>
        </p:nvSpPr>
        <p:spPr>
          <a:xfrm>
            <a:off x="685800" y="1737360"/>
            <a:ext cx="914400" cy="713232"/>
          </a:xfrm>
          <a:prstGeom prst="rect">
            <a:avLst/>
          </a:prstGeom>
          <a:noFill/>
          <a:ln/>
        </p:spPr>
        <p:txBody>
          <a:bodyPr wrap="square" lIns="0" tIns="0" rIns="0" bIns="0" rtlCol="0" anchor="ctr"/>
          <a:lstStyle/>
          <a:p>
            <a:pPr indent="0" marL="0">
              <a:buNone/>
            </a:pPr>
            <a:r>
              <a:rPr lang="en-AU" sz="3000" b="1" dirty="0">
                <a:solidFill>
                  <a:srgbClr val="FFFFFF"/>
                </a:solidFill>
                <a:latin typeface="Cambria" pitchFamily="34" charset="0"/>
                <a:ea typeface="Cambria" pitchFamily="34" charset="-122"/>
                <a:cs typeface="Cambria" pitchFamily="34" charset="-120"/>
              </a:rPr>
              <a:t>125</a:t>
            </a:r>
            <a:endParaRPr lang="en-AU" sz="3000" dirty="0"/>
          </a:p>
        </p:txBody>
      </p:sp>
      <p:sp>
        <p:nvSpPr>
          <p:cNvPr id="9" name="Text 6"/>
          <p:cNvSpPr txBox="1"/>
          <p:nvPr/>
        </p:nvSpPr>
        <p:spPr>
          <a:xfrm>
            <a:off x="4983480" y="1737360"/>
            <a:ext cx="2423160" cy="71323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Identified in seven databases</a:t>
            </a:r>
            <a:endParaRPr lang="en-AU" sz="1500" dirty="0"/>
          </a:p>
        </p:txBody>
      </p:sp>
      <p:sp>
        <p:nvSpPr>
          <p:cNvPr id="10" name="Shape 7"/>
          <p:cNvSpPr/>
          <p:nvPr/>
        </p:nvSpPr>
        <p:spPr>
          <a:xfrm>
            <a:off x="548640" y="2633472"/>
            <a:ext cx="2811158" cy="713232"/>
          </a:xfrm>
          <a:prstGeom prst="roundRect">
            <a:avLst>
              <a:gd name="adj" fmla="val 7692"/>
            </a:avLst>
          </a:prstGeom>
          <a:solidFill>
            <a:srgbClr val="0B5560"/>
          </a:solidFill>
          <a:ln w="12700">
            <a:solidFill>
              <a:srgbClr val="0B5560"/>
            </a:solidFill>
            <a:prstDash val="solid"/>
          </a:ln>
        </p:spPr>
      </p:sp>
      <p:sp>
        <p:nvSpPr>
          <p:cNvPr id="11" name="Text 8"/>
          <p:cNvSpPr txBox="1"/>
          <p:nvPr/>
        </p:nvSpPr>
        <p:spPr>
          <a:xfrm>
            <a:off x="685800" y="2633472"/>
            <a:ext cx="914400" cy="713232"/>
          </a:xfrm>
          <a:prstGeom prst="rect">
            <a:avLst/>
          </a:prstGeom>
          <a:noFill/>
          <a:ln/>
        </p:spPr>
        <p:txBody>
          <a:bodyPr wrap="square" lIns="0" tIns="0" rIns="0" bIns="0" rtlCol="0" anchor="ctr"/>
          <a:lstStyle/>
          <a:p>
            <a:pPr indent="0" marL="0">
              <a:buNone/>
            </a:pPr>
            <a:r>
              <a:rPr lang="en-AU" sz="3000" b="1" dirty="0">
                <a:solidFill>
                  <a:srgbClr val="FFFFFF"/>
                </a:solidFill>
                <a:latin typeface="Cambria" pitchFamily="34" charset="0"/>
                <a:ea typeface="Cambria" pitchFamily="34" charset="-122"/>
                <a:cs typeface="Cambria" pitchFamily="34" charset="-120"/>
              </a:rPr>
              <a:t>83</a:t>
            </a:r>
            <a:endParaRPr lang="en-AU" sz="3000" dirty="0"/>
          </a:p>
        </p:txBody>
      </p:sp>
      <p:sp>
        <p:nvSpPr>
          <p:cNvPr id="12" name="Text 9"/>
          <p:cNvSpPr txBox="1"/>
          <p:nvPr/>
        </p:nvSpPr>
        <p:spPr>
          <a:xfrm>
            <a:off x="4983480" y="2633472"/>
            <a:ext cx="2423160" cy="71323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Screened by title and abstract</a:t>
            </a:r>
            <a:endParaRPr lang="en-AU" sz="1500" dirty="0"/>
          </a:p>
        </p:txBody>
      </p:sp>
      <p:sp>
        <p:nvSpPr>
          <p:cNvPr id="13" name="Shape 10"/>
          <p:cNvSpPr/>
          <p:nvPr/>
        </p:nvSpPr>
        <p:spPr>
          <a:xfrm>
            <a:off x="548640" y="3529584"/>
            <a:ext cx="1456383" cy="713232"/>
          </a:xfrm>
          <a:prstGeom prst="roundRect">
            <a:avLst>
              <a:gd name="adj" fmla="val 7692"/>
            </a:avLst>
          </a:prstGeom>
          <a:solidFill>
            <a:srgbClr val="13707B"/>
          </a:solidFill>
          <a:ln w="12700">
            <a:solidFill>
              <a:srgbClr val="13707B"/>
            </a:solidFill>
            <a:prstDash val="solid"/>
          </a:ln>
        </p:spPr>
      </p:sp>
      <p:sp>
        <p:nvSpPr>
          <p:cNvPr id="14" name="Text 11"/>
          <p:cNvSpPr txBox="1"/>
          <p:nvPr/>
        </p:nvSpPr>
        <p:spPr>
          <a:xfrm>
            <a:off x="685800" y="3529584"/>
            <a:ext cx="914400" cy="713232"/>
          </a:xfrm>
          <a:prstGeom prst="rect">
            <a:avLst/>
          </a:prstGeom>
          <a:noFill/>
          <a:ln/>
        </p:spPr>
        <p:txBody>
          <a:bodyPr wrap="square" lIns="0" tIns="0" rIns="0" bIns="0" rtlCol="0" anchor="ctr"/>
          <a:lstStyle/>
          <a:p>
            <a:pPr indent="0" marL="0">
              <a:buNone/>
            </a:pPr>
            <a:r>
              <a:rPr lang="en-AU" sz="3000" b="1" dirty="0">
                <a:solidFill>
                  <a:srgbClr val="FFFFFF"/>
                </a:solidFill>
                <a:latin typeface="Cambria" pitchFamily="34" charset="0"/>
                <a:ea typeface="Cambria" pitchFamily="34" charset="-122"/>
                <a:cs typeface="Cambria" pitchFamily="34" charset="-120"/>
              </a:rPr>
              <a:t>43</a:t>
            </a:r>
            <a:endParaRPr lang="en-AU" sz="3000" dirty="0"/>
          </a:p>
        </p:txBody>
      </p:sp>
      <p:sp>
        <p:nvSpPr>
          <p:cNvPr id="15" name="Text 12"/>
          <p:cNvSpPr txBox="1"/>
          <p:nvPr/>
        </p:nvSpPr>
        <p:spPr>
          <a:xfrm>
            <a:off x="4983480" y="3529584"/>
            <a:ext cx="2423160" cy="71323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Sought for full-text retrieval</a:t>
            </a:r>
            <a:endParaRPr lang="en-AU" sz="1500" dirty="0"/>
          </a:p>
        </p:txBody>
      </p:sp>
      <p:sp>
        <p:nvSpPr>
          <p:cNvPr id="16" name="Shape 13"/>
          <p:cNvSpPr/>
          <p:nvPr/>
        </p:nvSpPr>
        <p:spPr>
          <a:xfrm>
            <a:off x="548640" y="4425696"/>
            <a:ext cx="1354775" cy="713232"/>
          </a:xfrm>
          <a:prstGeom prst="roundRect">
            <a:avLst>
              <a:gd name="adj" fmla="val 7692"/>
            </a:avLst>
          </a:prstGeom>
          <a:solidFill>
            <a:srgbClr val="3E8E97"/>
          </a:solidFill>
          <a:ln w="12700">
            <a:solidFill>
              <a:srgbClr val="3E8E97"/>
            </a:solidFill>
            <a:prstDash val="solid"/>
          </a:ln>
        </p:spPr>
      </p:sp>
      <p:sp>
        <p:nvSpPr>
          <p:cNvPr id="17" name="Text 14"/>
          <p:cNvSpPr txBox="1"/>
          <p:nvPr/>
        </p:nvSpPr>
        <p:spPr>
          <a:xfrm>
            <a:off x="685800" y="4425696"/>
            <a:ext cx="914400" cy="713232"/>
          </a:xfrm>
          <a:prstGeom prst="rect">
            <a:avLst/>
          </a:prstGeom>
          <a:noFill/>
          <a:ln/>
        </p:spPr>
        <p:txBody>
          <a:bodyPr wrap="square" lIns="0" tIns="0" rIns="0" bIns="0" rtlCol="0" anchor="ctr"/>
          <a:lstStyle/>
          <a:p>
            <a:pPr indent="0" marL="0">
              <a:buNone/>
            </a:pPr>
            <a:r>
              <a:rPr lang="en-AU" sz="3000" b="1" dirty="0">
                <a:solidFill>
                  <a:srgbClr val="FFFFFF"/>
                </a:solidFill>
                <a:latin typeface="Cambria" pitchFamily="34" charset="0"/>
                <a:ea typeface="Cambria" pitchFamily="34" charset="-122"/>
                <a:cs typeface="Cambria" pitchFamily="34" charset="-120"/>
              </a:rPr>
              <a:t>40</a:t>
            </a:r>
            <a:endParaRPr lang="en-AU" sz="3000" dirty="0"/>
          </a:p>
        </p:txBody>
      </p:sp>
      <p:sp>
        <p:nvSpPr>
          <p:cNvPr id="18" name="Text 15"/>
          <p:cNvSpPr txBox="1"/>
          <p:nvPr/>
        </p:nvSpPr>
        <p:spPr>
          <a:xfrm>
            <a:off x="4983480" y="4425696"/>
            <a:ext cx="2423160" cy="71323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Full texts assessed (QA1–QA5)</a:t>
            </a:r>
            <a:endParaRPr lang="en-AU" sz="1500" dirty="0"/>
          </a:p>
        </p:txBody>
      </p:sp>
      <p:sp>
        <p:nvSpPr>
          <p:cNvPr id="19" name="Shape 16"/>
          <p:cNvSpPr/>
          <p:nvPr/>
        </p:nvSpPr>
        <p:spPr>
          <a:xfrm>
            <a:off x="548640" y="5321808"/>
            <a:ext cx="1117689" cy="713232"/>
          </a:xfrm>
          <a:prstGeom prst="roundRect">
            <a:avLst>
              <a:gd name="adj" fmla="val 7692"/>
            </a:avLst>
          </a:prstGeom>
          <a:solidFill>
            <a:srgbClr val="D4A12A"/>
          </a:solidFill>
          <a:ln w="12700">
            <a:solidFill>
              <a:srgbClr val="D4A12A"/>
            </a:solidFill>
            <a:prstDash val="solid"/>
          </a:ln>
        </p:spPr>
      </p:sp>
      <p:sp>
        <p:nvSpPr>
          <p:cNvPr id="20" name="Text 17"/>
          <p:cNvSpPr txBox="1"/>
          <p:nvPr/>
        </p:nvSpPr>
        <p:spPr>
          <a:xfrm>
            <a:off x="685800" y="5321808"/>
            <a:ext cx="914400" cy="713232"/>
          </a:xfrm>
          <a:prstGeom prst="rect">
            <a:avLst/>
          </a:prstGeom>
          <a:noFill/>
          <a:ln/>
        </p:spPr>
        <p:txBody>
          <a:bodyPr wrap="square" lIns="0" tIns="0" rIns="0" bIns="0" rtlCol="0" anchor="ctr"/>
          <a:lstStyle/>
          <a:p>
            <a:pPr indent="0" marL="0">
              <a:buNone/>
            </a:pPr>
            <a:r>
              <a:rPr lang="en-AU" sz="3000" b="1" dirty="0">
                <a:solidFill>
                  <a:srgbClr val="1C2B31"/>
                </a:solidFill>
                <a:latin typeface="Cambria" pitchFamily="34" charset="0"/>
                <a:ea typeface="Cambria" pitchFamily="34" charset="-122"/>
                <a:cs typeface="Cambria" pitchFamily="34" charset="-120"/>
              </a:rPr>
              <a:t>33</a:t>
            </a:r>
            <a:endParaRPr lang="en-AU" sz="3000" dirty="0"/>
          </a:p>
        </p:txBody>
      </p:sp>
      <p:sp>
        <p:nvSpPr>
          <p:cNvPr id="21" name="Text 18"/>
          <p:cNvSpPr txBox="1"/>
          <p:nvPr/>
        </p:nvSpPr>
        <p:spPr>
          <a:xfrm>
            <a:off x="4983480" y="5321808"/>
            <a:ext cx="2423160" cy="71323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Studies included in the review</a:t>
            </a:r>
            <a:endParaRPr lang="en-AU" sz="1500" dirty="0"/>
          </a:p>
        </p:txBody>
      </p:sp>
      <p:sp>
        <p:nvSpPr>
          <p:cNvPr id="22" name="Shape 19"/>
          <p:cNvSpPr/>
          <p:nvPr/>
        </p:nvSpPr>
        <p:spPr>
          <a:xfrm>
            <a:off x="7635240" y="1737360"/>
            <a:ext cx="384048" cy="384048"/>
          </a:xfrm>
          <a:prstGeom prst="ellipse">
            <a:avLst/>
          </a:prstGeom>
          <a:solidFill>
            <a:srgbClr val="13707B"/>
          </a:solidFill>
          <a:ln w="12700">
            <a:solidFill>
              <a:srgbClr val="13707B"/>
            </a:solidFill>
            <a:prstDash val="solid"/>
          </a:ln>
        </p:spPr>
      </p:sp>
      <p:pic>
        <p:nvPicPr>
          <p:cNvPr id="23" name="Image 0" descr="preencoded.png">    </p:cNvPr>
          <p:cNvPicPr>
            <a:picLocks noChangeAspect="1"/>
          </p:cNvPicPr>
          <p:nvPr/>
        </p:nvPicPr>
        <p:blipFill>
          <a:blip r:embed="rId1"/>
          <a:stretch>
            <a:fillRect/>
          </a:stretch>
        </p:blipFill>
        <p:spPr>
          <a:xfrm>
            <a:off x="7727412" y="1829532"/>
            <a:ext cx="199705" cy="199705"/>
          </a:xfrm>
          <a:prstGeom prst="rect">
            <a:avLst/>
          </a:prstGeom>
        </p:spPr>
      </p:pic>
      <p:sp>
        <p:nvSpPr>
          <p:cNvPr id="24" name="Text 20"/>
          <p:cNvSpPr txBox="1"/>
          <p:nvPr/>
        </p:nvSpPr>
        <p:spPr>
          <a:xfrm>
            <a:off x="8202168" y="1719072"/>
            <a:ext cx="3440887" cy="310896"/>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42 removed before screening</a:t>
            </a:r>
            <a:endParaRPr lang="en-AU" sz="1500" dirty="0"/>
          </a:p>
        </p:txBody>
      </p:sp>
      <p:sp>
        <p:nvSpPr>
          <p:cNvPr id="25" name="Text 21"/>
          <p:cNvSpPr txBox="1"/>
          <p:nvPr/>
        </p:nvSpPr>
        <p:spPr>
          <a:xfrm>
            <a:off x="8202168" y="2048256"/>
            <a:ext cx="3440887" cy="502920"/>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35 duplicate records (same DOI, title and authors) and 7 marked ineligible by automation tools</a:t>
            </a:r>
            <a:endParaRPr lang="en-AU" sz="1250" dirty="0"/>
          </a:p>
        </p:txBody>
      </p:sp>
      <p:sp>
        <p:nvSpPr>
          <p:cNvPr id="26" name="Shape 22"/>
          <p:cNvSpPr/>
          <p:nvPr/>
        </p:nvSpPr>
        <p:spPr>
          <a:xfrm>
            <a:off x="7635240" y="2633472"/>
            <a:ext cx="384048" cy="384048"/>
          </a:xfrm>
          <a:prstGeom prst="ellipse">
            <a:avLst/>
          </a:prstGeom>
          <a:solidFill>
            <a:srgbClr val="13707B"/>
          </a:solidFill>
          <a:ln w="12700">
            <a:solidFill>
              <a:srgbClr val="13707B"/>
            </a:solidFill>
            <a:prstDash val="solid"/>
          </a:ln>
        </p:spPr>
      </p:sp>
      <p:pic>
        <p:nvPicPr>
          <p:cNvPr id="27" name="Image 1" descr="preencoded.png">    </p:cNvPr>
          <p:cNvPicPr>
            <a:picLocks noChangeAspect="1"/>
          </p:cNvPicPr>
          <p:nvPr/>
        </p:nvPicPr>
        <p:blipFill>
          <a:blip r:embed="rId2"/>
          <a:stretch>
            <a:fillRect/>
          </a:stretch>
        </p:blipFill>
        <p:spPr>
          <a:xfrm>
            <a:off x="7727412" y="2725644"/>
            <a:ext cx="199705" cy="199705"/>
          </a:xfrm>
          <a:prstGeom prst="rect">
            <a:avLst/>
          </a:prstGeom>
        </p:spPr>
      </p:pic>
      <p:sp>
        <p:nvSpPr>
          <p:cNvPr id="28" name="Text 23"/>
          <p:cNvSpPr txBox="1"/>
          <p:nvPr/>
        </p:nvSpPr>
        <p:spPr>
          <a:xfrm>
            <a:off x="8202168" y="2615184"/>
            <a:ext cx="3440887" cy="310896"/>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40 excluded at screening</a:t>
            </a:r>
            <a:endParaRPr lang="en-AU" sz="1500" dirty="0"/>
          </a:p>
        </p:txBody>
      </p:sp>
      <p:sp>
        <p:nvSpPr>
          <p:cNvPr id="29" name="Text 24"/>
          <p:cNvSpPr txBox="1"/>
          <p:nvPr/>
        </p:nvSpPr>
        <p:spPr>
          <a:xfrm>
            <a:off x="8202168" y="2944368"/>
            <a:ext cx="3440887" cy="502920"/>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Unrelated to healthcare data sharing, consent, identity, access control, privacy or auditability</a:t>
            </a:r>
            <a:endParaRPr lang="en-AU" sz="1250" dirty="0"/>
          </a:p>
        </p:txBody>
      </p:sp>
      <p:sp>
        <p:nvSpPr>
          <p:cNvPr id="30" name="Shape 25"/>
          <p:cNvSpPr/>
          <p:nvPr/>
        </p:nvSpPr>
        <p:spPr>
          <a:xfrm>
            <a:off x="7635240" y="3529584"/>
            <a:ext cx="384048" cy="384048"/>
          </a:xfrm>
          <a:prstGeom prst="ellipse">
            <a:avLst/>
          </a:prstGeom>
          <a:solidFill>
            <a:srgbClr val="13707B"/>
          </a:solidFill>
          <a:ln w="12700">
            <a:solidFill>
              <a:srgbClr val="13707B"/>
            </a:solidFill>
            <a:prstDash val="solid"/>
          </a:ln>
        </p:spPr>
      </p:sp>
      <p:pic>
        <p:nvPicPr>
          <p:cNvPr id="31" name="Image 2" descr="preencoded.png">    </p:cNvPr>
          <p:cNvPicPr>
            <a:picLocks noChangeAspect="1"/>
          </p:cNvPicPr>
          <p:nvPr/>
        </p:nvPicPr>
        <p:blipFill>
          <a:blip r:embed="rId3"/>
          <a:stretch>
            <a:fillRect/>
          </a:stretch>
        </p:blipFill>
        <p:spPr>
          <a:xfrm>
            <a:off x="7727412" y="3621756"/>
            <a:ext cx="199705" cy="199705"/>
          </a:xfrm>
          <a:prstGeom prst="rect">
            <a:avLst/>
          </a:prstGeom>
        </p:spPr>
      </p:pic>
      <p:sp>
        <p:nvSpPr>
          <p:cNvPr id="32" name="Text 26"/>
          <p:cNvSpPr txBox="1"/>
          <p:nvPr/>
        </p:nvSpPr>
        <p:spPr>
          <a:xfrm>
            <a:off x="8202168" y="3511296"/>
            <a:ext cx="3440887" cy="310896"/>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3 full texts not retrieved</a:t>
            </a:r>
            <a:endParaRPr lang="en-AU" sz="1500" dirty="0"/>
          </a:p>
        </p:txBody>
      </p:sp>
      <p:sp>
        <p:nvSpPr>
          <p:cNvPr id="33" name="Text 27"/>
          <p:cNvSpPr txBox="1"/>
          <p:nvPr/>
        </p:nvSpPr>
        <p:spPr>
          <a:xfrm>
            <a:off x="8202168" y="3840480"/>
            <a:ext cx="3440887" cy="502920"/>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43 reports were sought for retrieval; 3 could not be obtained, so 40 were assessed</a:t>
            </a:r>
            <a:endParaRPr lang="en-AU" sz="1250" dirty="0"/>
          </a:p>
        </p:txBody>
      </p:sp>
      <p:sp>
        <p:nvSpPr>
          <p:cNvPr id="34" name="Shape 28"/>
          <p:cNvSpPr/>
          <p:nvPr/>
        </p:nvSpPr>
        <p:spPr>
          <a:xfrm>
            <a:off x="7635240" y="4425696"/>
            <a:ext cx="384048" cy="384048"/>
          </a:xfrm>
          <a:prstGeom prst="ellipse">
            <a:avLst/>
          </a:prstGeom>
          <a:solidFill>
            <a:srgbClr val="13707B"/>
          </a:solidFill>
          <a:ln w="12700">
            <a:solidFill>
              <a:srgbClr val="13707B"/>
            </a:solidFill>
            <a:prstDash val="solid"/>
          </a:ln>
        </p:spPr>
      </p:sp>
      <p:pic>
        <p:nvPicPr>
          <p:cNvPr id="35" name="Image 3" descr="preencoded.png">    </p:cNvPr>
          <p:cNvPicPr>
            <a:picLocks noChangeAspect="1"/>
          </p:cNvPicPr>
          <p:nvPr/>
        </p:nvPicPr>
        <p:blipFill>
          <a:blip r:embed="rId4"/>
          <a:stretch>
            <a:fillRect/>
          </a:stretch>
        </p:blipFill>
        <p:spPr>
          <a:xfrm>
            <a:off x="7727412" y="4517868"/>
            <a:ext cx="199705" cy="199705"/>
          </a:xfrm>
          <a:prstGeom prst="rect">
            <a:avLst/>
          </a:prstGeom>
        </p:spPr>
      </p:pic>
      <p:sp>
        <p:nvSpPr>
          <p:cNvPr id="36" name="Text 29"/>
          <p:cNvSpPr txBox="1"/>
          <p:nvPr/>
        </p:nvSpPr>
        <p:spPr>
          <a:xfrm>
            <a:off x="8202168" y="4407408"/>
            <a:ext cx="3440887" cy="310896"/>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7 excluded at full text</a:t>
            </a:r>
            <a:endParaRPr lang="en-AU" sz="1500" dirty="0"/>
          </a:p>
        </p:txBody>
      </p:sp>
      <p:sp>
        <p:nvSpPr>
          <p:cNvPr id="37" name="Text 30"/>
          <p:cNvSpPr txBox="1"/>
          <p:nvPr/>
        </p:nvSpPr>
        <p:spPr>
          <a:xfrm>
            <a:off x="8202168" y="4736592"/>
            <a:ext cx="3440887" cy="502920"/>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3 scored below 2.5 on QA1–QA5; 4 were outside the review scope</a:t>
            </a:r>
            <a:endParaRPr lang="en-AU"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Five requirements for a trustworthy decision</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2.2: derived from the Chapter 1 problem and the Australian regulatory setting</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9 / 43</a:t>
            </a:r>
            <a:endParaRPr lang="en-AU" sz="1000" dirty="0"/>
          </a:p>
        </p:txBody>
      </p:sp>
      <p:sp>
        <p:nvSpPr>
          <p:cNvPr id="7" name="Text 4"/>
          <p:cNvSpPr txBox="1"/>
          <p:nvPr/>
        </p:nvSpPr>
        <p:spPr>
          <a:xfrm>
            <a:off x="548640" y="1645920"/>
            <a:ext cx="11094415" cy="566928"/>
          </a:xfrm>
          <a:prstGeom prst="rect">
            <a:avLst/>
          </a:prstGeom>
          <a:noFill/>
          <a:ln/>
        </p:spPr>
        <p:txBody>
          <a:bodyPr wrap="square" lIns="0" tIns="0" rIns="0" bIns="0" rtlCol="0" anchor="t"/>
          <a:lstStyle/>
          <a:p>
            <a:pPr indent="0" marL="0">
              <a:buNone/>
            </a:pPr>
            <a:r>
              <a:rPr lang="en-AU" sz="1500" dirty="0">
                <a:solidFill>
                  <a:srgbClr val="1C2B31"/>
                </a:solidFill>
                <a:latin typeface="Calibri" pitchFamily="34" charset="0"/>
                <a:ea typeface="Calibri" pitchFamily="34" charset="-122"/>
                <a:cs typeface="Calibri" pitchFamily="34" charset="-120"/>
              </a:rPr>
              <a:t>The framework must meet five requirements for a trustworthy data-access decision; each of the 33 studies is assessed against them.</a:t>
            </a:r>
            <a:endParaRPr lang="en-AU" sz="1500" dirty="0"/>
          </a:p>
        </p:txBody>
      </p:sp>
      <p:sp>
        <p:nvSpPr>
          <p:cNvPr id="8" name="Shape 5"/>
          <p:cNvSpPr/>
          <p:nvPr/>
        </p:nvSpPr>
        <p:spPr>
          <a:xfrm>
            <a:off x="548640" y="2377440"/>
            <a:ext cx="1999427" cy="3840480"/>
          </a:xfrm>
          <a:prstGeom prst="roundRect">
            <a:avLst>
              <a:gd name="adj" fmla="val 4573"/>
            </a:avLst>
          </a:prstGeom>
          <a:solidFill>
            <a:srgbClr val="EEF4F5"/>
          </a:solidFill>
          <a:ln w="12700">
            <a:solidFill>
              <a:srgbClr val="EEF4F5"/>
            </a:solidFill>
            <a:prstDash val="solid"/>
          </a:ln>
        </p:spPr>
      </p:sp>
      <p:sp>
        <p:nvSpPr>
          <p:cNvPr id="9" name="Text 6"/>
          <p:cNvSpPr txBox="1"/>
          <p:nvPr/>
        </p:nvSpPr>
        <p:spPr>
          <a:xfrm>
            <a:off x="749808" y="5650992"/>
            <a:ext cx="1597091"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Addressed by 9 of 33 studies</a:t>
            </a:r>
            <a:endParaRPr lang="en-AU" sz="1250" dirty="0"/>
          </a:p>
        </p:txBody>
      </p:sp>
      <p:sp>
        <p:nvSpPr>
          <p:cNvPr id="10" name="Shape 7"/>
          <p:cNvSpPr/>
          <p:nvPr/>
        </p:nvSpPr>
        <p:spPr>
          <a:xfrm>
            <a:off x="749808" y="2578608"/>
            <a:ext cx="512064" cy="512064"/>
          </a:xfrm>
          <a:prstGeom prst="ellipse">
            <a:avLst/>
          </a:prstGeom>
          <a:solidFill>
            <a:srgbClr val="13707B"/>
          </a:solidFill>
          <a:ln w="12700">
            <a:solidFill>
              <a:srgbClr val="13707B"/>
            </a:solidFill>
            <a:prstDash val="solid"/>
          </a:ln>
        </p:spPr>
      </p:sp>
      <p:pic>
        <p:nvPicPr>
          <p:cNvPr id="11" name="Image 0" descr="preencoded.png">    </p:cNvPr>
          <p:cNvPicPr>
            <a:picLocks noChangeAspect="1"/>
          </p:cNvPicPr>
          <p:nvPr/>
        </p:nvPicPr>
        <p:blipFill>
          <a:blip r:embed="rId1"/>
          <a:stretch>
            <a:fillRect/>
          </a:stretch>
        </p:blipFill>
        <p:spPr>
          <a:xfrm>
            <a:off x="872703" y="2701503"/>
            <a:ext cx="266273" cy="266273"/>
          </a:xfrm>
          <a:prstGeom prst="rect">
            <a:avLst/>
          </a:prstGeom>
        </p:spPr>
      </p:pic>
      <p:sp>
        <p:nvSpPr>
          <p:cNvPr id="12" name="Text 8"/>
          <p:cNvSpPr txBox="1"/>
          <p:nvPr/>
        </p:nvSpPr>
        <p:spPr>
          <a:xfrm>
            <a:off x="1371600" y="2578608"/>
            <a:ext cx="993587" cy="512064"/>
          </a:xfrm>
          <a:prstGeom prst="rect">
            <a:avLst/>
          </a:prstGeom>
          <a:noFill/>
          <a:ln/>
        </p:spPr>
        <p:txBody>
          <a:bodyPr wrap="square" lIns="0" tIns="0" rIns="0" bIns="0" rtlCol="0" anchor="ctr"/>
          <a:lstStyle/>
          <a:p>
            <a:pPr indent="0" marL="0">
              <a:buNone/>
            </a:pPr>
            <a:r>
              <a:rPr lang="en-AU" sz="1250" b="1" spc="150" kern="0" dirty="0">
                <a:solidFill>
                  <a:srgbClr val="13707B"/>
                </a:solidFill>
                <a:latin typeface="Calibri" pitchFamily="34" charset="0"/>
                <a:ea typeface="Calibri" pitchFamily="34" charset="-122"/>
                <a:cs typeface="Calibri" pitchFamily="34" charset="-120"/>
              </a:rPr>
              <a:t>REQ 1</a:t>
            </a:r>
            <a:endParaRPr lang="en-AU" sz="1250" dirty="0"/>
          </a:p>
        </p:txBody>
      </p:sp>
      <p:sp>
        <p:nvSpPr>
          <p:cNvPr id="13" name="Text 9"/>
          <p:cNvSpPr txBox="1"/>
          <p:nvPr/>
        </p:nvSpPr>
        <p:spPr>
          <a:xfrm>
            <a:off x="749808" y="3246120"/>
            <a:ext cx="1597091" cy="56692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Evaluable consent object</a:t>
            </a:r>
            <a:endParaRPr lang="en-AU" sz="1500" dirty="0"/>
          </a:p>
        </p:txBody>
      </p:sp>
      <p:sp>
        <p:nvSpPr>
          <p:cNvPr id="14" name="Text 10"/>
          <p:cNvSpPr txBox="1"/>
          <p:nvPr/>
        </p:nvSpPr>
        <p:spPr>
          <a:xfrm>
            <a:off x="749808" y="3950208"/>
            <a:ext cx="1597091" cy="163677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Structured consent: who may access, under which authority, for which purpose and data, and for how long</a:t>
            </a:r>
            <a:endParaRPr lang="en-AU" sz="1400" dirty="0"/>
          </a:p>
        </p:txBody>
      </p:sp>
      <p:sp>
        <p:nvSpPr>
          <p:cNvPr id="15" name="Shape 11"/>
          <p:cNvSpPr/>
          <p:nvPr/>
        </p:nvSpPr>
        <p:spPr>
          <a:xfrm>
            <a:off x="2822387" y="2377440"/>
            <a:ext cx="1999427" cy="3840480"/>
          </a:xfrm>
          <a:prstGeom prst="roundRect">
            <a:avLst>
              <a:gd name="adj" fmla="val 4573"/>
            </a:avLst>
          </a:prstGeom>
          <a:solidFill>
            <a:srgbClr val="EEF4F5"/>
          </a:solidFill>
          <a:ln w="12700">
            <a:solidFill>
              <a:srgbClr val="EEF4F5"/>
            </a:solidFill>
            <a:prstDash val="solid"/>
          </a:ln>
        </p:spPr>
      </p:sp>
      <p:sp>
        <p:nvSpPr>
          <p:cNvPr id="16" name="Text 12"/>
          <p:cNvSpPr txBox="1"/>
          <p:nvPr/>
        </p:nvSpPr>
        <p:spPr>
          <a:xfrm>
            <a:off x="3023555" y="5650992"/>
            <a:ext cx="1597091"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Addressed by 11 of 33 studies</a:t>
            </a:r>
            <a:endParaRPr lang="en-AU" sz="1250" dirty="0"/>
          </a:p>
        </p:txBody>
      </p:sp>
      <p:sp>
        <p:nvSpPr>
          <p:cNvPr id="17" name="Shape 13"/>
          <p:cNvSpPr/>
          <p:nvPr/>
        </p:nvSpPr>
        <p:spPr>
          <a:xfrm>
            <a:off x="3023555" y="2578608"/>
            <a:ext cx="512064" cy="512064"/>
          </a:xfrm>
          <a:prstGeom prst="ellipse">
            <a:avLst/>
          </a:prstGeom>
          <a:solidFill>
            <a:srgbClr val="13707B"/>
          </a:solidFill>
          <a:ln w="12700">
            <a:solidFill>
              <a:srgbClr val="13707B"/>
            </a:solidFill>
            <a:prstDash val="solid"/>
          </a:ln>
        </p:spPr>
      </p:sp>
      <p:pic>
        <p:nvPicPr>
          <p:cNvPr id="18" name="Image 1" descr="preencoded.png">    </p:cNvPr>
          <p:cNvPicPr>
            <a:picLocks noChangeAspect="1"/>
          </p:cNvPicPr>
          <p:nvPr/>
        </p:nvPicPr>
        <p:blipFill>
          <a:blip r:embed="rId2"/>
          <a:stretch>
            <a:fillRect/>
          </a:stretch>
        </p:blipFill>
        <p:spPr>
          <a:xfrm>
            <a:off x="3146450" y="2701503"/>
            <a:ext cx="266273" cy="266273"/>
          </a:xfrm>
          <a:prstGeom prst="rect">
            <a:avLst/>
          </a:prstGeom>
        </p:spPr>
      </p:pic>
      <p:sp>
        <p:nvSpPr>
          <p:cNvPr id="19" name="Text 14"/>
          <p:cNvSpPr txBox="1"/>
          <p:nvPr/>
        </p:nvSpPr>
        <p:spPr>
          <a:xfrm>
            <a:off x="3645347" y="2578608"/>
            <a:ext cx="993587" cy="512064"/>
          </a:xfrm>
          <a:prstGeom prst="rect">
            <a:avLst/>
          </a:prstGeom>
          <a:noFill/>
          <a:ln/>
        </p:spPr>
        <p:txBody>
          <a:bodyPr wrap="square" lIns="0" tIns="0" rIns="0" bIns="0" rtlCol="0" anchor="ctr"/>
          <a:lstStyle/>
          <a:p>
            <a:pPr indent="0" marL="0">
              <a:buNone/>
            </a:pPr>
            <a:r>
              <a:rPr lang="en-AU" sz="1250" b="1" spc="150" kern="0" dirty="0">
                <a:solidFill>
                  <a:srgbClr val="13707B"/>
                </a:solidFill>
                <a:latin typeface="Calibri" pitchFamily="34" charset="0"/>
                <a:ea typeface="Calibri" pitchFamily="34" charset="-122"/>
                <a:cs typeface="Calibri" pitchFamily="34" charset="-120"/>
              </a:rPr>
              <a:t>REQ 2</a:t>
            </a:r>
            <a:endParaRPr lang="en-AU" sz="1250" dirty="0"/>
          </a:p>
        </p:txBody>
      </p:sp>
      <p:sp>
        <p:nvSpPr>
          <p:cNvPr id="20" name="Text 15"/>
          <p:cNvSpPr txBox="1"/>
          <p:nvPr/>
        </p:nvSpPr>
        <p:spPr>
          <a:xfrm>
            <a:off x="3023555" y="3246120"/>
            <a:ext cx="1597091" cy="56692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Identity is not authority</a:t>
            </a:r>
            <a:endParaRPr lang="en-AU" sz="1500" dirty="0"/>
          </a:p>
        </p:txBody>
      </p:sp>
      <p:sp>
        <p:nvSpPr>
          <p:cNvPr id="21" name="Text 16"/>
          <p:cNvSpPr txBox="1"/>
          <p:nvPr/>
        </p:nvSpPr>
        <p:spPr>
          <a:xfrm>
            <a:off x="3023555" y="3950208"/>
            <a:ext cx="1597091" cy="163677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Verify who the party is, then separately whether they hold the authority the consent requires</a:t>
            </a:r>
            <a:endParaRPr lang="en-AU" sz="1400" dirty="0"/>
          </a:p>
        </p:txBody>
      </p:sp>
      <p:sp>
        <p:nvSpPr>
          <p:cNvPr id="22" name="Shape 17"/>
          <p:cNvSpPr/>
          <p:nvPr/>
        </p:nvSpPr>
        <p:spPr>
          <a:xfrm>
            <a:off x="5096134" y="2377440"/>
            <a:ext cx="1999427" cy="3840480"/>
          </a:xfrm>
          <a:prstGeom prst="roundRect">
            <a:avLst>
              <a:gd name="adj" fmla="val 4573"/>
            </a:avLst>
          </a:prstGeom>
          <a:solidFill>
            <a:srgbClr val="EEF4F5"/>
          </a:solidFill>
          <a:ln w="12700">
            <a:solidFill>
              <a:srgbClr val="EEF4F5"/>
            </a:solidFill>
            <a:prstDash val="solid"/>
          </a:ln>
        </p:spPr>
      </p:sp>
      <p:sp>
        <p:nvSpPr>
          <p:cNvPr id="23" name="Text 18"/>
          <p:cNvSpPr txBox="1"/>
          <p:nvPr/>
        </p:nvSpPr>
        <p:spPr>
          <a:xfrm>
            <a:off x="5297302" y="5650992"/>
            <a:ext cx="1597091" cy="438912"/>
          </a:xfrm>
          <a:prstGeom prst="rect">
            <a:avLst/>
          </a:prstGeom>
          <a:noFill/>
          <a:ln/>
        </p:spPr>
        <p:txBody>
          <a:bodyPr wrap="square" lIns="0" tIns="0" rIns="0" bIns="0" rtlCol="0" anchor="b"/>
          <a:lstStyle/>
          <a:p>
            <a:pPr indent="0" marL="0">
              <a:buNone/>
            </a:pPr>
            <a:r>
              <a:rPr lang="en-AU" sz="1250" b="1" dirty="0">
                <a:solidFill>
                  <a:srgbClr val="9A7414"/>
                </a:solidFill>
                <a:latin typeface="Calibri" pitchFamily="34" charset="0"/>
                <a:ea typeface="Calibri" pitchFamily="34" charset="-122"/>
                <a:cs typeface="Calibri" pitchFamily="34" charset="-120"/>
              </a:rPr>
              <a:t>Addressed by 3 of 33 studies</a:t>
            </a:r>
            <a:endParaRPr lang="en-AU" sz="1250" dirty="0"/>
          </a:p>
        </p:txBody>
      </p:sp>
      <p:sp>
        <p:nvSpPr>
          <p:cNvPr id="24" name="Shape 19"/>
          <p:cNvSpPr/>
          <p:nvPr/>
        </p:nvSpPr>
        <p:spPr>
          <a:xfrm>
            <a:off x="5297302" y="2578608"/>
            <a:ext cx="512064" cy="512064"/>
          </a:xfrm>
          <a:prstGeom prst="ellipse">
            <a:avLst/>
          </a:prstGeom>
          <a:solidFill>
            <a:srgbClr val="13707B"/>
          </a:solidFill>
          <a:ln w="12700">
            <a:solidFill>
              <a:srgbClr val="13707B"/>
            </a:solidFill>
            <a:prstDash val="solid"/>
          </a:ln>
        </p:spPr>
      </p:sp>
      <p:pic>
        <p:nvPicPr>
          <p:cNvPr id="25" name="Image 2" descr="preencoded.png">    </p:cNvPr>
          <p:cNvPicPr>
            <a:picLocks noChangeAspect="1"/>
          </p:cNvPicPr>
          <p:nvPr/>
        </p:nvPicPr>
        <p:blipFill>
          <a:blip r:embed="rId3"/>
          <a:stretch>
            <a:fillRect/>
          </a:stretch>
        </p:blipFill>
        <p:spPr>
          <a:xfrm>
            <a:off x="5420197" y="2701503"/>
            <a:ext cx="266273" cy="266273"/>
          </a:xfrm>
          <a:prstGeom prst="rect">
            <a:avLst/>
          </a:prstGeom>
        </p:spPr>
      </p:pic>
      <p:sp>
        <p:nvSpPr>
          <p:cNvPr id="26" name="Text 20"/>
          <p:cNvSpPr txBox="1"/>
          <p:nvPr/>
        </p:nvSpPr>
        <p:spPr>
          <a:xfrm>
            <a:off x="5919094" y="2578608"/>
            <a:ext cx="993587" cy="512064"/>
          </a:xfrm>
          <a:prstGeom prst="rect">
            <a:avLst/>
          </a:prstGeom>
          <a:noFill/>
          <a:ln/>
        </p:spPr>
        <p:txBody>
          <a:bodyPr wrap="square" lIns="0" tIns="0" rIns="0" bIns="0" rtlCol="0" anchor="ctr"/>
          <a:lstStyle/>
          <a:p>
            <a:pPr indent="0" marL="0">
              <a:buNone/>
            </a:pPr>
            <a:r>
              <a:rPr lang="en-AU" sz="1250" b="1" spc="150" kern="0" dirty="0">
                <a:solidFill>
                  <a:srgbClr val="13707B"/>
                </a:solidFill>
                <a:latin typeface="Calibri" pitchFamily="34" charset="0"/>
                <a:ea typeface="Calibri" pitchFamily="34" charset="-122"/>
                <a:cs typeface="Calibri" pitchFamily="34" charset="-120"/>
              </a:rPr>
              <a:t>REQ 3</a:t>
            </a:r>
            <a:endParaRPr lang="en-AU" sz="1250" dirty="0"/>
          </a:p>
        </p:txBody>
      </p:sp>
      <p:sp>
        <p:nvSpPr>
          <p:cNvPr id="27" name="Text 21"/>
          <p:cNvSpPr txBox="1"/>
          <p:nvPr/>
        </p:nvSpPr>
        <p:spPr>
          <a:xfrm>
            <a:off x="5297302" y="3246120"/>
            <a:ext cx="1597091" cy="56692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Multi-party threshold</a:t>
            </a:r>
            <a:endParaRPr lang="en-AU" sz="1500" dirty="0"/>
          </a:p>
        </p:txBody>
      </p:sp>
      <p:sp>
        <p:nvSpPr>
          <p:cNvPr id="28" name="Text 22"/>
          <p:cNvSpPr txBox="1"/>
          <p:nvPr/>
        </p:nvSpPr>
        <p:spPr>
          <a:xfrm>
            <a:off x="5297302" y="3950208"/>
            <a:ext cx="1597091" cy="163677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Independent approvals from defined participants; consent activates only at a predefined threshold</a:t>
            </a:r>
            <a:endParaRPr lang="en-AU" sz="1400" dirty="0"/>
          </a:p>
        </p:txBody>
      </p:sp>
      <p:sp>
        <p:nvSpPr>
          <p:cNvPr id="29" name="Shape 23"/>
          <p:cNvSpPr/>
          <p:nvPr/>
        </p:nvSpPr>
        <p:spPr>
          <a:xfrm>
            <a:off x="7369881" y="2377440"/>
            <a:ext cx="1999427" cy="3840480"/>
          </a:xfrm>
          <a:prstGeom prst="roundRect">
            <a:avLst>
              <a:gd name="adj" fmla="val 4573"/>
            </a:avLst>
          </a:prstGeom>
          <a:solidFill>
            <a:srgbClr val="EEF4F5"/>
          </a:solidFill>
          <a:ln w="12700">
            <a:solidFill>
              <a:srgbClr val="EEF4F5"/>
            </a:solidFill>
            <a:prstDash val="solid"/>
          </a:ln>
        </p:spPr>
      </p:sp>
      <p:sp>
        <p:nvSpPr>
          <p:cNvPr id="30" name="Text 24"/>
          <p:cNvSpPr txBox="1"/>
          <p:nvPr/>
        </p:nvSpPr>
        <p:spPr>
          <a:xfrm>
            <a:off x="7571049" y="5650992"/>
            <a:ext cx="1597091"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Addressed by 17 of 33 studies</a:t>
            </a:r>
            <a:endParaRPr lang="en-AU" sz="1250" dirty="0"/>
          </a:p>
        </p:txBody>
      </p:sp>
      <p:sp>
        <p:nvSpPr>
          <p:cNvPr id="31" name="Shape 25"/>
          <p:cNvSpPr/>
          <p:nvPr/>
        </p:nvSpPr>
        <p:spPr>
          <a:xfrm>
            <a:off x="7571049" y="2578608"/>
            <a:ext cx="512064" cy="512064"/>
          </a:xfrm>
          <a:prstGeom prst="ellipse">
            <a:avLst/>
          </a:prstGeom>
          <a:solidFill>
            <a:srgbClr val="13707B"/>
          </a:solidFill>
          <a:ln w="12700">
            <a:solidFill>
              <a:srgbClr val="13707B"/>
            </a:solidFill>
            <a:prstDash val="solid"/>
          </a:ln>
        </p:spPr>
      </p:sp>
      <p:pic>
        <p:nvPicPr>
          <p:cNvPr id="32" name="Image 3" descr="preencoded.png">    </p:cNvPr>
          <p:cNvPicPr>
            <a:picLocks noChangeAspect="1"/>
          </p:cNvPicPr>
          <p:nvPr/>
        </p:nvPicPr>
        <p:blipFill>
          <a:blip r:embed="rId4"/>
          <a:stretch>
            <a:fillRect/>
          </a:stretch>
        </p:blipFill>
        <p:spPr>
          <a:xfrm>
            <a:off x="7693944" y="2701503"/>
            <a:ext cx="266273" cy="266273"/>
          </a:xfrm>
          <a:prstGeom prst="rect">
            <a:avLst/>
          </a:prstGeom>
        </p:spPr>
      </p:pic>
      <p:sp>
        <p:nvSpPr>
          <p:cNvPr id="33" name="Text 26"/>
          <p:cNvSpPr txBox="1"/>
          <p:nvPr/>
        </p:nvSpPr>
        <p:spPr>
          <a:xfrm>
            <a:off x="8192841" y="2578608"/>
            <a:ext cx="993587" cy="512064"/>
          </a:xfrm>
          <a:prstGeom prst="rect">
            <a:avLst/>
          </a:prstGeom>
          <a:noFill/>
          <a:ln/>
        </p:spPr>
        <p:txBody>
          <a:bodyPr wrap="square" lIns="0" tIns="0" rIns="0" bIns="0" rtlCol="0" anchor="ctr"/>
          <a:lstStyle/>
          <a:p>
            <a:pPr indent="0" marL="0">
              <a:buNone/>
            </a:pPr>
            <a:r>
              <a:rPr lang="en-AU" sz="1250" b="1" spc="150" kern="0" dirty="0">
                <a:solidFill>
                  <a:srgbClr val="13707B"/>
                </a:solidFill>
                <a:latin typeface="Calibri" pitchFamily="34" charset="0"/>
                <a:ea typeface="Calibri" pitchFamily="34" charset="-122"/>
                <a:cs typeface="Calibri" pitchFamily="34" charset="-120"/>
              </a:rPr>
              <a:t>REQ 4</a:t>
            </a:r>
            <a:endParaRPr lang="en-AU" sz="1250" dirty="0"/>
          </a:p>
        </p:txBody>
      </p:sp>
      <p:sp>
        <p:nvSpPr>
          <p:cNvPr id="34" name="Text 27"/>
          <p:cNvSpPr txBox="1"/>
          <p:nvPr/>
        </p:nvSpPr>
        <p:spPr>
          <a:xfrm>
            <a:off x="7571049" y="3246120"/>
            <a:ext cx="1597091" cy="56692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Purpose- and scope-bound</a:t>
            </a:r>
            <a:endParaRPr lang="en-AU" sz="1500" dirty="0"/>
          </a:p>
        </p:txBody>
      </p:sp>
      <p:sp>
        <p:nvSpPr>
          <p:cNvPr id="35" name="Text 28"/>
          <p:cNvSpPr txBox="1"/>
          <p:nvPr/>
        </p:nvSpPr>
        <p:spPr>
          <a:xfrm>
            <a:off x="7571049" y="3950208"/>
            <a:ext cx="1597091" cy="163677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Requested purpose and data scope evaluated against the consent as a condition of the decision</a:t>
            </a:r>
            <a:endParaRPr lang="en-AU" sz="1400" dirty="0"/>
          </a:p>
        </p:txBody>
      </p:sp>
      <p:sp>
        <p:nvSpPr>
          <p:cNvPr id="36" name="Shape 29"/>
          <p:cNvSpPr/>
          <p:nvPr/>
        </p:nvSpPr>
        <p:spPr>
          <a:xfrm>
            <a:off x="9643628" y="2377440"/>
            <a:ext cx="1999427" cy="3840480"/>
          </a:xfrm>
          <a:prstGeom prst="roundRect">
            <a:avLst>
              <a:gd name="adj" fmla="val 4573"/>
            </a:avLst>
          </a:prstGeom>
          <a:solidFill>
            <a:srgbClr val="EEF4F5"/>
          </a:solidFill>
          <a:ln w="12700">
            <a:solidFill>
              <a:srgbClr val="EEF4F5"/>
            </a:solidFill>
            <a:prstDash val="solid"/>
          </a:ln>
        </p:spPr>
      </p:sp>
      <p:sp>
        <p:nvSpPr>
          <p:cNvPr id="37" name="Text 30"/>
          <p:cNvSpPr txBox="1"/>
          <p:nvPr/>
        </p:nvSpPr>
        <p:spPr>
          <a:xfrm>
            <a:off x="9844796" y="5650992"/>
            <a:ext cx="1597091"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Addressed by 18 of 33 studies</a:t>
            </a:r>
            <a:endParaRPr lang="en-AU" sz="1250" dirty="0"/>
          </a:p>
        </p:txBody>
      </p:sp>
      <p:sp>
        <p:nvSpPr>
          <p:cNvPr id="38" name="Shape 31"/>
          <p:cNvSpPr/>
          <p:nvPr/>
        </p:nvSpPr>
        <p:spPr>
          <a:xfrm>
            <a:off x="9844796" y="2578608"/>
            <a:ext cx="512064" cy="512064"/>
          </a:xfrm>
          <a:prstGeom prst="ellipse">
            <a:avLst/>
          </a:prstGeom>
          <a:solidFill>
            <a:srgbClr val="13707B"/>
          </a:solidFill>
          <a:ln w="12700">
            <a:solidFill>
              <a:srgbClr val="13707B"/>
            </a:solidFill>
            <a:prstDash val="solid"/>
          </a:ln>
        </p:spPr>
      </p:sp>
      <p:pic>
        <p:nvPicPr>
          <p:cNvPr id="39" name="Image 4" descr="preencoded.png">    </p:cNvPr>
          <p:cNvPicPr>
            <a:picLocks noChangeAspect="1"/>
          </p:cNvPicPr>
          <p:nvPr/>
        </p:nvPicPr>
        <p:blipFill>
          <a:blip r:embed="rId5"/>
          <a:stretch>
            <a:fillRect/>
          </a:stretch>
        </p:blipFill>
        <p:spPr>
          <a:xfrm>
            <a:off x="9967692" y="2701503"/>
            <a:ext cx="266273" cy="266273"/>
          </a:xfrm>
          <a:prstGeom prst="rect">
            <a:avLst/>
          </a:prstGeom>
        </p:spPr>
      </p:pic>
      <p:sp>
        <p:nvSpPr>
          <p:cNvPr id="40" name="Text 32"/>
          <p:cNvSpPr txBox="1"/>
          <p:nvPr/>
        </p:nvSpPr>
        <p:spPr>
          <a:xfrm>
            <a:off x="10466588" y="2578608"/>
            <a:ext cx="993587" cy="512064"/>
          </a:xfrm>
          <a:prstGeom prst="rect">
            <a:avLst/>
          </a:prstGeom>
          <a:noFill/>
          <a:ln/>
        </p:spPr>
        <p:txBody>
          <a:bodyPr wrap="square" lIns="0" tIns="0" rIns="0" bIns="0" rtlCol="0" anchor="ctr"/>
          <a:lstStyle/>
          <a:p>
            <a:pPr indent="0" marL="0">
              <a:buNone/>
            </a:pPr>
            <a:r>
              <a:rPr lang="en-AU" sz="1250" b="1" spc="150" kern="0" dirty="0">
                <a:solidFill>
                  <a:srgbClr val="13707B"/>
                </a:solidFill>
                <a:latin typeface="Calibri" pitchFamily="34" charset="0"/>
                <a:ea typeface="Calibri" pitchFamily="34" charset="-122"/>
                <a:cs typeface="Calibri" pitchFamily="34" charset="-120"/>
              </a:rPr>
              <a:t>REQ 5</a:t>
            </a:r>
            <a:endParaRPr lang="en-AU" sz="1250" dirty="0"/>
          </a:p>
        </p:txBody>
      </p:sp>
      <p:sp>
        <p:nvSpPr>
          <p:cNvPr id="41" name="Text 33"/>
          <p:cNvSpPr txBox="1"/>
          <p:nvPr/>
        </p:nvSpPr>
        <p:spPr>
          <a:xfrm>
            <a:off x="9844796" y="3246120"/>
            <a:ext cx="1597091" cy="56692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Lifecycle validity and audit</a:t>
            </a:r>
            <a:endParaRPr lang="en-AU" sz="1500" dirty="0"/>
          </a:p>
        </p:txBody>
      </p:sp>
      <p:sp>
        <p:nvSpPr>
          <p:cNvPr id="42" name="Text 34"/>
          <p:cNvSpPr txBox="1"/>
          <p:nvPr/>
        </p:nvSpPr>
        <p:spPr>
          <a:xfrm>
            <a:off x="9844796" y="3950208"/>
            <a:ext cx="1597091" cy="163677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Expiry, revocation and state checked at each request; evidence of every decision kept for review</a:t>
            </a:r>
            <a:endParaRPr lang="en-AU"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33 studies in six categories</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Table 2.3: categorisation of the shortlisted studies S1–S33 (Step 4, Section 2.3.6)</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10 / 43</a:t>
            </a:r>
            <a:endParaRPr lang="en-AU" sz="1000" dirty="0"/>
          </a:p>
        </p:txBody>
      </p:sp>
      <p:sp>
        <p:nvSpPr>
          <p:cNvPr id="7" name="Shape 4"/>
          <p:cNvSpPr/>
          <p:nvPr/>
        </p:nvSpPr>
        <p:spPr>
          <a:xfrm>
            <a:off x="548640" y="1645920"/>
            <a:ext cx="6858000" cy="4526280"/>
          </a:xfrm>
          <a:prstGeom prst="roundRect">
            <a:avLst>
              <a:gd name="adj" fmla="val 1616"/>
            </a:avLst>
          </a:prstGeom>
          <a:solidFill>
            <a:srgbClr val="F4F8F9"/>
          </a:solidFill>
          <a:ln w="9525">
            <a:solidFill>
              <a:srgbClr val="D5E0E2"/>
            </a:solidFill>
            <a:prstDash val="solid"/>
          </a:ln>
        </p:spPr>
      </p:sp>
      <p:graphicFrame>
        <p:nvGraphicFramePr>
          <p:cNvPr id="8" name="Chart 0" descr=""/>
          <p:cNvGraphicFramePr/>
          <p:nvPr/>
        </p:nvGraphicFramePr>
        <p:xfrm>
          <a:off x="685800" y="173736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772400" y="1737360"/>
            <a:ext cx="384048" cy="384048"/>
          </a:xfrm>
          <a:prstGeom prst="ellipse">
            <a:avLst/>
          </a:prstGeom>
          <a:solidFill>
            <a:srgbClr val="13707B"/>
          </a:solidFill>
          <a:ln w="12700">
            <a:solidFill>
              <a:srgbClr val="13707B"/>
            </a:solidFill>
            <a:prstDash val="solid"/>
          </a:ln>
        </p:spPr>
      </p:sp>
      <p:pic>
        <p:nvPicPr>
          <p:cNvPr id="10" name="Image 0" descr="preencoded.png">    </p:cNvPr>
          <p:cNvPicPr>
            <a:picLocks noChangeAspect="1"/>
          </p:cNvPicPr>
          <p:nvPr/>
        </p:nvPicPr>
        <p:blipFill>
          <a:blip r:embed="rId2"/>
          <a:stretch>
            <a:fillRect/>
          </a:stretch>
        </p:blipFill>
        <p:spPr>
          <a:xfrm>
            <a:off x="7864572" y="1829532"/>
            <a:ext cx="199705" cy="199705"/>
          </a:xfrm>
          <a:prstGeom prst="rect">
            <a:avLst/>
          </a:prstGeom>
        </p:spPr>
      </p:pic>
      <p:sp>
        <p:nvSpPr>
          <p:cNvPr id="11" name="Text 6"/>
          <p:cNvSpPr txBox="1"/>
          <p:nvPr/>
        </p:nvSpPr>
        <p:spPr>
          <a:xfrm>
            <a:off x="8339328" y="1719072"/>
            <a:ext cx="3303727"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Consent governance leads</a:t>
            </a:r>
            <a:endParaRPr lang="en-AU" sz="1500" dirty="0"/>
          </a:p>
        </p:txBody>
      </p:sp>
      <p:sp>
        <p:nvSpPr>
          <p:cNvPr id="12" name="Text 7"/>
          <p:cNvSpPr txBox="1"/>
          <p:nvPr/>
        </p:nvSpPr>
        <p:spPr>
          <a:xfrm>
            <a:off x="8339328" y="2048256"/>
            <a:ext cx="3303727" cy="1042416"/>
          </a:xfrm>
          <a:prstGeom prst="rect">
            <a:avLst/>
          </a:prstGeom>
          <a:noFill/>
          <a:ln/>
        </p:spPr>
        <p:txBody>
          <a:bodyPr wrap="square" lIns="0" tIns="0" rIns="0" bIns="0" rtlCol="0" anchor="t"/>
          <a:lstStyle/>
          <a:p>
            <a:pPr indent="0" marL="0">
              <a:buNone/>
            </a:pPr>
            <a:r>
              <a:rPr lang="en-AU" sz="1300" dirty="0">
                <a:solidFill>
                  <a:srgbClr val="1C2B31"/>
                </a:solidFill>
                <a:latin typeface="Calibri" pitchFamily="34" charset="0"/>
                <a:ea typeface="Calibri" pitchFamily="34" charset="-122"/>
                <a:cs typeface="Calibri" pitchFamily="34" charset="-120"/>
              </a:rPr>
              <a:t>Nine studies stress autonomy and informed consent, but consent remains a record, not an evaluated object</a:t>
            </a:r>
            <a:endParaRPr lang="en-AU" sz="1300" dirty="0"/>
          </a:p>
        </p:txBody>
      </p:sp>
      <p:sp>
        <p:nvSpPr>
          <p:cNvPr id="13" name="Shape 8"/>
          <p:cNvSpPr/>
          <p:nvPr/>
        </p:nvSpPr>
        <p:spPr>
          <a:xfrm>
            <a:off x="7772400" y="3255264"/>
            <a:ext cx="384048" cy="384048"/>
          </a:xfrm>
          <a:prstGeom prst="ellipse">
            <a:avLst/>
          </a:prstGeom>
          <a:solidFill>
            <a:srgbClr val="13707B"/>
          </a:solidFill>
          <a:ln w="12700">
            <a:solidFill>
              <a:srgbClr val="13707B"/>
            </a:solidFill>
            <a:prstDash val="solid"/>
          </a:ln>
        </p:spPr>
      </p:sp>
      <p:pic>
        <p:nvPicPr>
          <p:cNvPr id="14" name="Image 1" descr="preencoded.png">    </p:cNvPr>
          <p:cNvPicPr>
            <a:picLocks noChangeAspect="1"/>
          </p:cNvPicPr>
          <p:nvPr/>
        </p:nvPicPr>
        <p:blipFill>
          <a:blip r:embed="rId3"/>
          <a:stretch>
            <a:fillRect/>
          </a:stretch>
        </p:blipFill>
        <p:spPr>
          <a:xfrm>
            <a:off x="7864572" y="3347436"/>
            <a:ext cx="199705" cy="199705"/>
          </a:xfrm>
          <a:prstGeom prst="rect">
            <a:avLst/>
          </a:prstGeom>
        </p:spPr>
      </p:pic>
      <p:sp>
        <p:nvSpPr>
          <p:cNvPr id="15" name="Text 9"/>
          <p:cNvSpPr txBox="1"/>
          <p:nvPr/>
        </p:nvSpPr>
        <p:spPr>
          <a:xfrm>
            <a:off x="8339328" y="3236976"/>
            <a:ext cx="3303727"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Security layers stay separate</a:t>
            </a:r>
            <a:endParaRPr lang="en-AU" sz="1500" dirty="0"/>
          </a:p>
        </p:txBody>
      </p:sp>
      <p:sp>
        <p:nvSpPr>
          <p:cNvPr id="16" name="Text 10"/>
          <p:cNvSpPr txBox="1"/>
          <p:nvPr/>
        </p:nvSpPr>
        <p:spPr>
          <a:xfrm>
            <a:off x="8339328" y="3566160"/>
            <a:ext cx="3303727" cy="1042416"/>
          </a:xfrm>
          <a:prstGeom prst="rect">
            <a:avLst/>
          </a:prstGeom>
          <a:noFill/>
          <a:ln/>
        </p:spPr>
        <p:txBody>
          <a:bodyPr wrap="square" lIns="0" tIns="0" rIns="0" bIns="0" rtlCol="0" anchor="t"/>
          <a:lstStyle/>
          <a:p>
            <a:pPr indent="0" marL="0">
              <a:buNone/>
            </a:pPr>
            <a:r>
              <a:rPr lang="en-AU" sz="1300" dirty="0">
                <a:solidFill>
                  <a:srgbClr val="1C2B31"/>
                </a:solidFill>
                <a:latin typeface="Calibri" pitchFamily="34" charset="0"/>
                <a:ea typeface="Calibri" pitchFamily="34" charset="-122"/>
                <a:cs typeface="Calibri" pitchFamily="34" charset="-120"/>
              </a:rPr>
              <a:t>Identity (7), access control (7) and blockchain (5) each secure one layer; no single mechanism makes the access decision trustworthy</a:t>
            </a:r>
            <a:endParaRPr lang="en-AU" sz="1300" dirty="0"/>
          </a:p>
        </p:txBody>
      </p:sp>
      <p:sp>
        <p:nvSpPr>
          <p:cNvPr id="17" name="Shape 11"/>
          <p:cNvSpPr/>
          <p:nvPr/>
        </p:nvSpPr>
        <p:spPr>
          <a:xfrm>
            <a:off x="7772400" y="4773168"/>
            <a:ext cx="384048" cy="384048"/>
          </a:xfrm>
          <a:prstGeom prst="ellipse">
            <a:avLst/>
          </a:prstGeom>
          <a:solidFill>
            <a:srgbClr val="13707B"/>
          </a:solidFill>
          <a:ln w="12700">
            <a:solidFill>
              <a:srgbClr val="13707B"/>
            </a:solidFill>
            <a:prstDash val="solid"/>
          </a:ln>
        </p:spPr>
      </p:sp>
      <p:pic>
        <p:nvPicPr>
          <p:cNvPr id="18" name="Image 2" descr="preencoded.png">    </p:cNvPr>
          <p:cNvPicPr>
            <a:picLocks noChangeAspect="1"/>
          </p:cNvPicPr>
          <p:nvPr/>
        </p:nvPicPr>
        <p:blipFill>
          <a:blip r:embed="rId4"/>
          <a:stretch>
            <a:fillRect/>
          </a:stretch>
        </p:blipFill>
        <p:spPr>
          <a:xfrm>
            <a:off x="7864572" y="4865340"/>
            <a:ext cx="199705" cy="199705"/>
          </a:xfrm>
          <a:prstGeom prst="rect">
            <a:avLst/>
          </a:prstGeom>
        </p:spPr>
      </p:pic>
      <p:sp>
        <p:nvSpPr>
          <p:cNvPr id="19" name="Text 12"/>
          <p:cNvSpPr txBox="1"/>
          <p:nvPr/>
        </p:nvSpPr>
        <p:spPr>
          <a:xfrm>
            <a:off x="8339328" y="4754880"/>
            <a:ext cx="3303727"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Few multi-party studies</a:t>
            </a:r>
            <a:endParaRPr lang="en-AU" sz="1500" dirty="0"/>
          </a:p>
        </p:txBody>
      </p:sp>
      <p:sp>
        <p:nvSpPr>
          <p:cNvPr id="20" name="Text 13"/>
          <p:cNvSpPr txBox="1"/>
          <p:nvPr/>
        </p:nvSpPr>
        <p:spPr>
          <a:xfrm>
            <a:off x="8339328" y="5084064"/>
            <a:ext cx="3303727" cy="1042416"/>
          </a:xfrm>
          <a:prstGeom prst="rect">
            <a:avLst/>
          </a:prstGeom>
          <a:noFill/>
          <a:ln/>
        </p:spPr>
        <p:txBody>
          <a:bodyPr wrap="square" lIns="0" tIns="0" rIns="0" bIns="0" rtlCol="0" anchor="t"/>
          <a:lstStyle/>
          <a:p>
            <a:pPr indent="0" marL="0">
              <a:buNone/>
            </a:pPr>
            <a:r>
              <a:rPr lang="en-AU" sz="1300" dirty="0">
                <a:solidFill>
                  <a:srgbClr val="1C2B31"/>
                </a:solidFill>
                <a:latin typeface="Calibri" pitchFamily="34" charset="0"/>
                <a:ea typeface="Calibri" pitchFamily="34" charset="-122"/>
                <a:cs typeface="Calibri" pitchFamily="34" charset="-120"/>
              </a:rPr>
              <a:t>Four multi-party studies and one Trusted Computing study; approval as a consent condition gets less attention</a:t>
            </a:r>
            <a:endParaRPr lang="en-AU"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No study covers more than three requirements</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Tables 2.4–2.9: number of studies in each category that address each requirement</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11 / 43</a:t>
            </a:r>
            <a:endParaRPr lang="en-AU"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406640" cy="914400"/>
        </p:xfrm>
        <a:graphic>
          <a:graphicData uri="http://schemas.openxmlformats.org/drawingml/2006/table">
            <a:tbl>
              <a:tblPr/>
              <a:tblGrid>
                <a:gridCol w="3063240"/>
                <a:gridCol w="868680"/>
                <a:gridCol w="694944"/>
                <a:gridCol w="694944"/>
                <a:gridCol w="694944"/>
                <a:gridCol w="694944"/>
                <a:gridCol w="694944"/>
              </a:tblGrid>
              <a:tr h="475488">
                <a:tc>
                  <a:txBody>
                    <a:bodyPr/>
                    <a:lstStyle/>
                    <a:p>
                      <a:pPr algn="l" indent="0" marL="0">
                        <a:buNone/>
                      </a:pPr>
                      <a:r>
                        <a:rPr lang="en-AU" sz="1250" b="1" dirty="0">
                          <a:solidFill>
                            <a:srgbClr val="FFFFFF"/>
                          </a:solidFill>
                          <a:latin typeface="Calibri" pitchFamily="34" charset="0"/>
                          <a:ea typeface="Calibri" pitchFamily="34" charset="-122"/>
                          <a:cs typeface="Calibri" pitchFamily="34" charset="-120"/>
                        </a:rPr>
                        <a:t>Category</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Studies</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Req 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Req 2</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Req 3</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Req 4</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Req 5</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475488">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Healthcare consent and privacy governance</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9</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7</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80B2B8"/>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CEE2E4"/>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CEE2E4"/>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5</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9AC2C7"/>
                    </a:solidFill>
                  </a:tcPr>
                </a:tc>
              </a:tr>
              <a:tr h="475488">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Blockchain-based healthcare data governance</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5</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C4DBDE"/>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4</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7DB0B6"/>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5</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2B7E88"/>
                    </a:solidFill>
                  </a:tcPr>
                </a:tc>
              </a:tr>
              <a:tr h="475488">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Decentralised identity and verifiable credentials</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7</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7</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2B7E88"/>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CBDFE2"/>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2</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BAD5D8"/>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CBDFE2"/>
                    </a:solidFill>
                  </a:tcPr>
                </a:tc>
              </a:tr>
              <a:tr h="475488">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Multi-party and decentralised governance</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4</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BED8DB"/>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2</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A1C6CA"/>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2</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A1C6CA"/>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3</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83B4BA"/>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2</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A1C6CA"/>
                    </a:solidFill>
                  </a:tcPr>
                </a:tc>
              </a:tr>
              <a:tr h="475488">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Policy-based and healthcare access control</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7</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CBDFE2"/>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b="1" dirty="0">
                          <a:solidFill>
                            <a:srgbClr val="FFFFFF"/>
                          </a:solidFill>
                          <a:latin typeface="Calibri" pitchFamily="34" charset="0"/>
                          <a:ea typeface="Calibri" pitchFamily="34" charset="-122"/>
                          <a:cs typeface="Calibri" pitchFamily="34" charset="-120"/>
                        </a:rPr>
                        <a:t>7</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2B7E88"/>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5</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87B6BC"/>
                    </a:solidFill>
                  </a:tcPr>
                </a:tc>
              </a:tr>
              <a:tr h="475488">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Trusted Computing and secure execution</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c>
                  <a:txBody>
                    <a:bodyPr/>
                    <a:lstStyle/>
                    <a:p>
                      <a:pPr algn="ctr" indent="0" marL="0">
                        <a:buNone/>
                      </a:pPr>
                      <a:r>
                        <a:rPr lang="en-AU" sz="1250" dirty="0">
                          <a:solidFill>
                            <a:srgbClr val="5E6E73"/>
                          </a:solidFill>
                          <a:latin typeface="Calibri" pitchFamily="34" charset="0"/>
                          <a:ea typeface="Calibri" pitchFamily="34" charset="-122"/>
                          <a:cs typeface="Calibri" pitchFamily="34" charset="-120"/>
                        </a:rPr>
                        <a:t>0</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3F5F6"/>
                    </a:solidFill>
                  </a:tcPr>
                </a:tc>
              </a:tr>
              <a:tr h="475488">
                <a:tc>
                  <a:txBody>
                    <a:bodyPr/>
                    <a:lstStyle/>
                    <a:p>
                      <a:pPr indent="0" marL="0">
                        <a:buNone/>
                      </a:pPr>
                      <a:r>
                        <a:rPr lang="en-AU" sz="1250" b="1" dirty="0">
                          <a:solidFill>
                            <a:srgbClr val="1C2B31"/>
                          </a:solidFill>
                          <a:latin typeface="Calibri" pitchFamily="34" charset="0"/>
                          <a:ea typeface="Calibri" pitchFamily="34" charset="-122"/>
                          <a:cs typeface="Calibri" pitchFamily="34" charset="-120"/>
                        </a:rPr>
                        <a:t>All studies</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33</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9</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11</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3</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17</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algn="ctr" indent="0" marL="0">
                        <a:buNone/>
                      </a:pPr>
                      <a:r>
                        <a:rPr lang="en-AU" sz="1250" b="1" dirty="0">
                          <a:solidFill>
                            <a:srgbClr val="1C2B31"/>
                          </a:solidFill>
                          <a:latin typeface="Calibri" pitchFamily="34" charset="0"/>
                          <a:ea typeface="Calibri" pitchFamily="34" charset="-122"/>
                          <a:cs typeface="Calibri" pitchFamily="34" charset="-120"/>
                        </a:rPr>
                        <a:t>18</a:t>
                      </a:r>
                      <a:endParaRPr lang="en-AU" sz="1250" dirty="0">
                        <a:latin typeface="Calibri" charset="0"/>
                        <a:ea typeface="Calibri" charset="0"/>
                        <a:cs typeface="Calibri" charset="0"/>
                      </a:endParaRPr>
                    </a:p>
                  </a:txBody>
                  <a:tcPr marL="73152" marR="73152" marT="36576" marB="36576"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r>
            </a:tbl>
          </a:graphicData>
        </a:graphic>
      </p:graphicFrame>
      <p:sp>
        <p:nvSpPr>
          <p:cNvPr id="8" name="Text 4"/>
          <p:cNvSpPr txBox="1"/>
          <p:nvPr/>
        </p:nvSpPr>
        <p:spPr>
          <a:xfrm>
            <a:off x="548640" y="5577840"/>
            <a:ext cx="7406640" cy="411480"/>
          </a:xfrm>
          <a:prstGeom prst="rect">
            <a:avLst/>
          </a:prstGeom>
          <a:noFill/>
          <a:ln/>
        </p:spPr>
        <p:txBody>
          <a:bodyPr wrap="square" lIns="0" tIns="0" rIns="0" bIns="0" rtlCol="0" anchor="t"/>
          <a:lstStyle/>
          <a:p>
            <a:pPr indent="0" marL="0">
              <a:buNone/>
            </a:pPr>
            <a:r>
              <a:rPr lang="en-AU" sz="1150" i="1" dirty="0">
                <a:solidFill>
                  <a:srgbClr val="5E6E73"/>
                </a:solidFill>
                <a:latin typeface="Calibri" pitchFamily="34" charset="0"/>
                <a:ea typeface="Calibri" pitchFamily="34" charset="-122"/>
                <a:cs typeface="Calibri" pitchFamily="34" charset="-120"/>
              </a:rPr>
              <a:t>Number = studies addressing the requirement (√ in Tables 2.4–2.9); shade = share of the category's studies.</a:t>
            </a:r>
            <a:endParaRPr lang="en-AU" sz="1150" dirty="0"/>
          </a:p>
        </p:txBody>
      </p:sp>
      <p:sp>
        <p:nvSpPr>
          <p:cNvPr id="9" name="Shape 5"/>
          <p:cNvSpPr/>
          <p:nvPr/>
        </p:nvSpPr>
        <p:spPr>
          <a:xfrm>
            <a:off x="8229600" y="1691640"/>
            <a:ext cx="3413455" cy="1600200"/>
          </a:xfrm>
          <a:prstGeom prst="roundRect">
            <a:avLst>
              <a:gd name="adj" fmla="val 5714"/>
            </a:avLst>
          </a:prstGeom>
          <a:solidFill>
            <a:srgbClr val="0E3B43"/>
          </a:solidFill>
          <a:ln w="12700">
            <a:solidFill>
              <a:srgbClr val="0E3B43"/>
            </a:solidFill>
            <a:prstDash val="solid"/>
          </a:ln>
        </p:spPr>
      </p:sp>
      <p:sp>
        <p:nvSpPr>
          <p:cNvPr id="10" name="Text 6"/>
          <p:cNvSpPr txBox="1"/>
          <p:nvPr/>
        </p:nvSpPr>
        <p:spPr>
          <a:xfrm>
            <a:off x="8458200" y="1810512"/>
            <a:ext cx="2956255" cy="1371600"/>
          </a:xfrm>
          <a:prstGeom prst="rect">
            <a:avLst/>
          </a:prstGeom>
          <a:noFill/>
          <a:ln/>
        </p:spPr>
        <p:txBody>
          <a:bodyPr wrap="square" lIns="0" tIns="0" rIns="0" bIns="0" rtlCol="0" anchor="ctr"/>
          <a:lstStyle/>
          <a:p>
            <a:pPr indent="0" marL="0">
              <a:buNone/>
            </a:pPr>
            <a:r>
              <a:rPr lang="en-AU" sz="1450" b="1" dirty="0">
                <a:solidFill>
                  <a:srgbClr val="FFFFFF"/>
                </a:solidFill>
                <a:latin typeface="Calibri" pitchFamily="34" charset="0"/>
                <a:ea typeface="Calibri" pitchFamily="34" charset="-122"/>
                <a:cs typeface="Calibri" pitchFamily="34" charset="-120"/>
              </a:rPr>
              <a:t>Req 4 (17 studies) and Req 5 (18) are addressed most often, Req 3 by only three. No study addresses more than three of the five; S7, S22 and S24 reach three.</a:t>
            </a:r>
            <a:endParaRPr lang="en-AU" sz="1450" dirty="0"/>
          </a:p>
        </p:txBody>
      </p:sp>
      <p:sp>
        <p:nvSpPr>
          <p:cNvPr id="11" name="Shape 7"/>
          <p:cNvSpPr/>
          <p:nvPr/>
        </p:nvSpPr>
        <p:spPr>
          <a:xfrm>
            <a:off x="8229600" y="3566160"/>
            <a:ext cx="384048" cy="384048"/>
          </a:xfrm>
          <a:prstGeom prst="ellipse">
            <a:avLst/>
          </a:prstGeom>
          <a:solidFill>
            <a:srgbClr val="13707B"/>
          </a:solidFill>
          <a:ln w="12700">
            <a:solidFill>
              <a:srgbClr val="13707B"/>
            </a:solidFill>
            <a:prstDash val="solid"/>
          </a:ln>
        </p:spPr>
      </p:sp>
      <p:pic>
        <p:nvPicPr>
          <p:cNvPr id="12" name="Image 0" descr="preencoded.png">    </p:cNvPr>
          <p:cNvPicPr>
            <a:picLocks noChangeAspect="1"/>
          </p:cNvPicPr>
          <p:nvPr/>
        </p:nvPicPr>
        <p:blipFill>
          <a:blip r:embed="rId1"/>
          <a:stretch>
            <a:fillRect/>
          </a:stretch>
        </p:blipFill>
        <p:spPr>
          <a:xfrm>
            <a:off x="8321772" y="3658332"/>
            <a:ext cx="199705" cy="199705"/>
          </a:xfrm>
          <a:prstGeom prst="rect">
            <a:avLst/>
          </a:prstGeom>
        </p:spPr>
      </p:pic>
      <p:sp>
        <p:nvSpPr>
          <p:cNvPr id="13" name="Text 8"/>
          <p:cNvSpPr txBox="1"/>
          <p:nvPr/>
        </p:nvSpPr>
        <p:spPr>
          <a:xfrm>
            <a:off x="8796528" y="3547872"/>
            <a:ext cx="2846527"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Coverage follows category</a:t>
            </a:r>
            <a:endParaRPr lang="en-AU" sz="1500" dirty="0"/>
          </a:p>
        </p:txBody>
      </p:sp>
      <p:sp>
        <p:nvSpPr>
          <p:cNvPr id="14" name="Text 9"/>
          <p:cNvSpPr txBox="1"/>
          <p:nvPr/>
        </p:nvSpPr>
        <p:spPr>
          <a:xfrm>
            <a:off x="8796528" y="3877056"/>
            <a:ext cx="2846527" cy="88696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Req 1 comes mostly from consent governance (7 of 9) and Req 2 from identity studies (7 of 11)</a:t>
            </a:r>
            <a:endParaRPr lang="en-AU" sz="1250" dirty="0"/>
          </a:p>
        </p:txBody>
      </p:sp>
      <p:sp>
        <p:nvSpPr>
          <p:cNvPr id="15" name="Shape 10"/>
          <p:cNvSpPr/>
          <p:nvPr/>
        </p:nvSpPr>
        <p:spPr>
          <a:xfrm>
            <a:off x="8229600" y="4928616"/>
            <a:ext cx="384048" cy="384048"/>
          </a:xfrm>
          <a:prstGeom prst="ellipse">
            <a:avLst/>
          </a:prstGeom>
          <a:solidFill>
            <a:srgbClr val="13707B"/>
          </a:solidFill>
          <a:ln w="12700">
            <a:solidFill>
              <a:srgbClr val="13707B"/>
            </a:solidFill>
            <a:prstDash val="solid"/>
          </a:ln>
        </p:spPr>
      </p:sp>
      <p:pic>
        <p:nvPicPr>
          <p:cNvPr id="16" name="Image 1" descr="preencoded.png">    </p:cNvPr>
          <p:cNvPicPr>
            <a:picLocks noChangeAspect="1"/>
          </p:cNvPicPr>
          <p:nvPr/>
        </p:nvPicPr>
        <p:blipFill>
          <a:blip r:embed="rId2"/>
          <a:stretch>
            <a:fillRect/>
          </a:stretch>
        </p:blipFill>
        <p:spPr>
          <a:xfrm>
            <a:off x="8321772" y="5020788"/>
            <a:ext cx="199705" cy="199705"/>
          </a:xfrm>
          <a:prstGeom prst="rect">
            <a:avLst/>
          </a:prstGeom>
        </p:spPr>
      </p:pic>
      <p:sp>
        <p:nvSpPr>
          <p:cNvPr id="17" name="Text 11"/>
          <p:cNvSpPr txBox="1"/>
          <p:nvPr/>
        </p:nvSpPr>
        <p:spPr>
          <a:xfrm>
            <a:off x="8796528" y="4910328"/>
            <a:ext cx="2846527"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Req 3 is the weakest</a:t>
            </a:r>
            <a:endParaRPr lang="en-AU" sz="1500" dirty="0"/>
          </a:p>
        </p:txBody>
      </p:sp>
      <p:sp>
        <p:nvSpPr>
          <p:cNvPr id="18" name="Text 12"/>
          <p:cNvSpPr txBox="1"/>
          <p:nvPr/>
        </p:nvSpPr>
        <p:spPr>
          <a:xfrm>
            <a:off x="8796528" y="5239512"/>
            <a:ext cx="2846527" cy="88696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Only S15, S23 and S25 address it, and none attaches an approval threshold to the patient's consent</a:t>
            </a:r>
            <a:endParaRPr lang="en-AU"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Five gaps, one per requirement</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2.5: research gaps in the existing studies from the requirement perspective</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12 / 43</a:t>
            </a:r>
            <a:endParaRPr lang="en-AU" sz="1000" dirty="0"/>
          </a:p>
        </p:txBody>
      </p:sp>
      <p:sp>
        <p:nvSpPr>
          <p:cNvPr id="7" name="Shape 4"/>
          <p:cNvSpPr/>
          <p:nvPr/>
        </p:nvSpPr>
        <p:spPr>
          <a:xfrm>
            <a:off x="548640" y="1645920"/>
            <a:ext cx="11094415" cy="698602"/>
          </a:xfrm>
          <a:prstGeom prst="roundRect">
            <a:avLst>
              <a:gd name="adj" fmla="val 7853"/>
            </a:avLst>
          </a:prstGeom>
          <a:solidFill>
            <a:srgbClr val="EEF4F5"/>
          </a:solidFill>
          <a:ln w="12700">
            <a:solidFill>
              <a:srgbClr val="EEF4F5"/>
            </a:solidFill>
            <a:prstDash val="solid"/>
          </a:ln>
        </p:spPr>
      </p:sp>
      <p:sp>
        <p:nvSpPr>
          <p:cNvPr id="8" name="Shape 5"/>
          <p:cNvSpPr/>
          <p:nvPr/>
        </p:nvSpPr>
        <p:spPr>
          <a:xfrm>
            <a:off x="731520" y="1784909"/>
            <a:ext cx="960120" cy="420624"/>
          </a:xfrm>
          <a:prstGeom prst="roundRect">
            <a:avLst>
              <a:gd name="adj" fmla="val 17391"/>
            </a:avLst>
          </a:prstGeom>
          <a:solidFill>
            <a:srgbClr val="13707B"/>
          </a:solidFill>
          <a:ln w="12700">
            <a:solidFill>
              <a:srgbClr val="13707B"/>
            </a:solidFill>
            <a:prstDash val="solid"/>
          </a:ln>
        </p:spPr>
      </p:sp>
      <p:sp>
        <p:nvSpPr>
          <p:cNvPr id="9" name="Text 6"/>
          <p:cNvSpPr txBox="1"/>
          <p:nvPr/>
        </p:nvSpPr>
        <p:spPr>
          <a:xfrm>
            <a:off x="731520" y="1784909"/>
            <a:ext cx="960120" cy="420624"/>
          </a:xfrm>
          <a:prstGeom prst="rect">
            <a:avLst/>
          </a:prstGeom>
          <a:noFill/>
          <a:ln/>
        </p:spPr>
        <p:txBody>
          <a:bodyPr wrap="square" lIns="0" tIns="0" rIns="0" bIns="0" rtlCol="0" anchor="ctr"/>
          <a:lstStyle/>
          <a:p>
            <a:pPr algn="ctr" indent="0" marL="0">
              <a:buNone/>
            </a:pPr>
            <a:r>
              <a:rPr lang="en-AU" sz="1400" b="1" dirty="0">
                <a:solidFill>
                  <a:srgbClr val="FFFFFF"/>
                </a:solidFill>
                <a:latin typeface="Calibri" pitchFamily="34" charset="0"/>
                <a:ea typeface="Calibri" pitchFamily="34" charset="-122"/>
                <a:cs typeface="Calibri" pitchFamily="34" charset="-120"/>
              </a:rPr>
              <a:t>Req 1</a:t>
            </a:r>
            <a:endParaRPr lang="en-AU" sz="1400" dirty="0"/>
          </a:p>
        </p:txBody>
      </p:sp>
      <p:sp>
        <p:nvSpPr>
          <p:cNvPr id="10" name="Text 7"/>
          <p:cNvSpPr txBox="1"/>
          <p:nvPr/>
        </p:nvSpPr>
        <p:spPr>
          <a:xfrm>
            <a:off x="1920240" y="1645920"/>
            <a:ext cx="3108960" cy="69860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Consent recorded, not evaluated</a:t>
            </a:r>
            <a:endParaRPr lang="en-AU" sz="1500" dirty="0"/>
          </a:p>
        </p:txBody>
      </p:sp>
      <p:sp>
        <p:nvSpPr>
          <p:cNvPr id="11" name="Text 8"/>
          <p:cNvSpPr txBox="1"/>
          <p:nvPr/>
        </p:nvSpPr>
        <p:spPr>
          <a:xfrm>
            <a:off x="5166360" y="1645920"/>
            <a:ext cx="6293815" cy="698602"/>
          </a:xfrm>
          <a:prstGeom prst="rect">
            <a:avLst/>
          </a:prstGeom>
          <a:noFill/>
          <a:ln/>
        </p:spPr>
        <p:txBody>
          <a:bodyPr wrap="square" lIns="0" tIns="0" rIns="0" bIns="0" rtlCol="0" anchor="ctr"/>
          <a:lstStyle/>
          <a:p>
            <a:pPr indent="0" marL="0">
              <a:buNone/>
            </a:pPr>
            <a:r>
              <a:rPr lang="en-AU" sz="1300" dirty="0">
                <a:solidFill>
                  <a:srgbClr val="1C2B31"/>
                </a:solidFill>
                <a:latin typeface="Calibri" pitchFamily="34" charset="0"/>
                <a:ea typeface="Calibri" pitchFamily="34" charset="-122"/>
                <a:cs typeface="Calibri" pitchFamily="34" charset="-120"/>
              </a:rPr>
              <a:t>Nine studies record, encrypt, execute or legally define consent; none carries the conditions to evaluate a later request</a:t>
            </a:r>
            <a:endParaRPr lang="en-AU" sz="1300" dirty="0"/>
          </a:p>
        </p:txBody>
      </p:sp>
      <p:sp>
        <p:nvSpPr>
          <p:cNvPr id="12" name="Shape 9"/>
          <p:cNvSpPr/>
          <p:nvPr/>
        </p:nvSpPr>
        <p:spPr>
          <a:xfrm>
            <a:off x="548640" y="2454250"/>
            <a:ext cx="11094415" cy="698602"/>
          </a:xfrm>
          <a:prstGeom prst="roundRect">
            <a:avLst>
              <a:gd name="adj" fmla="val 7853"/>
            </a:avLst>
          </a:prstGeom>
          <a:solidFill>
            <a:srgbClr val="FFFFFF"/>
          </a:solidFill>
          <a:ln w="12700">
            <a:solidFill>
              <a:srgbClr val="EEF4F5"/>
            </a:solidFill>
            <a:prstDash val="solid"/>
          </a:ln>
        </p:spPr>
      </p:sp>
      <p:sp>
        <p:nvSpPr>
          <p:cNvPr id="13" name="Shape 10"/>
          <p:cNvSpPr/>
          <p:nvPr/>
        </p:nvSpPr>
        <p:spPr>
          <a:xfrm>
            <a:off x="731520" y="2593238"/>
            <a:ext cx="960120" cy="420624"/>
          </a:xfrm>
          <a:prstGeom prst="roundRect">
            <a:avLst>
              <a:gd name="adj" fmla="val 17391"/>
            </a:avLst>
          </a:prstGeom>
          <a:solidFill>
            <a:srgbClr val="13707B"/>
          </a:solidFill>
          <a:ln w="12700">
            <a:solidFill>
              <a:srgbClr val="13707B"/>
            </a:solidFill>
            <a:prstDash val="solid"/>
          </a:ln>
        </p:spPr>
      </p:sp>
      <p:sp>
        <p:nvSpPr>
          <p:cNvPr id="14" name="Text 11"/>
          <p:cNvSpPr txBox="1"/>
          <p:nvPr/>
        </p:nvSpPr>
        <p:spPr>
          <a:xfrm>
            <a:off x="731520" y="2593238"/>
            <a:ext cx="960120" cy="420624"/>
          </a:xfrm>
          <a:prstGeom prst="rect">
            <a:avLst/>
          </a:prstGeom>
          <a:noFill/>
          <a:ln/>
        </p:spPr>
        <p:txBody>
          <a:bodyPr wrap="square" lIns="0" tIns="0" rIns="0" bIns="0" rtlCol="0" anchor="ctr"/>
          <a:lstStyle/>
          <a:p>
            <a:pPr algn="ctr" indent="0" marL="0">
              <a:buNone/>
            </a:pPr>
            <a:r>
              <a:rPr lang="en-AU" sz="1400" b="1" dirty="0">
                <a:solidFill>
                  <a:srgbClr val="FFFFFF"/>
                </a:solidFill>
                <a:latin typeface="Calibri" pitchFamily="34" charset="0"/>
                <a:ea typeface="Calibri" pitchFamily="34" charset="-122"/>
                <a:cs typeface="Calibri" pitchFamily="34" charset="-120"/>
              </a:rPr>
              <a:t>Req 2</a:t>
            </a:r>
            <a:endParaRPr lang="en-AU" sz="1400" dirty="0"/>
          </a:p>
        </p:txBody>
      </p:sp>
      <p:sp>
        <p:nvSpPr>
          <p:cNvPr id="15" name="Text 12"/>
          <p:cNvSpPr txBox="1"/>
          <p:nvPr/>
        </p:nvSpPr>
        <p:spPr>
          <a:xfrm>
            <a:off x="1920240" y="2454250"/>
            <a:ext cx="3108960" cy="69860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Identity verified, authority not</a:t>
            </a:r>
            <a:endParaRPr lang="en-AU" sz="1500" dirty="0"/>
          </a:p>
        </p:txBody>
      </p:sp>
      <p:sp>
        <p:nvSpPr>
          <p:cNvPr id="16" name="Text 13"/>
          <p:cNvSpPr txBox="1"/>
          <p:nvPr/>
        </p:nvSpPr>
        <p:spPr>
          <a:xfrm>
            <a:off x="5166360" y="2454250"/>
            <a:ext cx="6293815" cy="698602"/>
          </a:xfrm>
          <a:prstGeom prst="rect">
            <a:avLst/>
          </a:prstGeom>
          <a:noFill/>
          <a:ln/>
        </p:spPr>
        <p:txBody>
          <a:bodyPr wrap="square" lIns="0" tIns="0" rIns="0" bIns="0" rtlCol="0" anchor="ctr"/>
          <a:lstStyle/>
          <a:p>
            <a:pPr indent="0" marL="0">
              <a:buNone/>
            </a:pPr>
            <a:r>
              <a:rPr lang="en-AU" sz="1300" dirty="0">
                <a:solidFill>
                  <a:srgbClr val="1C2B31"/>
                </a:solidFill>
                <a:latin typeface="Calibri" pitchFamily="34" charset="0"/>
                <a:ea typeface="Calibri" pitchFamily="34" charset="-122"/>
                <a:cs typeface="Calibri" pitchFamily="34" charset="-120"/>
              </a:rPr>
              <a:t>Eleven studies establish who a participant is; none verifies the authority a consent requires as a separate condition</a:t>
            </a:r>
            <a:endParaRPr lang="en-AU" sz="1300" dirty="0"/>
          </a:p>
        </p:txBody>
      </p:sp>
      <p:sp>
        <p:nvSpPr>
          <p:cNvPr id="17" name="Shape 14"/>
          <p:cNvSpPr/>
          <p:nvPr/>
        </p:nvSpPr>
        <p:spPr>
          <a:xfrm>
            <a:off x="548640" y="3262579"/>
            <a:ext cx="11094415" cy="698602"/>
          </a:xfrm>
          <a:prstGeom prst="roundRect">
            <a:avLst>
              <a:gd name="adj" fmla="val 7853"/>
            </a:avLst>
          </a:prstGeom>
          <a:solidFill>
            <a:srgbClr val="EEF4F5"/>
          </a:solidFill>
          <a:ln w="12700">
            <a:solidFill>
              <a:srgbClr val="EEF4F5"/>
            </a:solidFill>
            <a:prstDash val="solid"/>
          </a:ln>
        </p:spPr>
      </p:sp>
      <p:sp>
        <p:nvSpPr>
          <p:cNvPr id="18" name="Shape 15"/>
          <p:cNvSpPr/>
          <p:nvPr/>
        </p:nvSpPr>
        <p:spPr>
          <a:xfrm>
            <a:off x="731520" y="3401568"/>
            <a:ext cx="960120" cy="420624"/>
          </a:xfrm>
          <a:prstGeom prst="roundRect">
            <a:avLst>
              <a:gd name="adj" fmla="val 17391"/>
            </a:avLst>
          </a:prstGeom>
          <a:solidFill>
            <a:srgbClr val="13707B"/>
          </a:solidFill>
          <a:ln w="12700">
            <a:solidFill>
              <a:srgbClr val="13707B"/>
            </a:solidFill>
            <a:prstDash val="solid"/>
          </a:ln>
        </p:spPr>
      </p:sp>
      <p:sp>
        <p:nvSpPr>
          <p:cNvPr id="19" name="Text 16"/>
          <p:cNvSpPr txBox="1"/>
          <p:nvPr/>
        </p:nvSpPr>
        <p:spPr>
          <a:xfrm>
            <a:off x="731520" y="3401568"/>
            <a:ext cx="960120" cy="420624"/>
          </a:xfrm>
          <a:prstGeom prst="rect">
            <a:avLst/>
          </a:prstGeom>
          <a:noFill/>
          <a:ln/>
        </p:spPr>
        <p:txBody>
          <a:bodyPr wrap="square" lIns="0" tIns="0" rIns="0" bIns="0" rtlCol="0" anchor="ctr"/>
          <a:lstStyle/>
          <a:p>
            <a:pPr algn="ctr" indent="0" marL="0">
              <a:buNone/>
            </a:pPr>
            <a:r>
              <a:rPr lang="en-AU" sz="1400" b="1" dirty="0">
                <a:solidFill>
                  <a:srgbClr val="FFFFFF"/>
                </a:solidFill>
                <a:latin typeface="Calibri" pitchFamily="34" charset="0"/>
                <a:ea typeface="Calibri" pitchFamily="34" charset="-122"/>
                <a:cs typeface="Calibri" pitchFamily="34" charset="-120"/>
              </a:rPr>
              <a:t>Req 3</a:t>
            </a:r>
            <a:endParaRPr lang="en-AU" sz="1400" dirty="0"/>
          </a:p>
        </p:txBody>
      </p:sp>
      <p:sp>
        <p:nvSpPr>
          <p:cNvPr id="20" name="Text 17"/>
          <p:cNvSpPr txBox="1"/>
          <p:nvPr/>
        </p:nvSpPr>
        <p:spPr>
          <a:xfrm>
            <a:off x="1920240" y="3262579"/>
            <a:ext cx="3108960" cy="69860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No threshold on the consent</a:t>
            </a:r>
            <a:endParaRPr lang="en-AU" sz="1500" dirty="0"/>
          </a:p>
        </p:txBody>
      </p:sp>
      <p:sp>
        <p:nvSpPr>
          <p:cNvPr id="21" name="Text 18"/>
          <p:cNvSpPr txBox="1"/>
          <p:nvPr/>
        </p:nvSpPr>
        <p:spPr>
          <a:xfrm>
            <a:off x="5166360" y="3262579"/>
            <a:ext cx="6293815" cy="698602"/>
          </a:xfrm>
          <a:prstGeom prst="rect">
            <a:avLst/>
          </a:prstGeom>
          <a:noFill/>
          <a:ln/>
        </p:spPr>
        <p:txBody>
          <a:bodyPr wrap="square" lIns="0" tIns="0" rIns="0" bIns="0" rtlCol="0" anchor="ctr"/>
          <a:lstStyle/>
          <a:p>
            <a:pPr indent="0" marL="0">
              <a:buNone/>
            </a:pPr>
            <a:r>
              <a:rPr lang="en-AU" sz="1300" dirty="0">
                <a:solidFill>
                  <a:srgbClr val="1C2B31"/>
                </a:solidFill>
                <a:latin typeface="Calibri" pitchFamily="34" charset="0"/>
                <a:ea typeface="Calibri" pitchFamily="34" charset="-122"/>
                <a:cs typeface="Calibri" pitchFamily="34" charset="-120"/>
              </a:rPr>
              <a:t>S15, S23 and S25 offer multi-party mechanisms, but no threshold of verified approvals is attached to the consent</a:t>
            </a:r>
            <a:endParaRPr lang="en-AU" sz="1300" dirty="0"/>
          </a:p>
        </p:txBody>
      </p:sp>
      <p:sp>
        <p:nvSpPr>
          <p:cNvPr id="22" name="Shape 19"/>
          <p:cNvSpPr/>
          <p:nvPr/>
        </p:nvSpPr>
        <p:spPr>
          <a:xfrm>
            <a:off x="548640" y="4070909"/>
            <a:ext cx="11094415" cy="698602"/>
          </a:xfrm>
          <a:prstGeom prst="roundRect">
            <a:avLst>
              <a:gd name="adj" fmla="val 7853"/>
            </a:avLst>
          </a:prstGeom>
          <a:solidFill>
            <a:srgbClr val="FFFFFF"/>
          </a:solidFill>
          <a:ln w="12700">
            <a:solidFill>
              <a:srgbClr val="EEF4F5"/>
            </a:solidFill>
            <a:prstDash val="solid"/>
          </a:ln>
        </p:spPr>
      </p:sp>
      <p:sp>
        <p:nvSpPr>
          <p:cNvPr id="23" name="Shape 20"/>
          <p:cNvSpPr/>
          <p:nvPr/>
        </p:nvSpPr>
        <p:spPr>
          <a:xfrm>
            <a:off x="731520" y="4209898"/>
            <a:ext cx="960120" cy="420624"/>
          </a:xfrm>
          <a:prstGeom prst="roundRect">
            <a:avLst>
              <a:gd name="adj" fmla="val 17391"/>
            </a:avLst>
          </a:prstGeom>
          <a:solidFill>
            <a:srgbClr val="13707B"/>
          </a:solidFill>
          <a:ln w="12700">
            <a:solidFill>
              <a:srgbClr val="13707B"/>
            </a:solidFill>
            <a:prstDash val="solid"/>
          </a:ln>
        </p:spPr>
      </p:sp>
      <p:sp>
        <p:nvSpPr>
          <p:cNvPr id="24" name="Text 21"/>
          <p:cNvSpPr txBox="1"/>
          <p:nvPr/>
        </p:nvSpPr>
        <p:spPr>
          <a:xfrm>
            <a:off x="731520" y="4209898"/>
            <a:ext cx="960120" cy="420624"/>
          </a:xfrm>
          <a:prstGeom prst="rect">
            <a:avLst/>
          </a:prstGeom>
          <a:noFill/>
          <a:ln/>
        </p:spPr>
        <p:txBody>
          <a:bodyPr wrap="square" lIns="0" tIns="0" rIns="0" bIns="0" rtlCol="0" anchor="ctr"/>
          <a:lstStyle/>
          <a:p>
            <a:pPr algn="ctr" indent="0" marL="0">
              <a:buNone/>
            </a:pPr>
            <a:r>
              <a:rPr lang="en-AU" sz="1400" b="1" dirty="0">
                <a:solidFill>
                  <a:srgbClr val="FFFFFF"/>
                </a:solidFill>
                <a:latin typeface="Calibri" pitchFamily="34" charset="0"/>
                <a:ea typeface="Calibri" pitchFamily="34" charset="-122"/>
                <a:cs typeface="Calibri" pitchFamily="34" charset="-120"/>
              </a:rPr>
              <a:t>Req 4</a:t>
            </a:r>
            <a:endParaRPr lang="en-AU" sz="1400" dirty="0"/>
          </a:p>
        </p:txBody>
      </p:sp>
      <p:sp>
        <p:nvSpPr>
          <p:cNvPr id="25" name="Text 22"/>
          <p:cNvSpPr txBox="1"/>
          <p:nvPr/>
        </p:nvSpPr>
        <p:spPr>
          <a:xfrm>
            <a:off x="1920240" y="4070909"/>
            <a:ext cx="3108960" cy="69860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Policy not bound to consent scope</a:t>
            </a:r>
            <a:endParaRPr lang="en-AU" sz="1500" dirty="0"/>
          </a:p>
        </p:txBody>
      </p:sp>
      <p:sp>
        <p:nvSpPr>
          <p:cNvPr id="26" name="Text 23"/>
          <p:cNvSpPr txBox="1"/>
          <p:nvPr/>
        </p:nvSpPr>
        <p:spPr>
          <a:xfrm>
            <a:off x="5166360" y="4070909"/>
            <a:ext cx="6293815" cy="698602"/>
          </a:xfrm>
          <a:prstGeom prst="rect">
            <a:avLst/>
          </a:prstGeom>
          <a:noFill/>
          <a:ln/>
        </p:spPr>
        <p:txBody>
          <a:bodyPr wrap="square" lIns="0" tIns="0" rIns="0" bIns="0" rtlCol="0" anchor="ctr"/>
          <a:lstStyle/>
          <a:p>
            <a:pPr indent="0" marL="0">
              <a:buNone/>
            </a:pPr>
            <a:r>
              <a:rPr lang="en-AU" sz="1300" dirty="0">
                <a:solidFill>
                  <a:srgbClr val="1C2B31"/>
                </a:solidFill>
                <a:latin typeface="Calibri" pitchFamily="34" charset="0"/>
                <a:ea typeface="Calibri" pitchFamily="34" charset="-122"/>
                <a:cs typeface="Calibri" pitchFamily="34" charset="-120"/>
              </a:rPr>
              <a:t>Policy follows roles, attributes or risk, not the consented purpose and scope, so approved requesters can exceed it</a:t>
            </a:r>
            <a:endParaRPr lang="en-AU" sz="1300" dirty="0"/>
          </a:p>
        </p:txBody>
      </p:sp>
      <p:sp>
        <p:nvSpPr>
          <p:cNvPr id="27" name="Shape 24"/>
          <p:cNvSpPr/>
          <p:nvPr/>
        </p:nvSpPr>
        <p:spPr>
          <a:xfrm>
            <a:off x="548640" y="4879238"/>
            <a:ext cx="11094415" cy="698602"/>
          </a:xfrm>
          <a:prstGeom prst="roundRect">
            <a:avLst>
              <a:gd name="adj" fmla="val 7853"/>
            </a:avLst>
          </a:prstGeom>
          <a:solidFill>
            <a:srgbClr val="EEF4F5"/>
          </a:solidFill>
          <a:ln w="12700">
            <a:solidFill>
              <a:srgbClr val="EEF4F5"/>
            </a:solidFill>
            <a:prstDash val="solid"/>
          </a:ln>
        </p:spPr>
      </p:sp>
      <p:sp>
        <p:nvSpPr>
          <p:cNvPr id="28" name="Shape 25"/>
          <p:cNvSpPr/>
          <p:nvPr/>
        </p:nvSpPr>
        <p:spPr>
          <a:xfrm>
            <a:off x="731520" y="5018227"/>
            <a:ext cx="960120" cy="420624"/>
          </a:xfrm>
          <a:prstGeom prst="roundRect">
            <a:avLst>
              <a:gd name="adj" fmla="val 17391"/>
            </a:avLst>
          </a:prstGeom>
          <a:solidFill>
            <a:srgbClr val="13707B"/>
          </a:solidFill>
          <a:ln w="12700">
            <a:solidFill>
              <a:srgbClr val="13707B"/>
            </a:solidFill>
            <a:prstDash val="solid"/>
          </a:ln>
        </p:spPr>
      </p:sp>
      <p:sp>
        <p:nvSpPr>
          <p:cNvPr id="29" name="Text 26"/>
          <p:cNvSpPr txBox="1"/>
          <p:nvPr/>
        </p:nvSpPr>
        <p:spPr>
          <a:xfrm>
            <a:off x="731520" y="5018227"/>
            <a:ext cx="960120" cy="420624"/>
          </a:xfrm>
          <a:prstGeom prst="rect">
            <a:avLst/>
          </a:prstGeom>
          <a:noFill/>
          <a:ln/>
        </p:spPr>
        <p:txBody>
          <a:bodyPr wrap="square" lIns="0" tIns="0" rIns="0" bIns="0" rtlCol="0" anchor="ctr"/>
          <a:lstStyle/>
          <a:p>
            <a:pPr algn="ctr" indent="0" marL="0">
              <a:buNone/>
            </a:pPr>
            <a:r>
              <a:rPr lang="en-AU" sz="1400" b="1" dirty="0">
                <a:solidFill>
                  <a:srgbClr val="FFFFFF"/>
                </a:solidFill>
                <a:latin typeface="Calibri" pitchFamily="34" charset="0"/>
                <a:ea typeface="Calibri" pitchFamily="34" charset="-122"/>
                <a:cs typeface="Calibri" pitchFamily="34" charset="-120"/>
              </a:rPr>
              <a:t>Req 5</a:t>
            </a:r>
            <a:endParaRPr lang="en-AU" sz="1400" dirty="0"/>
          </a:p>
        </p:txBody>
      </p:sp>
      <p:sp>
        <p:nvSpPr>
          <p:cNvPr id="30" name="Text 27"/>
          <p:cNvSpPr txBox="1"/>
          <p:nvPr/>
        </p:nvSpPr>
        <p:spPr>
          <a:xfrm>
            <a:off x="1920240" y="4879238"/>
            <a:ext cx="3108960" cy="698602"/>
          </a:xfrm>
          <a:prstGeom prst="rect">
            <a:avLst/>
          </a:prstGeom>
          <a:noFill/>
          <a:ln/>
        </p:spPr>
        <p:txBody>
          <a:bodyPr wrap="square" lIns="0" tIns="0" rIns="0" bIns="0" rtlCol="0" anchor="ctr"/>
          <a:lstStyle/>
          <a:p>
            <a:pPr indent="0" marL="0">
              <a:buNone/>
            </a:pPr>
            <a:r>
              <a:rPr lang="en-AU" sz="1500" b="1" dirty="0">
                <a:solidFill>
                  <a:srgbClr val="0E3B43"/>
                </a:solidFill>
                <a:latin typeface="Calibri" pitchFamily="34" charset="0"/>
                <a:ea typeface="Calibri" pitchFamily="34" charset="-122"/>
                <a:cs typeface="Calibri" pitchFamily="34" charset="-120"/>
              </a:rPr>
              <a:t>Consent lifecycle not checked</a:t>
            </a:r>
            <a:endParaRPr lang="en-AU" sz="1500" dirty="0"/>
          </a:p>
        </p:txBody>
      </p:sp>
      <p:sp>
        <p:nvSpPr>
          <p:cNvPr id="31" name="Text 28"/>
          <p:cNvSpPr txBox="1"/>
          <p:nvPr/>
        </p:nvSpPr>
        <p:spPr>
          <a:xfrm>
            <a:off x="5166360" y="4879238"/>
            <a:ext cx="6293815" cy="698602"/>
          </a:xfrm>
          <a:prstGeom prst="rect">
            <a:avLst/>
          </a:prstGeom>
          <a:noFill/>
          <a:ln/>
        </p:spPr>
        <p:txBody>
          <a:bodyPr wrap="square" lIns="0" tIns="0" rIns="0" bIns="0" rtlCol="0" anchor="ctr"/>
          <a:lstStyle/>
          <a:p>
            <a:pPr indent="0" marL="0">
              <a:buNone/>
            </a:pPr>
            <a:r>
              <a:rPr lang="en-AU" sz="1300" dirty="0">
                <a:solidFill>
                  <a:srgbClr val="1C2B31"/>
                </a:solidFill>
                <a:latin typeface="Calibri" pitchFamily="34" charset="0"/>
                <a:ea typeface="Calibri" pitchFamily="34" charset="-122"/>
                <a:cs typeface="Calibri" pitchFamily="34" charset="-120"/>
              </a:rPr>
              <a:t>Expiry, revocation and state not evaluated at request time; evidence records transactions, not trust conditions</a:t>
            </a:r>
            <a:endParaRPr lang="en-AU" sz="1300" dirty="0"/>
          </a:p>
        </p:txBody>
      </p:sp>
      <p:sp>
        <p:nvSpPr>
          <p:cNvPr id="32" name="Text 29"/>
          <p:cNvSpPr txBox="1"/>
          <p:nvPr/>
        </p:nvSpPr>
        <p:spPr>
          <a:xfrm>
            <a:off x="548640" y="5715000"/>
            <a:ext cx="11094415" cy="502920"/>
          </a:xfrm>
          <a:prstGeom prst="rect">
            <a:avLst/>
          </a:prstGeom>
          <a:noFill/>
          <a:ln/>
        </p:spPr>
        <p:txBody>
          <a:bodyPr wrap="square" lIns="0" tIns="0" rIns="0" bIns="0" rtlCol="0" anchor="ctr"/>
          <a:lstStyle/>
          <a:p>
            <a:pPr indent="0" marL="0">
              <a:buNone/>
            </a:pPr>
            <a:r>
              <a:rPr lang="en-AU" sz="1500" i="1" dirty="0">
                <a:solidFill>
                  <a:srgbClr val="0B5560"/>
                </a:solidFill>
                <a:latin typeface="Calibri" pitchFamily="34" charset="0"/>
                <a:ea typeface="Calibri" pitchFamily="34" charset="-122"/>
                <a:cs typeface="Calibri" pitchFamily="34" charset="-120"/>
              </a:rPr>
              <a:t>The gaps map in order to RO1–RO5 (Req 1 to Req 5); RO6 provides formal and empirical validation of the resulting decisions.</a:t>
            </a:r>
            <a:endParaRPr lang="en-AU"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Each stream addresses one layer</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Table 2.10 (condensed): comparison of the existing research streams and the proposed framework</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13 / 43</a:t>
            </a:r>
            <a:endParaRPr lang="en-AU"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51760"/>
                <a:gridCol w="4023360"/>
                <a:gridCol w="4416552"/>
              </a:tblGrid>
              <a:tr h="512064">
                <a:tc>
                  <a:txBody>
                    <a:bodyPr/>
                    <a:lstStyle/>
                    <a:p>
                      <a:pPr indent="0" marL="0">
                        <a:buNone/>
                      </a:pPr>
                      <a:r>
                        <a:rPr lang="en-AU" sz="1350" b="1" dirty="0">
                          <a:solidFill>
                            <a:srgbClr val="FFFFFF"/>
                          </a:solidFill>
                          <a:latin typeface="Calibri" pitchFamily="34" charset="0"/>
                          <a:ea typeface="Calibri" pitchFamily="34" charset="-122"/>
                          <a:cs typeface="Calibri" pitchFamily="34" charset="-120"/>
                        </a:rPr>
                        <a:t>Research stream</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50" b="1" dirty="0">
                          <a:solidFill>
                            <a:srgbClr val="FFFFFF"/>
                          </a:solidFill>
                          <a:latin typeface="Calibri" pitchFamily="34" charset="0"/>
                          <a:ea typeface="Calibri" pitchFamily="34" charset="-122"/>
                          <a:cs typeface="Calibri" pitchFamily="34" charset="-120"/>
                        </a:rPr>
                        <a:t>Main contribution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50" b="1" dirty="0">
                          <a:solidFill>
                            <a:srgbClr val="FFFFFF"/>
                          </a:solidFill>
                          <a:latin typeface="Calibri" pitchFamily="34" charset="0"/>
                          <a:ea typeface="Calibri" pitchFamily="34" charset="-122"/>
                          <a:cs typeface="Calibri" pitchFamily="34" charset="-120"/>
                        </a:rPr>
                        <a:t>Limitation for authorisation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512064">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Healthcare consent and privacy governance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Patient autonomy, informed consent and controlled data sharing</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Consent treated as permission, not an evaluable authorisation object</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512064">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Blockchain-based healthcare data governance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Tamper-resistant records, distributed auditability and transparency</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Immutable records do not establish legitimacy, authority or compliance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512064">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Decentralised identity and verifiable credentials</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Self-controlled identity, verifiable attributes and authentication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Identity and credential validity alone do not authorise access</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512064">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Multi-party and decentralised governance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Collaborative participation and distributed verification or governance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Limited integration between collective approval thresholds, consent and access decisions</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512064">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Policy-based and healthcare access control</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Fine-grained restriction by attributes, risk, context and constraints</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Policy separated from decentralised identity and multi-party consent</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512064">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Trusted Computing and secure execution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Hardware-supported isolation, execution integrity and attestation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Secure execution does not decide if authorisation conditions suffice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512064">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Proposed framework</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Integrated evaluation: consent, identity, authority, approval, policy</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Still to add: lifecycle trust, formal assurance, empirical validation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3B43"/>
        </a:solidFill>
      </p:bgPr>
    </p:bg>
    <p:spTree>
      <p:nvGrpSpPr>
        <p:cNvPr id="1" name=""/>
        <p:cNvGrpSpPr/>
        <p:nvPr/>
      </p:nvGrpSpPr>
      <p:grpSpPr>
        <a:xfrm>
          <a:off x="0" y="0"/>
          <a:ext cx="0" cy="0"/>
          <a:chOff x="0" y="0"/>
          <a:chExt cx="0" cy="0"/>
        </a:xfrm>
      </p:grpSpPr>
      <p:sp>
        <p:nvSpPr>
          <p:cNvPr id="3" name="Shape 0"/>
          <p:cNvSpPr/>
          <p:nvPr/>
        </p:nvSpPr>
        <p:spPr>
          <a:xfrm>
            <a:off x="1005840" y="1737360"/>
            <a:ext cx="3108960" cy="3108960"/>
          </a:xfrm>
          <a:prstGeom prst="ellipse">
            <a:avLst/>
          </a:prstGeom>
          <a:solidFill>
            <a:srgbClr val="0E3B43"/>
          </a:solidFill>
          <a:ln w="38100">
            <a:solidFill>
              <a:srgbClr val="D4A12A"/>
            </a:solidFill>
            <a:prstDash val="solid"/>
          </a:ln>
        </p:spPr>
      </p:sp>
      <p:sp>
        <p:nvSpPr>
          <p:cNvPr id="4" name="Text 1"/>
          <p:cNvSpPr txBox="1"/>
          <p:nvPr/>
        </p:nvSpPr>
        <p:spPr>
          <a:xfrm>
            <a:off x="1005840" y="1737360"/>
            <a:ext cx="3108960" cy="3108960"/>
          </a:xfrm>
          <a:prstGeom prst="rect">
            <a:avLst/>
          </a:prstGeom>
          <a:noFill/>
          <a:ln/>
        </p:spPr>
        <p:txBody>
          <a:bodyPr wrap="square" lIns="0" tIns="0" rIns="0" bIns="0" rtlCol="0" anchor="ctr"/>
          <a:lstStyle/>
          <a:p>
            <a:pPr algn="ctr" indent="0" marL="0">
              <a:buNone/>
            </a:pPr>
            <a:r>
              <a:rPr lang="en-AU" sz="12000" b="1" dirty="0">
                <a:solidFill>
                  <a:srgbClr val="D4A12A"/>
                </a:solidFill>
                <a:latin typeface="Cambria" pitchFamily="34" charset="0"/>
                <a:ea typeface="Cambria" pitchFamily="34" charset="-122"/>
                <a:cs typeface="Cambria" pitchFamily="34" charset="-120"/>
              </a:rPr>
              <a:t>B</a:t>
            </a:r>
            <a:endParaRPr lang="en-AU" sz="12000" dirty="0"/>
          </a:p>
        </p:txBody>
      </p:sp>
      <p:sp>
        <p:nvSpPr>
          <p:cNvPr id="5" name="Text 2"/>
          <p:cNvSpPr txBox="1"/>
          <p:nvPr/>
        </p:nvSpPr>
        <p:spPr>
          <a:xfrm>
            <a:off x="4846320" y="2347468"/>
            <a:ext cx="6766560" cy="365760"/>
          </a:xfrm>
          <a:prstGeom prst="rect">
            <a:avLst/>
          </a:prstGeom>
          <a:noFill/>
          <a:ln/>
        </p:spPr>
        <p:txBody>
          <a:bodyPr wrap="square" lIns="0" tIns="0" rIns="0" bIns="0" rtlCol="0" anchor="ctr"/>
          <a:lstStyle/>
          <a:p>
            <a:pPr indent="0" marL="0">
              <a:buNone/>
            </a:pPr>
            <a:r>
              <a:rPr lang="en-AU" sz="1400" b="1" spc="200" kern="0" dirty="0">
                <a:solidFill>
                  <a:srgbClr val="D4A12A"/>
                </a:solidFill>
                <a:latin typeface="Calibri" pitchFamily="34" charset="0"/>
                <a:ea typeface="Calibri" pitchFamily="34" charset="-122"/>
                <a:cs typeface="Calibri" pitchFamily="34" charset="-120"/>
              </a:rPr>
              <a:t>PART B  ·  CHAPTERS 3–4</a:t>
            </a:r>
            <a:endParaRPr lang="en-AU" sz="1400" dirty="0"/>
          </a:p>
        </p:txBody>
      </p:sp>
      <p:sp>
        <p:nvSpPr>
          <p:cNvPr id="6" name="Text 3"/>
          <p:cNvSpPr txBox="1"/>
          <p:nvPr/>
        </p:nvSpPr>
        <p:spPr>
          <a:xfrm>
            <a:off x="4846320" y="2822956"/>
            <a:ext cx="6766560" cy="645160"/>
          </a:xfrm>
          <a:prstGeom prst="rect">
            <a:avLst/>
          </a:prstGeom>
          <a:noFill/>
          <a:ln/>
        </p:spPr>
        <p:txBody>
          <a:bodyPr wrap="square" lIns="0" tIns="0" rIns="0" bIns="0" rtlCol="0" anchor="t"/>
          <a:lstStyle/>
          <a:p>
            <a:pPr indent="0" marL="0">
              <a:buNone/>
            </a:pPr>
            <a:r>
              <a:rPr lang="en-AU" sz="4000" b="1" dirty="0">
                <a:solidFill>
                  <a:srgbClr val="FFFFFF"/>
                </a:solidFill>
                <a:latin typeface="Cambria" pitchFamily="34" charset="0"/>
                <a:ea typeface="Cambria" pitchFamily="34" charset="-122"/>
                <a:cs typeface="Cambria" pitchFamily="34" charset="-120"/>
              </a:rPr>
              <a:t>Research design</a:t>
            </a:r>
            <a:endParaRPr lang="en-AU" sz="4000" dirty="0"/>
          </a:p>
        </p:txBody>
      </p:sp>
      <p:sp>
        <p:nvSpPr>
          <p:cNvPr id="7" name="Text 4"/>
          <p:cNvSpPr txBox="1"/>
          <p:nvPr/>
        </p:nvSpPr>
        <p:spPr>
          <a:xfrm>
            <a:off x="4846320" y="3678428"/>
            <a:ext cx="6583680" cy="649224"/>
          </a:xfrm>
          <a:prstGeom prst="rect">
            <a:avLst/>
          </a:prstGeom>
          <a:noFill/>
          <a:ln/>
        </p:spPr>
        <p:txBody>
          <a:bodyPr wrap="square" lIns="0" tIns="0" rIns="0" bIns="0" rtlCol="0" anchor="t"/>
          <a:lstStyle/>
          <a:p>
            <a:pPr indent="0" marL="0">
              <a:buNone/>
            </a:pPr>
            <a:r>
              <a:rPr lang="en-AU" sz="1800" dirty="0">
                <a:solidFill>
                  <a:srgbClr val="CFE3E6"/>
                </a:solidFill>
                <a:latin typeface="Calibri" pitchFamily="34" charset="0"/>
                <a:ea typeface="Calibri" pitchFamily="34" charset="-122"/>
                <a:cs typeface="Calibri" pitchFamily="34" charset="-120"/>
              </a:rPr>
              <a:t>The Chapter 2 gap becomes one main question, six SRQs and six ROs, staged across CA2 and CA3</a:t>
            </a:r>
            <a:endParaRPr lang="en-AU" sz="1800" dirty="0"/>
          </a:p>
        </p:txBody>
      </p:sp>
      <p:sp>
        <p:nvSpPr>
          <p:cNvPr id="8" name="Text 5"/>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CFE3E6"/>
                </a:solidFill>
                <a:latin typeface="Calibri" pitchFamily="34" charset="0"/>
                <a:ea typeface="Calibri" pitchFamily="34" charset="-122"/>
                <a:cs typeface="Calibri" pitchFamily="34" charset="-120"/>
              </a:rPr>
              <a:t>14 / 43</a:t>
            </a:r>
            <a:endParaRPr lang="en-AU"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The missing piece is an integrated trust model</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Research gap (Section 3.1) and main research question (Section 3.2)</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15 / 43</a:t>
            </a:r>
            <a:endParaRPr lang="en-AU" sz="1000" dirty="0"/>
          </a:p>
        </p:txBody>
      </p:sp>
      <p:sp>
        <p:nvSpPr>
          <p:cNvPr id="7" name="Shape 4"/>
          <p:cNvSpPr/>
          <p:nvPr/>
        </p:nvSpPr>
        <p:spPr>
          <a:xfrm>
            <a:off x="548640" y="1691640"/>
            <a:ext cx="5120640" cy="3840480"/>
          </a:xfrm>
          <a:prstGeom prst="roundRect">
            <a:avLst>
              <a:gd name="adj" fmla="val 2857"/>
            </a:avLst>
          </a:prstGeom>
          <a:solidFill>
            <a:srgbClr val="0E3B43"/>
          </a:solidFill>
          <a:ln w="12700">
            <a:solidFill>
              <a:srgbClr val="0E3B43"/>
            </a:solidFill>
            <a:prstDash val="solid"/>
          </a:ln>
        </p:spPr>
      </p:sp>
      <p:sp>
        <p:nvSpPr>
          <p:cNvPr id="8" name="Shape 5"/>
          <p:cNvSpPr/>
          <p:nvPr/>
        </p:nvSpPr>
        <p:spPr>
          <a:xfrm>
            <a:off x="914400" y="1990344"/>
            <a:ext cx="640080" cy="640080"/>
          </a:xfrm>
          <a:prstGeom prst="ellipse">
            <a:avLst/>
          </a:prstGeom>
          <a:solidFill>
            <a:srgbClr val="D4A12A"/>
          </a:solidFill>
          <a:ln w="12700">
            <a:solidFill>
              <a:srgbClr val="D4A12A"/>
            </a:solidFill>
            <a:prstDash val="solid"/>
          </a:ln>
        </p:spPr>
      </p:sp>
      <p:pic>
        <p:nvPicPr>
          <p:cNvPr id="9" name="Image 0" descr="preencoded.png">    </p:cNvPr>
          <p:cNvPicPr>
            <a:picLocks noChangeAspect="1"/>
          </p:cNvPicPr>
          <p:nvPr/>
        </p:nvPicPr>
        <p:blipFill>
          <a:blip r:embed="rId1"/>
          <a:stretch>
            <a:fillRect/>
          </a:stretch>
        </p:blipFill>
        <p:spPr>
          <a:xfrm>
            <a:off x="1068019" y="2143963"/>
            <a:ext cx="332842" cy="332842"/>
          </a:xfrm>
          <a:prstGeom prst="rect">
            <a:avLst/>
          </a:prstGeom>
        </p:spPr>
      </p:pic>
      <p:sp>
        <p:nvSpPr>
          <p:cNvPr id="10" name="Text 6"/>
          <p:cNvSpPr txBox="1"/>
          <p:nvPr/>
        </p:nvSpPr>
        <p:spPr>
          <a:xfrm>
            <a:off x="914400" y="2886456"/>
            <a:ext cx="4389120" cy="2438400"/>
          </a:xfrm>
          <a:prstGeom prst="rect">
            <a:avLst/>
          </a:prstGeom>
          <a:noFill/>
          <a:ln/>
        </p:spPr>
        <p:txBody>
          <a:bodyPr wrap="square" lIns="0" tIns="0" rIns="0" bIns="0" rtlCol="0" anchor="t"/>
          <a:lstStyle/>
          <a:p>
            <a:pPr indent="0" marL="0">
              <a:buNone/>
            </a:pPr>
            <a:r>
              <a:rPr lang="en-AU" sz="2200" b="1" dirty="0">
                <a:solidFill>
                  <a:srgbClr val="FFFFFF"/>
                </a:solidFill>
                <a:latin typeface="Cambria" pitchFamily="34" charset="0"/>
                <a:ea typeface="Cambria" pitchFamily="34" charset="-122"/>
                <a:cs typeface="Cambria" pitchFamily="34" charset="-120"/>
              </a:rPr>
              <a:t>How can a trust-oriented computing framework establish and enforce trustworthy multi-party consent for decentralised healthcare data sharing under identity, authority and policy constraints?</a:t>
            </a:r>
            <a:endParaRPr lang="en-AU" sz="2200" dirty="0"/>
          </a:p>
        </p:txBody>
      </p:sp>
      <p:sp>
        <p:nvSpPr>
          <p:cNvPr id="11" name="Shape 7"/>
          <p:cNvSpPr/>
          <p:nvPr/>
        </p:nvSpPr>
        <p:spPr>
          <a:xfrm>
            <a:off x="6172200" y="1783080"/>
            <a:ext cx="457200" cy="457200"/>
          </a:xfrm>
          <a:prstGeom prst="ellipse">
            <a:avLst/>
          </a:prstGeom>
          <a:solidFill>
            <a:srgbClr val="D4A12A"/>
          </a:solidFill>
          <a:ln w="12700">
            <a:solidFill>
              <a:srgbClr val="D4A12A"/>
            </a:solidFill>
            <a:prstDash val="solid"/>
          </a:ln>
        </p:spPr>
      </p:sp>
      <p:sp>
        <p:nvSpPr>
          <p:cNvPr id="12" name="Text 8"/>
          <p:cNvSpPr txBox="1"/>
          <p:nvPr/>
        </p:nvSpPr>
        <p:spPr>
          <a:xfrm>
            <a:off x="6172200" y="1783080"/>
            <a:ext cx="457200" cy="457200"/>
          </a:xfrm>
          <a:prstGeom prst="rect">
            <a:avLst/>
          </a:prstGeom>
          <a:noFill/>
          <a:ln/>
        </p:spPr>
        <p:txBody>
          <a:bodyPr wrap="square" lIns="0" tIns="0" rIns="0" bIns="0" rtlCol="0" anchor="ctr"/>
          <a:lstStyle/>
          <a:p>
            <a:pPr algn="ctr" indent="0" marL="0">
              <a:buNone/>
            </a:pPr>
            <a:r>
              <a:rPr lang="en-AU" sz="1600" b="1" dirty="0">
                <a:solidFill>
                  <a:srgbClr val="0E3B43"/>
                </a:solidFill>
                <a:latin typeface="Calibri" pitchFamily="34" charset="0"/>
                <a:ea typeface="Calibri" pitchFamily="34" charset="-122"/>
                <a:cs typeface="Calibri" pitchFamily="34" charset="-120"/>
              </a:rPr>
              <a:t>1</a:t>
            </a:r>
            <a:endParaRPr lang="en-AU" sz="1600" dirty="0"/>
          </a:p>
        </p:txBody>
      </p:sp>
      <p:sp>
        <p:nvSpPr>
          <p:cNvPr id="13" name="Text 9"/>
          <p:cNvSpPr txBox="1"/>
          <p:nvPr/>
        </p:nvSpPr>
        <p:spPr>
          <a:xfrm>
            <a:off x="6812280" y="1764792"/>
            <a:ext cx="4830775" cy="329184"/>
          </a:xfrm>
          <a:prstGeom prst="rect">
            <a:avLst/>
          </a:prstGeom>
          <a:noFill/>
          <a:ln/>
        </p:spPr>
        <p:txBody>
          <a:bodyPr wrap="square" lIns="0" tIns="0" rIns="0" bIns="0" rtlCol="0" anchor="t"/>
          <a:lstStyle/>
          <a:p>
            <a:pPr indent="0" marL="0">
              <a:buNone/>
            </a:pPr>
            <a:r>
              <a:rPr lang="en-AU" sz="1700" b="1" dirty="0">
                <a:solidFill>
                  <a:srgbClr val="0E3B43"/>
                </a:solidFill>
                <a:latin typeface="Calibri" pitchFamily="34" charset="0"/>
                <a:ea typeface="Calibri" pitchFamily="34" charset="-122"/>
                <a:cs typeface="Calibri" pitchFamily="34" charset="-120"/>
              </a:rPr>
              <a:t>Fragmented mechanisms</a:t>
            </a:r>
            <a:endParaRPr lang="en-AU" sz="1700" dirty="0"/>
          </a:p>
        </p:txBody>
      </p:sp>
      <p:sp>
        <p:nvSpPr>
          <p:cNvPr id="14" name="Text 10"/>
          <p:cNvSpPr txBox="1"/>
          <p:nvPr/>
        </p:nvSpPr>
        <p:spPr>
          <a:xfrm>
            <a:off x="6812280" y="2093976"/>
            <a:ext cx="4830775" cy="82905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Blockchain consent, DIDs, VCs, policy control and multi-party approval are studied separately, not as one model.</a:t>
            </a:r>
            <a:endParaRPr lang="en-AU" sz="1400" dirty="0"/>
          </a:p>
        </p:txBody>
      </p:sp>
      <p:sp>
        <p:nvSpPr>
          <p:cNvPr id="15" name="Shape 11"/>
          <p:cNvSpPr/>
          <p:nvPr/>
        </p:nvSpPr>
        <p:spPr>
          <a:xfrm>
            <a:off x="6172200" y="3087624"/>
            <a:ext cx="457200" cy="457200"/>
          </a:xfrm>
          <a:prstGeom prst="ellipse">
            <a:avLst/>
          </a:prstGeom>
          <a:solidFill>
            <a:srgbClr val="D4A12A"/>
          </a:solidFill>
          <a:ln w="12700">
            <a:solidFill>
              <a:srgbClr val="D4A12A"/>
            </a:solidFill>
            <a:prstDash val="solid"/>
          </a:ln>
        </p:spPr>
      </p:sp>
      <p:sp>
        <p:nvSpPr>
          <p:cNvPr id="16" name="Text 12"/>
          <p:cNvSpPr txBox="1"/>
          <p:nvPr/>
        </p:nvSpPr>
        <p:spPr>
          <a:xfrm>
            <a:off x="6172200" y="3087624"/>
            <a:ext cx="457200" cy="457200"/>
          </a:xfrm>
          <a:prstGeom prst="rect">
            <a:avLst/>
          </a:prstGeom>
          <a:noFill/>
          <a:ln/>
        </p:spPr>
        <p:txBody>
          <a:bodyPr wrap="square" lIns="0" tIns="0" rIns="0" bIns="0" rtlCol="0" anchor="ctr"/>
          <a:lstStyle/>
          <a:p>
            <a:pPr algn="ctr" indent="0" marL="0">
              <a:buNone/>
            </a:pPr>
            <a:r>
              <a:rPr lang="en-AU" sz="1600" b="1" dirty="0">
                <a:solidFill>
                  <a:srgbClr val="0E3B43"/>
                </a:solidFill>
                <a:latin typeface="Calibri" pitchFamily="34" charset="0"/>
                <a:ea typeface="Calibri" pitchFamily="34" charset="-122"/>
                <a:cs typeface="Calibri" pitchFamily="34" charset="-120"/>
              </a:rPr>
              <a:t>2</a:t>
            </a:r>
            <a:endParaRPr lang="en-AU" sz="1600" dirty="0"/>
          </a:p>
        </p:txBody>
      </p:sp>
      <p:sp>
        <p:nvSpPr>
          <p:cNvPr id="17" name="Text 13"/>
          <p:cNvSpPr txBox="1"/>
          <p:nvPr/>
        </p:nvSpPr>
        <p:spPr>
          <a:xfrm>
            <a:off x="6812280" y="3069336"/>
            <a:ext cx="4830775" cy="329184"/>
          </a:xfrm>
          <a:prstGeom prst="rect">
            <a:avLst/>
          </a:prstGeom>
          <a:noFill/>
          <a:ln/>
        </p:spPr>
        <p:txBody>
          <a:bodyPr wrap="square" lIns="0" tIns="0" rIns="0" bIns="0" rtlCol="0" anchor="t"/>
          <a:lstStyle/>
          <a:p>
            <a:pPr indent="0" marL="0">
              <a:buNone/>
            </a:pPr>
            <a:r>
              <a:rPr lang="en-AU" sz="1700" b="1" dirty="0">
                <a:solidFill>
                  <a:srgbClr val="0E3B43"/>
                </a:solidFill>
                <a:latin typeface="Calibri" pitchFamily="34" charset="0"/>
                <a:ea typeface="Calibri" pitchFamily="34" charset="-122"/>
                <a:cs typeface="Calibri" pitchFamily="34" charset="-120"/>
              </a:rPr>
              <a:t>Consent kept as a record</a:t>
            </a:r>
            <a:endParaRPr lang="en-AU" sz="1700" dirty="0"/>
          </a:p>
        </p:txBody>
      </p:sp>
      <p:sp>
        <p:nvSpPr>
          <p:cNvPr id="18" name="Text 14"/>
          <p:cNvSpPr txBox="1"/>
          <p:nvPr/>
        </p:nvSpPr>
        <p:spPr>
          <a:xfrm>
            <a:off x="6812280" y="3398520"/>
            <a:ext cx="4830775" cy="82905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Access may rest mainly on a stored record and an authenticated requester, not proven authority, approvals or scope.</a:t>
            </a:r>
            <a:endParaRPr lang="en-AU" sz="1400" dirty="0"/>
          </a:p>
        </p:txBody>
      </p:sp>
      <p:sp>
        <p:nvSpPr>
          <p:cNvPr id="19" name="Shape 15"/>
          <p:cNvSpPr/>
          <p:nvPr/>
        </p:nvSpPr>
        <p:spPr>
          <a:xfrm>
            <a:off x="6172200" y="4392168"/>
            <a:ext cx="457200" cy="457200"/>
          </a:xfrm>
          <a:prstGeom prst="ellipse">
            <a:avLst/>
          </a:prstGeom>
          <a:solidFill>
            <a:srgbClr val="D4A12A"/>
          </a:solidFill>
          <a:ln w="12700">
            <a:solidFill>
              <a:srgbClr val="D4A12A"/>
            </a:solidFill>
            <a:prstDash val="solid"/>
          </a:ln>
        </p:spPr>
      </p:sp>
      <p:sp>
        <p:nvSpPr>
          <p:cNvPr id="20" name="Text 16"/>
          <p:cNvSpPr txBox="1"/>
          <p:nvPr/>
        </p:nvSpPr>
        <p:spPr>
          <a:xfrm>
            <a:off x="6172200" y="4392168"/>
            <a:ext cx="457200" cy="457200"/>
          </a:xfrm>
          <a:prstGeom prst="rect">
            <a:avLst/>
          </a:prstGeom>
          <a:noFill/>
          <a:ln/>
        </p:spPr>
        <p:txBody>
          <a:bodyPr wrap="square" lIns="0" tIns="0" rIns="0" bIns="0" rtlCol="0" anchor="ctr"/>
          <a:lstStyle/>
          <a:p>
            <a:pPr algn="ctr" indent="0" marL="0">
              <a:buNone/>
            </a:pPr>
            <a:r>
              <a:rPr lang="en-AU" sz="1600" b="1" dirty="0">
                <a:solidFill>
                  <a:srgbClr val="0E3B43"/>
                </a:solidFill>
                <a:latin typeface="Calibri" pitchFamily="34" charset="0"/>
                <a:ea typeface="Calibri" pitchFamily="34" charset="-122"/>
                <a:cs typeface="Calibri" pitchFamily="34" charset="-120"/>
              </a:rPr>
              <a:t>3</a:t>
            </a:r>
            <a:endParaRPr lang="en-AU" sz="1600" dirty="0"/>
          </a:p>
        </p:txBody>
      </p:sp>
      <p:sp>
        <p:nvSpPr>
          <p:cNvPr id="21" name="Text 17"/>
          <p:cNvSpPr txBox="1"/>
          <p:nvPr/>
        </p:nvSpPr>
        <p:spPr>
          <a:xfrm>
            <a:off x="6812280" y="4373880"/>
            <a:ext cx="4830775" cy="329184"/>
          </a:xfrm>
          <a:prstGeom prst="rect">
            <a:avLst/>
          </a:prstGeom>
          <a:noFill/>
          <a:ln/>
        </p:spPr>
        <p:txBody>
          <a:bodyPr wrap="square" lIns="0" tIns="0" rIns="0" bIns="0" rtlCol="0" anchor="t"/>
          <a:lstStyle/>
          <a:p>
            <a:pPr indent="0" marL="0">
              <a:buNone/>
            </a:pPr>
            <a:r>
              <a:rPr lang="en-AU" sz="1700" b="1" dirty="0">
                <a:solidFill>
                  <a:srgbClr val="0E3B43"/>
                </a:solidFill>
                <a:latin typeface="Calibri" pitchFamily="34" charset="0"/>
                <a:ea typeface="Calibri" pitchFamily="34" charset="-122"/>
                <a:cs typeface="Calibri" pitchFamily="34" charset="-120"/>
              </a:rPr>
              <a:t>No single source of trust</a:t>
            </a:r>
            <a:endParaRPr lang="en-AU" sz="1700" dirty="0"/>
          </a:p>
        </p:txBody>
      </p:sp>
      <p:sp>
        <p:nvSpPr>
          <p:cNvPr id="22" name="Text 18"/>
          <p:cNvSpPr txBox="1"/>
          <p:nvPr/>
        </p:nvSpPr>
        <p:spPr>
          <a:xfrm>
            <a:off x="6812280" y="4703064"/>
            <a:ext cx="4830775" cy="829056"/>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Immutability, identity or approval alone cannot make access trustworthy; trust emerges from a verifiable process.</a:t>
            </a:r>
            <a:endParaRPr lang="en-AU"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Six questions, six objectives, two stages</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SRQ1–SRQ6 map one-to-one onto RO1–RO6 (Tables 4.1–4.2); RO1–RO4 in CA2, RO5–RO6 in CA3</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16 / 43</a:t>
            </a:r>
            <a:endParaRPr lang="en-AU"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822960"/>
                <a:gridCol w="4297680"/>
                <a:gridCol w="4389120"/>
                <a:gridCol w="1581912"/>
              </a:tblGrid>
              <a:tr h="566928">
                <a:tc>
                  <a:txBody>
                    <a:bodyPr/>
                    <a:lstStyle/>
                    <a:p>
                      <a:pPr indent="0" marL="0">
                        <a:buNone/>
                      </a:pPr>
                      <a:r>
                        <a:rPr lang="en-AU" sz="1350" b="1" dirty="0">
                          <a:solidFill>
                            <a:srgbClr val="FFFFFF"/>
                          </a:solidFill>
                          <a:latin typeface="Calibri" pitchFamily="34" charset="0"/>
                          <a:ea typeface="Calibri" pitchFamily="34" charset="-122"/>
                          <a:cs typeface="Calibri" pitchFamily="34" charset="-120"/>
                        </a:rPr>
                        <a:t>SRQ</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50" b="1" dirty="0">
                          <a:solidFill>
                            <a:srgbClr val="FFFFFF"/>
                          </a:solidFill>
                          <a:latin typeface="Calibri" pitchFamily="34" charset="0"/>
                          <a:ea typeface="Calibri" pitchFamily="34" charset="-122"/>
                          <a:cs typeface="Calibri" pitchFamily="34" charset="-120"/>
                        </a:rPr>
                        <a:t>Question focus</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50" b="1" dirty="0">
                          <a:solidFill>
                            <a:srgbClr val="FFFFFF"/>
                          </a:solidFill>
                          <a:latin typeface="Calibri" pitchFamily="34" charset="0"/>
                          <a:ea typeface="Calibri" pitchFamily="34" charset="-122"/>
                          <a:cs typeface="Calibri" pitchFamily="34" charset="-120"/>
                        </a:rPr>
                        <a:t>Objective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50" b="1" dirty="0">
                          <a:solidFill>
                            <a:srgbClr val="FFFFFF"/>
                          </a:solidFill>
                          <a:latin typeface="Calibri" pitchFamily="34" charset="0"/>
                          <a:ea typeface="Calibri" pitchFamily="34" charset="-122"/>
                          <a:cs typeface="Calibri" pitchFamily="34" charset="-120"/>
                        </a:rPr>
                        <a:t>Stage</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566928">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SRQ1</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Consent as a trust-aware, evaluable authorisation object</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RO1: Trust-Centric Consent Model</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Current (CA2)</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566928">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SRQ2</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DIDs and VCs, with identity separated from authority</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RO2: Decentralised Identity and Authority Trust</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Current (CA2)</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566928">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SRQ3</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Verified parties jointly decide; no unilateral authorisation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RO3: Trustworthy Multi-Party Authorisation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Current (CA2)</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566928">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SRQ4</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Policy, purpose and data-scope constraints in authorisation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RO4: Policy- and Context-Aware Access Control</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Current (CA2)</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566928">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SRQ5</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Validity interval, expiry, revocation and state transitions</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RO5: Temporal and Lifecycle Trust</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Next (CA3)</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r>
              <a:tr h="566928">
                <a:tc>
                  <a:txBody>
                    <a:bodyPr/>
                    <a:lstStyle/>
                    <a:p>
                      <a:pPr indent="0" marL="0">
                        <a:buNone/>
                      </a:pPr>
                      <a:r>
                        <a:rPr lang="en-AU" sz="1350" b="1" dirty="0">
                          <a:solidFill>
                            <a:srgbClr val="1C2B31"/>
                          </a:solidFill>
                          <a:latin typeface="Calibri" pitchFamily="34" charset="0"/>
                          <a:ea typeface="Calibri" pitchFamily="34" charset="-122"/>
                          <a:cs typeface="Calibri" pitchFamily="34" charset="-120"/>
                        </a:rPr>
                        <a:t>SRQ6</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Formal security properties and empirical validation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RO6: Formal Security Assurance and Empirical Validation</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c>
                  <a:txBody>
                    <a:bodyPr/>
                    <a:lstStyle/>
                    <a:p>
                      <a:pPr indent="0" marL="0">
                        <a:buNone/>
                      </a:pPr>
                      <a:r>
                        <a:rPr lang="en-AU" sz="1350" dirty="0">
                          <a:solidFill>
                            <a:srgbClr val="1C2B31"/>
                          </a:solidFill>
                          <a:latin typeface="Calibri" pitchFamily="34" charset="0"/>
                          <a:ea typeface="Calibri" pitchFamily="34" charset="-122"/>
                          <a:cs typeface="Calibri" pitchFamily="34" charset="-120"/>
                        </a:rPr>
                        <a:t>Next (CA3)</a:t>
                      </a:r>
                      <a:endParaRPr lang="en-AU" sz="13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BF1D3"/>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Access is a conjunction of trust conditions</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Eq. 6 decides access now (CA2); Eq. 24 adds temporal and lifecycle checks in CA3</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17 / 43</a:t>
            </a:r>
            <a:endParaRPr lang="en-AU" sz="1000" dirty="0"/>
          </a:p>
        </p:txBody>
      </p:sp>
      <p:sp>
        <p:nvSpPr>
          <p:cNvPr id="7" name="Shape 4"/>
          <p:cNvSpPr/>
          <p:nvPr/>
        </p:nvSpPr>
        <p:spPr>
          <a:xfrm>
            <a:off x="548640" y="1645920"/>
            <a:ext cx="11094415" cy="731520"/>
          </a:xfrm>
          <a:prstGeom prst="roundRect">
            <a:avLst>
              <a:gd name="adj" fmla="val 10000"/>
            </a:avLst>
          </a:prstGeom>
          <a:solidFill>
            <a:srgbClr val="EEF4F5"/>
          </a:solidFill>
          <a:ln w="12700">
            <a:solidFill>
              <a:srgbClr val="EEF4F5"/>
            </a:solidFill>
            <a:prstDash val="solid"/>
          </a:ln>
        </p:spPr>
      </p:sp>
      <p:sp>
        <p:nvSpPr>
          <p:cNvPr id="8" name="Text 5"/>
          <p:cNvSpPr txBox="1"/>
          <p:nvPr/>
        </p:nvSpPr>
        <p:spPr>
          <a:xfrm>
            <a:off x="777240" y="1645920"/>
            <a:ext cx="2377440" cy="731520"/>
          </a:xfrm>
          <a:prstGeom prst="rect">
            <a:avLst/>
          </a:prstGeom>
          <a:noFill/>
          <a:ln/>
        </p:spPr>
        <p:txBody>
          <a:bodyPr wrap="square" lIns="0" tIns="0" rIns="0" bIns="0" rtlCol="0" anchor="ctr"/>
          <a:lstStyle/>
          <a:p>
            <a:pPr indent="0" marL="0">
              <a:buNone/>
            </a:pPr>
            <a:r>
              <a:rPr lang="en-AU" sz="1400" b="1" dirty="0">
                <a:solidFill>
                  <a:srgbClr val="5E6E73"/>
                </a:solidFill>
                <a:latin typeface="Calibri" pitchFamily="34" charset="0"/>
                <a:ea typeface="Calibri" pitchFamily="34" charset="-122"/>
                <a:cs typeface="Calibri" pitchFamily="34" charset="-120"/>
              </a:rPr>
              <a:t>Consent object (Eq. 7)</a:t>
            </a:r>
            <a:endParaRPr lang="en-AU" sz="1400" dirty="0"/>
          </a:p>
        </p:txBody>
      </p:sp>
      <p:sp>
        <p:nvSpPr>
          <p:cNvPr id="9" name="Text 6"/>
          <p:cNvSpPr txBox="1"/>
          <p:nvPr/>
        </p:nvSpPr>
        <p:spPr>
          <a:xfrm>
            <a:off x="3200400" y="1645920"/>
            <a:ext cx="8259775" cy="731520"/>
          </a:xfrm>
          <a:prstGeom prst="rect">
            <a:avLst/>
          </a:prstGeom>
          <a:noFill/>
          <a:ln/>
        </p:spPr>
        <p:txBody>
          <a:bodyPr wrap="square" lIns="0" tIns="0" rIns="0" bIns="0" rtlCol="0" anchor="ctr"/>
          <a:lstStyle/>
          <a:p>
            <a:pPr indent="0" marL="0">
              <a:buNone/>
            </a:pPr>
            <a:r>
              <a:rPr lang="en-AU" sz="2000" dirty="0">
                <a:solidFill>
                  <a:srgbClr val="0E3B43"/>
                </a:solidFill>
                <a:latin typeface="Cambria" pitchFamily="34" charset="0"/>
                <a:ea typeface="Cambria" pitchFamily="34" charset="-122"/>
                <a:cs typeface="Cambria" pitchFamily="34" charset="-120"/>
              </a:rPr>
              <a:t>C = (I, A, P, E)</a:t>
            </a:r>
            <a:endParaRPr lang="en-AU" sz="2000" dirty="0"/>
          </a:p>
        </p:txBody>
      </p:sp>
      <p:sp>
        <p:nvSpPr>
          <p:cNvPr id="10" name="Text 7"/>
          <p:cNvSpPr txBox="1"/>
          <p:nvPr/>
        </p:nvSpPr>
        <p:spPr>
          <a:xfrm>
            <a:off x="4846320" y="1645920"/>
            <a:ext cx="6659575" cy="731520"/>
          </a:xfrm>
          <a:prstGeom prst="rect">
            <a:avLst/>
          </a:prstGeom>
          <a:noFill/>
          <a:ln/>
        </p:spPr>
        <p:txBody>
          <a:bodyPr wrap="square" lIns="0" tIns="0" rIns="0" bIns="0" rtlCol="0" anchor="ctr"/>
          <a:lstStyle/>
          <a:p>
            <a:pPr indent="0" marL="0">
              <a:buNone/>
            </a:pPr>
            <a:r>
              <a:rPr lang="en-AU" sz="1250" dirty="0">
                <a:solidFill>
                  <a:srgbClr val="5E6E73"/>
                </a:solidFill>
                <a:latin typeface="Calibri" pitchFamily="34" charset="0"/>
                <a:ea typeface="Calibri" pitchFamily="34" charset="-122"/>
                <a:cs typeface="Calibri" pitchFamily="34" charset="-120"/>
              </a:rPr>
              <a:t>I identity  ·  A authority and authorisation requirements  ·  P policy and data scope  ·  E evidence</a:t>
            </a:r>
            <a:endParaRPr lang="en-AU" sz="1250" dirty="0"/>
          </a:p>
        </p:txBody>
      </p:sp>
      <p:sp>
        <p:nvSpPr>
          <p:cNvPr id="11" name="Shape 8"/>
          <p:cNvSpPr/>
          <p:nvPr/>
        </p:nvSpPr>
        <p:spPr>
          <a:xfrm>
            <a:off x="548640" y="2514600"/>
            <a:ext cx="11094415" cy="731520"/>
          </a:xfrm>
          <a:prstGeom prst="roundRect">
            <a:avLst>
              <a:gd name="adj" fmla="val 10000"/>
            </a:avLst>
          </a:prstGeom>
          <a:solidFill>
            <a:srgbClr val="EEF4F5"/>
          </a:solidFill>
          <a:ln w="12700">
            <a:solidFill>
              <a:srgbClr val="EEF4F5"/>
            </a:solidFill>
            <a:prstDash val="solid"/>
          </a:ln>
        </p:spPr>
      </p:sp>
      <p:sp>
        <p:nvSpPr>
          <p:cNvPr id="12" name="Text 9"/>
          <p:cNvSpPr txBox="1"/>
          <p:nvPr/>
        </p:nvSpPr>
        <p:spPr>
          <a:xfrm>
            <a:off x="777240" y="2514600"/>
            <a:ext cx="2377440" cy="731520"/>
          </a:xfrm>
          <a:prstGeom prst="rect">
            <a:avLst/>
          </a:prstGeom>
          <a:noFill/>
          <a:ln/>
        </p:spPr>
        <p:txBody>
          <a:bodyPr wrap="square" lIns="0" tIns="0" rIns="0" bIns="0" rtlCol="0" anchor="ctr"/>
          <a:lstStyle/>
          <a:p>
            <a:pPr indent="0" marL="0">
              <a:buNone/>
            </a:pPr>
            <a:r>
              <a:rPr lang="en-AU" sz="1400" b="1" dirty="0">
                <a:solidFill>
                  <a:srgbClr val="5E6E73"/>
                </a:solidFill>
                <a:latin typeface="Calibri" pitchFamily="34" charset="0"/>
                <a:ea typeface="Calibri" pitchFamily="34" charset="-122"/>
                <a:cs typeface="Calibri" pitchFamily="34" charset="-120"/>
              </a:rPr>
              <a:t>Current-stage decision (Eq. 6)</a:t>
            </a:r>
            <a:endParaRPr lang="en-AU" sz="1400" dirty="0"/>
          </a:p>
        </p:txBody>
      </p:sp>
      <p:sp>
        <p:nvSpPr>
          <p:cNvPr id="13" name="Text 10"/>
          <p:cNvSpPr txBox="1"/>
          <p:nvPr/>
        </p:nvSpPr>
        <p:spPr>
          <a:xfrm>
            <a:off x="3200400" y="2514600"/>
            <a:ext cx="8259775" cy="731520"/>
          </a:xfrm>
          <a:prstGeom prst="rect">
            <a:avLst/>
          </a:prstGeom>
          <a:noFill/>
          <a:ln/>
        </p:spPr>
        <p:txBody>
          <a:bodyPr wrap="square" lIns="0" tIns="0" rIns="0" bIns="0" rtlCol="0" anchor="ctr"/>
          <a:lstStyle/>
          <a:p>
            <a:pPr indent="0" marL="0">
              <a:lnSpc>
                <a:spcPts val="2400"/>
              </a:lnSpc>
              <a:buNone/>
            </a:pPr>
            <a:r>
              <a:rPr lang="en-AU" sz="2000" dirty="0">
                <a:solidFill>
                  <a:srgbClr val="0E3B43"/>
                </a:solidFill>
                <a:latin typeface="Cambria" pitchFamily="34" charset="0"/>
                <a:ea typeface="Cambria" pitchFamily="34" charset="-122"/>
                <a:cs typeface="Cambria" pitchFamily="34" charset="-120"/>
              </a:rPr>
              <a:t>Decision(C, R) = ALLOW  ⇔  </a:t>
            </a:r>
            <a:r>
              <a:rPr lang="en-AU" sz="2000" dirty="0">
                <a:solidFill>
                  <a:srgbClr val="0E3B43"/>
                </a:solidFill>
                <a:latin typeface="Cambria" pitchFamily="34" charset="0"/>
                <a:ea typeface="Cambria" pitchFamily="34" charset="-122"/>
                <a:cs typeface="Cambria" pitchFamily="34" charset="-120"/>
              </a:rPr>
              <a:t>V</a:t>
            </a:r>
            <a:r>
              <a:rPr lang="en-AU" sz="2360" baseline="-25000" dirty="0">
                <a:solidFill>
                  <a:srgbClr val="0E3B43"/>
                </a:solidFill>
                <a:latin typeface="Cambria" pitchFamily="34" charset="0"/>
                <a:ea typeface="Cambria" pitchFamily="34" charset="-122"/>
                <a:cs typeface="Cambria" pitchFamily="34" charset="-120"/>
              </a:rPr>
              <a:t>I</a:t>
            </a:r>
            <a:r>
              <a:rPr lang="en-AU" sz="2000" dirty="0">
                <a:solidFill>
                  <a:srgbClr val="0E3B43"/>
                </a:solidFill>
                <a:latin typeface="Cambria" pitchFamily="34" charset="0"/>
                <a:ea typeface="Cambria" pitchFamily="34" charset="-122"/>
                <a:cs typeface="Cambria" pitchFamily="34" charset="-120"/>
              </a:rPr>
              <a:t>(u) ∧ </a:t>
            </a:r>
            <a:r>
              <a:rPr lang="en-AU" sz="2000" dirty="0">
                <a:solidFill>
                  <a:srgbClr val="0E3B43"/>
                </a:solidFill>
                <a:latin typeface="Cambria" pitchFamily="34" charset="0"/>
                <a:ea typeface="Cambria" pitchFamily="34" charset="-122"/>
                <a:cs typeface="Cambria" pitchFamily="34" charset="-120"/>
              </a:rPr>
              <a:t>V</a:t>
            </a:r>
            <a:r>
              <a:rPr lang="en-AU" sz="2360" baseline="-25000" dirty="0">
                <a:solidFill>
                  <a:srgbClr val="0E3B43"/>
                </a:solidFill>
                <a:latin typeface="Cambria" pitchFamily="34" charset="0"/>
                <a:ea typeface="Cambria" pitchFamily="34" charset="-122"/>
                <a:cs typeface="Cambria" pitchFamily="34" charset="-120"/>
              </a:rPr>
              <a:t>A</a:t>
            </a:r>
            <a:r>
              <a:rPr lang="en-AU" sz="2000" dirty="0">
                <a:solidFill>
                  <a:srgbClr val="0E3B43"/>
                </a:solidFill>
                <a:latin typeface="Cambria" pitchFamily="34" charset="0"/>
                <a:ea typeface="Cambria" pitchFamily="34" charset="-122"/>
                <a:cs typeface="Cambria" pitchFamily="34" charset="-120"/>
              </a:rPr>
              <a:t>(C) ∧ </a:t>
            </a:r>
            <a:r>
              <a:rPr lang="en-AU" sz="2000" dirty="0">
                <a:solidFill>
                  <a:srgbClr val="0E3B43"/>
                </a:solidFill>
                <a:latin typeface="Cambria" pitchFamily="34" charset="0"/>
                <a:ea typeface="Cambria" pitchFamily="34" charset="-122"/>
                <a:cs typeface="Cambria" pitchFamily="34" charset="-120"/>
              </a:rPr>
              <a:t>V</a:t>
            </a:r>
            <a:r>
              <a:rPr lang="en-AU" sz="2360" baseline="-25000" dirty="0">
                <a:solidFill>
                  <a:srgbClr val="0E3B43"/>
                </a:solidFill>
                <a:latin typeface="Cambria" pitchFamily="34" charset="0"/>
                <a:ea typeface="Cambria" pitchFamily="34" charset="-122"/>
                <a:cs typeface="Cambria" pitchFamily="34" charset="-120"/>
              </a:rPr>
              <a:t>P</a:t>
            </a:r>
            <a:r>
              <a:rPr lang="en-AU" sz="2000" dirty="0">
                <a:solidFill>
                  <a:srgbClr val="0E3B43"/>
                </a:solidFill>
                <a:latin typeface="Cambria" pitchFamily="34" charset="0"/>
                <a:ea typeface="Cambria" pitchFamily="34" charset="-122"/>
                <a:cs typeface="Cambria" pitchFamily="34" charset="-120"/>
              </a:rPr>
              <a:t>(C, R)</a:t>
            </a:r>
            <a:endParaRPr lang="en-AU" sz="2000" dirty="0"/>
          </a:p>
        </p:txBody>
      </p:sp>
      <p:sp>
        <p:nvSpPr>
          <p:cNvPr id="14" name="Shape 11"/>
          <p:cNvSpPr/>
          <p:nvPr/>
        </p:nvSpPr>
        <p:spPr>
          <a:xfrm>
            <a:off x="548640" y="3383280"/>
            <a:ext cx="11094415" cy="731520"/>
          </a:xfrm>
          <a:prstGeom prst="roundRect">
            <a:avLst>
              <a:gd name="adj" fmla="val 10000"/>
            </a:avLst>
          </a:prstGeom>
          <a:solidFill>
            <a:srgbClr val="FBF1D3"/>
          </a:solidFill>
          <a:ln w="12700">
            <a:solidFill>
              <a:srgbClr val="FBF1D3"/>
            </a:solidFill>
            <a:prstDash val="solid"/>
          </a:ln>
        </p:spPr>
      </p:sp>
      <p:sp>
        <p:nvSpPr>
          <p:cNvPr id="15" name="Text 12"/>
          <p:cNvSpPr txBox="1"/>
          <p:nvPr/>
        </p:nvSpPr>
        <p:spPr>
          <a:xfrm>
            <a:off x="777240" y="3383280"/>
            <a:ext cx="2377440" cy="731520"/>
          </a:xfrm>
          <a:prstGeom prst="rect">
            <a:avLst/>
          </a:prstGeom>
          <a:noFill/>
          <a:ln/>
        </p:spPr>
        <p:txBody>
          <a:bodyPr wrap="square" lIns="0" tIns="0" rIns="0" bIns="0" rtlCol="0" anchor="ctr"/>
          <a:lstStyle/>
          <a:p>
            <a:pPr indent="0" marL="0">
              <a:buNone/>
            </a:pPr>
            <a:r>
              <a:rPr lang="en-AU" sz="1400" b="1" dirty="0">
                <a:solidFill>
                  <a:srgbClr val="5E6E73"/>
                </a:solidFill>
                <a:latin typeface="Calibri" pitchFamily="34" charset="0"/>
                <a:ea typeface="Calibri" pitchFamily="34" charset="-122"/>
                <a:cs typeface="Calibri" pitchFamily="34" charset="-120"/>
              </a:rPr>
              <a:t>Next-stage decision (Eq. 24)</a:t>
            </a:r>
            <a:endParaRPr lang="en-AU" sz="1400" dirty="0"/>
          </a:p>
        </p:txBody>
      </p:sp>
      <p:sp>
        <p:nvSpPr>
          <p:cNvPr id="16" name="Text 13"/>
          <p:cNvSpPr txBox="1"/>
          <p:nvPr/>
        </p:nvSpPr>
        <p:spPr>
          <a:xfrm>
            <a:off x="3200400" y="3383280"/>
            <a:ext cx="8259775" cy="731520"/>
          </a:xfrm>
          <a:prstGeom prst="rect">
            <a:avLst/>
          </a:prstGeom>
          <a:noFill/>
          <a:ln/>
        </p:spPr>
        <p:txBody>
          <a:bodyPr wrap="square" lIns="0" tIns="0" rIns="0" bIns="0" rtlCol="0" anchor="ctr"/>
          <a:lstStyle/>
          <a:p>
            <a:pPr indent="0" marL="0">
              <a:lnSpc>
                <a:spcPts val="2400"/>
              </a:lnSpc>
              <a:buNone/>
            </a:pPr>
            <a:r>
              <a:rPr lang="en-AU" sz="2000" dirty="0">
                <a:solidFill>
                  <a:srgbClr val="1C2B31"/>
                </a:solidFill>
                <a:latin typeface="Cambria" pitchFamily="34" charset="0"/>
                <a:ea typeface="Cambria" pitchFamily="34" charset="-122"/>
                <a:cs typeface="Cambria" pitchFamily="34" charset="-120"/>
              </a:rPr>
              <a:t>Decision(C, R, t) = ALLOW  ⇔  </a:t>
            </a:r>
            <a:r>
              <a:rPr lang="en-AU" sz="2000" dirty="0">
                <a:solidFill>
                  <a:srgbClr val="1C2B31"/>
                </a:solidFill>
                <a:latin typeface="Cambria" pitchFamily="34" charset="0"/>
                <a:ea typeface="Cambria" pitchFamily="34" charset="-122"/>
                <a:cs typeface="Cambria" pitchFamily="34" charset="-120"/>
              </a:rPr>
              <a:t>V</a:t>
            </a:r>
            <a:r>
              <a:rPr lang="en-AU" sz="2360" baseline="-25000" dirty="0">
                <a:solidFill>
                  <a:srgbClr val="1C2B31"/>
                </a:solidFill>
                <a:latin typeface="Cambria" pitchFamily="34" charset="0"/>
                <a:ea typeface="Cambria" pitchFamily="34" charset="-122"/>
                <a:cs typeface="Cambria" pitchFamily="34" charset="-120"/>
              </a:rPr>
              <a:t>I</a:t>
            </a:r>
            <a:r>
              <a:rPr lang="en-AU" sz="2000" dirty="0">
                <a:solidFill>
                  <a:srgbClr val="1C2B31"/>
                </a:solidFill>
                <a:latin typeface="Cambria" pitchFamily="34" charset="0"/>
                <a:ea typeface="Cambria" pitchFamily="34" charset="-122"/>
                <a:cs typeface="Cambria" pitchFamily="34" charset="-120"/>
              </a:rPr>
              <a:t>(u) ∧ </a:t>
            </a:r>
            <a:r>
              <a:rPr lang="en-AU" sz="2000" dirty="0">
                <a:solidFill>
                  <a:srgbClr val="1C2B31"/>
                </a:solidFill>
                <a:latin typeface="Cambria" pitchFamily="34" charset="0"/>
                <a:ea typeface="Cambria" pitchFamily="34" charset="-122"/>
                <a:cs typeface="Cambria" pitchFamily="34" charset="-120"/>
              </a:rPr>
              <a:t>V</a:t>
            </a:r>
            <a:r>
              <a:rPr lang="en-AU" sz="2360" baseline="-25000" dirty="0">
                <a:solidFill>
                  <a:srgbClr val="1C2B31"/>
                </a:solidFill>
                <a:latin typeface="Cambria" pitchFamily="34" charset="0"/>
                <a:ea typeface="Cambria" pitchFamily="34" charset="-122"/>
                <a:cs typeface="Cambria" pitchFamily="34" charset="-120"/>
              </a:rPr>
              <a:t>A</a:t>
            </a:r>
            <a:r>
              <a:rPr lang="en-AU" sz="2000" dirty="0">
                <a:solidFill>
                  <a:srgbClr val="1C2B31"/>
                </a:solidFill>
                <a:latin typeface="Cambria" pitchFamily="34" charset="0"/>
                <a:ea typeface="Cambria" pitchFamily="34" charset="-122"/>
                <a:cs typeface="Cambria" pitchFamily="34" charset="-120"/>
              </a:rPr>
              <a:t>(C) ∧ </a:t>
            </a:r>
            <a:r>
              <a:rPr lang="en-AU" sz="2000" dirty="0">
                <a:solidFill>
                  <a:srgbClr val="1C2B31"/>
                </a:solidFill>
                <a:latin typeface="Cambria" pitchFamily="34" charset="0"/>
                <a:ea typeface="Cambria" pitchFamily="34" charset="-122"/>
                <a:cs typeface="Cambria" pitchFamily="34" charset="-120"/>
              </a:rPr>
              <a:t>V</a:t>
            </a:r>
            <a:r>
              <a:rPr lang="en-AU" sz="2360" baseline="-25000" dirty="0">
                <a:solidFill>
                  <a:srgbClr val="1C2B31"/>
                </a:solidFill>
                <a:latin typeface="Cambria" pitchFamily="34" charset="0"/>
                <a:ea typeface="Cambria" pitchFamily="34" charset="-122"/>
                <a:cs typeface="Cambria" pitchFamily="34" charset="-120"/>
              </a:rPr>
              <a:t>P</a:t>
            </a:r>
            <a:r>
              <a:rPr lang="en-AU" sz="2000" dirty="0">
                <a:solidFill>
                  <a:srgbClr val="1C2B31"/>
                </a:solidFill>
                <a:latin typeface="Cambria" pitchFamily="34" charset="0"/>
                <a:ea typeface="Cambria" pitchFamily="34" charset="-122"/>
                <a:cs typeface="Cambria" pitchFamily="34" charset="-120"/>
              </a:rPr>
              <a:t>(C, R) ∧ </a:t>
            </a:r>
            <a:r>
              <a:rPr lang="en-AU" sz="2000" dirty="0">
                <a:solidFill>
                  <a:srgbClr val="1C2B31"/>
                </a:solidFill>
                <a:latin typeface="Cambria" pitchFamily="34" charset="0"/>
                <a:ea typeface="Cambria" pitchFamily="34" charset="-122"/>
                <a:cs typeface="Cambria" pitchFamily="34" charset="-120"/>
              </a:rPr>
              <a:t>V</a:t>
            </a:r>
            <a:r>
              <a:rPr lang="en-AU" sz="2360" baseline="-25000" dirty="0">
                <a:solidFill>
                  <a:srgbClr val="1C2B31"/>
                </a:solidFill>
                <a:latin typeface="Cambria" pitchFamily="34" charset="0"/>
                <a:ea typeface="Cambria" pitchFamily="34" charset="-122"/>
                <a:cs typeface="Cambria" pitchFamily="34" charset="-120"/>
              </a:rPr>
              <a:t>T</a:t>
            </a:r>
            <a:r>
              <a:rPr lang="en-AU" sz="2000" dirty="0">
                <a:solidFill>
                  <a:srgbClr val="1C2B31"/>
                </a:solidFill>
                <a:latin typeface="Cambria" pitchFamily="34" charset="0"/>
                <a:ea typeface="Cambria" pitchFamily="34" charset="-122"/>
                <a:cs typeface="Cambria" pitchFamily="34" charset="-120"/>
              </a:rPr>
              <a:t>(C, t) ∧ </a:t>
            </a:r>
            <a:r>
              <a:rPr lang="en-AU" sz="2000" dirty="0">
                <a:solidFill>
                  <a:srgbClr val="1C2B31"/>
                </a:solidFill>
                <a:latin typeface="Cambria" pitchFamily="34" charset="0"/>
                <a:ea typeface="Cambria" pitchFamily="34" charset="-122"/>
                <a:cs typeface="Cambria" pitchFamily="34" charset="-120"/>
              </a:rPr>
              <a:t>V</a:t>
            </a:r>
            <a:r>
              <a:rPr lang="en-AU" sz="2360" baseline="-25000" dirty="0">
                <a:solidFill>
                  <a:srgbClr val="1C2B31"/>
                </a:solidFill>
                <a:latin typeface="Cambria" pitchFamily="34" charset="0"/>
                <a:ea typeface="Cambria" pitchFamily="34" charset="-122"/>
                <a:cs typeface="Cambria" pitchFamily="34" charset="-120"/>
              </a:rPr>
              <a:t>L</a:t>
            </a:r>
            <a:r>
              <a:rPr lang="en-AU" sz="2000" dirty="0">
                <a:solidFill>
                  <a:srgbClr val="1C2B31"/>
                </a:solidFill>
                <a:latin typeface="Cambria" pitchFamily="34" charset="0"/>
                <a:ea typeface="Cambria" pitchFamily="34" charset="-122"/>
                <a:cs typeface="Cambria" pitchFamily="34" charset="-120"/>
              </a:rPr>
              <a:t>(C)</a:t>
            </a:r>
            <a:endParaRPr lang="en-AU" sz="2000" dirty="0"/>
          </a:p>
        </p:txBody>
      </p:sp>
      <p:sp>
        <p:nvSpPr>
          <p:cNvPr id="17" name="Shape 14"/>
          <p:cNvSpPr/>
          <p:nvPr/>
        </p:nvSpPr>
        <p:spPr>
          <a:xfrm>
            <a:off x="594360" y="4343400"/>
            <a:ext cx="685800" cy="685800"/>
          </a:xfrm>
          <a:prstGeom prst="ellipse">
            <a:avLst/>
          </a:prstGeom>
          <a:solidFill>
            <a:srgbClr val="13707B"/>
          </a:solidFill>
          <a:ln w="25400">
            <a:solidFill>
              <a:srgbClr val="13707B"/>
            </a:solidFill>
            <a:prstDash val="solid"/>
          </a:ln>
        </p:spPr>
      </p:sp>
      <p:sp>
        <p:nvSpPr>
          <p:cNvPr id="18" name="Text 15"/>
          <p:cNvSpPr txBox="1"/>
          <p:nvPr/>
        </p:nvSpPr>
        <p:spPr>
          <a:xfrm>
            <a:off x="594360" y="4343400"/>
            <a:ext cx="685800" cy="685800"/>
          </a:xfrm>
          <a:prstGeom prst="rect">
            <a:avLst/>
          </a:prstGeom>
          <a:noFill/>
          <a:ln/>
        </p:spPr>
        <p:txBody>
          <a:bodyPr wrap="square" lIns="0" tIns="0" rIns="0" bIns="0" rtlCol="0" anchor="ctr"/>
          <a:lstStyle/>
          <a:p>
            <a:pPr algn="ctr" indent="0" marL="0">
              <a:lnSpc>
                <a:spcPts val="2100"/>
              </a:lnSpc>
              <a:buNone/>
            </a:pPr>
            <a:r>
              <a:rPr lang="en-AU" sz="1700" b="1" dirty="0">
                <a:solidFill>
                  <a:srgbClr val="FFFFFF"/>
                </a:solidFill>
                <a:latin typeface="Cambria" pitchFamily="34" charset="0"/>
                <a:ea typeface="Cambria" pitchFamily="34" charset="-122"/>
                <a:cs typeface="Cambria" pitchFamily="34" charset="-120"/>
              </a:rPr>
              <a:t>V</a:t>
            </a:r>
            <a:r>
              <a:rPr lang="en-AU" sz="2010" b="1" baseline="-25000" dirty="0">
                <a:solidFill>
                  <a:srgbClr val="FFFFFF"/>
                </a:solidFill>
                <a:latin typeface="Cambria" pitchFamily="34" charset="0"/>
                <a:ea typeface="Cambria" pitchFamily="34" charset="-122"/>
                <a:cs typeface="Cambria" pitchFamily="34" charset="-120"/>
              </a:rPr>
              <a:t>I</a:t>
            </a:r>
            <a:endParaRPr lang="en-AU" sz="1700" dirty="0"/>
          </a:p>
        </p:txBody>
      </p:sp>
      <p:sp>
        <p:nvSpPr>
          <p:cNvPr id="19" name="Text 16"/>
          <p:cNvSpPr txBox="1"/>
          <p:nvPr/>
        </p:nvSpPr>
        <p:spPr>
          <a:xfrm>
            <a:off x="1371600" y="4361688"/>
            <a:ext cx="1249619" cy="658368"/>
          </a:xfrm>
          <a:prstGeom prst="rect">
            <a:avLst/>
          </a:prstGeom>
          <a:noFill/>
          <a:ln/>
        </p:spPr>
        <p:txBody>
          <a:bodyPr wrap="square" lIns="0" tIns="0" rIns="0" bIns="0" rtlCol="0" anchor="ctr"/>
          <a:lstStyle/>
          <a:p>
            <a:pPr indent="0" marL="0">
              <a:buNone/>
            </a:pPr>
            <a:r>
              <a:rPr lang="en-AU" sz="1350" b="1" dirty="0">
                <a:solidFill>
                  <a:srgbClr val="0E3B43"/>
                </a:solidFill>
                <a:latin typeface="Calibri" pitchFamily="34" charset="0"/>
                <a:ea typeface="Calibri" pitchFamily="34" charset="-122"/>
                <a:cs typeface="Calibri" pitchFamily="34" charset="-120"/>
              </a:rPr>
              <a:t>Identity and authority</a:t>
            </a:r>
            <a:endParaRPr lang="en-AU" sz="1350" dirty="0"/>
          </a:p>
        </p:txBody>
      </p:sp>
      <p:sp>
        <p:nvSpPr>
          <p:cNvPr id="20" name="Text 17"/>
          <p:cNvSpPr txBox="1"/>
          <p:nvPr/>
        </p:nvSpPr>
        <p:spPr>
          <a:xfrm>
            <a:off x="548640" y="5120640"/>
            <a:ext cx="2072579" cy="777240"/>
          </a:xfrm>
          <a:prstGeom prst="rect">
            <a:avLst/>
          </a:prstGeom>
          <a:noFill/>
          <a:ln/>
        </p:spPr>
        <p:txBody>
          <a:bodyPr wrap="square" lIns="0" tIns="0" rIns="0" bIns="0" rtlCol="0" anchor="t"/>
          <a:lstStyle/>
          <a:p>
            <a:pPr indent="0" marL="0">
              <a:lnSpc>
                <a:spcPts val="1600"/>
              </a:lnSpc>
              <a:buNone/>
            </a:pPr>
            <a:r>
              <a:rPr lang="en-AU" sz="1300" dirty="0">
                <a:solidFill>
                  <a:srgbClr val="1C2B31"/>
                </a:solidFill>
                <a:latin typeface="Calibri" pitchFamily="34" charset="0"/>
                <a:ea typeface="Calibri" pitchFamily="34" charset="-122"/>
                <a:cs typeface="Calibri" pitchFamily="34" charset="-120"/>
              </a:rPr>
              <a:t>VerifyDID(u) ∧ VerifyVC(u): DID shows who u is, VC shows role or authority (Eq. 8)</a:t>
            </a:r>
            <a:endParaRPr lang="en-AU" sz="1300" dirty="0"/>
          </a:p>
        </p:txBody>
      </p:sp>
      <p:sp>
        <p:nvSpPr>
          <p:cNvPr id="21" name="Shape 18"/>
          <p:cNvSpPr/>
          <p:nvPr/>
        </p:nvSpPr>
        <p:spPr>
          <a:xfrm>
            <a:off x="2849819" y="4343400"/>
            <a:ext cx="685800" cy="685800"/>
          </a:xfrm>
          <a:prstGeom prst="ellipse">
            <a:avLst/>
          </a:prstGeom>
          <a:solidFill>
            <a:srgbClr val="13707B"/>
          </a:solidFill>
          <a:ln w="25400">
            <a:solidFill>
              <a:srgbClr val="13707B"/>
            </a:solidFill>
            <a:prstDash val="solid"/>
          </a:ln>
        </p:spPr>
      </p:sp>
      <p:sp>
        <p:nvSpPr>
          <p:cNvPr id="22" name="Text 19"/>
          <p:cNvSpPr txBox="1"/>
          <p:nvPr/>
        </p:nvSpPr>
        <p:spPr>
          <a:xfrm>
            <a:off x="2849819" y="4343400"/>
            <a:ext cx="685800" cy="685800"/>
          </a:xfrm>
          <a:prstGeom prst="rect">
            <a:avLst/>
          </a:prstGeom>
          <a:noFill/>
          <a:ln/>
        </p:spPr>
        <p:txBody>
          <a:bodyPr wrap="square" lIns="0" tIns="0" rIns="0" bIns="0" rtlCol="0" anchor="ctr"/>
          <a:lstStyle/>
          <a:p>
            <a:pPr algn="ctr" indent="0" marL="0">
              <a:lnSpc>
                <a:spcPts val="2100"/>
              </a:lnSpc>
              <a:buNone/>
            </a:pPr>
            <a:r>
              <a:rPr lang="en-AU" sz="1700" b="1" dirty="0">
                <a:solidFill>
                  <a:srgbClr val="FFFFFF"/>
                </a:solidFill>
                <a:latin typeface="Cambria" pitchFamily="34" charset="0"/>
                <a:ea typeface="Cambria" pitchFamily="34" charset="-122"/>
                <a:cs typeface="Cambria" pitchFamily="34" charset="-120"/>
              </a:rPr>
              <a:t>V</a:t>
            </a:r>
            <a:r>
              <a:rPr lang="en-AU" sz="2010" b="1" baseline="-25000" dirty="0">
                <a:solidFill>
                  <a:srgbClr val="FFFFFF"/>
                </a:solidFill>
                <a:latin typeface="Cambria" pitchFamily="34" charset="0"/>
                <a:ea typeface="Cambria" pitchFamily="34" charset="-122"/>
                <a:cs typeface="Cambria" pitchFamily="34" charset="-120"/>
              </a:rPr>
              <a:t>A</a:t>
            </a:r>
            <a:endParaRPr lang="en-AU" sz="1700" dirty="0"/>
          </a:p>
        </p:txBody>
      </p:sp>
      <p:sp>
        <p:nvSpPr>
          <p:cNvPr id="23" name="Text 20"/>
          <p:cNvSpPr txBox="1"/>
          <p:nvPr/>
        </p:nvSpPr>
        <p:spPr>
          <a:xfrm>
            <a:off x="3627059" y="4361688"/>
            <a:ext cx="1249619" cy="658368"/>
          </a:xfrm>
          <a:prstGeom prst="rect">
            <a:avLst/>
          </a:prstGeom>
          <a:noFill/>
          <a:ln/>
        </p:spPr>
        <p:txBody>
          <a:bodyPr wrap="square" lIns="0" tIns="0" rIns="0" bIns="0" rtlCol="0" anchor="ctr"/>
          <a:lstStyle/>
          <a:p>
            <a:pPr indent="0" marL="0">
              <a:buNone/>
            </a:pPr>
            <a:r>
              <a:rPr lang="en-AU" sz="1350" b="1" dirty="0">
                <a:solidFill>
                  <a:srgbClr val="0E3B43"/>
                </a:solidFill>
                <a:latin typeface="Calibri" pitchFamily="34" charset="0"/>
                <a:ea typeface="Calibri" pitchFamily="34" charset="-122"/>
                <a:cs typeface="Calibri" pitchFamily="34" charset="-120"/>
              </a:rPr>
              <a:t>Multi-party authorisation</a:t>
            </a:r>
            <a:endParaRPr lang="en-AU" sz="1350" dirty="0"/>
          </a:p>
        </p:txBody>
      </p:sp>
      <p:sp>
        <p:nvSpPr>
          <p:cNvPr id="24" name="Text 21"/>
          <p:cNvSpPr txBox="1"/>
          <p:nvPr/>
        </p:nvSpPr>
        <p:spPr>
          <a:xfrm>
            <a:off x="2804099" y="5120640"/>
            <a:ext cx="2072579" cy="777240"/>
          </a:xfrm>
          <a:prstGeom prst="rect">
            <a:avLst/>
          </a:prstGeom>
          <a:noFill/>
          <a:ln/>
        </p:spPr>
        <p:txBody>
          <a:bodyPr wrap="square" lIns="0" tIns="0" rIns="0" bIns="0" rtlCol="0" anchor="t"/>
          <a:lstStyle/>
          <a:p>
            <a:pPr indent="0" marL="0">
              <a:lnSpc>
                <a:spcPts val="1600"/>
              </a:lnSpc>
              <a:buNone/>
            </a:pPr>
            <a:r>
              <a:rPr lang="en-AU" sz="1300" dirty="0">
                <a:solidFill>
                  <a:srgbClr val="1C2B31"/>
                </a:solidFill>
                <a:latin typeface="Calibri" pitchFamily="34" charset="0"/>
                <a:ea typeface="Calibri" pitchFamily="34" charset="-122"/>
                <a:cs typeface="Calibri" pitchFamily="34" charset="-120"/>
              </a:rPr>
              <a:t>Holds only if |</a:t>
            </a:r>
            <a:r>
              <a:rPr lang="en-AU" sz="1300" dirty="0">
                <a:solidFill>
                  <a:srgbClr val="1C2B31"/>
                </a:solidFill>
                <a:latin typeface="Calibri" pitchFamily="34" charset="0"/>
                <a:ea typeface="Calibri" pitchFamily="34" charset="-122"/>
                <a:cs typeface="Calibri" pitchFamily="34" charset="-120"/>
              </a:rPr>
              <a:t>A</a:t>
            </a:r>
            <a:r>
              <a:rPr lang="en-AU" sz="1530" baseline="-25000" dirty="0">
                <a:solidFill>
                  <a:srgbClr val="1C2B31"/>
                </a:solidFill>
                <a:latin typeface="Calibri" pitchFamily="34" charset="0"/>
                <a:ea typeface="Calibri" pitchFamily="34" charset="-122"/>
                <a:cs typeface="Calibri" pitchFamily="34" charset="-120"/>
              </a:rPr>
              <a:t>v</a:t>
            </a:r>
            <a:r>
              <a:rPr lang="en-AU" sz="1300" dirty="0">
                <a:solidFill>
                  <a:srgbClr val="1C2B31"/>
                </a:solidFill>
                <a:latin typeface="Calibri" pitchFamily="34" charset="0"/>
                <a:ea typeface="Calibri" pitchFamily="34" charset="-122"/>
                <a:cs typeface="Calibri" pitchFamily="34" charset="-120"/>
              </a:rPr>
              <a:t>| ≥ N verified approvals; |</a:t>
            </a:r>
            <a:r>
              <a:rPr lang="en-AU" sz="1300" dirty="0">
                <a:solidFill>
                  <a:srgbClr val="1C2B31"/>
                </a:solidFill>
                <a:latin typeface="Calibri" pitchFamily="34" charset="0"/>
                <a:ea typeface="Calibri" pitchFamily="34" charset="-122"/>
                <a:cs typeface="Calibri" pitchFamily="34" charset="-120"/>
              </a:rPr>
              <a:t>A</a:t>
            </a:r>
            <a:r>
              <a:rPr lang="en-AU" sz="1530" baseline="-25000" dirty="0">
                <a:solidFill>
                  <a:srgbClr val="1C2B31"/>
                </a:solidFill>
                <a:latin typeface="Calibri" pitchFamily="34" charset="0"/>
                <a:ea typeface="Calibri" pitchFamily="34" charset="-122"/>
                <a:cs typeface="Calibri" pitchFamily="34" charset="-120"/>
              </a:rPr>
              <a:t>v</a:t>
            </a:r>
            <a:r>
              <a:rPr lang="en-AU" sz="1300" dirty="0">
                <a:solidFill>
                  <a:srgbClr val="1C2B31"/>
                </a:solidFill>
                <a:latin typeface="Calibri" pitchFamily="34" charset="0"/>
                <a:ea typeface="Calibri" pitchFamily="34" charset="-122"/>
                <a:cs typeface="Calibri" pitchFamily="34" charset="-120"/>
              </a:rPr>
              <a:t>| &lt; N ⇒ DENY (Eqs. 9–10)</a:t>
            </a:r>
            <a:endParaRPr lang="en-AU" sz="1300" dirty="0"/>
          </a:p>
        </p:txBody>
      </p:sp>
      <p:sp>
        <p:nvSpPr>
          <p:cNvPr id="25" name="Shape 22"/>
          <p:cNvSpPr/>
          <p:nvPr/>
        </p:nvSpPr>
        <p:spPr>
          <a:xfrm>
            <a:off x="5105278" y="4343400"/>
            <a:ext cx="685800" cy="685800"/>
          </a:xfrm>
          <a:prstGeom prst="ellipse">
            <a:avLst/>
          </a:prstGeom>
          <a:solidFill>
            <a:srgbClr val="13707B"/>
          </a:solidFill>
          <a:ln w="25400">
            <a:solidFill>
              <a:srgbClr val="13707B"/>
            </a:solidFill>
            <a:prstDash val="solid"/>
          </a:ln>
        </p:spPr>
      </p:sp>
      <p:sp>
        <p:nvSpPr>
          <p:cNvPr id="26" name="Text 23"/>
          <p:cNvSpPr txBox="1"/>
          <p:nvPr/>
        </p:nvSpPr>
        <p:spPr>
          <a:xfrm>
            <a:off x="5105278" y="4343400"/>
            <a:ext cx="685800" cy="685800"/>
          </a:xfrm>
          <a:prstGeom prst="rect">
            <a:avLst/>
          </a:prstGeom>
          <a:noFill/>
          <a:ln/>
        </p:spPr>
        <p:txBody>
          <a:bodyPr wrap="square" lIns="0" tIns="0" rIns="0" bIns="0" rtlCol="0" anchor="ctr"/>
          <a:lstStyle/>
          <a:p>
            <a:pPr algn="ctr" indent="0" marL="0">
              <a:lnSpc>
                <a:spcPts val="2100"/>
              </a:lnSpc>
              <a:buNone/>
            </a:pPr>
            <a:r>
              <a:rPr lang="en-AU" sz="1700" b="1" dirty="0">
                <a:solidFill>
                  <a:srgbClr val="FFFFFF"/>
                </a:solidFill>
                <a:latin typeface="Cambria" pitchFamily="34" charset="0"/>
                <a:ea typeface="Cambria" pitchFamily="34" charset="-122"/>
                <a:cs typeface="Cambria" pitchFamily="34" charset="-120"/>
              </a:rPr>
              <a:t>V</a:t>
            </a:r>
            <a:r>
              <a:rPr lang="en-AU" sz="2010" b="1" baseline="-25000" dirty="0">
                <a:solidFill>
                  <a:srgbClr val="FFFFFF"/>
                </a:solidFill>
                <a:latin typeface="Cambria" pitchFamily="34" charset="0"/>
                <a:ea typeface="Cambria" pitchFamily="34" charset="-122"/>
                <a:cs typeface="Cambria" pitchFamily="34" charset="-120"/>
              </a:rPr>
              <a:t>P</a:t>
            </a:r>
            <a:endParaRPr lang="en-AU" sz="1700" dirty="0"/>
          </a:p>
        </p:txBody>
      </p:sp>
      <p:sp>
        <p:nvSpPr>
          <p:cNvPr id="27" name="Text 24"/>
          <p:cNvSpPr txBox="1"/>
          <p:nvPr/>
        </p:nvSpPr>
        <p:spPr>
          <a:xfrm>
            <a:off x="5882518" y="4361688"/>
            <a:ext cx="1249619" cy="658368"/>
          </a:xfrm>
          <a:prstGeom prst="rect">
            <a:avLst/>
          </a:prstGeom>
          <a:noFill/>
          <a:ln/>
        </p:spPr>
        <p:txBody>
          <a:bodyPr wrap="square" lIns="0" tIns="0" rIns="0" bIns="0" rtlCol="0" anchor="ctr"/>
          <a:lstStyle/>
          <a:p>
            <a:pPr indent="0" marL="0">
              <a:buNone/>
            </a:pPr>
            <a:r>
              <a:rPr lang="en-AU" sz="1350" b="1" dirty="0">
                <a:solidFill>
                  <a:srgbClr val="0E3B43"/>
                </a:solidFill>
                <a:latin typeface="Calibri" pitchFamily="34" charset="0"/>
                <a:ea typeface="Calibri" pitchFamily="34" charset="-122"/>
                <a:cs typeface="Calibri" pitchFamily="34" charset="-120"/>
              </a:rPr>
              <a:t>Policy and scope compliance</a:t>
            </a:r>
            <a:endParaRPr lang="en-AU" sz="1350" dirty="0"/>
          </a:p>
        </p:txBody>
      </p:sp>
      <p:sp>
        <p:nvSpPr>
          <p:cNvPr id="28" name="Text 25"/>
          <p:cNvSpPr txBox="1"/>
          <p:nvPr/>
        </p:nvSpPr>
        <p:spPr>
          <a:xfrm>
            <a:off x="5059558" y="5120640"/>
            <a:ext cx="2072579" cy="777240"/>
          </a:xfrm>
          <a:prstGeom prst="rect">
            <a:avLst/>
          </a:prstGeom>
          <a:noFill/>
          <a:ln/>
        </p:spPr>
        <p:txBody>
          <a:bodyPr wrap="square" lIns="0" tIns="0" rIns="0" bIns="0" rtlCol="0" anchor="t"/>
          <a:lstStyle/>
          <a:p>
            <a:pPr indent="0" marL="0">
              <a:lnSpc>
                <a:spcPts val="1600"/>
              </a:lnSpc>
              <a:buNone/>
            </a:pPr>
            <a:r>
              <a:rPr lang="en-AU" sz="1300" dirty="0">
                <a:solidFill>
                  <a:srgbClr val="1C2B31"/>
                </a:solidFill>
                <a:latin typeface="Calibri" pitchFamily="34" charset="0"/>
                <a:ea typeface="Calibri" pitchFamily="34" charset="-122"/>
                <a:cs typeface="Calibri" pitchFamily="34" charset="-120"/>
              </a:rPr>
              <a:t>R must meet the consent's purpose and scope; </a:t>
            </a:r>
            <a:r>
              <a:rPr lang="en-AU" sz="1300" dirty="0">
                <a:solidFill>
                  <a:srgbClr val="1C2B31"/>
                </a:solidFill>
                <a:latin typeface="Calibri" pitchFamily="34" charset="0"/>
                <a:ea typeface="Calibri" pitchFamily="34" charset="-122"/>
                <a:cs typeface="Calibri" pitchFamily="34" charset="-120"/>
              </a:rPr>
              <a:t>S</a:t>
            </a:r>
            <a:r>
              <a:rPr lang="en-AU" sz="1530" baseline="-25000" dirty="0">
                <a:solidFill>
                  <a:srgbClr val="1C2B31"/>
                </a:solidFill>
                <a:latin typeface="Calibri" pitchFamily="34" charset="0"/>
                <a:ea typeface="Calibri" pitchFamily="34" charset="-122"/>
                <a:cs typeface="Calibri" pitchFamily="34" charset="-120"/>
              </a:rPr>
              <a:t>R</a:t>
            </a:r>
            <a:r>
              <a:rPr lang="en-AU" sz="1300" dirty="0">
                <a:solidFill>
                  <a:srgbClr val="1C2B31"/>
                </a:solidFill>
                <a:latin typeface="Calibri" pitchFamily="34" charset="0"/>
                <a:ea typeface="Calibri" pitchFamily="34" charset="-122"/>
                <a:cs typeface="Calibri" pitchFamily="34" charset="-120"/>
              </a:rPr>
              <a:t> ⊈ </a:t>
            </a:r>
            <a:r>
              <a:rPr lang="en-AU" sz="1300" dirty="0">
                <a:solidFill>
                  <a:srgbClr val="1C2B31"/>
                </a:solidFill>
                <a:latin typeface="Calibri" pitchFamily="34" charset="0"/>
                <a:ea typeface="Calibri" pitchFamily="34" charset="-122"/>
                <a:cs typeface="Calibri" pitchFamily="34" charset="-120"/>
              </a:rPr>
              <a:t>S</a:t>
            </a:r>
            <a:r>
              <a:rPr lang="en-AU" sz="1530" baseline="-25000" dirty="0">
                <a:solidFill>
                  <a:srgbClr val="1C2B31"/>
                </a:solidFill>
                <a:latin typeface="Calibri" pitchFamily="34" charset="0"/>
                <a:ea typeface="Calibri" pitchFamily="34" charset="-122"/>
                <a:cs typeface="Calibri" pitchFamily="34" charset="-120"/>
              </a:rPr>
              <a:t>C</a:t>
            </a:r>
            <a:r>
              <a:rPr lang="en-AU" sz="1300" dirty="0">
                <a:solidFill>
                  <a:srgbClr val="1C2B31"/>
                </a:solidFill>
                <a:latin typeface="Calibri" pitchFamily="34" charset="0"/>
                <a:ea typeface="Calibri" pitchFamily="34" charset="-122"/>
                <a:cs typeface="Calibri" pitchFamily="34" charset="-120"/>
              </a:rPr>
              <a:t> ⇒ reject (Eqs. 11, 5)</a:t>
            </a:r>
            <a:endParaRPr lang="en-AU" sz="1300" dirty="0"/>
          </a:p>
        </p:txBody>
      </p:sp>
      <p:sp>
        <p:nvSpPr>
          <p:cNvPr id="29" name="Shape 26"/>
          <p:cNvSpPr/>
          <p:nvPr/>
        </p:nvSpPr>
        <p:spPr>
          <a:xfrm>
            <a:off x="7360737" y="4343400"/>
            <a:ext cx="685800" cy="685800"/>
          </a:xfrm>
          <a:prstGeom prst="ellipse">
            <a:avLst/>
          </a:prstGeom>
          <a:solidFill>
            <a:srgbClr val="FFFFFF"/>
          </a:solidFill>
          <a:ln w="25400">
            <a:solidFill>
              <a:srgbClr val="D4A12A"/>
            </a:solidFill>
            <a:prstDash val="solid"/>
          </a:ln>
        </p:spPr>
      </p:sp>
      <p:sp>
        <p:nvSpPr>
          <p:cNvPr id="30" name="Text 27"/>
          <p:cNvSpPr txBox="1"/>
          <p:nvPr/>
        </p:nvSpPr>
        <p:spPr>
          <a:xfrm>
            <a:off x="7360737" y="4343400"/>
            <a:ext cx="685800" cy="685800"/>
          </a:xfrm>
          <a:prstGeom prst="rect">
            <a:avLst/>
          </a:prstGeom>
          <a:noFill/>
          <a:ln/>
        </p:spPr>
        <p:txBody>
          <a:bodyPr wrap="square" lIns="0" tIns="0" rIns="0" bIns="0" rtlCol="0" anchor="ctr"/>
          <a:lstStyle/>
          <a:p>
            <a:pPr algn="ctr" indent="0" marL="0">
              <a:lnSpc>
                <a:spcPts val="2100"/>
              </a:lnSpc>
              <a:buNone/>
            </a:pPr>
            <a:r>
              <a:rPr lang="en-AU" sz="1700" b="1" dirty="0">
                <a:solidFill>
                  <a:srgbClr val="9A7414"/>
                </a:solidFill>
                <a:latin typeface="Cambria" pitchFamily="34" charset="0"/>
                <a:ea typeface="Cambria" pitchFamily="34" charset="-122"/>
                <a:cs typeface="Cambria" pitchFamily="34" charset="-120"/>
              </a:rPr>
              <a:t>V</a:t>
            </a:r>
            <a:r>
              <a:rPr lang="en-AU" sz="2010" b="1" baseline="-25000" dirty="0">
                <a:solidFill>
                  <a:srgbClr val="9A7414"/>
                </a:solidFill>
                <a:latin typeface="Cambria" pitchFamily="34" charset="0"/>
                <a:ea typeface="Cambria" pitchFamily="34" charset="-122"/>
                <a:cs typeface="Cambria" pitchFamily="34" charset="-120"/>
              </a:rPr>
              <a:t>T</a:t>
            </a:r>
            <a:endParaRPr lang="en-AU" sz="1700" dirty="0"/>
          </a:p>
        </p:txBody>
      </p:sp>
      <p:sp>
        <p:nvSpPr>
          <p:cNvPr id="31" name="Text 28"/>
          <p:cNvSpPr txBox="1"/>
          <p:nvPr/>
        </p:nvSpPr>
        <p:spPr>
          <a:xfrm>
            <a:off x="8137977" y="4361688"/>
            <a:ext cx="1249619" cy="658368"/>
          </a:xfrm>
          <a:prstGeom prst="rect">
            <a:avLst/>
          </a:prstGeom>
          <a:noFill/>
          <a:ln/>
        </p:spPr>
        <p:txBody>
          <a:bodyPr wrap="square" lIns="0" tIns="0" rIns="0" bIns="0" rtlCol="0" anchor="ctr"/>
          <a:lstStyle/>
          <a:p>
            <a:pPr indent="0" marL="0">
              <a:buNone/>
            </a:pPr>
            <a:r>
              <a:rPr lang="en-AU" sz="1350" b="1" dirty="0">
                <a:solidFill>
                  <a:srgbClr val="0E3B43"/>
                </a:solidFill>
                <a:latin typeface="Calibri" pitchFamily="34" charset="0"/>
                <a:ea typeface="Calibri" pitchFamily="34" charset="-122"/>
                <a:cs typeface="Calibri" pitchFamily="34" charset="-120"/>
              </a:rPr>
              <a:t>Temporal validity</a:t>
            </a:r>
            <a:endParaRPr lang="en-AU" sz="1350" dirty="0"/>
          </a:p>
        </p:txBody>
      </p:sp>
      <p:sp>
        <p:nvSpPr>
          <p:cNvPr id="32" name="Text 29"/>
          <p:cNvSpPr txBox="1"/>
          <p:nvPr/>
        </p:nvSpPr>
        <p:spPr>
          <a:xfrm>
            <a:off x="7315017" y="5120640"/>
            <a:ext cx="2072579" cy="777240"/>
          </a:xfrm>
          <a:prstGeom prst="rect">
            <a:avLst/>
          </a:prstGeom>
          <a:noFill/>
          <a:ln/>
        </p:spPr>
        <p:txBody>
          <a:bodyPr wrap="square" lIns="0" tIns="0" rIns="0" bIns="0" rtlCol="0" anchor="t"/>
          <a:lstStyle/>
          <a:p>
            <a:pPr indent="0" marL="0">
              <a:lnSpc>
                <a:spcPts val="1600"/>
              </a:lnSpc>
              <a:buNone/>
            </a:pPr>
            <a:r>
              <a:rPr lang="en-AU" sz="1300" dirty="0">
                <a:solidFill>
                  <a:srgbClr val="1C2B31"/>
                </a:solidFill>
                <a:latin typeface="Calibri" pitchFamily="34" charset="0"/>
                <a:ea typeface="Calibri" pitchFamily="34" charset="-122"/>
                <a:cs typeface="Calibri" pitchFamily="34" charset="-120"/>
              </a:rPr>
              <a:t>Next stage: </a:t>
            </a:r>
            <a:r>
              <a:rPr lang="en-AU" sz="1300" dirty="0">
                <a:solidFill>
                  <a:srgbClr val="1C2B31"/>
                </a:solidFill>
                <a:latin typeface="Calibri" pitchFamily="34" charset="0"/>
                <a:ea typeface="Calibri" pitchFamily="34" charset="-122"/>
                <a:cs typeface="Calibri" pitchFamily="34" charset="-120"/>
              </a:rPr>
              <a:t>t</a:t>
            </a:r>
            <a:r>
              <a:rPr lang="en-AU" sz="1530" baseline="-25000" dirty="0">
                <a:solidFill>
                  <a:srgbClr val="1C2B31"/>
                </a:solidFill>
                <a:latin typeface="Calibri" pitchFamily="34" charset="0"/>
                <a:ea typeface="Calibri" pitchFamily="34" charset="-122"/>
                <a:cs typeface="Calibri" pitchFamily="34" charset="-120"/>
              </a:rPr>
              <a:t>s</a:t>
            </a:r>
            <a:r>
              <a:rPr lang="en-AU" sz="1300" dirty="0">
                <a:solidFill>
                  <a:srgbClr val="1C2B31"/>
                </a:solidFill>
                <a:latin typeface="Calibri" pitchFamily="34" charset="0"/>
                <a:ea typeface="Calibri" pitchFamily="34" charset="-122"/>
                <a:cs typeface="Calibri" pitchFamily="34" charset="-120"/>
              </a:rPr>
              <a:t> ≤ t ≤ </a:t>
            </a:r>
            <a:r>
              <a:rPr lang="en-AU" sz="1300" dirty="0">
                <a:solidFill>
                  <a:srgbClr val="1C2B31"/>
                </a:solidFill>
                <a:latin typeface="Calibri" pitchFamily="34" charset="0"/>
                <a:ea typeface="Calibri" pitchFamily="34" charset="-122"/>
                <a:cs typeface="Calibri" pitchFamily="34" charset="-120"/>
              </a:rPr>
              <a:t>t</a:t>
            </a:r>
            <a:r>
              <a:rPr lang="en-AU" sz="1530" baseline="-25000" dirty="0">
                <a:solidFill>
                  <a:srgbClr val="1C2B31"/>
                </a:solidFill>
                <a:latin typeface="Calibri" pitchFamily="34" charset="0"/>
                <a:ea typeface="Calibri" pitchFamily="34" charset="-122"/>
                <a:cs typeface="Calibri" pitchFamily="34" charset="-120"/>
              </a:rPr>
              <a:t>e</a:t>
            </a:r>
            <a:r>
              <a:rPr lang="en-AU" sz="1300" dirty="0">
                <a:solidFill>
                  <a:srgbClr val="1C2B31"/>
                </a:solidFill>
                <a:latin typeface="Calibri" pitchFamily="34" charset="0"/>
                <a:ea typeface="Calibri" pitchFamily="34" charset="-122"/>
                <a:cs typeface="Calibri" pitchFamily="34" charset="-120"/>
              </a:rPr>
              <a:t>, time t lies within the consent's validity interval (Eq. 12)</a:t>
            </a:r>
            <a:endParaRPr lang="en-AU" sz="1300" dirty="0"/>
          </a:p>
        </p:txBody>
      </p:sp>
      <p:sp>
        <p:nvSpPr>
          <p:cNvPr id="33" name="Shape 30"/>
          <p:cNvSpPr/>
          <p:nvPr/>
        </p:nvSpPr>
        <p:spPr>
          <a:xfrm>
            <a:off x="9616196" y="4343400"/>
            <a:ext cx="685800" cy="685800"/>
          </a:xfrm>
          <a:prstGeom prst="ellipse">
            <a:avLst/>
          </a:prstGeom>
          <a:solidFill>
            <a:srgbClr val="FFFFFF"/>
          </a:solidFill>
          <a:ln w="25400">
            <a:solidFill>
              <a:srgbClr val="D4A12A"/>
            </a:solidFill>
            <a:prstDash val="solid"/>
          </a:ln>
        </p:spPr>
      </p:sp>
      <p:sp>
        <p:nvSpPr>
          <p:cNvPr id="34" name="Text 31"/>
          <p:cNvSpPr txBox="1"/>
          <p:nvPr/>
        </p:nvSpPr>
        <p:spPr>
          <a:xfrm>
            <a:off x="9616196" y="4343400"/>
            <a:ext cx="685800" cy="685800"/>
          </a:xfrm>
          <a:prstGeom prst="rect">
            <a:avLst/>
          </a:prstGeom>
          <a:noFill/>
          <a:ln/>
        </p:spPr>
        <p:txBody>
          <a:bodyPr wrap="square" lIns="0" tIns="0" rIns="0" bIns="0" rtlCol="0" anchor="ctr"/>
          <a:lstStyle/>
          <a:p>
            <a:pPr algn="ctr" indent="0" marL="0">
              <a:lnSpc>
                <a:spcPts val="2100"/>
              </a:lnSpc>
              <a:buNone/>
            </a:pPr>
            <a:r>
              <a:rPr lang="en-AU" sz="1700" b="1" dirty="0">
                <a:solidFill>
                  <a:srgbClr val="9A7414"/>
                </a:solidFill>
                <a:latin typeface="Cambria" pitchFamily="34" charset="0"/>
                <a:ea typeface="Cambria" pitchFamily="34" charset="-122"/>
                <a:cs typeface="Cambria" pitchFamily="34" charset="-120"/>
              </a:rPr>
              <a:t>V</a:t>
            </a:r>
            <a:r>
              <a:rPr lang="en-AU" sz="2010" b="1" baseline="-25000" dirty="0">
                <a:solidFill>
                  <a:srgbClr val="9A7414"/>
                </a:solidFill>
                <a:latin typeface="Cambria" pitchFamily="34" charset="0"/>
                <a:ea typeface="Cambria" pitchFamily="34" charset="-122"/>
                <a:cs typeface="Cambria" pitchFamily="34" charset="-120"/>
              </a:rPr>
              <a:t>L</a:t>
            </a:r>
            <a:endParaRPr lang="en-AU" sz="1700" dirty="0"/>
          </a:p>
        </p:txBody>
      </p:sp>
      <p:sp>
        <p:nvSpPr>
          <p:cNvPr id="35" name="Text 32"/>
          <p:cNvSpPr txBox="1"/>
          <p:nvPr/>
        </p:nvSpPr>
        <p:spPr>
          <a:xfrm>
            <a:off x="10393436" y="4361688"/>
            <a:ext cx="1249619" cy="658368"/>
          </a:xfrm>
          <a:prstGeom prst="rect">
            <a:avLst/>
          </a:prstGeom>
          <a:noFill/>
          <a:ln/>
        </p:spPr>
        <p:txBody>
          <a:bodyPr wrap="square" lIns="0" tIns="0" rIns="0" bIns="0" rtlCol="0" anchor="ctr"/>
          <a:lstStyle/>
          <a:p>
            <a:pPr indent="0" marL="0">
              <a:buNone/>
            </a:pPr>
            <a:r>
              <a:rPr lang="en-AU" sz="1350" b="1" dirty="0">
                <a:solidFill>
                  <a:srgbClr val="0E3B43"/>
                </a:solidFill>
                <a:latin typeface="Calibri" pitchFamily="34" charset="0"/>
                <a:ea typeface="Calibri" pitchFamily="34" charset="-122"/>
                <a:cs typeface="Calibri" pitchFamily="34" charset="-120"/>
              </a:rPr>
              <a:t>Lifecycle validity</a:t>
            </a:r>
            <a:endParaRPr lang="en-AU" sz="1350" dirty="0"/>
          </a:p>
        </p:txBody>
      </p:sp>
      <p:sp>
        <p:nvSpPr>
          <p:cNvPr id="36" name="Text 33"/>
          <p:cNvSpPr txBox="1"/>
          <p:nvPr/>
        </p:nvSpPr>
        <p:spPr>
          <a:xfrm>
            <a:off x="9570476" y="5120640"/>
            <a:ext cx="2072579" cy="777240"/>
          </a:xfrm>
          <a:prstGeom prst="rect">
            <a:avLst/>
          </a:prstGeom>
          <a:noFill/>
          <a:ln/>
        </p:spPr>
        <p:txBody>
          <a:bodyPr wrap="square" lIns="0" tIns="0" rIns="0" bIns="0" rtlCol="0" anchor="t"/>
          <a:lstStyle/>
          <a:p>
            <a:pPr indent="0" marL="0">
              <a:lnSpc>
                <a:spcPts val="1600"/>
              </a:lnSpc>
              <a:buNone/>
            </a:pPr>
            <a:r>
              <a:rPr lang="en-AU" sz="1300" dirty="0">
                <a:solidFill>
                  <a:srgbClr val="1C2B31"/>
                </a:solidFill>
                <a:latin typeface="Calibri" pitchFamily="34" charset="0"/>
                <a:ea typeface="Calibri" pitchFamily="34" charset="-122"/>
                <a:cs typeface="Calibri" pitchFamily="34" charset="-120"/>
              </a:rPr>
              <a:t>Next stage: ValidState(C) ∧ ValidTransition(C); not expired, revoked or invalid (Eq. 15)</a:t>
            </a:r>
            <a:endParaRPr lang="en-AU" sz="1300" dirty="0"/>
          </a:p>
        </p:txBody>
      </p:sp>
      <p:sp>
        <p:nvSpPr>
          <p:cNvPr id="37" name="Text 34"/>
          <p:cNvSpPr txBox="1"/>
          <p:nvPr/>
        </p:nvSpPr>
        <p:spPr>
          <a:xfrm>
            <a:off x="548640" y="5943600"/>
            <a:ext cx="11094415" cy="365760"/>
          </a:xfrm>
          <a:prstGeom prst="rect">
            <a:avLst/>
          </a:prstGeom>
          <a:noFill/>
          <a:ln/>
        </p:spPr>
        <p:txBody>
          <a:bodyPr wrap="square" lIns="0" tIns="0" rIns="0" bIns="0" rtlCol="0" anchor="ctr"/>
          <a:lstStyle/>
          <a:p>
            <a:pPr indent="0" marL="0">
              <a:buNone/>
            </a:pPr>
            <a:r>
              <a:rPr lang="en-AU" sz="1400" i="1" dirty="0">
                <a:solidFill>
                  <a:srgbClr val="0B5560"/>
                </a:solidFill>
                <a:latin typeface="Calibri" pitchFamily="34" charset="0"/>
                <a:ea typeface="Calibri" pitchFamily="34" charset="-122"/>
                <a:cs typeface="Calibri" pitchFamily="34" charset="-120"/>
              </a:rPr>
              <a:t>Identity is not authorisation (Eq. 1). ALLOW only when every predicate holds; if any one fails, the decision is DENY (Eq. 18).</a:t>
            </a:r>
            <a:endParaRPr lang="en-AU"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3B43"/>
        </a:solidFill>
      </p:bgPr>
    </p:bg>
    <p:spTree>
      <p:nvGrpSpPr>
        <p:cNvPr id="1" name=""/>
        <p:cNvGrpSpPr/>
        <p:nvPr/>
      </p:nvGrpSpPr>
      <p:grpSpPr>
        <a:xfrm>
          <a:off x="0" y="0"/>
          <a:ext cx="0" cy="0"/>
          <a:chOff x="0" y="0"/>
          <a:chExt cx="0" cy="0"/>
        </a:xfrm>
      </p:grpSpPr>
      <p:sp>
        <p:nvSpPr>
          <p:cNvPr id="3" name="Shape 0"/>
          <p:cNvSpPr/>
          <p:nvPr/>
        </p:nvSpPr>
        <p:spPr>
          <a:xfrm>
            <a:off x="1005840" y="1737360"/>
            <a:ext cx="3108960" cy="3108960"/>
          </a:xfrm>
          <a:prstGeom prst="ellipse">
            <a:avLst/>
          </a:prstGeom>
          <a:solidFill>
            <a:srgbClr val="0E3B43"/>
          </a:solidFill>
          <a:ln w="38100">
            <a:solidFill>
              <a:srgbClr val="D4A12A"/>
            </a:solidFill>
            <a:prstDash val="solid"/>
          </a:ln>
        </p:spPr>
      </p:sp>
      <p:sp>
        <p:nvSpPr>
          <p:cNvPr id="4" name="Text 1"/>
          <p:cNvSpPr txBox="1"/>
          <p:nvPr/>
        </p:nvSpPr>
        <p:spPr>
          <a:xfrm>
            <a:off x="1005840" y="1737360"/>
            <a:ext cx="3108960" cy="3108960"/>
          </a:xfrm>
          <a:prstGeom prst="rect">
            <a:avLst/>
          </a:prstGeom>
          <a:noFill/>
          <a:ln/>
        </p:spPr>
        <p:txBody>
          <a:bodyPr wrap="square" lIns="0" tIns="0" rIns="0" bIns="0" rtlCol="0" anchor="ctr"/>
          <a:lstStyle/>
          <a:p>
            <a:pPr algn="ctr" indent="0" marL="0">
              <a:buNone/>
            </a:pPr>
            <a:r>
              <a:rPr lang="en-AU" sz="12000" b="1" dirty="0">
                <a:solidFill>
                  <a:srgbClr val="D4A12A"/>
                </a:solidFill>
                <a:latin typeface="Cambria" pitchFamily="34" charset="0"/>
                <a:ea typeface="Cambria" pitchFamily="34" charset="-122"/>
                <a:cs typeface="Cambria" pitchFamily="34" charset="-120"/>
              </a:rPr>
              <a:t>C</a:t>
            </a:r>
            <a:endParaRPr lang="en-AU" sz="12000" dirty="0"/>
          </a:p>
        </p:txBody>
      </p:sp>
      <p:sp>
        <p:nvSpPr>
          <p:cNvPr id="5" name="Text 2"/>
          <p:cNvSpPr txBox="1"/>
          <p:nvPr/>
        </p:nvSpPr>
        <p:spPr>
          <a:xfrm>
            <a:off x="4846320" y="2347468"/>
            <a:ext cx="6766560" cy="365760"/>
          </a:xfrm>
          <a:prstGeom prst="rect">
            <a:avLst/>
          </a:prstGeom>
          <a:noFill/>
          <a:ln/>
        </p:spPr>
        <p:txBody>
          <a:bodyPr wrap="square" lIns="0" tIns="0" rIns="0" bIns="0" rtlCol="0" anchor="ctr"/>
          <a:lstStyle/>
          <a:p>
            <a:pPr indent="0" marL="0">
              <a:buNone/>
            </a:pPr>
            <a:r>
              <a:rPr lang="en-AU" sz="1400" b="1" spc="200" kern="0" dirty="0">
                <a:solidFill>
                  <a:srgbClr val="D4A12A"/>
                </a:solidFill>
                <a:latin typeface="Calibri" pitchFamily="34" charset="0"/>
                <a:ea typeface="Calibri" pitchFamily="34" charset="-122"/>
                <a:cs typeface="Calibri" pitchFamily="34" charset="-120"/>
              </a:rPr>
              <a:t>PART C  ·  CHAPTERS 5–6</a:t>
            </a:r>
            <a:endParaRPr lang="en-AU" sz="1400" dirty="0"/>
          </a:p>
        </p:txBody>
      </p:sp>
      <p:sp>
        <p:nvSpPr>
          <p:cNvPr id="6" name="Text 3"/>
          <p:cNvSpPr txBox="1"/>
          <p:nvPr/>
        </p:nvSpPr>
        <p:spPr>
          <a:xfrm>
            <a:off x="4846320" y="2822956"/>
            <a:ext cx="6766560" cy="645160"/>
          </a:xfrm>
          <a:prstGeom prst="rect">
            <a:avLst/>
          </a:prstGeom>
          <a:noFill/>
          <a:ln/>
        </p:spPr>
        <p:txBody>
          <a:bodyPr wrap="square" lIns="0" tIns="0" rIns="0" bIns="0" rtlCol="0" anchor="t"/>
          <a:lstStyle/>
          <a:p>
            <a:pPr indent="0" marL="0">
              <a:buNone/>
            </a:pPr>
            <a:r>
              <a:rPr lang="en-AU" sz="4000" b="1" dirty="0">
                <a:solidFill>
                  <a:srgbClr val="FFFFFF"/>
                </a:solidFill>
                <a:latin typeface="Cambria" pitchFamily="34" charset="0"/>
                <a:ea typeface="Cambria" pitchFamily="34" charset="-122"/>
                <a:cs typeface="Cambria" pitchFamily="34" charset="-120"/>
              </a:rPr>
              <a:t>Architecture and solution</a:t>
            </a:r>
            <a:endParaRPr lang="en-AU" sz="4000" dirty="0"/>
          </a:p>
        </p:txBody>
      </p:sp>
      <p:sp>
        <p:nvSpPr>
          <p:cNvPr id="7" name="Text 4"/>
          <p:cNvSpPr txBox="1"/>
          <p:nvPr/>
        </p:nvSpPr>
        <p:spPr>
          <a:xfrm>
            <a:off x="4846320" y="3678428"/>
            <a:ext cx="6583680" cy="649224"/>
          </a:xfrm>
          <a:prstGeom prst="rect">
            <a:avLst/>
          </a:prstGeom>
          <a:noFill/>
          <a:ln/>
        </p:spPr>
        <p:txBody>
          <a:bodyPr wrap="square" lIns="0" tIns="0" rIns="0" bIns="0" rtlCol="0" anchor="t"/>
          <a:lstStyle/>
          <a:p>
            <a:pPr indent="0" marL="0">
              <a:buNone/>
            </a:pPr>
            <a:r>
              <a:rPr lang="en-AU" sz="1800" dirty="0">
                <a:solidFill>
                  <a:srgbClr val="CFE3E6"/>
                </a:solidFill>
                <a:latin typeface="Calibri" pitchFamily="34" charset="0"/>
                <a:ea typeface="Calibri" pitchFamily="34" charset="-122"/>
                <a:cs typeface="Calibri" pitchFamily="34" charset="-120"/>
              </a:rPr>
              <a:t>MVC separates security state, interaction and enforcement; a workflow and an algorithm for each of RO1–RO6</a:t>
            </a:r>
            <a:endParaRPr lang="en-AU" sz="1800" dirty="0"/>
          </a:p>
        </p:txBody>
      </p:sp>
      <p:sp>
        <p:nvSpPr>
          <p:cNvPr id="8" name="Text 5"/>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CFE3E6"/>
                </a:solidFill>
                <a:latin typeface="Calibri" pitchFamily="34" charset="0"/>
                <a:ea typeface="Calibri" pitchFamily="34" charset="-122"/>
                <a:cs typeface="Calibri" pitchFamily="34" charset="-120"/>
              </a:rPr>
              <a:t>18 / 43</a:t>
            </a:r>
            <a:endParaRPr lang="en-AU"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600" b="1" dirty="0">
                <a:solidFill>
                  <a:srgbClr val="0E3B43"/>
                </a:solidFill>
                <a:latin typeface="Cambria" pitchFamily="34" charset="0"/>
                <a:ea typeface="Cambria" pitchFamily="34" charset="-122"/>
                <a:cs typeface="Cambria" pitchFamily="34" charset="-120"/>
              </a:rPr>
              <a:t>Every sensitive decision passes through the Controller</a:t>
            </a:r>
            <a:endParaRPr lang="en-AU" sz="26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5.1: the View submits claims, the Controller decides, the Model holds security state</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19 / 43</a:t>
            </a:r>
            <a:endParaRPr lang="en-AU" sz="1000" dirty="0"/>
          </a:p>
        </p:txBody>
      </p:sp>
      <p:sp>
        <p:nvSpPr>
          <p:cNvPr id="7" name="Shape 4"/>
          <p:cNvSpPr/>
          <p:nvPr/>
        </p:nvSpPr>
        <p:spPr>
          <a:xfrm>
            <a:off x="548640" y="1481328"/>
            <a:ext cx="11094415" cy="3730752"/>
          </a:xfrm>
          <a:prstGeom prst="roundRect">
            <a:avLst>
              <a:gd name="adj" fmla="val 1961"/>
            </a:avLst>
          </a:prstGeom>
          <a:solidFill>
            <a:srgbClr val="F4F8F9"/>
          </a:solidFill>
          <a:ln w="9525">
            <a:solidFill>
              <a:srgbClr val="D5E0E2"/>
            </a:solidFill>
            <a:prstDash val="solid"/>
          </a:ln>
        </p:spPr>
      </p:sp>
      <p:sp>
        <p:nvSpPr>
          <p:cNvPr id="8" name="Shape 5"/>
          <p:cNvSpPr/>
          <p:nvPr/>
        </p:nvSpPr>
        <p:spPr>
          <a:xfrm>
            <a:off x="956920" y="2048256"/>
            <a:ext cx="9390888" cy="731520"/>
          </a:xfrm>
          <a:prstGeom prst="roundRect">
            <a:avLst>
              <a:gd name="adj" fmla="val 10000"/>
            </a:avLst>
          </a:prstGeom>
          <a:solidFill>
            <a:srgbClr val="FFFFDE"/>
          </a:solidFill>
          <a:ln w="12700">
            <a:solidFill>
              <a:srgbClr val="AAAA33"/>
            </a:solidFill>
            <a:prstDash val="solid"/>
          </a:ln>
        </p:spPr>
      </p:sp>
      <p:sp>
        <p:nvSpPr>
          <p:cNvPr id="9" name="Shape 6"/>
          <p:cNvSpPr/>
          <p:nvPr/>
        </p:nvSpPr>
        <p:spPr>
          <a:xfrm>
            <a:off x="956920" y="2962656"/>
            <a:ext cx="9390888" cy="896112"/>
          </a:xfrm>
          <a:prstGeom prst="roundRect">
            <a:avLst>
              <a:gd name="adj" fmla="val 8163"/>
            </a:avLst>
          </a:prstGeom>
          <a:solidFill>
            <a:srgbClr val="FFFFDE"/>
          </a:solidFill>
          <a:ln w="12700">
            <a:solidFill>
              <a:srgbClr val="AAAA33"/>
            </a:solidFill>
            <a:prstDash val="solid"/>
          </a:ln>
        </p:spPr>
      </p:sp>
      <p:sp>
        <p:nvSpPr>
          <p:cNvPr id="10" name="Shape 7"/>
          <p:cNvSpPr/>
          <p:nvPr/>
        </p:nvSpPr>
        <p:spPr>
          <a:xfrm>
            <a:off x="956920" y="3986784"/>
            <a:ext cx="10735056" cy="859536"/>
          </a:xfrm>
          <a:prstGeom prst="roundRect">
            <a:avLst>
              <a:gd name="adj" fmla="val 8511"/>
            </a:avLst>
          </a:prstGeom>
          <a:solidFill>
            <a:srgbClr val="FFFFDE"/>
          </a:solidFill>
          <a:ln w="12700">
            <a:solidFill>
              <a:srgbClr val="AAAA33"/>
            </a:solidFill>
            <a:prstDash val="solid"/>
          </a:ln>
        </p:spPr>
      </p:sp>
      <p:sp>
        <p:nvSpPr>
          <p:cNvPr id="11" name="Text 8"/>
          <p:cNvSpPr txBox="1"/>
          <p:nvPr/>
        </p:nvSpPr>
        <p:spPr>
          <a:xfrm rot="16200000">
            <a:off x="399136" y="2258568"/>
            <a:ext cx="731520" cy="310896"/>
          </a:xfrm>
          <a:prstGeom prst="rect">
            <a:avLst/>
          </a:prstGeom>
          <a:noFill/>
          <a:ln/>
        </p:spPr>
        <p:txBody>
          <a:bodyPr wrap="square" lIns="0" tIns="0" rIns="0" bIns="0" rtlCol="0" anchor="ctr"/>
          <a:lstStyle/>
          <a:p>
            <a:pPr algn="ctr" indent="0" marL="0">
              <a:buNone/>
            </a:pPr>
            <a:r>
              <a:rPr lang="en-AU" sz="950" b="1" dirty="0">
                <a:solidFill>
                  <a:srgbClr val="0E3B43"/>
                </a:solidFill>
                <a:latin typeface="Calibri" pitchFamily="34" charset="0"/>
                <a:ea typeface="Calibri" pitchFamily="34" charset="-122"/>
                <a:cs typeface="Calibri" pitchFamily="34" charset="-120"/>
              </a:rPr>
              <a:t>VIEW</a:t>
            </a:r>
            <a:endParaRPr lang="en-AU" sz="950" dirty="0"/>
          </a:p>
        </p:txBody>
      </p:sp>
      <p:sp>
        <p:nvSpPr>
          <p:cNvPr id="12" name="Text 9"/>
          <p:cNvSpPr txBox="1"/>
          <p:nvPr/>
        </p:nvSpPr>
        <p:spPr>
          <a:xfrm rot="16200000">
            <a:off x="335128" y="3255264"/>
            <a:ext cx="868680" cy="310896"/>
          </a:xfrm>
          <a:prstGeom prst="rect">
            <a:avLst/>
          </a:prstGeom>
          <a:noFill/>
          <a:ln/>
        </p:spPr>
        <p:txBody>
          <a:bodyPr wrap="square" lIns="0" tIns="0" rIns="0" bIns="0" rtlCol="0" anchor="ctr"/>
          <a:lstStyle/>
          <a:p>
            <a:pPr algn="ctr" indent="0" marL="0">
              <a:buNone/>
            </a:pPr>
            <a:r>
              <a:rPr lang="en-AU" sz="950" b="1" dirty="0">
                <a:solidFill>
                  <a:srgbClr val="0E3B43"/>
                </a:solidFill>
                <a:latin typeface="Calibri" pitchFamily="34" charset="0"/>
                <a:ea typeface="Calibri" pitchFamily="34" charset="-122"/>
                <a:cs typeface="Calibri" pitchFamily="34" charset="-120"/>
              </a:rPr>
              <a:t>CONTROLLER</a:t>
            </a:r>
            <a:endParaRPr lang="en-AU" sz="950" dirty="0"/>
          </a:p>
        </p:txBody>
      </p:sp>
      <p:sp>
        <p:nvSpPr>
          <p:cNvPr id="13" name="Text 10"/>
          <p:cNvSpPr txBox="1"/>
          <p:nvPr/>
        </p:nvSpPr>
        <p:spPr>
          <a:xfrm rot="16200000">
            <a:off x="490576" y="4261104"/>
            <a:ext cx="548640" cy="310896"/>
          </a:xfrm>
          <a:prstGeom prst="rect">
            <a:avLst/>
          </a:prstGeom>
          <a:noFill/>
          <a:ln/>
        </p:spPr>
        <p:txBody>
          <a:bodyPr wrap="square" lIns="0" tIns="0" rIns="0" bIns="0" rtlCol="0" anchor="ctr"/>
          <a:lstStyle/>
          <a:p>
            <a:pPr algn="ctr" indent="0" marL="0">
              <a:buNone/>
            </a:pPr>
            <a:r>
              <a:rPr lang="en-AU" sz="950" b="1" dirty="0">
                <a:solidFill>
                  <a:srgbClr val="0E3B43"/>
                </a:solidFill>
                <a:latin typeface="Calibri" pitchFamily="34" charset="0"/>
                <a:ea typeface="Calibri" pitchFamily="34" charset="-122"/>
                <a:cs typeface="Calibri" pitchFamily="34" charset="-120"/>
              </a:rPr>
              <a:t>MODEL</a:t>
            </a:r>
            <a:endParaRPr lang="en-AU" sz="950" dirty="0"/>
          </a:p>
        </p:txBody>
      </p:sp>
      <p:sp>
        <p:nvSpPr>
          <p:cNvPr id="14" name="Shape 11"/>
          <p:cNvSpPr/>
          <p:nvPr/>
        </p:nvSpPr>
        <p:spPr>
          <a:xfrm>
            <a:off x="1066648" y="1572768"/>
            <a:ext cx="1143000" cy="384048"/>
          </a:xfrm>
          <a:prstGeom prst="rect">
            <a:avLst/>
          </a:prstGeom>
          <a:solidFill>
            <a:srgbClr val="FFFFFF"/>
          </a:solidFill>
          <a:ln w="19050">
            <a:solidFill>
              <a:srgbClr val="9370DB"/>
            </a:solidFill>
            <a:prstDash val="solid"/>
          </a:ln>
        </p:spPr>
      </p:sp>
      <p:sp>
        <p:nvSpPr>
          <p:cNvPr id="15" name="Text 12"/>
          <p:cNvSpPr txBox="1"/>
          <p:nvPr/>
        </p:nvSpPr>
        <p:spPr>
          <a:xfrm>
            <a:off x="1130656" y="1600200"/>
            <a:ext cx="1014984" cy="329184"/>
          </a:xfrm>
          <a:prstGeom prst="rect">
            <a:avLst/>
          </a:prstGeom>
          <a:noFill/>
          <a:ln/>
        </p:spPr>
        <p:txBody>
          <a:bodyPr wrap="square" lIns="0" tIns="0" rIns="0" bIns="0" rtlCol="0" anchor="ctr"/>
          <a:lstStyle/>
          <a:p>
            <a:pPr algn="ctr" indent="0" marL="0">
              <a:lnSpc>
                <a:spcPct val="95000"/>
              </a:lnSpc>
              <a:buNone/>
            </a:pPr>
            <a:r>
              <a:rPr lang="en-AU" sz="1000" b="1" dirty="0">
                <a:solidFill>
                  <a:srgbClr val="333333"/>
                </a:solidFill>
                <a:latin typeface="Calibri" pitchFamily="34" charset="0"/>
                <a:ea typeface="Calibri" pitchFamily="34" charset="-122"/>
                <a:cs typeface="Calibri" pitchFamily="34" charset="-120"/>
              </a:rPr>
              <a:t>Patients</a:t>
            </a:r>
            <a:endParaRPr lang="en-AU" sz="1000" dirty="0"/>
          </a:p>
        </p:txBody>
      </p:sp>
      <p:sp>
        <p:nvSpPr>
          <p:cNvPr id="16" name="Shape 13"/>
          <p:cNvSpPr/>
          <p:nvPr/>
        </p:nvSpPr>
        <p:spPr>
          <a:xfrm>
            <a:off x="1066648" y="2139696"/>
            <a:ext cx="1143000" cy="548640"/>
          </a:xfrm>
          <a:prstGeom prst="rect">
            <a:avLst/>
          </a:prstGeom>
          <a:solidFill>
            <a:srgbClr val="ECECFF"/>
          </a:solidFill>
          <a:ln w="19050">
            <a:solidFill>
              <a:srgbClr val="9370DB"/>
            </a:solidFill>
            <a:prstDash val="solid"/>
          </a:ln>
        </p:spPr>
      </p:sp>
      <p:sp>
        <p:nvSpPr>
          <p:cNvPr id="17" name="Text 14"/>
          <p:cNvSpPr txBox="1"/>
          <p:nvPr/>
        </p:nvSpPr>
        <p:spPr>
          <a:xfrm>
            <a:off x="1130656" y="2167128"/>
            <a:ext cx="1014984" cy="493776"/>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Patient Consent Interface</a:t>
            </a:r>
            <a:endParaRPr lang="en-AU" sz="1050" dirty="0"/>
          </a:p>
        </p:txBody>
      </p:sp>
      <p:sp>
        <p:nvSpPr>
          <p:cNvPr id="18" name="Shape 15"/>
          <p:cNvSpPr/>
          <p:nvPr/>
        </p:nvSpPr>
        <p:spPr>
          <a:xfrm>
            <a:off x="1638148" y="1956816"/>
            <a:ext cx="0" cy="182880"/>
          </a:xfrm>
          <a:prstGeom prst="line">
            <a:avLst/>
          </a:prstGeom>
          <a:noFill/>
          <a:ln w="19050">
            <a:solidFill>
              <a:srgbClr val="A8842A"/>
            </a:solidFill>
            <a:prstDash val="solid"/>
            <a:tailEnd type="triangle"/>
          </a:ln>
        </p:spPr>
      </p:sp>
      <p:sp>
        <p:nvSpPr>
          <p:cNvPr id="19" name="Shape 16"/>
          <p:cNvSpPr/>
          <p:nvPr/>
        </p:nvSpPr>
        <p:spPr>
          <a:xfrm>
            <a:off x="2410816" y="1572768"/>
            <a:ext cx="1143000" cy="384048"/>
          </a:xfrm>
          <a:prstGeom prst="rect">
            <a:avLst/>
          </a:prstGeom>
          <a:solidFill>
            <a:srgbClr val="FFFFFF"/>
          </a:solidFill>
          <a:ln w="19050">
            <a:solidFill>
              <a:srgbClr val="9370DB"/>
            </a:solidFill>
            <a:prstDash val="solid"/>
          </a:ln>
        </p:spPr>
      </p:sp>
      <p:sp>
        <p:nvSpPr>
          <p:cNvPr id="20" name="Text 17"/>
          <p:cNvSpPr txBox="1"/>
          <p:nvPr/>
        </p:nvSpPr>
        <p:spPr>
          <a:xfrm>
            <a:off x="2474824" y="1600200"/>
            <a:ext cx="1014984" cy="329184"/>
          </a:xfrm>
          <a:prstGeom prst="rect">
            <a:avLst/>
          </a:prstGeom>
          <a:noFill/>
          <a:ln/>
        </p:spPr>
        <p:txBody>
          <a:bodyPr wrap="square" lIns="0" tIns="0" rIns="0" bIns="0" rtlCol="0" anchor="ctr"/>
          <a:lstStyle/>
          <a:p>
            <a:pPr algn="ctr" indent="0" marL="0">
              <a:lnSpc>
                <a:spcPct val="95000"/>
              </a:lnSpc>
              <a:buNone/>
            </a:pPr>
            <a:r>
              <a:rPr lang="en-AU" sz="1000" b="1" dirty="0">
                <a:solidFill>
                  <a:srgbClr val="333333"/>
                </a:solidFill>
                <a:latin typeface="Calibri" pitchFamily="34" charset="0"/>
                <a:ea typeface="Calibri" pitchFamily="34" charset="-122"/>
                <a:cs typeface="Calibri" pitchFamily="34" charset="-120"/>
              </a:rPr>
              <a:t>Guardians / Authorised Parties</a:t>
            </a:r>
            <a:endParaRPr lang="en-AU" sz="1000" dirty="0"/>
          </a:p>
        </p:txBody>
      </p:sp>
      <p:sp>
        <p:nvSpPr>
          <p:cNvPr id="21" name="Shape 18"/>
          <p:cNvSpPr/>
          <p:nvPr/>
        </p:nvSpPr>
        <p:spPr>
          <a:xfrm>
            <a:off x="2410816" y="2139696"/>
            <a:ext cx="1143000" cy="548640"/>
          </a:xfrm>
          <a:prstGeom prst="rect">
            <a:avLst/>
          </a:prstGeom>
          <a:solidFill>
            <a:srgbClr val="ECECFF"/>
          </a:solidFill>
          <a:ln w="19050">
            <a:solidFill>
              <a:srgbClr val="9370DB"/>
            </a:solidFill>
            <a:prstDash val="solid"/>
          </a:ln>
        </p:spPr>
      </p:sp>
      <p:sp>
        <p:nvSpPr>
          <p:cNvPr id="22" name="Text 19"/>
          <p:cNvSpPr txBox="1"/>
          <p:nvPr/>
        </p:nvSpPr>
        <p:spPr>
          <a:xfrm>
            <a:off x="2474824" y="2167128"/>
            <a:ext cx="1014984" cy="493776"/>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Approval Interface</a:t>
            </a:r>
            <a:endParaRPr lang="en-AU" sz="1050" dirty="0"/>
          </a:p>
        </p:txBody>
      </p:sp>
      <p:sp>
        <p:nvSpPr>
          <p:cNvPr id="23" name="Shape 20"/>
          <p:cNvSpPr/>
          <p:nvPr/>
        </p:nvSpPr>
        <p:spPr>
          <a:xfrm>
            <a:off x="2982316" y="1956816"/>
            <a:ext cx="0" cy="182880"/>
          </a:xfrm>
          <a:prstGeom prst="line">
            <a:avLst/>
          </a:prstGeom>
          <a:noFill/>
          <a:ln w="19050">
            <a:solidFill>
              <a:srgbClr val="A8842A"/>
            </a:solidFill>
            <a:prstDash val="solid"/>
            <a:tailEnd type="triangle"/>
          </a:ln>
        </p:spPr>
      </p:sp>
      <p:sp>
        <p:nvSpPr>
          <p:cNvPr id="24" name="Shape 21"/>
          <p:cNvSpPr/>
          <p:nvPr/>
        </p:nvSpPr>
        <p:spPr>
          <a:xfrm>
            <a:off x="3754984" y="1572768"/>
            <a:ext cx="1143000" cy="384048"/>
          </a:xfrm>
          <a:prstGeom prst="rect">
            <a:avLst/>
          </a:prstGeom>
          <a:solidFill>
            <a:srgbClr val="FFFFFF"/>
          </a:solidFill>
          <a:ln w="19050">
            <a:solidFill>
              <a:srgbClr val="9370DB"/>
            </a:solidFill>
            <a:prstDash val="solid"/>
          </a:ln>
        </p:spPr>
      </p:sp>
      <p:sp>
        <p:nvSpPr>
          <p:cNvPr id="25" name="Text 22"/>
          <p:cNvSpPr txBox="1"/>
          <p:nvPr/>
        </p:nvSpPr>
        <p:spPr>
          <a:xfrm>
            <a:off x="3818992" y="1600200"/>
            <a:ext cx="1014984" cy="329184"/>
          </a:xfrm>
          <a:prstGeom prst="rect">
            <a:avLst/>
          </a:prstGeom>
          <a:noFill/>
          <a:ln/>
        </p:spPr>
        <p:txBody>
          <a:bodyPr wrap="square" lIns="0" tIns="0" rIns="0" bIns="0" rtlCol="0" anchor="ctr"/>
          <a:lstStyle/>
          <a:p>
            <a:pPr algn="ctr" indent="0" marL="0">
              <a:lnSpc>
                <a:spcPct val="95000"/>
              </a:lnSpc>
              <a:buNone/>
            </a:pPr>
            <a:r>
              <a:rPr lang="en-AU" sz="1000" b="1" dirty="0">
                <a:solidFill>
                  <a:srgbClr val="333333"/>
                </a:solidFill>
                <a:latin typeface="Calibri" pitchFamily="34" charset="0"/>
                <a:ea typeface="Calibri" pitchFamily="34" charset="-122"/>
                <a:cs typeface="Calibri" pitchFamily="34" charset="-120"/>
              </a:rPr>
              <a:t>Healthcare Professionals</a:t>
            </a:r>
            <a:endParaRPr lang="en-AU" sz="1000" dirty="0"/>
          </a:p>
        </p:txBody>
      </p:sp>
      <p:sp>
        <p:nvSpPr>
          <p:cNvPr id="26" name="Shape 23"/>
          <p:cNvSpPr/>
          <p:nvPr/>
        </p:nvSpPr>
        <p:spPr>
          <a:xfrm>
            <a:off x="3754984" y="2139696"/>
            <a:ext cx="1143000" cy="548640"/>
          </a:xfrm>
          <a:prstGeom prst="rect">
            <a:avLst/>
          </a:prstGeom>
          <a:solidFill>
            <a:srgbClr val="ECECFF"/>
          </a:solidFill>
          <a:ln w="19050">
            <a:solidFill>
              <a:srgbClr val="9370DB"/>
            </a:solidFill>
            <a:prstDash val="solid"/>
          </a:ln>
        </p:spPr>
      </p:sp>
      <p:sp>
        <p:nvSpPr>
          <p:cNvPr id="27" name="Text 24"/>
          <p:cNvSpPr txBox="1"/>
          <p:nvPr/>
        </p:nvSpPr>
        <p:spPr>
          <a:xfrm>
            <a:off x="3818992" y="2167128"/>
            <a:ext cx="1014984" cy="493776"/>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Healthcare Access Interface</a:t>
            </a:r>
            <a:endParaRPr lang="en-AU" sz="1050" dirty="0"/>
          </a:p>
        </p:txBody>
      </p:sp>
      <p:sp>
        <p:nvSpPr>
          <p:cNvPr id="28" name="Shape 25"/>
          <p:cNvSpPr/>
          <p:nvPr/>
        </p:nvSpPr>
        <p:spPr>
          <a:xfrm>
            <a:off x="4326484" y="1956816"/>
            <a:ext cx="0" cy="182880"/>
          </a:xfrm>
          <a:prstGeom prst="line">
            <a:avLst/>
          </a:prstGeom>
          <a:noFill/>
          <a:ln w="19050">
            <a:solidFill>
              <a:srgbClr val="A8842A"/>
            </a:solidFill>
            <a:prstDash val="solid"/>
            <a:tailEnd type="triangle"/>
          </a:ln>
        </p:spPr>
      </p:sp>
      <p:sp>
        <p:nvSpPr>
          <p:cNvPr id="29" name="Shape 26"/>
          <p:cNvSpPr/>
          <p:nvPr/>
        </p:nvSpPr>
        <p:spPr>
          <a:xfrm>
            <a:off x="9131656" y="1572768"/>
            <a:ext cx="1143000" cy="384048"/>
          </a:xfrm>
          <a:prstGeom prst="rect">
            <a:avLst/>
          </a:prstGeom>
          <a:solidFill>
            <a:srgbClr val="FFFFFF"/>
          </a:solidFill>
          <a:ln w="19050">
            <a:solidFill>
              <a:srgbClr val="9370DB"/>
            </a:solidFill>
            <a:prstDash val="solid"/>
          </a:ln>
        </p:spPr>
      </p:sp>
      <p:sp>
        <p:nvSpPr>
          <p:cNvPr id="30" name="Text 27"/>
          <p:cNvSpPr txBox="1"/>
          <p:nvPr/>
        </p:nvSpPr>
        <p:spPr>
          <a:xfrm>
            <a:off x="9195664" y="1600200"/>
            <a:ext cx="1014984" cy="329184"/>
          </a:xfrm>
          <a:prstGeom prst="rect">
            <a:avLst/>
          </a:prstGeom>
          <a:noFill/>
          <a:ln/>
        </p:spPr>
        <p:txBody>
          <a:bodyPr wrap="square" lIns="0" tIns="0" rIns="0" bIns="0" rtlCol="0" anchor="ctr"/>
          <a:lstStyle/>
          <a:p>
            <a:pPr algn="ctr" indent="0" marL="0">
              <a:lnSpc>
                <a:spcPct val="95000"/>
              </a:lnSpc>
              <a:buNone/>
            </a:pPr>
            <a:r>
              <a:rPr lang="en-AU" sz="1000" b="1" dirty="0">
                <a:solidFill>
                  <a:srgbClr val="333333"/>
                </a:solidFill>
                <a:latin typeface="Calibri" pitchFamily="34" charset="0"/>
                <a:ea typeface="Calibri" pitchFamily="34" charset="-122"/>
                <a:cs typeface="Calibri" pitchFamily="34" charset="-120"/>
              </a:rPr>
              <a:t>Auditors</a:t>
            </a:r>
            <a:endParaRPr lang="en-AU" sz="1000" dirty="0"/>
          </a:p>
        </p:txBody>
      </p:sp>
      <p:sp>
        <p:nvSpPr>
          <p:cNvPr id="31" name="Shape 28"/>
          <p:cNvSpPr/>
          <p:nvPr/>
        </p:nvSpPr>
        <p:spPr>
          <a:xfrm>
            <a:off x="9131656" y="2139696"/>
            <a:ext cx="1143000" cy="548640"/>
          </a:xfrm>
          <a:prstGeom prst="rect">
            <a:avLst/>
          </a:prstGeom>
          <a:solidFill>
            <a:srgbClr val="ECECFF"/>
          </a:solidFill>
          <a:ln w="19050">
            <a:solidFill>
              <a:srgbClr val="9370DB"/>
            </a:solidFill>
            <a:prstDash val="solid"/>
          </a:ln>
        </p:spPr>
      </p:sp>
      <p:sp>
        <p:nvSpPr>
          <p:cNvPr id="32" name="Text 29"/>
          <p:cNvSpPr txBox="1"/>
          <p:nvPr/>
        </p:nvSpPr>
        <p:spPr>
          <a:xfrm>
            <a:off x="9195664" y="2167128"/>
            <a:ext cx="1014984" cy="493776"/>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Audit / Evidence Interface</a:t>
            </a:r>
            <a:endParaRPr lang="en-AU" sz="1050" dirty="0"/>
          </a:p>
        </p:txBody>
      </p:sp>
      <p:sp>
        <p:nvSpPr>
          <p:cNvPr id="33" name="Shape 30"/>
          <p:cNvSpPr/>
          <p:nvPr/>
        </p:nvSpPr>
        <p:spPr>
          <a:xfrm>
            <a:off x="9703156" y="1956816"/>
            <a:ext cx="0" cy="182880"/>
          </a:xfrm>
          <a:prstGeom prst="line">
            <a:avLst/>
          </a:prstGeom>
          <a:noFill/>
          <a:ln w="19050">
            <a:solidFill>
              <a:srgbClr val="A8842A"/>
            </a:solidFill>
            <a:prstDash val="solid"/>
            <a:tailEnd type="triangle"/>
          </a:ln>
        </p:spPr>
      </p:sp>
      <p:sp>
        <p:nvSpPr>
          <p:cNvPr id="34" name="Shape 31"/>
          <p:cNvSpPr/>
          <p:nvPr/>
        </p:nvSpPr>
        <p:spPr>
          <a:xfrm>
            <a:off x="1066648" y="3035808"/>
            <a:ext cx="1143000" cy="749808"/>
          </a:xfrm>
          <a:prstGeom prst="rect">
            <a:avLst/>
          </a:prstGeom>
          <a:solidFill>
            <a:srgbClr val="ECECFF"/>
          </a:solidFill>
          <a:ln w="19050">
            <a:solidFill>
              <a:srgbClr val="9370DB"/>
            </a:solidFill>
            <a:prstDash val="solid"/>
          </a:ln>
        </p:spPr>
      </p:sp>
      <p:sp>
        <p:nvSpPr>
          <p:cNvPr id="35" name="Text 32"/>
          <p:cNvSpPr txBox="1"/>
          <p:nvPr/>
        </p:nvSpPr>
        <p:spPr>
          <a:xfrm>
            <a:off x="1130656"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Request Validation</a:t>
            </a:r>
            <a:endParaRPr lang="en-AU" sz="1050" dirty="0"/>
          </a:p>
        </p:txBody>
      </p:sp>
      <p:sp>
        <p:nvSpPr>
          <p:cNvPr id="36" name="Shape 33"/>
          <p:cNvSpPr/>
          <p:nvPr/>
        </p:nvSpPr>
        <p:spPr>
          <a:xfrm>
            <a:off x="2410816" y="3035808"/>
            <a:ext cx="1143000" cy="749808"/>
          </a:xfrm>
          <a:prstGeom prst="rect">
            <a:avLst/>
          </a:prstGeom>
          <a:solidFill>
            <a:srgbClr val="ECECFF"/>
          </a:solidFill>
          <a:ln w="19050">
            <a:solidFill>
              <a:srgbClr val="9370DB"/>
            </a:solidFill>
            <a:prstDash val="solid"/>
          </a:ln>
        </p:spPr>
      </p:sp>
      <p:sp>
        <p:nvSpPr>
          <p:cNvPr id="37" name="Text 34"/>
          <p:cNvSpPr txBox="1"/>
          <p:nvPr/>
        </p:nvSpPr>
        <p:spPr>
          <a:xfrm>
            <a:off x="2474824"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DID / VC Verification</a:t>
            </a:r>
            <a:endParaRPr lang="en-AU" sz="1050" dirty="0"/>
          </a:p>
        </p:txBody>
      </p:sp>
      <p:sp>
        <p:nvSpPr>
          <p:cNvPr id="38" name="Shape 35"/>
          <p:cNvSpPr/>
          <p:nvPr/>
        </p:nvSpPr>
        <p:spPr>
          <a:xfrm>
            <a:off x="3754984" y="3035808"/>
            <a:ext cx="1143000" cy="749808"/>
          </a:xfrm>
          <a:prstGeom prst="rect">
            <a:avLst/>
          </a:prstGeom>
          <a:solidFill>
            <a:srgbClr val="ECECFF"/>
          </a:solidFill>
          <a:ln w="19050">
            <a:solidFill>
              <a:srgbClr val="9370DB"/>
            </a:solidFill>
            <a:prstDash val="solid"/>
          </a:ln>
        </p:spPr>
      </p:sp>
      <p:sp>
        <p:nvSpPr>
          <p:cNvPr id="39" name="Text 36"/>
          <p:cNvSpPr txBox="1"/>
          <p:nvPr/>
        </p:nvSpPr>
        <p:spPr>
          <a:xfrm>
            <a:off x="3818992"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Authority Verification</a:t>
            </a:r>
            <a:endParaRPr lang="en-AU" sz="1050" dirty="0"/>
          </a:p>
        </p:txBody>
      </p:sp>
      <p:sp>
        <p:nvSpPr>
          <p:cNvPr id="40" name="Shape 37"/>
          <p:cNvSpPr/>
          <p:nvPr/>
        </p:nvSpPr>
        <p:spPr>
          <a:xfrm>
            <a:off x="5099152" y="3035808"/>
            <a:ext cx="1143000" cy="749808"/>
          </a:xfrm>
          <a:prstGeom prst="rect">
            <a:avLst/>
          </a:prstGeom>
          <a:solidFill>
            <a:srgbClr val="ECECFF"/>
          </a:solidFill>
          <a:ln w="19050">
            <a:solidFill>
              <a:srgbClr val="9370DB"/>
            </a:solidFill>
            <a:prstDash val="solid"/>
          </a:ln>
        </p:spPr>
      </p:sp>
      <p:sp>
        <p:nvSpPr>
          <p:cNvPr id="41" name="Text 38"/>
          <p:cNvSpPr txBox="1"/>
          <p:nvPr/>
        </p:nvSpPr>
        <p:spPr>
          <a:xfrm>
            <a:off x="5163160"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Multi-Party Threshold Evaluation</a:t>
            </a:r>
            <a:endParaRPr lang="en-AU" sz="1050" dirty="0"/>
          </a:p>
        </p:txBody>
      </p:sp>
      <p:sp>
        <p:nvSpPr>
          <p:cNvPr id="42" name="Shape 39"/>
          <p:cNvSpPr/>
          <p:nvPr/>
        </p:nvSpPr>
        <p:spPr>
          <a:xfrm>
            <a:off x="6443320" y="3035808"/>
            <a:ext cx="1143000" cy="749808"/>
          </a:xfrm>
          <a:prstGeom prst="rect">
            <a:avLst/>
          </a:prstGeom>
          <a:solidFill>
            <a:srgbClr val="ECECFF"/>
          </a:solidFill>
          <a:ln w="19050">
            <a:solidFill>
              <a:srgbClr val="9370DB"/>
            </a:solidFill>
            <a:prstDash val="solid"/>
          </a:ln>
        </p:spPr>
      </p:sp>
      <p:sp>
        <p:nvSpPr>
          <p:cNvPr id="43" name="Text 40"/>
          <p:cNvSpPr txBox="1"/>
          <p:nvPr/>
        </p:nvSpPr>
        <p:spPr>
          <a:xfrm>
            <a:off x="6507328"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Policy &amp; Scope Evaluation</a:t>
            </a:r>
            <a:endParaRPr lang="en-AU" sz="1050" dirty="0"/>
          </a:p>
        </p:txBody>
      </p:sp>
      <p:sp>
        <p:nvSpPr>
          <p:cNvPr id="44" name="Shape 41"/>
          <p:cNvSpPr/>
          <p:nvPr/>
        </p:nvSpPr>
        <p:spPr>
          <a:xfrm>
            <a:off x="7787488" y="3035808"/>
            <a:ext cx="1143000" cy="749808"/>
          </a:xfrm>
          <a:prstGeom prst="rect">
            <a:avLst/>
          </a:prstGeom>
          <a:solidFill>
            <a:srgbClr val="ECECFF"/>
          </a:solidFill>
          <a:ln w="19050">
            <a:solidFill>
              <a:srgbClr val="9370DB"/>
            </a:solidFill>
            <a:prstDash val="solid"/>
          </a:ln>
        </p:spPr>
      </p:sp>
      <p:sp>
        <p:nvSpPr>
          <p:cNvPr id="45" name="Text 42"/>
          <p:cNvSpPr txBox="1"/>
          <p:nvPr/>
        </p:nvSpPr>
        <p:spPr>
          <a:xfrm>
            <a:off x="7851496"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Authorisation Decision</a:t>
            </a:r>
            <a:endParaRPr lang="en-AU" sz="1050" dirty="0"/>
          </a:p>
        </p:txBody>
      </p:sp>
      <p:sp>
        <p:nvSpPr>
          <p:cNvPr id="46" name="Shape 43"/>
          <p:cNvSpPr/>
          <p:nvPr/>
        </p:nvSpPr>
        <p:spPr>
          <a:xfrm>
            <a:off x="9131656" y="3035808"/>
            <a:ext cx="1143000" cy="749808"/>
          </a:xfrm>
          <a:prstGeom prst="rect">
            <a:avLst/>
          </a:prstGeom>
          <a:solidFill>
            <a:srgbClr val="ECECFF"/>
          </a:solidFill>
          <a:ln w="19050">
            <a:solidFill>
              <a:srgbClr val="9370DB"/>
            </a:solidFill>
            <a:prstDash val="solid"/>
          </a:ln>
        </p:spPr>
      </p:sp>
      <p:sp>
        <p:nvSpPr>
          <p:cNvPr id="47" name="Text 44"/>
          <p:cNvSpPr txBox="1"/>
          <p:nvPr/>
        </p:nvSpPr>
        <p:spPr>
          <a:xfrm>
            <a:off x="9195664"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Audit Event Generation</a:t>
            </a:r>
            <a:endParaRPr lang="en-AU" sz="1050" dirty="0"/>
          </a:p>
        </p:txBody>
      </p:sp>
      <p:sp>
        <p:nvSpPr>
          <p:cNvPr id="48" name="Shape 45"/>
          <p:cNvSpPr/>
          <p:nvPr/>
        </p:nvSpPr>
        <p:spPr>
          <a:xfrm>
            <a:off x="10475824" y="3035808"/>
            <a:ext cx="1143000" cy="749808"/>
          </a:xfrm>
          <a:prstGeom prst="rect">
            <a:avLst/>
          </a:prstGeom>
          <a:solidFill>
            <a:srgbClr val="FFE6CC"/>
          </a:solidFill>
          <a:ln w="19050">
            <a:solidFill>
              <a:srgbClr val="D79B00"/>
            </a:solidFill>
            <a:prstDash val="solid"/>
          </a:ln>
        </p:spPr>
      </p:sp>
      <p:sp>
        <p:nvSpPr>
          <p:cNvPr id="49" name="Text 46"/>
          <p:cNvSpPr txBox="1"/>
          <p:nvPr/>
        </p:nvSpPr>
        <p:spPr>
          <a:xfrm>
            <a:off x="10539832" y="3063240"/>
            <a:ext cx="1014984" cy="69494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Protected Healthcare Data</a:t>
            </a:r>
            <a:endParaRPr lang="en-AU" sz="1050" dirty="0"/>
          </a:p>
        </p:txBody>
      </p:sp>
      <p:sp>
        <p:nvSpPr>
          <p:cNvPr id="50" name="Shape 47"/>
          <p:cNvSpPr/>
          <p:nvPr/>
        </p:nvSpPr>
        <p:spPr>
          <a:xfrm>
            <a:off x="2209648" y="3410712"/>
            <a:ext cx="201168" cy="0"/>
          </a:xfrm>
          <a:prstGeom prst="line">
            <a:avLst/>
          </a:prstGeom>
          <a:noFill/>
          <a:ln w="19050">
            <a:solidFill>
              <a:srgbClr val="A8842A"/>
            </a:solidFill>
            <a:prstDash val="solid"/>
            <a:tailEnd type="triangle"/>
          </a:ln>
        </p:spPr>
      </p:sp>
      <p:sp>
        <p:nvSpPr>
          <p:cNvPr id="51" name="Shape 48"/>
          <p:cNvSpPr/>
          <p:nvPr/>
        </p:nvSpPr>
        <p:spPr>
          <a:xfrm>
            <a:off x="3553816" y="3410712"/>
            <a:ext cx="201168" cy="0"/>
          </a:xfrm>
          <a:prstGeom prst="line">
            <a:avLst/>
          </a:prstGeom>
          <a:noFill/>
          <a:ln w="19050">
            <a:solidFill>
              <a:srgbClr val="A8842A"/>
            </a:solidFill>
            <a:prstDash val="solid"/>
            <a:tailEnd type="triangle"/>
          </a:ln>
        </p:spPr>
      </p:sp>
      <p:sp>
        <p:nvSpPr>
          <p:cNvPr id="52" name="Shape 49"/>
          <p:cNvSpPr/>
          <p:nvPr/>
        </p:nvSpPr>
        <p:spPr>
          <a:xfrm>
            <a:off x="4897984" y="3410712"/>
            <a:ext cx="201168" cy="0"/>
          </a:xfrm>
          <a:prstGeom prst="line">
            <a:avLst/>
          </a:prstGeom>
          <a:noFill/>
          <a:ln w="19050">
            <a:solidFill>
              <a:srgbClr val="A8842A"/>
            </a:solidFill>
            <a:prstDash val="solid"/>
            <a:tailEnd type="triangle"/>
          </a:ln>
        </p:spPr>
      </p:sp>
      <p:sp>
        <p:nvSpPr>
          <p:cNvPr id="53" name="Shape 50"/>
          <p:cNvSpPr/>
          <p:nvPr/>
        </p:nvSpPr>
        <p:spPr>
          <a:xfrm>
            <a:off x="6242152" y="3410712"/>
            <a:ext cx="201168" cy="0"/>
          </a:xfrm>
          <a:prstGeom prst="line">
            <a:avLst/>
          </a:prstGeom>
          <a:noFill/>
          <a:ln w="19050">
            <a:solidFill>
              <a:srgbClr val="A8842A"/>
            </a:solidFill>
            <a:prstDash val="solid"/>
            <a:tailEnd type="triangle"/>
          </a:ln>
        </p:spPr>
      </p:sp>
      <p:sp>
        <p:nvSpPr>
          <p:cNvPr id="54" name="Shape 51"/>
          <p:cNvSpPr/>
          <p:nvPr/>
        </p:nvSpPr>
        <p:spPr>
          <a:xfrm>
            <a:off x="7586320" y="3410712"/>
            <a:ext cx="201168" cy="0"/>
          </a:xfrm>
          <a:prstGeom prst="line">
            <a:avLst/>
          </a:prstGeom>
          <a:noFill/>
          <a:ln w="19050">
            <a:solidFill>
              <a:srgbClr val="A8842A"/>
            </a:solidFill>
            <a:prstDash val="solid"/>
            <a:tailEnd type="triangle"/>
          </a:ln>
        </p:spPr>
      </p:sp>
      <p:sp>
        <p:nvSpPr>
          <p:cNvPr id="55" name="Shape 52"/>
          <p:cNvSpPr/>
          <p:nvPr/>
        </p:nvSpPr>
        <p:spPr>
          <a:xfrm>
            <a:off x="8930488" y="3410712"/>
            <a:ext cx="201168" cy="0"/>
          </a:xfrm>
          <a:prstGeom prst="line">
            <a:avLst/>
          </a:prstGeom>
          <a:noFill/>
          <a:ln w="19050">
            <a:solidFill>
              <a:srgbClr val="A8842A"/>
            </a:solidFill>
            <a:prstDash val="solid"/>
            <a:tailEnd type="triangle"/>
          </a:ln>
        </p:spPr>
      </p:sp>
      <p:sp>
        <p:nvSpPr>
          <p:cNvPr id="56" name="Shape 53"/>
          <p:cNvSpPr/>
          <p:nvPr/>
        </p:nvSpPr>
        <p:spPr>
          <a:xfrm>
            <a:off x="1386688" y="2688336"/>
            <a:ext cx="0" cy="347472"/>
          </a:xfrm>
          <a:prstGeom prst="line">
            <a:avLst/>
          </a:prstGeom>
          <a:noFill/>
          <a:ln w="19050">
            <a:solidFill>
              <a:srgbClr val="A8842A"/>
            </a:solidFill>
            <a:prstDash val="solid"/>
            <a:tailEnd type="triangle"/>
          </a:ln>
        </p:spPr>
      </p:sp>
      <p:sp>
        <p:nvSpPr>
          <p:cNvPr id="57" name="Shape 54"/>
          <p:cNvSpPr/>
          <p:nvPr/>
        </p:nvSpPr>
        <p:spPr>
          <a:xfrm>
            <a:off x="2982316" y="2688336"/>
            <a:ext cx="0" cy="128016"/>
          </a:xfrm>
          <a:prstGeom prst="line">
            <a:avLst/>
          </a:prstGeom>
          <a:noFill/>
          <a:ln w="19050">
            <a:solidFill>
              <a:srgbClr val="A8842A"/>
            </a:solidFill>
            <a:prstDash val="solid"/>
          </a:ln>
        </p:spPr>
      </p:sp>
      <p:sp>
        <p:nvSpPr>
          <p:cNvPr id="58" name="Shape 55"/>
          <p:cNvSpPr/>
          <p:nvPr/>
        </p:nvSpPr>
        <p:spPr>
          <a:xfrm flipH="1">
            <a:off x="1706728" y="2816352"/>
            <a:ext cx="1275588" cy="0"/>
          </a:xfrm>
          <a:prstGeom prst="line">
            <a:avLst/>
          </a:prstGeom>
          <a:noFill/>
          <a:ln w="19050">
            <a:solidFill>
              <a:srgbClr val="A8842A"/>
            </a:solidFill>
            <a:prstDash val="solid"/>
          </a:ln>
        </p:spPr>
      </p:sp>
      <p:sp>
        <p:nvSpPr>
          <p:cNvPr id="59" name="Shape 56"/>
          <p:cNvSpPr/>
          <p:nvPr/>
        </p:nvSpPr>
        <p:spPr>
          <a:xfrm>
            <a:off x="1706728" y="2816352"/>
            <a:ext cx="0" cy="219456"/>
          </a:xfrm>
          <a:prstGeom prst="line">
            <a:avLst/>
          </a:prstGeom>
          <a:noFill/>
          <a:ln w="19050">
            <a:solidFill>
              <a:srgbClr val="A8842A"/>
            </a:solidFill>
            <a:prstDash val="solid"/>
            <a:tailEnd type="triangle"/>
          </a:ln>
        </p:spPr>
      </p:sp>
      <p:sp>
        <p:nvSpPr>
          <p:cNvPr id="60" name="Shape 57"/>
          <p:cNvSpPr/>
          <p:nvPr/>
        </p:nvSpPr>
        <p:spPr>
          <a:xfrm>
            <a:off x="4326484" y="2688336"/>
            <a:ext cx="0" cy="201168"/>
          </a:xfrm>
          <a:prstGeom prst="line">
            <a:avLst/>
          </a:prstGeom>
          <a:noFill/>
          <a:ln w="19050">
            <a:solidFill>
              <a:srgbClr val="A8842A"/>
            </a:solidFill>
            <a:prstDash val="solid"/>
          </a:ln>
        </p:spPr>
      </p:sp>
      <p:sp>
        <p:nvSpPr>
          <p:cNvPr id="61" name="Shape 58"/>
          <p:cNvSpPr/>
          <p:nvPr/>
        </p:nvSpPr>
        <p:spPr>
          <a:xfrm flipH="1">
            <a:off x="1999336" y="2889504"/>
            <a:ext cx="2327148" cy="0"/>
          </a:xfrm>
          <a:prstGeom prst="line">
            <a:avLst/>
          </a:prstGeom>
          <a:noFill/>
          <a:ln w="19050">
            <a:solidFill>
              <a:srgbClr val="A8842A"/>
            </a:solidFill>
            <a:prstDash val="solid"/>
          </a:ln>
        </p:spPr>
      </p:sp>
      <p:sp>
        <p:nvSpPr>
          <p:cNvPr id="62" name="Shape 59"/>
          <p:cNvSpPr/>
          <p:nvPr/>
        </p:nvSpPr>
        <p:spPr>
          <a:xfrm>
            <a:off x="1999336" y="2889504"/>
            <a:ext cx="0" cy="146304"/>
          </a:xfrm>
          <a:prstGeom prst="line">
            <a:avLst/>
          </a:prstGeom>
          <a:noFill/>
          <a:ln w="19050">
            <a:solidFill>
              <a:srgbClr val="A8842A"/>
            </a:solidFill>
            <a:prstDash val="solid"/>
            <a:tailEnd type="triangle"/>
          </a:ln>
        </p:spPr>
      </p:sp>
      <p:sp>
        <p:nvSpPr>
          <p:cNvPr id="63" name="Shape 60"/>
          <p:cNvSpPr/>
          <p:nvPr/>
        </p:nvSpPr>
        <p:spPr>
          <a:xfrm flipV="1">
            <a:off x="9703156" y="2688336"/>
            <a:ext cx="0" cy="347472"/>
          </a:xfrm>
          <a:prstGeom prst="line">
            <a:avLst/>
          </a:prstGeom>
          <a:noFill/>
          <a:ln w="19050">
            <a:solidFill>
              <a:srgbClr val="A8842A"/>
            </a:solidFill>
            <a:prstDash val="solid"/>
            <a:tailEnd type="triangle"/>
          </a:ln>
        </p:spPr>
      </p:sp>
      <p:sp>
        <p:nvSpPr>
          <p:cNvPr id="64" name="Shape 61"/>
          <p:cNvSpPr/>
          <p:nvPr/>
        </p:nvSpPr>
        <p:spPr>
          <a:xfrm flipV="1">
            <a:off x="8358988" y="2916936"/>
            <a:ext cx="0" cy="118872"/>
          </a:xfrm>
          <a:prstGeom prst="line">
            <a:avLst/>
          </a:prstGeom>
          <a:noFill/>
          <a:ln w="19050">
            <a:solidFill>
              <a:srgbClr val="A8842A"/>
            </a:solidFill>
            <a:prstDash val="solid"/>
          </a:ln>
        </p:spPr>
      </p:sp>
      <p:sp>
        <p:nvSpPr>
          <p:cNvPr id="65" name="Shape 62"/>
          <p:cNvSpPr/>
          <p:nvPr/>
        </p:nvSpPr>
        <p:spPr>
          <a:xfrm>
            <a:off x="8358988" y="2916936"/>
            <a:ext cx="2688336" cy="0"/>
          </a:xfrm>
          <a:prstGeom prst="line">
            <a:avLst/>
          </a:prstGeom>
          <a:noFill/>
          <a:ln w="19050">
            <a:solidFill>
              <a:srgbClr val="A8842A"/>
            </a:solidFill>
            <a:prstDash val="solid"/>
          </a:ln>
        </p:spPr>
      </p:sp>
      <p:sp>
        <p:nvSpPr>
          <p:cNvPr id="66" name="Shape 63"/>
          <p:cNvSpPr/>
          <p:nvPr/>
        </p:nvSpPr>
        <p:spPr>
          <a:xfrm>
            <a:off x="11047324" y="2916936"/>
            <a:ext cx="0" cy="118872"/>
          </a:xfrm>
          <a:prstGeom prst="line">
            <a:avLst/>
          </a:prstGeom>
          <a:noFill/>
          <a:ln w="19050">
            <a:solidFill>
              <a:srgbClr val="A8842A"/>
            </a:solidFill>
            <a:prstDash val="solid"/>
            <a:tailEnd type="triangle"/>
          </a:ln>
        </p:spPr>
      </p:sp>
      <p:sp>
        <p:nvSpPr>
          <p:cNvPr id="67" name="Shape 64"/>
          <p:cNvSpPr/>
          <p:nvPr/>
        </p:nvSpPr>
        <p:spPr>
          <a:xfrm>
            <a:off x="2410816" y="4087368"/>
            <a:ext cx="1143000" cy="658368"/>
          </a:xfrm>
          <a:prstGeom prst="rect">
            <a:avLst/>
          </a:prstGeom>
          <a:solidFill>
            <a:srgbClr val="ECECFF"/>
          </a:solidFill>
          <a:ln w="19050">
            <a:solidFill>
              <a:srgbClr val="9370DB"/>
            </a:solidFill>
            <a:prstDash val="solid"/>
          </a:ln>
        </p:spPr>
      </p:sp>
      <p:sp>
        <p:nvSpPr>
          <p:cNvPr id="68" name="Text 65"/>
          <p:cNvSpPr txBox="1"/>
          <p:nvPr/>
        </p:nvSpPr>
        <p:spPr>
          <a:xfrm>
            <a:off x="2474824" y="4114800"/>
            <a:ext cx="1014984" cy="60350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Identity &amp; DID Records</a:t>
            </a:r>
            <a:endParaRPr lang="en-AU" sz="1050" dirty="0"/>
          </a:p>
        </p:txBody>
      </p:sp>
      <p:sp>
        <p:nvSpPr>
          <p:cNvPr id="69" name="Shape 66"/>
          <p:cNvSpPr/>
          <p:nvPr/>
        </p:nvSpPr>
        <p:spPr>
          <a:xfrm>
            <a:off x="3754984" y="4087368"/>
            <a:ext cx="1143000" cy="658368"/>
          </a:xfrm>
          <a:prstGeom prst="rect">
            <a:avLst/>
          </a:prstGeom>
          <a:solidFill>
            <a:srgbClr val="ECECFF"/>
          </a:solidFill>
          <a:ln w="19050">
            <a:solidFill>
              <a:srgbClr val="9370DB"/>
            </a:solidFill>
            <a:prstDash val="solid"/>
          </a:ln>
        </p:spPr>
      </p:sp>
      <p:sp>
        <p:nvSpPr>
          <p:cNvPr id="70" name="Text 67"/>
          <p:cNvSpPr txBox="1"/>
          <p:nvPr/>
        </p:nvSpPr>
        <p:spPr>
          <a:xfrm>
            <a:off x="3818992" y="4114800"/>
            <a:ext cx="1014984" cy="60350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Credential / Authority Evidence</a:t>
            </a:r>
            <a:endParaRPr lang="en-AU" sz="1050" dirty="0"/>
          </a:p>
        </p:txBody>
      </p:sp>
      <p:sp>
        <p:nvSpPr>
          <p:cNvPr id="71" name="Shape 68"/>
          <p:cNvSpPr/>
          <p:nvPr/>
        </p:nvSpPr>
        <p:spPr>
          <a:xfrm>
            <a:off x="5099152" y="4087368"/>
            <a:ext cx="1143000" cy="658368"/>
          </a:xfrm>
          <a:prstGeom prst="rect">
            <a:avLst/>
          </a:prstGeom>
          <a:solidFill>
            <a:srgbClr val="ECECFF"/>
          </a:solidFill>
          <a:ln w="19050">
            <a:solidFill>
              <a:srgbClr val="9370DB"/>
            </a:solidFill>
            <a:prstDash val="solid"/>
          </a:ln>
        </p:spPr>
      </p:sp>
      <p:sp>
        <p:nvSpPr>
          <p:cNvPr id="72" name="Text 69"/>
          <p:cNvSpPr txBox="1"/>
          <p:nvPr/>
        </p:nvSpPr>
        <p:spPr>
          <a:xfrm>
            <a:off x="5163160" y="4114800"/>
            <a:ext cx="1014984" cy="60350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Consent Object</a:t>
            </a:r>
            <a:endParaRPr lang="en-AU" sz="1050" dirty="0"/>
          </a:p>
        </p:txBody>
      </p:sp>
      <p:sp>
        <p:nvSpPr>
          <p:cNvPr id="73" name="Shape 70"/>
          <p:cNvSpPr/>
          <p:nvPr/>
        </p:nvSpPr>
        <p:spPr>
          <a:xfrm>
            <a:off x="6443320" y="4087368"/>
            <a:ext cx="1143000" cy="658368"/>
          </a:xfrm>
          <a:prstGeom prst="rect">
            <a:avLst/>
          </a:prstGeom>
          <a:solidFill>
            <a:srgbClr val="ECECFF"/>
          </a:solidFill>
          <a:ln w="19050">
            <a:solidFill>
              <a:srgbClr val="9370DB"/>
            </a:solidFill>
            <a:prstDash val="solid"/>
          </a:ln>
        </p:spPr>
      </p:sp>
      <p:sp>
        <p:nvSpPr>
          <p:cNvPr id="74" name="Text 71"/>
          <p:cNvSpPr txBox="1"/>
          <p:nvPr/>
        </p:nvSpPr>
        <p:spPr>
          <a:xfrm>
            <a:off x="6507328" y="4114800"/>
            <a:ext cx="1014984" cy="60350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Approval Evidence</a:t>
            </a:r>
            <a:endParaRPr lang="en-AU" sz="1050" dirty="0"/>
          </a:p>
        </p:txBody>
      </p:sp>
      <p:sp>
        <p:nvSpPr>
          <p:cNvPr id="75" name="Shape 72"/>
          <p:cNvSpPr/>
          <p:nvPr/>
        </p:nvSpPr>
        <p:spPr>
          <a:xfrm>
            <a:off x="7787488" y="4087368"/>
            <a:ext cx="1143000" cy="658368"/>
          </a:xfrm>
          <a:prstGeom prst="rect">
            <a:avLst/>
          </a:prstGeom>
          <a:solidFill>
            <a:srgbClr val="ECECFF"/>
          </a:solidFill>
          <a:ln w="19050">
            <a:solidFill>
              <a:srgbClr val="9370DB"/>
            </a:solidFill>
            <a:prstDash val="solid"/>
          </a:ln>
        </p:spPr>
      </p:sp>
      <p:sp>
        <p:nvSpPr>
          <p:cNvPr id="76" name="Text 73"/>
          <p:cNvSpPr txBox="1"/>
          <p:nvPr/>
        </p:nvSpPr>
        <p:spPr>
          <a:xfrm>
            <a:off x="7851496" y="4114800"/>
            <a:ext cx="1014984" cy="60350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Policy &amp; Data Scope</a:t>
            </a:r>
            <a:endParaRPr lang="en-AU" sz="1050" dirty="0"/>
          </a:p>
        </p:txBody>
      </p:sp>
      <p:sp>
        <p:nvSpPr>
          <p:cNvPr id="77" name="Shape 74"/>
          <p:cNvSpPr/>
          <p:nvPr/>
        </p:nvSpPr>
        <p:spPr>
          <a:xfrm>
            <a:off x="9131656" y="4087368"/>
            <a:ext cx="1143000" cy="658368"/>
          </a:xfrm>
          <a:prstGeom prst="rect">
            <a:avLst/>
          </a:prstGeom>
          <a:solidFill>
            <a:srgbClr val="ECECFF"/>
          </a:solidFill>
          <a:ln w="19050">
            <a:solidFill>
              <a:srgbClr val="9370DB"/>
            </a:solidFill>
            <a:prstDash val="solid"/>
          </a:ln>
        </p:spPr>
      </p:sp>
      <p:sp>
        <p:nvSpPr>
          <p:cNvPr id="78" name="Text 75"/>
          <p:cNvSpPr txBox="1"/>
          <p:nvPr/>
        </p:nvSpPr>
        <p:spPr>
          <a:xfrm>
            <a:off x="9195664" y="4114800"/>
            <a:ext cx="1014984" cy="60350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Lifecycle State</a:t>
            </a:r>
            <a:endParaRPr lang="en-AU" sz="1050" dirty="0"/>
          </a:p>
        </p:txBody>
      </p:sp>
      <p:sp>
        <p:nvSpPr>
          <p:cNvPr id="79" name="Shape 76"/>
          <p:cNvSpPr/>
          <p:nvPr/>
        </p:nvSpPr>
        <p:spPr>
          <a:xfrm>
            <a:off x="10475824" y="4087368"/>
            <a:ext cx="1143000" cy="658368"/>
          </a:xfrm>
          <a:prstGeom prst="rect">
            <a:avLst/>
          </a:prstGeom>
          <a:solidFill>
            <a:srgbClr val="ECECFF"/>
          </a:solidFill>
          <a:ln w="19050">
            <a:solidFill>
              <a:srgbClr val="9370DB"/>
            </a:solidFill>
            <a:prstDash val="solid"/>
          </a:ln>
        </p:spPr>
      </p:sp>
      <p:sp>
        <p:nvSpPr>
          <p:cNvPr id="80" name="Text 77"/>
          <p:cNvSpPr txBox="1"/>
          <p:nvPr/>
        </p:nvSpPr>
        <p:spPr>
          <a:xfrm>
            <a:off x="10539832" y="4114800"/>
            <a:ext cx="1014984" cy="603504"/>
          </a:xfrm>
          <a:prstGeom prst="rect">
            <a:avLst/>
          </a:prstGeom>
          <a:noFill/>
          <a:ln/>
        </p:spPr>
        <p:txBody>
          <a:bodyPr wrap="square" lIns="0" tIns="0" rIns="0" bIns="0" rtlCol="0" anchor="ctr"/>
          <a:lstStyle/>
          <a:p>
            <a:pPr algn="ctr" indent="0" marL="0">
              <a:lnSpc>
                <a:spcPct val="95000"/>
              </a:lnSpc>
              <a:buNone/>
            </a:pPr>
            <a:r>
              <a:rPr lang="en-AU" sz="1050" b="1" dirty="0">
                <a:solidFill>
                  <a:srgbClr val="333333"/>
                </a:solidFill>
                <a:latin typeface="Calibri" pitchFamily="34" charset="0"/>
                <a:ea typeface="Calibri" pitchFamily="34" charset="-122"/>
                <a:cs typeface="Calibri" pitchFamily="34" charset="-120"/>
              </a:rPr>
              <a:t>Authorisation Evidence</a:t>
            </a:r>
            <a:endParaRPr lang="en-AU" sz="1050" dirty="0"/>
          </a:p>
        </p:txBody>
      </p:sp>
      <p:sp>
        <p:nvSpPr>
          <p:cNvPr id="81" name="Shape 78"/>
          <p:cNvSpPr/>
          <p:nvPr/>
        </p:nvSpPr>
        <p:spPr>
          <a:xfrm>
            <a:off x="2730856" y="3785616"/>
            <a:ext cx="0" cy="301752"/>
          </a:xfrm>
          <a:prstGeom prst="line">
            <a:avLst/>
          </a:prstGeom>
          <a:noFill/>
          <a:ln w="19050">
            <a:solidFill>
              <a:srgbClr val="A8842A"/>
            </a:solidFill>
            <a:prstDash val="solid"/>
            <a:headEnd type="triangle"/>
            <a:tailEnd type="triangle"/>
          </a:ln>
        </p:spPr>
      </p:sp>
      <p:sp>
        <p:nvSpPr>
          <p:cNvPr id="82" name="Shape 79"/>
          <p:cNvSpPr/>
          <p:nvPr/>
        </p:nvSpPr>
        <p:spPr>
          <a:xfrm>
            <a:off x="3279496" y="3785616"/>
            <a:ext cx="749808" cy="301752"/>
          </a:xfrm>
          <a:prstGeom prst="line">
            <a:avLst/>
          </a:prstGeom>
          <a:noFill/>
          <a:ln w="19050">
            <a:solidFill>
              <a:srgbClr val="A8842A"/>
            </a:solidFill>
            <a:prstDash val="solid"/>
            <a:headEnd type="triangle"/>
            <a:tailEnd type="triangle"/>
          </a:ln>
        </p:spPr>
      </p:sp>
      <p:sp>
        <p:nvSpPr>
          <p:cNvPr id="83" name="Shape 80"/>
          <p:cNvSpPr/>
          <p:nvPr/>
        </p:nvSpPr>
        <p:spPr>
          <a:xfrm>
            <a:off x="4326484" y="3785616"/>
            <a:ext cx="160020" cy="301752"/>
          </a:xfrm>
          <a:prstGeom prst="line">
            <a:avLst/>
          </a:prstGeom>
          <a:noFill/>
          <a:ln w="19050">
            <a:solidFill>
              <a:srgbClr val="A8842A"/>
            </a:solidFill>
            <a:prstDash val="solid"/>
            <a:headEnd type="triangle"/>
            <a:tailEnd type="triangle"/>
          </a:ln>
        </p:spPr>
      </p:sp>
      <p:sp>
        <p:nvSpPr>
          <p:cNvPr id="84" name="Shape 81"/>
          <p:cNvSpPr/>
          <p:nvPr/>
        </p:nvSpPr>
        <p:spPr>
          <a:xfrm>
            <a:off x="5419192" y="3785616"/>
            <a:ext cx="0" cy="301752"/>
          </a:xfrm>
          <a:prstGeom prst="line">
            <a:avLst/>
          </a:prstGeom>
          <a:noFill/>
          <a:ln w="19050">
            <a:solidFill>
              <a:srgbClr val="A8842A"/>
            </a:solidFill>
            <a:prstDash val="solid"/>
            <a:headEnd type="triangle"/>
            <a:tailEnd type="triangle"/>
          </a:ln>
        </p:spPr>
      </p:sp>
      <p:sp>
        <p:nvSpPr>
          <p:cNvPr id="85" name="Shape 82"/>
          <p:cNvSpPr/>
          <p:nvPr/>
        </p:nvSpPr>
        <p:spPr>
          <a:xfrm>
            <a:off x="5967832" y="3785616"/>
            <a:ext cx="932688" cy="301752"/>
          </a:xfrm>
          <a:prstGeom prst="line">
            <a:avLst/>
          </a:prstGeom>
          <a:noFill/>
          <a:ln w="19050">
            <a:solidFill>
              <a:srgbClr val="A8842A"/>
            </a:solidFill>
            <a:prstDash val="solid"/>
            <a:headEnd type="triangle"/>
            <a:tailEnd type="triangle"/>
          </a:ln>
        </p:spPr>
      </p:sp>
      <p:sp>
        <p:nvSpPr>
          <p:cNvPr id="86" name="Shape 83"/>
          <p:cNvSpPr/>
          <p:nvPr/>
        </p:nvSpPr>
        <p:spPr>
          <a:xfrm>
            <a:off x="7014820" y="3785616"/>
            <a:ext cx="1138428" cy="301752"/>
          </a:xfrm>
          <a:prstGeom prst="line">
            <a:avLst/>
          </a:prstGeom>
          <a:noFill/>
          <a:ln w="19050">
            <a:solidFill>
              <a:srgbClr val="A8842A"/>
            </a:solidFill>
            <a:prstDash val="solid"/>
            <a:headEnd type="triangle"/>
            <a:tailEnd type="triangle"/>
          </a:ln>
        </p:spPr>
      </p:sp>
      <p:sp>
        <p:nvSpPr>
          <p:cNvPr id="87" name="Shape 84"/>
          <p:cNvSpPr/>
          <p:nvPr/>
        </p:nvSpPr>
        <p:spPr>
          <a:xfrm>
            <a:off x="8107528" y="3785616"/>
            <a:ext cx="1389888" cy="301752"/>
          </a:xfrm>
          <a:prstGeom prst="line">
            <a:avLst/>
          </a:prstGeom>
          <a:noFill/>
          <a:ln w="19050">
            <a:solidFill>
              <a:srgbClr val="A8842A"/>
            </a:solidFill>
            <a:prstDash val="solid"/>
            <a:headEnd type="triangle"/>
            <a:tailEnd type="triangle"/>
          </a:ln>
        </p:spPr>
      </p:sp>
      <p:sp>
        <p:nvSpPr>
          <p:cNvPr id="88" name="Shape 85"/>
          <p:cNvSpPr/>
          <p:nvPr/>
        </p:nvSpPr>
        <p:spPr>
          <a:xfrm>
            <a:off x="8656168" y="3785616"/>
            <a:ext cx="2139696" cy="301752"/>
          </a:xfrm>
          <a:prstGeom prst="line">
            <a:avLst/>
          </a:prstGeom>
          <a:noFill/>
          <a:ln w="19050">
            <a:solidFill>
              <a:srgbClr val="A8842A"/>
            </a:solidFill>
            <a:prstDash val="solid"/>
            <a:headEnd type="triangle"/>
            <a:tailEnd type="triangle"/>
          </a:ln>
        </p:spPr>
      </p:sp>
      <p:sp>
        <p:nvSpPr>
          <p:cNvPr id="89" name="Shape 86"/>
          <p:cNvSpPr/>
          <p:nvPr/>
        </p:nvSpPr>
        <p:spPr>
          <a:xfrm>
            <a:off x="9703156" y="3785616"/>
            <a:ext cx="1595628" cy="301752"/>
          </a:xfrm>
          <a:prstGeom prst="line">
            <a:avLst/>
          </a:prstGeom>
          <a:noFill/>
          <a:ln w="19050">
            <a:solidFill>
              <a:srgbClr val="A8842A"/>
            </a:solidFill>
            <a:prstDash val="solid"/>
            <a:tailEnd type="triangle"/>
          </a:ln>
        </p:spPr>
      </p:sp>
      <p:sp>
        <p:nvSpPr>
          <p:cNvPr id="90" name="Text 87"/>
          <p:cNvSpPr txBox="1"/>
          <p:nvPr/>
        </p:nvSpPr>
        <p:spPr>
          <a:xfrm>
            <a:off x="685800" y="4864608"/>
            <a:ext cx="1082009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5.1: Layered MVC architecture and component decomposition of the HALAH framework</a:t>
            </a:r>
            <a:endParaRPr lang="en-AU" sz="1050" dirty="0"/>
          </a:p>
        </p:txBody>
      </p:sp>
      <p:sp>
        <p:nvSpPr>
          <p:cNvPr id="91" name="Shape 88"/>
          <p:cNvSpPr/>
          <p:nvPr/>
        </p:nvSpPr>
        <p:spPr>
          <a:xfrm>
            <a:off x="548640" y="5358384"/>
            <a:ext cx="365760" cy="365760"/>
          </a:xfrm>
          <a:prstGeom prst="ellipse">
            <a:avLst/>
          </a:prstGeom>
          <a:solidFill>
            <a:srgbClr val="13707B"/>
          </a:solidFill>
          <a:ln w="12700">
            <a:solidFill>
              <a:srgbClr val="13707B"/>
            </a:solidFill>
            <a:prstDash val="solid"/>
          </a:ln>
        </p:spPr>
      </p:sp>
      <p:pic>
        <p:nvPicPr>
          <p:cNvPr id="92" name="Image 0" descr="preencoded.png">    </p:cNvPr>
          <p:cNvPicPr>
            <a:picLocks noChangeAspect="1"/>
          </p:cNvPicPr>
          <p:nvPr/>
        </p:nvPicPr>
        <p:blipFill>
          <a:blip r:embed="rId1"/>
          <a:stretch>
            <a:fillRect/>
          </a:stretch>
        </p:blipFill>
        <p:spPr>
          <a:xfrm>
            <a:off x="636422" y="5446166"/>
            <a:ext cx="190195" cy="190195"/>
          </a:xfrm>
          <a:prstGeom prst="rect">
            <a:avLst/>
          </a:prstGeom>
        </p:spPr>
      </p:pic>
      <p:sp>
        <p:nvSpPr>
          <p:cNvPr id="93" name="Text 89"/>
          <p:cNvSpPr txBox="1"/>
          <p:nvPr/>
        </p:nvSpPr>
        <p:spPr>
          <a:xfrm>
            <a:off x="1024128" y="5340096"/>
            <a:ext cx="3039770" cy="292608"/>
          </a:xfrm>
          <a:prstGeom prst="rect">
            <a:avLst/>
          </a:prstGeom>
          <a:noFill/>
          <a:ln/>
        </p:spPr>
        <p:txBody>
          <a:bodyPr wrap="square" lIns="0" tIns="0" rIns="0" bIns="0" rtlCol="0" anchor="ctr"/>
          <a:lstStyle/>
          <a:p>
            <a:pPr indent="0" marL="0">
              <a:buNone/>
            </a:pPr>
            <a:r>
              <a:rPr lang="en-AU" sz="1400" b="1" dirty="0">
                <a:solidFill>
                  <a:srgbClr val="0E3B43"/>
                </a:solidFill>
                <a:latin typeface="Calibri" pitchFamily="34" charset="0"/>
                <a:ea typeface="Calibri" pitchFamily="34" charset="-122"/>
                <a:cs typeface="Calibri" pitchFamily="34" charset="-120"/>
              </a:rPr>
              <a:t>View: interaction boundary</a:t>
            </a:r>
            <a:endParaRPr lang="en-AU" sz="1400" dirty="0"/>
          </a:p>
        </p:txBody>
      </p:sp>
      <p:sp>
        <p:nvSpPr>
          <p:cNvPr id="94" name="Text 90"/>
          <p:cNvSpPr txBox="1"/>
          <p:nvPr/>
        </p:nvSpPr>
        <p:spPr>
          <a:xfrm>
            <a:off x="1024128" y="5650992"/>
            <a:ext cx="3039770" cy="70408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Role interfaces for patients, guardians, healthcare professionals and auditors; actions are claims, not decisions</a:t>
            </a:r>
            <a:endParaRPr lang="en-AU" sz="1250" dirty="0"/>
          </a:p>
        </p:txBody>
      </p:sp>
      <p:sp>
        <p:nvSpPr>
          <p:cNvPr id="95" name="Shape 91"/>
          <p:cNvSpPr/>
          <p:nvPr/>
        </p:nvSpPr>
        <p:spPr>
          <a:xfrm>
            <a:off x="4338218" y="5358384"/>
            <a:ext cx="365760" cy="365760"/>
          </a:xfrm>
          <a:prstGeom prst="ellipse">
            <a:avLst/>
          </a:prstGeom>
          <a:solidFill>
            <a:srgbClr val="13707B"/>
          </a:solidFill>
          <a:ln w="12700">
            <a:solidFill>
              <a:srgbClr val="13707B"/>
            </a:solidFill>
            <a:prstDash val="solid"/>
          </a:ln>
        </p:spPr>
      </p:sp>
      <p:pic>
        <p:nvPicPr>
          <p:cNvPr id="96" name="Image 1" descr="preencoded.png">    </p:cNvPr>
          <p:cNvPicPr>
            <a:picLocks noChangeAspect="1"/>
          </p:cNvPicPr>
          <p:nvPr/>
        </p:nvPicPr>
        <p:blipFill>
          <a:blip r:embed="rId2"/>
          <a:stretch>
            <a:fillRect/>
          </a:stretch>
        </p:blipFill>
        <p:spPr>
          <a:xfrm>
            <a:off x="4426001" y="5446166"/>
            <a:ext cx="190195" cy="190195"/>
          </a:xfrm>
          <a:prstGeom prst="rect">
            <a:avLst/>
          </a:prstGeom>
        </p:spPr>
      </p:pic>
      <p:sp>
        <p:nvSpPr>
          <p:cNvPr id="97" name="Text 92"/>
          <p:cNvSpPr txBox="1"/>
          <p:nvPr/>
        </p:nvSpPr>
        <p:spPr>
          <a:xfrm>
            <a:off x="4813706" y="5340096"/>
            <a:ext cx="3039770" cy="292608"/>
          </a:xfrm>
          <a:prstGeom prst="rect">
            <a:avLst/>
          </a:prstGeom>
          <a:noFill/>
          <a:ln/>
        </p:spPr>
        <p:txBody>
          <a:bodyPr wrap="square" lIns="0" tIns="0" rIns="0" bIns="0" rtlCol="0" anchor="ctr"/>
          <a:lstStyle/>
          <a:p>
            <a:pPr indent="0" marL="0">
              <a:buNone/>
            </a:pPr>
            <a:r>
              <a:rPr lang="en-AU" sz="1400" b="1" dirty="0">
                <a:solidFill>
                  <a:srgbClr val="0E3B43"/>
                </a:solidFill>
                <a:latin typeface="Calibri" pitchFamily="34" charset="0"/>
                <a:ea typeface="Calibri" pitchFamily="34" charset="-122"/>
                <a:cs typeface="Calibri" pitchFamily="34" charset="-120"/>
              </a:rPr>
              <a:t>Controller: enforcement</a:t>
            </a:r>
            <a:endParaRPr lang="en-AU" sz="1400" dirty="0"/>
          </a:p>
        </p:txBody>
      </p:sp>
      <p:sp>
        <p:nvSpPr>
          <p:cNvPr id="98" name="Text 93"/>
          <p:cNvSpPr txBox="1"/>
          <p:nvPr/>
        </p:nvSpPr>
        <p:spPr>
          <a:xfrm>
            <a:off x="4813706" y="5650992"/>
            <a:ext cx="3039770" cy="70408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Validates requests; verifies DID, VC and authority; checks threshold and policy; decides; generates audit evidence</a:t>
            </a:r>
            <a:endParaRPr lang="en-AU" sz="1250" dirty="0"/>
          </a:p>
        </p:txBody>
      </p:sp>
      <p:sp>
        <p:nvSpPr>
          <p:cNvPr id="99" name="Shape 94"/>
          <p:cNvSpPr/>
          <p:nvPr/>
        </p:nvSpPr>
        <p:spPr>
          <a:xfrm>
            <a:off x="8127797" y="5358384"/>
            <a:ext cx="365760" cy="365760"/>
          </a:xfrm>
          <a:prstGeom prst="ellipse">
            <a:avLst/>
          </a:prstGeom>
          <a:solidFill>
            <a:srgbClr val="13707B"/>
          </a:solidFill>
          <a:ln w="12700">
            <a:solidFill>
              <a:srgbClr val="13707B"/>
            </a:solidFill>
            <a:prstDash val="solid"/>
          </a:ln>
        </p:spPr>
      </p:sp>
      <p:pic>
        <p:nvPicPr>
          <p:cNvPr id="100" name="Image 2" descr="preencoded.png">    </p:cNvPr>
          <p:cNvPicPr>
            <a:picLocks noChangeAspect="1"/>
          </p:cNvPicPr>
          <p:nvPr/>
        </p:nvPicPr>
        <p:blipFill>
          <a:blip r:embed="rId3"/>
          <a:stretch>
            <a:fillRect/>
          </a:stretch>
        </p:blipFill>
        <p:spPr>
          <a:xfrm>
            <a:off x="8215579" y="5446166"/>
            <a:ext cx="190195" cy="190195"/>
          </a:xfrm>
          <a:prstGeom prst="rect">
            <a:avLst/>
          </a:prstGeom>
        </p:spPr>
      </p:pic>
      <p:sp>
        <p:nvSpPr>
          <p:cNvPr id="101" name="Text 95"/>
          <p:cNvSpPr txBox="1"/>
          <p:nvPr/>
        </p:nvSpPr>
        <p:spPr>
          <a:xfrm>
            <a:off x="8603285" y="5340096"/>
            <a:ext cx="3039770" cy="292608"/>
          </a:xfrm>
          <a:prstGeom prst="rect">
            <a:avLst/>
          </a:prstGeom>
          <a:noFill/>
          <a:ln/>
        </p:spPr>
        <p:txBody>
          <a:bodyPr wrap="square" lIns="0" tIns="0" rIns="0" bIns="0" rtlCol="0" anchor="ctr"/>
          <a:lstStyle/>
          <a:p>
            <a:pPr indent="0" marL="0">
              <a:buNone/>
            </a:pPr>
            <a:r>
              <a:rPr lang="en-AU" sz="1400" b="1" dirty="0">
                <a:solidFill>
                  <a:srgbClr val="0E3B43"/>
                </a:solidFill>
                <a:latin typeface="Calibri" pitchFamily="34" charset="0"/>
                <a:ea typeface="Calibri" pitchFamily="34" charset="-122"/>
                <a:cs typeface="Calibri" pitchFamily="34" charset="-120"/>
              </a:rPr>
              <a:t>Model: security state</a:t>
            </a:r>
            <a:endParaRPr lang="en-AU" sz="1400" dirty="0"/>
          </a:p>
        </p:txBody>
      </p:sp>
      <p:sp>
        <p:nvSpPr>
          <p:cNvPr id="102" name="Text 96"/>
          <p:cNvSpPr txBox="1"/>
          <p:nvPr/>
        </p:nvSpPr>
        <p:spPr>
          <a:xfrm>
            <a:off x="8603285" y="5650992"/>
            <a:ext cx="3039770" cy="70408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DIDs, credentials, consent objects, approvals, policy and scope, evidence, lifecycle; state is not permission</a:t>
            </a:r>
            <a:endParaRPr lang="en-AU"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Access requires every trust predicate to hold</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lnSpc>
                <a:spcPts val="1800"/>
              </a:lnSpc>
              <a:buNone/>
            </a:pPr>
            <a:r>
              <a:rPr lang="en-AU" sz="1500" dirty="0">
                <a:solidFill>
                  <a:srgbClr val="5E6E73"/>
                </a:solidFill>
                <a:latin typeface="Calibri" pitchFamily="34" charset="0"/>
                <a:ea typeface="Calibri" pitchFamily="34" charset="-122"/>
                <a:cs typeface="Calibri" pitchFamily="34" charset="-120"/>
              </a:rPr>
              <a:t>Figure 5.3, Table 5.1: the Controller checks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I</a:t>
            </a:r>
            <a:r>
              <a:rPr lang="en-AU" sz="1500" dirty="0">
                <a:solidFill>
                  <a:srgbClr val="5E6E73"/>
                </a:solidFill>
                <a:latin typeface="Calibri" pitchFamily="34" charset="0"/>
                <a:ea typeface="Calibri" pitchFamily="34" charset="-122"/>
                <a:cs typeface="Calibri" pitchFamily="34" charset="-120"/>
              </a:rPr>
              <a:t>,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A</a:t>
            </a:r>
            <a:r>
              <a:rPr lang="en-AU" sz="1500" dirty="0">
                <a:solidFill>
                  <a:srgbClr val="5E6E73"/>
                </a:solidFill>
                <a:latin typeface="Calibri" pitchFamily="34" charset="0"/>
                <a:ea typeface="Calibri" pitchFamily="34" charset="-122"/>
                <a:cs typeface="Calibri" pitchFamily="34" charset="-120"/>
              </a:rPr>
              <a:t>,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P</a:t>
            </a:r>
            <a:r>
              <a:rPr lang="en-AU" sz="1500" dirty="0">
                <a:solidFill>
                  <a:srgbClr val="5E6E73"/>
                </a:solidFill>
                <a:latin typeface="Calibri" pitchFamily="34" charset="0"/>
                <a:ea typeface="Calibri" pitchFamily="34" charset="-122"/>
                <a:cs typeface="Calibri" pitchFamily="34" charset="-120"/>
              </a:rPr>
              <a:t>,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T</a:t>
            </a:r>
            <a:r>
              <a:rPr lang="en-AU" sz="1500" dirty="0">
                <a:solidFill>
                  <a:srgbClr val="5E6E73"/>
                </a:solidFill>
                <a:latin typeface="Calibri" pitchFamily="34" charset="0"/>
                <a:ea typeface="Calibri" pitchFamily="34" charset="-122"/>
                <a:cs typeface="Calibri" pitchFamily="34" charset="-120"/>
              </a:rPr>
              <a:t>,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L</a:t>
            </a:r>
            <a:r>
              <a:rPr lang="en-AU" sz="1500" dirty="0">
                <a:solidFill>
                  <a:srgbClr val="5E6E73"/>
                </a:solidFill>
                <a:latin typeface="Calibri" pitchFamily="34" charset="0"/>
                <a:ea typeface="Calibri" pitchFamily="34" charset="-122"/>
                <a:cs typeface="Calibri" pitchFamily="34" charset="-120"/>
              </a:rPr>
              <a:t>; any false predicate gives DENY (Eq. 18)</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20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5181448" y="1627632"/>
            <a:ext cx="6035040" cy="768096"/>
          </a:xfrm>
          <a:prstGeom prst="rect">
            <a:avLst/>
          </a:prstGeom>
          <a:solidFill>
            <a:srgbClr val="ECECFF"/>
          </a:solidFill>
          <a:ln w="19050">
            <a:solidFill>
              <a:srgbClr val="9370DB"/>
            </a:solidFill>
            <a:prstDash val="solid"/>
          </a:ln>
        </p:spPr>
      </p:sp>
      <p:sp>
        <p:nvSpPr>
          <p:cNvPr id="9" name="Text 6"/>
          <p:cNvSpPr txBox="1"/>
          <p:nvPr/>
        </p:nvSpPr>
        <p:spPr>
          <a:xfrm>
            <a:off x="5245456" y="1655064"/>
            <a:ext cx="5907024" cy="713232"/>
          </a:xfrm>
          <a:prstGeom prst="rect">
            <a:avLst/>
          </a:prstGeom>
          <a:noFill/>
          <a:ln/>
        </p:spPr>
        <p:txBody>
          <a:bodyPr wrap="square" lIns="0" tIns="0" rIns="0" bIns="0" rtlCol="0" anchor="ctr"/>
          <a:lstStyle/>
          <a:p>
            <a:pPr algn="ctr" indent="0" marL="0">
              <a:lnSpc>
                <a:spcPct val="95000"/>
              </a:lnSpc>
              <a:buNone/>
            </a:pPr>
            <a:r>
              <a:rPr lang="en-AU" sz="1150" b="1" dirty="0">
                <a:solidFill>
                  <a:srgbClr val="1C2B31"/>
                </a:solidFill>
                <a:latin typeface="Calibri" pitchFamily="34" charset="0"/>
                <a:ea typeface="Calibri" pitchFamily="34" charset="-122"/>
                <a:cs typeface="Calibri" pitchFamily="34" charset="-120"/>
              </a:rPr>
              <a:t>MODEL — trust and governance state</a:t>
            </a:r>
            <a:endParaRPr lang="en-AU" sz="1150" dirty="0"/>
          </a:p>
          <a:p>
            <a:pPr algn="ctr" indent="0" marL="0">
              <a:lnSpc>
                <a:spcPct val="95000"/>
              </a:lnSpc>
              <a:buNone/>
            </a:pPr>
            <a:r>
              <a:rPr lang="en-AU" sz="1000" i="1" dirty="0">
                <a:solidFill>
                  <a:srgbClr val="333333"/>
                </a:solidFill>
                <a:latin typeface="Calibri" pitchFamily="34" charset="0"/>
                <a:ea typeface="Calibri" pitchFamily="34" charset="-122"/>
                <a:cs typeface="Calibri" pitchFamily="34" charset="-120"/>
              </a:rPr>
              <a:t>identity and DID records · credentials and authority evidence · consent object · approvals · policy and data scope · validity period · lifecycle state</a:t>
            </a:r>
            <a:endParaRPr lang="en-AU" sz="1150" dirty="0"/>
          </a:p>
        </p:txBody>
      </p:sp>
      <p:sp>
        <p:nvSpPr>
          <p:cNvPr id="10" name="Shape 7"/>
          <p:cNvSpPr/>
          <p:nvPr/>
        </p:nvSpPr>
        <p:spPr>
          <a:xfrm>
            <a:off x="4998568" y="2670048"/>
            <a:ext cx="6400800" cy="2011680"/>
          </a:xfrm>
          <a:prstGeom prst="roundRect">
            <a:avLst>
              <a:gd name="adj" fmla="val 3636"/>
            </a:avLst>
          </a:prstGeom>
          <a:solidFill>
            <a:srgbClr val="FFFFDE"/>
          </a:solidFill>
          <a:ln w="12700">
            <a:solidFill>
              <a:srgbClr val="AAAA33"/>
            </a:solidFill>
            <a:prstDash val="solid"/>
          </a:ln>
        </p:spPr>
      </p:sp>
      <p:sp>
        <p:nvSpPr>
          <p:cNvPr id="11" name="Text 8"/>
          <p:cNvSpPr txBox="1"/>
          <p:nvPr/>
        </p:nvSpPr>
        <p:spPr>
          <a:xfrm>
            <a:off x="5135728" y="2697480"/>
            <a:ext cx="4114800" cy="237744"/>
          </a:xfrm>
          <a:prstGeom prst="rect">
            <a:avLst/>
          </a:prstGeom>
          <a:noFill/>
          <a:ln/>
        </p:spPr>
        <p:txBody>
          <a:bodyPr wrap="square" lIns="0" tIns="0" rIns="0" bIns="0" rtlCol="0" anchor="ctr"/>
          <a:lstStyle/>
          <a:p>
            <a:pPr algn="l" indent="0" marL="0">
              <a:buNone/>
            </a:pPr>
            <a:r>
              <a:rPr lang="en-AU" sz="1050" b="1" dirty="0">
                <a:solidFill>
                  <a:srgbClr val="333333"/>
                </a:solidFill>
                <a:latin typeface="Calibri" pitchFamily="34" charset="0"/>
                <a:ea typeface="Calibri" pitchFamily="34" charset="-122"/>
                <a:cs typeface="Calibri" pitchFamily="34" charset="-120"/>
              </a:rPr>
              <a:t>CONTROLLER — trust predicate evaluation</a:t>
            </a:r>
            <a:endParaRPr lang="en-AU" sz="1050" dirty="0"/>
          </a:p>
        </p:txBody>
      </p:sp>
      <p:sp>
        <p:nvSpPr>
          <p:cNvPr id="12" name="Shape 9"/>
          <p:cNvSpPr/>
          <p:nvPr/>
        </p:nvSpPr>
        <p:spPr>
          <a:xfrm>
            <a:off x="8198968" y="2395728"/>
            <a:ext cx="0" cy="274320"/>
          </a:xfrm>
          <a:prstGeom prst="line">
            <a:avLst/>
          </a:prstGeom>
          <a:noFill/>
          <a:ln w="19050">
            <a:solidFill>
              <a:srgbClr val="A8842A"/>
            </a:solidFill>
            <a:prstDash val="dash"/>
            <a:tailEnd type="triangle"/>
          </a:ln>
        </p:spPr>
      </p:sp>
      <p:sp>
        <p:nvSpPr>
          <p:cNvPr id="13" name="Text 10"/>
          <p:cNvSpPr txBox="1"/>
          <p:nvPr/>
        </p:nvSpPr>
        <p:spPr>
          <a:xfrm>
            <a:off x="8272120" y="2414016"/>
            <a:ext cx="914400" cy="237744"/>
          </a:xfrm>
          <a:prstGeom prst="rect">
            <a:avLst/>
          </a:prstGeom>
          <a:noFill/>
          <a:ln/>
        </p:spPr>
        <p:txBody>
          <a:bodyPr wrap="square" lIns="0" tIns="0" rIns="0" bIns="0" rtlCol="0" anchor="ctr"/>
          <a:lstStyle/>
          <a:p>
            <a:pPr algn="l" indent="0" marL="0">
              <a:buNone/>
            </a:pPr>
            <a:r>
              <a:rPr lang="en-AU" sz="950" i="1" dirty="0">
                <a:solidFill>
                  <a:srgbClr val="5E6E73"/>
                </a:solidFill>
                <a:latin typeface="Calibri" pitchFamily="34" charset="0"/>
                <a:ea typeface="Calibri" pitchFamily="34" charset="-122"/>
                <a:cs typeface="Calibri" pitchFamily="34" charset="-120"/>
              </a:rPr>
              <a:t>evidence</a:t>
            </a:r>
            <a:endParaRPr lang="en-AU" sz="950" dirty="0"/>
          </a:p>
        </p:txBody>
      </p:sp>
      <p:sp>
        <p:nvSpPr>
          <p:cNvPr id="14" name="Shape 11"/>
          <p:cNvSpPr/>
          <p:nvPr/>
        </p:nvSpPr>
        <p:spPr>
          <a:xfrm>
            <a:off x="5227168" y="3044952"/>
            <a:ext cx="960120" cy="457200"/>
          </a:xfrm>
          <a:prstGeom prst="roundRect">
            <a:avLst>
              <a:gd name="adj" fmla="val 24000"/>
            </a:avLst>
          </a:prstGeom>
          <a:solidFill>
            <a:srgbClr val="FFF2CC"/>
          </a:solidFill>
          <a:ln w="19050">
            <a:solidFill>
              <a:srgbClr val="D6B656"/>
            </a:solidFill>
            <a:prstDash val="solid"/>
          </a:ln>
        </p:spPr>
      </p:sp>
      <p:sp>
        <p:nvSpPr>
          <p:cNvPr id="15" name="Text 12"/>
          <p:cNvSpPr txBox="1"/>
          <p:nvPr/>
        </p:nvSpPr>
        <p:spPr>
          <a:xfrm>
            <a:off x="5291176" y="3072384"/>
            <a:ext cx="832104" cy="402336"/>
          </a:xfrm>
          <a:prstGeom prst="rect">
            <a:avLst/>
          </a:prstGeom>
          <a:noFill/>
          <a:ln/>
        </p:spPr>
        <p:txBody>
          <a:bodyPr wrap="square" lIns="0" tIns="0" rIns="0" bIns="0" rtlCol="0" anchor="ctr"/>
          <a:lstStyle/>
          <a:p>
            <a:pPr algn="ctr" indent="0" marL="0">
              <a:lnSpc>
                <a:spcPct val="95000"/>
              </a:lnSpc>
              <a:buNone/>
            </a:pPr>
            <a:r>
              <a:rPr lang="en-AU" sz="1250" b="1" dirty="0">
                <a:solidFill>
                  <a:srgbClr val="1C2B31"/>
                </a:solidFill>
                <a:latin typeface="Calibri" pitchFamily="34" charset="0"/>
                <a:ea typeface="Calibri" pitchFamily="34" charset="-122"/>
                <a:cs typeface="Calibri" pitchFamily="34" charset="-120"/>
              </a:rPr>
              <a:t>V</a:t>
            </a:r>
            <a:r>
              <a:rPr lang="en-AU" sz="1480" b="1" baseline="-25000" dirty="0">
                <a:solidFill>
                  <a:srgbClr val="1C2B31"/>
                </a:solidFill>
                <a:latin typeface="Calibri" pitchFamily="34" charset="0"/>
                <a:ea typeface="Calibri" pitchFamily="34" charset="-122"/>
                <a:cs typeface="Calibri" pitchFamily="34" charset="-120"/>
              </a:rPr>
              <a:t>I</a:t>
            </a:r>
            <a:r>
              <a:rPr lang="en-AU" sz="1250" b="1" dirty="0">
                <a:solidFill>
                  <a:srgbClr val="1C2B31"/>
                </a:solidFill>
                <a:latin typeface="Calibri" pitchFamily="34" charset="0"/>
                <a:ea typeface="Calibri" pitchFamily="34" charset="-122"/>
                <a:cs typeface="Calibri" pitchFamily="34" charset="-120"/>
              </a:rPr>
              <a:t>(u)</a:t>
            </a:r>
            <a:endParaRPr lang="en-AU" sz="1250" dirty="0"/>
          </a:p>
        </p:txBody>
      </p:sp>
      <p:sp>
        <p:nvSpPr>
          <p:cNvPr id="16" name="Shape 13"/>
          <p:cNvSpPr/>
          <p:nvPr/>
        </p:nvSpPr>
        <p:spPr>
          <a:xfrm>
            <a:off x="6479896" y="3044952"/>
            <a:ext cx="960120" cy="457200"/>
          </a:xfrm>
          <a:prstGeom prst="roundRect">
            <a:avLst>
              <a:gd name="adj" fmla="val 24000"/>
            </a:avLst>
          </a:prstGeom>
          <a:solidFill>
            <a:srgbClr val="FFF2CC"/>
          </a:solidFill>
          <a:ln w="19050">
            <a:solidFill>
              <a:srgbClr val="D6B656"/>
            </a:solidFill>
            <a:prstDash val="solid"/>
          </a:ln>
        </p:spPr>
      </p:sp>
      <p:sp>
        <p:nvSpPr>
          <p:cNvPr id="17" name="Text 14"/>
          <p:cNvSpPr txBox="1"/>
          <p:nvPr/>
        </p:nvSpPr>
        <p:spPr>
          <a:xfrm>
            <a:off x="6543904" y="3072384"/>
            <a:ext cx="832104" cy="402336"/>
          </a:xfrm>
          <a:prstGeom prst="rect">
            <a:avLst/>
          </a:prstGeom>
          <a:noFill/>
          <a:ln/>
        </p:spPr>
        <p:txBody>
          <a:bodyPr wrap="square" lIns="0" tIns="0" rIns="0" bIns="0" rtlCol="0" anchor="ctr"/>
          <a:lstStyle/>
          <a:p>
            <a:pPr algn="ctr" indent="0" marL="0">
              <a:lnSpc>
                <a:spcPct val="95000"/>
              </a:lnSpc>
              <a:buNone/>
            </a:pPr>
            <a:r>
              <a:rPr lang="en-AU" sz="1250" b="1" dirty="0">
                <a:solidFill>
                  <a:srgbClr val="1C2B31"/>
                </a:solidFill>
                <a:latin typeface="Calibri" pitchFamily="34" charset="0"/>
                <a:ea typeface="Calibri" pitchFamily="34" charset="-122"/>
                <a:cs typeface="Calibri" pitchFamily="34" charset="-120"/>
              </a:rPr>
              <a:t>V</a:t>
            </a:r>
            <a:r>
              <a:rPr lang="en-AU" sz="1480" b="1" baseline="-25000" dirty="0">
                <a:solidFill>
                  <a:srgbClr val="1C2B31"/>
                </a:solidFill>
                <a:latin typeface="Calibri" pitchFamily="34" charset="0"/>
                <a:ea typeface="Calibri" pitchFamily="34" charset="-122"/>
                <a:cs typeface="Calibri" pitchFamily="34" charset="-120"/>
              </a:rPr>
              <a:t>A</a:t>
            </a:r>
            <a:r>
              <a:rPr lang="en-AU" sz="1250" b="1" dirty="0">
                <a:solidFill>
                  <a:srgbClr val="1C2B31"/>
                </a:solidFill>
                <a:latin typeface="Calibri" pitchFamily="34" charset="0"/>
                <a:ea typeface="Calibri" pitchFamily="34" charset="-122"/>
                <a:cs typeface="Calibri" pitchFamily="34" charset="-120"/>
              </a:rPr>
              <a:t>(C)</a:t>
            </a:r>
            <a:endParaRPr lang="en-AU" sz="1250" dirty="0"/>
          </a:p>
        </p:txBody>
      </p:sp>
      <p:sp>
        <p:nvSpPr>
          <p:cNvPr id="18" name="Shape 15"/>
          <p:cNvSpPr/>
          <p:nvPr/>
        </p:nvSpPr>
        <p:spPr>
          <a:xfrm>
            <a:off x="7732624" y="3044952"/>
            <a:ext cx="960120" cy="457200"/>
          </a:xfrm>
          <a:prstGeom prst="roundRect">
            <a:avLst>
              <a:gd name="adj" fmla="val 24000"/>
            </a:avLst>
          </a:prstGeom>
          <a:solidFill>
            <a:srgbClr val="FFF2CC"/>
          </a:solidFill>
          <a:ln w="19050">
            <a:solidFill>
              <a:srgbClr val="D6B656"/>
            </a:solidFill>
            <a:prstDash val="solid"/>
          </a:ln>
        </p:spPr>
      </p:sp>
      <p:sp>
        <p:nvSpPr>
          <p:cNvPr id="19" name="Text 16"/>
          <p:cNvSpPr txBox="1"/>
          <p:nvPr/>
        </p:nvSpPr>
        <p:spPr>
          <a:xfrm>
            <a:off x="7796632" y="3072384"/>
            <a:ext cx="832104" cy="402336"/>
          </a:xfrm>
          <a:prstGeom prst="rect">
            <a:avLst/>
          </a:prstGeom>
          <a:noFill/>
          <a:ln/>
        </p:spPr>
        <p:txBody>
          <a:bodyPr wrap="square" lIns="0" tIns="0" rIns="0" bIns="0" rtlCol="0" anchor="ctr"/>
          <a:lstStyle/>
          <a:p>
            <a:pPr algn="ctr" indent="0" marL="0">
              <a:lnSpc>
                <a:spcPct val="95000"/>
              </a:lnSpc>
              <a:buNone/>
            </a:pPr>
            <a:r>
              <a:rPr lang="en-AU" sz="1250" b="1" dirty="0">
                <a:solidFill>
                  <a:srgbClr val="1C2B31"/>
                </a:solidFill>
                <a:latin typeface="Calibri" pitchFamily="34" charset="0"/>
                <a:ea typeface="Calibri" pitchFamily="34" charset="-122"/>
                <a:cs typeface="Calibri" pitchFamily="34" charset="-120"/>
              </a:rPr>
              <a:t>V</a:t>
            </a:r>
            <a:r>
              <a:rPr lang="en-AU" sz="1480" b="1" baseline="-25000" dirty="0">
                <a:solidFill>
                  <a:srgbClr val="1C2B31"/>
                </a:solidFill>
                <a:latin typeface="Calibri" pitchFamily="34" charset="0"/>
                <a:ea typeface="Calibri" pitchFamily="34" charset="-122"/>
                <a:cs typeface="Calibri" pitchFamily="34" charset="-120"/>
              </a:rPr>
              <a:t>P</a:t>
            </a:r>
            <a:r>
              <a:rPr lang="en-AU" sz="1250" b="1" dirty="0">
                <a:solidFill>
                  <a:srgbClr val="1C2B31"/>
                </a:solidFill>
                <a:latin typeface="Calibri" pitchFamily="34" charset="0"/>
                <a:ea typeface="Calibri" pitchFamily="34" charset="-122"/>
                <a:cs typeface="Calibri" pitchFamily="34" charset="-120"/>
              </a:rPr>
              <a:t>(C, R)</a:t>
            </a:r>
            <a:endParaRPr lang="en-AU" sz="1250" dirty="0"/>
          </a:p>
        </p:txBody>
      </p:sp>
      <p:sp>
        <p:nvSpPr>
          <p:cNvPr id="20" name="Shape 17"/>
          <p:cNvSpPr/>
          <p:nvPr/>
        </p:nvSpPr>
        <p:spPr>
          <a:xfrm>
            <a:off x="8985352" y="3044952"/>
            <a:ext cx="960120" cy="457200"/>
          </a:xfrm>
          <a:prstGeom prst="roundRect">
            <a:avLst>
              <a:gd name="adj" fmla="val 24000"/>
            </a:avLst>
          </a:prstGeom>
          <a:solidFill>
            <a:srgbClr val="FFF2CC"/>
          </a:solidFill>
          <a:ln w="19050">
            <a:solidFill>
              <a:srgbClr val="D6B656"/>
            </a:solidFill>
            <a:prstDash val="solid"/>
          </a:ln>
        </p:spPr>
      </p:sp>
      <p:sp>
        <p:nvSpPr>
          <p:cNvPr id="21" name="Text 18"/>
          <p:cNvSpPr txBox="1"/>
          <p:nvPr/>
        </p:nvSpPr>
        <p:spPr>
          <a:xfrm>
            <a:off x="9049360" y="3072384"/>
            <a:ext cx="832104" cy="402336"/>
          </a:xfrm>
          <a:prstGeom prst="rect">
            <a:avLst/>
          </a:prstGeom>
          <a:noFill/>
          <a:ln/>
        </p:spPr>
        <p:txBody>
          <a:bodyPr wrap="square" lIns="0" tIns="0" rIns="0" bIns="0" rtlCol="0" anchor="ctr"/>
          <a:lstStyle/>
          <a:p>
            <a:pPr algn="ctr" indent="0" marL="0">
              <a:lnSpc>
                <a:spcPct val="95000"/>
              </a:lnSpc>
              <a:buNone/>
            </a:pPr>
            <a:r>
              <a:rPr lang="en-AU" sz="1250" b="1" dirty="0">
                <a:solidFill>
                  <a:srgbClr val="1C2B31"/>
                </a:solidFill>
                <a:latin typeface="Calibri" pitchFamily="34" charset="0"/>
                <a:ea typeface="Calibri" pitchFamily="34" charset="-122"/>
                <a:cs typeface="Calibri" pitchFamily="34" charset="-120"/>
              </a:rPr>
              <a:t>V</a:t>
            </a:r>
            <a:r>
              <a:rPr lang="en-AU" sz="1480" b="1" baseline="-25000" dirty="0">
                <a:solidFill>
                  <a:srgbClr val="1C2B31"/>
                </a:solidFill>
                <a:latin typeface="Calibri" pitchFamily="34" charset="0"/>
                <a:ea typeface="Calibri" pitchFamily="34" charset="-122"/>
                <a:cs typeface="Calibri" pitchFamily="34" charset="-120"/>
              </a:rPr>
              <a:t>T</a:t>
            </a:r>
            <a:r>
              <a:rPr lang="en-AU" sz="1250" b="1" dirty="0">
                <a:solidFill>
                  <a:srgbClr val="1C2B31"/>
                </a:solidFill>
                <a:latin typeface="Calibri" pitchFamily="34" charset="0"/>
                <a:ea typeface="Calibri" pitchFamily="34" charset="-122"/>
                <a:cs typeface="Calibri" pitchFamily="34" charset="-120"/>
              </a:rPr>
              <a:t>(C, t)</a:t>
            </a:r>
            <a:endParaRPr lang="en-AU" sz="1250" dirty="0"/>
          </a:p>
        </p:txBody>
      </p:sp>
      <p:sp>
        <p:nvSpPr>
          <p:cNvPr id="22" name="Shape 19"/>
          <p:cNvSpPr/>
          <p:nvPr/>
        </p:nvSpPr>
        <p:spPr>
          <a:xfrm>
            <a:off x="10238080" y="3044952"/>
            <a:ext cx="960120" cy="457200"/>
          </a:xfrm>
          <a:prstGeom prst="roundRect">
            <a:avLst>
              <a:gd name="adj" fmla="val 24000"/>
            </a:avLst>
          </a:prstGeom>
          <a:solidFill>
            <a:srgbClr val="FFF2CC"/>
          </a:solidFill>
          <a:ln w="19050">
            <a:solidFill>
              <a:srgbClr val="D6B656"/>
            </a:solidFill>
            <a:prstDash val="solid"/>
          </a:ln>
        </p:spPr>
      </p:sp>
      <p:sp>
        <p:nvSpPr>
          <p:cNvPr id="23" name="Text 20"/>
          <p:cNvSpPr txBox="1"/>
          <p:nvPr/>
        </p:nvSpPr>
        <p:spPr>
          <a:xfrm>
            <a:off x="10302088" y="3072384"/>
            <a:ext cx="832104" cy="402336"/>
          </a:xfrm>
          <a:prstGeom prst="rect">
            <a:avLst/>
          </a:prstGeom>
          <a:noFill/>
          <a:ln/>
        </p:spPr>
        <p:txBody>
          <a:bodyPr wrap="square" lIns="0" tIns="0" rIns="0" bIns="0" rtlCol="0" anchor="ctr"/>
          <a:lstStyle/>
          <a:p>
            <a:pPr algn="ctr" indent="0" marL="0">
              <a:lnSpc>
                <a:spcPct val="95000"/>
              </a:lnSpc>
              <a:buNone/>
            </a:pPr>
            <a:r>
              <a:rPr lang="en-AU" sz="1250" b="1" dirty="0">
                <a:solidFill>
                  <a:srgbClr val="1C2B31"/>
                </a:solidFill>
                <a:latin typeface="Calibri" pitchFamily="34" charset="0"/>
                <a:ea typeface="Calibri" pitchFamily="34" charset="-122"/>
                <a:cs typeface="Calibri" pitchFamily="34" charset="-120"/>
              </a:rPr>
              <a:t>V</a:t>
            </a:r>
            <a:r>
              <a:rPr lang="en-AU" sz="1480" b="1" baseline="-25000" dirty="0">
                <a:solidFill>
                  <a:srgbClr val="1C2B31"/>
                </a:solidFill>
                <a:latin typeface="Calibri" pitchFamily="34" charset="0"/>
                <a:ea typeface="Calibri" pitchFamily="34" charset="-122"/>
                <a:cs typeface="Calibri" pitchFamily="34" charset="-120"/>
              </a:rPr>
              <a:t>L</a:t>
            </a:r>
            <a:r>
              <a:rPr lang="en-AU" sz="1250" b="1" dirty="0">
                <a:solidFill>
                  <a:srgbClr val="1C2B31"/>
                </a:solidFill>
                <a:latin typeface="Calibri" pitchFamily="34" charset="0"/>
                <a:ea typeface="Calibri" pitchFamily="34" charset="-122"/>
                <a:cs typeface="Calibri" pitchFamily="34" charset="-120"/>
              </a:rPr>
              <a:t>(C)</a:t>
            </a:r>
            <a:endParaRPr lang="en-AU" sz="1250" dirty="0"/>
          </a:p>
        </p:txBody>
      </p:sp>
      <p:sp>
        <p:nvSpPr>
          <p:cNvPr id="24" name="Shape 21"/>
          <p:cNvSpPr/>
          <p:nvPr/>
        </p:nvSpPr>
        <p:spPr>
          <a:xfrm>
            <a:off x="6187288" y="3273552"/>
            <a:ext cx="292608" cy="0"/>
          </a:xfrm>
          <a:prstGeom prst="line">
            <a:avLst/>
          </a:prstGeom>
          <a:noFill/>
          <a:ln w="19050">
            <a:solidFill>
              <a:srgbClr val="A8842A"/>
            </a:solidFill>
            <a:prstDash val="solid"/>
            <a:tailEnd type="triangle"/>
          </a:ln>
        </p:spPr>
      </p:sp>
      <p:sp>
        <p:nvSpPr>
          <p:cNvPr id="25" name="Shape 22"/>
          <p:cNvSpPr/>
          <p:nvPr/>
        </p:nvSpPr>
        <p:spPr>
          <a:xfrm>
            <a:off x="7440016" y="3273552"/>
            <a:ext cx="292608" cy="0"/>
          </a:xfrm>
          <a:prstGeom prst="line">
            <a:avLst/>
          </a:prstGeom>
          <a:noFill/>
          <a:ln w="19050">
            <a:solidFill>
              <a:srgbClr val="A8842A"/>
            </a:solidFill>
            <a:prstDash val="solid"/>
            <a:tailEnd type="triangle"/>
          </a:ln>
        </p:spPr>
      </p:sp>
      <p:sp>
        <p:nvSpPr>
          <p:cNvPr id="26" name="Shape 23"/>
          <p:cNvSpPr/>
          <p:nvPr/>
        </p:nvSpPr>
        <p:spPr>
          <a:xfrm>
            <a:off x="8692744" y="3273552"/>
            <a:ext cx="292608" cy="0"/>
          </a:xfrm>
          <a:prstGeom prst="line">
            <a:avLst/>
          </a:prstGeom>
          <a:noFill/>
          <a:ln w="19050">
            <a:solidFill>
              <a:srgbClr val="A8842A"/>
            </a:solidFill>
            <a:prstDash val="solid"/>
            <a:tailEnd type="triangle"/>
          </a:ln>
        </p:spPr>
      </p:sp>
      <p:sp>
        <p:nvSpPr>
          <p:cNvPr id="27" name="Shape 24"/>
          <p:cNvSpPr/>
          <p:nvPr/>
        </p:nvSpPr>
        <p:spPr>
          <a:xfrm>
            <a:off x="9945472" y="3273552"/>
            <a:ext cx="292608" cy="0"/>
          </a:xfrm>
          <a:prstGeom prst="line">
            <a:avLst/>
          </a:prstGeom>
          <a:noFill/>
          <a:ln w="19050">
            <a:solidFill>
              <a:srgbClr val="A8842A"/>
            </a:solidFill>
            <a:prstDash val="solid"/>
            <a:tailEnd type="triangle"/>
          </a:ln>
        </p:spPr>
      </p:sp>
      <p:sp>
        <p:nvSpPr>
          <p:cNvPr id="28" name="Shape 25"/>
          <p:cNvSpPr/>
          <p:nvPr/>
        </p:nvSpPr>
        <p:spPr>
          <a:xfrm>
            <a:off x="7101688" y="3785616"/>
            <a:ext cx="2194560" cy="658368"/>
          </a:xfrm>
          <a:prstGeom prst="diamond">
            <a:avLst/>
          </a:prstGeom>
          <a:solidFill>
            <a:srgbClr val="F8CECC"/>
          </a:solidFill>
          <a:ln w="19050">
            <a:solidFill>
              <a:srgbClr val="B85450"/>
            </a:solidFill>
            <a:prstDash val="solid"/>
          </a:ln>
        </p:spPr>
      </p:sp>
      <p:sp>
        <p:nvSpPr>
          <p:cNvPr id="29" name="Text 26"/>
          <p:cNvSpPr txBox="1"/>
          <p:nvPr/>
        </p:nvSpPr>
        <p:spPr>
          <a:xfrm>
            <a:off x="7474763" y="3871204"/>
            <a:ext cx="1448410" cy="48719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All Required Predicates = TRUE?</a:t>
            </a:r>
            <a:endParaRPr lang="en-AU" sz="1050" dirty="0"/>
          </a:p>
        </p:txBody>
      </p:sp>
      <p:sp>
        <p:nvSpPr>
          <p:cNvPr id="30" name="Shape 27"/>
          <p:cNvSpPr/>
          <p:nvPr/>
        </p:nvSpPr>
        <p:spPr>
          <a:xfrm>
            <a:off x="10718140" y="3502152"/>
            <a:ext cx="0" cy="612648"/>
          </a:xfrm>
          <a:prstGeom prst="line">
            <a:avLst/>
          </a:prstGeom>
          <a:noFill/>
          <a:ln w="19050">
            <a:solidFill>
              <a:srgbClr val="A8842A"/>
            </a:solidFill>
            <a:prstDash val="solid"/>
          </a:ln>
        </p:spPr>
      </p:sp>
      <p:sp>
        <p:nvSpPr>
          <p:cNvPr id="31" name="Shape 28"/>
          <p:cNvSpPr/>
          <p:nvPr/>
        </p:nvSpPr>
        <p:spPr>
          <a:xfrm flipH="1">
            <a:off x="9296248" y="4114800"/>
            <a:ext cx="1421892" cy="0"/>
          </a:xfrm>
          <a:prstGeom prst="line">
            <a:avLst/>
          </a:prstGeom>
          <a:noFill/>
          <a:ln w="19050">
            <a:solidFill>
              <a:srgbClr val="A8842A"/>
            </a:solidFill>
            <a:prstDash val="solid"/>
            <a:tailEnd type="triangle"/>
          </a:ln>
        </p:spPr>
      </p:sp>
      <p:sp>
        <p:nvSpPr>
          <p:cNvPr id="32" name="Shape 29"/>
          <p:cNvSpPr/>
          <p:nvPr/>
        </p:nvSpPr>
        <p:spPr>
          <a:xfrm>
            <a:off x="5592928" y="4937760"/>
            <a:ext cx="1188720" cy="384048"/>
          </a:xfrm>
          <a:prstGeom prst="roundRect">
            <a:avLst>
              <a:gd name="adj" fmla="val 28571"/>
            </a:avLst>
          </a:prstGeom>
          <a:solidFill>
            <a:srgbClr val="FFE6CC"/>
          </a:solidFill>
          <a:ln w="19050">
            <a:solidFill>
              <a:srgbClr val="D79B00"/>
            </a:solidFill>
            <a:prstDash val="solid"/>
          </a:ln>
        </p:spPr>
      </p:sp>
      <p:sp>
        <p:nvSpPr>
          <p:cNvPr id="33" name="Text 30"/>
          <p:cNvSpPr txBox="1"/>
          <p:nvPr/>
        </p:nvSpPr>
        <p:spPr>
          <a:xfrm>
            <a:off x="5656936" y="4965192"/>
            <a:ext cx="1060704" cy="329184"/>
          </a:xfrm>
          <a:prstGeom prst="rect">
            <a:avLst/>
          </a:prstGeom>
          <a:noFill/>
          <a:ln/>
        </p:spPr>
        <p:txBody>
          <a:bodyPr wrap="square" lIns="0" tIns="0" rIns="0" bIns="0" rtlCol="0" anchor="ctr"/>
          <a:lstStyle/>
          <a:p>
            <a:pPr algn="ctr" indent="0" marL="0">
              <a:lnSpc>
                <a:spcPct val="95000"/>
              </a:lnSpc>
              <a:buNone/>
            </a:pPr>
            <a:r>
              <a:rPr lang="en-AU" sz="1200" b="1" dirty="0">
                <a:solidFill>
                  <a:srgbClr val="1C2B31"/>
                </a:solidFill>
                <a:latin typeface="Calibri" pitchFamily="34" charset="0"/>
                <a:ea typeface="Calibri" pitchFamily="34" charset="-122"/>
                <a:cs typeface="Calibri" pitchFamily="34" charset="-120"/>
              </a:rPr>
              <a:t>ALLOW</a:t>
            </a:r>
            <a:endParaRPr lang="en-AU" sz="1200" dirty="0"/>
          </a:p>
        </p:txBody>
      </p:sp>
      <p:sp>
        <p:nvSpPr>
          <p:cNvPr id="34" name="Shape 31"/>
          <p:cNvSpPr/>
          <p:nvPr/>
        </p:nvSpPr>
        <p:spPr>
          <a:xfrm>
            <a:off x="9616288" y="4937760"/>
            <a:ext cx="1188720" cy="384048"/>
          </a:xfrm>
          <a:prstGeom prst="roundRect">
            <a:avLst>
              <a:gd name="adj" fmla="val 28571"/>
            </a:avLst>
          </a:prstGeom>
          <a:solidFill>
            <a:srgbClr val="FFE6CC"/>
          </a:solidFill>
          <a:ln w="19050">
            <a:solidFill>
              <a:srgbClr val="D79B00"/>
            </a:solidFill>
            <a:prstDash val="solid"/>
          </a:ln>
        </p:spPr>
      </p:sp>
      <p:sp>
        <p:nvSpPr>
          <p:cNvPr id="35" name="Text 32"/>
          <p:cNvSpPr txBox="1"/>
          <p:nvPr/>
        </p:nvSpPr>
        <p:spPr>
          <a:xfrm>
            <a:off x="9680296" y="4965192"/>
            <a:ext cx="1060704" cy="329184"/>
          </a:xfrm>
          <a:prstGeom prst="rect">
            <a:avLst/>
          </a:prstGeom>
          <a:noFill/>
          <a:ln/>
        </p:spPr>
        <p:txBody>
          <a:bodyPr wrap="square" lIns="0" tIns="0" rIns="0" bIns="0" rtlCol="0" anchor="ctr"/>
          <a:lstStyle/>
          <a:p>
            <a:pPr algn="ctr" indent="0" marL="0">
              <a:lnSpc>
                <a:spcPct val="95000"/>
              </a:lnSpc>
              <a:buNone/>
            </a:pPr>
            <a:r>
              <a:rPr lang="en-AU" sz="1200" b="1" dirty="0">
                <a:solidFill>
                  <a:srgbClr val="1C2B31"/>
                </a:solidFill>
                <a:latin typeface="Calibri" pitchFamily="34" charset="0"/>
                <a:ea typeface="Calibri" pitchFamily="34" charset="-122"/>
                <a:cs typeface="Calibri" pitchFamily="34" charset="-120"/>
              </a:rPr>
              <a:t>DENY</a:t>
            </a:r>
            <a:endParaRPr lang="en-AU" sz="1200" dirty="0"/>
          </a:p>
        </p:txBody>
      </p:sp>
      <p:sp>
        <p:nvSpPr>
          <p:cNvPr id="36" name="Shape 33"/>
          <p:cNvSpPr/>
          <p:nvPr/>
        </p:nvSpPr>
        <p:spPr>
          <a:xfrm flipH="1">
            <a:off x="6187288" y="4114800"/>
            <a:ext cx="914400" cy="0"/>
          </a:xfrm>
          <a:prstGeom prst="line">
            <a:avLst/>
          </a:prstGeom>
          <a:noFill/>
          <a:ln w="19050">
            <a:solidFill>
              <a:srgbClr val="A8842A"/>
            </a:solidFill>
            <a:prstDash val="solid"/>
          </a:ln>
        </p:spPr>
      </p:sp>
      <p:sp>
        <p:nvSpPr>
          <p:cNvPr id="37" name="Shape 34"/>
          <p:cNvSpPr/>
          <p:nvPr/>
        </p:nvSpPr>
        <p:spPr>
          <a:xfrm>
            <a:off x="6187288" y="4114800"/>
            <a:ext cx="0" cy="822960"/>
          </a:xfrm>
          <a:prstGeom prst="line">
            <a:avLst/>
          </a:prstGeom>
          <a:noFill/>
          <a:ln w="19050">
            <a:solidFill>
              <a:srgbClr val="A8842A"/>
            </a:solidFill>
            <a:prstDash val="solid"/>
            <a:tailEnd type="triangle"/>
          </a:ln>
        </p:spPr>
      </p:sp>
      <p:sp>
        <p:nvSpPr>
          <p:cNvPr id="38" name="Text 35"/>
          <p:cNvSpPr txBox="1"/>
          <p:nvPr/>
        </p:nvSpPr>
        <p:spPr>
          <a:xfrm>
            <a:off x="6233008" y="3913632"/>
            <a:ext cx="457200" cy="182880"/>
          </a:xfrm>
          <a:prstGeom prst="rect">
            <a:avLst/>
          </a:prstGeom>
          <a:noFill/>
          <a:ln/>
        </p:spPr>
        <p:txBody>
          <a:bodyPr wrap="square" lIns="0" tIns="0" rIns="0" bIns="0" rtlCol="0" anchor="ctr"/>
          <a:lstStyle/>
          <a:p>
            <a:pPr algn="l" indent="0" marL="0">
              <a:buNone/>
            </a:pPr>
            <a:r>
              <a:rPr lang="en-AU" sz="950" b="1" dirty="0">
                <a:solidFill>
                  <a:srgbClr val="5E6E73"/>
                </a:solidFill>
                <a:latin typeface="Calibri" pitchFamily="34" charset="0"/>
                <a:ea typeface="Calibri" pitchFamily="34" charset="-122"/>
                <a:cs typeface="Calibri" pitchFamily="34" charset="-120"/>
              </a:rPr>
              <a:t>YES</a:t>
            </a:r>
            <a:endParaRPr lang="en-AU" sz="950" dirty="0"/>
          </a:p>
        </p:txBody>
      </p:sp>
      <p:sp>
        <p:nvSpPr>
          <p:cNvPr id="39" name="Shape 36"/>
          <p:cNvSpPr/>
          <p:nvPr/>
        </p:nvSpPr>
        <p:spPr>
          <a:xfrm>
            <a:off x="8198968" y="4443984"/>
            <a:ext cx="0" cy="347472"/>
          </a:xfrm>
          <a:prstGeom prst="line">
            <a:avLst/>
          </a:prstGeom>
          <a:noFill/>
          <a:ln w="19050">
            <a:solidFill>
              <a:srgbClr val="A8842A"/>
            </a:solidFill>
            <a:prstDash val="solid"/>
          </a:ln>
        </p:spPr>
      </p:sp>
      <p:sp>
        <p:nvSpPr>
          <p:cNvPr id="40" name="Shape 37"/>
          <p:cNvSpPr/>
          <p:nvPr/>
        </p:nvSpPr>
        <p:spPr>
          <a:xfrm>
            <a:off x="8198968" y="4791456"/>
            <a:ext cx="2011680" cy="0"/>
          </a:xfrm>
          <a:prstGeom prst="line">
            <a:avLst/>
          </a:prstGeom>
          <a:noFill/>
          <a:ln w="19050">
            <a:solidFill>
              <a:srgbClr val="A8842A"/>
            </a:solidFill>
            <a:prstDash val="solid"/>
          </a:ln>
        </p:spPr>
      </p:sp>
      <p:sp>
        <p:nvSpPr>
          <p:cNvPr id="41" name="Shape 38"/>
          <p:cNvSpPr/>
          <p:nvPr/>
        </p:nvSpPr>
        <p:spPr>
          <a:xfrm>
            <a:off x="10210648" y="4791456"/>
            <a:ext cx="0" cy="146304"/>
          </a:xfrm>
          <a:prstGeom prst="line">
            <a:avLst/>
          </a:prstGeom>
          <a:noFill/>
          <a:ln w="19050">
            <a:solidFill>
              <a:srgbClr val="A8842A"/>
            </a:solidFill>
            <a:prstDash val="solid"/>
            <a:tailEnd type="triangle"/>
          </a:ln>
        </p:spPr>
      </p:sp>
      <p:sp>
        <p:nvSpPr>
          <p:cNvPr id="42" name="Text 39"/>
          <p:cNvSpPr txBox="1"/>
          <p:nvPr/>
        </p:nvSpPr>
        <p:spPr>
          <a:xfrm>
            <a:off x="8253832" y="4462272"/>
            <a:ext cx="365760" cy="164592"/>
          </a:xfrm>
          <a:prstGeom prst="rect">
            <a:avLst/>
          </a:prstGeom>
          <a:noFill/>
          <a:ln/>
        </p:spPr>
        <p:txBody>
          <a:bodyPr wrap="square" lIns="0" tIns="0" rIns="0" bIns="0" rtlCol="0" anchor="ctr"/>
          <a:lstStyle/>
          <a:p>
            <a:pPr algn="l" indent="0" marL="0">
              <a:buNone/>
            </a:pPr>
            <a:r>
              <a:rPr lang="en-AU" sz="950" b="1" dirty="0">
                <a:solidFill>
                  <a:srgbClr val="5E6E73"/>
                </a:solidFill>
                <a:latin typeface="Calibri" pitchFamily="34" charset="0"/>
                <a:ea typeface="Calibri" pitchFamily="34" charset="-122"/>
                <a:cs typeface="Calibri" pitchFamily="34" charset="-120"/>
              </a:rPr>
              <a:t>NO</a:t>
            </a:r>
            <a:endParaRPr lang="en-AU" sz="950" dirty="0"/>
          </a:p>
        </p:txBody>
      </p:sp>
      <p:sp>
        <p:nvSpPr>
          <p:cNvPr id="43" name="Shape 40"/>
          <p:cNvSpPr/>
          <p:nvPr/>
        </p:nvSpPr>
        <p:spPr>
          <a:xfrm>
            <a:off x="7055968" y="5486400"/>
            <a:ext cx="2286000" cy="384048"/>
          </a:xfrm>
          <a:prstGeom prst="rect">
            <a:avLst/>
          </a:prstGeom>
          <a:solidFill>
            <a:srgbClr val="FFE6CC"/>
          </a:solidFill>
          <a:ln w="19050">
            <a:solidFill>
              <a:srgbClr val="D79B00"/>
            </a:solidFill>
            <a:prstDash val="solid"/>
          </a:ln>
        </p:spPr>
      </p:sp>
      <p:sp>
        <p:nvSpPr>
          <p:cNvPr id="44" name="Text 41"/>
          <p:cNvSpPr txBox="1"/>
          <p:nvPr/>
        </p:nvSpPr>
        <p:spPr>
          <a:xfrm>
            <a:off x="7119976" y="5513832"/>
            <a:ext cx="2157984" cy="329184"/>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Generate Authorisation Evidence</a:t>
            </a:r>
            <a:endParaRPr lang="en-AU" sz="1100" dirty="0"/>
          </a:p>
        </p:txBody>
      </p:sp>
      <p:sp>
        <p:nvSpPr>
          <p:cNvPr id="45" name="Shape 42"/>
          <p:cNvSpPr/>
          <p:nvPr/>
        </p:nvSpPr>
        <p:spPr>
          <a:xfrm>
            <a:off x="6187288" y="5321808"/>
            <a:ext cx="0" cy="356616"/>
          </a:xfrm>
          <a:prstGeom prst="line">
            <a:avLst/>
          </a:prstGeom>
          <a:noFill/>
          <a:ln w="19050">
            <a:solidFill>
              <a:srgbClr val="A8842A"/>
            </a:solidFill>
            <a:prstDash val="solid"/>
          </a:ln>
        </p:spPr>
      </p:sp>
      <p:sp>
        <p:nvSpPr>
          <p:cNvPr id="46" name="Shape 43"/>
          <p:cNvSpPr/>
          <p:nvPr/>
        </p:nvSpPr>
        <p:spPr>
          <a:xfrm>
            <a:off x="6187288" y="5678424"/>
            <a:ext cx="868680" cy="0"/>
          </a:xfrm>
          <a:prstGeom prst="line">
            <a:avLst/>
          </a:prstGeom>
          <a:noFill/>
          <a:ln w="19050">
            <a:solidFill>
              <a:srgbClr val="A8842A"/>
            </a:solidFill>
            <a:prstDash val="solid"/>
            <a:tailEnd type="triangle"/>
          </a:ln>
        </p:spPr>
      </p:sp>
      <p:sp>
        <p:nvSpPr>
          <p:cNvPr id="47" name="Shape 44"/>
          <p:cNvSpPr/>
          <p:nvPr/>
        </p:nvSpPr>
        <p:spPr>
          <a:xfrm>
            <a:off x="10210648" y="5321808"/>
            <a:ext cx="0" cy="356616"/>
          </a:xfrm>
          <a:prstGeom prst="line">
            <a:avLst/>
          </a:prstGeom>
          <a:noFill/>
          <a:ln w="19050">
            <a:solidFill>
              <a:srgbClr val="A8842A"/>
            </a:solidFill>
            <a:prstDash val="solid"/>
          </a:ln>
        </p:spPr>
      </p:sp>
      <p:sp>
        <p:nvSpPr>
          <p:cNvPr id="48" name="Shape 45"/>
          <p:cNvSpPr/>
          <p:nvPr/>
        </p:nvSpPr>
        <p:spPr>
          <a:xfrm flipH="1">
            <a:off x="9341968" y="5678424"/>
            <a:ext cx="868680" cy="0"/>
          </a:xfrm>
          <a:prstGeom prst="line">
            <a:avLst/>
          </a:prstGeom>
          <a:noFill/>
          <a:ln w="19050">
            <a:solidFill>
              <a:srgbClr val="A8842A"/>
            </a:solidFill>
            <a:prstDash val="solid"/>
            <a:tailEnd type="triangle"/>
          </a:ln>
        </p:spPr>
      </p:sp>
      <p:sp>
        <p:nvSpPr>
          <p:cNvPr id="49" name="Text 46"/>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5.3: Trust predicate evaluation and authorisation decision flow</a:t>
            </a:r>
            <a:endParaRPr lang="en-AU" sz="1050" dirty="0"/>
          </a:p>
        </p:txBody>
      </p:sp>
      <p:sp>
        <p:nvSpPr>
          <p:cNvPr id="50" name="Shape 47"/>
          <p:cNvSpPr/>
          <p:nvPr/>
        </p:nvSpPr>
        <p:spPr>
          <a:xfrm>
            <a:off x="548640" y="1664208"/>
            <a:ext cx="384048" cy="384048"/>
          </a:xfrm>
          <a:prstGeom prst="ellipse">
            <a:avLst/>
          </a:prstGeom>
          <a:solidFill>
            <a:srgbClr val="13707B"/>
          </a:solidFill>
          <a:ln w="12700">
            <a:solidFill>
              <a:srgbClr val="13707B"/>
            </a:solidFill>
            <a:prstDash val="solid"/>
          </a:ln>
        </p:spPr>
      </p:sp>
      <p:pic>
        <p:nvPicPr>
          <p:cNvPr id="51"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52" name="Text 48"/>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Authority separation</a:t>
            </a:r>
            <a:endParaRPr lang="en-AU" sz="1500" dirty="0"/>
          </a:p>
        </p:txBody>
      </p:sp>
      <p:sp>
        <p:nvSpPr>
          <p:cNvPr id="53" name="Text 49"/>
          <p:cNvSpPr txBox="1"/>
          <p:nvPr/>
        </p:nvSpPr>
        <p:spPr>
          <a:xfrm>
            <a:off x="1115568" y="197510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Identity and authority evidence checked separately; authentication alone does not authorise</a:t>
            </a:r>
            <a:endParaRPr lang="en-AU" sz="1250" dirty="0"/>
          </a:p>
        </p:txBody>
      </p:sp>
      <p:sp>
        <p:nvSpPr>
          <p:cNvPr id="54" name="Shape 50"/>
          <p:cNvSpPr/>
          <p:nvPr/>
        </p:nvSpPr>
        <p:spPr>
          <a:xfrm>
            <a:off x="548640" y="2841498"/>
            <a:ext cx="384048" cy="384048"/>
          </a:xfrm>
          <a:prstGeom prst="ellipse">
            <a:avLst/>
          </a:prstGeom>
          <a:solidFill>
            <a:srgbClr val="13707B"/>
          </a:solidFill>
          <a:ln w="12700">
            <a:solidFill>
              <a:srgbClr val="13707B"/>
            </a:solidFill>
            <a:prstDash val="solid"/>
          </a:ln>
        </p:spPr>
      </p:sp>
      <p:pic>
        <p:nvPicPr>
          <p:cNvPr id="55"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56" name="Text 51"/>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Multi-party authorisation integrity</a:t>
            </a:r>
            <a:endParaRPr lang="en-AU" sz="1500" dirty="0"/>
          </a:p>
        </p:txBody>
      </p:sp>
      <p:sp>
        <p:nvSpPr>
          <p:cNvPr id="57" name="Text 52"/>
          <p:cNvSpPr txBox="1"/>
          <p:nvPr/>
        </p:nvSpPr>
        <p:spPr>
          <a:xfrm>
            <a:off x="1115568" y="315239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Threshold on verified approvals; no unilateral access when collective approval is required</a:t>
            </a:r>
            <a:endParaRPr lang="en-AU" sz="1250" dirty="0"/>
          </a:p>
        </p:txBody>
      </p:sp>
      <p:sp>
        <p:nvSpPr>
          <p:cNvPr id="58" name="Shape 53"/>
          <p:cNvSpPr/>
          <p:nvPr/>
        </p:nvSpPr>
        <p:spPr>
          <a:xfrm>
            <a:off x="548640" y="4018788"/>
            <a:ext cx="384048" cy="384048"/>
          </a:xfrm>
          <a:prstGeom prst="ellipse">
            <a:avLst/>
          </a:prstGeom>
          <a:solidFill>
            <a:srgbClr val="13707B"/>
          </a:solidFill>
          <a:ln w="12700">
            <a:solidFill>
              <a:srgbClr val="13707B"/>
            </a:solidFill>
            <a:prstDash val="solid"/>
          </a:ln>
        </p:spPr>
      </p:sp>
      <p:pic>
        <p:nvPicPr>
          <p:cNvPr id="59"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60" name="Text 54"/>
          <p:cNvSpPr txBox="1"/>
          <p:nvPr/>
        </p:nvSpPr>
        <p:spPr>
          <a:xfrm>
            <a:off x="1115568" y="400050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Policy-bounded access</a:t>
            </a:r>
            <a:endParaRPr lang="en-AU" sz="1500" dirty="0"/>
          </a:p>
        </p:txBody>
      </p:sp>
      <p:sp>
        <p:nvSpPr>
          <p:cNvPr id="61" name="Text 55"/>
          <p:cNvSpPr txBox="1"/>
          <p:nvPr/>
        </p:nvSpPr>
        <p:spPr>
          <a:xfrm>
            <a:off x="1115568" y="432968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Purpose and requested scope checked against the consent; approvals cannot exceed its scope</a:t>
            </a:r>
            <a:endParaRPr lang="en-AU" sz="1250" dirty="0"/>
          </a:p>
        </p:txBody>
      </p:sp>
      <p:sp>
        <p:nvSpPr>
          <p:cNvPr id="62" name="Shape 56"/>
          <p:cNvSpPr/>
          <p:nvPr/>
        </p:nvSpPr>
        <p:spPr>
          <a:xfrm>
            <a:off x="548640" y="5196078"/>
            <a:ext cx="384048" cy="384048"/>
          </a:xfrm>
          <a:prstGeom prst="ellipse">
            <a:avLst/>
          </a:prstGeom>
          <a:solidFill>
            <a:srgbClr val="13707B"/>
          </a:solidFill>
          <a:ln w="12700">
            <a:solidFill>
              <a:srgbClr val="13707B"/>
            </a:solidFill>
            <a:prstDash val="solid"/>
          </a:ln>
        </p:spPr>
      </p:sp>
      <p:pic>
        <p:nvPicPr>
          <p:cNvPr id="63"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64" name="Text 57"/>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Authorisation evidence</a:t>
            </a:r>
            <a:endParaRPr lang="en-AU" sz="1500" dirty="0"/>
          </a:p>
        </p:txBody>
      </p:sp>
      <p:sp>
        <p:nvSpPr>
          <p:cNvPr id="65" name="Text 58"/>
          <p:cNvSpPr txBox="1"/>
          <p:nvPr/>
        </p:nvSpPr>
        <p:spPr>
          <a:xfrm>
            <a:off x="1115568" y="550697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Verification results, approvals, policy outcome and decision recorded for both ALLOW and DENY</a:t>
            </a:r>
            <a:endParaRPr lang="en-AU"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From consent specification to audited decision</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5.2: consent becomes an evaluable authorisation object, checked before data are released</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21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4998568" y="1655064"/>
            <a:ext cx="1417320" cy="457200"/>
          </a:xfrm>
          <a:prstGeom prst="roundRect">
            <a:avLst>
              <a:gd name="adj" fmla="val 24000"/>
            </a:avLst>
          </a:prstGeom>
          <a:solidFill>
            <a:srgbClr val="FFF2CC"/>
          </a:solidFill>
          <a:ln w="19050">
            <a:solidFill>
              <a:srgbClr val="D6B656"/>
            </a:solidFill>
            <a:prstDash val="solid"/>
          </a:ln>
        </p:spPr>
      </p:sp>
      <p:sp>
        <p:nvSpPr>
          <p:cNvPr id="9" name="Text 6"/>
          <p:cNvSpPr txBox="1"/>
          <p:nvPr/>
        </p:nvSpPr>
        <p:spPr>
          <a:xfrm>
            <a:off x="5062576" y="1682496"/>
            <a:ext cx="128930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Patient Creates Consent</a:t>
            </a:r>
            <a:endParaRPr lang="en-AU" sz="1050" dirty="0"/>
          </a:p>
        </p:txBody>
      </p:sp>
      <p:sp>
        <p:nvSpPr>
          <p:cNvPr id="10" name="Shape 7"/>
          <p:cNvSpPr/>
          <p:nvPr/>
        </p:nvSpPr>
        <p:spPr>
          <a:xfrm>
            <a:off x="6598768" y="1655064"/>
            <a:ext cx="2834640" cy="457200"/>
          </a:xfrm>
          <a:prstGeom prst="rect">
            <a:avLst/>
          </a:prstGeom>
          <a:solidFill>
            <a:srgbClr val="FFF2CC"/>
          </a:solidFill>
          <a:ln w="19050">
            <a:solidFill>
              <a:srgbClr val="D6B656"/>
            </a:solidFill>
            <a:prstDash val="solid"/>
          </a:ln>
        </p:spPr>
      </p:sp>
      <p:sp>
        <p:nvSpPr>
          <p:cNvPr id="11" name="Text 8"/>
          <p:cNvSpPr txBox="1"/>
          <p:nvPr/>
        </p:nvSpPr>
        <p:spPr>
          <a:xfrm>
            <a:off x="6662776" y="1682496"/>
            <a:ext cx="270662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Consent Specification: Purpose · Data Scope · Conditions</a:t>
            </a:r>
            <a:endParaRPr lang="en-AU" sz="1050" dirty="0"/>
          </a:p>
        </p:txBody>
      </p:sp>
      <p:sp>
        <p:nvSpPr>
          <p:cNvPr id="12" name="Shape 9"/>
          <p:cNvSpPr/>
          <p:nvPr/>
        </p:nvSpPr>
        <p:spPr>
          <a:xfrm>
            <a:off x="6415888" y="1883664"/>
            <a:ext cx="182880" cy="0"/>
          </a:xfrm>
          <a:prstGeom prst="line">
            <a:avLst/>
          </a:prstGeom>
          <a:noFill/>
          <a:ln w="19050">
            <a:solidFill>
              <a:srgbClr val="A8842A"/>
            </a:solidFill>
            <a:prstDash val="solid"/>
            <a:tailEnd type="triangle"/>
          </a:ln>
        </p:spPr>
      </p:sp>
      <p:sp>
        <p:nvSpPr>
          <p:cNvPr id="13" name="Shape 10"/>
          <p:cNvSpPr/>
          <p:nvPr/>
        </p:nvSpPr>
        <p:spPr>
          <a:xfrm>
            <a:off x="4998568" y="2295144"/>
            <a:ext cx="2560320" cy="402336"/>
          </a:xfrm>
          <a:prstGeom prst="rect">
            <a:avLst/>
          </a:prstGeom>
          <a:solidFill>
            <a:srgbClr val="FFF2CC"/>
          </a:solidFill>
          <a:ln w="19050">
            <a:solidFill>
              <a:srgbClr val="D6B656"/>
            </a:solidFill>
            <a:prstDash val="solid"/>
          </a:ln>
        </p:spPr>
      </p:sp>
      <p:sp>
        <p:nvSpPr>
          <p:cNvPr id="14" name="Text 11"/>
          <p:cNvSpPr txBox="1"/>
          <p:nvPr/>
        </p:nvSpPr>
        <p:spPr>
          <a:xfrm>
            <a:off x="5062576" y="2322576"/>
            <a:ext cx="243230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DID / VC Verification: Identity &amp; Authority Validation</a:t>
            </a:r>
            <a:endParaRPr lang="en-AU" sz="1050" dirty="0"/>
          </a:p>
        </p:txBody>
      </p:sp>
      <p:sp>
        <p:nvSpPr>
          <p:cNvPr id="15" name="Shape 12"/>
          <p:cNvSpPr/>
          <p:nvPr/>
        </p:nvSpPr>
        <p:spPr>
          <a:xfrm>
            <a:off x="7787488" y="2304288"/>
            <a:ext cx="2103120" cy="384048"/>
          </a:xfrm>
          <a:prstGeom prst="diamond">
            <a:avLst/>
          </a:prstGeom>
          <a:solidFill>
            <a:srgbClr val="FFF2CC"/>
          </a:solidFill>
          <a:ln w="19050">
            <a:solidFill>
              <a:srgbClr val="D6B656"/>
            </a:solidFill>
            <a:prstDash val="solid"/>
          </a:ln>
        </p:spPr>
      </p:sp>
      <p:sp>
        <p:nvSpPr>
          <p:cNvPr id="16" name="Text 13"/>
          <p:cNvSpPr txBox="1"/>
          <p:nvPr/>
        </p:nvSpPr>
        <p:spPr>
          <a:xfrm>
            <a:off x="8145018" y="2354214"/>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Identity and</a:t>
            </a:r>
            <a:endParaRPr lang="en-AU" sz="1050" dirty="0"/>
          </a:p>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Authority Valid?</a:t>
            </a:r>
            <a:endParaRPr lang="en-AU" sz="1050" dirty="0"/>
          </a:p>
        </p:txBody>
      </p:sp>
      <p:sp>
        <p:nvSpPr>
          <p:cNvPr id="17" name="Shape 14"/>
          <p:cNvSpPr/>
          <p:nvPr/>
        </p:nvSpPr>
        <p:spPr>
          <a:xfrm>
            <a:off x="8016088" y="2112264"/>
            <a:ext cx="0" cy="82296"/>
          </a:xfrm>
          <a:prstGeom prst="line">
            <a:avLst/>
          </a:prstGeom>
          <a:noFill/>
          <a:ln w="19050">
            <a:solidFill>
              <a:srgbClr val="A8842A"/>
            </a:solidFill>
            <a:prstDash val="solid"/>
          </a:ln>
        </p:spPr>
      </p:sp>
      <p:sp>
        <p:nvSpPr>
          <p:cNvPr id="18" name="Shape 15"/>
          <p:cNvSpPr/>
          <p:nvPr/>
        </p:nvSpPr>
        <p:spPr>
          <a:xfrm flipH="1">
            <a:off x="6278728" y="2194560"/>
            <a:ext cx="1737360" cy="0"/>
          </a:xfrm>
          <a:prstGeom prst="line">
            <a:avLst/>
          </a:prstGeom>
          <a:noFill/>
          <a:ln w="19050">
            <a:solidFill>
              <a:srgbClr val="A8842A"/>
            </a:solidFill>
            <a:prstDash val="solid"/>
          </a:ln>
        </p:spPr>
      </p:sp>
      <p:sp>
        <p:nvSpPr>
          <p:cNvPr id="19" name="Shape 16"/>
          <p:cNvSpPr/>
          <p:nvPr/>
        </p:nvSpPr>
        <p:spPr>
          <a:xfrm>
            <a:off x="6278728" y="2194560"/>
            <a:ext cx="0" cy="100584"/>
          </a:xfrm>
          <a:prstGeom prst="line">
            <a:avLst/>
          </a:prstGeom>
          <a:noFill/>
          <a:ln w="19050">
            <a:solidFill>
              <a:srgbClr val="A8842A"/>
            </a:solidFill>
            <a:prstDash val="solid"/>
            <a:tailEnd type="triangle"/>
          </a:ln>
        </p:spPr>
      </p:sp>
      <p:sp>
        <p:nvSpPr>
          <p:cNvPr id="20" name="Shape 17"/>
          <p:cNvSpPr/>
          <p:nvPr/>
        </p:nvSpPr>
        <p:spPr>
          <a:xfrm>
            <a:off x="7558888" y="2496312"/>
            <a:ext cx="228600" cy="0"/>
          </a:xfrm>
          <a:prstGeom prst="line">
            <a:avLst/>
          </a:prstGeom>
          <a:noFill/>
          <a:ln w="19050">
            <a:solidFill>
              <a:srgbClr val="A8842A"/>
            </a:solidFill>
            <a:prstDash val="solid"/>
            <a:tailEnd type="triangle"/>
          </a:ln>
        </p:spPr>
      </p:sp>
      <p:sp>
        <p:nvSpPr>
          <p:cNvPr id="21" name="Shape 18"/>
          <p:cNvSpPr/>
          <p:nvPr/>
        </p:nvSpPr>
        <p:spPr>
          <a:xfrm>
            <a:off x="4998568" y="2862072"/>
            <a:ext cx="2560320" cy="365760"/>
          </a:xfrm>
          <a:prstGeom prst="rect">
            <a:avLst/>
          </a:prstGeom>
          <a:solidFill>
            <a:srgbClr val="FFF2CC"/>
          </a:solidFill>
          <a:ln w="19050">
            <a:solidFill>
              <a:srgbClr val="D6B656"/>
            </a:solidFill>
            <a:prstDash val="solid"/>
          </a:ln>
        </p:spPr>
      </p:sp>
      <p:sp>
        <p:nvSpPr>
          <p:cNvPr id="22" name="Text 19"/>
          <p:cNvSpPr txBox="1"/>
          <p:nvPr/>
        </p:nvSpPr>
        <p:spPr>
          <a:xfrm>
            <a:off x="5062576" y="2889504"/>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Identify Authorisation Participants</a:t>
            </a:r>
            <a:endParaRPr lang="en-AU" sz="1100" dirty="0"/>
          </a:p>
        </p:txBody>
      </p:sp>
      <p:sp>
        <p:nvSpPr>
          <p:cNvPr id="23" name="Shape 20"/>
          <p:cNvSpPr/>
          <p:nvPr/>
        </p:nvSpPr>
        <p:spPr>
          <a:xfrm>
            <a:off x="8839048" y="2688336"/>
            <a:ext cx="0" cy="86868"/>
          </a:xfrm>
          <a:prstGeom prst="line">
            <a:avLst/>
          </a:prstGeom>
          <a:noFill/>
          <a:ln w="19050">
            <a:solidFill>
              <a:srgbClr val="A8842A"/>
            </a:solidFill>
            <a:prstDash val="solid"/>
          </a:ln>
        </p:spPr>
      </p:sp>
      <p:sp>
        <p:nvSpPr>
          <p:cNvPr id="24" name="Shape 21"/>
          <p:cNvSpPr/>
          <p:nvPr/>
        </p:nvSpPr>
        <p:spPr>
          <a:xfrm flipH="1">
            <a:off x="6278728" y="2775204"/>
            <a:ext cx="2560320" cy="0"/>
          </a:xfrm>
          <a:prstGeom prst="line">
            <a:avLst/>
          </a:prstGeom>
          <a:noFill/>
          <a:ln w="19050">
            <a:solidFill>
              <a:srgbClr val="A8842A"/>
            </a:solidFill>
            <a:prstDash val="solid"/>
          </a:ln>
        </p:spPr>
      </p:sp>
      <p:sp>
        <p:nvSpPr>
          <p:cNvPr id="25" name="Shape 22"/>
          <p:cNvSpPr/>
          <p:nvPr/>
        </p:nvSpPr>
        <p:spPr>
          <a:xfrm>
            <a:off x="6278728" y="2775204"/>
            <a:ext cx="0" cy="86868"/>
          </a:xfrm>
          <a:prstGeom prst="line">
            <a:avLst/>
          </a:prstGeom>
          <a:noFill/>
          <a:ln w="19050">
            <a:solidFill>
              <a:srgbClr val="A8842A"/>
            </a:solidFill>
            <a:prstDash val="solid"/>
            <a:tailEnd type="triangle"/>
          </a:ln>
        </p:spPr>
      </p:sp>
      <p:sp>
        <p:nvSpPr>
          <p:cNvPr id="26" name="Text 23"/>
          <p:cNvSpPr txBox="1"/>
          <p:nvPr/>
        </p:nvSpPr>
        <p:spPr>
          <a:xfrm>
            <a:off x="8893912" y="267004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27" name="Shape 24"/>
          <p:cNvSpPr/>
          <p:nvPr/>
        </p:nvSpPr>
        <p:spPr>
          <a:xfrm>
            <a:off x="4998568" y="3392424"/>
            <a:ext cx="2560320" cy="402336"/>
          </a:xfrm>
          <a:prstGeom prst="rect">
            <a:avLst/>
          </a:prstGeom>
          <a:solidFill>
            <a:srgbClr val="FFF2CC"/>
          </a:solidFill>
          <a:ln w="19050">
            <a:solidFill>
              <a:srgbClr val="D6B656"/>
            </a:solidFill>
            <a:prstDash val="solid"/>
          </a:ln>
        </p:spPr>
      </p:sp>
      <p:sp>
        <p:nvSpPr>
          <p:cNvPr id="28" name="Text 25"/>
          <p:cNvSpPr txBox="1"/>
          <p:nvPr/>
        </p:nvSpPr>
        <p:spPr>
          <a:xfrm>
            <a:off x="5062576" y="3419856"/>
            <a:ext cx="243230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Multi-Party Approval: Collect Independent Approvals</a:t>
            </a:r>
            <a:endParaRPr lang="en-AU" sz="1050" dirty="0"/>
          </a:p>
        </p:txBody>
      </p:sp>
      <p:sp>
        <p:nvSpPr>
          <p:cNvPr id="29" name="Shape 26"/>
          <p:cNvSpPr/>
          <p:nvPr/>
        </p:nvSpPr>
        <p:spPr>
          <a:xfrm>
            <a:off x="6278728" y="3227832"/>
            <a:ext cx="0" cy="164592"/>
          </a:xfrm>
          <a:prstGeom prst="line">
            <a:avLst/>
          </a:prstGeom>
          <a:noFill/>
          <a:ln w="19050">
            <a:solidFill>
              <a:srgbClr val="A8842A"/>
            </a:solidFill>
            <a:prstDash val="solid"/>
            <a:tailEnd type="triangle"/>
          </a:ln>
        </p:spPr>
      </p:sp>
      <p:sp>
        <p:nvSpPr>
          <p:cNvPr id="30" name="Shape 27"/>
          <p:cNvSpPr/>
          <p:nvPr/>
        </p:nvSpPr>
        <p:spPr>
          <a:xfrm>
            <a:off x="7787488" y="3401568"/>
            <a:ext cx="2103120" cy="384048"/>
          </a:xfrm>
          <a:prstGeom prst="diamond">
            <a:avLst/>
          </a:prstGeom>
          <a:solidFill>
            <a:srgbClr val="FFF2CC"/>
          </a:solidFill>
          <a:ln w="19050">
            <a:solidFill>
              <a:srgbClr val="D6B656"/>
            </a:solidFill>
            <a:prstDash val="solid"/>
          </a:ln>
        </p:spPr>
      </p:sp>
      <p:sp>
        <p:nvSpPr>
          <p:cNvPr id="31" name="Text 28"/>
          <p:cNvSpPr txBox="1"/>
          <p:nvPr/>
        </p:nvSpPr>
        <p:spPr>
          <a:xfrm>
            <a:off x="8145018" y="3451494"/>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Threshold Satisfied?</a:t>
            </a:r>
            <a:endParaRPr lang="en-AU" sz="1050" dirty="0"/>
          </a:p>
        </p:txBody>
      </p:sp>
      <p:sp>
        <p:nvSpPr>
          <p:cNvPr id="32" name="Shape 29"/>
          <p:cNvSpPr/>
          <p:nvPr/>
        </p:nvSpPr>
        <p:spPr>
          <a:xfrm>
            <a:off x="7558888" y="3593592"/>
            <a:ext cx="228600" cy="0"/>
          </a:xfrm>
          <a:prstGeom prst="line">
            <a:avLst/>
          </a:prstGeom>
          <a:noFill/>
          <a:ln w="19050">
            <a:solidFill>
              <a:srgbClr val="A8842A"/>
            </a:solidFill>
            <a:prstDash val="solid"/>
            <a:tailEnd type="triangle"/>
          </a:ln>
        </p:spPr>
      </p:sp>
      <p:sp>
        <p:nvSpPr>
          <p:cNvPr id="33" name="Shape 30"/>
          <p:cNvSpPr/>
          <p:nvPr/>
        </p:nvSpPr>
        <p:spPr>
          <a:xfrm>
            <a:off x="4998568" y="3941064"/>
            <a:ext cx="2560320" cy="402336"/>
          </a:xfrm>
          <a:prstGeom prst="rect">
            <a:avLst/>
          </a:prstGeom>
          <a:solidFill>
            <a:srgbClr val="FFF2CC"/>
          </a:solidFill>
          <a:ln w="19050">
            <a:solidFill>
              <a:srgbClr val="D6B656"/>
            </a:solidFill>
            <a:prstDash val="solid"/>
          </a:ln>
        </p:spPr>
      </p:sp>
      <p:sp>
        <p:nvSpPr>
          <p:cNvPr id="34" name="Text 31"/>
          <p:cNvSpPr txBox="1"/>
          <p:nvPr/>
        </p:nvSpPr>
        <p:spPr>
          <a:xfrm>
            <a:off x="5062576" y="3968496"/>
            <a:ext cx="243230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Policy Evaluation: Purpose &amp; Data-Scope Validation</a:t>
            </a:r>
            <a:endParaRPr lang="en-AU" sz="1050" dirty="0"/>
          </a:p>
        </p:txBody>
      </p:sp>
      <p:sp>
        <p:nvSpPr>
          <p:cNvPr id="35" name="Shape 32"/>
          <p:cNvSpPr/>
          <p:nvPr/>
        </p:nvSpPr>
        <p:spPr>
          <a:xfrm>
            <a:off x="8839048" y="3785616"/>
            <a:ext cx="0" cy="77724"/>
          </a:xfrm>
          <a:prstGeom prst="line">
            <a:avLst/>
          </a:prstGeom>
          <a:noFill/>
          <a:ln w="19050">
            <a:solidFill>
              <a:srgbClr val="A8842A"/>
            </a:solidFill>
            <a:prstDash val="solid"/>
          </a:ln>
        </p:spPr>
      </p:sp>
      <p:sp>
        <p:nvSpPr>
          <p:cNvPr id="36" name="Shape 33"/>
          <p:cNvSpPr/>
          <p:nvPr/>
        </p:nvSpPr>
        <p:spPr>
          <a:xfrm flipH="1">
            <a:off x="6278728" y="3863340"/>
            <a:ext cx="2560320" cy="0"/>
          </a:xfrm>
          <a:prstGeom prst="line">
            <a:avLst/>
          </a:prstGeom>
          <a:noFill/>
          <a:ln w="19050">
            <a:solidFill>
              <a:srgbClr val="A8842A"/>
            </a:solidFill>
            <a:prstDash val="solid"/>
          </a:ln>
        </p:spPr>
      </p:sp>
      <p:sp>
        <p:nvSpPr>
          <p:cNvPr id="37" name="Shape 34"/>
          <p:cNvSpPr/>
          <p:nvPr/>
        </p:nvSpPr>
        <p:spPr>
          <a:xfrm>
            <a:off x="6278728" y="3863340"/>
            <a:ext cx="0" cy="77724"/>
          </a:xfrm>
          <a:prstGeom prst="line">
            <a:avLst/>
          </a:prstGeom>
          <a:noFill/>
          <a:ln w="19050">
            <a:solidFill>
              <a:srgbClr val="A8842A"/>
            </a:solidFill>
            <a:prstDash val="solid"/>
            <a:tailEnd type="triangle"/>
          </a:ln>
        </p:spPr>
      </p:sp>
      <p:sp>
        <p:nvSpPr>
          <p:cNvPr id="38" name="Text 35"/>
          <p:cNvSpPr txBox="1"/>
          <p:nvPr/>
        </p:nvSpPr>
        <p:spPr>
          <a:xfrm>
            <a:off x="8893912" y="376732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39" name="Shape 36"/>
          <p:cNvSpPr/>
          <p:nvPr/>
        </p:nvSpPr>
        <p:spPr>
          <a:xfrm>
            <a:off x="7787488" y="3950208"/>
            <a:ext cx="2103120" cy="384048"/>
          </a:xfrm>
          <a:prstGeom prst="diamond">
            <a:avLst/>
          </a:prstGeom>
          <a:solidFill>
            <a:srgbClr val="FFF2CC"/>
          </a:solidFill>
          <a:ln w="19050">
            <a:solidFill>
              <a:srgbClr val="D6B656"/>
            </a:solidFill>
            <a:prstDash val="solid"/>
          </a:ln>
        </p:spPr>
      </p:sp>
      <p:sp>
        <p:nvSpPr>
          <p:cNvPr id="40" name="Text 37"/>
          <p:cNvSpPr txBox="1"/>
          <p:nvPr/>
        </p:nvSpPr>
        <p:spPr>
          <a:xfrm>
            <a:off x="8145018" y="4000134"/>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Policy Compliant?</a:t>
            </a:r>
            <a:endParaRPr lang="en-AU" sz="1050" dirty="0"/>
          </a:p>
        </p:txBody>
      </p:sp>
      <p:sp>
        <p:nvSpPr>
          <p:cNvPr id="41" name="Shape 38"/>
          <p:cNvSpPr/>
          <p:nvPr/>
        </p:nvSpPr>
        <p:spPr>
          <a:xfrm>
            <a:off x="7558888" y="4142232"/>
            <a:ext cx="228600" cy="0"/>
          </a:xfrm>
          <a:prstGeom prst="line">
            <a:avLst/>
          </a:prstGeom>
          <a:noFill/>
          <a:ln w="19050">
            <a:solidFill>
              <a:srgbClr val="A8842A"/>
            </a:solidFill>
            <a:prstDash val="solid"/>
            <a:tailEnd type="triangle"/>
          </a:ln>
        </p:spPr>
      </p:sp>
      <p:sp>
        <p:nvSpPr>
          <p:cNvPr id="42" name="Shape 39"/>
          <p:cNvSpPr/>
          <p:nvPr/>
        </p:nvSpPr>
        <p:spPr>
          <a:xfrm>
            <a:off x="4998568" y="4489704"/>
            <a:ext cx="2560320" cy="402336"/>
          </a:xfrm>
          <a:prstGeom prst="rect">
            <a:avLst/>
          </a:prstGeom>
          <a:solidFill>
            <a:srgbClr val="FFF2CC"/>
          </a:solidFill>
          <a:ln w="19050">
            <a:solidFill>
              <a:srgbClr val="D6B656"/>
            </a:solidFill>
            <a:prstDash val="solid"/>
          </a:ln>
        </p:spPr>
      </p:sp>
      <p:sp>
        <p:nvSpPr>
          <p:cNvPr id="43" name="Text 40"/>
          <p:cNvSpPr txBox="1"/>
          <p:nvPr/>
        </p:nvSpPr>
        <p:spPr>
          <a:xfrm>
            <a:off x="5062576" y="4517136"/>
            <a:ext cx="243230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Authorisation Decision: </a:t>
            </a:r>
            <a:r>
              <a:rPr lang="en-AU" sz="1050" b="1" dirty="0">
                <a:solidFill>
                  <a:srgbClr val="1C2B31"/>
                </a:solidFill>
                <a:latin typeface="Calibri" pitchFamily="34" charset="0"/>
                <a:ea typeface="Calibri" pitchFamily="34" charset="-122"/>
                <a:cs typeface="Calibri" pitchFamily="34" charset="-120"/>
              </a:rPr>
              <a:t>V</a:t>
            </a:r>
            <a:r>
              <a:rPr lang="en-AU" sz="1240" b="1" baseline="-25000" dirty="0">
                <a:solidFill>
                  <a:srgbClr val="1C2B31"/>
                </a:solidFill>
                <a:latin typeface="Calibri" pitchFamily="34" charset="0"/>
                <a:ea typeface="Calibri" pitchFamily="34" charset="-122"/>
                <a:cs typeface="Calibri" pitchFamily="34" charset="-120"/>
              </a:rPr>
              <a:t>I</a:t>
            </a:r>
            <a:r>
              <a:rPr lang="en-AU" sz="1050" b="1" dirty="0">
                <a:solidFill>
                  <a:srgbClr val="1C2B31"/>
                </a:solidFill>
                <a:latin typeface="Calibri" pitchFamily="34" charset="0"/>
                <a:ea typeface="Calibri" pitchFamily="34" charset="-122"/>
                <a:cs typeface="Calibri" pitchFamily="34" charset="-120"/>
              </a:rPr>
              <a:t> ∧ </a:t>
            </a:r>
            <a:r>
              <a:rPr lang="en-AU" sz="1050" b="1" dirty="0">
                <a:solidFill>
                  <a:srgbClr val="1C2B31"/>
                </a:solidFill>
                <a:latin typeface="Calibri" pitchFamily="34" charset="0"/>
                <a:ea typeface="Calibri" pitchFamily="34" charset="-122"/>
                <a:cs typeface="Calibri" pitchFamily="34" charset="-120"/>
              </a:rPr>
              <a:t>V</a:t>
            </a:r>
            <a:r>
              <a:rPr lang="en-AU" sz="1240" b="1" baseline="-25000" dirty="0">
                <a:solidFill>
                  <a:srgbClr val="1C2B31"/>
                </a:solidFill>
                <a:latin typeface="Calibri" pitchFamily="34" charset="0"/>
                <a:ea typeface="Calibri" pitchFamily="34" charset="-122"/>
                <a:cs typeface="Calibri" pitchFamily="34" charset="-120"/>
              </a:rPr>
              <a:t>A</a:t>
            </a:r>
            <a:r>
              <a:rPr lang="en-AU" sz="1050" b="1" dirty="0">
                <a:solidFill>
                  <a:srgbClr val="1C2B31"/>
                </a:solidFill>
                <a:latin typeface="Calibri" pitchFamily="34" charset="0"/>
                <a:ea typeface="Calibri" pitchFamily="34" charset="-122"/>
                <a:cs typeface="Calibri" pitchFamily="34" charset="-120"/>
              </a:rPr>
              <a:t> ∧ </a:t>
            </a:r>
            <a:r>
              <a:rPr lang="en-AU" sz="1050" b="1" dirty="0">
                <a:solidFill>
                  <a:srgbClr val="1C2B31"/>
                </a:solidFill>
                <a:latin typeface="Calibri" pitchFamily="34" charset="0"/>
                <a:ea typeface="Calibri" pitchFamily="34" charset="-122"/>
                <a:cs typeface="Calibri" pitchFamily="34" charset="-120"/>
              </a:rPr>
              <a:t>V</a:t>
            </a:r>
            <a:r>
              <a:rPr lang="en-AU" sz="1240" b="1" baseline="-25000" dirty="0">
                <a:solidFill>
                  <a:srgbClr val="1C2B31"/>
                </a:solidFill>
                <a:latin typeface="Calibri" pitchFamily="34" charset="0"/>
                <a:ea typeface="Calibri" pitchFamily="34" charset="-122"/>
                <a:cs typeface="Calibri" pitchFamily="34" charset="-120"/>
              </a:rPr>
              <a:t>P</a:t>
            </a:r>
            <a:r>
              <a:rPr lang="en-AU" sz="1050" b="1" dirty="0">
                <a:solidFill>
                  <a:srgbClr val="1C2B31"/>
                </a:solidFill>
                <a:latin typeface="Calibri" pitchFamily="34" charset="0"/>
                <a:ea typeface="Calibri" pitchFamily="34" charset="-122"/>
                <a:cs typeface="Calibri" pitchFamily="34" charset="-120"/>
              </a:rPr>
              <a:t> (Eq. 6)</a:t>
            </a:r>
            <a:endParaRPr lang="en-AU" sz="1050" dirty="0"/>
          </a:p>
        </p:txBody>
      </p:sp>
      <p:sp>
        <p:nvSpPr>
          <p:cNvPr id="44" name="Shape 41"/>
          <p:cNvSpPr/>
          <p:nvPr/>
        </p:nvSpPr>
        <p:spPr>
          <a:xfrm>
            <a:off x="8839048" y="4334256"/>
            <a:ext cx="0" cy="77724"/>
          </a:xfrm>
          <a:prstGeom prst="line">
            <a:avLst/>
          </a:prstGeom>
          <a:noFill/>
          <a:ln w="19050">
            <a:solidFill>
              <a:srgbClr val="A8842A"/>
            </a:solidFill>
            <a:prstDash val="solid"/>
          </a:ln>
        </p:spPr>
      </p:sp>
      <p:sp>
        <p:nvSpPr>
          <p:cNvPr id="45" name="Shape 42"/>
          <p:cNvSpPr/>
          <p:nvPr/>
        </p:nvSpPr>
        <p:spPr>
          <a:xfrm flipH="1">
            <a:off x="6278728" y="4411980"/>
            <a:ext cx="2560320" cy="0"/>
          </a:xfrm>
          <a:prstGeom prst="line">
            <a:avLst/>
          </a:prstGeom>
          <a:noFill/>
          <a:ln w="19050">
            <a:solidFill>
              <a:srgbClr val="A8842A"/>
            </a:solidFill>
            <a:prstDash val="solid"/>
          </a:ln>
        </p:spPr>
      </p:sp>
      <p:sp>
        <p:nvSpPr>
          <p:cNvPr id="46" name="Shape 43"/>
          <p:cNvSpPr/>
          <p:nvPr/>
        </p:nvSpPr>
        <p:spPr>
          <a:xfrm>
            <a:off x="6278728" y="4411980"/>
            <a:ext cx="0" cy="77724"/>
          </a:xfrm>
          <a:prstGeom prst="line">
            <a:avLst/>
          </a:prstGeom>
          <a:noFill/>
          <a:ln w="19050">
            <a:solidFill>
              <a:srgbClr val="A8842A"/>
            </a:solidFill>
            <a:prstDash val="solid"/>
            <a:tailEnd type="triangle"/>
          </a:ln>
        </p:spPr>
      </p:sp>
      <p:sp>
        <p:nvSpPr>
          <p:cNvPr id="47" name="Text 44"/>
          <p:cNvSpPr txBox="1"/>
          <p:nvPr/>
        </p:nvSpPr>
        <p:spPr>
          <a:xfrm>
            <a:off x="8893912" y="431596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48" name="Shape 45"/>
          <p:cNvSpPr/>
          <p:nvPr/>
        </p:nvSpPr>
        <p:spPr>
          <a:xfrm>
            <a:off x="7787488" y="4498848"/>
            <a:ext cx="2103120" cy="384048"/>
          </a:xfrm>
          <a:prstGeom prst="diamond">
            <a:avLst/>
          </a:prstGeom>
          <a:solidFill>
            <a:srgbClr val="FFF2CC"/>
          </a:solidFill>
          <a:ln w="19050">
            <a:solidFill>
              <a:srgbClr val="D6B656"/>
            </a:solidFill>
            <a:prstDash val="solid"/>
          </a:ln>
        </p:spPr>
      </p:sp>
      <p:sp>
        <p:nvSpPr>
          <p:cNvPr id="49" name="Text 46"/>
          <p:cNvSpPr txBox="1"/>
          <p:nvPr/>
        </p:nvSpPr>
        <p:spPr>
          <a:xfrm>
            <a:off x="8145018" y="4548774"/>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Decision = ALLOW?</a:t>
            </a:r>
            <a:endParaRPr lang="en-AU" sz="1050" dirty="0"/>
          </a:p>
        </p:txBody>
      </p:sp>
      <p:sp>
        <p:nvSpPr>
          <p:cNvPr id="50" name="Shape 47"/>
          <p:cNvSpPr/>
          <p:nvPr/>
        </p:nvSpPr>
        <p:spPr>
          <a:xfrm>
            <a:off x="7558888" y="4690872"/>
            <a:ext cx="228600" cy="0"/>
          </a:xfrm>
          <a:prstGeom prst="line">
            <a:avLst/>
          </a:prstGeom>
          <a:noFill/>
          <a:ln w="19050">
            <a:solidFill>
              <a:srgbClr val="A8842A"/>
            </a:solidFill>
            <a:prstDash val="solid"/>
            <a:tailEnd type="triangle"/>
          </a:ln>
        </p:spPr>
      </p:sp>
      <p:sp>
        <p:nvSpPr>
          <p:cNvPr id="51" name="Shape 48"/>
          <p:cNvSpPr/>
          <p:nvPr/>
        </p:nvSpPr>
        <p:spPr>
          <a:xfrm>
            <a:off x="4998568" y="5029200"/>
            <a:ext cx="1188720" cy="457200"/>
          </a:xfrm>
          <a:prstGeom prst="roundRect">
            <a:avLst>
              <a:gd name="adj" fmla="val 24000"/>
            </a:avLst>
          </a:prstGeom>
          <a:solidFill>
            <a:srgbClr val="FFF2CC"/>
          </a:solidFill>
          <a:ln w="19050">
            <a:solidFill>
              <a:srgbClr val="D6B656"/>
            </a:solidFill>
            <a:prstDash val="solid"/>
          </a:ln>
        </p:spPr>
      </p:sp>
      <p:sp>
        <p:nvSpPr>
          <p:cNvPr id="52" name="Text 49"/>
          <p:cNvSpPr txBox="1"/>
          <p:nvPr/>
        </p:nvSpPr>
        <p:spPr>
          <a:xfrm>
            <a:off x="5062576" y="5056632"/>
            <a:ext cx="106070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ALLOW: Grant Data Access</a:t>
            </a:r>
            <a:endParaRPr lang="en-AU" sz="1050" dirty="0"/>
          </a:p>
        </p:txBody>
      </p:sp>
      <p:sp>
        <p:nvSpPr>
          <p:cNvPr id="53" name="Shape 50"/>
          <p:cNvSpPr/>
          <p:nvPr/>
        </p:nvSpPr>
        <p:spPr>
          <a:xfrm>
            <a:off x="6324448" y="5029200"/>
            <a:ext cx="1234440" cy="457200"/>
          </a:xfrm>
          <a:prstGeom prst="rect">
            <a:avLst/>
          </a:prstGeom>
          <a:solidFill>
            <a:srgbClr val="FFF2CC"/>
          </a:solidFill>
          <a:ln w="19050">
            <a:solidFill>
              <a:srgbClr val="D6B656"/>
            </a:solidFill>
            <a:prstDash val="solid"/>
          </a:ln>
        </p:spPr>
      </p:sp>
      <p:sp>
        <p:nvSpPr>
          <p:cNvPr id="54" name="Text 51"/>
          <p:cNvSpPr txBox="1"/>
          <p:nvPr/>
        </p:nvSpPr>
        <p:spPr>
          <a:xfrm>
            <a:off x="6388456" y="5056632"/>
            <a:ext cx="110642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Access Healthcare Data</a:t>
            </a:r>
            <a:endParaRPr lang="en-AU" sz="1050" dirty="0"/>
          </a:p>
        </p:txBody>
      </p:sp>
      <p:sp>
        <p:nvSpPr>
          <p:cNvPr id="55" name="Shape 52"/>
          <p:cNvSpPr/>
          <p:nvPr/>
        </p:nvSpPr>
        <p:spPr>
          <a:xfrm>
            <a:off x="8839048" y="4882896"/>
            <a:ext cx="0" cy="73152"/>
          </a:xfrm>
          <a:prstGeom prst="line">
            <a:avLst/>
          </a:prstGeom>
          <a:noFill/>
          <a:ln w="19050">
            <a:solidFill>
              <a:srgbClr val="A8842A"/>
            </a:solidFill>
            <a:prstDash val="solid"/>
          </a:ln>
        </p:spPr>
      </p:sp>
      <p:sp>
        <p:nvSpPr>
          <p:cNvPr id="56" name="Shape 53"/>
          <p:cNvSpPr/>
          <p:nvPr/>
        </p:nvSpPr>
        <p:spPr>
          <a:xfrm flipH="1">
            <a:off x="5592928" y="4956048"/>
            <a:ext cx="3246120" cy="0"/>
          </a:xfrm>
          <a:prstGeom prst="line">
            <a:avLst/>
          </a:prstGeom>
          <a:noFill/>
          <a:ln w="19050">
            <a:solidFill>
              <a:srgbClr val="A8842A"/>
            </a:solidFill>
            <a:prstDash val="solid"/>
          </a:ln>
        </p:spPr>
      </p:sp>
      <p:sp>
        <p:nvSpPr>
          <p:cNvPr id="57" name="Shape 54"/>
          <p:cNvSpPr/>
          <p:nvPr/>
        </p:nvSpPr>
        <p:spPr>
          <a:xfrm>
            <a:off x="5592928" y="4956048"/>
            <a:ext cx="0" cy="73152"/>
          </a:xfrm>
          <a:prstGeom prst="line">
            <a:avLst/>
          </a:prstGeom>
          <a:noFill/>
          <a:ln w="19050">
            <a:solidFill>
              <a:srgbClr val="A8842A"/>
            </a:solidFill>
            <a:prstDash val="solid"/>
            <a:tailEnd type="triangle"/>
          </a:ln>
        </p:spPr>
      </p:sp>
      <p:sp>
        <p:nvSpPr>
          <p:cNvPr id="58" name="Text 55"/>
          <p:cNvSpPr txBox="1"/>
          <p:nvPr/>
        </p:nvSpPr>
        <p:spPr>
          <a:xfrm>
            <a:off x="8893912" y="486460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Allow</a:t>
            </a:r>
            <a:endParaRPr lang="en-AU" sz="950" dirty="0"/>
          </a:p>
        </p:txBody>
      </p:sp>
      <p:sp>
        <p:nvSpPr>
          <p:cNvPr id="59" name="Shape 56"/>
          <p:cNvSpPr/>
          <p:nvPr/>
        </p:nvSpPr>
        <p:spPr>
          <a:xfrm>
            <a:off x="6187288" y="5257800"/>
            <a:ext cx="137160" cy="0"/>
          </a:xfrm>
          <a:prstGeom prst="line">
            <a:avLst/>
          </a:prstGeom>
          <a:noFill/>
          <a:ln w="19050">
            <a:solidFill>
              <a:srgbClr val="A8842A"/>
            </a:solidFill>
            <a:prstDash val="solid"/>
            <a:tailEnd type="triangle"/>
          </a:ln>
        </p:spPr>
      </p:sp>
      <p:sp>
        <p:nvSpPr>
          <p:cNvPr id="60" name="Shape 57"/>
          <p:cNvSpPr/>
          <p:nvPr/>
        </p:nvSpPr>
        <p:spPr>
          <a:xfrm>
            <a:off x="4998568" y="5559552"/>
            <a:ext cx="2560320" cy="365760"/>
          </a:xfrm>
          <a:prstGeom prst="rect">
            <a:avLst/>
          </a:prstGeom>
          <a:solidFill>
            <a:srgbClr val="FFF2CC"/>
          </a:solidFill>
          <a:ln w="19050">
            <a:solidFill>
              <a:srgbClr val="D6B656"/>
            </a:solidFill>
            <a:prstDash val="solid"/>
          </a:ln>
        </p:spPr>
      </p:sp>
      <p:sp>
        <p:nvSpPr>
          <p:cNvPr id="61" name="Text 58"/>
          <p:cNvSpPr txBox="1"/>
          <p:nvPr/>
        </p:nvSpPr>
        <p:spPr>
          <a:xfrm>
            <a:off x="5062576" y="5586984"/>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Record Audit Evidence</a:t>
            </a:r>
            <a:endParaRPr lang="en-AU" sz="1100" dirty="0"/>
          </a:p>
        </p:txBody>
      </p:sp>
      <p:sp>
        <p:nvSpPr>
          <p:cNvPr id="62" name="Shape 59"/>
          <p:cNvSpPr/>
          <p:nvPr/>
        </p:nvSpPr>
        <p:spPr>
          <a:xfrm>
            <a:off x="6941668" y="5486400"/>
            <a:ext cx="0" cy="73152"/>
          </a:xfrm>
          <a:prstGeom prst="line">
            <a:avLst/>
          </a:prstGeom>
          <a:noFill/>
          <a:ln w="19050">
            <a:solidFill>
              <a:srgbClr val="A8842A"/>
            </a:solidFill>
            <a:prstDash val="solid"/>
            <a:tailEnd type="triangle"/>
          </a:ln>
        </p:spPr>
      </p:sp>
      <p:sp>
        <p:nvSpPr>
          <p:cNvPr id="63" name="Shape 60"/>
          <p:cNvSpPr/>
          <p:nvPr/>
        </p:nvSpPr>
        <p:spPr>
          <a:xfrm>
            <a:off x="10073488" y="5029200"/>
            <a:ext cx="1371600" cy="457200"/>
          </a:xfrm>
          <a:prstGeom prst="roundRect">
            <a:avLst>
              <a:gd name="adj" fmla="val 24000"/>
            </a:avLst>
          </a:prstGeom>
          <a:solidFill>
            <a:srgbClr val="FFF2CC"/>
          </a:solidFill>
          <a:ln w="19050">
            <a:solidFill>
              <a:srgbClr val="D6B656"/>
            </a:solidFill>
            <a:prstDash val="solid"/>
          </a:ln>
        </p:spPr>
      </p:sp>
      <p:sp>
        <p:nvSpPr>
          <p:cNvPr id="64" name="Text 61"/>
          <p:cNvSpPr txBox="1"/>
          <p:nvPr/>
        </p:nvSpPr>
        <p:spPr>
          <a:xfrm>
            <a:off x="10137496" y="5056632"/>
            <a:ext cx="124358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DENY: Reject Access</a:t>
            </a:r>
            <a:endParaRPr lang="en-AU" sz="1050" dirty="0"/>
          </a:p>
        </p:txBody>
      </p:sp>
      <p:sp>
        <p:nvSpPr>
          <p:cNvPr id="65" name="Shape 62"/>
          <p:cNvSpPr/>
          <p:nvPr/>
        </p:nvSpPr>
        <p:spPr>
          <a:xfrm>
            <a:off x="9890608" y="2496312"/>
            <a:ext cx="1463040" cy="0"/>
          </a:xfrm>
          <a:prstGeom prst="line">
            <a:avLst/>
          </a:prstGeom>
          <a:noFill/>
          <a:ln w="19050">
            <a:solidFill>
              <a:srgbClr val="A8842A"/>
            </a:solidFill>
            <a:prstDash val="solid"/>
          </a:ln>
        </p:spPr>
      </p:sp>
      <p:sp>
        <p:nvSpPr>
          <p:cNvPr id="66" name="Shape 63"/>
          <p:cNvSpPr/>
          <p:nvPr/>
        </p:nvSpPr>
        <p:spPr>
          <a:xfrm>
            <a:off x="11353648" y="2496312"/>
            <a:ext cx="0" cy="2532888"/>
          </a:xfrm>
          <a:prstGeom prst="line">
            <a:avLst/>
          </a:prstGeom>
          <a:noFill/>
          <a:ln w="19050">
            <a:solidFill>
              <a:srgbClr val="A8842A"/>
            </a:solidFill>
            <a:prstDash val="solid"/>
            <a:tailEnd type="triangle"/>
          </a:ln>
        </p:spPr>
      </p:sp>
      <p:sp>
        <p:nvSpPr>
          <p:cNvPr id="67" name="Text 64"/>
          <p:cNvSpPr txBox="1"/>
          <p:nvPr/>
        </p:nvSpPr>
        <p:spPr>
          <a:xfrm>
            <a:off x="9927184" y="231343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68" name="Shape 65"/>
          <p:cNvSpPr/>
          <p:nvPr/>
        </p:nvSpPr>
        <p:spPr>
          <a:xfrm>
            <a:off x="9890608" y="3593592"/>
            <a:ext cx="1188720" cy="0"/>
          </a:xfrm>
          <a:prstGeom prst="line">
            <a:avLst/>
          </a:prstGeom>
          <a:noFill/>
          <a:ln w="19050">
            <a:solidFill>
              <a:srgbClr val="A8842A"/>
            </a:solidFill>
            <a:prstDash val="solid"/>
          </a:ln>
        </p:spPr>
      </p:sp>
      <p:sp>
        <p:nvSpPr>
          <p:cNvPr id="69" name="Shape 66"/>
          <p:cNvSpPr/>
          <p:nvPr/>
        </p:nvSpPr>
        <p:spPr>
          <a:xfrm>
            <a:off x="11079328" y="3593592"/>
            <a:ext cx="0" cy="1435608"/>
          </a:xfrm>
          <a:prstGeom prst="line">
            <a:avLst/>
          </a:prstGeom>
          <a:noFill/>
          <a:ln w="19050">
            <a:solidFill>
              <a:srgbClr val="A8842A"/>
            </a:solidFill>
            <a:prstDash val="solid"/>
            <a:tailEnd type="triangle"/>
          </a:ln>
        </p:spPr>
      </p:sp>
      <p:sp>
        <p:nvSpPr>
          <p:cNvPr id="70" name="Text 67"/>
          <p:cNvSpPr txBox="1"/>
          <p:nvPr/>
        </p:nvSpPr>
        <p:spPr>
          <a:xfrm>
            <a:off x="9927184" y="341071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71" name="Shape 68"/>
          <p:cNvSpPr/>
          <p:nvPr/>
        </p:nvSpPr>
        <p:spPr>
          <a:xfrm>
            <a:off x="9890608" y="4142232"/>
            <a:ext cx="914400" cy="0"/>
          </a:xfrm>
          <a:prstGeom prst="line">
            <a:avLst/>
          </a:prstGeom>
          <a:noFill/>
          <a:ln w="19050">
            <a:solidFill>
              <a:srgbClr val="A8842A"/>
            </a:solidFill>
            <a:prstDash val="solid"/>
          </a:ln>
        </p:spPr>
      </p:sp>
      <p:sp>
        <p:nvSpPr>
          <p:cNvPr id="72" name="Shape 69"/>
          <p:cNvSpPr/>
          <p:nvPr/>
        </p:nvSpPr>
        <p:spPr>
          <a:xfrm>
            <a:off x="10805008" y="4142232"/>
            <a:ext cx="0" cy="886968"/>
          </a:xfrm>
          <a:prstGeom prst="line">
            <a:avLst/>
          </a:prstGeom>
          <a:noFill/>
          <a:ln w="19050">
            <a:solidFill>
              <a:srgbClr val="A8842A"/>
            </a:solidFill>
            <a:prstDash val="solid"/>
            <a:tailEnd type="triangle"/>
          </a:ln>
        </p:spPr>
      </p:sp>
      <p:sp>
        <p:nvSpPr>
          <p:cNvPr id="73" name="Text 70"/>
          <p:cNvSpPr txBox="1"/>
          <p:nvPr/>
        </p:nvSpPr>
        <p:spPr>
          <a:xfrm>
            <a:off x="9927184" y="395935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74" name="Shape 71"/>
          <p:cNvSpPr/>
          <p:nvPr/>
        </p:nvSpPr>
        <p:spPr>
          <a:xfrm>
            <a:off x="9890608" y="4690872"/>
            <a:ext cx="640080" cy="0"/>
          </a:xfrm>
          <a:prstGeom prst="line">
            <a:avLst/>
          </a:prstGeom>
          <a:noFill/>
          <a:ln w="19050">
            <a:solidFill>
              <a:srgbClr val="A8842A"/>
            </a:solidFill>
            <a:prstDash val="solid"/>
          </a:ln>
        </p:spPr>
      </p:sp>
      <p:sp>
        <p:nvSpPr>
          <p:cNvPr id="75" name="Shape 72"/>
          <p:cNvSpPr/>
          <p:nvPr/>
        </p:nvSpPr>
        <p:spPr>
          <a:xfrm>
            <a:off x="10530688" y="4690872"/>
            <a:ext cx="0" cy="338328"/>
          </a:xfrm>
          <a:prstGeom prst="line">
            <a:avLst/>
          </a:prstGeom>
          <a:noFill/>
          <a:ln w="19050">
            <a:solidFill>
              <a:srgbClr val="A8842A"/>
            </a:solidFill>
            <a:prstDash val="solid"/>
            <a:tailEnd type="triangle"/>
          </a:ln>
        </p:spPr>
      </p:sp>
      <p:sp>
        <p:nvSpPr>
          <p:cNvPr id="76" name="Text 73"/>
          <p:cNvSpPr txBox="1"/>
          <p:nvPr/>
        </p:nvSpPr>
        <p:spPr>
          <a:xfrm>
            <a:off x="9927184" y="450799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Deny</a:t>
            </a:r>
            <a:endParaRPr lang="en-AU" sz="950" dirty="0"/>
          </a:p>
        </p:txBody>
      </p:sp>
      <p:sp>
        <p:nvSpPr>
          <p:cNvPr id="77" name="Shape 74"/>
          <p:cNvSpPr/>
          <p:nvPr/>
        </p:nvSpPr>
        <p:spPr>
          <a:xfrm>
            <a:off x="10759288" y="5486400"/>
            <a:ext cx="0" cy="256032"/>
          </a:xfrm>
          <a:prstGeom prst="line">
            <a:avLst/>
          </a:prstGeom>
          <a:noFill/>
          <a:ln w="19050">
            <a:solidFill>
              <a:srgbClr val="A8842A"/>
            </a:solidFill>
            <a:prstDash val="solid"/>
          </a:ln>
        </p:spPr>
      </p:sp>
      <p:sp>
        <p:nvSpPr>
          <p:cNvPr id="78" name="Shape 75"/>
          <p:cNvSpPr/>
          <p:nvPr/>
        </p:nvSpPr>
        <p:spPr>
          <a:xfrm flipH="1">
            <a:off x="7558888" y="5742432"/>
            <a:ext cx="3200400" cy="0"/>
          </a:xfrm>
          <a:prstGeom prst="line">
            <a:avLst/>
          </a:prstGeom>
          <a:noFill/>
          <a:ln w="19050">
            <a:solidFill>
              <a:srgbClr val="A8842A"/>
            </a:solidFill>
            <a:prstDash val="solid"/>
            <a:tailEnd type="triangle"/>
          </a:ln>
        </p:spPr>
      </p:sp>
      <p:sp>
        <p:nvSpPr>
          <p:cNvPr id="79" name="Text 76"/>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5.4: End-to-end workflow of the trust-oriented consent authorisation framework</a:t>
            </a:r>
            <a:endParaRPr lang="en-AU" sz="1050" dirty="0"/>
          </a:p>
        </p:txBody>
      </p:sp>
      <p:sp>
        <p:nvSpPr>
          <p:cNvPr id="80" name="Shape 77"/>
          <p:cNvSpPr/>
          <p:nvPr/>
        </p:nvSpPr>
        <p:spPr>
          <a:xfrm>
            <a:off x="548640" y="1664208"/>
            <a:ext cx="384048" cy="384048"/>
          </a:xfrm>
          <a:prstGeom prst="ellipse">
            <a:avLst/>
          </a:prstGeom>
          <a:solidFill>
            <a:srgbClr val="13707B"/>
          </a:solidFill>
          <a:ln w="12700">
            <a:solidFill>
              <a:srgbClr val="13707B"/>
            </a:solidFill>
            <a:prstDash val="solid"/>
          </a:ln>
        </p:spPr>
      </p:sp>
      <p:pic>
        <p:nvPicPr>
          <p:cNvPr id="81"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82" name="Text 78"/>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Consent specification</a:t>
            </a:r>
            <a:endParaRPr lang="en-AU" sz="1500" dirty="0"/>
          </a:p>
        </p:txBody>
      </p:sp>
      <p:sp>
        <p:nvSpPr>
          <p:cNvPr id="83" name="Text 79"/>
          <p:cNvSpPr txBox="1"/>
          <p:nvPr/>
        </p:nvSpPr>
        <p:spPr>
          <a:xfrm>
            <a:off x="1115568" y="197510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Patient defines purpose, permitted data scope and conditions: the policy context for later requests</a:t>
            </a:r>
            <a:endParaRPr lang="en-AU" sz="1250" dirty="0"/>
          </a:p>
        </p:txBody>
      </p:sp>
      <p:sp>
        <p:nvSpPr>
          <p:cNvPr id="84" name="Shape 80"/>
          <p:cNvSpPr/>
          <p:nvPr/>
        </p:nvSpPr>
        <p:spPr>
          <a:xfrm>
            <a:off x="548640" y="2841498"/>
            <a:ext cx="384048" cy="384048"/>
          </a:xfrm>
          <a:prstGeom prst="ellipse">
            <a:avLst/>
          </a:prstGeom>
          <a:solidFill>
            <a:srgbClr val="13707B"/>
          </a:solidFill>
          <a:ln w="12700">
            <a:solidFill>
              <a:srgbClr val="13707B"/>
            </a:solidFill>
            <a:prstDash val="solid"/>
          </a:ln>
        </p:spPr>
      </p:sp>
      <p:pic>
        <p:nvPicPr>
          <p:cNvPr id="85"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86" name="Text 81"/>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Identity and authority</a:t>
            </a:r>
            <a:endParaRPr lang="en-AU" sz="1500" dirty="0"/>
          </a:p>
        </p:txBody>
      </p:sp>
      <p:sp>
        <p:nvSpPr>
          <p:cNvPr id="87" name="Text 82"/>
          <p:cNvSpPr txBox="1"/>
          <p:nvPr/>
        </p:nvSpPr>
        <p:spPr>
          <a:xfrm>
            <a:off x="1115568" y="315239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DIDs and VCs establish identity and claimed role or authority; this alone does not grant access</a:t>
            </a:r>
            <a:endParaRPr lang="en-AU" sz="1250" dirty="0"/>
          </a:p>
        </p:txBody>
      </p:sp>
      <p:sp>
        <p:nvSpPr>
          <p:cNvPr id="88" name="Shape 83"/>
          <p:cNvSpPr/>
          <p:nvPr/>
        </p:nvSpPr>
        <p:spPr>
          <a:xfrm>
            <a:off x="548640" y="4018788"/>
            <a:ext cx="384048" cy="384048"/>
          </a:xfrm>
          <a:prstGeom prst="ellipse">
            <a:avLst/>
          </a:prstGeom>
          <a:solidFill>
            <a:srgbClr val="13707B"/>
          </a:solidFill>
          <a:ln w="12700">
            <a:solidFill>
              <a:srgbClr val="13707B"/>
            </a:solidFill>
            <a:prstDash val="solid"/>
          </a:ln>
        </p:spPr>
      </p:sp>
      <p:pic>
        <p:nvPicPr>
          <p:cNvPr id="89"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90" name="Text 84"/>
          <p:cNvSpPr txBox="1"/>
          <p:nvPr/>
        </p:nvSpPr>
        <p:spPr>
          <a:xfrm>
            <a:off x="1115568" y="400050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Multi-party approval</a:t>
            </a:r>
            <a:endParaRPr lang="en-AU" sz="1500" dirty="0"/>
          </a:p>
        </p:txBody>
      </p:sp>
      <p:sp>
        <p:nvSpPr>
          <p:cNvPr id="91" name="Text 85"/>
          <p:cNvSpPr txBox="1"/>
          <p:nvPr/>
        </p:nvSpPr>
        <p:spPr>
          <a:xfrm>
            <a:off x="1115568" y="432968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Independent approvals collected; unless |</a:t>
            </a:r>
            <a:r>
              <a:rPr lang="en-AU" sz="1250" dirty="0">
                <a:solidFill>
                  <a:srgbClr val="1C2B31"/>
                </a:solidFill>
                <a:latin typeface="Calibri" pitchFamily="34" charset="0"/>
                <a:ea typeface="Calibri" pitchFamily="34" charset="-122"/>
                <a:cs typeface="Calibri" pitchFamily="34" charset="-120"/>
              </a:rPr>
              <a:t>A</a:t>
            </a:r>
            <a:r>
              <a:rPr lang="en-AU" sz="1480" baseline="-25000" dirty="0">
                <a:solidFill>
                  <a:srgbClr val="1C2B31"/>
                </a:solidFill>
                <a:latin typeface="Calibri" pitchFamily="34" charset="0"/>
                <a:ea typeface="Calibri" pitchFamily="34" charset="-122"/>
                <a:cs typeface="Calibri" pitchFamily="34" charset="-120"/>
              </a:rPr>
              <a:t>v</a:t>
            </a:r>
            <a:r>
              <a:rPr lang="en-AU" sz="1250" dirty="0">
                <a:solidFill>
                  <a:srgbClr val="1C2B31"/>
                </a:solidFill>
                <a:latin typeface="Calibri" pitchFamily="34" charset="0"/>
                <a:ea typeface="Calibri" pitchFamily="34" charset="-122"/>
                <a:cs typeface="Calibri" pitchFamily="34" charset="-120"/>
              </a:rPr>
              <a:t>| ≥ N (Eq. 9), the process ends in DENY</a:t>
            </a:r>
            <a:endParaRPr lang="en-AU" sz="1250" dirty="0"/>
          </a:p>
        </p:txBody>
      </p:sp>
      <p:sp>
        <p:nvSpPr>
          <p:cNvPr id="92" name="Shape 86"/>
          <p:cNvSpPr/>
          <p:nvPr/>
        </p:nvSpPr>
        <p:spPr>
          <a:xfrm>
            <a:off x="548640" y="5196078"/>
            <a:ext cx="384048" cy="384048"/>
          </a:xfrm>
          <a:prstGeom prst="ellipse">
            <a:avLst/>
          </a:prstGeom>
          <a:solidFill>
            <a:srgbClr val="13707B"/>
          </a:solidFill>
          <a:ln w="12700">
            <a:solidFill>
              <a:srgbClr val="13707B"/>
            </a:solidFill>
            <a:prstDash val="solid"/>
          </a:ln>
        </p:spPr>
      </p:sp>
      <p:pic>
        <p:nvPicPr>
          <p:cNvPr id="93"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94" name="Text 87"/>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Policy, decision and audit</a:t>
            </a:r>
            <a:endParaRPr lang="en-AU" sz="1500" dirty="0"/>
          </a:p>
        </p:txBody>
      </p:sp>
      <p:sp>
        <p:nvSpPr>
          <p:cNvPr id="95" name="Text 88"/>
          <p:cNvSpPr txBox="1"/>
          <p:nvPr/>
        </p:nvSpPr>
        <p:spPr>
          <a:xfrm>
            <a:off x="1115568" y="550697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Purpose and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R</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checked;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I</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A</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P</a:t>
            </a:r>
            <a:r>
              <a:rPr lang="en-AU" sz="1250" dirty="0">
                <a:solidFill>
                  <a:srgbClr val="1C2B31"/>
                </a:solidFill>
                <a:latin typeface="Calibri" pitchFamily="34" charset="0"/>
                <a:ea typeface="Calibri" pitchFamily="34" charset="-122"/>
                <a:cs typeface="Calibri" pitchFamily="34" charset="-120"/>
              </a:rPr>
              <a:t> (Eq. 6) decides; ALLOW and DENY both recorded</a:t>
            </a:r>
            <a:endParaRPr lang="en-AU"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RO1: consent as an evaluable object</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6.1 and Algorithm 1: the consent sets the conditions a later request is evaluated against</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22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4998568" y="1700784"/>
            <a:ext cx="2286000" cy="365760"/>
          </a:xfrm>
          <a:prstGeom prst="roundRect">
            <a:avLst>
              <a:gd name="adj" fmla="val 30000"/>
            </a:avLst>
          </a:prstGeom>
          <a:solidFill>
            <a:srgbClr val="FFF2CC"/>
          </a:solidFill>
          <a:ln w="19050">
            <a:solidFill>
              <a:srgbClr val="D6B656"/>
            </a:solidFill>
            <a:prstDash val="solid"/>
          </a:ln>
        </p:spPr>
      </p:sp>
      <p:sp>
        <p:nvSpPr>
          <p:cNvPr id="9" name="Text 6"/>
          <p:cNvSpPr txBox="1"/>
          <p:nvPr/>
        </p:nvSpPr>
        <p:spPr>
          <a:xfrm>
            <a:off x="5062576" y="172821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Patient Creates Consent</a:t>
            </a:r>
            <a:endParaRPr lang="en-AU" sz="1100" dirty="0"/>
          </a:p>
        </p:txBody>
      </p:sp>
      <p:sp>
        <p:nvSpPr>
          <p:cNvPr id="10" name="Shape 7"/>
          <p:cNvSpPr/>
          <p:nvPr/>
        </p:nvSpPr>
        <p:spPr>
          <a:xfrm>
            <a:off x="4998568" y="2340864"/>
            <a:ext cx="2286000" cy="365760"/>
          </a:xfrm>
          <a:prstGeom prst="rect">
            <a:avLst/>
          </a:prstGeom>
          <a:solidFill>
            <a:srgbClr val="FFF2CC"/>
          </a:solidFill>
          <a:ln w="19050">
            <a:solidFill>
              <a:srgbClr val="D6B656"/>
            </a:solidFill>
            <a:prstDash val="solid"/>
          </a:ln>
        </p:spPr>
      </p:sp>
      <p:sp>
        <p:nvSpPr>
          <p:cNvPr id="11" name="Text 8"/>
          <p:cNvSpPr txBox="1"/>
          <p:nvPr/>
        </p:nvSpPr>
        <p:spPr>
          <a:xfrm>
            <a:off x="5062576" y="236829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Collect Patient DID</a:t>
            </a:r>
            <a:endParaRPr lang="en-AU" sz="1100" dirty="0"/>
          </a:p>
        </p:txBody>
      </p:sp>
      <p:sp>
        <p:nvSpPr>
          <p:cNvPr id="12" name="Shape 9"/>
          <p:cNvSpPr/>
          <p:nvPr/>
        </p:nvSpPr>
        <p:spPr>
          <a:xfrm>
            <a:off x="4998568" y="2980944"/>
            <a:ext cx="2286000" cy="365760"/>
          </a:xfrm>
          <a:prstGeom prst="rect">
            <a:avLst/>
          </a:prstGeom>
          <a:solidFill>
            <a:srgbClr val="FFF2CC"/>
          </a:solidFill>
          <a:ln w="19050">
            <a:solidFill>
              <a:srgbClr val="D6B656"/>
            </a:solidFill>
            <a:prstDash val="solid"/>
          </a:ln>
        </p:spPr>
      </p:sp>
      <p:sp>
        <p:nvSpPr>
          <p:cNvPr id="13" name="Text 10"/>
          <p:cNvSpPr txBox="1"/>
          <p:nvPr/>
        </p:nvSpPr>
        <p:spPr>
          <a:xfrm>
            <a:off x="5062576" y="300837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Specify Authorised Doctor</a:t>
            </a:r>
            <a:endParaRPr lang="en-AU" sz="1100" dirty="0"/>
          </a:p>
        </p:txBody>
      </p:sp>
      <p:sp>
        <p:nvSpPr>
          <p:cNvPr id="14" name="Shape 11"/>
          <p:cNvSpPr/>
          <p:nvPr/>
        </p:nvSpPr>
        <p:spPr>
          <a:xfrm>
            <a:off x="4998568" y="3621024"/>
            <a:ext cx="2286000" cy="365760"/>
          </a:xfrm>
          <a:prstGeom prst="rect">
            <a:avLst/>
          </a:prstGeom>
          <a:solidFill>
            <a:srgbClr val="FFF2CC"/>
          </a:solidFill>
          <a:ln w="19050">
            <a:solidFill>
              <a:srgbClr val="D6B656"/>
            </a:solidFill>
            <a:prstDash val="solid"/>
          </a:ln>
        </p:spPr>
      </p:sp>
      <p:sp>
        <p:nvSpPr>
          <p:cNvPr id="15" name="Text 12"/>
          <p:cNvSpPr txBox="1"/>
          <p:nvPr/>
        </p:nvSpPr>
        <p:spPr>
          <a:xfrm>
            <a:off x="5062576" y="364845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Specify Guardian DIDs</a:t>
            </a:r>
            <a:endParaRPr lang="en-AU" sz="1100" dirty="0"/>
          </a:p>
        </p:txBody>
      </p:sp>
      <p:sp>
        <p:nvSpPr>
          <p:cNvPr id="16" name="Shape 13"/>
          <p:cNvSpPr/>
          <p:nvPr/>
        </p:nvSpPr>
        <p:spPr>
          <a:xfrm>
            <a:off x="4998568" y="4261104"/>
            <a:ext cx="2286000" cy="365760"/>
          </a:xfrm>
          <a:prstGeom prst="rect">
            <a:avLst/>
          </a:prstGeom>
          <a:solidFill>
            <a:srgbClr val="FFF2CC"/>
          </a:solidFill>
          <a:ln w="19050">
            <a:solidFill>
              <a:srgbClr val="D6B656"/>
            </a:solidFill>
            <a:prstDash val="solid"/>
          </a:ln>
        </p:spPr>
      </p:sp>
      <p:sp>
        <p:nvSpPr>
          <p:cNvPr id="17" name="Text 14"/>
          <p:cNvSpPr txBox="1"/>
          <p:nvPr/>
        </p:nvSpPr>
        <p:spPr>
          <a:xfrm>
            <a:off x="5062576" y="428853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Specify Purpose and Data Scope</a:t>
            </a:r>
            <a:endParaRPr lang="en-AU" sz="1100" dirty="0"/>
          </a:p>
        </p:txBody>
      </p:sp>
      <p:sp>
        <p:nvSpPr>
          <p:cNvPr id="18" name="Shape 15"/>
          <p:cNvSpPr/>
          <p:nvPr/>
        </p:nvSpPr>
        <p:spPr>
          <a:xfrm>
            <a:off x="4998568" y="4901184"/>
            <a:ext cx="2286000" cy="365760"/>
          </a:xfrm>
          <a:prstGeom prst="rect">
            <a:avLst/>
          </a:prstGeom>
          <a:solidFill>
            <a:srgbClr val="FFF2CC"/>
          </a:solidFill>
          <a:ln w="19050">
            <a:solidFill>
              <a:srgbClr val="D6B656"/>
            </a:solidFill>
            <a:prstDash val="solid"/>
          </a:ln>
        </p:spPr>
      </p:sp>
      <p:sp>
        <p:nvSpPr>
          <p:cNvPr id="19" name="Text 16"/>
          <p:cNvSpPr txBox="1"/>
          <p:nvPr/>
        </p:nvSpPr>
        <p:spPr>
          <a:xfrm>
            <a:off x="5062576" y="492861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Specify Consent Validity</a:t>
            </a:r>
            <a:endParaRPr lang="en-AU" sz="1100" dirty="0"/>
          </a:p>
        </p:txBody>
      </p:sp>
      <p:sp>
        <p:nvSpPr>
          <p:cNvPr id="20" name="Shape 17"/>
          <p:cNvSpPr/>
          <p:nvPr/>
        </p:nvSpPr>
        <p:spPr>
          <a:xfrm>
            <a:off x="6141568" y="2066544"/>
            <a:ext cx="0" cy="274320"/>
          </a:xfrm>
          <a:prstGeom prst="line">
            <a:avLst/>
          </a:prstGeom>
          <a:noFill/>
          <a:ln w="19050">
            <a:solidFill>
              <a:srgbClr val="A8842A"/>
            </a:solidFill>
            <a:prstDash val="solid"/>
            <a:tailEnd type="triangle"/>
          </a:ln>
        </p:spPr>
      </p:sp>
      <p:sp>
        <p:nvSpPr>
          <p:cNvPr id="21" name="Shape 18"/>
          <p:cNvSpPr/>
          <p:nvPr/>
        </p:nvSpPr>
        <p:spPr>
          <a:xfrm>
            <a:off x="6141568" y="2706624"/>
            <a:ext cx="0" cy="274320"/>
          </a:xfrm>
          <a:prstGeom prst="line">
            <a:avLst/>
          </a:prstGeom>
          <a:noFill/>
          <a:ln w="19050">
            <a:solidFill>
              <a:srgbClr val="A8842A"/>
            </a:solidFill>
            <a:prstDash val="solid"/>
            <a:tailEnd type="triangle"/>
          </a:ln>
        </p:spPr>
      </p:sp>
      <p:sp>
        <p:nvSpPr>
          <p:cNvPr id="22" name="Shape 19"/>
          <p:cNvSpPr/>
          <p:nvPr/>
        </p:nvSpPr>
        <p:spPr>
          <a:xfrm>
            <a:off x="6141568" y="3346704"/>
            <a:ext cx="0" cy="274320"/>
          </a:xfrm>
          <a:prstGeom prst="line">
            <a:avLst/>
          </a:prstGeom>
          <a:noFill/>
          <a:ln w="19050">
            <a:solidFill>
              <a:srgbClr val="A8842A"/>
            </a:solidFill>
            <a:prstDash val="solid"/>
            <a:tailEnd type="triangle"/>
          </a:ln>
        </p:spPr>
      </p:sp>
      <p:sp>
        <p:nvSpPr>
          <p:cNvPr id="23" name="Shape 20"/>
          <p:cNvSpPr/>
          <p:nvPr/>
        </p:nvSpPr>
        <p:spPr>
          <a:xfrm>
            <a:off x="6141568" y="3986784"/>
            <a:ext cx="0" cy="274320"/>
          </a:xfrm>
          <a:prstGeom prst="line">
            <a:avLst/>
          </a:prstGeom>
          <a:noFill/>
          <a:ln w="19050">
            <a:solidFill>
              <a:srgbClr val="A8842A"/>
            </a:solidFill>
            <a:prstDash val="solid"/>
            <a:tailEnd type="triangle"/>
          </a:ln>
        </p:spPr>
      </p:sp>
      <p:sp>
        <p:nvSpPr>
          <p:cNvPr id="24" name="Shape 21"/>
          <p:cNvSpPr/>
          <p:nvPr/>
        </p:nvSpPr>
        <p:spPr>
          <a:xfrm>
            <a:off x="6141568" y="4626864"/>
            <a:ext cx="0" cy="274320"/>
          </a:xfrm>
          <a:prstGeom prst="line">
            <a:avLst/>
          </a:prstGeom>
          <a:noFill/>
          <a:ln w="19050">
            <a:solidFill>
              <a:srgbClr val="A8842A"/>
            </a:solidFill>
            <a:prstDash val="solid"/>
            <a:tailEnd type="triangle"/>
          </a:ln>
        </p:spPr>
      </p:sp>
      <p:sp>
        <p:nvSpPr>
          <p:cNvPr id="25" name="Shape 22"/>
          <p:cNvSpPr/>
          <p:nvPr/>
        </p:nvSpPr>
        <p:spPr>
          <a:xfrm>
            <a:off x="7741768" y="1609344"/>
            <a:ext cx="2011680" cy="548640"/>
          </a:xfrm>
          <a:prstGeom prst="diamond">
            <a:avLst/>
          </a:prstGeom>
          <a:solidFill>
            <a:srgbClr val="FFF2CC"/>
          </a:solidFill>
          <a:ln w="19050">
            <a:solidFill>
              <a:srgbClr val="D6B656"/>
            </a:solidFill>
            <a:prstDash val="solid"/>
          </a:ln>
        </p:spPr>
      </p:sp>
      <p:sp>
        <p:nvSpPr>
          <p:cNvPr id="26" name="Text 23"/>
          <p:cNvSpPr txBox="1"/>
          <p:nvPr/>
        </p:nvSpPr>
        <p:spPr>
          <a:xfrm>
            <a:off x="8083753" y="1680667"/>
            <a:ext cx="1327709" cy="40599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Consent Specification Valid?</a:t>
            </a:r>
            <a:endParaRPr lang="en-AU" sz="1050" dirty="0"/>
          </a:p>
        </p:txBody>
      </p:sp>
      <p:sp>
        <p:nvSpPr>
          <p:cNvPr id="27" name="Shape 24"/>
          <p:cNvSpPr/>
          <p:nvPr/>
        </p:nvSpPr>
        <p:spPr>
          <a:xfrm>
            <a:off x="7284568" y="5084064"/>
            <a:ext cx="164592" cy="0"/>
          </a:xfrm>
          <a:prstGeom prst="line">
            <a:avLst/>
          </a:prstGeom>
          <a:noFill/>
          <a:ln w="19050">
            <a:solidFill>
              <a:srgbClr val="A8842A"/>
            </a:solidFill>
            <a:prstDash val="solid"/>
          </a:ln>
        </p:spPr>
      </p:sp>
      <p:sp>
        <p:nvSpPr>
          <p:cNvPr id="28" name="Shape 25"/>
          <p:cNvSpPr/>
          <p:nvPr/>
        </p:nvSpPr>
        <p:spPr>
          <a:xfrm flipV="1">
            <a:off x="7449160" y="1883664"/>
            <a:ext cx="0" cy="3200400"/>
          </a:xfrm>
          <a:prstGeom prst="line">
            <a:avLst/>
          </a:prstGeom>
          <a:noFill/>
          <a:ln w="19050">
            <a:solidFill>
              <a:srgbClr val="A8842A"/>
            </a:solidFill>
            <a:prstDash val="solid"/>
          </a:ln>
        </p:spPr>
      </p:sp>
      <p:sp>
        <p:nvSpPr>
          <p:cNvPr id="29" name="Shape 26"/>
          <p:cNvSpPr/>
          <p:nvPr/>
        </p:nvSpPr>
        <p:spPr>
          <a:xfrm>
            <a:off x="7449160" y="1883664"/>
            <a:ext cx="292608" cy="0"/>
          </a:xfrm>
          <a:prstGeom prst="line">
            <a:avLst/>
          </a:prstGeom>
          <a:noFill/>
          <a:ln w="19050">
            <a:solidFill>
              <a:srgbClr val="A8842A"/>
            </a:solidFill>
            <a:prstDash val="solid"/>
            <a:tailEnd type="triangle"/>
          </a:ln>
        </p:spPr>
      </p:sp>
      <p:sp>
        <p:nvSpPr>
          <p:cNvPr id="30" name="Shape 27"/>
          <p:cNvSpPr/>
          <p:nvPr/>
        </p:nvSpPr>
        <p:spPr>
          <a:xfrm>
            <a:off x="10164928" y="1664208"/>
            <a:ext cx="1280160" cy="438912"/>
          </a:xfrm>
          <a:prstGeom prst="rect">
            <a:avLst/>
          </a:prstGeom>
          <a:solidFill>
            <a:srgbClr val="FFF2CC"/>
          </a:solidFill>
          <a:ln w="19050">
            <a:solidFill>
              <a:srgbClr val="D6B656"/>
            </a:solidFill>
            <a:prstDash val="solid"/>
          </a:ln>
        </p:spPr>
      </p:sp>
      <p:sp>
        <p:nvSpPr>
          <p:cNvPr id="31" name="Text 28"/>
          <p:cNvSpPr txBox="1"/>
          <p:nvPr/>
        </p:nvSpPr>
        <p:spPr>
          <a:xfrm>
            <a:off x="10228936" y="1691640"/>
            <a:ext cx="1152144" cy="384048"/>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Reject Consent Request</a:t>
            </a:r>
            <a:endParaRPr lang="en-AU" sz="1050" dirty="0"/>
          </a:p>
        </p:txBody>
      </p:sp>
      <p:sp>
        <p:nvSpPr>
          <p:cNvPr id="32" name="Shape 29"/>
          <p:cNvSpPr/>
          <p:nvPr/>
        </p:nvSpPr>
        <p:spPr>
          <a:xfrm>
            <a:off x="9753448" y="1883664"/>
            <a:ext cx="411480" cy="0"/>
          </a:xfrm>
          <a:prstGeom prst="line">
            <a:avLst/>
          </a:prstGeom>
          <a:noFill/>
          <a:ln w="19050">
            <a:solidFill>
              <a:srgbClr val="A8842A"/>
            </a:solidFill>
            <a:prstDash val="solid"/>
            <a:tailEnd type="triangle"/>
          </a:ln>
        </p:spPr>
      </p:sp>
      <p:sp>
        <p:nvSpPr>
          <p:cNvPr id="33" name="Text 30"/>
          <p:cNvSpPr txBox="1"/>
          <p:nvPr/>
        </p:nvSpPr>
        <p:spPr>
          <a:xfrm>
            <a:off x="9790024" y="1700784"/>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34" name="Shape 31"/>
          <p:cNvSpPr/>
          <p:nvPr/>
        </p:nvSpPr>
        <p:spPr>
          <a:xfrm>
            <a:off x="7604608" y="2340864"/>
            <a:ext cx="2286000" cy="365760"/>
          </a:xfrm>
          <a:prstGeom prst="rect">
            <a:avLst/>
          </a:prstGeom>
          <a:solidFill>
            <a:srgbClr val="FFF2CC"/>
          </a:solidFill>
          <a:ln w="19050">
            <a:solidFill>
              <a:srgbClr val="D6B656"/>
            </a:solidFill>
            <a:prstDash val="solid"/>
          </a:ln>
        </p:spPr>
      </p:sp>
      <p:sp>
        <p:nvSpPr>
          <p:cNvPr id="35" name="Text 32"/>
          <p:cNvSpPr txBox="1"/>
          <p:nvPr/>
        </p:nvSpPr>
        <p:spPr>
          <a:xfrm>
            <a:off x="7668616" y="236829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Define Authorisation Requirement</a:t>
            </a:r>
            <a:endParaRPr lang="en-AU" sz="1100" dirty="0"/>
          </a:p>
        </p:txBody>
      </p:sp>
      <p:sp>
        <p:nvSpPr>
          <p:cNvPr id="36" name="Shape 33"/>
          <p:cNvSpPr/>
          <p:nvPr/>
        </p:nvSpPr>
        <p:spPr>
          <a:xfrm>
            <a:off x="7604608" y="2980944"/>
            <a:ext cx="2286000" cy="365760"/>
          </a:xfrm>
          <a:prstGeom prst="rect">
            <a:avLst/>
          </a:prstGeom>
          <a:solidFill>
            <a:srgbClr val="FFF2CC"/>
          </a:solidFill>
          <a:ln w="19050">
            <a:solidFill>
              <a:srgbClr val="D6B656"/>
            </a:solidFill>
            <a:prstDash val="solid"/>
          </a:ln>
        </p:spPr>
      </p:sp>
      <p:sp>
        <p:nvSpPr>
          <p:cNvPr id="37" name="Text 34"/>
          <p:cNvSpPr txBox="1"/>
          <p:nvPr/>
        </p:nvSpPr>
        <p:spPr>
          <a:xfrm>
            <a:off x="7668616" y="300837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Generate Consent Identifier</a:t>
            </a:r>
            <a:endParaRPr lang="en-AU" sz="1100" dirty="0"/>
          </a:p>
        </p:txBody>
      </p:sp>
      <p:sp>
        <p:nvSpPr>
          <p:cNvPr id="38" name="Shape 35"/>
          <p:cNvSpPr/>
          <p:nvPr/>
        </p:nvSpPr>
        <p:spPr>
          <a:xfrm>
            <a:off x="7604608" y="3566160"/>
            <a:ext cx="2286000" cy="475488"/>
          </a:xfrm>
          <a:prstGeom prst="rect">
            <a:avLst/>
          </a:prstGeom>
          <a:solidFill>
            <a:srgbClr val="FFF2CC"/>
          </a:solidFill>
          <a:ln w="19050">
            <a:solidFill>
              <a:srgbClr val="D6B656"/>
            </a:solidFill>
            <a:prstDash val="solid"/>
          </a:ln>
        </p:spPr>
      </p:sp>
      <p:sp>
        <p:nvSpPr>
          <p:cNvPr id="39" name="Text 36"/>
          <p:cNvSpPr txBox="1"/>
          <p:nvPr/>
        </p:nvSpPr>
        <p:spPr>
          <a:xfrm>
            <a:off x="7668616" y="3593592"/>
            <a:ext cx="2157984" cy="42062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Create Trust-Aware Consent Object C = (I, A, P, E)</a:t>
            </a:r>
            <a:endParaRPr lang="en-AU" sz="1050" dirty="0"/>
          </a:p>
        </p:txBody>
      </p:sp>
      <p:sp>
        <p:nvSpPr>
          <p:cNvPr id="40" name="Shape 37"/>
          <p:cNvSpPr/>
          <p:nvPr/>
        </p:nvSpPr>
        <p:spPr>
          <a:xfrm>
            <a:off x="7604608" y="4261104"/>
            <a:ext cx="2286000" cy="365760"/>
          </a:xfrm>
          <a:prstGeom prst="rect">
            <a:avLst/>
          </a:prstGeom>
          <a:solidFill>
            <a:srgbClr val="FFF2CC"/>
          </a:solidFill>
          <a:ln w="19050">
            <a:solidFill>
              <a:srgbClr val="D6B656"/>
            </a:solidFill>
            <a:prstDash val="solid"/>
          </a:ln>
        </p:spPr>
      </p:sp>
      <p:sp>
        <p:nvSpPr>
          <p:cNvPr id="41" name="Text 38"/>
          <p:cNvSpPr txBox="1"/>
          <p:nvPr/>
        </p:nvSpPr>
        <p:spPr>
          <a:xfrm>
            <a:off x="7668616" y="428853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Persist Consent Record</a:t>
            </a:r>
            <a:endParaRPr lang="en-AU" sz="1100" dirty="0"/>
          </a:p>
        </p:txBody>
      </p:sp>
      <p:sp>
        <p:nvSpPr>
          <p:cNvPr id="42" name="Shape 39"/>
          <p:cNvSpPr/>
          <p:nvPr/>
        </p:nvSpPr>
        <p:spPr>
          <a:xfrm>
            <a:off x="7604608" y="4901184"/>
            <a:ext cx="2286000" cy="365760"/>
          </a:xfrm>
          <a:prstGeom prst="rect">
            <a:avLst/>
          </a:prstGeom>
          <a:solidFill>
            <a:srgbClr val="FFF2CC"/>
          </a:solidFill>
          <a:ln w="19050">
            <a:solidFill>
              <a:srgbClr val="D6B656"/>
            </a:solidFill>
            <a:prstDash val="solid"/>
          </a:ln>
        </p:spPr>
      </p:sp>
      <p:sp>
        <p:nvSpPr>
          <p:cNvPr id="43" name="Text 40"/>
          <p:cNvSpPr txBox="1"/>
          <p:nvPr/>
        </p:nvSpPr>
        <p:spPr>
          <a:xfrm>
            <a:off x="7668616" y="492861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Record Consent Creation Audit</a:t>
            </a:r>
            <a:endParaRPr lang="en-AU" sz="1100" dirty="0"/>
          </a:p>
        </p:txBody>
      </p:sp>
      <p:sp>
        <p:nvSpPr>
          <p:cNvPr id="44" name="Shape 41"/>
          <p:cNvSpPr/>
          <p:nvPr/>
        </p:nvSpPr>
        <p:spPr>
          <a:xfrm>
            <a:off x="7604608" y="5541264"/>
            <a:ext cx="2286000" cy="365760"/>
          </a:xfrm>
          <a:prstGeom prst="roundRect">
            <a:avLst>
              <a:gd name="adj" fmla="val 30000"/>
            </a:avLst>
          </a:prstGeom>
          <a:solidFill>
            <a:srgbClr val="FFF2CC"/>
          </a:solidFill>
          <a:ln w="19050">
            <a:solidFill>
              <a:srgbClr val="D6B656"/>
            </a:solidFill>
            <a:prstDash val="solid"/>
          </a:ln>
        </p:spPr>
      </p:sp>
      <p:sp>
        <p:nvSpPr>
          <p:cNvPr id="45" name="Text 42"/>
          <p:cNvSpPr txBox="1"/>
          <p:nvPr/>
        </p:nvSpPr>
        <p:spPr>
          <a:xfrm>
            <a:off x="7668616" y="5568696"/>
            <a:ext cx="215798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Return Consent Object C</a:t>
            </a:r>
            <a:endParaRPr lang="en-AU" sz="1100" dirty="0"/>
          </a:p>
        </p:txBody>
      </p:sp>
      <p:sp>
        <p:nvSpPr>
          <p:cNvPr id="46" name="Shape 43"/>
          <p:cNvSpPr/>
          <p:nvPr/>
        </p:nvSpPr>
        <p:spPr>
          <a:xfrm>
            <a:off x="8747608" y="2157984"/>
            <a:ext cx="0" cy="182880"/>
          </a:xfrm>
          <a:prstGeom prst="line">
            <a:avLst/>
          </a:prstGeom>
          <a:noFill/>
          <a:ln w="19050">
            <a:solidFill>
              <a:srgbClr val="A8842A"/>
            </a:solidFill>
            <a:prstDash val="solid"/>
            <a:tailEnd type="triangle"/>
          </a:ln>
        </p:spPr>
      </p:sp>
      <p:sp>
        <p:nvSpPr>
          <p:cNvPr id="47" name="Text 44"/>
          <p:cNvSpPr txBox="1"/>
          <p:nvPr/>
        </p:nvSpPr>
        <p:spPr>
          <a:xfrm>
            <a:off x="8802472" y="213969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48" name="Shape 45"/>
          <p:cNvSpPr/>
          <p:nvPr/>
        </p:nvSpPr>
        <p:spPr>
          <a:xfrm>
            <a:off x="8747608" y="2706624"/>
            <a:ext cx="0" cy="274320"/>
          </a:xfrm>
          <a:prstGeom prst="line">
            <a:avLst/>
          </a:prstGeom>
          <a:noFill/>
          <a:ln w="19050">
            <a:solidFill>
              <a:srgbClr val="A8842A"/>
            </a:solidFill>
            <a:prstDash val="solid"/>
            <a:tailEnd type="triangle"/>
          </a:ln>
        </p:spPr>
      </p:sp>
      <p:sp>
        <p:nvSpPr>
          <p:cNvPr id="49" name="Shape 46"/>
          <p:cNvSpPr/>
          <p:nvPr/>
        </p:nvSpPr>
        <p:spPr>
          <a:xfrm>
            <a:off x="8747608" y="3346704"/>
            <a:ext cx="0" cy="219456"/>
          </a:xfrm>
          <a:prstGeom prst="line">
            <a:avLst/>
          </a:prstGeom>
          <a:noFill/>
          <a:ln w="19050">
            <a:solidFill>
              <a:srgbClr val="A8842A"/>
            </a:solidFill>
            <a:prstDash val="solid"/>
            <a:tailEnd type="triangle"/>
          </a:ln>
        </p:spPr>
      </p:sp>
      <p:sp>
        <p:nvSpPr>
          <p:cNvPr id="50" name="Shape 47"/>
          <p:cNvSpPr/>
          <p:nvPr/>
        </p:nvSpPr>
        <p:spPr>
          <a:xfrm>
            <a:off x="8747608" y="4041648"/>
            <a:ext cx="0" cy="219456"/>
          </a:xfrm>
          <a:prstGeom prst="line">
            <a:avLst/>
          </a:prstGeom>
          <a:noFill/>
          <a:ln w="19050">
            <a:solidFill>
              <a:srgbClr val="A8842A"/>
            </a:solidFill>
            <a:prstDash val="solid"/>
            <a:tailEnd type="triangle"/>
          </a:ln>
        </p:spPr>
      </p:sp>
      <p:sp>
        <p:nvSpPr>
          <p:cNvPr id="51" name="Shape 48"/>
          <p:cNvSpPr/>
          <p:nvPr/>
        </p:nvSpPr>
        <p:spPr>
          <a:xfrm>
            <a:off x="8747608" y="4626864"/>
            <a:ext cx="0" cy="274320"/>
          </a:xfrm>
          <a:prstGeom prst="line">
            <a:avLst/>
          </a:prstGeom>
          <a:noFill/>
          <a:ln w="19050">
            <a:solidFill>
              <a:srgbClr val="A8842A"/>
            </a:solidFill>
            <a:prstDash val="solid"/>
            <a:tailEnd type="triangle"/>
          </a:ln>
        </p:spPr>
      </p:sp>
      <p:sp>
        <p:nvSpPr>
          <p:cNvPr id="52" name="Shape 49"/>
          <p:cNvSpPr/>
          <p:nvPr/>
        </p:nvSpPr>
        <p:spPr>
          <a:xfrm>
            <a:off x="8747608" y="5266944"/>
            <a:ext cx="0" cy="274320"/>
          </a:xfrm>
          <a:prstGeom prst="line">
            <a:avLst/>
          </a:prstGeom>
          <a:noFill/>
          <a:ln w="19050">
            <a:solidFill>
              <a:srgbClr val="A8842A"/>
            </a:solidFill>
            <a:prstDash val="solid"/>
            <a:tailEnd type="triangle"/>
          </a:ln>
        </p:spPr>
      </p:sp>
      <p:sp>
        <p:nvSpPr>
          <p:cNvPr id="53" name="Text 50"/>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6.1: RO1 workflow for trust-centric consent creation</a:t>
            </a:r>
            <a:endParaRPr lang="en-AU" sz="1050" dirty="0"/>
          </a:p>
        </p:txBody>
      </p:sp>
      <p:sp>
        <p:nvSpPr>
          <p:cNvPr id="54" name="Shape 51"/>
          <p:cNvSpPr/>
          <p:nvPr/>
        </p:nvSpPr>
        <p:spPr>
          <a:xfrm>
            <a:off x="548640" y="1664208"/>
            <a:ext cx="384048" cy="384048"/>
          </a:xfrm>
          <a:prstGeom prst="ellipse">
            <a:avLst/>
          </a:prstGeom>
          <a:solidFill>
            <a:srgbClr val="13707B"/>
          </a:solidFill>
          <a:ln w="12700">
            <a:solidFill>
              <a:srgbClr val="13707B"/>
            </a:solidFill>
            <a:prstDash val="solid"/>
          </a:ln>
        </p:spPr>
      </p:sp>
      <p:pic>
        <p:nvPicPr>
          <p:cNvPr id="55"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56" name="Text 52"/>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C = (I, A, P, E)</a:t>
            </a:r>
            <a:endParaRPr lang="en-AU" sz="1500" dirty="0"/>
          </a:p>
        </p:txBody>
      </p:sp>
      <p:sp>
        <p:nvSpPr>
          <p:cNvPr id="57" name="Text 53"/>
          <p:cNvSpPr txBox="1"/>
          <p:nvPr/>
        </p:nvSpPr>
        <p:spPr>
          <a:xfrm>
            <a:off x="1115568" y="197510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I = identity, A = authorisation requirements, P = purpose and data-scope policy, E = authorisation evidence</a:t>
            </a:r>
            <a:endParaRPr lang="en-AU" sz="1250" dirty="0"/>
          </a:p>
        </p:txBody>
      </p:sp>
      <p:sp>
        <p:nvSpPr>
          <p:cNvPr id="58" name="Shape 54"/>
          <p:cNvSpPr/>
          <p:nvPr/>
        </p:nvSpPr>
        <p:spPr>
          <a:xfrm>
            <a:off x="548640" y="2841498"/>
            <a:ext cx="384048" cy="384048"/>
          </a:xfrm>
          <a:prstGeom prst="ellipse">
            <a:avLst/>
          </a:prstGeom>
          <a:solidFill>
            <a:srgbClr val="13707B"/>
          </a:solidFill>
          <a:ln w="12700">
            <a:solidFill>
              <a:srgbClr val="13707B"/>
            </a:solidFill>
            <a:prstDash val="solid"/>
          </a:ln>
        </p:spPr>
      </p:sp>
      <p:pic>
        <p:nvPicPr>
          <p:cNvPr id="59"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60" name="Text 55"/>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Validate, then construct</a:t>
            </a:r>
            <a:endParaRPr lang="en-AU" sz="1500" dirty="0"/>
          </a:p>
        </p:txBody>
      </p:sp>
      <p:sp>
        <p:nvSpPr>
          <p:cNvPr id="61" name="Text 56"/>
          <p:cNvSpPr txBox="1"/>
          <p:nvPr/>
        </p:nvSpPr>
        <p:spPr>
          <a:xfrm>
            <a:off x="1115568" y="315239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Patient, doctor, guardians, purpose, scope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and interval T checked; </a:t>
            </a:r>
            <a:r>
              <a:rPr lang="en-AU" sz="1250" dirty="0">
                <a:solidFill>
                  <a:srgbClr val="1C2B31"/>
                </a:solidFill>
                <a:latin typeface="Calibri" pitchFamily="34" charset="0"/>
                <a:ea typeface="Calibri" pitchFamily="34" charset="-122"/>
                <a:cs typeface="Calibri" pitchFamily="34" charset="-120"/>
              </a:rPr>
              <a:t>t</a:t>
            </a:r>
            <a:r>
              <a:rPr lang="en-AU" sz="1480" baseline="-25000" dirty="0">
                <a:solidFill>
                  <a:srgbClr val="1C2B31"/>
                </a:solidFill>
                <a:latin typeface="Calibri" pitchFamily="34" charset="0"/>
                <a:ea typeface="Calibri" pitchFamily="34" charset="-122"/>
                <a:cs typeface="Calibri" pitchFamily="34" charset="-120"/>
              </a:rPr>
              <a:t>e</a:t>
            </a:r>
            <a:r>
              <a:rPr lang="en-AU" sz="1250" dirty="0">
                <a:solidFill>
                  <a:srgbClr val="1C2B31"/>
                </a:solidFill>
                <a:latin typeface="Calibri" pitchFamily="34" charset="0"/>
                <a:ea typeface="Calibri" pitchFamily="34" charset="-122"/>
                <a:cs typeface="Calibri" pitchFamily="34" charset="-120"/>
              </a:rPr>
              <a:t> must be later than </a:t>
            </a:r>
            <a:r>
              <a:rPr lang="en-AU" sz="1250" dirty="0">
                <a:solidFill>
                  <a:srgbClr val="1C2B31"/>
                </a:solidFill>
                <a:latin typeface="Calibri" pitchFamily="34" charset="0"/>
                <a:ea typeface="Calibri" pitchFamily="34" charset="-122"/>
                <a:cs typeface="Calibri" pitchFamily="34" charset="-120"/>
              </a:rPr>
              <a:t>t</a:t>
            </a:r>
            <a:r>
              <a:rPr lang="en-AU" sz="1480" baseline="-25000" dirty="0">
                <a:solidFill>
                  <a:srgbClr val="1C2B31"/>
                </a:solidFill>
                <a:latin typeface="Calibri" pitchFamily="34" charset="0"/>
                <a:ea typeface="Calibri" pitchFamily="34" charset="-122"/>
                <a:cs typeface="Calibri" pitchFamily="34" charset="-120"/>
              </a:rPr>
              <a:t>s</a:t>
            </a:r>
            <a:endParaRPr lang="en-AU" sz="1250" dirty="0"/>
          </a:p>
        </p:txBody>
      </p:sp>
      <p:sp>
        <p:nvSpPr>
          <p:cNvPr id="62" name="Shape 57"/>
          <p:cNvSpPr/>
          <p:nvPr/>
        </p:nvSpPr>
        <p:spPr>
          <a:xfrm>
            <a:off x="548640" y="4018788"/>
            <a:ext cx="384048" cy="384048"/>
          </a:xfrm>
          <a:prstGeom prst="ellipse">
            <a:avLst/>
          </a:prstGeom>
          <a:solidFill>
            <a:srgbClr val="13707B"/>
          </a:solidFill>
          <a:ln w="12700">
            <a:solidFill>
              <a:srgbClr val="13707B"/>
            </a:solidFill>
            <a:prstDash val="solid"/>
          </a:ln>
        </p:spPr>
      </p:sp>
      <p:pic>
        <p:nvPicPr>
          <p:cNvPr id="63"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64" name="Text 58"/>
          <p:cNvSpPr txBox="1"/>
          <p:nvPr/>
        </p:nvSpPr>
        <p:spPr>
          <a:xfrm>
            <a:off x="1115568" y="400050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Algorithm 1: C or REJECT</a:t>
            </a:r>
            <a:endParaRPr lang="en-AU" sz="1500" dirty="0"/>
          </a:p>
        </p:txBody>
      </p:sp>
      <p:sp>
        <p:nvSpPr>
          <p:cNvPr id="65" name="Text 59"/>
          <p:cNvSpPr txBox="1"/>
          <p:nvPr/>
        </p:nvSpPr>
        <p:spPr>
          <a:xfrm>
            <a:off x="1115568" y="432968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Does not grant access directly; assigns </a:t>
            </a:r>
            <a:r>
              <a:rPr lang="en-AU" sz="1250" dirty="0">
                <a:solidFill>
                  <a:srgbClr val="1C2B31"/>
                </a:solidFill>
                <a:latin typeface="Calibri" pitchFamily="34" charset="0"/>
                <a:ea typeface="Calibri" pitchFamily="34" charset="-122"/>
                <a:cs typeface="Calibri" pitchFamily="34" charset="-120"/>
              </a:rPr>
              <a:t>id</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persists C and records creation evidence for audit</a:t>
            </a:r>
            <a:endParaRPr lang="en-AU" sz="1250" dirty="0"/>
          </a:p>
        </p:txBody>
      </p:sp>
      <p:sp>
        <p:nvSpPr>
          <p:cNvPr id="66" name="Shape 60"/>
          <p:cNvSpPr/>
          <p:nvPr/>
        </p:nvSpPr>
        <p:spPr>
          <a:xfrm>
            <a:off x="548640" y="5196078"/>
            <a:ext cx="384048" cy="384048"/>
          </a:xfrm>
          <a:prstGeom prst="ellipse">
            <a:avLst/>
          </a:prstGeom>
          <a:solidFill>
            <a:srgbClr val="13707B"/>
          </a:solidFill>
          <a:ln w="12700">
            <a:solidFill>
              <a:srgbClr val="13707B"/>
            </a:solidFill>
            <a:prstDash val="solid"/>
          </a:ln>
        </p:spPr>
      </p:sp>
      <p:pic>
        <p:nvPicPr>
          <p:cNvPr id="67"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68" name="Text 61"/>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Prototype status</a:t>
            </a:r>
            <a:endParaRPr lang="en-AU" sz="1500" dirty="0"/>
          </a:p>
        </p:txBody>
      </p:sp>
      <p:sp>
        <p:nvSpPr>
          <p:cNvPr id="69" name="Text 62"/>
          <p:cNvSpPr txBox="1"/>
          <p:nvPr/>
        </p:nvSpPr>
        <p:spPr>
          <a:xfrm>
            <a:off x="1115568" y="550697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Patient, doctor and guardian checks (Steps 1–3) not yet enforced at creation; VC authority checks in CA3; </a:t>
            </a:r>
            <a:r>
              <a:rPr lang="en-AU" sz="1250" dirty="0">
                <a:solidFill>
                  <a:srgbClr val="1C2B31"/>
                </a:solidFill>
                <a:latin typeface="Calibri" pitchFamily="34" charset="0"/>
                <a:ea typeface="Calibri" pitchFamily="34" charset="-122"/>
                <a:cs typeface="Calibri" pitchFamily="34" charset="-120"/>
              </a:rPr>
              <a:t>t</a:t>
            </a:r>
            <a:r>
              <a:rPr lang="en-AU" sz="1480" baseline="-25000" dirty="0">
                <a:solidFill>
                  <a:srgbClr val="1C2B31"/>
                </a:solidFill>
                <a:latin typeface="Calibri" pitchFamily="34" charset="0"/>
                <a:ea typeface="Calibri" pitchFamily="34" charset="-122"/>
                <a:cs typeface="Calibri" pitchFamily="34" charset="-120"/>
              </a:rPr>
              <a:t>e</a:t>
            </a:r>
            <a:r>
              <a:rPr lang="en-AU" sz="1250" dirty="0">
                <a:solidFill>
                  <a:srgbClr val="1C2B31"/>
                </a:solidFill>
                <a:latin typeface="Calibri" pitchFamily="34" charset="0"/>
                <a:ea typeface="Calibri" pitchFamily="34" charset="-122"/>
                <a:cs typeface="Calibri" pitchFamily="34" charset="-120"/>
              </a:rPr>
              <a:t> &gt; </a:t>
            </a:r>
            <a:r>
              <a:rPr lang="en-AU" sz="1250" dirty="0">
                <a:solidFill>
                  <a:srgbClr val="1C2B31"/>
                </a:solidFill>
                <a:latin typeface="Calibri" pitchFamily="34" charset="0"/>
                <a:ea typeface="Calibri" pitchFamily="34" charset="-122"/>
                <a:cs typeface="Calibri" pitchFamily="34" charset="-120"/>
              </a:rPr>
              <a:t>t</a:t>
            </a:r>
            <a:r>
              <a:rPr lang="en-AU" sz="1480" baseline="-25000" dirty="0">
                <a:solidFill>
                  <a:srgbClr val="1C2B31"/>
                </a:solidFill>
                <a:latin typeface="Calibri" pitchFamily="34" charset="0"/>
                <a:ea typeface="Calibri" pitchFamily="34" charset="-122"/>
                <a:cs typeface="Calibri" pitchFamily="34" charset="-120"/>
              </a:rPr>
              <a:t>s</a:t>
            </a:r>
            <a:r>
              <a:rPr lang="en-AU" sz="1250" dirty="0">
                <a:solidFill>
                  <a:srgbClr val="1C2B31"/>
                </a:solidFill>
                <a:latin typeface="Calibri" pitchFamily="34" charset="0"/>
                <a:ea typeface="Calibri" pitchFamily="34" charset="-122"/>
                <a:cs typeface="Calibri" pitchFamily="34" charset="-120"/>
              </a:rPr>
              <a:t> check (Step 6) implemented</a:t>
            </a:r>
            <a:endParaRPr lang="en-AU"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RO2: identity is not authorisation</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lnSpc>
                <a:spcPts val="1800"/>
              </a:lnSpc>
              <a:buNone/>
            </a:pPr>
            <a:r>
              <a:rPr lang="en-AU" sz="1500" dirty="0">
                <a:solidFill>
                  <a:srgbClr val="5E6E73"/>
                </a:solidFill>
                <a:latin typeface="Calibri" pitchFamily="34" charset="0"/>
                <a:ea typeface="Calibri" pitchFamily="34" charset="-122"/>
                <a:cs typeface="Calibri" pitchFamily="34" charset="-120"/>
              </a:rPr>
              <a:t>Section 6.2 and Algorithm 2: DID and VC checks yield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I</a:t>
            </a:r>
            <a:r>
              <a:rPr lang="en-AU" sz="1500" dirty="0">
                <a:solidFill>
                  <a:srgbClr val="5E6E73"/>
                </a:solidFill>
                <a:latin typeface="Calibri" pitchFamily="34" charset="0"/>
                <a:ea typeface="Calibri" pitchFamily="34" charset="-122"/>
                <a:cs typeface="Calibri" pitchFamily="34" charset="-120"/>
              </a:rPr>
              <a:t>(u), an input to RO3 and RO4, not an access grant</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23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4998568" y="1700784"/>
            <a:ext cx="2560320" cy="402336"/>
          </a:xfrm>
          <a:prstGeom prst="roundRect">
            <a:avLst>
              <a:gd name="adj" fmla="val 27273"/>
            </a:avLst>
          </a:prstGeom>
          <a:solidFill>
            <a:srgbClr val="FFF2CC"/>
          </a:solidFill>
          <a:ln w="19050">
            <a:solidFill>
              <a:srgbClr val="D6B656"/>
            </a:solidFill>
            <a:prstDash val="solid"/>
          </a:ln>
        </p:spPr>
      </p:sp>
      <p:sp>
        <p:nvSpPr>
          <p:cNvPr id="9" name="Text 6"/>
          <p:cNvSpPr txBox="1"/>
          <p:nvPr/>
        </p:nvSpPr>
        <p:spPr>
          <a:xfrm>
            <a:off x="5062576" y="1728216"/>
            <a:ext cx="2432304" cy="347472"/>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Participant Requests Participation</a:t>
            </a:r>
            <a:endParaRPr lang="en-AU" sz="1100" dirty="0"/>
          </a:p>
        </p:txBody>
      </p:sp>
      <p:sp>
        <p:nvSpPr>
          <p:cNvPr id="10" name="Shape 7"/>
          <p:cNvSpPr/>
          <p:nvPr/>
        </p:nvSpPr>
        <p:spPr>
          <a:xfrm>
            <a:off x="4998568" y="2423160"/>
            <a:ext cx="2560320" cy="384048"/>
          </a:xfrm>
          <a:prstGeom prst="rect">
            <a:avLst/>
          </a:prstGeom>
          <a:solidFill>
            <a:srgbClr val="FFF2CC"/>
          </a:solidFill>
          <a:ln w="19050">
            <a:solidFill>
              <a:srgbClr val="D6B656"/>
            </a:solidFill>
            <a:prstDash val="solid"/>
          </a:ln>
        </p:spPr>
      </p:sp>
      <p:sp>
        <p:nvSpPr>
          <p:cNvPr id="11" name="Text 8"/>
          <p:cNvSpPr txBox="1"/>
          <p:nvPr/>
        </p:nvSpPr>
        <p:spPr>
          <a:xfrm>
            <a:off x="5062576" y="2450592"/>
            <a:ext cx="2432304" cy="329184"/>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Resolve Participant DID</a:t>
            </a:r>
            <a:endParaRPr lang="en-AU" sz="1100" dirty="0"/>
          </a:p>
        </p:txBody>
      </p:sp>
      <p:sp>
        <p:nvSpPr>
          <p:cNvPr id="12" name="Shape 9"/>
          <p:cNvSpPr/>
          <p:nvPr/>
        </p:nvSpPr>
        <p:spPr>
          <a:xfrm>
            <a:off x="6278728" y="2103120"/>
            <a:ext cx="0" cy="320040"/>
          </a:xfrm>
          <a:prstGeom prst="line">
            <a:avLst/>
          </a:prstGeom>
          <a:noFill/>
          <a:ln w="19050">
            <a:solidFill>
              <a:srgbClr val="A8842A"/>
            </a:solidFill>
            <a:prstDash val="solid"/>
            <a:tailEnd type="triangle"/>
          </a:ln>
        </p:spPr>
      </p:sp>
      <p:sp>
        <p:nvSpPr>
          <p:cNvPr id="13" name="Shape 10"/>
          <p:cNvSpPr/>
          <p:nvPr/>
        </p:nvSpPr>
        <p:spPr>
          <a:xfrm>
            <a:off x="7878928" y="2386584"/>
            <a:ext cx="1920240" cy="457200"/>
          </a:xfrm>
          <a:prstGeom prst="diamond">
            <a:avLst/>
          </a:prstGeom>
          <a:solidFill>
            <a:srgbClr val="FFF2CC"/>
          </a:solidFill>
          <a:ln w="19050">
            <a:solidFill>
              <a:srgbClr val="D6B656"/>
            </a:solidFill>
            <a:prstDash val="solid"/>
          </a:ln>
        </p:spPr>
      </p:sp>
      <p:sp>
        <p:nvSpPr>
          <p:cNvPr id="14" name="Text 11"/>
          <p:cNvSpPr txBox="1"/>
          <p:nvPr/>
        </p:nvSpPr>
        <p:spPr>
          <a:xfrm>
            <a:off x="8205368" y="2446020"/>
            <a:ext cx="1267358" cy="338328"/>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DID Valid?</a:t>
            </a:r>
            <a:endParaRPr lang="en-AU" sz="1050" dirty="0"/>
          </a:p>
        </p:txBody>
      </p:sp>
      <p:sp>
        <p:nvSpPr>
          <p:cNvPr id="15" name="Shape 12"/>
          <p:cNvSpPr/>
          <p:nvPr/>
        </p:nvSpPr>
        <p:spPr>
          <a:xfrm>
            <a:off x="7558888" y="2615184"/>
            <a:ext cx="320040" cy="0"/>
          </a:xfrm>
          <a:prstGeom prst="line">
            <a:avLst/>
          </a:prstGeom>
          <a:noFill/>
          <a:ln w="19050">
            <a:solidFill>
              <a:srgbClr val="A8842A"/>
            </a:solidFill>
            <a:prstDash val="solid"/>
            <a:tailEnd type="triangle"/>
          </a:ln>
        </p:spPr>
      </p:sp>
      <p:sp>
        <p:nvSpPr>
          <p:cNvPr id="16" name="Shape 13"/>
          <p:cNvSpPr/>
          <p:nvPr/>
        </p:nvSpPr>
        <p:spPr>
          <a:xfrm>
            <a:off x="4998568" y="3136392"/>
            <a:ext cx="2560320" cy="384048"/>
          </a:xfrm>
          <a:prstGeom prst="rect">
            <a:avLst/>
          </a:prstGeom>
          <a:solidFill>
            <a:srgbClr val="FFF2CC"/>
          </a:solidFill>
          <a:ln w="19050">
            <a:solidFill>
              <a:srgbClr val="D6B656"/>
            </a:solidFill>
            <a:prstDash val="solid"/>
          </a:ln>
        </p:spPr>
      </p:sp>
      <p:sp>
        <p:nvSpPr>
          <p:cNvPr id="17" name="Text 14"/>
          <p:cNvSpPr txBox="1"/>
          <p:nvPr/>
        </p:nvSpPr>
        <p:spPr>
          <a:xfrm>
            <a:off x="5062576" y="3163824"/>
            <a:ext cx="2432304" cy="329184"/>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Retrieve Verifiable Credential</a:t>
            </a:r>
            <a:endParaRPr lang="en-AU" sz="1100" dirty="0"/>
          </a:p>
        </p:txBody>
      </p:sp>
      <p:sp>
        <p:nvSpPr>
          <p:cNvPr id="18" name="Shape 15"/>
          <p:cNvSpPr/>
          <p:nvPr/>
        </p:nvSpPr>
        <p:spPr>
          <a:xfrm>
            <a:off x="8839048" y="2843784"/>
            <a:ext cx="0" cy="146304"/>
          </a:xfrm>
          <a:prstGeom prst="line">
            <a:avLst/>
          </a:prstGeom>
          <a:noFill/>
          <a:ln w="19050">
            <a:solidFill>
              <a:srgbClr val="A8842A"/>
            </a:solidFill>
            <a:prstDash val="solid"/>
          </a:ln>
        </p:spPr>
      </p:sp>
      <p:sp>
        <p:nvSpPr>
          <p:cNvPr id="19" name="Shape 16"/>
          <p:cNvSpPr/>
          <p:nvPr/>
        </p:nvSpPr>
        <p:spPr>
          <a:xfrm flipH="1">
            <a:off x="6278728" y="2990088"/>
            <a:ext cx="2560320" cy="0"/>
          </a:xfrm>
          <a:prstGeom prst="line">
            <a:avLst/>
          </a:prstGeom>
          <a:noFill/>
          <a:ln w="19050">
            <a:solidFill>
              <a:srgbClr val="A8842A"/>
            </a:solidFill>
            <a:prstDash val="solid"/>
          </a:ln>
        </p:spPr>
      </p:sp>
      <p:sp>
        <p:nvSpPr>
          <p:cNvPr id="20" name="Shape 17"/>
          <p:cNvSpPr/>
          <p:nvPr/>
        </p:nvSpPr>
        <p:spPr>
          <a:xfrm>
            <a:off x="6278728" y="2990088"/>
            <a:ext cx="0" cy="146304"/>
          </a:xfrm>
          <a:prstGeom prst="line">
            <a:avLst/>
          </a:prstGeom>
          <a:noFill/>
          <a:ln w="19050">
            <a:solidFill>
              <a:srgbClr val="A8842A"/>
            </a:solidFill>
            <a:prstDash val="solid"/>
            <a:tailEnd type="triangle"/>
          </a:ln>
        </p:spPr>
      </p:sp>
      <p:sp>
        <p:nvSpPr>
          <p:cNvPr id="21" name="Text 18"/>
          <p:cNvSpPr txBox="1"/>
          <p:nvPr/>
        </p:nvSpPr>
        <p:spPr>
          <a:xfrm>
            <a:off x="8893912" y="282549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22" name="Shape 19"/>
          <p:cNvSpPr/>
          <p:nvPr/>
        </p:nvSpPr>
        <p:spPr>
          <a:xfrm>
            <a:off x="7878928" y="3099816"/>
            <a:ext cx="1920240" cy="457200"/>
          </a:xfrm>
          <a:prstGeom prst="diamond">
            <a:avLst/>
          </a:prstGeom>
          <a:solidFill>
            <a:srgbClr val="FFF2CC"/>
          </a:solidFill>
          <a:ln w="19050">
            <a:solidFill>
              <a:srgbClr val="D6B656"/>
            </a:solidFill>
            <a:prstDash val="solid"/>
          </a:ln>
        </p:spPr>
      </p:sp>
      <p:sp>
        <p:nvSpPr>
          <p:cNvPr id="23" name="Text 20"/>
          <p:cNvSpPr txBox="1"/>
          <p:nvPr/>
        </p:nvSpPr>
        <p:spPr>
          <a:xfrm>
            <a:off x="8205368" y="3159252"/>
            <a:ext cx="1267358" cy="338328"/>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VC Retrieved and Valid?</a:t>
            </a:r>
            <a:endParaRPr lang="en-AU" sz="1050" dirty="0"/>
          </a:p>
        </p:txBody>
      </p:sp>
      <p:sp>
        <p:nvSpPr>
          <p:cNvPr id="24" name="Shape 21"/>
          <p:cNvSpPr/>
          <p:nvPr/>
        </p:nvSpPr>
        <p:spPr>
          <a:xfrm>
            <a:off x="7558888" y="3328416"/>
            <a:ext cx="320040" cy="0"/>
          </a:xfrm>
          <a:prstGeom prst="line">
            <a:avLst/>
          </a:prstGeom>
          <a:noFill/>
          <a:ln w="19050">
            <a:solidFill>
              <a:srgbClr val="A8842A"/>
            </a:solidFill>
            <a:prstDash val="solid"/>
            <a:tailEnd type="triangle"/>
          </a:ln>
        </p:spPr>
      </p:sp>
      <p:sp>
        <p:nvSpPr>
          <p:cNvPr id="25" name="Shape 22"/>
          <p:cNvSpPr/>
          <p:nvPr/>
        </p:nvSpPr>
        <p:spPr>
          <a:xfrm>
            <a:off x="4998568" y="3849624"/>
            <a:ext cx="2560320" cy="384048"/>
          </a:xfrm>
          <a:prstGeom prst="rect">
            <a:avLst/>
          </a:prstGeom>
          <a:solidFill>
            <a:srgbClr val="FFF2CC"/>
          </a:solidFill>
          <a:ln w="19050">
            <a:solidFill>
              <a:srgbClr val="D6B656"/>
            </a:solidFill>
            <a:prstDash val="solid"/>
          </a:ln>
        </p:spPr>
      </p:sp>
      <p:sp>
        <p:nvSpPr>
          <p:cNvPr id="26" name="Text 23"/>
          <p:cNvSpPr txBox="1"/>
          <p:nvPr/>
        </p:nvSpPr>
        <p:spPr>
          <a:xfrm>
            <a:off x="5062576" y="3877056"/>
            <a:ext cx="2432304" cy="329184"/>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Extract Role and Authority Claims</a:t>
            </a:r>
            <a:endParaRPr lang="en-AU" sz="1100" dirty="0"/>
          </a:p>
        </p:txBody>
      </p:sp>
      <p:sp>
        <p:nvSpPr>
          <p:cNvPr id="27" name="Shape 24"/>
          <p:cNvSpPr/>
          <p:nvPr/>
        </p:nvSpPr>
        <p:spPr>
          <a:xfrm>
            <a:off x="8839048" y="3557016"/>
            <a:ext cx="0" cy="146304"/>
          </a:xfrm>
          <a:prstGeom prst="line">
            <a:avLst/>
          </a:prstGeom>
          <a:noFill/>
          <a:ln w="19050">
            <a:solidFill>
              <a:srgbClr val="A8842A"/>
            </a:solidFill>
            <a:prstDash val="solid"/>
          </a:ln>
        </p:spPr>
      </p:sp>
      <p:sp>
        <p:nvSpPr>
          <p:cNvPr id="28" name="Shape 25"/>
          <p:cNvSpPr/>
          <p:nvPr/>
        </p:nvSpPr>
        <p:spPr>
          <a:xfrm flipH="1">
            <a:off x="6278728" y="3703320"/>
            <a:ext cx="2560320" cy="0"/>
          </a:xfrm>
          <a:prstGeom prst="line">
            <a:avLst/>
          </a:prstGeom>
          <a:noFill/>
          <a:ln w="19050">
            <a:solidFill>
              <a:srgbClr val="A8842A"/>
            </a:solidFill>
            <a:prstDash val="solid"/>
          </a:ln>
        </p:spPr>
      </p:sp>
      <p:sp>
        <p:nvSpPr>
          <p:cNvPr id="29" name="Shape 26"/>
          <p:cNvSpPr/>
          <p:nvPr/>
        </p:nvSpPr>
        <p:spPr>
          <a:xfrm>
            <a:off x="6278728" y="3703320"/>
            <a:ext cx="0" cy="146304"/>
          </a:xfrm>
          <a:prstGeom prst="line">
            <a:avLst/>
          </a:prstGeom>
          <a:noFill/>
          <a:ln w="19050">
            <a:solidFill>
              <a:srgbClr val="A8842A"/>
            </a:solidFill>
            <a:prstDash val="solid"/>
            <a:tailEnd type="triangle"/>
          </a:ln>
        </p:spPr>
      </p:sp>
      <p:sp>
        <p:nvSpPr>
          <p:cNvPr id="30" name="Text 27"/>
          <p:cNvSpPr txBox="1"/>
          <p:nvPr/>
        </p:nvSpPr>
        <p:spPr>
          <a:xfrm>
            <a:off x="8893912" y="353872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31" name="Shape 28"/>
          <p:cNvSpPr/>
          <p:nvPr/>
        </p:nvSpPr>
        <p:spPr>
          <a:xfrm>
            <a:off x="7878928" y="3813048"/>
            <a:ext cx="1920240" cy="457200"/>
          </a:xfrm>
          <a:prstGeom prst="diamond">
            <a:avLst/>
          </a:prstGeom>
          <a:solidFill>
            <a:srgbClr val="FFF2CC"/>
          </a:solidFill>
          <a:ln w="19050">
            <a:solidFill>
              <a:srgbClr val="D6B656"/>
            </a:solidFill>
            <a:prstDash val="solid"/>
          </a:ln>
        </p:spPr>
      </p:sp>
      <p:sp>
        <p:nvSpPr>
          <p:cNvPr id="32" name="Text 29"/>
          <p:cNvSpPr txBox="1"/>
          <p:nvPr/>
        </p:nvSpPr>
        <p:spPr>
          <a:xfrm>
            <a:off x="8205368" y="3872484"/>
            <a:ext cx="1267358" cy="338328"/>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Authority Matches Consent?</a:t>
            </a:r>
            <a:endParaRPr lang="en-AU" sz="1050" dirty="0"/>
          </a:p>
        </p:txBody>
      </p:sp>
      <p:sp>
        <p:nvSpPr>
          <p:cNvPr id="33" name="Shape 30"/>
          <p:cNvSpPr/>
          <p:nvPr/>
        </p:nvSpPr>
        <p:spPr>
          <a:xfrm>
            <a:off x="7558888" y="4041648"/>
            <a:ext cx="320040" cy="0"/>
          </a:xfrm>
          <a:prstGeom prst="line">
            <a:avLst/>
          </a:prstGeom>
          <a:noFill/>
          <a:ln w="19050">
            <a:solidFill>
              <a:srgbClr val="A8842A"/>
            </a:solidFill>
            <a:prstDash val="solid"/>
            <a:tailEnd type="triangle"/>
          </a:ln>
        </p:spPr>
      </p:sp>
      <p:sp>
        <p:nvSpPr>
          <p:cNvPr id="34" name="Shape 31"/>
          <p:cNvSpPr/>
          <p:nvPr/>
        </p:nvSpPr>
        <p:spPr>
          <a:xfrm>
            <a:off x="4998568" y="4562856"/>
            <a:ext cx="2560320" cy="384048"/>
          </a:xfrm>
          <a:prstGeom prst="rect">
            <a:avLst/>
          </a:prstGeom>
          <a:solidFill>
            <a:srgbClr val="FFF2CC"/>
          </a:solidFill>
          <a:ln w="19050">
            <a:solidFill>
              <a:srgbClr val="D6B656"/>
            </a:solidFill>
            <a:prstDash val="solid"/>
          </a:ln>
        </p:spPr>
      </p:sp>
      <p:sp>
        <p:nvSpPr>
          <p:cNvPr id="35" name="Text 32"/>
          <p:cNvSpPr txBox="1"/>
          <p:nvPr/>
        </p:nvSpPr>
        <p:spPr>
          <a:xfrm>
            <a:off x="5062576" y="4590288"/>
            <a:ext cx="2432304" cy="329184"/>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Record Verification Evidence</a:t>
            </a:r>
            <a:endParaRPr lang="en-AU" sz="1100" dirty="0"/>
          </a:p>
        </p:txBody>
      </p:sp>
      <p:sp>
        <p:nvSpPr>
          <p:cNvPr id="36" name="Shape 33"/>
          <p:cNvSpPr/>
          <p:nvPr/>
        </p:nvSpPr>
        <p:spPr>
          <a:xfrm>
            <a:off x="8839048" y="4270248"/>
            <a:ext cx="0" cy="146304"/>
          </a:xfrm>
          <a:prstGeom prst="line">
            <a:avLst/>
          </a:prstGeom>
          <a:noFill/>
          <a:ln w="19050">
            <a:solidFill>
              <a:srgbClr val="A8842A"/>
            </a:solidFill>
            <a:prstDash val="solid"/>
          </a:ln>
        </p:spPr>
      </p:sp>
      <p:sp>
        <p:nvSpPr>
          <p:cNvPr id="37" name="Shape 34"/>
          <p:cNvSpPr/>
          <p:nvPr/>
        </p:nvSpPr>
        <p:spPr>
          <a:xfrm flipH="1">
            <a:off x="6278728" y="4416552"/>
            <a:ext cx="2560320" cy="0"/>
          </a:xfrm>
          <a:prstGeom prst="line">
            <a:avLst/>
          </a:prstGeom>
          <a:noFill/>
          <a:ln w="19050">
            <a:solidFill>
              <a:srgbClr val="A8842A"/>
            </a:solidFill>
            <a:prstDash val="solid"/>
          </a:ln>
        </p:spPr>
      </p:sp>
      <p:sp>
        <p:nvSpPr>
          <p:cNvPr id="38" name="Shape 35"/>
          <p:cNvSpPr/>
          <p:nvPr/>
        </p:nvSpPr>
        <p:spPr>
          <a:xfrm>
            <a:off x="6278728" y="4416552"/>
            <a:ext cx="0" cy="146304"/>
          </a:xfrm>
          <a:prstGeom prst="line">
            <a:avLst/>
          </a:prstGeom>
          <a:noFill/>
          <a:ln w="19050">
            <a:solidFill>
              <a:srgbClr val="A8842A"/>
            </a:solidFill>
            <a:prstDash val="solid"/>
            <a:tailEnd type="triangle"/>
          </a:ln>
        </p:spPr>
      </p:sp>
      <p:sp>
        <p:nvSpPr>
          <p:cNvPr id="39" name="Text 36"/>
          <p:cNvSpPr txBox="1"/>
          <p:nvPr/>
        </p:nvSpPr>
        <p:spPr>
          <a:xfrm>
            <a:off x="8893912" y="425196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40" name="Shape 37"/>
          <p:cNvSpPr/>
          <p:nvPr/>
        </p:nvSpPr>
        <p:spPr>
          <a:xfrm>
            <a:off x="4998568" y="5257800"/>
            <a:ext cx="2560320" cy="420624"/>
          </a:xfrm>
          <a:prstGeom prst="roundRect">
            <a:avLst>
              <a:gd name="adj" fmla="val 26087"/>
            </a:avLst>
          </a:prstGeom>
          <a:solidFill>
            <a:srgbClr val="FFF2CC"/>
          </a:solidFill>
          <a:ln w="19050">
            <a:solidFill>
              <a:srgbClr val="D6B656"/>
            </a:solidFill>
            <a:prstDash val="solid"/>
          </a:ln>
        </p:spPr>
      </p:sp>
      <p:sp>
        <p:nvSpPr>
          <p:cNvPr id="41" name="Text 38"/>
          <p:cNvSpPr txBox="1"/>
          <p:nvPr/>
        </p:nvSpPr>
        <p:spPr>
          <a:xfrm>
            <a:off x="5062576" y="5285232"/>
            <a:ext cx="2432304" cy="365760"/>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Return Verified Identity and Authority</a:t>
            </a:r>
            <a:endParaRPr lang="en-AU" sz="1100" dirty="0"/>
          </a:p>
        </p:txBody>
      </p:sp>
      <p:sp>
        <p:nvSpPr>
          <p:cNvPr id="42" name="Shape 39"/>
          <p:cNvSpPr/>
          <p:nvPr/>
        </p:nvSpPr>
        <p:spPr>
          <a:xfrm>
            <a:off x="6278728" y="4946904"/>
            <a:ext cx="0" cy="310896"/>
          </a:xfrm>
          <a:prstGeom prst="line">
            <a:avLst/>
          </a:prstGeom>
          <a:noFill/>
          <a:ln w="19050">
            <a:solidFill>
              <a:srgbClr val="A8842A"/>
            </a:solidFill>
            <a:prstDash val="solid"/>
            <a:tailEnd type="triangle"/>
          </a:ln>
        </p:spPr>
      </p:sp>
      <p:sp>
        <p:nvSpPr>
          <p:cNvPr id="43" name="Shape 40"/>
          <p:cNvSpPr/>
          <p:nvPr/>
        </p:nvSpPr>
        <p:spPr>
          <a:xfrm>
            <a:off x="10073488" y="4553712"/>
            <a:ext cx="1371600" cy="420624"/>
          </a:xfrm>
          <a:prstGeom prst="rect">
            <a:avLst/>
          </a:prstGeom>
          <a:solidFill>
            <a:srgbClr val="FFF2CC"/>
          </a:solidFill>
          <a:ln w="19050">
            <a:solidFill>
              <a:srgbClr val="D6B656"/>
            </a:solidFill>
            <a:prstDash val="solid"/>
          </a:ln>
        </p:spPr>
      </p:sp>
      <p:sp>
        <p:nvSpPr>
          <p:cNvPr id="44" name="Text 41"/>
          <p:cNvSpPr txBox="1"/>
          <p:nvPr/>
        </p:nvSpPr>
        <p:spPr>
          <a:xfrm>
            <a:off x="10137496" y="4581144"/>
            <a:ext cx="1243584" cy="365760"/>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Reject Participant</a:t>
            </a:r>
            <a:endParaRPr lang="en-AU" sz="1050" dirty="0"/>
          </a:p>
        </p:txBody>
      </p:sp>
      <p:sp>
        <p:nvSpPr>
          <p:cNvPr id="45" name="Shape 42"/>
          <p:cNvSpPr/>
          <p:nvPr/>
        </p:nvSpPr>
        <p:spPr>
          <a:xfrm>
            <a:off x="9799168" y="2615184"/>
            <a:ext cx="1508760" cy="0"/>
          </a:xfrm>
          <a:prstGeom prst="line">
            <a:avLst/>
          </a:prstGeom>
          <a:noFill/>
          <a:ln w="19050">
            <a:solidFill>
              <a:srgbClr val="A8842A"/>
            </a:solidFill>
            <a:prstDash val="solid"/>
          </a:ln>
        </p:spPr>
      </p:sp>
      <p:sp>
        <p:nvSpPr>
          <p:cNvPr id="46" name="Shape 43"/>
          <p:cNvSpPr/>
          <p:nvPr/>
        </p:nvSpPr>
        <p:spPr>
          <a:xfrm>
            <a:off x="11307928" y="2615184"/>
            <a:ext cx="0" cy="1938528"/>
          </a:xfrm>
          <a:prstGeom prst="line">
            <a:avLst/>
          </a:prstGeom>
          <a:noFill/>
          <a:ln w="19050">
            <a:solidFill>
              <a:srgbClr val="A8842A"/>
            </a:solidFill>
            <a:prstDash val="solid"/>
            <a:tailEnd type="triangle"/>
          </a:ln>
        </p:spPr>
      </p:sp>
      <p:sp>
        <p:nvSpPr>
          <p:cNvPr id="47" name="Text 44"/>
          <p:cNvSpPr txBox="1"/>
          <p:nvPr/>
        </p:nvSpPr>
        <p:spPr>
          <a:xfrm>
            <a:off x="9835744" y="2432304"/>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48" name="Shape 45"/>
          <p:cNvSpPr/>
          <p:nvPr/>
        </p:nvSpPr>
        <p:spPr>
          <a:xfrm>
            <a:off x="9799168" y="3328416"/>
            <a:ext cx="1143000" cy="0"/>
          </a:xfrm>
          <a:prstGeom prst="line">
            <a:avLst/>
          </a:prstGeom>
          <a:noFill/>
          <a:ln w="19050">
            <a:solidFill>
              <a:srgbClr val="A8842A"/>
            </a:solidFill>
            <a:prstDash val="solid"/>
          </a:ln>
        </p:spPr>
      </p:sp>
      <p:sp>
        <p:nvSpPr>
          <p:cNvPr id="49" name="Shape 46"/>
          <p:cNvSpPr/>
          <p:nvPr/>
        </p:nvSpPr>
        <p:spPr>
          <a:xfrm>
            <a:off x="10942168" y="3328416"/>
            <a:ext cx="0" cy="1225296"/>
          </a:xfrm>
          <a:prstGeom prst="line">
            <a:avLst/>
          </a:prstGeom>
          <a:noFill/>
          <a:ln w="19050">
            <a:solidFill>
              <a:srgbClr val="A8842A"/>
            </a:solidFill>
            <a:prstDash val="solid"/>
            <a:tailEnd type="triangle"/>
          </a:ln>
        </p:spPr>
      </p:sp>
      <p:sp>
        <p:nvSpPr>
          <p:cNvPr id="50" name="Text 47"/>
          <p:cNvSpPr txBox="1"/>
          <p:nvPr/>
        </p:nvSpPr>
        <p:spPr>
          <a:xfrm>
            <a:off x="9835744" y="314553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51" name="Shape 48"/>
          <p:cNvSpPr/>
          <p:nvPr/>
        </p:nvSpPr>
        <p:spPr>
          <a:xfrm>
            <a:off x="9799168" y="4041648"/>
            <a:ext cx="777240" cy="0"/>
          </a:xfrm>
          <a:prstGeom prst="line">
            <a:avLst/>
          </a:prstGeom>
          <a:noFill/>
          <a:ln w="19050">
            <a:solidFill>
              <a:srgbClr val="A8842A"/>
            </a:solidFill>
            <a:prstDash val="solid"/>
          </a:ln>
        </p:spPr>
      </p:sp>
      <p:sp>
        <p:nvSpPr>
          <p:cNvPr id="52" name="Shape 49"/>
          <p:cNvSpPr/>
          <p:nvPr/>
        </p:nvSpPr>
        <p:spPr>
          <a:xfrm>
            <a:off x="10576408" y="4041648"/>
            <a:ext cx="0" cy="512064"/>
          </a:xfrm>
          <a:prstGeom prst="line">
            <a:avLst/>
          </a:prstGeom>
          <a:noFill/>
          <a:ln w="19050">
            <a:solidFill>
              <a:srgbClr val="A8842A"/>
            </a:solidFill>
            <a:prstDash val="solid"/>
            <a:tailEnd type="triangle"/>
          </a:ln>
        </p:spPr>
      </p:sp>
      <p:sp>
        <p:nvSpPr>
          <p:cNvPr id="53" name="Text 50"/>
          <p:cNvSpPr txBox="1"/>
          <p:nvPr/>
        </p:nvSpPr>
        <p:spPr>
          <a:xfrm>
            <a:off x="9835744" y="385876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54" name="Text 51"/>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6.2: RO2 workflow for decentralised identity and authority verification</a:t>
            </a:r>
            <a:endParaRPr lang="en-AU" sz="1050" dirty="0"/>
          </a:p>
        </p:txBody>
      </p:sp>
      <p:sp>
        <p:nvSpPr>
          <p:cNvPr id="55" name="Shape 52"/>
          <p:cNvSpPr/>
          <p:nvPr/>
        </p:nvSpPr>
        <p:spPr>
          <a:xfrm>
            <a:off x="548640" y="1664208"/>
            <a:ext cx="384048" cy="384048"/>
          </a:xfrm>
          <a:prstGeom prst="ellipse">
            <a:avLst/>
          </a:prstGeom>
          <a:solidFill>
            <a:srgbClr val="13707B"/>
          </a:solidFill>
          <a:ln w="12700">
            <a:solidFill>
              <a:srgbClr val="13707B"/>
            </a:solidFill>
            <a:prstDash val="solid"/>
          </a:ln>
        </p:spPr>
      </p:sp>
      <p:pic>
        <p:nvPicPr>
          <p:cNvPr id="56"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57" name="Text 53"/>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DID and VC verification</a:t>
            </a:r>
            <a:endParaRPr lang="en-AU" sz="1500" dirty="0"/>
          </a:p>
        </p:txBody>
      </p:sp>
      <p:sp>
        <p:nvSpPr>
          <p:cNvPr id="58" name="Text 54"/>
          <p:cNvSpPr txBox="1"/>
          <p:nvPr/>
        </p:nvSpPr>
        <p:spPr>
          <a:xfrm>
            <a:off x="1115568" y="197510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DID resolved and verified, then VC signature, issuer, subject and validity period checked</a:t>
            </a:r>
            <a:endParaRPr lang="en-AU" sz="1250" dirty="0"/>
          </a:p>
        </p:txBody>
      </p:sp>
      <p:sp>
        <p:nvSpPr>
          <p:cNvPr id="59" name="Shape 55"/>
          <p:cNvSpPr/>
          <p:nvPr/>
        </p:nvSpPr>
        <p:spPr>
          <a:xfrm>
            <a:off x="548640" y="2841498"/>
            <a:ext cx="384048" cy="384048"/>
          </a:xfrm>
          <a:prstGeom prst="ellipse">
            <a:avLst/>
          </a:prstGeom>
          <a:solidFill>
            <a:srgbClr val="13707B"/>
          </a:solidFill>
          <a:ln w="12700">
            <a:solidFill>
              <a:srgbClr val="13707B"/>
            </a:solidFill>
            <a:prstDash val="solid"/>
          </a:ln>
        </p:spPr>
      </p:sp>
      <p:pic>
        <p:nvPicPr>
          <p:cNvPr id="60"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61" name="Text 56"/>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Authority match</a:t>
            </a:r>
            <a:endParaRPr lang="en-AU" sz="1500" dirty="0"/>
          </a:p>
        </p:txBody>
      </p:sp>
      <p:sp>
        <p:nvSpPr>
          <p:cNvPr id="62" name="Text 57"/>
          <p:cNvSpPr txBox="1"/>
          <p:nvPr/>
        </p:nvSpPr>
        <p:spPr>
          <a:xfrm>
            <a:off x="1115568" y="315239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Extracted role and authority claims must satisfy the consent's requirement </a:t>
            </a:r>
            <a:r>
              <a:rPr lang="en-AU" sz="1250" dirty="0">
                <a:solidFill>
                  <a:srgbClr val="1C2B31"/>
                </a:solidFill>
                <a:latin typeface="Calibri" pitchFamily="34" charset="0"/>
                <a:ea typeface="Calibri" pitchFamily="34" charset="-122"/>
                <a:cs typeface="Calibri" pitchFamily="34" charset="-120"/>
              </a:rPr>
              <a:t>A</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otherwise INVALID</a:t>
            </a:r>
            <a:endParaRPr lang="en-AU" sz="1250" dirty="0"/>
          </a:p>
        </p:txBody>
      </p:sp>
      <p:sp>
        <p:nvSpPr>
          <p:cNvPr id="63" name="Shape 58"/>
          <p:cNvSpPr/>
          <p:nvPr/>
        </p:nvSpPr>
        <p:spPr>
          <a:xfrm>
            <a:off x="548640" y="4018788"/>
            <a:ext cx="384048" cy="384048"/>
          </a:xfrm>
          <a:prstGeom prst="ellipse">
            <a:avLst/>
          </a:prstGeom>
          <a:solidFill>
            <a:srgbClr val="13707B"/>
          </a:solidFill>
          <a:ln w="12700">
            <a:solidFill>
              <a:srgbClr val="13707B"/>
            </a:solidFill>
            <a:prstDash val="solid"/>
          </a:ln>
        </p:spPr>
      </p:sp>
      <p:pic>
        <p:nvPicPr>
          <p:cNvPr id="64"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65" name="Text 59"/>
          <p:cNvSpPr txBox="1"/>
          <p:nvPr/>
        </p:nvSpPr>
        <p:spPr>
          <a:xfrm>
            <a:off x="1115568" y="4000500"/>
            <a:ext cx="3364992" cy="329184"/>
          </a:xfrm>
          <a:prstGeom prst="rect">
            <a:avLst/>
          </a:prstGeom>
          <a:noFill/>
          <a:ln/>
        </p:spPr>
        <p:txBody>
          <a:bodyPr wrap="square" lIns="0" tIns="0" rIns="0" bIns="0" rtlCol="0" anchor="t"/>
          <a:lstStyle/>
          <a:p>
            <a:pPr indent="0" marL="0">
              <a:lnSpc>
                <a:spcPts val="1800"/>
              </a:lnSpc>
              <a:buNone/>
            </a:pPr>
            <a:r>
              <a:rPr lang="en-AU" sz="1500" b="1" dirty="0">
                <a:solidFill>
                  <a:srgbClr val="0E3B43"/>
                </a:solidFill>
                <a:latin typeface="Calibri" pitchFamily="34" charset="0"/>
                <a:ea typeface="Calibri" pitchFamily="34" charset="-122"/>
                <a:cs typeface="Calibri" pitchFamily="34" charset="-120"/>
              </a:rPr>
              <a:t>Output: </a:t>
            </a:r>
            <a:r>
              <a:rPr lang="en-AU" sz="1500" b="1" dirty="0">
                <a:solidFill>
                  <a:srgbClr val="0E3B43"/>
                </a:solidFill>
                <a:latin typeface="Calibri" pitchFamily="34" charset="0"/>
                <a:ea typeface="Calibri" pitchFamily="34" charset="-122"/>
                <a:cs typeface="Calibri" pitchFamily="34" charset="-120"/>
              </a:rPr>
              <a:t>V</a:t>
            </a:r>
            <a:r>
              <a:rPr lang="en-AU" sz="1770" b="1" baseline="-25000" dirty="0">
                <a:solidFill>
                  <a:srgbClr val="0E3B43"/>
                </a:solidFill>
                <a:latin typeface="Calibri" pitchFamily="34" charset="0"/>
                <a:ea typeface="Calibri" pitchFamily="34" charset="-122"/>
                <a:cs typeface="Calibri" pitchFamily="34" charset="-120"/>
              </a:rPr>
              <a:t>I</a:t>
            </a:r>
            <a:r>
              <a:rPr lang="en-AU" sz="1500" b="1" dirty="0">
                <a:solidFill>
                  <a:srgbClr val="0E3B43"/>
                </a:solidFill>
                <a:latin typeface="Calibri" pitchFamily="34" charset="0"/>
                <a:ea typeface="Calibri" pitchFamily="34" charset="-122"/>
                <a:cs typeface="Calibri" pitchFamily="34" charset="-120"/>
              </a:rPr>
              <a:t>(u)</a:t>
            </a:r>
            <a:endParaRPr lang="en-AU" sz="1500" dirty="0"/>
          </a:p>
        </p:txBody>
      </p:sp>
      <p:sp>
        <p:nvSpPr>
          <p:cNvPr id="66" name="Text 60"/>
          <p:cNvSpPr txBox="1"/>
          <p:nvPr/>
        </p:nvSpPr>
        <p:spPr>
          <a:xfrm>
            <a:off x="1115568" y="432968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Algorithm 2 returns VALID or INVALID and records evidence; it does not grant access by itself</a:t>
            </a:r>
            <a:endParaRPr lang="en-AU" sz="1250" dirty="0"/>
          </a:p>
        </p:txBody>
      </p:sp>
      <p:sp>
        <p:nvSpPr>
          <p:cNvPr id="67" name="Shape 61"/>
          <p:cNvSpPr/>
          <p:nvPr/>
        </p:nvSpPr>
        <p:spPr>
          <a:xfrm>
            <a:off x="548640" y="5196078"/>
            <a:ext cx="384048" cy="384048"/>
          </a:xfrm>
          <a:prstGeom prst="ellipse">
            <a:avLst/>
          </a:prstGeom>
          <a:solidFill>
            <a:srgbClr val="13707B"/>
          </a:solidFill>
          <a:ln w="12700">
            <a:solidFill>
              <a:srgbClr val="13707B"/>
            </a:solidFill>
            <a:prstDash val="solid"/>
          </a:ln>
        </p:spPr>
      </p:sp>
      <p:pic>
        <p:nvPicPr>
          <p:cNvPr id="68"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69" name="Text 62"/>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Prototype status</a:t>
            </a:r>
            <a:endParaRPr lang="en-AU" sz="1500" dirty="0"/>
          </a:p>
        </p:txBody>
      </p:sp>
      <p:sp>
        <p:nvSpPr>
          <p:cNvPr id="70" name="Text 63"/>
          <p:cNvSpPr txBox="1"/>
          <p:nvPr/>
        </p:nvSpPr>
        <p:spPr>
          <a:xfrm>
            <a:off x="1115568" y="550697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Guardian DID syntax check; EIP-712 approval signatures; W3C VC verification scheduled for CA3</a:t>
            </a:r>
            <a:endParaRPr lang="en-AU"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RO3: no unilateral activation below the threshold</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lnSpc>
                <a:spcPts val="1800"/>
              </a:lnSpc>
              <a:buNone/>
            </a:pPr>
            <a:r>
              <a:rPr lang="en-AU" sz="1500" dirty="0">
                <a:solidFill>
                  <a:srgbClr val="5E6E73"/>
                </a:solidFill>
                <a:latin typeface="Calibri" pitchFamily="34" charset="0"/>
                <a:ea typeface="Calibri" pitchFamily="34" charset="-122"/>
                <a:cs typeface="Calibri" pitchFamily="34" charset="-120"/>
              </a:rPr>
              <a:t>Section 6.3, Figure 6.3, Algorithm 3: only verified, eligible, non-duplicate approvals enter </a:t>
            </a:r>
            <a:r>
              <a:rPr lang="en-AU" sz="1500" dirty="0">
                <a:solidFill>
                  <a:srgbClr val="5E6E73"/>
                </a:solidFill>
                <a:latin typeface="Calibri" pitchFamily="34" charset="0"/>
                <a:ea typeface="Calibri" pitchFamily="34" charset="-122"/>
                <a:cs typeface="Calibri" pitchFamily="34" charset="-120"/>
              </a:rPr>
              <a:t>A</a:t>
            </a:r>
            <a:r>
              <a:rPr lang="en-AU" sz="1770" baseline="-25000" dirty="0">
                <a:solidFill>
                  <a:srgbClr val="5E6E73"/>
                </a:solidFill>
                <a:latin typeface="Calibri" pitchFamily="34" charset="0"/>
                <a:ea typeface="Calibri" pitchFamily="34" charset="-122"/>
                <a:cs typeface="Calibri" pitchFamily="34" charset="-120"/>
              </a:rPr>
              <a:t>v</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24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4907128" y="1627632"/>
            <a:ext cx="1508760" cy="457200"/>
          </a:xfrm>
          <a:prstGeom prst="roundRect">
            <a:avLst>
              <a:gd name="adj" fmla="val 24000"/>
            </a:avLst>
          </a:prstGeom>
          <a:solidFill>
            <a:srgbClr val="FFF2CC"/>
          </a:solidFill>
          <a:ln w="19050">
            <a:solidFill>
              <a:srgbClr val="D6B656"/>
            </a:solidFill>
            <a:prstDash val="solid"/>
          </a:ln>
        </p:spPr>
      </p:sp>
      <p:sp>
        <p:nvSpPr>
          <p:cNvPr id="9" name="Text 6"/>
          <p:cNvSpPr txBox="1"/>
          <p:nvPr/>
        </p:nvSpPr>
        <p:spPr>
          <a:xfrm>
            <a:off x="4971136" y="1655064"/>
            <a:ext cx="138074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Consent Requires</a:t>
            </a:r>
            <a:endParaRPr lang="en-AU" sz="1050" dirty="0"/>
          </a:p>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Multi-Party Approval</a:t>
            </a:r>
            <a:endParaRPr lang="en-AU" sz="1050" dirty="0"/>
          </a:p>
        </p:txBody>
      </p:sp>
      <p:sp>
        <p:nvSpPr>
          <p:cNvPr id="10" name="Shape 7"/>
          <p:cNvSpPr/>
          <p:nvPr/>
        </p:nvSpPr>
        <p:spPr>
          <a:xfrm>
            <a:off x="6598768" y="1627632"/>
            <a:ext cx="1508760" cy="457200"/>
          </a:xfrm>
          <a:prstGeom prst="rect">
            <a:avLst/>
          </a:prstGeom>
          <a:solidFill>
            <a:srgbClr val="FFF2CC"/>
          </a:solidFill>
          <a:ln w="19050">
            <a:solidFill>
              <a:srgbClr val="D6B656"/>
            </a:solidFill>
            <a:prstDash val="solid"/>
          </a:ln>
        </p:spPr>
      </p:sp>
      <p:sp>
        <p:nvSpPr>
          <p:cNvPr id="11" name="Text 8"/>
          <p:cNvSpPr txBox="1"/>
          <p:nvPr/>
        </p:nvSpPr>
        <p:spPr>
          <a:xfrm>
            <a:off x="6662776" y="1655064"/>
            <a:ext cx="138074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Identify Required Participants</a:t>
            </a:r>
            <a:endParaRPr lang="en-AU" sz="1050" dirty="0"/>
          </a:p>
        </p:txBody>
      </p:sp>
      <p:sp>
        <p:nvSpPr>
          <p:cNvPr id="12" name="Shape 9"/>
          <p:cNvSpPr/>
          <p:nvPr/>
        </p:nvSpPr>
        <p:spPr>
          <a:xfrm>
            <a:off x="8290408" y="1627632"/>
            <a:ext cx="1508760" cy="457200"/>
          </a:xfrm>
          <a:prstGeom prst="rect">
            <a:avLst/>
          </a:prstGeom>
          <a:solidFill>
            <a:srgbClr val="FFF2CC"/>
          </a:solidFill>
          <a:ln w="19050">
            <a:solidFill>
              <a:srgbClr val="D6B656"/>
            </a:solidFill>
            <a:prstDash val="solid"/>
          </a:ln>
        </p:spPr>
      </p:sp>
      <p:sp>
        <p:nvSpPr>
          <p:cNvPr id="13" name="Text 10"/>
          <p:cNvSpPr txBox="1"/>
          <p:nvPr/>
        </p:nvSpPr>
        <p:spPr>
          <a:xfrm>
            <a:off x="8354416" y="1655064"/>
            <a:ext cx="138074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Define Authorisation Threshold N</a:t>
            </a:r>
            <a:endParaRPr lang="en-AU" sz="1050" dirty="0"/>
          </a:p>
        </p:txBody>
      </p:sp>
      <p:sp>
        <p:nvSpPr>
          <p:cNvPr id="14" name="Shape 11"/>
          <p:cNvSpPr/>
          <p:nvPr/>
        </p:nvSpPr>
        <p:spPr>
          <a:xfrm>
            <a:off x="9982048" y="1627632"/>
            <a:ext cx="1508760" cy="457200"/>
          </a:xfrm>
          <a:prstGeom prst="rect">
            <a:avLst/>
          </a:prstGeom>
          <a:solidFill>
            <a:srgbClr val="FFF2CC"/>
          </a:solidFill>
          <a:ln w="19050">
            <a:solidFill>
              <a:srgbClr val="D6B656"/>
            </a:solidFill>
            <a:prstDash val="solid"/>
          </a:ln>
        </p:spPr>
      </p:sp>
      <p:sp>
        <p:nvSpPr>
          <p:cNvPr id="15" name="Text 12"/>
          <p:cNvSpPr txBox="1"/>
          <p:nvPr/>
        </p:nvSpPr>
        <p:spPr>
          <a:xfrm>
            <a:off x="10046056" y="1655064"/>
            <a:ext cx="1380744" cy="40233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Participant Submits Approval</a:t>
            </a:r>
            <a:endParaRPr lang="en-AU" sz="1050" dirty="0"/>
          </a:p>
        </p:txBody>
      </p:sp>
      <p:sp>
        <p:nvSpPr>
          <p:cNvPr id="16" name="Shape 13"/>
          <p:cNvSpPr/>
          <p:nvPr/>
        </p:nvSpPr>
        <p:spPr>
          <a:xfrm>
            <a:off x="6415888" y="1856232"/>
            <a:ext cx="182880" cy="0"/>
          </a:xfrm>
          <a:prstGeom prst="line">
            <a:avLst/>
          </a:prstGeom>
          <a:noFill/>
          <a:ln w="19050">
            <a:solidFill>
              <a:srgbClr val="A8842A"/>
            </a:solidFill>
            <a:prstDash val="solid"/>
            <a:tailEnd type="triangle"/>
          </a:ln>
        </p:spPr>
      </p:sp>
      <p:sp>
        <p:nvSpPr>
          <p:cNvPr id="17" name="Shape 14"/>
          <p:cNvSpPr/>
          <p:nvPr/>
        </p:nvSpPr>
        <p:spPr>
          <a:xfrm>
            <a:off x="8107528" y="1856232"/>
            <a:ext cx="182880" cy="0"/>
          </a:xfrm>
          <a:prstGeom prst="line">
            <a:avLst/>
          </a:prstGeom>
          <a:noFill/>
          <a:ln w="19050">
            <a:solidFill>
              <a:srgbClr val="A8842A"/>
            </a:solidFill>
            <a:prstDash val="solid"/>
            <a:tailEnd type="triangle"/>
          </a:ln>
        </p:spPr>
      </p:sp>
      <p:sp>
        <p:nvSpPr>
          <p:cNvPr id="18" name="Shape 15"/>
          <p:cNvSpPr/>
          <p:nvPr/>
        </p:nvSpPr>
        <p:spPr>
          <a:xfrm>
            <a:off x="9799168" y="1856232"/>
            <a:ext cx="182880" cy="0"/>
          </a:xfrm>
          <a:prstGeom prst="line">
            <a:avLst/>
          </a:prstGeom>
          <a:noFill/>
          <a:ln w="19050">
            <a:solidFill>
              <a:srgbClr val="A8842A"/>
            </a:solidFill>
            <a:prstDash val="solid"/>
            <a:tailEnd type="triangle"/>
          </a:ln>
        </p:spPr>
      </p:sp>
      <p:sp>
        <p:nvSpPr>
          <p:cNvPr id="19" name="Shape 16"/>
          <p:cNvSpPr/>
          <p:nvPr/>
        </p:nvSpPr>
        <p:spPr>
          <a:xfrm>
            <a:off x="4998568" y="2267712"/>
            <a:ext cx="2560320" cy="365760"/>
          </a:xfrm>
          <a:prstGeom prst="rect">
            <a:avLst/>
          </a:prstGeom>
          <a:solidFill>
            <a:srgbClr val="FFF2CC"/>
          </a:solidFill>
          <a:ln w="19050">
            <a:solidFill>
              <a:srgbClr val="D6B656"/>
            </a:solidFill>
            <a:prstDash val="solid"/>
          </a:ln>
        </p:spPr>
      </p:sp>
      <p:sp>
        <p:nvSpPr>
          <p:cNvPr id="20" name="Text 17"/>
          <p:cNvSpPr txBox="1"/>
          <p:nvPr/>
        </p:nvSpPr>
        <p:spPr>
          <a:xfrm>
            <a:off x="5062576" y="2295144"/>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Verify DID and VC</a:t>
            </a:r>
            <a:endParaRPr lang="en-AU" sz="1100" dirty="0"/>
          </a:p>
        </p:txBody>
      </p:sp>
      <p:sp>
        <p:nvSpPr>
          <p:cNvPr id="21" name="Shape 18"/>
          <p:cNvSpPr/>
          <p:nvPr/>
        </p:nvSpPr>
        <p:spPr>
          <a:xfrm>
            <a:off x="10736428" y="2084832"/>
            <a:ext cx="0" cy="91440"/>
          </a:xfrm>
          <a:prstGeom prst="line">
            <a:avLst/>
          </a:prstGeom>
          <a:noFill/>
          <a:ln w="19050">
            <a:solidFill>
              <a:srgbClr val="A8842A"/>
            </a:solidFill>
            <a:prstDash val="solid"/>
          </a:ln>
        </p:spPr>
      </p:sp>
      <p:sp>
        <p:nvSpPr>
          <p:cNvPr id="22" name="Shape 19"/>
          <p:cNvSpPr/>
          <p:nvPr/>
        </p:nvSpPr>
        <p:spPr>
          <a:xfrm flipH="1">
            <a:off x="6278728" y="2176272"/>
            <a:ext cx="4457700" cy="0"/>
          </a:xfrm>
          <a:prstGeom prst="line">
            <a:avLst/>
          </a:prstGeom>
          <a:noFill/>
          <a:ln w="19050">
            <a:solidFill>
              <a:srgbClr val="A8842A"/>
            </a:solidFill>
            <a:prstDash val="solid"/>
          </a:ln>
        </p:spPr>
      </p:sp>
      <p:sp>
        <p:nvSpPr>
          <p:cNvPr id="23" name="Shape 20"/>
          <p:cNvSpPr/>
          <p:nvPr/>
        </p:nvSpPr>
        <p:spPr>
          <a:xfrm>
            <a:off x="6278728" y="2176272"/>
            <a:ext cx="0" cy="91440"/>
          </a:xfrm>
          <a:prstGeom prst="line">
            <a:avLst/>
          </a:prstGeom>
          <a:noFill/>
          <a:ln w="19050">
            <a:solidFill>
              <a:srgbClr val="A8842A"/>
            </a:solidFill>
            <a:prstDash val="solid"/>
            <a:tailEnd type="triangle"/>
          </a:ln>
        </p:spPr>
      </p:sp>
      <p:sp>
        <p:nvSpPr>
          <p:cNvPr id="24" name="Shape 21"/>
          <p:cNvSpPr/>
          <p:nvPr/>
        </p:nvSpPr>
        <p:spPr>
          <a:xfrm>
            <a:off x="7878928" y="2258568"/>
            <a:ext cx="1920240" cy="384048"/>
          </a:xfrm>
          <a:prstGeom prst="diamond">
            <a:avLst/>
          </a:prstGeom>
          <a:solidFill>
            <a:srgbClr val="FFF2CC"/>
          </a:solidFill>
          <a:ln w="19050">
            <a:solidFill>
              <a:srgbClr val="D6B656"/>
            </a:solidFill>
            <a:prstDash val="solid"/>
          </a:ln>
        </p:spPr>
      </p:sp>
      <p:sp>
        <p:nvSpPr>
          <p:cNvPr id="25" name="Text 22"/>
          <p:cNvSpPr txBox="1"/>
          <p:nvPr/>
        </p:nvSpPr>
        <p:spPr>
          <a:xfrm>
            <a:off x="8205368" y="2308494"/>
            <a:ext cx="1267358" cy="284196"/>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Participant Verified?</a:t>
            </a:r>
            <a:endParaRPr lang="en-AU" sz="1000" dirty="0"/>
          </a:p>
        </p:txBody>
      </p:sp>
      <p:sp>
        <p:nvSpPr>
          <p:cNvPr id="26" name="Shape 23"/>
          <p:cNvSpPr/>
          <p:nvPr/>
        </p:nvSpPr>
        <p:spPr>
          <a:xfrm>
            <a:off x="7558888" y="2450592"/>
            <a:ext cx="320040" cy="0"/>
          </a:xfrm>
          <a:prstGeom prst="line">
            <a:avLst/>
          </a:prstGeom>
          <a:noFill/>
          <a:ln w="19050">
            <a:solidFill>
              <a:srgbClr val="A8842A"/>
            </a:solidFill>
            <a:prstDash val="solid"/>
            <a:tailEnd type="triangle"/>
          </a:ln>
        </p:spPr>
      </p:sp>
      <p:sp>
        <p:nvSpPr>
          <p:cNvPr id="27" name="Shape 24"/>
          <p:cNvSpPr/>
          <p:nvPr/>
        </p:nvSpPr>
        <p:spPr>
          <a:xfrm>
            <a:off x="10073488" y="2249424"/>
            <a:ext cx="1371600" cy="402336"/>
          </a:xfrm>
          <a:prstGeom prst="rect">
            <a:avLst/>
          </a:prstGeom>
          <a:solidFill>
            <a:srgbClr val="FFF2CC"/>
          </a:solidFill>
          <a:ln w="19050">
            <a:solidFill>
              <a:srgbClr val="D6B656"/>
            </a:solidFill>
            <a:prstDash val="solid"/>
          </a:ln>
        </p:spPr>
      </p:sp>
      <p:sp>
        <p:nvSpPr>
          <p:cNvPr id="28" name="Text 25"/>
          <p:cNvSpPr txBox="1"/>
          <p:nvPr/>
        </p:nvSpPr>
        <p:spPr>
          <a:xfrm>
            <a:off x="10137496" y="2276856"/>
            <a:ext cx="124358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Reject Invalid Approval</a:t>
            </a:r>
            <a:endParaRPr lang="en-AU" sz="1050" dirty="0"/>
          </a:p>
        </p:txBody>
      </p:sp>
      <p:sp>
        <p:nvSpPr>
          <p:cNvPr id="29" name="Shape 26"/>
          <p:cNvSpPr/>
          <p:nvPr/>
        </p:nvSpPr>
        <p:spPr>
          <a:xfrm>
            <a:off x="9799168" y="2450592"/>
            <a:ext cx="274320" cy="0"/>
          </a:xfrm>
          <a:prstGeom prst="line">
            <a:avLst/>
          </a:prstGeom>
          <a:noFill/>
          <a:ln w="19050">
            <a:solidFill>
              <a:srgbClr val="A8842A"/>
            </a:solidFill>
            <a:prstDash val="solid"/>
            <a:tailEnd type="triangle"/>
          </a:ln>
        </p:spPr>
      </p:sp>
      <p:sp>
        <p:nvSpPr>
          <p:cNvPr id="30" name="Text 27"/>
          <p:cNvSpPr txBox="1"/>
          <p:nvPr/>
        </p:nvSpPr>
        <p:spPr>
          <a:xfrm>
            <a:off x="9835744" y="226771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31" name="Shape 28"/>
          <p:cNvSpPr/>
          <p:nvPr/>
        </p:nvSpPr>
        <p:spPr>
          <a:xfrm>
            <a:off x="4998568" y="2816352"/>
            <a:ext cx="2560320" cy="365760"/>
          </a:xfrm>
          <a:prstGeom prst="rect">
            <a:avLst/>
          </a:prstGeom>
          <a:solidFill>
            <a:srgbClr val="FFF2CC"/>
          </a:solidFill>
          <a:ln w="19050">
            <a:solidFill>
              <a:srgbClr val="D6B656"/>
            </a:solidFill>
            <a:prstDash val="solid"/>
          </a:ln>
        </p:spPr>
      </p:sp>
      <p:sp>
        <p:nvSpPr>
          <p:cNvPr id="32" name="Text 29"/>
          <p:cNvSpPr txBox="1"/>
          <p:nvPr/>
        </p:nvSpPr>
        <p:spPr>
          <a:xfrm>
            <a:off x="5062576" y="2843784"/>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Check Membership of Required Set G</a:t>
            </a:r>
            <a:endParaRPr lang="en-AU" sz="1050" dirty="0"/>
          </a:p>
        </p:txBody>
      </p:sp>
      <p:sp>
        <p:nvSpPr>
          <p:cNvPr id="33" name="Shape 30"/>
          <p:cNvSpPr/>
          <p:nvPr/>
        </p:nvSpPr>
        <p:spPr>
          <a:xfrm>
            <a:off x="8839048" y="2642616"/>
            <a:ext cx="0" cy="86868"/>
          </a:xfrm>
          <a:prstGeom prst="line">
            <a:avLst/>
          </a:prstGeom>
          <a:noFill/>
          <a:ln w="19050">
            <a:solidFill>
              <a:srgbClr val="A8842A"/>
            </a:solidFill>
            <a:prstDash val="solid"/>
          </a:ln>
        </p:spPr>
      </p:sp>
      <p:sp>
        <p:nvSpPr>
          <p:cNvPr id="34" name="Shape 31"/>
          <p:cNvSpPr/>
          <p:nvPr/>
        </p:nvSpPr>
        <p:spPr>
          <a:xfrm flipH="1">
            <a:off x="6278728" y="2729484"/>
            <a:ext cx="2560320" cy="0"/>
          </a:xfrm>
          <a:prstGeom prst="line">
            <a:avLst/>
          </a:prstGeom>
          <a:noFill/>
          <a:ln w="19050">
            <a:solidFill>
              <a:srgbClr val="A8842A"/>
            </a:solidFill>
            <a:prstDash val="solid"/>
          </a:ln>
        </p:spPr>
      </p:sp>
      <p:sp>
        <p:nvSpPr>
          <p:cNvPr id="35" name="Shape 32"/>
          <p:cNvSpPr/>
          <p:nvPr/>
        </p:nvSpPr>
        <p:spPr>
          <a:xfrm>
            <a:off x="6278728" y="2729484"/>
            <a:ext cx="0" cy="86868"/>
          </a:xfrm>
          <a:prstGeom prst="line">
            <a:avLst/>
          </a:prstGeom>
          <a:noFill/>
          <a:ln w="19050">
            <a:solidFill>
              <a:srgbClr val="A8842A"/>
            </a:solidFill>
            <a:prstDash val="solid"/>
            <a:tailEnd type="triangle"/>
          </a:ln>
        </p:spPr>
      </p:sp>
      <p:sp>
        <p:nvSpPr>
          <p:cNvPr id="36" name="Text 33"/>
          <p:cNvSpPr txBox="1"/>
          <p:nvPr/>
        </p:nvSpPr>
        <p:spPr>
          <a:xfrm>
            <a:off x="8893912" y="262432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37" name="Shape 34"/>
          <p:cNvSpPr/>
          <p:nvPr/>
        </p:nvSpPr>
        <p:spPr>
          <a:xfrm>
            <a:off x="7878928" y="2807208"/>
            <a:ext cx="1920240" cy="384048"/>
          </a:xfrm>
          <a:prstGeom prst="diamond">
            <a:avLst/>
          </a:prstGeom>
          <a:solidFill>
            <a:srgbClr val="FFF2CC"/>
          </a:solidFill>
          <a:ln w="19050">
            <a:solidFill>
              <a:srgbClr val="D6B656"/>
            </a:solidFill>
            <a:prstDash val="solid"/>
          </a:ln>
        </p:spPr>
      </p:sp>
      <p:sp>
        <p:nvSpPr>
          <p:cNvPr id="38" name="Text 35"/>
          <p:cNvSpPr txBox="1"/>
          <p:nvPr/>
        </p:nvSpPr>
        <p:spPr>
          <a:xfrm>
            <a:off x="8205368" y="2857134"/>
            <a:ext cx="1267358" cy="284196"/>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Participant in</a:t>
            </a:r>
            <a:endParaRPr lang="en-AU" sz="1000" dirty="0"/>
          </a:p>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Required Set G?</a:t>
            </a:r>
            <a:endParaRPr lang="en-AU" sz="1000" dirty="0"/>
          </a:p>
        </p:txBody>
      </p:sp>
      <p:sp>
        <p:nvSpPr>
          <p:cNvPr id="39" name="Shape 36"/>
          <p:cNvSpPr/>
          <p:nvPr/>
        </p:nvSpPr>
        <p:spPr>
          <a:xfrm>
            <a:off x="7558888" y="2999232"/>
            <a:ext cx="320040" cy="0"/>
          </a:xfrm>
          <a:prstGeom prst="line">
            <a:avLst/>
          </a:prstGeom>
          <a:noFill/>
          <a:ln w="19050">
            <a:solidFill>
              <a:srgbClr val="A8842A"/>
            </a:solidFill>
            <a:prstDash val="solid"/>
            <a:tailEnd type="triangle"/>
          </a:ln>
        </p:spPr>
      </p:sp>
      <p:sp>
        <p:nvSpPr>
          <p:cNvPr id="40" name="Shape 37"/>
          <p:cNvSpPr/>
          <p:nvPr/>
        </p:nvSpPr>
        <p:spPr>
          <a:xfrm>
            <a:off x="10073488" y="2798064"/>
            <a:ext cx="1371600" cy="402336"/>
          </a:xfrm>
          <a:prstGeom prst="rect">
            <a:avLst/>
          </a:prstGeom>
          <a:solidFill>
            <a:srgbClr val="FFF2CC"/>
          </a:solidFill>
          <a:ln w="19050">
            <a:solidFill>
              <a:srgbClr val="D6B656"/>
            </a:solidFill>
            <a:prstDash val="solid"/>
          </a:ln>
        </p:spPr>
      </p:sp>
      <p:sp>
        <p:nvSpPr>
          <p:cNvPr id="41" name="Text 38"/>
          <p:cNvSpPr txBox="1"/>
          <p:nvPr/>
        </p:nvSpPr>
        <p:spPr>
          <a:xfrm>
            <a:off x="10137496" y="2825496"/>
            <a:ext cx="124358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Reject Unauthorised Approval</a:t>
            </a:r>
            <a:endParaRPr lang="en-AU" sz="1050" dirty="0"/>
          </a:p>
        </p:txBody>
      </p:sp>
      <p:sp>
        <p:nvSpPr>
          <p:cNvPr id="42" name="Shape 39"/>
          <p:cNvSpPr/>
          <p:nvPr/>
        </p:nvSpPr>
        <p:spPr>
          <a:xfrm>
            <a:off x="9799168" y="2999232"/>
            <a:ext cx="274320" cy="0"/>
          </a:xfrm>
          <a:prstGeom prst="line">
            <a:avLst/>
          </a:prstGeom>
          <a:noFill/>
          <a:ln w="19050">
            <a:solidFill>
              <a:srgbClr val="A8842A"/>
            </a:solidFill>
            <a:prstDash val="solid"/>
            <a:tailEnd type="triangle"/>
          </a:ln>
        </p:spPr>
      </p:sp>
      <p:sp>
        <p:nvSpPr>
          <p:cNvPr id="43" name="Text 40"/>
          <p:cNvSpPr txBox="1"/>
          <p:nvPr/>
        </p:nvSpPr>
        <p:spPr>
          <a:xfrm>
            <a:off x="9835744" y="281635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44" name="Shape 41"/>
          <p:cNvSpPr/>
          <p:nvPr/>
        </p:nvSpPr>
        <p:spPr>
          <a:xfrm>
            <a:off x="4998568" y="3364992"/>
            <a:ext cx="2560320" cy="365760"/>
          </a:xfrm>
          <a:prstGeom prst="rect">
            <a:avLst/>
          </a:prstGeom>
          <a:solidFill>
            <a:srgbClr val="FFF2CC"/>
          </a:solidFill>
          <a:ln w="19050">
            <a:solidFill>
              <a:srgbClr val="D6B656"/>
            </a:solidFill>
            <a:prstDash val="solid"/>
          </a:ln>
        </p:spPr>
      </p:sp>
      <p:sp>
        <p:nvSpPr>
          <p:cNvPr id="45" name="Text 42"/>
          <p:cNvSpPr txBox="1"/>
          <p:nvPr/>
        </p:nvSpPr>
        <p:spPr>
          <a:xfrm>
            <a:off x="5062576" y="3392424"/>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Check for Prior Approval</a:t>
            </a:r>
            <a:endParaRPr lang="en-AU" sz="1100" dirty="0"/>
          </a:p>
        </p:txBody>
      </p:sp>
      <p:sp>
        <p:nvSpPr>
          <p:cNvPr id="46" name="Shape 43"/>
          <p:cNvSpPr/>
          <p:nvPr/>
        </p:nvSpPr>
        <p:spPr>
          <a:xfrm>
            <a:off x="8839048" y="3191256"/>
            <a:ext cx="0" cy="86868"/>
          </a:xfrm>
          <a:prstGeom prst="line">
            <a:avLst/>
          </a:prstGeom>
          <a:noFill/>
          <a:ln w="19050">
            <a:solidFill>
              <a:srgbClr val="A8842A"/>
            </a:solidFill>
            <a:prstDash val="solid"/>
          </a:ln>
        </p:spPr>
      </p:sp>
      <p:sp>
        <p:nvSpPr>
          <p:cNvPr id="47" name="Shape 44"/>
          <p:cNvSpPr/>
          <p:nvPr/>
        </p:nvSpPr>
        <p:spPr>
          <a:xfrm flipH="1">
            <a:off x="6278728" y="3278124"/>
            <a:ext cx="2560320" cy="0"/>
          </a:xfrm>
          <a:prstGeom prst="line">
            <a:avLst/>
          </a:prstGeom>
          <a:noFill/>
          <a:ln w="19050">
            <a:solidFill>
              <a:srgbClr val="A8842A"/>
            </a:solidFill>
            <a:prstDash val="solid"/>
          </a:ln>
        </p:spPr>
      </p:sp>
      <p:sp>
        <p:nvSpPr>
          <p:cNvPr id="48" name="Shape 45"/>
          <p:cNvSpPr/>
          <p:nvPr/>
        </p:nvSpPr>
        <p:spPr>
          <a:xfrm>
            <a:off x="6278728" y="3278124"/>
            <a:ext cx="0" cy="86868"/>
          </a:xfrm>
          <a:prstGeom prst="line">
            <a:avLst/>
          </a:prstGeom>
          <a:noFill/>
          <a:ln w="19050">
            <a:solidFill>
              <a:srgbClr val="A8842A"/>
            </a:solidFill>
            <a:prstDash val="solid"/>
            <a:tailEnd type="triangle"/>
          </a:ln>
        </p:spPr>
      </p:sp>
      <p:sp>
        <p:nvSpPr>
          <p:cNvPr id="49" name="Text 46"/>
          <p:cNvSpPr txBox="1"/>
          <p:nvPr/>
        </p:nvSpPr>
        <p:spPr>
          <a:xfrm>
            <a:off x="8893912" y="317296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50" name="Shape 47"/>
          <p:cNvSpPr/>
          <p:nvPr/>
        </p:nvSpPr>
        <p:spPr>
          <a:xfrm>
            <a:off x="7878928" y="3355848"/>
            <a:ext cx="1920240" cy="384048"/>
          </a:xfrm>
          <a:prstGeom prst="diamond">
            <a:avLst/>
          </a:prstGeom>
          <a:solidFill>
            <a:srgbClr val="FFF2CC"/>
          </a:solidFill>
          <a:ln w="19050">
            <a:solidFill>
              <a:srgbClr val="D6B656"/>
            </a:solidFill>
            <a:prstDash val="solid"/>
          </a:ln>
        </p:spPr>
      </p:sp>
      <p:sp>
        <p:nvSpPr>
          <p:cNvPr id="51" name="Text 48"/>
          <p:cNvSpPr txBox="1"/>
          <p:nvPr/>
        </p:nvSpPr>
        <p:spPr>
          <a:xfrm>
            <a:off x="8205368" y="3405774"/>
            <a:ext cx="1267358" cy="284196"/>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Already Approved?</a:t>
            </a:r>
            <a:endParaRPr lang="en-AU" sz="1000" dirty="0"/>
          </a:p>
        </p:txBody>
      </p:sp>
      <p:sp>
        <p:nvSpPr>
          <p:cNvPr id="52" name="Shape 49"/>
          <p:cNvSpPr/>
          <p:nvPr/>
        </p:nvSpPr>
        <p:spPr>
          <a:xfrm>
            <a:off x="7558888" y="3547872"/>
            <a:ext cx="320040" cy="0"/>
          </a:xfrm>
          <a:prstGeom prst="line">
            <a:avLst/>
          </a:prstGeom>
          <a:noFill/>
          <a:ln w="19050">
            <a:solidFill>
              <a:srgbClr val="A8842A"/>
            </a:solidFill>
            <a:prstDash val="solid"/>
            <a:tailEnd type="triangle"/>
          </a:ln>
        </p:spPr>
      </p:sp>
      <p:sp>
        <p:nvSpPr>
          <p:cNvPr id="53" name="Shape 50"/>
          <p:cNvSpPr/>
          <p:nvPr/>
        </p:nvSpPr>
        <p:spPr>
          <a:xfrm>
            <a:off x="10073488" y="3346704"/>
            <a:ext cx="1371600" cy="402336"/>
          </a:xfrm>
          <a:prstGeom prst="rect">
            <a:avLst/>
          </a:prstGeom>
          <a:solidFill>
            <a:srgbClr val="FFF2CC"/>
          </a:solidFill>
          <a:ln w="19050">
            <a:solidFill>
              <a:srgbClr val="D6B656"/>
            </a:solidFill>
            <a:prstDash val="solid"/>
          </a:ln>
        </p:spPr>
      </p:sp>
      <p:sp>
        <p:nvSpPr>
          <p:cNvPr id="54" name="Text 51"/>
          <p:cNvSpPr txBox="1"/>
          <p:nvPr/>
        </p:nvSpPr>
        <p:spPr>
          <a:xfrm>
            <a:off x="10137496" y="3374136"/>
            <a:ext cx="124358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Reject Duplicate Approval</a:t>
            </a:r>
            <a:endParaRPr lang="en-AU" sz="1050" dirty="0"/>
          </a:p>
        </p:txBody>
      </p:sp>
      <p:sp>
        <p:nvSpPr>
          <p:cNvPr id="55" name="Shape 52"/>
          <p:cNvSpPr/>
          <p:nvPr/>
        </p:nvSpPr>
        <p:spPr>
          <a:xfrm>
            <a:off x="9799168" y="3547872"/>
            <a:ext cx="274320" cy="0"/>
          </a:xfrm>
          <a:prstGeom prst="line">
            <a:avLst/>
          </a:prstGeom>
          <a:noFill/>
          <a:ln w="19050">
            <a:solidFill>
              <a:srgbClr val="A8842A"/>
            </a:solidFill>
            <a:prstDash val="solid"/>
            <a:tailEnd type="triangle"/>
          </a:ln>
        </p:spPr>
      </p:sp>
      <p:sp>
        <p:nvSpPr>
          <p:cNvPr id="56" name="Text 53"/>
          <p:cNvSpPr txBox="1"/>
          <p:nvPr/>
        </p:nvSpPr>
        <p:spPr>
          <a:xfrm>
            <a:off x="9835744" y="336499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57" name="Shape 54"/>
          <p:cNvSpPr/>
          <p:nvPr/>
        </p:nvSpPr>
        <p:spPr>
          <a:xfrm>
            <a:off x="4998568" y="3913632"/>
            <a:ext cx="2560320" cy="365760"/>
          </a:xfrm>
          <a:prstGeom prst="rect">
            <a:avLst/>
          </a:prstGeom>
          <a:solidFill>
            <a:srgbClr val="FFF2CC"/>
          </a:solidFill>
          <a:ln w="19050">
            <a:solidFill>
              <a:srgbClr val="D6B656"/>
            </a:solidFill>
            <a:prstDash val="solid"/>
          </a:ln>
        </p:spPr>
      </p:sp>
      <p:sp>
        <p:nvSpPr>
          <p:cNvPr id="58" name="Text 55"/>
          <p:cNvSpPr txBox="1"/>
          <p:nvPr/>
        </p:nvSpPr>
        <p:spPr>
          <a:xfrm>
            <a:off x="5062576" y="3941064"/>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Record Valid Approval</a:t>
            </a:r>
            <a:endParaRPr lang="en-AU" sz="1100" dirty="0"/>
          </a:p>
        </p:txBody>
      </p:sp>
      <p:sp>
        <p:nvSpPr>
          <p:cNvPr id="59" name="Shape 56"/>
          <p:cNvSpPr/>
          <p:nvPr/>
        </p:nvSpPr>
        <p:spPr>
          <a:xfrm>
            <a:off x="8839048" y="3739896"/>
            <a:ext cx="0" cy="86868"/>
          </a:xfrm>
          <a:prstGeom prst="line">
            <a:avLst/>
          </a:prstGeom>
          <a:noFill/>
          <a:ln w="19050">
            <a:solidFill>
              <a:srgbClr val="A8842A"/>
            </a:solidFill>
            <a:prstDash val="solid"/>
          </a:ln>
        </p:spPr>
      </p:sp>
      <p:sp>
        <p:nvSpPr>
          <p:cNvPr id="60" name="Shape 57"/>
          <p:cNvSpPr/>
          <p:nvPr/>
        </p:nvSpPr>
        <p:spPr>
          <a:xfrm flipH="1">
            <a:off x="6278728" y="3826764"/>
            <a:ext cx="2560320" cy="0"/>
          </a:xfrm>
          <a:prstGeom prst="line">
            <a:avLst/>
          </a:prstGeom>
          <a:noFill/>
          <a:ln w="19050">
            <a:solidFill>
              <a:srgbClr val="A8842A"/>
            </a:solidFill>
            <a:prstDash val="solid"/>
          </a:ln>
        </p:spPr>
      </p:sp>
      <p:sp>
        <p:nvSpPr>
          <p:cNvPr id="61" name="Shape 58"/>
          <p:cNvSpPr/>
          <p:nvPr/>
        </p:nvSpPr>
        <p:spPr>
          <a:xfrm>
            <a:off x="6278728" y="3826764"/>
            <a:ext cx="0" cy="86868"/>
          </a:xfrm>
          <a:prstGeom prst="line">
            <a:avLst/>
          </a:prstGeom>
          <a:noFill/>
          <a:ln w="19050">
            <a:solidFill>
              <a:srgbClr val="A8842A"/>
            </a:solidFill>
            <a:prstDash val="solid"/>
            <a:tailEnd type="triangle"/>
          </a:ln>
        </p:spPr>
      </p:sp>
      <p:sp>
        <p:nvSpPr>
          <p:cNvPr id="62" name="Text 59"/>
          <p:cNvSpPr txBox="1"/>
          <p:nvPr/>
        </p:nvSpPr>
        <p:spPr>
          <a:xfrm>
            <a:off x="8893912" y="372160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63" name="Shape 60"/>
          <p:cNvSpPr/>
          <p:nvPr/>
        </p:nvSpPr>
        <p:spPr>
          <a:xfrm>
            <a:off x="4998568" y="4462272"/>
            <a:ext cx="2560320" cy="365760"/>
          </a:xfrm>
          <a:prstGeom prst="rect">
            <a:avLst/>
          </a:prstGeom>
          <a:solidFill>
            <a:srgbClr val="FFF2CC"/>
          </a:solidFill>
          <a:ln w="19050">
            <a:solidFill>
              <a:srgbClr val="D6B656"/>
            </a:solidFill>
            <a:prstDash val="solid"/>
          </a:ln>
        </p:spPr>
      </p:sp>
      <p:sp>
        <p:nvSpPr>
          <p:cNvPr id="64" name="Text 61"/>
          <p:cNvSpPr txBox="1"/>
          <p:nvPr/>
        </p:nvSpPr>
        <p:spPr>
          <a:xfrm>
            <a:off x="5062576" y="4489704"/>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Update Approval Count</a:t>
            </a:r>
            <a:endParaRPr lang="en-AU" sz="1100" dirty="0"/>
          </a:p>
        </p:txBody>
      </p:sp>
      <p:sp>
        <p:nvSpPr>
          <p:cNvPr id="65" name="Shape 62"/>
          <p:cNvSpPr/>
          <p:nvPr/>
        </p:nvSpPr>
        <p:spPr>
          <a:xfrm>
            <a:off x="6278728" y="4279392"/>
            <a:ext cx="0" cy="182880"/>
          </a:xfrm>
          <a:prstGeom prst="line">
            <a:avLst/>
          </a:prstGeom>
          <a:noFill/>
          <a:ln w="19050">
            <a:solidFill>
              <a:srgbClr val="A8842A"/>
            </a:solidFill>
            <a:prstDash val="solid"/>
            <a:tailEnd type="triangle"/>
          </a:ln>
        </p:spPr>
      </p:sp>
      <p:sp>
        <p:nvSpPr>
          <p:cNvPr id="66" name="Shape 63"/>
          <p:cNvSpPr/>
          <p:nvPr/>
        </p:nvSpPr>
        <p:spPr>
          <a:xfrm>
            <a:off x="7878928" y="4453128"/>
            <a:ext cx="1920240" cy="384048"/>
          </a:xfrm>
          <a:prstGeom prst="diamond">
            <a:avLst/>
          </a:prstGeom>
          <a:solidFill>
            <a:srgbClr val="FFF2CC"/>
          </a:solidFill>
          <a:ln w="19050">
            <a:solidFill>
              <a:srgbClr val="D6B656"/>
            </a:solidFill>
            <a:prstDash val="solid"/>
          </a:ln>
        </p:spPr>
      </p:sp>
      <p:sp>
        <p:nvSpPr>
          <p:cNvPr id="67" name="Text 64"/>
          <p:cNvSpPr txBox="1"/>
          <p:nvPr/>
        </p:nvSpPr>
        <p:spPr>
          <a:xfrm>
            <a:off x="8205368" y="4503054"/>
            <a:ext cx="1267358" cy="284196"/>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Threshold Satisfied?</a:t>
            </a:r>
            <a:endParaRPr lang="en-AU" sz="1000" dirty="0"/>
          </a:p>
        </p:txBody>
      </p:sp>
      <p:sp>
        <p:nvSpPr>
          <p:cNvPr id="68" name="Shape 65"/>
          <p:cNvSpPr/>
          <p:nvPr/>
        </p:nvSpPr>
        <p:spPr>
          <a:xfrm>
            <a:off x="7558888" y="4645152"/>
            <a:ext cx="320040" cy="0"/>
          </a:xfrm>
          <a:prstGeom prst="line">
            <a:avLst/>
          </a:prstGeom>
          <a:noFill/>
          <a:ln w="19050">
            <a:solidFill>
              <a:srgbClr val="A8842A"/>
            </a:solidFill>
            <a:prstDash val="solid"/>
            <a:tailEnd type="triangle"/>
          </a:ln>
        </p:spPr>
      </p:sp>
      <p:sp>
        <p:nvSpPr>
          <p:cNvPr id="69" name="Shape 66"/>
          <p:cNvSpPr/>
          <p:nvPr/>
        </p:nvSpPr>
        <p:spPr>
          <a:xfrm>
            <a:off x="10073488" y="4443984"/>
            <a:ext cx="1371600" cy="402336"/>
          </a:xfrm>
          <a:prstGeom prst="rect">
            <a:avLst/>
          </a:prstGeom>
          <a:solidFill>
            <a:srgbClr val="FFF2CC"/>
          </a:solidFill>
          <a:ln w="19050">
            <a:solidFill>
              <a:srgbClr val="D6B656"/>
            </a:solidFill>
            <a:prstDash val="solid"/>
          </a:ln>
        </p:spPr>
      </p:sp>
      <p:sp>
        <p:nvSpPr>
          <p:cNvPr id="70" name="Text 67"/>
          <p:cNvSpPr txBox="1"/>
          <p:nvPr/>
        </p:nvSpPr>
        <p:spPr>
          <a:xfrm>
            <a:off x="10137496" y="4471416"/>
            <a:ext cx="124358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Consent Remains Pending</a:t>
            </a:r>
            <a:endParaRPr lang="en-AU" sz="1050" dirty="0"/>
          </a:p>
        </p:txBody>
      </p:sp>
      <p:sp>
        <p:nvSpPr>
          <p:cNvPr id="71" name="Shape 68"/>
          <p:cNvSpPr/>
          <p:nvPr/>
        </p:nvSpPr>
        <p:spPr>
          <a:xfrm>
            <a:off x="9799168" y="4645152"/>
            <a:ext cx="274320" cy="0"/>
          </a:xfrm>
          <a:prstGeom prst="line">
            <a:avLst/>
          </a:prstGeom>
          <a:noFill/>
          <a:ln w="19050">
            <a:solidFill>
              <a:srgbClr val="A8842A"/>
            </a:solidFill>
            <a:prstDash val="solid"/>
            <a:tailEnd type="triangle"/>
          </a:ln>
        </p:spPr>
      </p:sp>
      <p:sp>
        <p:nvSpPr>
          <p:cNvPr id="72" name="Text 69"/>
          <p:cNvSpPr txBox="1"/>
          <p:nvPr/>
        </p:nvSpPr>
        <p:spPr>
          <a:xfrm>
            <a:off x="9835744" y="446227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73" name="Shape 70"/>
          <p:cNvSpPr/>
          <p:nvPr/>
        </p:nvSpPr>
        <p:spPr>
          <a:xfrm>
            <a:off x="10073488" y="4992624"/>
            <a:ext cx="1371600" cy="402336"/>
          </a:xfrm>
          <a:prstGeom prst="rect">
            <a:avLst/>
          </a:prstGeom>
          <a:solidFill>
            <a:srgbClr val="FFF2CC"/>
          </a:solidFill>
          <a:ln w="19050">
            <a:solidFill>
              <a:srgbClr val="D6B656"/>
            </a:solidFill>
            <a:prstDash val="solid"/>
          </a:ln>
        </p:spPr>
      </p:sp>
      <p:sp>
        <p:nvSpPr>
          <p:cNvPr id="74" name="Text 71"/>
          <p:cNvSpPr txBox="1"/>
          <p:nvPr/>
        </p:nvSpPr>
        <p:spPr>
          <a:xfrm>
            <a:off x="10137496" y="5020056"/>
            <a:ext cx="124358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Record Threshold-Pending Event</a:t>
            </a:r>
            <a:endParaRPr lang="en-AU" sz="1050" dirty="0"/>
          </a:p>
        </p:txBody>
      </p:sp>
      <p:sp>
        <p:nvSpPr>
          <p:cNvPr id="75" name="Shape 72"/>
          <p:cNvSpPr/>
          <p:nvPr/>
        </p:nvSpPr>
        <p:spPr>
          <a:xfrm>
            <a:off x="10759288" y="4846320"/>
            <a:ext cx="0" cy="146304"/>
          </a:xfrm>
          <a:prstGeom prst="line">
            <a:avLst/>
          </a:prstGeom>
          <a:noFill/>
          <a:ln w="19050">
            <a:solidFill>
              <a:srgbClr val="A8842A"/>
            </a:solidFill>
            <a:prstDash val="solid"/>
            <a:tailEnd type="triangle"/>
          </a:ln>
        </p:spPr>
      </p:sp>
      <p:sp>
        <p:nvSpPr>
          <p:cNvPr id="76" name="Shape 73"/>
          <p:cNvSpPr/>
          <p:nvPr/>
        </p:nvSpPr>
        <p:spPr>
          <a:xfrm>
            <a:off x="4998568" y="5010912"/>
            <a:ext cx="2560320" cy="365760"/>
          </a:xfrm>
          <a:prstGeom prst="rect">
            <a:avLst/>
          </a:prstGeom>
          <a:solidFill>
            <a:srgbClr val="FFF2CC"/>
          </a:solidFill>
          <a:ln w="19050">
            <a:solidFill>
              <a:srgbClr val="D6B656"/>
            </a:solidFill>
            <a:prstDash val="solid"/>
          </a:ln>
        </p:spPr>
      </p:sp>
      <p:sp>
        <p:nvSpPr>
          <p:cNvPr id="77" name="Text 74"/>
          <p:cNvSpPr txBox="1"/>
          <p:nvPr/>
        </p:nvSpPr>
        <p:spPr>
          <a:xfrm>
            <a:off x="5062576" y="5038344"/>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Activate Authorisation</a:t>
            </a:r>
            <a:endParaRPr lang="en-AU" sz="1100" dirty="0"/>
          </a:p>
        </p:txBody>
      </p:sp>
      <p:sp>
        <p:nvSpPr>
          <p:cNvPr id="78" name="Shape 75"/>
          <p:cNvSpPr/>
          <p:nvPr/>
        </p:nvSpPr>
        <p:spPr>
          <a:xfrm>
            <a:off x="8839048" y="4837176"/>
            <a:ext cx="0" cy="86868"/>
          </a:xfrm>
          <a:prstGeom prst="line">
            <a:avLst/>
          </a:prstGeom>
          <a:noFill/>
          <a:ln w="19050">
            <a:solidFill>
              <a:srgbClr val="A8842A"/>
            </a:solidFill>
            <a:prstDash val="solid"/>
          </a:ln>
        </p:spPr>
      </p:sp>
      <p:sp>
        <p:nvSpPr>
          <p:cNvPr id="79" name="Shape 76"/>
          <p:cNvSpPr/>
          <p:nvPr/>
        </p:nvSpPr>
        <p:spPr>
          <a:xfrm flipH="1">
            <a:off x="6278728" y="4924044"/>
            <a:ext cx="2560320" cy="0"/>
          </a:xfrm>
          <a:prstGeom prst="line">
            <a:avLst/>
          </a:prstGeom>
          <a:noFill/>
          <a:ln w="19050">
            <a:solidFill>
              <a:srgbClr val="A8842A"/>
            </a:solidFill>
            <a:prstDash val="solid"/>
          </a:ln>
        </p:spPr>
      </p:sp>
      <p:sp>
        <p:nvSpPr>
          <p:cNvPr id="80" name="Shape 77"/>
          <p:cNvSpPr/>
          <p:nvPr/>
        </p:nvSpPr>
        <p:spPr>
          <a:xfrm>
            <a:off x="6278728" y="4924044"/>
            <a:ext cx="0" cy="86868"/>
          </a:xfrm>
          <a:prstGeom prst="line">
            <a:avLst/>
          </a:prstGeom>
          <a:noFill/>
          <a:ln w="19050">
            <a:solidFill>
              <a:srgbClr val="A8842A"/>
            </a:solidFill>
            <a:prstDash val="solid"/>
            <a:tailEnd type="triangle"/>
          </a:ln>
        </p:spPr>
      </p:sp>
      <p:sp>
        <p:nvSpPr>
          <p:cNvPr id="81" name="Text 78"/>
          <p:cNvSpPr txBox="1"/>
          <p:nvPr/>
        </p:nvSpPr>
        <p:spPr>
          <a:xfrm>
            <a:off x="8893912" y="481888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82" name="Shape 79"/>
          <p:cNvSpPr/>
          <p:nvPr/>
        </p:nvSpPr>
        <p:spPr>
          <a:xfrm>
            <a:off x="4998568" y="5559552"/>
            <a:ext cx="2560320" cy="365760"/>
          </a:xfrm>
          <a:prstGeom prst="rect">
            <a:avLst/>
          </a:prstGeom>
          <a:solidFill>
            <a:srgbClr val="FFF2CC"/>
          </a:solidFill>
          <a:ln w="19050">
            <a:solidFill>
              <a:srgbClr val="D6B656"/>
            </a:solidFill>
            <a:prstDash val="solid"/>
          </a:ln>
        </p:spPr>
      </p:sp>
      <p:sp>
        <p:nvSpPr>
          <p:cNvPr id="83" name="Text 80"/>
          <p:cNvSpPr txBox="1"/>
          <p:nvPr/>
        </p:nvSpPr>
        <p:spPr>
          <a:xfrm>
            <a:off x="5062576" y="5586984"/>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Generate Activation or Token Evidence</a:t>
            </a:r>
            <a:endParaRPr lang="en-AU" sz="1050" dirty="0"/>
          </a:p>
        </p:txBody>
      </p:sp>
      <p:sp>
        <p:nvSpPr>
          <p:cNvPr id="84" name="Shape 81"/>
          <p:cNvSpPr/>
          <p:nvPr/>
        </p:nvSpPr>
        <p:spPr>
          <a:xfrm>
            <a:off x="6278728" y="5376672"/>
            <a:ext cx="0" cy="182880"/>
          </a:xfrm>
          <a:prstGeom prst="line">
            <a:avLst/>
          </a:prstGeom>
          <a:noFill/>
          <a:ln w="19050">
            <a:solidFill>
              <a:srgbClr val="A8842A"/>
            </a:solidFill>
            <a:prstDash val="solid"/>
            <a:tailEnd type="triangle"/>
          </a:ln>
        </p:spPr>
      </p:sp>
      <p:sp>
        <p:nvSpPr>
          <p:cNvPr id="85" name="Shape 82"/>
          <p:cNvSpPr/>
          <p:nvPr/>
        </p:nvSpPr>
        <p:spPr>
          <a:xfrm>
            <a:off x="7878928" y="5559552"/>
            <a:ext cx="2011680" cy="365760"/>
          </a:xfrm>
          <a:prstGeom prst="rect">
            <a:avLst/>
          </a:prstGeom>
          <a:solidFill>
            <a:srgbClr val="FFF2CC"/>
          </a:solidFill>
          <a:ln w="19050">
            <a:solidFill>
              <a:srgbClr val="D6B656"/>
            </a:solidFill>
            <a:prstDash val="solid"/>
          </a:ln>
        </p:spPr>
      </p:sp>
      <p:sp>
        <p:nvSpPr>
          <p:cNvPr id="86" name="Text 83"/>
          <p:cNvSpPr txBox="1"/>
          <p:nvPr/>
        </p:nvSpPr>
        <p:spPr>
          <a:xfrm>
            <a:off x="7942936" y="5586984"/>
            <a:ext cx="188366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Record Threshold-Satisfied Event</a:t>
            </a:r>
            <a:endParaRPr lang="en-AU" sz="1050" dirty="0"/>
          </a:p>
        </p:txBody>
      </p:sp>
      <p:sp>
        <p:nvSpPr>
          <p:cNvPr id="87" name="Shape 84"/>
          <p:cNvSpPr/>
          <p:nvPr/>
        </p:nvSpPr>
        <p:spPr>
          <a:xfrm>
            <a:off x="7558888" y="5742432"/>
            <a:ext cx="320040" cy="0"/>
          </a:xfrm>
          <a:prstGeom prst="line">
            <a:avLst/>
          </a:prstGeom>
          <a:noFill/>
          <a:ln w="19050">
            <a:solidFill>
              <a:srgbClr val="A8842A"/>
            </a:solidFill>
            <a:prstDash val="solid"/>
            <a:tailEnd type="triangle"/>
          </a:ln>
        </p:spPr>
      </p:sp>
      <p:sp>
        <p:nvSpPr>
          <p:cNvPr id="88" name="Text 85"/>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6.3: RO3 workflow for threshold-based multi-party authorisation</a:t>
            </a:r>
            <a:endParaRPr lang="en-AU" sz="1050" dirty="0"/>
          </a:p>
        </p:txBody>
      </p:sp>
      <p:sp>
        <p:nvSpPr>
          <p:cNvPr id="89" name="Shape 86"/>
          <p:cNvSpPr/>
          <p:nvPr/>
        </p:nvSpPr>
        <p:spPr>
          <a:xfrm>
            <a:off x="548640" y="1664208"/>
            <a:ext cx="384048" cy="384048"/>
          </a:xfrm>
          <a:prstGeom prst="ellipse">
            <a:avLst/>
          </a:prstGeom>
          <a:solidFill>
            <a:srgbClr val="13707B"/>
          </a:solidFill>
          <a:ln w="12700">
            <a:solidFill>
              <a:srgbClr val="13707B"/>
            </a:solidFill>
            <a:prstDash val="solid"/>
          </a:ln>
        </p:spPr>
      </p:sp>
      <p:pic>
        <p:nvPicPr>
          <p:cNvPr id="90"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91" name="Text 87"/>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Threshold condition</a:t>
            </a:r>
            <a:endParaRPr lang="en-AU" sz="1500" dirty="0"/>
          </a:p>
        </p:txBody>
      </p:sp>
      <p:sp>
        <p:nvSpPr>
          <p:cNvPr id="92" name="Text 88"/>
          <p:cNvSpPr txBox="1"/>
          <p:nvPr/>
        </p:nvSpPr>
        <p:spPr>
          <a:xfrm>
            <a:off x="1115568" y="197510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A</a:t>
            </a:r>
            <a:r>
              <a:rPr lang="en-AU" sz="1250" dirty="0">
                <a:solidFill>
                  <a:srgbClr val="1C2B31"/>
                </a:solidFill>
                <a:latin typeface="Calibri" pitchFamily="34" charset="0"/>
                <a:ea typeface="Calibri" pitchFamily="34" charset="-122"/>
                <a:cs typeface="Calibri" pitchFamily="34" charset="-120"/>
              </a:rPr>
              <a:t>(C) = 1 when |</a:t>
            </a:r>
            <a:r>
              <a:rPr lang="en-AU" sz="1250" dirty="0">
                <a:solidFill>
                  <a:srgbClr val="1C2B31"/>
                </a:solidFill>
                <a:latin typeface="Calibri" pitchFamily="34" charset="0"/>
                <a:ea typeface="Calibri" pitchFamily="34" charset="-122"/>
                <a:cs typeface="Calibri" pitchFamily="34" charset="-120"/>
              </a:rPr>
              <a:t>A</a:t>
            </a:r>
            <a:r>
              <a:rPr lang="en-AU" sz="1480" baseline="-25000" dirty="0">
                <a:solidFill>
                  <a:srgbClr val="1C2B31"/>
                </a:solidFill>
                <a:latin typeface="Calibri" pitchFamily="34" charset="0"/>
                <a:ea typeface="Calibri" pitchFamily="34" charset="-122"/>
                <a:cs typeface="Calibri" pitchFamily="34" charset="-120"/>
              </a:rPr>
              <a:t>v</a:t>
            </a:r>
            <a:r>
              <a:rPr lang="en-AU" sz="1250" dirty="0">
                <a:solidFill>
                  <a:srgbClr val="1C2B31"/>
                </a:solidFill>
                <a:latin typeface="Calibri" pitchFamily="34" charset="0"/>
                <a:ea typeface="Calibri" pitchFamily="34" charset="-122"/>
                <a:cs typeface="Calibri" pitchFamily="34" charset="-120"/>
              </a:rPr>
              <a:t>| ≥ N (Eq. 9), with 1 ≤ N ≤ |G|; below N the consent stays PENDING</a:t>
            </a:r>
            <a:endParaRPr lang="en-AU" sz="1250" dirty="0"/>
          </a:p>
        </p:txBody>
      </p:sp>
      <p:sp>
        <p:nvSpPr>
          <p:cNvPr id="93" name="Shape 89"/>
          <p:cNvSpPr/>
          <p:nvPr/>
        </p:nvSpPr>
        <p:spPr>
          <a:xfrm>
            <a:off x="548640" y="2841498"/>
            <a:ext cx="384048" cy="384048"/>
          </a:xfrm>
          <a:prstGeom prst="ellipse">
            <a:avLst/>
          </a:prstGeom>
          <a:solidFill>
            <a:srgbClr val="13707B"/>
          </a:solidFill>
          <a:ln w="12700">
            <a:solidFill>
              <a:srgbClr val="13707B"/>
            </a:solidFill>
            <a:prstDash val="solid"/>
          </a:ln>
        </p:spPr>
      </p:sp>
      <p:pic>
        <p:nvPicPr>
          <p:cNvPr id="94"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95" name="Text 90"/>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Rejected approvals</a:t>
            </a:r>
            <a:endParaRPr lang="en-AU" sz="1500" dirty="0"/>
          </a:p>
        </p:txBody>
      </p:sp>
      <p:sp>
        <p:nvSpPr>
          <p:cNvPr id="96" name="Text 91"/>
          <p:cNvSpPr txBox="1"/>
          <p:nvPr/>
        </p:nvSpPr>
        <p:spPr>
          <a:xfrm>
            <a:off x="1115568" y="315239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Invalid identity or authority, participant not in G, or a duplicate approval: recorded, returns DENY</a:t>
            </a:r>
            <a:endParaRPr lang="en-AU" sz="1250" dirty="0"/>
          </a:p>
        </p:txBody>
      </p:sp>
      <p:sp>
        <p:nvSpPr>
          <p:cNvPr id="97" name="Shape 92"/>
          <p:cNvSpPr/>
          <p:nvPr/>
        </p:nvSpPr>
        <p:spPr>
          <a:xfrm>
            <a:off x="548640" y="4018788"/>
            <a:ext cx="384048" cy="384048"/>
          </a:xfrm>
          <a:prstGeom prst="ellipse">
            <a:avLst/>
          </a:prstGeom>
          <a:solidFill>
            <a:srgbClr val="13707B"/>
          </a:solidFill>
          <a:ln w="12700">
            <a:solidFill>
              <a:srgbClr val="13707B"/>
            </a:solidFill>
            <a:prstDash val="solid"/>
          </a:ln>
        </p:spPr>
      </p:sp>
      <p:pic>
        <p:nvPicPr>
          <p:cNvPr id="98"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99" name="Text 93"/>
          <p:cNvSpPr txBox="1"/>
          <p:nvPr/>
        </p:nvSpPr>
        <p:spPr>
          <a:xfrm>
            <a:off x="1115568" y="400050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Activation evidence</a:t>
            </a:r>
            <a:endParaRPr lang="en-AU" sz="1500" dirty="0"/>
          </a:p>
        </p:txBody>
      </p:sp>
      <p:sp>
        <p:nvSpPr>
          <p:cNvPr id="100" name="Text 94"/>
          <p:cNvSpPr txBox="1"/>
          <p:nvPr/>
        </p:nvSpPr>
        <p:spPr>
          <a:xfrm>
            <a:off x="1115568" y="432968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When |</a:t>
            </a:r>
            <a:r>
              <a:rPr lang="en-AU" sz="1250" dirty="0">
                <a:solidFill>
                  <a:srgbClr val="1C2B31"/>
                </a:solidFill>
                <a:latin typeface="Calibri" pitchFamily="34" charset="0"/>
                <a:ea typeface="Calibri" pitchFamily="34" charset="-122"/>
                <a:cs typeface="Calibri" pitchFamily="34" charset="-120"/>
              </a:rPr>
              <a:t>A</a:t>
            </a:r>
            <a:r>
              <a:rPr lang="en-AU" sz="1480" baseline="-25000" dirty="0">
                <a:solidFill>
                  <a:srgbClr val="1C2B31"/>
                </a:solidFill>
                <a:latin typeface="Calibri" pitchFamily="34" charset="0"/>
                <a:ea typeface="Calibri" pitchFamily="34" charset="-122"/>
                <a:cs typeface="Calibri" pitchFamily="34" charset="-120"/>
              </a:rPr>
              <a:t>v</a:t>
            </a:r>
            <a:r>
              <a:rPr lang="en-AU" sz="1250" dirty="0">
                <a:solidFill>
                  <a:srgbClr val="1C2B31"/>
                </a:solidFill>
                <a:latin typeface="Calibri" pitchFamily="34" charset="0"/>
                <a:ea typeface="Calibri" pitchFamily="34" charset="-122"/>
                <a:cs typeface="Calibri" pitchFamily="34" charset="-120"/>
              </a:rPr>
              <a:t>| ≥ N: authorisation activated, token evidence generated, threshold-satisfied event recorded</a:t>
            </a:r>
            <a:endParaRPr lang="en-AU" sz="1250" dirty="0"/>
          </a:p>
        </p:txBody>
      </p:sp>
      <p:sp>
        <p:nvSpPr>
          <p:cNvPr id="101" name="Shape 95"/>
          <p:cNvSpPr/>
          <p:nvPr/>
        </p:nvSpPr>
        <p:spPr>
          <a:xfrm>
            <a:off x="548640" y="5196078"/>
            <a:ext cx="384048" cy="384048"/>
          </a:xfrm>
          <a:prstGeom prst="ellipse">
            <a:avLst/>
          </a:prstGeom>
          <a:solidFill>
            <a:srgbClr val="13707B"/>
          </a:solidFill>
          <a:ln w="12700">
            <a:solidFill>
              <a:srgbClr val="13707B"/>
            </a:solidFill>
            <a:prstDash val="solid"/>
          </a:ln>
        </p:spPr>
      </p:sp>
      <p:pic>
        <p:nvPicPr>
          <p:cNvPr id="102"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103" name="Text 96"/>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Prototype: 2-of-2 guardians</a:t>
            </a:r>
            <a:endParaRPr lang="en-AU" sz="1500" dirty="0"/>
          </a:p>
        </p:txBody>
      </p:sp>
      <p:sp>
        <p:nvSpPr>
          <p:cNvPr id="104" name="Text 97"/>
          <p:cNvSpPr txBox="1"/>
          <p:nvPr/>
        </p:nvSpPr>
        <p:spPr>
          <a:xfrm>
            <a:off x="1115568" y="550697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N = |G| (all guardians sign); EIP-712 signatures verified, duplicates refused, Sepolia SBT minted; configurable k-of-n in CA3</a:t>
            </a:r>
            <a:endParaRPr lang="en-AU"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RO4: a valid approval is not unlimited access</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6.4, Figure 6.4, Algorithm 4: purpose and data scope are checked before any data are released</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25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4998568" y="1645920"/>
            <a:ext cx="1188720" cy="475488"/>
          </a:xfrm>
          <a:prstGeom prst="roundRect">
            <a:avLst>
              <a:gd name="adj" fmla="val 23077"/>
            </a:avLst>
          </a:prstGeom>
          <a:solidFill>
            <a:srgbClr val="FFF2CC"/>
          </a:solidFill>
          <a:ln w="19050">
            <a:solidFill>
              <a:srgbClr val="D6B656"/>
            </a:solidFill>
            <a:prstDash val="solid"/>
          </a:ln>
        </p:spPr>
      </p:sp>
      <p:sp>
        <p:nvSpPr>
          <p:cNvPr id="9" name="Text 6"/>
          <p:cNvSpPr txBox="1"/>
          <p:nvPr/>
        </p:nvSpPr>
        <p:spPr>
          <a:xfrm>
            <a:off x="5062576" y="1673352"/>
            <a:ext cx="1060704" cy="42062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Doctor Requests Patient Data</a:t>
            </a:r>
            <a:endParaRPr lang="en-AU" sz="1050" dirty="0"/>
          </a:p>
        </p:txBody>
      </p:sp>
      <p:sp>
        <p:nvSpPr>
          <p:cNvPr id="10" name="Shape 7"/>
          <p:cNvSpPr/>
          <p:nvPr/>
        </p:nvSpPr>
        <p:spPr>
          <a:xfrm>
            <a:off x="6324448" y="1645920"/>
            <a:ext cx="1234440" cy="475488"/>
          </a:xfrm>
          <a:prstGeom prst="rect">
            <a:avLst/>
          </a:prstGeom>
          <a:solidFill>
            <a:srgbClr val="FFF2CC"/>
          </a:solidFill>
          <a:ln w="19050">
            <a:solidFill>
              <a:srgbClr val="D6B656"/>
            </a:solidFill>
            <a:prstDash val="solid"/>
          </a:ln>
        </p:spPr>
      </p:sp>
      <p:sp>
        <p:nvSpPr>
          <p:cNvPr id="11" name="Text 8"/>
          <p:cNvSpPr txBox="1"/>
          <p:nvPr/>
        </p:nvSpPr>
        <p:spPr>
          <a:xfrm>
            <a:off x="6388456" y="1673352"/>
            <a:ext cx="1106424" cy="42062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Retrieve Consent Object</a:t>
            </a:r>
            <a:endParaRPr lang="en-AU" sz="1050" dirty="0"/>
          </a:p>
        </p:txBody>
      </p:sp>
      <p:sp>
        <p:nvSpPr>
          <p:cNvPr id="12" name="Shape 9"/>
          <p:cNvSpPr/>
          <p:nvPr/>
        </p:nvSpPr>
        <p:spPr>
          <a:xfrm>
            <a:off x="6187288" y="1883664"/>
            <a:ext cx="137160" cy="0"/>
          </a:xfrm>
          <a:prstGeom prst="line">
            <a:avLst/>
          </a:prstGeom>
          <a:noFill/>
          <a:ln w="19050">
            <a:solidFill>
              <a:srgbClr val="A8842A"/>
            </a:solidFill>
            <a:prstDash val="solid"/>
            <a:tailEnd type="triangle"/>
          </a:ln>
        </p:spPr>
      </p:sp>
      <p:sp>
        <p:nvSpPr>
          <p:cNvPr id="13" name="Shape 10"/>
          <p:cNvSpPr/>
          <p:nvPr/>
        </p:nvSpPr>
        <p:spPr>
          <a:xfrm>
            <a:off x="4998568" y="2313432"/>
            <a:ext cx="2560320" cy="402336"/>
          </a:xfrm>
          <a:prstGeom prst="rect">
            <a:avLst/>
          </a:prstGeom>
          <a:solidFill>
            <a:srgbClr val="FFF2CC"/>
          </a:solidFill>
          <a:ln w="19050">
            <a:solidFill>
              <a:srgbClr val="D6B656"/>
            </a:solidFill>
            <a:prstDash val="solid"/>
          </a:ln>
        </p:spPr>
      </p:sp>
      <p:sp>
        <p:nvSpPr>
          <p:cNvPr id="14" name="Text 11"/>
          <p:cNvSpPr txBox="1"/>
          <p:nvPr/>
        </p:nvSpPr>
        <p:spPr>
          <a:xfrm>
            <a:off x="5062576" y="2340864"/>
            <a:ext cx="243230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Verify Requesting Identity and Authority</a:t>
            </a:r>
            <a:endParaRPr lang="en-AU" sz="1050" dirty="0"/>
          </a:p>
        </p:txBody>
      </p:sp>
      <p:sp>
        <p:nvSpPr>
          <p:cNvPr id="15" name="Shape 12"/>
          <p:cNvSpPr/>
          <p:nvPr/>
        </p:nvSpPr>
        <p:spPr>
          <a:xfrm>
            <a:off x="7787488" y="2322576"/>
            <a:ext cx="2103120" cy="384048"/>
          </a:xfrm>
          <a:prstGeom prst="diamond">
            <a:avLst/>
          </a:prstGeom>
          <a:solidFill>
            <a:srgbClr val="FFF2CC"/>
          </a:solidFill>
          <a:ln w="19050">
            <a:solidFill>
              <a:srgbClr val="D6B656"/>
            </a:solidFill>
            <a:prstDash val="solid"/>
          </a:ln>
        </p:spPr>
      </p:sp>
      <p:sp>
        <p:nvSpPr>
          <p:cNvPr id="16" name="Text 13"/>
          <p:cNvSpPr txBox="1"/>
          <p:nvPr/>
        </p:nvSpPr>
        <p:spPr>
          <a:xfrm>
            <a:off x="8145018" y="2372502"/>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Identity and</a:t>
            </a:r>
            <a:endParaRPr lang="en-AU" sz="1050" dirty="0"/>
          </a:p>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Authority Valid?</a:t>
            </a:r>
            <a:endParaRPr lang="en-AU" sz="1050" dirty="0"/>
          </a:p>
        </p:txBody>
      </p:sp>
      <p:sp>
        <p:nvSpPr>
          <p:cNvPr id="17" name="Shape 14"/>
          <p:cNvSpPr/>
          <p:nvPr/>
        </p:nvSpPr>
        <p:spPr>
          <a:xfrm>
            <a:off x="7558888" y="2514600"/>
            <a:ext cx="228600" cy="0"/>
          </a:xfrm>
          <a:prstGeom prst="line">
            <a:avLst/>
          </a:prstGeom>
          <a:noFill/>
          <a:ln w="19050">
            <a:solidFill>
              <a:srgbClr val="A8842A"/>
            </a:solidFill>
            <a:prstDash val="solid"/>
            <a:tailEnd type="triangle"/>
          </a:ln>
        </p:spPr>
      </p:sp>
      <p:sp>
        <p:nvSpPr>
          <p:cNvPr id="18" name="Shape 15"/>
          <p:cNvSpPr/>
          <p:nvPr/>
        </p:nvSpPr>
        <p:spPr>
          <a:xfrm>
            <a:off x="4998568" y="2880360"/>
            <a:ext cx="2560320" cy="365760"/>
          </a:xfrm>
          <a:prstGeom prst="rect">
            <a:avLst/>
          </a:prstGeom>
          <a:solidFill>
            <a:srgbClr val="FFF2CC"/>
          </a:solidFill>
          <a:ln w="19050">
            <a:solidFill>
              <a:srgbClr val="D6B656"/>
            </a:solidFill>
            <a:prstDash val="solid"/>
          </a:ln>
        </p:spPr>
      </p:sp>
      <p:sp>
        <p:nvSpPr>
          <p:cNvPr id="19" name="Text 16"/>
          <p:cNvSpPr txBox="1"/>
          <p:nvPr/>
        </p:nvSpPr>
        <p:spPr>
          <a:xfrm>
            <a:off x="5062576" y="2907792"/>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Evaluate Consent State</a:t>
            </a:r>
            <a:endParaRPr lang="en-AU" sz="1100" dirty="0"/>
          </a:p>
        </p:txBody>
      </p:sp>
      <p:sp>
        <p:nvSpPr>
          <p:cNvPr id="20" name="Shape 17"/>
          <p:cNvSpPr/>
          <p:nvPr/>
        </p:nvSpPr>
        <p:spPr>
          <a:xfrm>
            <a:off x="7787488" y="2871216"/>
            <a:ext cx="2103120" cy="384048"/>
          </a:xfrm>
          <a:prstGeom prst="diamond">
            <a:avLst/>
          </a:prstGeom>
          <a:solidFill>
            <a:srgbClr val="FFF2CC"/>
          </a:solidFill>
          <a:ln w="19050">
            <a:solidFill>
              <a:srgbClr val="D6B656"/>
            </a:solidFill>
            <a:prstDash val="solid"/>
          </a:ln>
        </p:spPr>
      </p:sp>
      <p:sp>
        <p:nvSpPr>
          <p:cNvPr id="21" name="Text 18"/>
          <p:cNvSpPr txBox="1"/>
          <p:nvPr/>
        </p:nvSpPr>
        <p:spPr>
          <a:xfrm>
            <a:off x="8145018" y="2921142"/>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Consent Active?</a:t>
            </a:r>
            <a:endParaRPr lang="en-AU" sz="1050" dirty="0"/>
          </a:p>
        </p:txBody>
      </p:sp>
      <p:sp>
        <p:nvSpPr>
          <p:cNvPr id="22" name="Shape 19"/>
          <p:cNvSpPr/>
          <p:nvPr/>
        </p:nvSpPr>
        <p:spPr>
          <a:xfrm>
            <a:off x="7558888" y="3063240"/>
            <a:ext cx="228600" cy="0"/>
          </a:xfrm>
          <a:prstGeom prst="line">
            <a:avLst/>
          </a:prstGeom>
          <a:noFill/>
          <a:ln w="19050">
            <a:solidFill>
              <a:srgbClr val="A8842A"/>
            </a:solidFill>
            <a:prstDash val="solid"/>
            <a:tailEnd type="triangle"/>
          </a:ln>
        </p:spPr>
      </p:sp>
      <p:sp>
        <p:nvSpPr>
          <p:cNvPr id="23" name="Shape 20"/>
          <p:cNvSpPr/>
          <p:nvPr/>
        </p:nvSpPr>
        <p:spPr>
          <a:xfrm>
            <a:off x="8839048" y="2706624"/>
            <a:ext cx="0" cy="86868"/>
          </a:xfrm>
          <a:prstGeom prst="line">
            <a:avLst/>
          </a:prstGeom>
          <a:noFill/>
          <a:ln w="19050">
            <a:solidFill>
              <a:srgbClr val="A8842A"/>
            </a:solidFill>
            <a:prstDash val="solid"/>
          </a:ln>
        </p:spPr>
      </p:sp>
      <p:sp>
        <p:nvSpPr>
          <p:cNvPr id="24" name="Shape 21"/>
          <p:cNvSpPr/>
          <p:nvPr/>
        </p:nvSpPr>
        <p:spPr>
          <a:xfrm flipH="1">
            <a:off x="6278728" y="2793492"/>
            <a:ext cx="2560320" cy="0"/>
          </a:xfrm>
          <a:prstGeom prst="line">
            <a:avLst/>
          </a:prstGeom>
          <a:noFill/>
          <a:ln w="19050">
            <a:solidFill>
              <a:srgbClr val="A8842A"/>
            </a:solidFill>
            <a:prstDash val="solid"/>
          </a:ln>
        </p:spPr>
      </p:sp>
      <p:sp>
        <p:nvSpPr>
          <p:cNvPr id="25" name="Shape 22"/>
          <p:cNvSpPr/>
          <p:nvPr/>
        </p:nvSpPr>
        <p:spPr>
          <a:xfrm>
            <a:off x="6278728" y="2793492"/>
            <a:ext cx="0" cy="86868"/>
          </a:xfrm>
          <a:prstGeom prst="line">
            <a:avLst/>
          </a:prstGeom>
          <a:noFill/>
          <a:ln w="19050">
            <a:solidFill>
              <a:srgbClr val="A8842A"/>
            </a:solidFill>
            <a:prstDash val="solid"/>
            <a:tailEnd type="triangle"/>
          </a:ln>
        </p:spPr>
      </p:sp>
      <p:sp>
        <p:nvSpPr>
          <p:cNvPr id="26" name="Text 23"/>
          <p:cNvSpPr txBox="1"/>
          <p:nvPr/>
        </p:nvSpPr>
        <p:spPr>
          <a:xfrm>
            <a:off x="8893912" y="268833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27" name="Shape 24"/>
          <p:cNvSpPr/>
          <p:nvPr/>
        </p:nvSpPr>
        <p:spPr>
          <a:xfrm>
            <a:off x="4998568" y="3429000"/>
            <a:ext cx="2560320" cy="365760"/>
          </a:xfrm>
          <a:prstGeom prst="rect">
            <a:avLst/>
          </a:prstGeom>
          <a:solidFill>
            <a:srgbClr val="FFF2CC"/>
          </a:solidFill>
          <a:ln w="19050">
            <a:solidFill>
              <a:srgbClr val="D6B656"/>
            </a:solidFill>
            <a:prstDash val="solid"/>
          </a:ln>
        </p:spPr>
      </p:sp>
      <p:sp>
        <p:nvSpPr>
          <p:cNvPr id="28" name="Text 25"/>
          <p:cNvSpPr txBox="1"/>
          <p:nvPr/>
        </p:nvSpPr>
        <p:spPr>
          <a:xfrm>
            <a:off x="5062576" y="3456432"/>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Verify Multi-Party Authorisation</a:t>
            </a:r>
            <a:endParaRPr lang="en-AU" sz="1100" dirty="0"/>
          </a:p>
        </p:txBody>
      </p:sp>
      <p:sp>
        <p:nvSpPr>
          <p:cNvPr id="29" name="Shape 26"/>
          <p:cNvSpPr/>
          <p:nvPr/>
        </p:nvSpPr>
        <p:spPr>
          <a:xfrm>
            <a:off x="7787488" y="3419856"/>
            <a:ext cx="2103120" cy="384048"/>
          </a:xfrm>
          <a:prstGeom prst="diamond">
            <a:avLst/>
          </a:prstGeom>
          <a:solidFill>
            <a:srgbClr val="FFF2CC"/>
          </a:solidFill>
          <a:ln w="19050">
            <a:solidFill>
              <a:srgbClr val="D6B656"/>
            </a:solidFill>
            <a:prstDash val="solid"/>
          </a:ln>
        </p:spPr>
      </p:sp>
      <p:sp>
        <p:nvSpPr>
          <p:cNvPr id="30" name="Text 27"/>
          <p:cNvSpPr txBox="1"/>
          <p:nvPr/>
        </p:nvSpPr>
        <p:spPr>
          <a:xfrm>
            <a:off x="8145018" y="3469782"/>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Threshold Satisfied?</a:t>
            </a:r>
            <a:endParaRPr lang="en-AU" sz="1050" dirty="0"/>
          </a:p>
        </p:txBody>
      </p:sp>
      <p:sp>
        <p:nvSpPr>
          <p:cNvPr id="31" name="Shape 28"/>
          <p:cNvSpPr/>
          <p:nvPr/>
        </p:nvSpPr>
        <p:spPr>
          <a:xfrm>
            <a:off x="7558888" y="3611880"/>
            <a:ext cx="228600" cy="0"/>
          </a:xfrm>
          <a:prstGeom prst="line">
            <a:avLst/>
          </a:prstGeom>
          <a:noFill/>
          <a:ln w="19050">
            <a:solidFill>
              <a:srgbClr val="A8842A"/>
            </a:solidFill>
            <a:prstDash val="solid"/>
            <a:tailEnd type="triangle"/>
          </a:ln>
        </p:spPr>
      </p:sp>
      <p:sp>
        <p:nvSpPr>
          <p:cNvPr id="32" name="Shape 29"/>
          <p:cNvSpPr/>
          <p:nvPr/>
        </p:nvSpPr>
        <p:spPr>
          <a:xfrm>
            <a:off x="8839048" y="3255264"/>
            <a:ext cx="0" cy="86868"/>
          </a:xfrm>
          <a:prstGeom prst="line">
            <a:avLst/>
          </a:prstGeom>
          <a:noFill/>
          <a:ln w="19050">
            <a:solidFill>
              <a:srgbClr val="A8842A"/>
            </a:solidFill>
            <a:prstDash val="solid"/>
          </a:ln>
        </p:spPr>
      </p:sp>
      <p:sp>
        <p:nvSpPr>
          <p:cNvPr id="33" name="Shape 30"/>
          <p:cNvSpPr/>
          <p:nvPr/>
        </p:nvSpPr>
        <p:spPr>
          <a:xfrm flipH="1">
            <a:off x="6278728" y="3342132"/>
            <a:ext cx="2560320" cy="0"/>
          </a:xfrm>
          <a:prstGeom prst="line">
            <a:avLst/>
          </a:prstGeom>
          <a:noFill/>
          <a:ln w="19050">
            <a:solidFill>
              <a:srgbClr val="A8842A"/>
            </a:solidFill>
            <a:prstDash val="solid"/>
          </a:ln>
        </p:spPr>
      </p:sp>
      <p:sp>
        <p:nvSpPr>
          <p:cNvPr id="34" name="Shape 31"/>
          <p:cNvSpPr/>
          <p:nvPr/>
        </p:nvSpPr>
        <p:spPr>
          <a:xfrm>
            <a:off x="6278728" y="3342132"/>
            <a:ext cx="0" cy="86868"/>
          </a:xfrm>
          <a:prstGeom prst="line">
            <a:avLst/>
          </a:prstGeom>
          <a:noFill/>
          <a:ln w="19050">
            <a:solidFill>
              <a:srgbClr val="A8842A"/>
            </a:solidFill>
            <a:prstDash val="solid"/>
            <a:tailEnd type="triangle"/>
          </a:ln>
        </p:spPr>
      </p:sp>
      <p:sp>
        <p:nvSpPr>
          <p:cNvPr id="35" name="Text 32"/>
          <p:cNvSpPr txBox="1"/>
          <p:nvPr/>
        </p:nvSpPr>
        <p:spPr>
          <a:xfrm>
            <a:off x="8893912" y="323697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36" name="Shape 33"/>
          <p:cNvSpPr/>
          <p:nvPr/>
        </p:nvSpPr>
        <p:spPr>
          <a:xfrm>
            <a:off x="4998568" y="3977640"/>
            <a:ext cx="2560320" cy="365760"/>
          </a:xfrm>
          <a:prstGeom prst="rect">
            <a:avLst/>
          </a:prstGeom>
          <a:solidFill>
            <a:srgbClr val="FFF2CC"/>
          </a:solidFill>
          <a:ln w="19050">
            <a:solidFill>
              <a:srgbClr val="D6B656"/>
            </a:solidFill>
            <a:prstDash val="solid"/>
          </a:ln>
        </p:spPr>
      </p:sp>
      <p:sp>
        <p:nvSpPr>
          <p:cNvPr id="37" name="Text 34"/>
          <p:cNvSpPr txBox="1"/>
          <p:nvPr/>
        </p:nvSpPr>
        <p:spPr>
          <a:xfrm>
            <a:off x="5062576" y="4005072"/>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Evaluate Requested Purpose</a:t>
            </a:r>
            <a:endParaRPr lang="en-AU" sz="1100" dirty="0"/>
          </a:p>
        </p:txBody>
      </p:sp>
      <p:sp>
        <p:nvSpPr>
          <p:cNvPr id="38" name="Shape 35"/>
          <p:cNvSpPr/>
          <p:nvPr/>
        </p:nvSpPr>
        <p:spPr>
          <a:xfrm>
            <a:off x="7787488" y="3968496"/>
            <a:ext cx="2103120" cy="384048"/>
          </a:xfrm>
          <a:prstGeom prst="diamond">
            <a:avLst/>
          </a:prstGeom>
          <a:solidFill>
            <a:srgbClr val="FFF2CC"/>
          </a:solidFill>
          <a:ln w="19050">
            <a:solidFill>
              <a:srgbClr val="D6B656"/>
            </a:solidFill>
            <a:prstDash val="solid"/>
          </a:ln>
        </p:spPr>
      </p:sp>
      <p:sp>
        <p:nvSpPr>
          <p:cNvPr id="39" name="Text 36"/>
          <p:cNvSpPr txBox="1"/>
          <p:nvPr/>
        </p:nvSpPr>
        <p:spPr>
          <a:xfrm>
            <a:off x="8145018" y="4018422"/>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Purpose Valid?</a:t>
            </a:r>
            <a:endParaRPr lang="en-AU" sz="1050" dirty="0"/>
          </a:p>
        </p:txBody>
      </p:sp>
      <p:sp>
        <p:nvSpPr>
          <p:cNvPr id="40" name="Shape 37"/>
          <p:cNvSpPr/>
          <p:nvPr/>
        </p:nvSpPr>
        <p:spPr>
          <a:xfrm>
            <a:off x="7558888" y="4160520"/>
            <a:ext cx="228600" cy="0"/>
          </a:xfrm>
          <a:prstGeom prst="line">
            <a:avLst/>
          </a:prstGeom>
          <a:noFill/>
          <a:ln w="19050">
            <a:solidFill>
              <a:srgbClr val="A8842A"/>
            </a:solidFill>
            <a:prstDash val="solid"/>
            <a:tailEnd type="triangle"/>
          </a:ln>
        </p:spPr>
      </p:sp>
      <p:sp>
        <p:nvSpPr>
          <p:cNvPr id="41" name="Shape 38"/>
          <p:cNvSpPr/>
          <p:nvPr/>
        </p:nvSpPr>
        <p:spPr>
          <a:xfrm>
            <a:off x="8839048" y="3803904"/>
            <a:ext cx="0" cy="86868"/>
          </a:xfrm>
          <a:prstGeom prst="line">
            <a:avLst/>
          </a:prstGeom>
          <a:noFill/>
          <a:ln w="19050">
            <a:solidFill>
              <a:srgbClr val="A8842A"/>
            </a:solidFill>
            <a:prstDash val="solid"/>
          </a:ln>
        </p:spPr>
      </p:sp>
      <p:sp>
        <p:nvSpPr>
          <p:cNvPr id="42" name="Shape 39"/>
          <p:cNvSpPr/>
          <p:nvPr/>
        </p:nvSpPr>
        <p:spPr>
          <a:xfrm flipH="1">
            <a:off x="6278728" y="3890772"/>
            <a:ext cx="2560320" cy="0"/>
          </a:xfrm>
          <a:prstGeom prst="line">
            <a:avLst/>
          </a:prstGeom>
          <a:noFill/>
          <a:ln w="19050">
            <a:solidFill>
              <a:srgbClr val="A8842A"/>
            </a:solidFill>
            <a:prstDash val="solid"/>
          </a:ln>
        </p:spPr>
      </p:sp>
      <p:sp>
        <p:nvSpPr>
          <p:cNvPr id="43" name="Shape 40"/>
          <p:cNvSpPr/>
          <p:nvPr/>
        </p:nvSpPr>
        <p:spPr>
          <a:xfrm>
            <a:off x="6278728" y="3890772"/>
            <a:ext cx="0" cy="86868"/>
          </a:xfrm>
          <a:prstGeom prst="line">
            <a:avLst/>
          </a:prstGeom>
          <a:noFill/>
          <a:ln w="19050">
            <a:solidFill>
              <a:srgbClr val="A8842A"/>
            </a:solidFill>
            <a:prstDash val="solid"/>
            <a:tailEnd type="triangle"/>
          </a:ln>
        </p:spPr>
      </p:sp>
      <p:sp>
        <p:nvSpPr>
          <p:cNvPr id="44" name="Text 41"/>
          <p:cNvSpPr txBox="1"/>
          <p:nvPr/>
        </p:nvSpPr>
        <p:spPr>
          <a:xfrm>
            <a:off x="8893912" y="378561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45" name="Shape 42"/>
          <p:cNvSpPr/>
          <p:nvPr/>
        </p:nvSpPr>
        <p:spPr>
          <a:xfrm>
            <a:off x="4998568" y="4526280"/>
            <a:ext cx="2560320" cy="365760"/>
          </a:xfrm>
          <a:prstGeom prst="rect">
            <a:avLst/>
          </a:prstGeom>
          <a:solidFill>
            <a:srgbClr val="FFF2CC"/>
          </a:solidFill>
          <a:ln w="19050">
            <a:solidFill>
              <a:srgbClr val="D6B656"/>
            </a:solidFill>
            <a:prstDash val="solid"/>
          </a:ln>
        </p:spPr>
      </p:sp>
      <p:sp>
        <p:nvSpPr>
          <p:cNvPr id="46" name="Text 43"/>
          <p:cNvSpPr txBox="1"/>
          <p:nvPr/>
        </p:nvSpPr>
        <p:spPr>
          <a:xfrm>
            <a:off x="5062576" y="4553712"/>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Evaluate Requested Data Scope</a:t>
            </a:r>
            <a:endParaRPr lang="en-AU" sz="1100" dirty="0"/>
          </a:p>
        </p:txBody>
      </p:sp>
      <p:sp>
        <p:nvSpPr>
          <p:cNvPr id="47" name="Shape 44"/>
          <p:cNvSpPr/>
          <p:nvPr/>
        </p:nvSpPr>
        <p:spPr>
          <a:xfrm>
            <a:off x="7787488" y="4517136"/>
            <a:ext cx="2103120" cy="384048"/>
          </a:xfrm>
          <a:prstGeom prst="diamond">
            <a:avLst/>
          </a:prstGeom>
          <a:solidFill>
            <a:srgbClr val="FFF2CC"/>
          </a:solidFill>
          <a:ln w="19050">
            <a:solidFill>
              <a:srgbClr val="D6B656"/>
            </a:solidFill>
            <a:prstDash val="solid"/>
          </a:ln>
        </p:spPr>
      </p:sp>
      <p:sp>
        <p:nvSpPr>
          <p:cNvPr id="48" name="Text 45"/>
          <p:cNvSpPr txBox="1"/>
          <p:nvPr/>
        </p:nvSpPr>
        <p:spPr>
          <a:xfrm>
            <a:off x="8145018" y="4567062"/>
            <a:ext cx="1388059" cy="2841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Scope Within Consent?</a:t>
            </a:r>
            <a:endParaRPr lang="en-AU" sz="1050" dirty="0"/>
          </a:p>
        </p:txBody>
      </p:sp>
      <p:sp>
        <p:nvSpPr>
          <p:cNvPr id="49" name="Shape 46"/>
          <p:cNvSpPr/>
          <p:nvPr/>
        </p:nvSpPr>
        <p:spPr>
          <a:xfrm>
            <a:off x="7558888" y="4709160"/>
            <a:ext cx="228600" cy="0"/>
          </a:xfrm>
          <a:prstGeom prst="line">
            <a:avLst/>
          </a:prstGeom>
          <a:noFill/>
          <a:ln w="19050">
            <a:solidFill>
              <a:srgbClr val="A8842A"/>
            </a:solidFill>
            <a:prstDash val="solid"/>
            <a:tailEnd type="triangle"/>
          </a:ln>
        </p:spPr>
      </p:sp>
      <p:sp>
        <p:nvSpPr>
          <p:cNvPr id="50" name="Shape 47"/>
          <p:cNvSpPr/>
          <p:nvPr/>
        </p:nvSpPr>
        <p:spPr>
          <a:xfrm>
            <a:off x="8839048" y="4352544"/>
            <a:ext cx="0" cy="86868"/>
          </a:xfrm>
          <a:prstGeom prst="line">
            <a:avLst/>
          </a:prstGeom>
          <a:noFill/>
          <a:ln w="19050">
            <a:solidFill>
              <a:srgbClr val="A8842A"/>
            </a:solidFill>
            <a:prstDash val="solid"/>
          </a:ln>
        </p:spPr>
      </p:sp>
      <p:sp>
        <p:nvSpPr>
          <p:cNvPr id="51" name="Shape 48"/>
          <p:cNvSpPr/>
          <p:nvPr/>
        </p:nvSpPr>
        <p:spPr>
          <a:xfrm flipH="1">
            <a:off x="6278728" y="4439412"/>
            <a:ext cx="2560320" cy="0"/>
          </a:xfrm>
          <a:prstGeom prst="line">
            <a:avLst/>
          </a:prstGeom>
          <a:noFill/>
          <a:ln w="19050">
            <a:solidFill>
              <a:srgbClr val="A8842A"/>
            </a:solidFill>
            <a:prstDash val="solid"/>
          </a:ln>
        </p:spPr>
      </p:sp>
      <p:sp>
        <p:nvSpPr>
          <p:cNvPr id="52" name="Shape 49"/>
          <p:cNvSpPr/>
          <p:nvPr/>
        </p:nvSpPr>
        <p:spPr>
          <a:xfrm>
            <a:off x="6278728" y="4439412"/>
            <a:ext cx="0" cy="86868"/>
          </a:xfrm>
          <a:prstGeom prst="line">
            <a:avLst/>
          </a:prstGeom>
          <a:noFill/>
          <a:ln w="19050">
            <a:solidFill>
              <a:srgbClr val="A8842A"/>
            </a:solidFill>
            <a:prstDash val="solid"/>
            <a:tailEnd type="triangle"/>
          </a:ln>
        </p:spPr>
      </p:sp>
      <p:sp>
        <p:nvSpPr>
          <p:cNvPr id="53" name="Text 50"/>
          <p:cNvSpPr txBox="1"/>
          <p:nvPr/>
        </p:nvSpPr>
        <p:spPr>
          <a:xfrm>
            <a:off x="8893912" y="433425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54" name="Shape 51"/>
          <p:cNvSpPr/>
          <p:nvPr/>
        </p:nvSpPr>
        <p:spPr>
          <a:xfrm>
            <a:off x="6941668" y="2121408"/>
            <a:ext cx="0" cy="82296"/>
          </a:xfrm>
          <a:prstGeom prst="line">
            <a:avLst/>
          </a:prstGeom>
          <a:noFill/>
          <a:ln w="19050">
            <a:solidFill>
              <a:srgbClr val="A8842A"/>
            </a:solidFill>
            <a:prstDash val="solid"/>
          </a:ln>
        </p:spPr>
      </p:sp>
      <p:sp>
        <p:nvSpPr>
          <p:cNvPr id="55" name="Shape 52"/>
          <p:cNvSpPr/>
          <p:nvPr/>
        </p:nvSpPr>
        <p:spPr>
          <a:xfrm flipH="1">
            <a:off x="6278728" y="2203704"/>
            <a:ext cx="662940" cy="0"/>
          </a:xfrm>
          <a:prstGeom prst="line">
            <a:avLst/>
          </a:prstGeom>
          <a:noFill/>
          <a:ln w="19050">
            <a:solidFill>
              <a:srgbClr val="A8842A"/>
            </a:solidFill>
            <a:prstDash val="solid"/>
          </a:ln>
        </p:spPr>
      </p:sp>
      <p:sp>
        <p:nvSpPr>
          <p:cNvPr id="56" name="Shape 53"/>
          <p:cNvSpPr/>
          <p:nvPr/>
        </p:nvSpPr>
        <p:spPr>
          <a:xfrm>
            <a:off x="6278728" y="2203704"/>
            <a:ext cx="0" cy="109728"/>
          </a:xfrm>
          <a:prstGeom prst="line">
            <a:avLst/>
          </a:prstGeom>
          <a:noFill/>
          <a:ln w="19050">
            <a:solidFill>
              <a:srgbClr val="A8842A"/>
            </a:solidFill>
            <a:prstDash val="solid"/>
            <a:tailEnd type="triangle"/>
          </a:ln>
        </p:spPr>
      </p:sp>
      <p:sp>
        <p:nvSpPr>
          <p:cNvPr id="57" name="Shape 54"/>
          <p:cNvSpPr/>
          <p:nvPr/>
        </p:nvSpPr>
        <p:spPr>
          <a:xfrm>
            <a:off x="4998568" y="5074920"/>
            <a:ext cx="2560320" cy="365760"/>
          </a:xfrm>
          <a:prstGeom prst="rect">
            <a:avLst/>
          </a:prstGeom>
          <a:solidFill>
            <a:srgbClr val="FFF2CC"/>
          </a:solidFill>
          <a:ln w="19050">
            <a:solidFill>
              <a:srgbClr val="D6B656"/>
            </a:solidFill>
            <a:prstDash val="solid"/>
          </a:ln>
        </p:spPr>
      </p:sp>
      <p:sp>
        <p:nvSpPr>
          <p:cNvPr id="58" name="Text 55"/>
          <p:cNvSpPr txBox="1"/>
          <p:nvPr/>
        </p:nvSpPr>
        <p:spPr>
          <a:xfrm>
            <a:off x="5062576" y="5102352"/>
            <a:ext cx="2432304" cy="310896"/>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Generate or Verify Access Evidence</a:t>
            </a:r>
            <a:endParaRPr lang="en-AU" sz="1100" dirty="0"/>
          </a:p>
        </p:txBody>
      </p:sp>
      <p:sp>
        <p:nvSpPr>
          <p:cNvPr id="59" name="Shape 56"/>
          <p:cNvSpPr/>
          <p:nvPr/>
        </p:nvSpPr>
        <p:spPr>
          <a:xfrm>
            <a:off x="8839048" y="4901184"/>
            <a:ext cx="0" cy="86868"/>
          </a:xfrm>
          <a:prstGeom prst="line">
            <a:avLst/>
          </a:prstGeom>
          <a:noFill/>
          <a:ln w="19050">
            <a:solidFill>
              <a:srgbClr val="A8842A"/>
            </a:solidFill>
            <a:prstDash val="solid"/>
          </a:ln>
        </p:spPr>
      </p:sp>
      <p:sp>
        <p:nvSpPr>
          <p:cNvPr id="60" name="Shape 57"/>
          <p:cNvSpPr/>
          <p:nvPr/>
        </p:nvSpPr>
        <p:spPr>
          <a:xfrm flipH="1">
            <a:off x="6278728" y="4988052"/>
            <a:ext cx="2560320" cy="0"/>
          </a:xfrm>
          <a:prstGeom prst="line">
            <a:avLst/>
          </a:prstGeom>
          <a:noFill/>
          <a:ln w="19050">
            <a:solidFill>
              <a:srgbClr val="A8842A"/>
            </a:solidFill>
            <a:prstDash val="solid"/>
          </a:ln>
        </p:spPr>
      </p:sp>
      <p:sp>
        <p:nvSpPr>
          <p:cNvPr id="61" name="Shape 58"/>
          <p:cNvSpPr/>
          <p:nvPr/>
        </p:nvSpPr>
        <p:spPr>
          <a:xfrm>
            <a:off x="6278728" y="4988052"/>
            <a:ext cx="0" cy="86868"/>
          </a:xfrm>
          <a:prstGeom prst="line">
            <a:avLst/>
          </a:prstGeom>
          <a:noFill/>
          <a:ln w="19050">
            <a:solidFill>
              <a:srgbClr val="A8842A"/>
            </a:solidFill>
            <a:prstDash val="solid"/>
            <a:tailEnd type="triangle"/>
          </a:ln>
        </p:spPr>
      </p:sp>
      <p:sp>
        <p:nvSpPr>
          <p:cNvPr id="62" name="Text 59"/>
          <p:cNvSpPr txBox="1"/>
          <p:nvPr/>
        </p:nvSpPr>
        <p:spPr>
          <a:xfrm>
            <a:off x="8893912" y="488289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63" name="Shape 60"/>
          <p:cNvSpPr/>
          <p:nvPr/>
        </p:nvSpPr>
        <p:spPr>
          <a:xfrm>
            <a:off x="4998568" y="5559552"/>
            <a:ext cx="1188720" cy="365760"/>
          </a:xfrm>
          <a:prstGeom prst="rect">
            <a:avLst/>
          </a:prstGeom>
          <a:solidFill>
            <a:srgbClr val="FFF2CC"/>
          </a:solidFill>
          <a:ln w="19050">
            <a:solidFill>
              <a:srgbClr val="D6B656"/>
            </a:solidFill>
            <a:prstDash val="solid"/>
          </a:ln>
        </p:spPr>
      </p:sp>
      <p:sp>
        <p:nvSpPr>
          <p:cNvPr id="64" name="Text 61"/>
          <p:cNvSpPr txBox="1"/>
          <p:nvPr/>
        </p:nvSpPr>
        <p:spPr>
          <a:xfrm>
            <a:off x="5062576" y="5586984"/>
            <a:ext cx="10607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Grant Data Access</a:t>
            </a:r>
            <a:endParaRPr lang="en-AU" sz="1050" dirty="0"/>
          </a:p>
        </p:txBody>
      </p:sp>
      <p:sp>
        <p:nvSpPr>
          <p:cNvPr id="65" name="Shape 62"/>
          <p:cNvSpPr/>
          <p:nvPr/>
        </p:nvSpPr>
        <p:spPr>
          <a:xfrm>
            <a:off x="6324448" y="5559552"/>
            <a:ext cx="1234440" cy="365760"/>
          </a:xfrm>
          <a:prstGeom prst="roundRect">
            <a:avLst>
              <a:gd name="adj" fmla="val 30000"/>
            </a:avLst>
          </a:prstGeom>
          <a:solidFill>
            <a:srgbClr val="FFF2CC"/>
          </a:solidFill>
          <a:ln w="19050">
            <a:solidFill>
              <a:srgbClr val="D6B656"/>
            </a:solidFill>
            <a:prstDash val="solid"/>
          </a:ln>
        </p:spPr>
      </p:sp>
      <p:sp>
        <p:nvSpPr>
          <p:cNvPr id="66" name="Text 63"/>
          <p:cNvSpPr txBox="1"/>
          <p:nvPr/>
        </p:nvSpPr>
        <p:spPr>
          <a:xfrm>
            <a:off x="6388456" y="5586984"/>
            <a:ext cx="110642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Record Granted Access</a:t>
            </a:r>
            <a:endParaRPr lang="en-AU" sz="1050" dirty="0"/>
          </a:p>
        </p:txBody>
      </p:sp>
      <p:sp>
        <p:nvSpPr>
          <p:cNvPr id="67" name="Shape 64"/>
          <p:cNvSpPr/>
          <p:nvPr/>
        </p:nvSpPr>
        <p:spPr>
          <a:xfrm>
            <a:off x="6278728" y="5440680"/>
            <a:ext cx="0" cy="9144"/>
          </a:xfrm>
          <a:prstGeom prst="line">
            <a:avLst/>
          </a:prstGeom>
          <a:noFill/>
          <a:ln w="19050">
            <a:solidFill>
              <a:srgbClr val="A8842A"/>
            </a:solidFill>
            <a:prstDash val="solid"/>
          </a:ln>
        </p:spPr>
      </p:sp>
      <p:sp>
        <p:nvSpPr>
          <p:cNvPr id="68" name="Shape 65"/>
          <p:cNvSpPr/>
          <p:nvPr/>
        </p:nvSpPr>
        <p:spPr>
          <a:xfrm flipH="1">
            <a:off x="5592928" y="5449824"/>
            <a:ext cx="685800" cy="0"/>
          </a:xfrm>
          <a:prstGeom prst="line">
            <a:avLst/>
          </a:prstGeom>
          <a:noFill/>
          <a:ln w="19050">
            <a:solidFill>
              <a:srgbClr val="A8842A"/>
            </a:solidFill>
            <a:prstDash val="solid"/>
          </a:ln>
        </p:spPr>
      </p:sp>
      <p:sp>
        <p:nvSpPr>
          <p:cNvPr id="69" name="Shape 66"/>
          <p:cNvSpPr/>
          <p:nvPr/>
        </p:nvSpPr>
        <p:spPr>
          <a:xfrm>
            <a:off x="5592928" y="5449824"/>
            <a:ext cx="0" cy="109728"/>
          </a:xfrm>
          <a:prstGeom prst="line">
            <a:avLst/>
          </a:prstGeom>
          <a:noFill/>
          <a:ln w="19050">
            <a:solidFill>
              <a:srgbClr val="A8842A"/>
            </a:solidFill>
            <a:prstDash val="solid"/>
            <a:tailEnd type="triangle"/>
          </a:ln>
        </p:spPr>
      </p:sp>
      <p:sp>
        <p:nvSpPr>
          <p:cNvPr id="70" name="Shape 67"/>
          <p:cNvSpPr/>
          <p:nvPr/>
        </p:nvSpPr>
        <p:spPr>
          <a:xfrm>
            <a:off x="6187288" y="5742432"/>
            <a:ext cx="137160" cy="0"/>
          </a:xfrm>
          <a:prstGeom prst="line">
            <a:avLst/>
          </a:prstGeom>
          <a:noFill/>
          <a:ln w="19050">
            <a:solidFill>
              <a:srgbClr val="A8842A"/>
            </a:solidFill>
            <a:prstDash val="solid"/>
            <a:tailEnd type="triangle"/>
          </a:ln>
        </p:spPr>
      </p:sp>
      <p:sp>
        <p:nvSpPr>
          <p:cNvPr id="71" name="Shape 68"/>
          <p:cNvSpPr/>
          <p:nvPr/>
        </p:nvSpPr>
        <p:spPr>
          <a:xfrm>
            <a:off x="10073488" y="5074920"/>
            <a:ext cx="1371600" cy="365760"/>
          </a:xfrm>
          <a:prstGeom prst="rect">
            <a:avLst/>
          </a:prstGeom>
          <a:solidFill>
            <a:srgbClr val="FFF2CC"/>
          </a:solidFill>
          <a:ln w="19050">
            <a:solidFill>
              <a:srgbClr val="D6B656"/>
            </a:solidFill>
            <a:prstDash val="solid"/>
          </a:ln>
        </p:spPr>
      </p:sp>
      <p:sp>
        <p:nvSpPr>
          <p:cNvPr id="72" name="Text 69"/>
          <p:cNvSpPr txBox="1"/>
          <p:nvPr/>
        </p:nvSpPr>
        <p:spPr>
          <a:xfrm>
            <a:off x="10137496" y="5102352"/>
            <a:ext cx="124358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Deny Access</a:t>
            </a:r>
            <a:endParaRPr lang="en-AU" sz="1050" dirty="0"/>
          </a:p>
        </p:txBody>
      </p:sp>
      <p:sp>
        <p:nvSpPr>
          <p:cNvPr id="73" name="Shape 70"/>
          <p:cNvSpPr/>
          <p:nvPr/>
        </p:nvSpPr>
        <p:spPr>
          <a:xfrm>
            <a:off x="10073488" y="5559552"/>
            <a:ext cx="1371600" cy="365760"/>
          </a:xfrm>
          <a:prstGeom prst="roundRect">
            <a:avLst>
              <a:gd name="adj" fmla="val 30000"/>
            </a:avLst>
          </a:prstGeom>
          <a:solidFill>
            <a:srgbClr val="FFF2CC"/>
          </a:solidFill>
          <a:ln w="19050">
            <a:solidFill>
              <a:srgbClr val="D6B656"/>
            </a:solidFill>
            <a:prstDash val="solid"/>
          </a:ln>
        </p:spPr>
      </p:sp>
      <p:sp>
        <p:nvSpPr>
          <p:cNvPr id="74" name="Text 71"/>
          <p:cNvSpPr txBox="1"/>
          <p:nvPr/>
        </p:nvSpPr>
        <p:spPr>
          <a:xfrm>
            <a:off x="10137496" y="5586984"/>
            <a:ext cx="124358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Record Denied Access</a:t>
            </a:r>
            <a:endParaRPr lang="en-AU" sz="1050" dirty="0"/>
          </a:p>
        </p:txBody>
      </p:sp>
      <p:sp>
        <p:nvSpPr>
          <p:cNvPr id="75" name="Shape 72"/>
          <p:cNvSpPr/>
          <p:nvPr/>
        </p:nvSpPr>
        <p:spPr>
          <a:xfrm>
            <a:off x="10759288" y="5440680"/>
            <a:ext cx="0" cy="118872"/>
          </a:xfrm>
          <a:prstGeom prst="line">
            <a:avLst/>
          </a:prstGeom>
          <a:noFill/>
          <a:ln w="19050">
            <a:solidFill>
              <a:srgbClr val="A8842A"/>
            </a:solidFill>
            <a:prstDash val="solid"/>
            <a:tailEnd type="triangle"/>
          </a:ln>
        </p:spPr>
      </p:sp>
      <p:sp>
        <p:nvSpPr>
          <p:cNvPr id="76" name="Shape 73"/>
          <p:cNvSpPr/>
          <p:nvPr/>
        </p:nvSpPr>
        <p:spPr>
          <a:xfrm>
            <a:off x="9890608" y="2514600"/>
            <a:ext cx="1463040" cy="0"/>
          </a:xfrm>
          <a:prstGeom prst="line">
            <a:avLst/>
          </a:prstGeom>
          <a:noFill/>
          <a:ln w="19050">
            <a:solidFill>
              <a:srgbClr val="A8842A"/>
            </a:solidFill>
            <a:prstDash val="solid"/>
          </a:ln>
        </p:spPr>
      </p:sp>
      <p:sp>
        <p:nvSpPr>
          <p:cNvPr id="77" name="Shape 74"/>
          <p:cNvSpPr/>
          <p:nvPr/>
        </p:nvSpPr>
        <p:spPr>
          <a:xfrm>
            <a:off x="11353648" y="2514600"/>
            <a:ext cx="0" cy="2560320"/>
          </a:xfrm>
          <a:prstGeom prst="line">
            <a:avLst/>
          </a:prstGeom>
          <a:noFill/>
          <a:ln w="19050">
            <a:solidFill>
              <a:srgbClr val="A8842A"/>
            </a:solidFill>
            <a:prstDash val="solid"/>
            <a:tailEnd type="triangle"/>
          </a:ln>
        </p:spPr>
      </p:sp>
      <p:sp>
        <p:nvSpPr>
          <p:cNvPr id="78" name="Text 75"/>
          <p:cNvSpPr txBox="1"/>
          <p:nvPr/>
        </p:nvSpPr>
        <p:spPr>
          <a:xfrm>
            <a:off x="9927184" y="233172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79" name="Shape 76"/>
          <p:cNvSpPr/>
          <p:nvPr/>
        </p:nvSpPr>
        <p:spPr>
          <a:xfrm>
            <a:off x="9890608" y="3063240"/>
            <a:ext cx="1234440" cy="0"/>
          </a:xfrm>
          <a:prstGeom prst="line">
            <a:avLst/>
          </a:prstGeom>
          <a:noFill/>
          <a:ln w="19050">
            <a:solidFill>
              <a:srgbClr val="A8842A"/>
            </a:solidFill>
            <a:prstDash val="solid"/>
          </a:ln>
        </p:spPr>
      </p:sp>
      <p:sp>
        <p:nvSpPr>
          <p:cNvPr id="80" name="Shape 77"/>
          <p:cNvSpPr/>
          <p:nvPr/>
        </p:nvSpPr>
        <p:spPr>
          <a:xfrm>
            <a:off x="11125048" y="3063240"/>
            <a:ext cx="0" cy="2011680"/>
          </a:xfrm>
          <a:prstGeom prst="line">
            <a:avLst/>
          </a:prstGeom>
          <a:noFill/>
          <a:ln w="19050">
            <a:solidFill>
              <a:srgbClr val="A8842A"/>
            </a:solidFill>
            <a:prstDash val="solid"/>
            <a:tailEnd type="triangle"/>
          </a:ln>
        </p:spPr>
      </p:sp>
      <p:sp>
        <p:nvSpPr>
          <p:cNvPr id="81" name="Text 78"/>
          <p:cNvSpPr txBox="1"/>
          <p:nvPr/>
        </p:nvSpPr>
        <p:spPr>
          <a:xfrm>
            <a:off x="9927184" y="288036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82" name="Shape 79"/>
          <p:cNvSpPr/>
          <p:nvPr/>
        </p:nvSpPr>
        <p:spPr>
          <a:xfrm>
            <a:off x="9890608" y="3611880"/>
            <a:ext cx="1005840" cy="0"/>
          </a:xfrm>
          <a:prstGeom prst="line">
            <a:avLst/>
          </a:prstGeom>
          <a:noFill/>
          <a:ln w="19050">
            <a:solidFill>
              <a:srgbClr val="A8842A"/>
            </a:solidFill>
            <a:prstDash val="solid"/>
          </a:ln>
        </p:spPr>
      </p:sp>
      <p:sp>
        <p:nvSpPr>
          <p:cNvPr id="83" name="Shape 80"/>
          <p:cNvSpPr/>
          <p:nvPr/>
        </p:nvSpPr>
        <p:spPr>
          <a:xfrm>
            <a:off x="10896448" y="3611880"/>
            <a:ext cx="0" cy="1463040"/>
          </a:xfrm>
          <a:prstGeom prst="line">
            <a:avLst/>
          </a:prstGeom>
          <a:noFill/>
          <a:ln w="19050">
            <a:solidFill>
              <a:srgbClr val="A8842A"/>
            </a:solidFill>
            <a:prstDash val="solid"/>
            <a:tailEnd type="triangle"/>
          </a:ln>
        </p:spPr>
      </p:sp>
      <p:sp>
        <p:nvSpPr>
          <p:cNvPr id="84" name="Text 81"/>
          <p:cNvSpPr txBox="1"/>
          <p:nvPr/>
        </p:nvSpPr>
        <p:spPr>
          <a:xfrm>
            <a:off x="9927184" y="342900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85" name="Shape 82"/>
          <p:cNvSpPr/>
          <p:nvPr/>
        </p:nvSpPr>
        <p:spPr>
          <a:xfrm>
            <a:off x="9890608" y="4160520"/>
            <a:ext cx="777240" cy="0"/>
          </a:xfrm>
          <a:prstGeom prst="line">
            <a:avLst/>
          </a:prstGeom>
          <a:noFill/>
          <a:ln w="19050">
            <a:solidFill>
              <a:srgbClr val="A8842A"/>
            </a:solidFill>
            <a:prstDash val="solid"/>
          </a:ln>
        </p:spPr>
      </p:sp>
      <p:sp>
        <p:nvSpPr>
          <p:cNvPr id="86" name="Shape 83"/>
          <p:cNvSpPr/>
          <p:nvPr/>
        </p:nvSpPr>
        <p:spPr>
          <a:xfrm>
            <a:off x="10667848" y="4160520"/>
            <a:ext cx="0" cy="914400"/>
          </a:xfrm>
          <a:prstGeom prst="line">
            <a:avLst/>
          </a:prstGeom>
          <a:noFill/>
          <a:ln w="19050">
            <a:solidFill>
              <a:srgbClr val="A8842A"/>
            </a:solidFill>
            <a:prstDash val="solid"/>
            <a:tailEnd type="triangle"/>
          </a:ln>
        </p:spPr>
      </p:sp>
      <p:sp>
        <p:nvSpPr>
          <p:cNvPr id="87" name="Text 84"/>
          <p:cNvSpPr txBox="1"/>
          <p:nvPr/>
        </p:nvSpPr>
        <p:spPr>
          <a:xfrm>
            <a:off x="9927184" y="397764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88" name="Shape 85"/>
          <p:cNvSpPr/>
          <p:nvPr/>
        </p:nvSpPr>
        <p:spPr>
          <a:xfrm>
            <a:off x="9890608" y="4709160"/>
            <a:ext cx="548640" cy="0"/>
          </a:xfrm>
          <a:prstGeom prst="line">
            <a:avLst/>
          </a:prstGeom>
          <a:noFill/>
          <a:ln w="19050">
            <a:solidFill>
              <a:srgbClr val="A8842A"/>
            </a:solidFill>
            <a:prstDash val="solid"/>
          </a:ln>
        </p:spPr>
      </p:sp>
      <p:sp>
        <p:nvSpPr>
          <p:cNvPr id="89" name="Shape 86"/>
          <p:cNvSpPr/>
          <p:nvPr/>
        </p:nvSpPr>
        <p:spPr>
          <a:xfrm>
            <a:off x="10439248" y="4709160"/>
            <a:ext cx="0" cy="365760"/>
          </a:xfrm>
          <a:prstGeom prst="line">
            <a:avLst/>
          </a:prstGeom>
          <a:noFill/>
          <a:ln w="19050">
            <a:solidFill>
              <a:srgbClr val="A8842A"/>
            </a:solidFill>
            <a:prstDash val="solid"/>
            <a:tailEnd type="triangle"/>
          </a:ln>
        </p:spPr>
      </p:sp>
      <p:sp>
        <p:nvSpPr>
          <p:cNvPr id="90" name="Text 87"/>
          <p:cNvSpPr txBox="1"/>
          <p:nvPr/>
        </p:nvSpPr>
        <p:spPr>
          <a:xfrm>
            <a:off x="9927184" y="452628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91" name="Text 88"/>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6.4: RO4 workflow for policy- and context-aware access control</a:t>
            </a:r>
            <a:endParaRPr lang="en-AU" sz="1050" dirty="0"/>
          </a:p>
        </p:txBody>
      </p:sp>
      <p:sp>
        <p:nvSpPr>
          <p:cNvPr id="92" name="Shape 89"/>
          <p:cNvSpPr/>
          <p:nvPr/>
        </p:nvSpPr>
        <p:spPr>
          <a:xfrm>
            <a:off x="548640" y="1664208"/>
            <a:ext cx="384048" cy="384048"/>
          </a:xfrm>
          <a:prstGeom prst="ellipse">
            <a:avLst/>
          </a:prstGeom>
          <a:solidFill>
            <a:srgbClr val="13707B"/>
          </a:solidFill>
          <a:ln w="12700">
            <a:solidFill>
              <a:srgbClr val="13707B"/>
            </a:solidFill>
            <a:prstDash val="solid"/>
          </a:ln>
        </p:spPr>
      </p:sp>
      <p:pic>
        <p:nvPicPr>
          <p:cNvPr id="93"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94" name="Text 90"/>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Ordered checks</a:t>
            </a:r>
            <a:endParaRPr lang="en-AU" sz="1500" dirty="0"/>
          </a:p>
        </p:txBody>
      </p:sp>
      <p:sp>
        <p:nvSpPr>
          <p:cNvPr id="95" name="Text 91"/>
          <p:cNvSpPr txBox="1"/>
          <p:nvPr/>
        </p:nvSpPr>
        <p:spPr>
          <a:xfrm>
            <a:off x="1115568" y="197510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I</a:t>
            </a:r>
            <a:r>
              <a:rPr lang="en-AU" sz="1250" dirty="0">
                <a:solidFill>
                  <a:srgbClr val="1C2B31"/>
                </a:solidFill>
                <a:latin typeface="Calibri" pitchFamily="34" charset="0"/>
                <a:ea typeface="Calibri" pitchFamily="34" charset="-122"/>
                <a:cs typeface="Calibri" pitchFamily="34" charset="-120"/>
              </a:rPr>
              <a:t>(u), active consent, |</a:t>
            </a:r>
            <a:r>
              <a:rPr lang="en-AU" sz="1250" dirty="0">
                <a:solidFill>
                  <a:srgbClr val="1C2B31"/>
                </a:solidFill>
                <a:latin typeface="Calibri" pitchFamily="34" charset="0"/>
                <a:ea typeface="Calibri" pitchFamily="34" charset="-122"/>
                <a:cs typeface="Calibri" pitchFamily="34" charset="-120"/>
              </a:rPr>
              <a:t>A</a:t>
            </a:r>
            <a:r>
              <a:rPr lang="en-AU" sz="1480" baseline="-25000" dirty="0">
                <a:solidFill>
                  <a:srgbClr val="1C2B31"/>
                </a:solidFill>
                <a:latin typeface="Calibri" pitchFamily="34" charset="0"/>
                <a:ea typeface="Calibri" pitchFamily="34" charset="-122"/>
                <a:cs typeface="Calibri" pitchFamily="34" charset="-120"/>
              </a:rPr>
              <a:t>v</a:t>
            </a:r>
            <a:r>
              <a:rPr lang="en-AU" sz="1250" dirty="0">
                <a:solidFill>
                  <a:srgbClr val="1C2B31"/>
                </a:solidFill>
                <a:latin typeface="Calibri" pitchFamily="34" charset="0"/>
                <a:ea typeface="Calibri" pitchFamily="34" charset="-122"/>
                <a:cs typeface="Calibri" pitchFamily="34" charset="-120"/>
              </a:rPr>
              <a:t>| ≥ N, purpose, then scope; any failure is recorded and returns DENY</a:t>
            </a:r>
            <a:endParaRPr lang="en-AU" sz="1250" dirty="0"/>
          </a:p>
        </p:txBody>
      </p:sp>
      <p:sp>
        <p:nvSpPr>
          <p:cNvPr id="96" name="Shape 92"/>
          <p:cNvSpPr/>
          <p:nvPr/>
        </p:nvSpPr>
        <p:spPr>
          <a:xfrm>
            <a:off x="548640" y="2841498"/>
            <a:ext cx="384048" cy="384048"/>
          </a:xfrm>
          <a:prstGeom prst="ellipse">
            <a:avLst/>
          </a:prstGeom>
          <a:solidFill>
            <a:srgbClr val="13707B"/>
          </a:solidFill>
          <a:ln w="12700">
            <a:solidFill>
              <a:srgbClr val="13707B"/>
            </a:solidFill>
            <a:prstDash val="solid"/>
          </a:ln>
        </p:spPr>
      </p:sp>
      <p:pic>
        <p:nvPicPr>
          <p:cNvPr id="97"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98" name="Text 93"/>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Scope containment</a:t>
            </a:r>
            <a:endParaRPr lang="en-AU" sz="1500" dirty="0"/>
          </a:p>
        </p:txBody>
      </p:sp>
      <p:sp>
        <p:nvSpPr>
          <p:cNvPr id="99" name="Text 94"/>
          <p:cNvSpPr txBox="1"/>
          <p:nvPr/>
        </p:nvSpPr>
        <p:spPr>
          <a:xfrm>
            <a:off x="1115568" y="315239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R</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(Eq. 25), with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P</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U</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S</a:t>
            </a:r>
            <a:r>
              <a:rPr lang="en-AU" sz="1250" dirty="0">
                <a:solidFill>
                  <a:srgbClr val="1C2B31"/>
                </a:solidFill>
                <a:latin typeface="Calibri" pitchFamily="34" charset="0"/>
                <a:ea typeface="Calibri" pitchFamily="34" charset="-122"/>
                <a:cs typeface="Calibri" pitchFamily="34" charset="-120"/>
              </a:rPr>
              <a:t> (Eq. 32); returned data must also stay within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C</a:t>
            </a:r>
            <a:endParaRPr lang="en-AU" sz="1250" dirty="0"/>
          </a:p>
        </p:txBody>
      </p:sp>
      <p:sp>
        <p:nvSpPr>
          <p:cNvPr id="100" name="Shape 95"/>
          <p:cNvSpPr/>
          <p:nvPr/>
        </p:nvSpPr>
        <p:spPr>
          <a:xfrm>
            <a:off x="548640" y="4018788"/>
            <a:ext cx="384048" cy="384048"/>
          </a:xfrm>
          <a:prstGeom prst="ellipse">
            <a:avLst/>
          </a:prstGeom>
          <a:solidFill>
            <a:srgbClr val="13707B"/>
          </a:solidFill>
          <a:ln w="12700">
            <a:solidFill>
              <a:srgbClr val="13707B"/>
            </a:solidFill>
            <a:prstDash val="solid"/>
          </a:ln>
        </p:spPr>
      </p:sp>
      <p:pic>
        <p:nvPicPr>
          <p:cNvPr id="101"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102" name="Text 96"/>
          <p:cNvSpPr txBox="1"/>
          <p:nvPr/>
        </p:nvSpPr>
        <p:spPr>
          <a:xfrm>
            <a:off x="1115568" y="400050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Prototype: scope enforced</a:t>
            </a:r>
            <a:endParaRPr lang="en-AU" sz="1500" dirty="0"/>
          </a:p>
        </p:txBody>
      </p:sp>
      <p:sp>
        <p:nvSpPr>
          <p:cNvPr id="103" name="Text 97"/>
          <p:cNvSpPr txBox="1"/>
          <p:nvPr/>
        </p:nvSpPr>
        <p:spPr>
          <a:xfrm>
            <a:off x="1115568" y="432968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Only consented modules offered; service layer re-checks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R</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a failure is logged as ACCESS DENIED</a:t>
            </a:r>
            <a:endParaRPr lang="en-AU" sz="1250" dirty="0"/>
          </a:p>
        </p:txBody>
      </p:sp>
      <p:sp>
        <p:nvSpPr>
          <p:cNvPr id="104" name="Shape 98"/>
          <p:cNvSpPr/>
          <p:nvPr/>
        </p:nvSpPr>
        <p:spPr>
          <a:xfrm>
            <a:off x="548640" y="5196078"/>
            <a:ext cx="384048" cy="384048"/>
          </a:xfrm>
          <a:prstGeom prst="ellipse">
            <a:avLst/>
          </a:prstGeom>
          <a:solidFill>
            <a:srgbClr val="13707B"/>
          </a:solidFill>
          <a:ln w="12700">
            <a:solidFill>
              <a:srgbClr val="13707B"/>
            </a:solidFill>
            <a:prstDash val="solid"/>
          </a:ln>
        </p:spPr>
      </p:sp>
      <p:pic>
        <p:nvPicPr>
          <p:cNvPr id="105"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106" name="Text 99"/>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Prototype: purpose partly checked</a:t>
            </a:r>
            <a:endParaRPr lang="en-AU" sz="1500" dirty="0"/>
          </a:p>
        </p:txBody>
      </p:sp>
      <p:sp>
        <p:nvSpPr>
          <p:cNvPr id="107" name="Text 100"/>
          <p:cNvSpPr txBox="1"/>
          <p:nvPr/>
        </p:nvSpPr>
        <p:spPr>
          <a:xfrm>
            <a:off x="1115568" y="550697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Consent purpose checked against {Treatment, Research, Emergency}; </a:t>
            </a: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R</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comparison is CA3 work</a:t>
            </a:r>
            <a:endParaRPr lang="en-AU"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RO5: an existing consent is not always usable</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lnSpc>
                <a:spcPts val="1800"/>
              </a:lnSpc>
              <a:buNone/>
            </a:pPr>
            <a:r>
              <a:rPr lang="en-AU" sz="1500" dirty="0">
                <a:solidFill>
                  <a:srgbClr val="5E6E73"/>
                </a:solidFill>
                <a:latin typeface="Calibri" pitchFamily="34" charset="0"/>
                <a:ea typeface="Calibri" pitchFamily="34" charset="-122"/>
                <a:cs typeface="Calibri" pitchFamily="34" charset="-120"/>
              </a:rPr>
              <a:t>Primarily CA3. Section 6.5, Figure 6.5, Algorithm 5: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T</a:t>
            </a:r>
            <a:r>
              <a:rPr lang="en-AU" sz="1500" dirty="0">
                <a:solidFill>
                  <a:srgbClr val="5E6E73"/>
                </a:solidFill>
                <a:latin typeface="Calibri" pitchFamily="34" charset="0"/>
                <a:ea typeface="Calibri" pitchFamily="34" charset="-122"/>
                <a:cs typeface="Calibri" pitchFamily="34" charset="-120"/>
              </a:rPr>
              <a:t>(C, t) and </a:t>
            </a:r>
            <a:r>
              <a:rPr lang="en-AU" sz="1500" dirty="0">
                <a:solidFill>
                  <a:srgbClr val="5E6E73"/>
                </a:solidFill>
                <a:latin typeface="Calibri" pitchFamily="34" charset="0"/>
                <a:ea typeface="Calibri" pitchFamily="34" charset="-122"/>
                <a:cs typeface="Calibri" pitchFamily="34" charset="-120"/>
              </a:rPr>
              <a:t>V</a:t>
            </a:r>
            <a:r>
              <a:rPr lang="en-AU" sz="1770" baseline="-25000" dirty="0">
                <a:solidFill>
                  <a:srgbClr val="5E6E73"/>
                </a:solidFill>
                <a:latin typeface="Calibri" pitchFamily="34" charset="0"/>
                <a:ea typeface="Calibri" pitchFamily="34" charset="-122"/>
                <a:cs typeface="Calibri" pitchFamily="34" charset="-120"/>
              </a:rPr>
              <a:t>L</a:t>
            </a:r>
            <a:r>
              <a:rPr lang="en-AU" sz="1500" dirty="0">
                <a:solidFill>
                  <a:srgbClr val="5E6E73"/>
                </a:solidFill>
                <a:latin typeface="Calibri" pitchFamily="34" charset="0"/>
                <a:ea typeface="Calibri" pitchFamily="34" charset="-122"/>
                <a:cs typeface="Calibri" pitchFamily="34" charset="-120"/>
              </a:rPr>
              <a:t>(C) extend the decision (Eq. 24)</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26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4998568" y="1664208"/>
            <a:ext cx="1188720" cy="475488"/>
          </a:xfrm>
          <a:prstGeom prst="roundRect">
            <a:avLst>
              <a:gd name="adj" fmla="val 23077"/>
            </a:avLst>
          </a:prstGeom>
          <a:solidFill>
            <a:srgbClr val="FFF2CC"/>
          </a:solidFill>
          <a:ln w="19050">
            <a:solidFill>
              <a:srgbClr val="D6B656"/>
            </a:solidFill>
            <a:prstDash val="solid"/>
          </a:ln>
        </p:spPr>
      </p:sp>
      <p:sp>
        <p:nvSpPr>
          <p:cNvPr id="9" name="Text 6"/>
          <p:cNvSpPr txBox="1"/>
          <p:nvPr/>
        </p:nvSpPr>
        <p:spPr>
          <a:xfrm>
            <a:off x="5062576" y="1691640"/>
            <a:ext cx="1060704" cy="42062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Access Request</a:t>
            </a:r>
            <a:endParaRPr lang="en-AU" sz="1050" dirty="0"/>
          </a:p>
        </p:txBody>
      </p:sp>
      <p:sp>
        <p:nvSpPr>
          <p:cNvPr id="10" name="Shape 7"/>
          <p:cNvSpPr/>
          <p:nvPr/>
        </p:nvSpPr>
        <p:spPr>
          <a:xfrm>
            <a:off x="6324448" y="1664208"/>
            <a:ext cx="1234440" cy="475488"/>
          </a:xfrm>
          <a:prstGeom prst="rect">
            <a:avLst/>
          </a:prstGeom>
          <a:solidFill>
            <a:srgbClr val="FFF2CC"/>
          </a:solidFill>
          <a:ln w="19050">
            <a:solidFill>
              <a:srgbClr val="D6B656"/>
            </a:solidFill>
            <a:prstDash val="solid"/>
          </a:ln>
        </p:spPr>
      </p:sp>
      <p:sp>
        <p:nvSpPr>
          <p:cNvPr id="11" name="Text 8"/>
          <p:cNvSpPr txBox="1"/>
          <p:nvPr/>
        </p:nvSpPr>
        <p:spPr>
          <a:xfrm>
            <a:off x="6388456" y="1691640"/>
            <a:ext cx="1106424" cy="42062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Retrieve Consent Validity Interval</a:t>
            </a:r>
            <a:endParaRPr lang="en-AU" sz="1050" dirty="0"/>
          </a:p>
        </p:txBody>
      </p:sp>
      <p:sp>
        <p:nvSpPr>
          <p:cNvPr id="12" name="Shape 9"/>
          <p:cNvSpPr/>
          <p:nvPr/>
        </p:nvSpPr>
        <p:spPr>
          <a:xfrm>
            <a:off x="6187288" y="1901952"/>
            <a:ext cx="137160" cy="0"/>
          </a:xfrm>
          <a:prstGeom prst="line">
            <a:avLst/>
          </a:prstGeom>
          <a:noFill/>
          <a:ln w="19050">
            <a:solidFill>
              <a:srgbClr val="A8842A"/>
            </a:solidFill>
            <a:prstDash val="solid"/>
            <a:tailEnd type="triangle"/>
          </a:ln>
        </p:spPr>
      </p:sp>
      <p:sp>
        <p:nvSpPr>
          <p:cNvPr id="13" name="Shape 10"/>
          <p:cNvSpPr/>
          <p:nvPr/>
        </p:nvSpPr>
        <p:spPr>
          <a:xfrm>
            <a:off x="4998568" y="2377440"/>
            <a:ext cx="2560320" cy="365760"/>
          </a:xfrm>
          <a:prstGeom prst="rect">
            <a:avLst/>
          </a:prstGeom>
          <a:solidFill>
            <a:srgbClr val="FFF2CC"/>
          </a:solidFill>
          <a:ln w="19050">
            <a:solidFill>
              <a:srgbClr val="D6B656"/>
            </a:solidFill>
            <a:prstDash val="solid"/>
          </a:ln>
        </p:spPr>
      </p:sp>
      <p:sp>
        <p:nvSpPr>
          <p:cNvPr id="14" name="Text 11"/>
          <p:cNvSpPr txBox="1"/>
          <p:nvPr/>
        </p:nvSpPr>
        <p:spPr>
          <a:xfrm>
            <a:off x="5062576" y="2404872"/>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Check Consent Validity Interval</a:t>
            </a:r>
            <a:endParaRPr lang="en-AU" sz="1050" dirty="0"/>
          </a:p>
        </p:txBody>
      </p:sp>
      <p:sp>
        <p:nvSpPr>
          <p:cNvPr id="15" name="Shape 12"/>
          <p:cNvSpPr/>
          <p:nvPr/>
        </p:nvSpPr>
        <p:spPr>
          <a:xfrm>
            <a:off x="7878928" y="2322576"/>
            <a:ext cx="1920240" cy="475488"/>
          </a:xfrm>
          <a:prstGeom prst="diamond">
            <a:avLst/>
          </a:prstGeom>
          <a:solidFill>
            <a:srgbClr val="FFF2CC"/>
          </a:solidFill>
          <a:ln w="19050">
            <a:solidFill>
              <a:srgbClr val="D6B656"/>
            </a:solidFill>
            <a:prstDash val="solid"/>
          </a:ln>
        </p:spPr>
      </p:sp>
      <p:sp>
        <p:nvSpPr>
          <p:cNvPr id="16" name="Text 13"/>
          <p:cNvSpPr txBox="1"/>
          <p:nvPr/>
        </p:nvSpPr>
        <p:spPr>
          <a:xfrm>
            <a:off x="8205368" y="2384389"/>
            <a:ext cx="1267358" cy="351861"/>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Within Valid Time?</a:t>
            </a:r>
            <a:endParaRPr lang="en-AU" sz="1050" dirty="0"/>
          </a:p>
        </p:txBody>
      </p:sp>
      <p:sp>
        <p:nvSpPr>
          <p:cNvPr id="17" name="Shape 14"/>
          <p:cNvSpPr/>
          <p:nvPr/>
        </p:nvSpPr>
        <p:spPr>
          <a:xfrm>
            <a:off x="7558888" y="2560320"/>
            <a:ext cx="320040" cy="0"/>
          </a:xfrm>
          <a:prstGeom prst="line">
            <a:avLst/>
          </a:prstGeom>
          <a:noFill/>
          <a:ln w="19050">
            <a:solidFill>
              <a:srgbClr val="A8842A"/>
            </a:solidFill>
            <a:prstDash val="solid"/>
            <a:tailEnd type="triangle"/>
          </a:ln>
        </p:spPr>
      </p:sp>
      <p:sp>
        <p:nvSpPr>
          <p:cNvPr id="18" name="Shape 15"/>
          <p:cNvSpPr/>
          <p:nvPr/>
        </p:nvSpPr>
        <p:spPr>
          <a:xfrm>
            <a:off x="4998568" y="2999232"/>
            <a:ext cx="2560320" cy="365760"/>
          </a:xfrm>
          <a:prstGeom prst="rect">
            <a:avLst/>
          </a:prstGeom>
          <a:solidFill>
            <a:srgbClr val="FFF2CC"/>
          </a:solidFill>
          <a:ln w="19050">
            <a:solidFill>
              <a:srgbClr val="D6B656"/>
            </a:solidFill>
            <a:prstDash val="solid"/>
          </a:ln>
        </p:spPr>
      </p:sp>
      <p:sp>
        <p:nvSpPr>
          <p:cNvPr id="19" name="Text 16"/>
          <p:cNvSpPr txBox="1"/>
          <p:nvPr/>
        </p:nvSpPr>
        <p:spPr>
          <a:xfrm>
            <a:off x="5062576" y="3026664"/>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Retrieve and Check Lifecycle State</a:t>
            </a:r>
            <a:endParaRPr lang="en-AU" sz="1050" dirty="0"/>
          </a:p>
        </p:txBody>
      </p:sp>
      <p:sp>
        <p:nvSpPr>
          <p:cNvPr id="20" name="Shape 17"/>
          <p:cNvSpPr/>
          <p:nvPr/>
        </p:nvSpPr>
        <p:spPr>
          <a:xfrm>
            <a:off x="7878928" y="2944368"/>
            <a:ext cx="1920240" cy="475488"/>
          </a:xfrm>
          <a:prstGeom prst="diamond">
            <a:avLst/>
          </a:prstGeom>
          <a:solidFill>
            <a:srgbClr val="FFF2CC"/>
          </a:solidFill>
          <a:ln w="19050">
            <a:solidFill>
              <a:srgbClr val="D6B656"/>
            </a:solidFill>
            <a:prstDash val="solid"/>
          </a:ln>
        </p:spPr>
      </p:sp>
      <p:sp>
        <p:nvSpPr>
          <p:cNvPr id="21" name="Text 18"/>
          <p:cNvSpPr txBox="1"/>
          <p:nvPr/>
        </p:nvSpPr>
        <p:spPr>
          <a:xfrm>
            <a:off x="8205368" y="3006181"/>
            <a:ext cx="1267358" cy="351861"/>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State Permits Operation?</a:t>
            </a:r>
            <a:endParaRPr lang="en-AU" sz="1050" dirty="0"/>
          </a:p>
        </p:txBody>
      </p:sp>
      <p:sp>
        <p:nvSpPr>
          <p:cNvPr id="22" name="Shape 19"/>
          <p:cNvSpPr/>
          <p:nvPr/>
        </p:nvSpPr>
        <p:spPr>
          <a:xfrm>
            <a:off x="7558888" y="3182112"/>
            <a:ext cx="320040" cy="0"/>
          </a:xfrm>
          <a:prstGeom prst="line">
            <a:avLst/>
          </a:prstGeom>
          <a:noFill/>
          <a:ln w="19050">
            <a:solidFill>
              <a:srgbClr val="A8842A"/>
            </a:solidFill>
            <a:prstDash val="solid"/>
            <a:tailEnd type="triangle"/>
          </a:ln>
        </p:spPr>
      </p:sp>
      <p:sp>
        <p:nvSpPr>
          <p:cNvPr id="23" name="Shape 20"/>
          <p:cNvSpPr/>
          <p:nvPr/>
        </p:nvSpPr>
        <p:spPr>
          <a:xfrm>
            <a:off x="8839048" y="2798064"/>
            <a:ext cx="0" cy="100584"/>
          </a:xfrm>
          <a:prstGeom prst="line">
            <a:avLst/>
          </a:prstGeom>
          <a:noFill/>
          <a:ln w="19050">
            <a:solidFill>
              <a:srgbClr val="A8842A"/>
            </a:solidFill>
            <a:prstDash val="solid"/>
          </a:ln>
        </p:spPr>
      </p:sp>
      <p:sp>
        <p:nvSpPr>
          <p:cNvPr id="24" name="Shape 21"/>
          <p:cNvSpPr/>
          <p:nvPr/>
        </p:nvSpPr>
        <p:spPr>
          <a:xfrm flipH="1">
            <a:off x="6278728" y="2898648"/>
            <a:ext cx="2560320" cy="0"/>
          </a:xfrm>
          <a:prstGeom prst="line">
            <a:avLst/>
          </a:prstGeom>
          <a:noFill/>
          <a:ln w="19050">
            <a:solidFill>
              <a:srgbClr val="A8842A"/>
            </a:solidFill>
            <a:prstDash val="solid"/>
          </a:ln>
        </p:spPr>
      </p:sp>
      <p:sp>
        <p:nvSpPr>
          <p:cNvPr id="25" name="Shape 22"/>
          <p:cNvSpPr/>
          <p:nvPr/>
        </p:nvSpPr>
        <p:spPr>
          <a:xfrm>
            <a:off x="6278728" y="2898648"/>
            <a:ext cx="0" cy="100584"/>
          </a:xfrm>
          <a:prstGeom prst="line">
            <a:avLst/>
          </a:prstGeom>
          <a:noFill/>
          <a:ln w="19050">
            <a:solidFill>
              <a:srgbClr val="A8842A"/>
            </a:solidFill>
            <a:prstDash val="solid"/>
            <a:tailEnd type="triangle"/>
          </a:ln>
        </p:spPr>
      </p:sp>
      <p:sp>
        <p:nvSpPr>
          <p:cNvPr id="26" name="Text 23"/>
          <p:cNvSpPr txBox="1"/>
          <p:nvPr/>
        </p:nvSpPr>
        <p:spPr>
          <a:xfrm>
            <a:off x="8893912" y="277977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27" name="Shape 24"/>
          <p:cNvSpPr/>
          <p:nvPr/>
        </p:nvSpPr>
        <p:spPr>
          <a:xfrm>
            <a:off x="4998568" y="3621024"/>
            <a:ext cx="2560320" cy="365760"/>
          </a:xfrm>
          <a:prstGeom prst="rect">
            <a:avLst/>
          </a:prstGeom>
          <a:solidFill>
            <a:srgbClr val="FFF2CC"/>
          </a:solidFill>
          <a:ln w="19050">
            <a:solidFill>
              <a:srgbClr val="D6B656"/>
            </a:solidFill>
            <a:prstDash val="solid"/>
          </a:ln>
        </p:spPr>
      </p:sp>
      <p:sp>
        <p:nvSpPr>
          <p:cNvPr id="28" name="Text 25"/>
          <p:cNvSpPr txBox="1"/>
          <p:nvPr/>
        </p:nvSpPr>
        <p:spPr>
          <a:xfrm>
            <a:off x="5062576" y="3648456"/>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Evaluate Revocation Status</a:t>
            </a:r>
            <a:endParaRPr lang="en-AU" sz="1050" dirty="0"/>
          </a:p>
        </p:txBody>
      </p:sp>
      <p:sp>
        <p:nvSpPr>
          <p:cNvPr id="29" name="Shape 26"/>
          <p:cNvSpPr/>
          <p:nvPr/>
        </p:nvSpPr>
        <p:spPr>
          <a:xfrm>
            <a:off x="7878928" y="3566160"/>
            <a:ext cx="1920240" cy="475488"/>
          </a:xfrm>
          <a:prstGeom prst="diamond">
            <a:avLst/>
          </a:prstGeom>
          <a:solidFill>
            <a:srgbClr val="FFF2CC"/>
          </a:solidFill>
          <a:ln w="19050">
            <a:solidFill>
              <a:srgbClr val="D6B656"/>
            </a:solidFill>
            <a:prstDash val="solid"/>
          </a:ln>
        </p:spPr>
      </p:sp>
      <p:sp>
        <p:nvSpPr>
          <p:cNvPr id="30" name="Text 27"/>
          <p:cNvSpPr txBox="1"/>
          <p:nvPr/>
        </p:nvSpPr>
        <p:spPr>
          <a:xfrm>
            <a:off x="8205368" y="3627973"/>
            <a:ext cx="1267358" cy="351861"/>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Revoked?</a:t>
            </a:r>
            <a:endParaRPr lang="en-AU" sz="1050" dirty="0"/>
          </a:p>
        </p:txBody>
      </p:sp>
      <p:sp>
        <p:nvSpPr>
          <p:cNvPr id="31" name="Shape 28"/>
          <p:cNvSpPr/>
          <p:nvPr/>
        </p:nvSpPr>
        <p:spPr>
          <a:xfrm>
            <a:off x="7558888" y="3803904"/>
            <a:ext cx="320040" cy="0"/>
          </a:xfrm>
          <a:prstGeom prst="line">
            <a:avLst/>
          </a:prstGeom>
          <a:noFill/>
          <a:ln w="19050">
            <a:solidFill>
              <a:srgbClr val="A8842A"/>
            </a:solidFill>
            <a:prstDash val="solid"/>
            <a:tailEnd type="triangle"/>
          </a:ln>
        </p:spPr>
      </p:sp>
      <p:sp>
        <p:nvSpPr>
          <p:cNvPr id="32" name="Shape 29"/>
          <p:cNvSpPr/>
          <p:nvPr/>
        </p:nvSpPr>
        <p:spPr>
          <a:xfrm>
            <a:off x="8839048" y="3419856"/>
            <a:ext cx="0" cy="100584"/>
          </a:xfrm>
          <a:prstGeom prst="line">
            <a:avLst/>
          </a:prstGeom>
          <a:noFill/>
          <a:ln w="19050">
            <a:solidFill>
              <a:srgbClr val="A8842A"/>
            </a:solidFill>
            <a:prstDash val="solid"/>
          </a:ln>
        </p:spPr>
      </p:sp>
      <p:sp>
        <p:nvSpPr>
          <p:cNvPr id="33" name="Shape 30"/>
          <p:cNvSpPr/>
          <p:nvPr/>
        </p:nvSpPr>
        <p:spPr>
          <a:xfrm flipH="1">
            <a:off x="6278728" y="3520440"/>
            <a:ext cx="2560320" cy="0"/>
          </a:xfrm>
          <a:prstGeom prst="line">
            <a:avLst/>
          </a:prstGeom>
          <a:noFill/>
          <a:ln w="19050">
            <a:solidFill>
              <a:srgbClr val="A8842A"/>
            </a:solidFill>
            <a:prstDash val="solid"/>
          </a:ln>
        </p:spPr>
      </p:sp>
      <p:sp>
        <p:nvSpPr>
          <p:cNvPr id="34" name="Shape 31"/>
          <p:cNvSpPr/>
          <p:nvPr/>
        </p:nvSpPr>
        <p:spPr>
          <a:xfrm>
            <a:off x="6278728" y="3520440"/>
            <a:ext cx="0" cy="100584"/>
          </a:xfrm>
          <a:prstGeom prst="line">
            <a:avLst/>
          </a:prstGeom>
          <a:noFill/>
          <a:ln w="19050">
            <a:solidFill>
              <a:srgbClr val="A8842A"/>
            </a:solidFill>
            <a:prstDash val="solid"/>
            <a:tailEnd type="triangle"/>
          </a:ln>
        </p:spPr>
      </p:sp>
      <p:sp>
        <p:nvSpPr>
          <p:cNvPr id="35" name="Text 32"/>
          <p:cNvSpPr txBox="1"/>
          <p:nvPr/>
        </p:nvSpPr>
        <p:spPr>
          <a:xfrm>
            <a:off x="8893912" y="3401568"/>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36" name="Shape 33"/>
          <p:cNvSpPr/>
          <p:nvPr/>
        </p:nvSpPr>
        <p:spPr>
          <a:xfrm>
            <a:off x="4998568" y="4242816"/>
            <a:ext cx="2560320" cy="365760"/>
          </a:xfrm>
          <a:prstGeom prst="rect">
            <a:avLst/>
          </a:prstGeom>
          <a:solidFill>
            <a:srgbClr val="FFF2CC"/>
          </a:solidFill>
          <a:ln w="19050">
            <a:solidFill>
              <a:srgbClr val="D6B656"/>
            </a:solidFill>
            <a:prstDash val="solid"/>
          </a:ln>
        </p:spPr>
      </p:sp>
      <p:sp>
        <p:nvSpPr>
          <p:cNvPr id="37" name="Text 34"/>
          <p:cNvSpPr txBox="1"/>
          <p:nvPr/>
        </p:nvSpPr>
        <p:spPr>
          <a:xfrm>
            <a:off x="5062576" y="4270248"/>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Validate Requested Transition</a:t>
            </a:r>
            <a:endParaRPr lang="en-AU" sz="1050" dirty="0"/>
          </a:p>
        </p:txBody>
      </p:sp>
      <p:sp>
        <p:nvSpPr>
          <p:cNvPr id="38" name="Shape 35"/>
          <p:cNvSpPr/>
          <p:nvPr/>
        </p:nvSpPr>
        <p:spPr>
          <a:xfrm>
            <a:off x="7878928" y="4187952"/>
            <a:ext cx="1920240" cy="475488"/>
          </a:xfrm>
          <a:prstGeom prst="diamond">
            <a:avLst/>
          </a:prstGeom>
          <a:solidFill>
            <a:srgbClr val="FFF2CC"/>
          </a:solidFill>
          <a:ln w="19050">
            <a:solidFill>
              <a:srgbClr val="D6B656"/>
            </a:solidFill>
            <a:prstDash val="solid"/>
          </a:ln>
        </p:spPr>
      </p:sp>
      <p:sp>
        <p:nvSpPr>
          <p:cNvPr id="39" name="Text 36"/>
          <p:cNvSpPr txBox="1"/>
          <p:nvPr/>
        </p:nvSpPr>
        <p:spPr>
          <a:xfrm>
            <a:off x="8205368" y="4249765"/>
            <a:ext cx="1267358" cy="351861"/>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Transition Permitted?</a:t>
            </a:r>
            <a:endParaRPr lang="en-AU" sz="1050" dirty="0"/>
          </a:p>
        </p:txBody>
      </p:sp>
      <p:sp>
        <p:nvSpPr>
          <p:cNvPr id="40" name="Shape 37"/>
          <p:cNvSpPr/>
          <p:nvPr/>
        </p:nvSpPr>
        <p:spPr>
          <a:xfrm>
            <a:off x="7558888" y="4425696"/>
            <a:ext cx="320040" cy="0"/>
          </a:xfrm>
          <a:prstGeom prst="line">
            <a:avLst/>
          </a:prstGeom>
          <a:noFill/>
          <a:ln w="19050">
            <a:solidFill>
              <a:srgbClr val="A8842A"/>
            </a:solidFill>
            <a:prstDash val="solid"/>
            <a:tailEnd type="triangle"/>
          </a:ln>
        </p:spPr>
      </p:sp>
      <p:sp>
        <p:nvSpPr>
          <p:cNvPr id="41" name="Shape 38"/>
          <p:cNvSpPr/>
          <p:nvPr/>
        </p:nvSpPr>
        <p:spPr>
          <a:xfrm>
            <a:off x="8839048" y="4041648"/>
            <a:ext cx="0" cy="100584"/>
          </a:xfrm>
          <a:prstGeom prst="line">
            <a:avLst/>
          </a:prstGeom>
          <a:noFill/>
          <a:ln w="19050">
            <a:solidFill>
              <a:srgbClr val="A8842A"/>
            </a:solidFill>
            <a:prstDash val="solid"/>
          </a:ln>
        </p:spPr>
      </p:sp>
      <p:sp>
        <p:nvSpPr>
          <p:cNvPr id="42" name="Shape 39"/>
          <p:cNvSpPr/>
          <p:nvPr/>
        </p:nvSpPr>
        <p:spPr>
          <a:xfrm flipH="1">
            <a:off x="6278728" y="4142232"/>
            <a:ext cx="2560320" cy="0"/>
          </a:xfrm>
          <a:prstGeom prst="line">
            <a:avLst/>
          </a:prstGeom>
          <a:noFill/>
          <a:ln w="19050">
            <a:solidFill>
              <a:srgbClr val="A8842A"/>
            </a:solidFill>
            <a:prstDash val="solid"/>
          </a:ln>
        </p:spPr>
      </p:sp>
      <p:sp>
        <p:nvSpPr>
          <p:cNvPr id="43" name="Shape 40"/>
          <p:cNvSpPr/>
          <p:nvPr/>
        </p:nvSpPr>
        <p:spPr>
          <a:xfrm>
            <a:off x="6278728" y="4142232"/>
            <a:ext cx="0" cy="100584"/>
          </a:xfrm>
          <a:prstGeom prst="line">
            <a:avLst/>
          </a:prstGeom>
          <a:noFill/>
          <a:ln w="19050">
            <a:solidFill>
              <a:srgbClr val="A8842A"/>
            </a:solidFill>
            <a:prstDash val="solid"/>
            <a:tailEnd type="triangle"/>
          </a:ln>
        </p:spPr>
      </p:sp>
      <p:sp>
        <p:nvSpPr>
          <p:cNvPr id="44" name="Text 41"/>
          <p:cNvSpPr txBox="1"/>
          <p:nvPr/>
        </p:nvSpPr>
        <p:spPr>
          <a:xfrm>
            <a:off x="8893912" y="402336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45" name="Shape 42"/>
          <p:cNvSpPr/>
          <p:nvPr/>
        </p:nvSpPr>
        <p:spPr>
          <a:xfrm>
            <a:off x="6941668" y="2139696"/>
            <a:ext cx="0" cy="91440"/>
          </a:xfrm>
          <a:prstGeom prst="line">
            <a:avLst/>
          </a:prstGeom>
          <a:noFill/>
          <a:ln w="19050">
            <a:solidFill>
              <a:srgbClr val="A8842A"/>
            </a:solidFill>
            <a:prstDash val="solid"/>
          </a:ln>
        </p:spPr>
      </p:sp>
      <p:sp>
        <p:nvSpPr>
          <p:cNvPr id="46" name="Shape 43"/>
          <p:cNvSpPr/>
          <p:nvPr/>
        </p:nvSpPr>
        <p:spPr>
          <a:xfrm flipH="1">
            <a:off x="6278728" y="2231136"/>
            <a:ext cx="662940" cy="0"/>
          </a:xfrm>
          <a:prstGeom prst="line">
            <a:avLst/>
          </a:prstGeom>
          <a:noFill/>
          <a:ln w="19050">
            <a:solidFill>
              <a:srgbClr val="A8842A"/>
            </a:solidFill>
            <a:prstDash val="solid"/>
          </a:ln>
        </p:spPr>
      </p:sp>
      <p:sp>
        <p:nvSpPr>
          <p:cNvPr id="47" name="Shape 44"/>
          <p:cNvSpPr/>
          <p:nvPr/>
        </p:nvSpPr>
        <p:spPr>
          <a:xfrm>
            <a:off x="6278728" y="2231136"/>
            <a:ext cx="0" cy="146304"/>
          </a:xfrm>
          <a:prstGeom prst="line">
            <a:avLst/>
          </a:prstGeom>
          <a:noFill/>
          <a:ln w="19050">
            <a:solidFill>
              <a:srgbClr val="A8842A"/>
            </a:solidFill>
            <a:prstDash val="solid"/>
            <a:tailEnd type="triangle"/>
          </a:ln>
        </p:spPr>
      </p:sp>
      <p:sp>
        <p:nvSpPr>
          <p:cNvPr id="48" name="Shape 45"/>
          <p:cNvSpPr/>
          <p:nvPr/>
        </p:nvSpPr>
        <p:spPr>
          <a:xfrm>
            <a:off x="4998568" y="4864608"/>
            <a:ext cx="2560320" cy="365760"/>
          </a:xfrm>
          <a:prstGeom prst="rect">
            <a:avLst/>
          </a:prstGeom>
          <a:solidFill>
            <a:srgbClr val="FFF2CC"/>
          </a:solidFill>
          <a:ln w="19050">
            <a:solidFill>
              <a:srgbClr val="D6B656"/>
            </a:solidFill>
            <a:prstDash val="solid"/>
          </a:ln>
        </p:spPr>
      </p:sp>
      <p:sp>
        <p:nvSpPr>
          <p:cNvPr id="49" name="Text 46"/>
          <p:cNvSpPr txBox="1"/>
          <p:nvPr/>
        </p:nvSpPr>
        <p:spPr>
          <a:xfrm>
            <a:off x="5062576" y="4892040"/>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Record Temporal and Lifecycle Evidence</a:t>
            </a:r>
            <a:endParaRPr lang="en-AU" sz="1050" dirty="0"/>
          </a:p>
        </p:txBody>
      </p:sp>
      <p:sp>
        <p:nvSpPr>
          <p:cNvPr id="50" name="Shape 47"/>
          <p:cNvSpPr/>
          <p:nvPr/>
        </p:nvSpPr>
        <p:spPr>
          <a:xfrm>
            <a:off x="8839048" y="4663440"/>
            <a:ext cx="0" cy="100584"/>
          </a:xfrm>
          <a:prstGeom prst="line">
            <a:avLst/>
          </a:prstGeom>
          <a:noFill/>
          <a:ln w="19050">
            <a:solidFill>
              <a:srgbClr val="A8842A"/>
            </a:solidFill>
            <a:prstDash val="solid"/>
          </a:ln>
        </p:spPr>
      </p:sp>
      <p:sp>
        <p:nvSpPr>
          <p:cNvPr id="51" name="Shape 48"/>
          <p:cNvSpPr/>
          <p:nvPr/>
        </p:nvSpPr>
        <p:spPr>
          <a:xfrm flipH="1">
            <a:off x="6278728" y="4764024"/>
            <a:ext cx="2560320" cy="0"/>
          </a:xfrm>
          <a:prstGeom prst="line">
            <a:avLst/>
          </a:prstGeom>
          <a:noFill/>
          <a:ln w="19050">
            <a:solidFill>
              <a:srgbClr val="A8842A"/>
            </a:solidFill>
            <a:prstDash val="solid"/>
          </a:ln>
        </p:spPr>
      </p:sp>
      <p:sp>
        <p:nvSpPr>
          <p:cNvPr id="52" name="Shape 49"/>
          <p:cNvSpPr/>
          <p:nvPr/>
        </p:nvSpPr>
        <p:spPr>
          <a:xfrm>
            <a:off x="6278728" y="4764024"/>
            <a:ext cx="0" cy="100584"/>
          </a:xfrm>
          <a:prstGeom prst="line">
            <a:avLst/>
          </a:prstGeom>
          <a:noFill/>
          <a:ln w="19050">
            <a:solidFill>
              <a:srgbClr val="A8842A"/>
            </a:solidFill>
            <a:prstDash val="solid"/>
            <a:tailEnd type="triangle"/>
          </a:ln>
        </p:spPr>
      </p:sp>
      <p:sp>
        <p:nvSpPr>
          <p:cNvPr id="53" name="Text 50"/>
          <p:cNvSpPr txBox="1"/>
          <p:nvPr/>
        </p:nvSpPr>
        <p:spPr>
          <a:xfrm>
            <a:off x="8893912" y="464515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54" name="Shape 51"/>
          <p:cNvSpPr/>
          <p:nvPr/>
        </p:nvSpPr>
        <p:spPr>
          <a:xfrm>
            <a:off x="4998568" y="5468112"/>
            <a:ext cx="2560320" cy="402336"/>
          </a:xfrm>
          <a:prstGeom prst="roundRect">
            <a:avLst>
              <a:gd name="adj" fmla="val 27273"/>
            </a:avLst>
          </a:prstGeom>
          <a:solidFill>
            <a:srgbClr val="FFF2CC"/>
          </a:solidFill>
          <a:ln w="19050">
            <a:solidFill>
              <a:srgbClr val="D6B656"/>
            </a:solidFill>
            <a:prstDash val="solid"/>
          </a:ln>
        </p:spPr>
      </p:sp>
      <p:sp>
        <p:nvSpPr>
          <p:cNvPr id="55" name="Text 52"/>
          <p:cNvSpPr txBox="1"/>
          <p:nvPr/>
        </p:nvSpPr>
        <p:spPr>
          <a:xfrm>
            <a:off x="5062576" y="5495544"/>
            <a:ext cx="2432304" cy="347472"/>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Continue Authorisation Evaluation</a:t>
            </a:r>
            <a:endParaRPr lang="en-AU" sz="1100" dirty="0"/>
          </a:p>
        </p:txBody>
      </p:sp>
      <p:sp>
        <p:nvSpPr>
          <p:cNvPr id="56" name="Shape 53"/>
          <p:cNvSpPr/>
          <p:nvPr/>
        </p:nvSpPr>
        <p:spPr>
          <a:xfrm>
            <a:off x="6278728" y="5230368"/>
            <a:ext cx="0" cy="237744"/>
          </a:xfrm>
          <a:prstGeom prst="line">
            <a:avLst/>
          </a:prstGeom>
          <a:noFill/>
          <a:ln w="19050">
            <a:solidFill>
              <a:srgbClr val="A8842A"/>
            </a:solidFill>
            <a:prstDash val="solid"/>
            <a:tailEnd type="triangle"/>
          </a:ln>
        </p:spPr>
      </p:sp>
      <p:sp>
        <p:nvSpPr>
          <p:cNvPr id="57" name="Shape 54"/>
          <p:cNvSpPr/>
          <p:nvPr/>
        </p:nvSpPr>
        <p:spPr>
          <a:xfrm>
            <a:off x="10073488" y="4828032"/>
            <a:ext cx="1371600" cy="438912"/>
          </a:xfrm>
          <a:prstGeom prst="rect">
            <a:avLst/>
          </a:prstGeom>
          <a:solidFill>
            <a:srgbClr val="FFF2CC"/>
          </a:solidFill>
          <a:ln w="19050">
            <a:solidFill>
              <a:srgbClr val="D6B656"/>
            </a:solidFill>
            <a:prstDash val="solid"/>
          </a:ln>
        </p:spPr>
      </p:sp>
      <p:sp>
        <p:nvSpPr>
          <p:cNvPr id="58" name="Text 55"/>
          <p:cNvSpPr txBox="1"/>
          <p:nvPr/>
        </p:nvSpPr>
        <p:spPr>
          <a:xfrm>
            <a:off x="10137496" y="4855464"/>
            <a:ext cx="1243584" cy="384048"/>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Record Lifecycle-Based Denial</a:t>
            </a:r>
            <a:endParaRPr lang="en-AU" sz="1050" dirty="0"/>
          </a:p>
        </p:txBody>
      </p:sp>
      <p:sp>
        <p:nvSpPr>
          <p:cNvPr id="59" name="Shape 56"/>
          <p:cNvSpPr/>
          <p:nvPr/>
        </p:nvSpPr>
        <p:spPr>
          <a:xfrm>
            <a:off x="10073488" y="5468112"/>
            <a:ext cx="1371600" cy="402336"/>
          </a:xfrm>
          <a:prstGeom prst="roundRect">
            <a:avLst>
              <a:gd name="adj" fmla="val 27273"/>
            </a:avLst>
          </a:prstGeom>
          <a:solidFill>
            <a:srgbClr val="FFF2CC"/>
          </a:solidFill>
          <a:ln w="19050">
            <a:solidFill>
              <a:srgbClr val="D6B656"/>
            </a:solidFill>
            <a:prstDash val="solid"/>
          </a:ln>
        </p:spPr>
      </p:sp>
      <p:sp>
        <p:nvSpPr>
          <p:cNvPr id="60" name="Text 57"/>
          <p:cNvSpPr txBox="1"/>
          <p:nvPr/>
        </p:nvSpPr>
        <p:spPr>
          <a:xfrm>
            <a:off x="10137496" y="5495544"/>
            <a:ext cx="124358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Deny Access</a:t>
            </a:r>
            <a:endParaRPr lang="en-AU" sz="1050" dirty="0"/>
          </a:p>
        </p:txBody>
      </p:sp>
      <p:sp>
        <p:nvSpPr>
          <p:cNvPr id="61" name="Shape 58"/>
          <p:cNvSpPr/>
          <p:nvPr/>
        </p:nvSpPr>
        <p:spPr>
          <a:xfrm>
            <a:off x="10759288" y="5266944"/>
            <a:ext cx="0" cy="201168"/>
          </a:xfrm>
          <a:prstGeom prst="line">
            <a:avLst/>
          </a:prstGeom>
          <a:noFill/>
          <a:ln w="19050">
            <a:solidFill>
              <a:srgbClr val="A8842A"/>
            </a:solidFill>
            <a:prstDash val="solid"/>
            <a:tailEnd type="triangle"/>
          </a:ln>
        </p:spPr>
      </p:sp>
      <p:sp>
        <p:nvSpPr>
          <p:cNvPr id="62" name="Shape 59"/>
          <p:cNvSpPr/>
          <p:nvPr/>
        </p:nvSpPr>
        <p:spPr>
          <a:xfrm>
            <a:off x="9799168" y="2560320"/>
            <a:ext cx="1554480" cy="0"/>
          </a:xfrm>
          <a:prstGeom prst="line">
            <a:avLst/>
          </a:prstGeom>
          <a:noFill/>
          <a:ln w="19050">
            <a:solidFill>
              <a:srgbClr val="A8842A"/>
            </a:solidFill>
            <a:prstDash val="solid"/>
          </a:ln>
        </p:spPr>
      </p:sp>
      <p:sp>
        <p:nvSpPr>
          <p:cNvPr id="63" name="Shape 60"/>
          <p:cNvSpPr/>
          <p:nvPr/>
        </p:nvSpPr>
        <p:spPr>
          <a:xfrm>
            <a:off x="11353648" y="2560320"/>
            <a:ext cx="0" cy="2267712"/>
          </a:xfrm>
          <a:prstGeom prst="line">
            <a:avLst/>
          </a:prstGeom>
          <a:noFill/>
          <a:ln w="19050">
            <a:solidFill>
              <a:srgbClr val="A8842A"/>
            </a:solidFill>
            <a:prstDash val="solid"/>
            <a:tailEnd type="triangle"/>
          </a:ln>
        </p:spPr>
      </p:sp>
      <p:sp>
        <p:nvSpPr>
          <p:cNvPr id="64" name="Text 61"/>
          <p:cNvSpPr txBox="1"/>
          <p:nvPr/>
        </p:nvSpPr>
        <p:spPr>
          <a:xfrm>
            <a:off x="9835744" y="237744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65" name="Shape 62"/>
          <p:cNvSpPr/>
          <p:nvPr/>
        </p:nvSpPr>
        <p:spPr>
          <a:xfrm>
            <a:off x="9799168" y="3182112"/>
            <a:ext cx="1280160" cy="0"/>
          </a:xfrm>
          <a:prstGeom prst="line">
            <a:avLst/>
          </a:prstGeom>
          <a:noFill/>
          <a:ln w="19050">
            <a:solidFill>
              <a:srgbClr val="A8842A"/>
            </a:solidFill>
            <a:prstDash val="solid"/>
          </a:ln>
        </p:spPr>
      </p:sp>
      <p:sp>
        <p:nvSpPr>
          <p:cNvPr id="66" name="Shape 63"/>
          <p:cNvSpPr/>
          <p:nvPr/>
        </p:nvSpPr>
        <p:spPr>
          <a:xfrm>
            <a:off x="11079328" y="3182112"/>
            <a:ext cx="0" cy="1645920"/>
          </a:xfrm>
          <a:prstGeom prst="line">
            <a:avLst/>
          </a:prstGeom>
          <a:noFill/>
          <a:ln w="19050">
            <a:solidFill>
              <a:srgbClr val="A8842A"/>
            </a:solidFill>
            <a:prstDash val="solid"/>
            <a:tailEnd type="triangle"/>
          </a:ln>
        </p:spPr>
      </p:sp>
      <p:sp>
        <p:nvSpPr>
          <p:cNvPr id="67" name="Text 64"/>
          <p:cNvSpPr txBox="1"/>
          <p:nvPr/>
        </p:nvSpPr>
        <p:spPr>
          <a:xfrm>
            <a:off x="9835744" y="299923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68" name="Shape 65"/>
          <p:cNvSpPr/>
          <p:nvPr/>
        </p:nvSpPr>
        <p:spPr>
          <a:xfrm>
            <a:off x="9799168" y="3803904"/>
            <a:ext cx="1005840" cy="0"/>
          </a:xfrm>
          <a:prstGeom prst="line">
            <a:avLst/>
          </a:prstGeom>
          <a:noFill/>
          <a:ln w="19050">
            <a:solidFill>
              <a:srgbClr val="A8842A"/>
            </a:solidFill>
            <a:prstDash val="solid"/>
          </a:ln>
        </p:spPr>
      </p:sp>
      <p:sp>
        <p:nvSpPr>
          <p:cNvPr id="69" name="Shape 66"/>
          <p:cNvSpPr/>
          <p:nvPr/>
        </p:nvSpPr>
        <p:spPr>
          <a:xfrm>
            <a:off x="10805008" y="3803904"/>
            <a:ext cx="0" cy="1024128"/>
          </a:xfrm>
          <a:prstGeom prst="line">
            <a:avLst/>
          </a:prstGeom>
          <a:noFill/>
          <a:ln w="19050">
            <a:solidFill>
              <a:srgbClr val="A8842A"/>
            </a:solidFill>
            <a:prstDash val="solid"/>
            <a:tailEnd type="triangle"/>
          </a:ln>
        </p:spPr>
      </p:sp>
      <p:sp>
        <p:nvSpPr>
          <p:cNvPr id="70" name="Text 67"/>
          <p:cNvSpPr txBox="1"/>
          <p:nvPr/>
        </p:nvSpPr>
        <p:spPr>
          <a:xfrm>
            <a:off x="9835744" y="3621024"/>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71" name="Shape 68"/>
          <p:cNvSpPr/>
          <p:nvPr/>
        </p:nvSpPr>
        <p:spPr>
          <a:xfrm>
            <a:off x="9799168" y="4425696"/>
            <a:ext cx="731520" cy="0"/>
          </a:xfrm>
          <a:prstGeom prst="line">
            <a:avLst/>
          </a:prstGeom>
          <a:noFill/>
          <a:ln w="19050">
            <a:solidFill>
              <a:srgbClr val="A8842A"/>
            </a:solidFill>
            <a:prstDash val="solid"/>
          </a:ln>
        </p:spPr>
      </p:sp>
      <p:sp>
        <p:nvSpPr>
          <p:cNvPr id="72" name="Shape 69"/>
          <p:cNvSpPr/>
          <p:nvPr/>
        </p:nvSpPr>
        <p:spPr>
          <a:xfrm>
            <a:off x="10530688" y="4425696"/>
            <a:ext cx="0" cy="402336"/>
          </a:xfrm>
          <a:prstGeom prst="line">
            <a:avLst/>
          </a:prstGeom>
          <a:noFill/>
          <a:ln w="19050">
            <a:solidFill>
              <a:srgbClr val="A8842A"/>
            </a:solidFill>
            <a:prstDash val="solid"/>
            <a:tailEnd type="triangle"/>
          </a:ln>
        </p:spPr>
      </p:sp>
      <p:sp>
        <p:nvSpPr>
          <p:cNvPr id="73" name="Text 70"/>
          <p:cNvSpPr txBox="1"/>
          <p:nvPr/>
        </p:nvSpPr>
        <p:spPr>
          <a:xfrm>
            <a:off x="9835744" y="424281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74" name="Text 71"/>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6.5: RO5 planned workflow for temporal and consent lifecycle trust</a:t>
            </a:r>
            <a:endParaRPr lang="en-AU" sz="1050" dirty="0"/>
          </a:p>
        </p:txBody>
      </p:sp>
      <p:sp>
        <p:nvSpPr>
          <p:cNvPr id="75" name="Shape 72"/>
          <p:cNvSpPr/>
          <p:nvPr/>
        </p:nvSpPr>
        <p:spPr>
          <a:xfrm>
            <a:off x="548640" y="1664208"/>
            <a:ext cx="384048" cy="384048"/>
          </a:xfrm>
          <a:prstGeom prst="ellipse">
            <a:avLst/>
          </a:prstGeom>
          <a:solidFill>
            <a:srgbClr val="13707B"/>
          </a:solidFill>
          <a:ln w="12700">
            <a:solidFill>
              <a:srgbClr val="13707B"/>
            </a:solidFill>
            <a:prstDash val="solid"/>
          </a:ln>
        </p:spPr>
      </p:sp>
      <p:pic>
        <p:nvPicPr>
          <p:cNvPr id="76"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77" name="Text 73"/>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Two added predicates</a:t>
            </a:r>
            <a:endParaRPr lang="en-AU" sz="1500" dirty="0"/>
          </a:p>
        </p:txBody>
      </p:sp>
      <p:sp>
        <p:nvSpPr>
          <p:cNvPr id="78" name="Text 74"/>
          <p:cNvSpPr txBox="1"/>
          <p:nvPr/>
        </p:nvSpPr>
        <p:spPr>
          <a:xfrm>
            <a:off x="1115568" y="197510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T</a:t>
            </a:r>
            <a:r>
              <a:rPr lang="en-AU" sz="1250" dirty="0">
                <a:solidFill>
                  <a:srgbClr val="1C2B31"/>
                </a:solidFill>
                <a:latin typeface="Calibri" pitchFamily="34" charset="0"/>
                <a:ea typeface="Calibri" pitchFamily="34" charset="-122"/>
                <a:cs typeface="Calibri" pitchFamily="34" charset="-120"/>
              </a:rPr>
              <a:t>(C, t): </a:t>
            </a:r>
            <a:r>
              <a:rPr lang="en-AU" sz="1250" dirty="0">
                <a:solidFill>
                  <a:srgbClr val="1C2B31"/>
                </a:solidFill>
                <a:latin typeface="Calibri" pitchFamily="34" charset="0"/>
                <a:ea typeface="Calibri" pitchFamily="34" charset="-122"/>
                <a:cs typeface="Calibri" pitchFamily="34" charset="-120"/>
              </a:rPr>
              <a:t>t</a:t>
            </a:r>
            <a:r>
              <a:rPr lang="en-AU" sz="1480" baseline="-25000" dirty="0">
                <a:solidFill>
                  <a:srgbClr val="1C2B31"/>
                </a:solidFill>
                <a:latin typeface="Calibri" pitchFamily="34" charset="0"/>
                <a:ea typeface="Calibri" pitchFamily="34" charset="-122"/>
                <a:cs typeface="Calibri" pitchFamily="34" charset="-120"/>
              </a:rPr>
              <a:t>s</a:t>
            </a:r>
            <a:r>
              <a:rPr lang="en-AU" sz="1250" dirty="0">
                <a:solidFill>
                  <a:srgbClr val="1C2B31"/>
                </a:solidFill>
                <a:latin typeface="Calibri" pitchFamily="34" charset="0"/>
                <a:ea typeface="Calibri" pitchFamily="34" charset="-122"/>
                <a:cs typeface="Calibri" pitchFamily="34" charset="-120"/>
              </a:rPr>
              <a:t> ≤ t ≤ </a:t>
            </a:r>
            <a:r>
              <a:rPr lang="en-AU" sz="1250" dirty="0">
                <a:solidFill>
                  <a:srgbClr val="1C2B31"/>
                </a:solidFill>
                <a:latin typeface="Calibri" pitchFamily="34" charset="0"/>
                <a:ea typeface="Calibri" pitchFamily="34" charset="-122"/>
                <a:cs typeface="Calibri" pitchFamily="34" charset="-120"/>
              </a:rPr>
              <a:t>t</a:t>
            </a:r>
            <a:r>
              <a:rPr lang="en-AU" sz="1480" baseline="-25000" dirty="0">
                <a:solidFill>
                  <a:srgbClr val="1C2B31"/>
                </a:solidFill>
                <a:latin typeface="Calibri" pitchFamily="34" charset="0"/>
                <a:ea typeface="Calibri" pitchFamily="34" charset="-122"/>
                <a:cs typeface="Calibri" pitchFamily="34" charset="-120"/>
              </a:rPr>
              <a:t>e</a:t>
            </a:r>
            <a:r>
              <a:rPr lang="en-AU" sz="1250" dirty="0">
                <a:solidFill>
                  <a:srgbClr val="1C2B31"/>
                </a:solidFill>
                <a:latin typeface="Calibri" pitchFamily="34" charset="0"/>
                <a:ea typeface="Calibri" pitchFamily="34" charset="-122"/>
                <a:cs typeface="Calibri" pitchFamily="34" charset="-120"/>
              </a:rPr>
              <a:t> (Eq. 12);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L</a:t>
            </a:r>
            <a:r>
              <a:rPr lang="en-AU" sz="1250" dirty="0">
                <a:solidFill>
                  <a:srgbClr val="1C2B31"/>
                </a:solidFill>
                <a:latin typeface="Calibri" pitchFamily="34" charset="0"/>
                <a:ea typeface="Calibri" pitchFamily="34" charset="-122"/>
                <a:cs typeface="Calibri" pitchFamily="34" charset="-120"/>
              </a:rPr>
              <a:t>(C): valid state and valid transition (Eq. 15)</a:t>
            </a:r>
            <a:endParaRPr lang="en-AU" sz="1250" dirty="0"/>
          </a:p>
        </p:txBody>
      </p:sp>
      <p:sp>
        <p:nvSpPr>
          <p:cNvPr id="79" name="Shape 75"/>
          <p:cNvSpPr/>
          <p:nvPr/>
        </p:nvSpPr>
        <p:spPr>
          <a:xfrm>
            <a:off x="548640" y="2841498"/>
            <a:ext cx="384048" cy="384048"/>
          </a:xfrm>
          <a:prstGeom prst="ellipse">
            <a:avLst/>
          </a:prstGeom>
          <a:solidFill>
            <a:srgbClr val="13707B"/>
          </a:solidFill>
          <a:ln w="12700">
            <a:solidFill>
              <a:srgbClr val="13707B"/>
            </a:solidFill>
            <a:prstDash val="solid"/>
          </a:ln>
        </p:spPr>
      </p:sp>
      <p:pic>
        <p:nvPicPr>
          <p:cNvPr id="80"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81" name="Text 76"/>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Prototype: state order</a:t>
            </a:r>
            <a:endParaRPr lang="en-AU" sz="1500" dirty="0"/>
          </a:p>
        </p:txBody>
      </p:sp>
      <p:sp>
        <p:nvSpPr>
          <p:cNvPr id="82" name="Text 77"/>
          <p:cNvSpPr txBox="1"/>
          <p:nvPr/>
        </p:nvSpPr>
        <p:spPr>
          <a:xfrm>
            <a:off x="1115568" y="315239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REVOKED, PENDING_SIGNATURE, PENDING_TOKEN, NOT_STARTED, EXPIRED, ACTIVE; only ACTIVE releases data</a:t>
            </a:r>
            <a:endParaRPr lang="en-AU" sz="1250" dirty="0"/>
          </a:p>
        </p:txBody>
      </p:sp>
      <p:sp>
        <p:nvSpPr>
          <p:cNvPr id="83" name="Shape 78"/>
          <p:cNvSpPr/>
          <p:nvPr/>
        </p:nvSpPr>
        <p:spPr>
          <a:xfrm>
            <a:off x="548640" y="4018788"/>
            <a:ext cx="384048" cy="384048"/>
          </a:xfrm>
          <a:prstGeom prst="ellipse">
            <a:avLst/>
          </a:prstGeom>
          <a:solidFill>
            <a:srgbClr val="13707B"/>
          </a:solidFill>
          <a:ln w="12700">
            <a:solidFill>
              <a:srgbClr val="13707B"/>
            </a:solidFill>
            <a:prstDash val="solid"/>
          </a:ln>
        </p:spPr>
      </p:sp>
      <p:pic>
        <p:nvPicPr>
          <p:cNvPr id="84"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85" name="Text 79"/>
          <p:cNvSpPr txBox="1"/>
          <p:nvPr/>
        </p:nvSpPr>
        <p:spPr>
          <a:xfrm>
            <a:off x="1115568" y="400050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Prototype: revocation</a:t>
            </a:r>
            <a:endParaRPr lang="en-AU" sz="1500" dirty="0"/>
          </a:p>
        </p:txBody>
      </p:sp>
      <p:sp>
        <p:nvSpPr>
          <p:cNvPr id="86" name="Text 80"/>
          <p:cNvSpPr txBox="1"/>
          <p:nvPr/>
        </p:nvSpPr>
        <p:spPr>
          <a:xfrm>
            <a:off x="1115568" y="432968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Patient revocation sets REVOKED and calls revoke() on the contract; v3 enforces the interval on-chain</a:t>
            </a:r>
            <a:endParaRPr lang="en-AU" sz="1250" dirty="0"/>
          </a:p>
        </p:txBody>
      </p:sp>
      <p:sp>
        <p:nvSpPr>
          <p:cNvPr id="87" name="Shape 81"/>
          <p:cNvSpPr/>
          <p:nvPr/>
        </p:nvSpPr>
        <p:spPr>
          <a:xfrm>
            <a:off x="548640" y="5196078"/>
            <a:ext cx="384048" cy="384048"/>
          </a:xfrm>
          <a:prstGeom prst="ellipse">
            <a:avLst/>
          </a:prstGeom>
          <a:solidFill>
            <a:srgbClr val="13707B"/>
          </a:solidFill>
          <a:ln w="12700">
            <a:solidFill>
              <a:srgbClr val="13707B"/>
            </a:solidFill>
            <a:prstDash val="solid"/>
          </a:ln>
        </p:spPr>
      </p:sp>
      <p:pic>
        <p:nvPicPr>
          <p:cNvPr id="88"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89" name="Text 82"/>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Remaining for CA3</a:t>
            </a:r>
            <a:endParaRPr lang="en-AU" sz="1500" dirty="0"/>
          </a:p>
        </p:txBody>
      </p:sp>
      <p:sp>
        <p:nvSpPr>
          <p:cNvPr id="90" name="Text 83"/>
          <p:cNvSpPr txBox="1"/>
          <p:nvPr/>
        </p:nvSpPr>
        <p:spPr>
          <a:xfrm>
            <a:off x="1115568" y="550697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Specification of legal state transitions, formal analysis of Eqs. 20–21, and adversarial evaluation</a:t>
            </a:r>
            <a:endParaRPr lang="en-AU"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RO6: successful execution is not proof of security</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Primarily CA3. Section 6.6, Figure 6.6, Algorithm 6: observed decisions tested against formal properties</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27 / 43</a:t>
            </a:r>
            <a:endParaRPr lang="en-AU" sz="1000" dirty="0"/>
          </a:p>
        </p:txBody>
      </p:sp>
      <p:sp>
        <p:nvSpPr>
          <p:cNvPr id="7" name="Shape 4"/>
          <p:cNvSpPr/>
          <p:nvPr/>
        </p:nvSpPr>
        <p:spPr>
          <a:xfrm>
            <a:off x="4754880" y="1536192"/>
            <a:ext cx="6888175" cy="4791456"/>
          </a:xfrm>
          <a:prstGeom prst="roundRect">
            <a:avLst>
              <a:gd name="adj" fmla="val 1527"/>
            </a:avLst>
          </a:prstGeom>
          <a:solidFill>
            <a:srgbClr val="F4F8F9"/>
          </a:solidFill>
          <a:ln w="9525">
            <a:solidFill>
              <a:srgbClr val="D5E0E2"/>
            </a:solidFill>
            <a:prstDash val="solid"/>
          </a:ln>
        </p:spPr>
      </p:sp>
      <p:sp>
        <p:nvSpPr>
          <p:cNvPr id="8" name="Shape 5"/>
          <p:cNvSpPr/>
          <p:nvPr/>
        </p:nvSpPr>
        <p:spPr>
          <a:xfrm>
            <a:off x="4907128" y="1645920"/>
            <a:ext cx="2057400" cy="512064"/>
          </a:xfrm>
          <a:prstGeom prst="roundRect">
            <a:avLst>
              <a:gd name="adj" fmla="val 21429"/>
            </a:avLst>
          </a:prstGeom>
          <a:solidFill>
            <a:srgbClr val="FFF2CC"/>
          </a:solidFill>
          <a:ln w="19050">
            <a:solidFill>
              <a:srgbClr val="D6B656"/>
            </a:solidFill>
            <a:prstDash val="solid"/>
          </a:ln>
        </p:spPr>
      </p:sp>
      <p:sp>
        <p:nvSpPr>
          <p:cNvPr id="9" name="Text 6"/>
          <p:cNvSpPr txBox="1"/>
          <p:nvPr/>
        </p:nvSpPr>
        <p:spPr>
          <a:xfrm>
            <a:off x="4971136" y="1673352"/>
            <a:ext cx="1929384" cy="457200"/>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Define Security and Authorisation Properties</a:t>
            </a:r>
            <a:endParaRPr lang="en-AU" sz="1050" dirty="0"/>
          </a:p>
        </p:txBody>
      </p:sp>
      <p:sp>
        <p:nvSpPr>
          <p:cNvPr id="10" name="Shape 7"/>
          <p:cNvSpPr/>
          <p:nvPr/>
        </p:nvSpPr>
        <p:spPr>
          <a:xfrm>
            <a:off x="7147408" y="1645920"/>
            <a:ext cx="2103120" cy="512064"/>
          </a:xfrm>
          <a:prstGeom prst="rect">
            <a:avLst/>
          </a:prstGeom>
          <a:solidFill>
            <a:srgbClr val="FFF2CC"/>
          </a:solidFill>
          <a:ln w="19050">
            <a:solidFill>
              <a:srgbClr val="D6B656"/>
            </a:solidFill>
            <a:prstDash val="solid"/>
          </a:ln>
        </p:spPr>
      </p:sp>
      <p:sp>
        <p:nvSpPr>
          <p:cNvPr id="11" name="Text 8"/>
          <p:cNvSpPr txBox="1"/>
          <p:nvPr/>
        </p:nvSpPr>
        <p:spPr>
          <a:xfrm>
            <a:off x="7211416" y="1673352"/>
            <a:ext cx="1975104" cy="457200"/>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Define Valid, Negative and Adversarial Scenarios</a:t>
            </a:r>
            <a:endParaRPr lang="en-AU" sz="1050" dirty="0"/>
          </a:p>
        </p:txBody>
      </p:sp>
      <p:sp>
        <p:nvSpPr>
          <p:cNvPr id="12" name="Shape 9"/>
          <p:cNvSpPr/>
          <p:nvPr/>
        </p:nvSpPr>
        <p:spPr>
          <a:xfrm>
            <a:off x="9433408" y="1645920"/>
            <a:ext cx="2057400" cy="512064"/>
          </a:xfrm>
          <a:prstGeom prst="rect">
            <a:avLst/>
          </a:prstGeom>
          <a:solidFill>
            <a:srgbClr val="FFF2CC"/>
          </a:solidFill>
          <a:ln w="19050">
            <a:solidFill>
              <a:srgbClr val="D6B656"/>
            </a:solidFill>
            <a:prstDash val="solid"/>
          </a:ln>
        </p:spPr>
      </p:sp>
      <p:sp>
        <p:nvSpPr>
          <p:cNvPr id="13" name="Text 10"/>
          <p:cNvSpPr txBox="1"/>
          <p:nvPr/>
        </p:nvSpPr>
        <p:spPr>
          <a:xfrm>
            <a:off x="9497416" y="1673352"/>
            <a:ext cx="1929384" cy="457200"/>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Construct Validation Scenario Set</a:t>
            </a:r>
            <a:endParaRPr lang="en-AU" sz="1050" dirty="0"/>
          </a:p>
        </p:txBody>
      </p:sp>
      <p:sp>
        <p:nvSpPr>
          <p:cNvPr id="14" name="Shape 11"/>
          <p:cNvSpPr/>
          <p:nvPr/>
        </p:nvSpPr>
        <p:spPr>
          <a:xfrm>
            <a:off x="6964528" y="1901952"/>
            <a:ext cx="182880" cy="0"/>
          </a:xfrm>
          <a:prstGeom prst="line">
            <a:avLst/>
          </a:prstGeom>
          <a:noFill/>
          <a:ln w="19050">
            <a:solidFill>
              <a:srgbClr val="A8842A"/>
            </a:solidFill>
            <a:prstDash val="solid"/>
            <a:tailEnd type="triangle"/>
          </a:ln>
        </p:spPr>
      </p:sp>
      <p:sp>
        <p:nvSpPr>
          <p:cNvPr id="15" name="Shape 12"/>
          <p:cNvSpPr/>
          <p:nvPr/>
        </p:nvSpPr>
        <p:spPr>
          <a:xfrm>
            <a:off x="9250528" y="1901952"/>
            <a:ext cx="182880" cy="0"/>
          </a:xfrm>
          <a:prstGeom prst="line">
            <a:avLst/>
          </a:prstGeom>
          <a:noFill/>
          <a:ln w="19050">
            <a:solidFill>
              <a:srgbClr val="A8842A"/>
            </a:solidFill>
            <a:prstDash val="solid"/>
            <a:tailEnd type="triangle"/>
          </a:ln>
        </p:spPr>
      </p:sp>
      <p:sp>
        <p:nvSpPr>
          <p:cNvPr id="16" name="Shape 13"/>
          <p:cNvSpPr/>
          <p:nvPr/>
        </p:nvSpPr>
        <p:spPr>
          <a:xfrm>
            <a:off x="9364828" y="2359152"/>
            <a:ext cx="2194560" cy="475488"/>
          </a:xfrm>
          <a:prstGeom prst="rect">
            <a:avLst/>
          </a:prstGeom>
          <a:solidFill>
            <a:srgbClr val="FFF2CC"/>
          </a:solidFill>
          <a:ln w="19050">
            <a:solidFill>
              <a:srgbClr val="D6B656"/>
            </a:solidFill>
            <a:prstDash val="solid"/>
          </a:ln>
        </p:spPr>
      </p:sp>
      <p:sp>
        <p:nvSpPr>
          <p:cNvPr id="17" name="Text 14"/>
          <p:cNvSpPr txBox="1"/>
          <p:nvPr/>
        </p:nvSpPr>
        <p:spPr>
          <a:xfrm>
            <a:off x="9428836" y="2386584"/>
            <a:ext cx="2066544" cy="42062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Execute Negative and Adversarial Scenarios</a:t>
            </a:r>
            <a:endParaRPr lang="en-AU" sz="1050" dirty="0"/>
          </a:p>
        </p:txBody>
      </p:sp>
      <p:sp>
        <p:nvSpPr>
          <p:cNvPr id="18" name="Shape 15"/>
          <p:cNvSpPr/>
          <p:nvPr/>
        </p:nvSpPr>
        <p:spPr>
          <a:xfrm>
            <a:off x="6004408" y="2395728"/>
            <a:ext cx="2194560" cy="402336"/>
          </a:xfrm>
          <a:prstGeom prst="rect">
            <a:avLst/>
          </a:prstGeom>
          <a:solidFill>
            <a:srgbClr val="FFF2CC"/>
          </a:solidFill>
          <a:ln w="19050">
            <a:solidFill>
              <a:srgbClr val="D6B656"/>
            </a:solidFill>
            <a:prstDash val="solid"/>
          </a:ln>
        </p:spPr>
      </p:sp>
      <p:sp>
        <p:nvSpPr>
          <p:cNvPr id="19" name="Text 16"/>
          <p:cNvSpPr txBox="1"/>
          <p:nvPr/>
        </p:nvSpPr>
        <p:spPr>
          <a:xfrm>
            <a:off x="6068416" y="2423160"/>
            <a:ext cx="206654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Execute Valid Consent Workflow</a:t>
            </a:r>
            <a:endParaRPr lang="en-AU" sz="1050" dirty="0"/>
          </a:p>
        </p:txBody>
      </p:sp>
      <p:sp>
        <p:nvSpPr>
          <p:cNvPr id="20" name="Shape 17"/>
          <p:cNvSpPr/>
          <p:nvPr/>
        </p:nvSpPr>
        <p:spPr>
          <a:xfrm>
            <a:off x="10462108" y="2157984"/>
            <a:ext cx="0" cy="201168"/>
          </a:xfrm>
          <a:prstGeom prst="line">
            <a:avLst/>
          </a:prstGeom>
          <a:noFill/>
          <a:ln w="19050">
            <a:solidFill>
              <a:srgbClr val="A8842A"/>
            </a:solidFill>
            <a:prstDash val="solid"/>
            <a:tailEnd type="triangle"/>
          </a:ln>
        </p:spPr>
      </p:sp>
      <p:sp>
        <p:nvSpPr>
          <p:cNvPr id="21" name="Shape 18"/>
          <p:cNvSpPr/>
          <p:nvPr/>
        </p:nvSpPr>
        <p:spPr>
          <a:xfrm flipH="1">
            <a:off x="7101688" y="2258568"/>
            <a:ext cx="3360420" cy="0"/>
          </a:xfrm>
          <a:prstGeom prst="line">
            <a:avLst/>
          </a:prstGeom>
          <a:noFill/>
          <a:ln w="19050">
            <a:solidFill>
              <a:srgbClr val="A8842A"/>
            </a:solidFill>
            <a:prstDash val="solid"/>
          </a:ln>
        </p:spPr>
      </p:sp>
      <p:sp>
        <p:nvSpPr>
          <p:cNvPr id="22" name="Shape 19"/>
          <p:cNvSpPr/>
          <p:nvPr/>
        </p:nvSpPr>
        <p:spPr>
          <a:xfrm>
            <a:off x="7101688" y="2258568"/>
            <a:ext cx="0" cy="137160"/>
          </a:xfrm>
          <a:prstGeom prst="line">
            <a:avLst/>
          </a:prstGeom>
          <a:noFill/>
          <a:ln w="19050">
            <a:solidFill>
              <a:srgbClr val="A8842A"/>
            </a:solidFill>
            <a:prstDash val="solid"/>
            <a:tailEnd type="triangle"/>
          </a:ln>
        </p:spPr>
      </p:sp>
      <p:sp>
        <p:nvSpPr>
          <p:cNvPr id="23" name="Shape 20"/>
          <p:cNvSpPr/>
          <p:nvPr/>
        </p:nvSpPr>
        <p:spPr>
          <a:xfrm>
            <a:off x="6918808" y="3054096"/>
            <a:ext cx="2560320" cy="365760"/>
          </a:xfrm>
          <a:prstGeom prst="rect">
            <a:avLst/>
          </a:prstGeom>
          <a:solidFill>
            <a:srgbClr val="FFF2CC"/>
          </a:solidFill>
          <a:ln w="19050">
            <a:solidFill>
              <a:srgbClr val="D6B656"/>
            </a:solidFill>
            <a:prstDash val="solid"/>
          </a:ln>
        </p:spPr>
      </p:sp>
      <p:sp>
        <p:nvSpPr>
          <p:cNvPr id="24" name="Text 21"/>
          <p:cNvSpPr txBox="1"/>
          <p:nvPr/>
        </p:nvSpPr>
        <p:spPr>
          <a:xfrm>
            <a:off x="6982816" y="3081528"/>
            <a:ext cx="243230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Collect Decision and Audit Evidence</a:t>
            </a:r>
            <a:endParaRPr lang="en-AU" sz="1050" dirty="0"/>
          </a:p>
        </p:txBody>
      </p:sp>
      <p:sp>
        <p:nvSpPr>
          <p:cNvPr id="25" name="Shape 22"/>
          <p:cNvSpPr/>
          <p:nvPr/>
        </p:nvSpPr>
        <p:spPr>
          <a:xfrm>
            <a:off x="7101688" y="2798064"/>
            <a:ext cx="0" cy="137160"/>
          </a:xfrm>
          <a:prstGeom prst="line">
            <a:avLst/>
          </a:prstGeom>
          <a:noFill/>
          <a:ln w="19050">
            <a:solidFill>
              <a:srgbClr val="A8842A"/>
            </a:solidFill>
            <a:prstDash val="solid"/>
          </a:ln>
        </p:spPr>
      </p:sp>
      <p:sp>
        <p:nvSpPr>
          <p:cNvPr id="26" name="Shape 23"/>
          <p:cNvSpPr/>
          <p:nvPr/>
        </p:nvSpPr>
        <p:spPr>
          <a:xfrm>
            <a:off x="7101688" y="2935224"/>
            <a:ext cx="777240" cy="0"/>
          </a:xfrm>
          <a:prstGeom prst="line">
            <a:avLst/>
          </a:prstGeom>
          <a:noFill/>
          <a:ln w="19050">
            <a:solidFill>
              <a:srgbClr val="A8842A"/>
            </a:solidFill>
            <a:prstDash val="solid"/>
          </a:ln>
        </p:spPr>
      </p:sp>
      <p:sp>
        <p:nvSpPr>
          <p:cNvPr id="27" name="Shape 24"/>
          <p:cNvSpPr/>
          <p:nvPr/>
        </p:nvSpPr>
        <p:spPr>
          <a:xfrm>
            <a:off x="7878928" y="2935224"/>
            <a:ext cx="0" cy="118872"/>
          </a:xfrm>
          <a:prstGeom prst="line">
            <a:avLst/>
          </a:prstGeom>
          <a:noFill/>
          <a:ln w="19050">
            <a:solidFill>
              <a:srgbClr val="A8842A"/>
            </a:solidFill>
            <a:prstDash val="solid"/>
            <a:tailEnd type="triangle"/>
          </a:ln>
        </p:spPr>
      </p:sp>
      <p:sp>
        <p:nvSpPr>
          <p:cNvPr id="28" name="Shape 25"/>
          <p:cNvSpPr/>
          <p:nvPr/>
        </p:nvSpPr>
        <p:spPr>
          <a:xfrm>
            <a:off x="10462108" y="2834640"/>
            <a:ext cx="0" cy="100584"/>
          </a:xfrm>
          <a:prstGeom prst="line">
            <a:avLst/>
          </a:prstGeom>
          <a:noFill/>
          <a:ln w="19050">
            <a:solidFill>
              <a:srgbClr val="A8842A"/>
            </a:solidFill>
            <a:prstDash val="solid"/>
          </a:ln>
        </p:spPr>
      </p:sp>
      <p:sp>
        <p:nvSpPr>
          <p:cNvPr id="29" name="Shape 26"/>
          <p:cNvSpPr/>
          <p:nvPr/>
        </p:nvSpPr>
        <p:spPr>
          <a:xfrm flipH="1">
            <a:off x="8519008" y="2935224"/>
            <a:ext cx="1943100" cy="0"/>
          </a:xfrm>
          <a:prstGeom prst="line">
            <a:avLst/>
          </a:prstGeom>
          <a:noFill/>
          <a:ln w="19050">
            <a:solidFill>
              <a:srgbClr val="A8842A"/>
            </a:solidFill>
            <a:prstDash val="solid"/>
          </a:ln>
        </p:spPr>
      </p:sp>
      <p:sp>
        <p:nvSpPr>
          <p:cNvPr id="30" name="Shape 27"/>
          <p:cNvSpPr/>
          <p:nvPr/>
        </p:nvSpPr>
        <p:spPr>
          <a:xfrm>
            <a:off x="8519008" y="2935224"/>
            <a:ext cx="0" cy="118872"/>
          </a:xfrm>
          <a:prstGeom prst="line">
            <a:avLst/>
          </a:prstGeom>
          <a:noFill/>
          <a:ln w="19050">
            <a:solidFill>
              <a:srgbClr val="A8842A"/>
            </a:solidFill>
            <a:prstDash val="solid"/>
            <a:tailEnd type="triangle"/>
          </a:ln>
        </p:spPr>
      </p:sp>
      <p:sp>
        <p:nvSpPr>
          <p:cNvPr id="31" name="Shape 28"/>
          <p:cNvSpPr/>
          <p:nvPr/>
        </p:nvSpPr>
        <p:spPr>
          <a:xfrm>
            <a:off x="6827368" y="3639312"/>
            <a:ext cx="2743200" cy="365760"/>
          </a:xfrm>
          <a:prstGeom prst="rect">
            <a:avLst/>
          </a:prstGeom>
          <a:solidFill>
            <a:srgbClr val="FFF2CC"/>
          </a:solidFill>
          <a:ln w="19050">
            <a:solidFill>
              <a:srgbClr val="D6B656"/>
            </a:solidFill>
            <a:prstDash val="solid"/>
          </a:ln>
        </p:spPr>
      </p:sp>
      <p:sp>
        <p:nvSpPr>
          <p:cNvPr id="32" name="Text 29"/>
          <p:cNvSpPr txBox="1"/>
          <p:nvPr/>
        </p:nvSpPr>
        <p:spPr>
          <a:xfrm>
            <a:off x="6891376" y="3666744"/>
            <a:ext cx="2615184" cy="31089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Compare Observed and Expected Decisions</a:t>
            </a:r>
            <a:endParaRPr lang="en-AU" sz="1050" dirty="0"/>
          </a:p>
        </p:txBody>
      </p:sp>
      <p:sp>
        <p:nvSpPr>
          <p:cNvPr id="33" name="Shape 30"/>
          <p:cNvSpPr/>
          <p:nvPr/>
        </p:nvSpPr>
        <p:spPr>
          <a:xfrm>
            <a:off x="8198968" y="3419856"/>
            <a:ext cx="0" cy="219456"/>
          </a:xfrm>
          <a:prstGeom prst="line">
            <a:avLst/>
          </a:prstGeom>
          <a:noFill/>
          <a:ln w="19050">
            <a:solidFill>
              <a:srgbClr val="A8842A"/>
            </a:solidFill>
            <a:prstDash val="solid"/>
            <a:tailEnd type="triangle"/>
          </a:ln>
        </p:spPr>
      </p:sp>
      <p:sp>
        <p:nvSpPr>
          <p:cNvPr id="34" name="Shape 31"/>
          <p:cNvSpPr/>
          <p:nvPr/>
        </p:nvSpPr>
        <p:spPr>
          <a:xfrm>
            <a:off x="6278728" y="4206240"/>
            <a:ext cx="3840480" cy="493776"/>
          </a:xfrm>
          <a:prstGeom prst="rect">
            <a:avLst/>
          </a:prstGeom>
          <a:solidFill>
            <a:srgbClr val="FFF2CC"/>
          </a:solidFill>
          <a:ln w="19050">
            <a:solidFill>
              <a:srgbClr val="D6B656"/>
            </a:solidFill>
            <a:prstDash val="solid"/>
          </a:ln>
        </p:spPr>
      </p:sp>
      <p:sp>
        <p:nvSpPr>
          <p:cNvPr id="35" name="Text 32"/>
          <p:cNvSpPr txBox="1"/>
          <p:nvPr/>
        </p:nvSpPr>
        <p:spPr>
          <a:xfrm>
            <a:off x="6342736" y="4233672"/>
            <a:ext cx="3712464" cy="43891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Evaluate Security Properties (soundness, denial, threshold, policy scope, audit consistency)</a:t>
            </a:r>
            <a:endParaRPr lang="en-AU" sz="1050" dirty="0"/>
          </a:p>
        </p:txBody>
      </p:sp>
      <p:sp>
        <p:nvSpPr>
          <p:cNvPr id="36" name="Shape 33"/>
          <p:cNvSpPr/>
          <p:nvPr/>
        </p:nvSpPr>
        <p:spPr>
          <a:xfrm>
            <a:off x="8198968" y="4005072"/>
            <a:ext cx="0" cy="201168"/>
          </a:xfrm>
          <a:prstGeom prst="line">
            <a:avLst/>
          </a:prstGeom>
          <a:noFill/>
          <a:ln w="19050">
            <a:solidFill>
              <a:srgbClr val="A8842A"/>
            </a:solidFill>
            <a:prstDash val="solid"/>
            <a:tailEnd type="triangle"/>
          </a:ln>
        </p:spPr>
      </p:sp>
      <p:sp>
        <p:nvSpPr>
          <p:cNvPr id="37" name="Shape 34"/>
          <p:cNvSpPr/>
          <p:nvPr/>
        </p:nvSpPr>
        <p:spPr>
          <a:xfrm>
            <a:off x="7238848" y="4882896"/>
            <a:ext cx="1920240" cy="475488"/>
          </a:xfrm>
          <a:prstGeom prst="diamond">
            <a:avLst/>
          </a:prstGeom>
          <a:solidFill>
            <a:srgbClr val="FFF2CC"/>
          </a:solidFill>
          <a:ln w="19050">
            <a:solidFill>
              <a:srgbClr val="D6B656"/>
            </a:solidFill>
            <a:prstDash val="solid"/>
          </a:ln>
        </p:spPr>
      </p:sp>
      <p:sp>
        <p:nvSpPr>
          <p:cNvPr id="38" name="Text 35"/>
          <p:cNvSpPr txBox="1"/>
          <p:nvPr/>
        </p:nvSpPr>
        <p:spPr>
          <a:xfrm>
            <a:off x="7565288" y="4944709"/>
            <a:ext cx="1267358" cy="351861"/>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Properties Satisfied?</a:t>
            </a:r>
            <a:endParaRPr lang="en-AU" sz="1050" dirty="0"/>
          </a:p>
        </p:txBody>
      </p:sp>
      <p:sp>
        <p:nvSpPr>
          <p:cNvPr id="39" name="Shape 36"/>
          <p:cNvSpPr/>
          <p:nvPr/>
        </p:nvSpPr>
        <p:spPr>
          <a:xfrm>
            <a:off x="8198968" y="4700016"/>
            <a:ext cx="0" cy="182880"/>
          </a:xfrm>
          <a:prstGeom prst="line">
            <a:avLst/>
          </a:prstGeom>
          <a:noFill/>
          <a:ln w="19050">
            <a:solidFill>
              <a:srgbClr val="A8842A"/>
            </a:solidFill>
            <a:prstDash val="solid"/>
            <a:tailEnd type="triangle"/>
          </a:ln>
        </p:spPr>
      </p:sp>
      <p:sp>
        <p:nvSpPr>
          <p:cNvPr id="40" name="Shape 37"/>
          <p:cNvSpPr/>
          <p:nvPr/>
        </p:nvSpPr>
        <p:spPr>
          <a:xfrm>
            <a:off x="9799168" y="4919472"/>
            <a:ext cx="1645920" cy="402336"/>
          </a:xfrm>
          <a:prstGeom prst="rect">
            <a:avLst/>
          </a:prstGeom>
          <a:solidFill>
            <a:srgbClr val="FFF2CC"/>
          </a:solidFill>
          <a:ln w="19050">
            <a:solidFill>
              <a:srgbClr val="D6B656"/>
            </a:solidFill>
            <a:prstDash val="solid"/>
          </a:ln>
        </p:spPr>
      </p:sp>
      <p:sp>
        <p:nvSpPr>
          <p:cNvPr id="41" name="Text 38"/>
          <p:cNvSpPr txBox="1"/>
          <p:nvPr/>
        </p:nvSpPr>
        <p:spPr>
          <a:xfrm>
            <a:off x="9863176" y="4946904"/>
            <a:ext cx="151790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Analyse Failures and Limitations</a:t>
            </a:r>
            <a:endParaRPr lang="en-AU" sz="1050" dirty="0"/>
          </a:p>
        </p:txBody>
      </p:sp>
      <p:sp>
        <p:nvSpPr>
          <p:cNvPr id="42" name="Shape 39"/>
          <p:cNvSpPr/>
          <p:nvPr/>
        </p:nvSpPr>
        <p:spPr>
          <a:xfrm>
            <a:off x="9159088" y="5120640"/>
            <a:ext cx="640080" cy="0"/>
          </a:xfrm>
          <a:prstGeom prst="line">
            <a:avLst/>
          </a:prstGeom>
          <a:noFill/>
          <a:ln w="19050">
            <a:solidFill>
              <a:srgbClr val="A8842A"/>
            </a:solidFill>
            <a:prstDash val="solid"/>
            <a:tailEnd type="triangle"/>
          </a:ln>
        </p:spPr>
      </p:sp>
      <p:sp>
        <p:nvSpPr>
          <p:cNvPr id="43" name="Text 40"/>
          <p:cNvSpPr txBox="1"/>
          <p:nvPr/>
        </p:nvSpPr>
        <p:spPr>
          <a:xfrm>
            <a:off x="9195664" y="493776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44" name="Shape 41"/>
          <p:cNvSpPr/>
          <p:nvPr/>
        </p:nvSpPr>
        <p:spPr>
          <a:xfrm>
            <a:off x="6827368" y="5522976"/>
            <a:ext cx="2743200" cy="402336"/>
          </a:xfrm>
          <a:prstGeom prst="roundRect">
            <a:avLst>
              <a:gd name="adj" fmla="val 27273"/>
            </a:avLst>
          </a:prstGeom>
          <a:solidFill>
            <a:srgbClr val="FFF2CC"/>
          </a:solidFill>
          <a:ln w="19050">
            <a:solidFill>
              <a:srgbClr val="D6B656"/>
            </a:solidFill>
            <a:prstDash val="solid"/>
          </a:ln>
        </p:spPr>
      </p:sp>
      <p:sp>
        <p:nvSpPr>
          <p:cNvPr id="45" name="Text 42"/>
          <p:cNvSpPr txBox="1"/>
          <p:nvPr/>
        </p:nvSpPr>
        <p:spPr>
          <a:xfrm>
            <a:off x="6891376" y="5550408"/>
            <a:ext cx="2615184" cy="347472"/>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Document Evidence and Limitations</a:t>
            </a:r>
            <a:endParaRPr lang="en-AU" sz="1050" dirty="0"/>
          </a:p>
        </p:txBody>
      </p:sp>
      <p:sp>
        <p:nvSpPr>
          <p:cNvPr id="46" name="Shape 43"/>
          <p:cNvSpPr/>
          <p:nvPr/>
        </p:nvSpPr>
        <p:spPr>
          <a:xfrm>
            <a:off x="8198968" y="5358384"/>
            <a:ext cx="0" cy="164592"/>
          </a:xfrm>
          <a:prstGeom prst="line">
            <a:avLst/>
          </a:prstGeom>
          <a:noFill/>
          <a:ln w="19050">
            <a:solidFill>
              <a:srgbClr val="A8842A"/>
            </a:solidFill>
            <a:prstDash val="solid"/>
            <a:tailEnd type="triangle"/>
          </a:ln>
        </p:spPr>
      </p:sp>
      <p:sp>
        <p:nvSpPr>
          <p:cNvPr id="47" name="Text 44"/>
          <p:cNvSpPr txBox="1"/>
          <p:nvPr/>
        </p:nvSpPr>
        <p:spPr>
          <a:xfrm>
            <a:off x="8253832" y="534009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48" name="Shape 45"/>
          <p:cNvSpPr/>
          <p:nvPr/>
        </p:nvSpPr>
        <p:spPr>
          <a:xfrm>
            <a:off x="10622128" y="5321808"/>
            <a:ext cx="0" cy="402336"/>
          </a:xfrm>
          <a:prstGeom prst="line">
            <a:avLst/>
          </a:prstGeom>
          <a:noFill/>
          <a:ln w="19050">
            <a:solidFill>
              <a:srgbClr val="A8842A"/>
            </a:solidFill>
            <a:prstDash val="solid"/>
          </a:ln>
        </p:spPr>
      </p:sp>
      <p:sp>
        <p:nvSpPr>
          <p:cNvPr id="49" name="Shape 46"/>
          <p:cNvSpPr/>
          <p:nvPr/>
        </p:nvSpPr>
        <p:spPr>
          <a:xfrm flipH="1">
            <a:off x="9570568" y="5724144"/>
            <a:ext cx="1051560" cy="0"/>
          </a:xfrm>
          <a:prstGeom prst="line">
            <a:avLst/>
          </a:prstGeom>
          <a:noFill/>
          <a:ln w="19050">
            <a:solidFill>
              <a:srgbClr val="A8842A"/>
            </a:solidFill>
            <a:prstDash val="solid"/>
            <a:tailEnd type="triangle"/>
          </a:ln>
        </p:spPr>
      </p:sp>
      <p:sp>
        <p:nvSpPr>
          <p:cNvPr id="50" name="Text 47"/>
          <p:cNvSpPr txBox="1"/>
          <p:nvPr/>
        </p:nvSpPr>
        <p:spPr>
          <a:xfrm>
            <a:off x="4892040" y="5980176"/>
            <a:ext cx="661385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6.6: RO6 planned workflow for formal security assurance and empirical validation</a:t>
            </a:r>
            <a:endParaRPr lang="en-AU" sz="1050" dirty="0"/>
          </a:p>
        </p:txBody>
      </p:sp>
      <p:sp>
        <p:nvSpPr>
          <p:cNvPr id="51" name="Shape 48"/>
          <p:cNvSpPr/>
          <p:nvPr/>
        </p:nvSpPr>
        <p:spPr>
          <a:xfrm>
            <a:off x="548640" y="1664208"/>
            <a:ext cx="384048" cy="384048"/>
          </a:xfrm>
          <a:prstGeom prst="ellipse">
            <a:avLst/>
          </a:prstGeom>
          <a:solidFill>
            <a:srgbClr val="13707B"/>
          </a:solidFill>
          <a:ln w="12700">
            <a:solidFill>
              <a:srgbClr val="13707B"/>
            </a:solidFill>
            <a:prstDash val="solid"/>
          </a:ln>
        </p:spPr>
      </p:sp>
      <p:pic>
        <p:nvPicPr>
          <p:cNvPr id="52" name="Image 0" descr="preencoded.png">    </p:cNvPr>
          <p:cNvPicPr>
            <a:picLocks noChangeAspect="1"/>
          </p:cNvPicPr>
          <p:nvPr/>
        </p:nvPicPr>
        <p:blipFill>
          <a:blip r:embed="rId1"/>
          <a:stretch>
            <a:fillRect/>
          </a:stretch>
        </p:blipFill>
        <p:spPr>
          <a:xfrm>
            <a:off x="640812" y="1756380"/>
            <a:ext cx="199705" cy="199705"/>
          </a:xfrm>
          <a:prstGeom prst="rect">
            <a:avLst/>
          </a:prstGeom>
        </p:spPr>
      </p:pic>
      <p:sp>
        <p:nvSpPr>
          <p:cNvPr id="53" name="Text 49"/>
          <p:cNvSpPr txBox="1"/>
          <p:nvPr/>
        </p:nvSpPr>
        <p:spPr>
          <a:xfrm>
            <a:off x="1115568" y="164592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Three scenario classes</a:t>
            </a:r>
            <a:endParaRPr lang="en-AU" sz="1500" dirty="0"/>
          </a:p>
        </p:txBody>
      </p:sp>
      <p:sp>
        <p:nvSpPr>
          <p:cNvPr id="54" name="Text 50"/>
          <p:cNvSpPr txBox="1"/>
          <p:nvPr/>
        </p:nvSpPr>
        <p:spPr>
          <a:xfrm>
            <a:off x="1115568" y="197510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S =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valid</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negative</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adv</a:t>
            </a:r>
            <a:r>
              <a:rPr lang="en-AU" sz="1250" dirty="0">
                <a:solidFill>
                  <a:srgbClr val="1C2B31"/>
                </a:solidFill>
                <a:latin typeface="Calibri" pitchFamily="34" charset="0"/>
                <a:ea typeface="Calibri" pitchFamily="34" charset="-122"/>
                <a:cs typeface="Calibri" pitchFamily="34" charset="-120"/>
              </a:rPr>
              <a:t>: legitimate workflows, rule violations and bypass attempts</a:t>
            </a:r>
            <a:endParaRPr lang="en-AU" sz="1250" dirty="0"/>
          </a:p>
        </p:txBody>
      </p:sp>
      <p:sp>
        <p:nvSpPr>
          <p:cNvPr id="55" name="Shape 51"/>
          <p:cNvSpPr/>
          <p:nvPr/>
        </p:nvSpPr>
        <p:spPr>
          <a:xfrm>
            <a:off x="548640" y="2841498"/>
            <a:ext cx="384048" cy="384048"/>
          </a:xfrm>
          <a:prstGeom prst="ellipse">
            <a:avLst/>
          </a:prstGeom>
          <a:solidFill>
            <a:srgbClr val="13707B"/>
          </a:solidFill>
          <a:ln w="12700">
            <a:solidFill>
              <a:srgbClr val="13707B"/>
            </a:solidFill>
            <a:prstDash val="solid"/>
          </a:ln>
        </p:spPr>
      </p:sp>
      <p:pic>
        <p:nvPicPr>
          <p:cNvPr id="56" name="Image 1" descr="preencoded.png">    </p:cNvPr>
          <p:cNvPicPr>
            <a:picLocks noChangeAspect="1"/>
          </p:cNvPicPr>
          <p:nvPr/>
        </p:nvPicPr>
        <p:blipFill>
          <a:blip r:embed="rId2"/>
          <a:stretch>
            <a:fillRect/>
          </a:stretch>
        </p:blipFill>
        <p:spPr>
          <a:xfrm>
            <a:off x="640812" y="2933670"/>
            <a:ext cx="199705" cy="199705"/>
          </a:xfrm>
          <a:prstGeom prst="rect">
            <a:avLst/>
          </a:prstGeom>
        </p:spPr>
      </p:pic>
      <p:sp>
        <p:nvSpPr>
          <p:cNvPr id="57" name="Text 52"/>
          <p:cNvSpPr txBox="1"/>
          <p:nvPr/>
        </p:nvSpPr>
        <p:spPr>
          <a:xfrm>
            <a:off x="1115568" y="282321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Six properties</a:t>
            </a:r>
            <a:endParaRPr lang="en-AU" sz="1500" dirty="0"/>
          </a:p>
        </p:txBody>
      </p:sp>
      <p:sp>
        <p:nvSpPr>
          <p:cNvPr id="58" name="Text 53"/>
          <p:cNvSpPr txBox="1"/>
          <p:nvPr/>
        </p:nvSpPr>
        <p:spPr>
          <a:xfrm>
            <a:off x="1115568" y="315239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sound</a:t>
            </a:r>
            <a:r>
              <a:rPr lang="en-AU" sz="1250" dirty="0">
                <a:solidFill>
                  <a:srgbClr val="1C2B31"/>
                </a:solidFill>
                <a:latin typeface="Calibri" pitchFamily="34" charset="0"/>
                <a:ea typeface="Calibri" pitchFamily="34" charset="-122"/>
                <a:cs typeface="Calibri" pitchFamily="34" charset="-120"/>
              </a:rPr>
              <a:t>, </a:t>
            </a: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deny</a:t>
            </a:r>
            <a:r>
              <a:rPr lang="en-AU" sz="1250" dirty="0">
                <a:solidFill>
                  <a:srgbClr val="1C2B31"/>
                </a:solidFill>
                <a:latin typeface="Calibri" pitchFamily="34" charset="0"/>
                <a:ea typeface="Calibri" pitchFamily="34" charset="-122"/>
                <a:cs typeface="Calibri" pitchFamily="34" charset="-120"/>
              </a:rPr>
              <a:t>, </a:t>
            </a: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threshold</a:t>
            </a:r>
            <a:r>
              <a:rPr lang="en-AU" sz="1250" dirty="0">
                <a:solidFill>
                  <a:srgbClr val="1C2B31"/>
                </a:solidFill>
                <a:latin typeface="Calibri" pitchFamily="34" charset="0"/>
                <a:ea typeface="Calibri" pitchFamily="34" charset="-122"/>
                <a:cs typeface="Calibri" pitchFamily="34" charset="-120"/>
              </a:rPr>
              <a:t>, </a:t>
            </a: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policy</a:t>
            </a:r>
            <a:r>
              <a:rPr lang="en-AU" sz="1250" dirty="0">
                <a:solidFill>
                  <a:srgbClr val="1C2B31"/>
                </a:solidFill>
                <a:latin typeface="Calibri" pitchFamily="34" charset="0"/>
                <a:ea typeface="Calibri" pitchFamily="34" charset="-122"/>
                <a:cs typeface="Calibri" pitchFamily="34" charset="-120"/>
              </a:rPr>
              <a:t>, </a:t>
            </a: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scope</a:t>
            </a:r>
            <a:r>
              <a:rPr lang="en-AU" sz="1250" dirty="0">
                <a:solidFill>
                  <a:srgbClr val="1C2B31"/>
                </a:solidFill>
                <a:latin typeface="Calibri" pitchFamily="34" charset="0"/>
                <a:ea typeface="Calibri" pitchFamily="34" charset="-122"/>
                <a:cs typeface="Calibri" pitchFamily="34" charset="-120"/>
              </a:rPr>
              <a:t>, </a:t>
            </a:r>
            <a:r>
              <a:rPr lang="en-AU" sz="1250" dirty="0">
                <a:solidFill>
                  <a:srgbClr val="1C2B31"/>
                </a:solidFill>
                <a:latin typeface="Calibri" pitchFamily="34" charset="0"/>
                <a:ea typeface="Calibri" pitchFamily="34" charset="-122"/>
                <a:cs typeface="Calibri" pitchFamily="34" charset="-120"/>
              </a:rPr>
              <a:t>P</a:t>
            </a:r>
            <a:r>
              <a:rPr lang="en-AU" sz="1480" baseline="-25000" dirty="0">
                <a:solidFill>
                  <a:srgbClr val="1C2B31"/>
                </a:solidFill>
                <a:latin typeface="Calibri" pitchFamily="34" charset="0"/>
                <a:ea typeface="Calibri" pitchFamily="34" charset="-122"/>
                <a:cs typeface="Calibri" pitchFamily="34" charset="-120"/>
              </a:rPr>
              <a:t>audit</a:t>
            </a:r>
            <a:r>
              <a:rPr lang="en-AU" sz="1250" dirty="0">
                <a:solidFill>
                  <a:srgbClr val="1C2B31"/>
                </a:solidFill>
                <a:latin typeface="Calibri" pitchFamily="34" charset="0"/>
                <a:ea typeface="Calibri" pitchFamily="34" charset="-122"/>
                <a:cs typeface="Calibri" pitchFamily="34" charset="-120"/>
              </a:rPr>
              <a:t>; every ALLOW needs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I</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A</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V</a:t>
            </a:r>
            <a:r>
              <a:rPr lang="en-AU" sz="1480" baseline="-25000" dirty="0">
                <a:solidFill>
                  <a:srgbClr val="1C2B31"/>
                </a:solidFill>
                <a:latin typeface="Calibri" pitchFamily="34" charset="0"/>
                <a:ea typeface="Calibri" pitchFamily="34" charset="-122"/>
                <a:cs typeface="Calibri" pitchFamily="34" charset="-120"/>
              </a:rPr>
              <a:t>P</a:t>
            </a:r>
            <a:r>
              <a:rPr lang="en-AU" sz="1250" dirty="0">
                <a:solidFill>
                  <a:srgbClr val="1C2B31"/>
                </a:solidFill>
                <a:latin typeface="Calibri" pitchFamily="34" charset="0"/>
                <a:ea typeface="Calibri" pitchFamily="34" charset="-122"/>
                <a:cs typeface="Calibri" pitchFamily="34" charset="-120"/>
              </a:rPr>
              <a:t> (Eq. 33)</a:t>
            </a:r>
            <a:endParaRPr lang="en-AU" sz="1250" dirty="0"/>
          </a:p>
        </p:txBody>
      </p:sp>
      <p:sp>
        <p:nvSpPr>
          <p:cNvPr id="59" name="Shape 54"/>
          <p:cNvSpPr/>
          <p:nvPr/>
        </p:nvSpPr>
        <p:spPr>
          <a:xfrm>
            <a:off x="548640" y="4018788"/>
            <a:ext cx="384048" cy="384048"/>
          </a:xfrm>
          <a:prstGeom prst="ellipse">
            <a:avLst/>
          </a:prstGeom>
          <a:solidFill>
            <a:srgbClr val="13707B"/>
          </a:solidFill>
          <a:ln w="12700">
            <a:solidFill>
              <a:srgbClr val="13707B"/>
            </a:solidFill>
            <a:prstDash val="solid"/>
          </a:ln>
        </p:spPr>
      </p:sp>
      <p:pic>
        <p:nvPicPr>
          <p:cNvPr id="60" name="Image 2" descr="preencoded.png">    </p:cNvPr>
          <p:cNvPicPr>
            <a:picLocks noChangeAspect="1"/>
          </p:cNvPicPr>
          <p:nvPr/>
        </p:nvPicPr>
        <p:blipFill>
          <a:blip r:embed="rId3"/>
          <a:stretch>
            <a:fillRect/>
          </a:stretch>
        </p:blipFill>
        <p:spPr>
          <a:xfrm>
            <a:off x="640812" y="4110960"/>
            <a:ext cx="199705" cy="199705"/>
          </a:xfrm>
          <a:prstGeom prst="rect">
            <a:avLst/>
          </a:prstGeom>
        </p:spPr>
      </p:pic>
      <p:sp>
        <p:nvSpPr>
          <p:cNvPr id="61" name="Text 55"/>
          <p:cNvSpPr txBox="1"/>
          <p:nvPr/>
        </p:nvSpPr>
        <p:spPr>
          <a:xfrm>
            <a:off x="1115568" y="400050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Observed vs expected</a:t>
            </a:r>
            <a:endParaRPr lang="en-AU" sz="1500" dirty="0"/>
          </a:p>
        </p:txBody>
      </p:sp>
      <p:sp>
        <p:nvSpPr>
          <p:cNvPr id="62" name="Text 56"/>
          <p:cNvSpPr txBox="1"/>
          <p:nvPr/>
        </p:nvSpPr>
        <p:spPr>
          <a:xfrm>
            <a:off x="1115568" y="4329684"/>
            <a:ext cx="3364992" cy="683514"/>
          </a:xfrm>
          <a:prstGeom prst="rect">
            <a:avLst/>
          </a:prstGeom>
          <a:noFill/>
          <a:ln/>
        </p:spPr>
        <p:txBody>
          <a:bodyPr wrap="square" lIns="0" tIns="0" rIns="0" bIns="0" rtlCol="0" anchor="t"/>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A scenario passes only when </a:t>
            </a:r>
            <a:r>
              <a:rPr lang="en-AU" sz="1250" dirty="0">
                <a:solidFill>
                  <a:srgbClr val="1C2B31"/>
                </a:solidFill>
                <a:latin typeface="Calibri" pitchFamily="34" charset="0"/>
                <a:ea typeface="Calibri" pitchFamily="34" charset="-122"/>
                <a:cs typeface="Calibri" pitchFamily="34" charset="-120"/>
              </a:rPr>
              <a:t>D</a:t>
            </a:r>
            <a:r>
              <a:rPr lang="en-AU" sz="1480" baseline="-25000" dirty="0">
                <a:solidFill>
                  <a:srgbClr val="1C2B31"/>
                </a:solidFill>
                <a:latin typeface="Calibri" pitchFamily="34" charset="0"/>
                <a:ea typeface="Calibri" pitchFamily="34" charset="-122"/>
                <a:cs typeface="Calibri" pitchFamily="34" charset="-120"/>
              </a:rPr>
              <a:t>obs</a:t>
            </a:r>
            <a:r>
              <a:rPr lang="en-AU" sz="1250" dirty="0">
                <a:solidFill>
                  <a:srgbClr val="1C2B31"/>
                </a:solidFill>
                <a:latin typeface="Calibri" pitchFamily="34" charset="0"/>
                <a:ea typeface="Calibri" pitchFamily="34" charset="-122"/>
                <a:cs typeface="Calibri" pitchFamily="34" charset="-120"/>
              </a:rPr>
              <a:t>(s) = </a:t>
            </a:r>
            <a:r>
              <a:rPr lang="en-AU" sz="1250" dirty="0">
                <a:solidFill>
                  <a:srgbClr val="1C2B31"/>
                </a:solidFill>
                <a:latin typeface="Calibri" pitchFamily="34" charset="0"/>
                <a:ea typeface="Calibri" pitchFamily="34" charset="-122"/>
                <a:cs typeface="Calibri" pitchFamily="34" charset="-120"/>
              </a:rPr>
              <a:t>D</a:t>
            </a:r>
            <a:r>
              <a:rPr lang="en-AU" sz="1480" baseline="-25000" dirty="0">
                <a:solidFill>
                  <a:srgbClr val="1C2B31"/>
                </a:solidFill>
                <a:latin typeface="Calibri" pitchFamily="34" charset="0"/>
                <a:ea typeface="Calibri" pitchFamily="34" charset="-122"/>
                <a:cs typeface="Calibri" pitchFamily="34" charset="-120"/>
              </a:rPr>
              <a:t>exp</a:t>
            </a:r>
            <a:r>
              <a:rPr lang="en-AU" sz="1250" dirty="0">
                <a:solidFill>
                  <a:srgbClr val="1C2B31"/>
                </a:solidFill>
                <a:latin typeface="Calibri" pitchFamily="34" charset="0"/>
                <a:ea typeface="Calibri" pitchFamily="34" charset="-122"/>
                <a:cs typeface="Calibri" pitchFamily="34" charset="-120"/>
              </a:rPr>
              <a:t>(s); each failure is traced to its condition and evidence</a:t>
            </a:r>
            <a:endParaRPr lang="en-AU" sz="1250" dirty="0"/>
          </a:p>
        </p:txBody>
      </p:sp>
      <p:sp>
        <p:nvSpPr>
          <p:cNvPr id="63" name="Shape 57"/>
          <p:cNvSpPr/>
          <p:nvPr/>
        </p:nvSpPr>
        <p:spPr>
          <a:xfrm>
            <a:off x="548640" y="5196078"/>
            <a:ext cx="384048" cy="384048"/>
          </a:xfrm>
          <a:prstGeom prst="ellipse">
            <a:avLst/>
          </a:prstGeom>
          <a:solidFill>
            <a:srgbClr val="13707B"/>
          </a:solidFill>
          <a:ln w="12700">
            <a:solidFill>
              <a:srgbClr val="13707B"/>
            </a:solidFill>
            <a:prstDash val="solid"/>
          </a:ln>
        </p:spPr>
      </p:sp>
      <p:pic>
        <p:nvPicPr>
          <p:cNvPr id="64" name="Image 3" descr="preencoded.png">    </p:cNvPr>
          <p:cNvPicPr>
            <a:picLocks noChangeAspect="1"/>
          </p:cNvPicPr>
          <p:nvPr/>
        </p:nvPicPr>
        <p:blipFill>
          <a:blip r:embed="rId4"/>
          <a:stretch>
            <a:fillRect/>
          </a:stretch>
        </p:blipFill>
        <p:spPr>
          <a:xfrm>
            <a:off x="640812" y="5288250"/>
            <a:ext cx="199705" cy="199705"/>
          </a:xfrm>
          <a:prstGeom prst="rect">
            <a:avLst/>
          </a:prstGeom>
        </p:spPr>
      </p:pic>
      <p:sp>
        <p:nvSpPr>
          <p:cNvPr id="65" name="Text 58"/>
          <p:cNvSpPr txBox="1"/>
          <p:nvPr/>
        </p:nvSpPr>
        <p:spPr>
          <a:xfrm>
            <a:off x="1115568" y="5177790"/>
            <a:ext cx="3364992" cy="329184"/>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Implementation basis</a:t>
            </a:r>
            <a:endParaRPr lang="en-AU" sz="1500" dirty="0"/>
          </a:p>
        </p:txBody>
      </p:sp>
      <p:sp>
        <p:nvSpPr>
          <p:cNvPr id="66" name="Text 59"/>
          <p:cNvSpPr txBox="1"/>
          <p:nvPr/>
        </p:nvSpPr>
        <p:spPr>
          <a:xfrm>
            <a:off x="1115568" y="5506974"/>
            <a:ext cx="3364992" cy="683514"/>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HALAH logs consent, approval, minting, state-check and access events (Sections 7.11–7.12)</a:t>
            </a:r>
            <a:endParaRPr lang="en-AU"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Six algorithms, one authorisation lifecycle</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6.7: Algorithms 1–4 form the current stage (CA2); Algorithms 5–6 extend them in the next stage (CA3)</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28 / 43</a:t>
            </a:r>
            <a:endParaRPr lang="en-AU"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65960"/>
                <a:gridCol w="2240280"/>
                <a:gridCol w="2377440"/>
                <a:gridCol w="2514600"/>
                <a:gridCol w="1993392"/>
              </a:tblGrid>
              <a:tr h="640080">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Algorithm</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Objective</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Input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Output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Predicate</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640080">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1: Trust-Aware Consent Creation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RO1: Trust-Centric Consent Model</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I</a:t>
                      </a:r>
                      <a:r>
                        <a:rPr lang="en-AU" sz="1530" baseline="-25000" dirty="0">
                          <a:solidFill>
                            <a:srgbClr val="1C2B31"/>
                          </a:solidFill>
                          <a:latin typeface="Calibri" pitchFamily="34" charset="0"/>
                          <a:ea typeface="Calibri" pitchFamily="34" charset="-122"/>
                          <a:cs typeface="Calibri" pitchFamily="34" charset="-120"/>
                        </a:rPr>
                        <a:t>p</a:t>
                      </a:r>
                      <a:r>
                        <a:rPr lang="en-AU" sz="1300" dirty="0">
                          <a:solidFill>
                            <a:srgbClr val="1C2B31"/>
                          </a:solidFill>
                          <a:latin typeface="Calibri" pitchFamily="34" charset="0"/>
                          <a:ea typeface="Calibri" pitchFamily="34" charset="-122"/>
                          <a:cs typeface="Calibri" pitchFamily="34" charset="-120"/>
                        </a:rPr>
                        <a:t>, doctor D, guardians G, </a:t>
                      </a:r>
                      <a:r>
                        <a:rPr lang="en-AU" sz="1300" dirty="0">
                          <a:solidFill>
                            <a:srgbClr val="1C2B31"/>
                          </a:solidFill>
                          <a:latin typeface="Calibri" pitchFamily="34" charset="0"/>
                          <a:ea typeface="Calibri" pitchFamily="34" charset="-122"/>
                          <a:cs typeface="Calibri" pitchFamily="34" charset="-120"/>
                        </a:rPr>
                        <a:t>P</a:t>
                      </a:r>
                      <a:r>
                        <a:rPr lang="en-AU" sz="1530" baseline="-25000" dirty="0">
                          <a:solidFill>
                            <a:srgbClr val="1C2B31"/>
                          </a:solidFill>
                          <a:latin typeface="Calibri" pitchFamily="34" charset="0"/>
                          <a:ea typeface="Calibri" pitchFamily="34" charset="-122"/>
                          <a:cs typeface="Calibri" pitchFamily="34" charset="-120"/>
                        </a:rPr>
                        <a:t>u</a:t>
                      </a:r>
                      <a:r>
                        <a:rPr lang="en-AU" sz="1300" dirty="0">
                          <a:solidFill>
                            <a:srgbClr val="1C2B31"/>
                          </a:solidFill>
                          <a:latin typeface="Calibri" pitchFamily="34" charset="0"/>
                          <a:ea typeface="Calibri" pitchFamily="34" charset="-122"/>
                          <a:cs typeface="Calibri" pitchFamily="34" charset="-120"/>
                        </a:rPr>
                        <a:t>, </a:t>
                      </a:r>
                      <a:r>
                        <a:rPr lang="en-AU" sz="1300" dirty="0">
                          <a:solidFill>
                            <a:srgbClr val="1C2B31"/>
                          </a:solidFill>
                          <a:latin typeface="Calibri" pitchFamily="34" charset="0"/>
                          <a:ea typeface="Calibri" pitchFamily="34" charset="-122"/>
                          <a:cs typeface="Calibri" pitchFamily="34" charset="-120"/>
                        </a:rPr>
                        <a:t>S</a:t>
                      </a:r>
                      <a:r>
                        <a:rPr lang="en-AU" sz="1530" baseline="-25000" dirty="0">
                          <a:solidFill>
                            <a:srgbClr val="1C2B31"/>
                          </a:solidFill>
                          <a:latin typeface="Calibri" pitchFamily="34" charset="0"/>
                          <a:ea typeface="Calibri" pitchFamily="34" charset="-122"/>
                          <a:cs typeface="Calibri" pitchFamily="34" charset="-120"/>
                        </a:rPr>
                        <a:t>C</a:t>
                      </a:r>
                      <a:r>
                        <a:rPr lang="en-AU" sz="1300" dirty="0">
                          <a:solidFill>
                            <a:srgbClr val="1C2B31"/>
                          </a:solidFill>
                          <a:latin typeface="Calibri" pitchFamily="34" charset="0"/>
                          <a:ea typeface="Calibri" pitchFamily="34" charset="-122"/>
                          <a:cs typeface="Calibri" pitchFamily="34" charset="-120"/>
                        </a:rPr>
                        <a:t>, 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Consent object C or rejection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Builds C = (I, A, P, E) (Eq. 7)</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640080">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2: DID and VC Identity and Authority Verification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RO2: Decentralised Identity and Authority Trust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Participant u, consent object C</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I</a:t>
                      </a:r>
                      <a:r>
                        <a:rPr lang="en-AU" sz="1300" dirty="0">
                          <a:solidFill>
                            <a:srgbClr val="1C2B31"/>
                          </a:solidFill>
                          <a:latin typeface="Calibri" pitchFamily="34" charset="0"/>
                          <a:ea typeface="Calibri" pitchFamily="34" charset="-122"/>
                          <a:cs typeface="Calibri" pitchFamily="34" charset="-120"/>
                        </a:rPr>
                        <a:t>(u): VALID or INVALID</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I</a:t>
                      </a:r>
                      <a:r>
                        <a:rPr lang="en-AU" sz="1300" dirty="0">
                          <a:solidFill>
                            <a:srgbClr val="1C2B31"/>
                          </a:solidFill>
                          <a:latin typeface="Calibri" pitchFamily="34" charset="0"/>
                          <a:ea typeface="Calibri" pitchFamily="34" charset="-122"/>
                          <a:cs typeface="Calibri" pitchFamily="34" charset="-120"/>
                        </a:rPr>
                        <a:t>(u) (Eq. 8)</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640080">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3: Threshold-Based Multi-Party Authorisation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RO3: Trustworthy Multi-Party Authorisation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Consent C, approval a, threshold 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Authorisation: ALLOW, PENDING or DENY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A</a:t>
                      </a:r>
                      <a:r>
                        <a:rPr lang="en-AU" sz="1300" dirty="0">
                          <a:solidFill>
                            <a:srgbClr val="1C2B31"/>
                          </a:solidFill>
                          <a:latin typeface="Calibri" pitchFamily="34" charset="0"/>
                          <a:ea typeface="Calibri" pitchFamily="34" charset="-122"/>
                          <a:cs typeface="Calibri" pitchFamily="34" charset="-120"/>
                        </a:rPr>
                        <a:t>(C): |</a:t>
                      </a:r>
                      <a:r>
                        <a:rPr lang="en-AU" sz="1300" dirty="0">
                          <a:solidFill>
                            <a:srgbClr val="1C2B31"/>
                          </a:solidFill>
                          <a:latin typeface="Calibri" pitchFamily="34" charset="0"/>
                          <a:ea typeface="Calibri" pitchFamily="34" charset="-122"/>
                          <a:cs typeface="Calibri" pitchFamily="34" charset="-120"/>
                        </a:rPr>
                        <a:t>A</a:t>
                      </a:r>
                      <a:r>
                        <a:rPr lang="en-AU" sz="1530" baseline="-25000" dirty="0">
                          <a:solidFill>
                            <a:srgbClr val="1C2B31"/>
                          </a:solidFill>
                          <a:latin typeface="Calibri" pitchFamily="34" charset="0"/>
                          <a:ea typeface="Calibri" pitchFamily="34" charset="-122"/>
                          <a:cs typeface="Calibri" pitchFamily="34" charset="-120"/>
                        </a:rPr>
                        <a:t>v</a:t>
                      </a:r>
                      <a:r>
                        <a:rPr lang="en-AU" sz="1300" dirty="0">
                          <a:solidFill>
                            <a:srgbClr val="1C2B31"/>
                          </a:solidFill>
                          <a:latin typeface="Calibri" pitchFamily="34" charset="0"/>
                          <a:ea typeface="Calibri" pitchFamily="34" charset="-122"/>
                          <a:cs typeface="Calibri" pitchFamily="34" charset="-120"/>
                        </a:rPr>
                        <a:t>| ≥ N (Eq. 9)</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640080">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4: Policy-Aware Access Decision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RO4: Policy- and Context-Aware Access Control</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Consent C, request R, participant u</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Access decision: ALLOW or DENY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P</a:t>
                      </a:r>
                      <a:r>
                        <a:rPr lang="en-AU" sz="1300" dirty="0">
                          <a:solidFill>
                            <a:srgbClr val="1C2B31"/>
                          </a:solidFill>
                          <a:latin typeface="Calibri" pitchFamily="34" charset="0"/>
                          <a:ea typeface="Calibri" pitchFamily="34" charset="-122"/>
                          <a:cs typeface="Calibri" pitchFamily="34" charset="-120"/>
                        </a:rPr>
                        <a:t>(C, R) =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U</a:t>
                      </a:r>
                      <a:r>
                        <a:rPr lang="en-AU" sz="1300" dirty="0">
                          <a:solidFill>
                            <a:srgbClr val="1C2B31"/>
                          </a:solidFill>
                          <a:latin typeface="Calibri" pitchFamily="34" charset="0"/>
                          <a:ea typeface="Calibri" pitchFamily="34" charset="-122"/>
                          <a:cs typeface="Calibri" pitchFamily="34" charset="-120"/>
                        </a:rPr>
                        <a:t> ∧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S</a:t>
                      </a:r>
                      <a:r>
                        <a:rPr lang="en-AU" sz="1300" dirty="0">
                          <a:solidFill>
                            <a:srgbClr val="1C2B31"/>
                          </a:solidFill>
                          <a:latin typeface="Calibri" pitchFamily="34" charset="0"/>
                          <a:ea typeface="Calibri" pitchFamily="34" charset="-122"/>
                          <a:cs typeface="Calibri" pitchFamily="34" charset="-120"/>
                        </a:rPr>
                        <a:t> (Eq. 32)</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640080">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5: Temporal and Lifecycle Validation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RO5: Temporal and Lifecycle Trust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Consent C, time t, transition q</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Lifecycle validity: VALID or INVALID</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T</a:t>
                      </a:r>
                      <a:r>
                        <a:rPr lang="en-AU" sz="1300" dirty="0">
                          <a:solidFill>
                            <a:srgbClr val="1C2B31"/>
                          </a:solidFill>
                          <a:latin typeface="Calibri" pitchFamily="34" charset="0"/>
                          <a:ea typeface="Calibri" pitchFamily="34" charset="-122"/>
                          <a:cs typeface="Calibri" pitchFamily="34" charset="-120"/>
                        </a:rPr>
                        <a:t>(C, t),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L</a:t>
                      </a:r>
                      <a:r>
                        <a:rPr lang="en-AU" sz="1300" dirty="0">
                          <a:solidFill>
                            <a:srgbClr val="1C2B31"/>
                          </a:solidFill>
                          <a:latin typeface="Calibri" pitchFamily="34" charset="0"/>
                          <a:ea typeface="Calibri" pitchFamily="34" charset="-122"/>
                          <a:cs typeface="Calibri" pitchFamily="34" charset="-120"/>
                        </a:rPr>
                        <a:t>(C) (Eqs. 12, 15)</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640080">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6: Formal and Empirical Authorisation Validation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RO6: Formal Security Assurance and Empirical Validation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Framework implementation F</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Validation evidence and results</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Six properties P; Eqs. 33–34</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3B43"/>
        </a:solidFill>
      </p:bgPr>
    </p:bg>
    <p:spTree>
      <p:nvGrpSpPr>
        <p:cNvPr id="1" name=""/>
        <p:cNvGrpSpPr/>
        <p:nvPr/>
      </p:nvGrpSpPr>
      <p:grpSpPr>
        <a:xfrm>
          <a:off x="0" y="0"/>
          <a:ext cx="0" cy="0"/>
          <a:chOff x="0" y="0"/>
          <a:chExt cx="0" cy="0"/>
        </a:xfrm>
      </p:grpSpPr>
      <p:sp>
        <p:nvSpPr>
          <p:cNvPr id="3" name="Shape 0"/>
          <p:cNvSpPr/>
          <p:nvPr/>
        </p:nvSpPr>
        <p:spPr>
          <a:xfrm>
            <a:off x="1005840" y="1737360"/>
            <a:ext cx="3108960" cy="3108960"/>
          </a:xfrm>
          <a:prstGeom prst="ellipse">
            <a:avLst/>
          </a:prstGeom>
          <a:solidFill>
            <a:srgbClr val="0E3B43"/>
          </a:solidFill>
          <a:ln w="38100">
            <a:solidFill>
              <a:srgbClr val="D4A12A"/>
            </a:solidFill>
            <a:prstDash val="solid"/>
          </a:ln>
        </p:spPr>
      </p:sp>
      <p:sp>
        <p:nvSpPr>
          <p:cNvPr id="4" name="Text 1"/>
          <p:cNvSpPr txBox="1"/>
          <p:nvPr/>
        </p:nvSpPr>
        <p:spPr>
          <a:xfrm>
            <a:off x="1005840" y="1737360"/>
            <a:ext cx="3108960" cy="3108960"/>
          </a:xfrm>
          <a:prstGeom prst="rect">
            <a:avLst/>
          </a:prstGeom>
          <a:noFill/>
          <a:ln/>
        </p:spPr>
        <p:txBody>
          <a:bodyPr wrap="square" lIns="0" tIns="0" rIns="0" bIns="0" rtlCol="0" anchor="ctr"/>
          <a:lstStyle/>
          <a:p>
            <a:pPr algn="ctr" indent="0" marL="0">
              <a:buNone/>
            </a:pPr>
            <a:r>
              <a:rPr lang="en-AU" sz="12000" b="1" dirty="0">
                <a:solidFill>
                  <a:srgbClr val="D4A12A"/>
                </a:solidFill>
                <a:latin typeface="Cambria" pitchFamily="34" charset="0"/>
                <a:ea typeface="Cambria" pitchFamily="34" charset="-122"/>
                <a:cs typeface="Cambria" pitchFamily="34" charset="-120"/>
              </a:rPr>
              <a:t>D</a:t>
            </a:r>
            <a:endParaRPr lang="en-AU" sz="12000" dirty="0"/>
          </a:p>
        </p:txBody>
      </p:sp>
      <p:sp>
        <p:nvSpPr>
          <p:cNvPr id="5" name="Text 2"/>
          <p:cNvSpPr txBox="1"/>
          <p:nvPr/>
        </p:nvSpPr>
        <p:spPr>
          <a:xfrm>
            <a:off x="4846320" y="2047748"/>
            <a:ext cx="6766560" cy="365760"/>
          </a:xfrm>
          <a:prstGeom prst="rect">
            <a:avLst/>
          </a:prstGeom>
          <a:noFill/>
          <a:ln/>
        </p:spPr>
        <p:txBody>
          <a:bodyPr wrap="square" lIns="0" tIns="0" rIns="0" bIns="0" rtlCol="0" anchor="ctr"/>
          <a:lstStyle/>
          <a:p>
            <a:pPr indent="0" marL="0">
              <a:buNone/>
            </a:pPr>
            <a:r>
              <a:rPr lang="en-AU" sz="1400" b="1" spc="200" kern="0" dirty="0">
                <a:solidFill>
                  <a:srgbClr val="D4A12A"/>
                </a:solidFill>
                <a:latin typeface="Calibri" pitchFamily="34" charset="0"/>
                <a:ea typeface="Calibri" pitchFamily="34" charset="-122"/>
                <a:cs typeface="Calibri" pitchFamily="34" charset="-120"/>
              </a:rPr>
              <a:t>PART D  ·  CHAPTER 7</a:t>
            </a:r>
            <a:endParaRPr lang="en-AU" sz="1400" dirty="0"/>
          </a:p>
        </p:txBody>
      </p:sp>
      <p:sp>
        <p:nvSpPr>
          <p:cNvPr id="6" name="Text 3"/>
          <p:cNvSpPr txBox="1"/>
          <p:nvPr/>
        </p:nvSpPr>
        <p:spPr>
          <a:xfrm>
            <a:off x="4846320" y="2523236"/>
            <a:ext cx="6766560" cy="1244600"/>
          </a:xfrm>
          <a:prstGeom prst="rect">
            <a:avLst/>
          </a:prstGeom>
          <a:noFill/>
          <a:ln/>
        </p:spPr>
        <p:txBody>
          <a:bodyPr wrap="square" lIns="0" tIns="0" rIns="0" bIns="0" rtlCol="0" anchor="t"/>
          <a:lstStyle/>
          <a:p>
            <a:pPr indent="0" marL="0">
              <a:buNone/>
            </a:pPr>
            <a:r>
              <a:rPr lang="en-AU" sz="4000" b="1" dirty="0">
                <a:solidFill>
                  <a:srgbClr val="FFFFFF"/>
                </a:solidFill>
                <a:latin typeface="Cambria" pitchFamily="34" charset="0"/>
                <a:ea typeface="Cambria" pitchFamily="34" charset="-122"/>
                <a:cs typeface="Cambria" pitchFamily="34" charset="-120"/>
              </a:rPr>
              <a:t>HALAH prototype and evidence</a:t>
            </a:r>
            <a:endParaRPr lang="en-AU" sz="4000" dirty="0"/>
          </a:p>
        </p:txBody>
      </p:sp>
      <p:sp>
        <p:nvSpPr>
          <p:cNvPr id="7" name="Text 4"/>
          <p:cNvSpPr txBox="1"/>
          <p:nvPr/>
        </p:nvSpPr>
        <p:spPr>
          <a:xfrm>
            <a:off x="4846320" y="3978148"/>
            <a:ext cx="6583680" cy="649224"/>
          </a:xfrm>
          <a:prstGeom prst="rect">
            <a:avLst/>
          </a:prstGeom>
          <a:noFill/>
          <a:ln/>
        </p:spPr>
        <p:txBody>
          <a:bodyPr wrap="square" lIns="0" tIns="0" rIns="0" bIns="0" rtlCol="0" anchor="t"/>
          <a:lstStyle/>
          <a:p>
            <a:pPr indent="0" marL="0">
              <a:buNone/>
            </a:pPr>
            <a:r>
              <a:rPr lang="en-AU" sz="1800" dirty="0">
                <a:solidFill>
                  <a:srgbClr val="CFE3E6"/>
                </a:solidFill>
                <a:latin typeface="Calibri" pitchFamily="34" charset="0"/>
                <a:ea typeface="Calibri" pitchFamily="34" charset="-122"/>
                <a:cs typeface="Calibri" pitchFamily="34" charset="-120"/>
              </a:rPr>
              <a:t>Four role-based subsystems, the code mapping, 18 automated tests and consent tokens anchored on Sepolia</a:t>
            </a:r>
            <a:endParaRPr lang="en-AU" sz="1800" dirty="0"/>
          </a:p>
        </p:txBody>
      </p:sp>
      <p:sp>
        <p:nvSpPr>
          <p:cNvPr id="8" name="Text 5"/>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CFE3E6"/>
                </a:solidFill>
                <a:latin typeface="Calibri" pitchFamily="34" charset="0"/>
                <a:ea typeface="Calibri" pitchFamily="34" charset="-122"/>
                <a:cs typeface="Calibri" pitchFamily="34" charset="-120"/>
              </a:rPr>
              <a:t>29 / 43</a:t>
            </a:r>
            <a:endParaRPr lang="en-AU"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One consent lifecycle, four subsystems</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A role-based consent management platform that operationalises the framework (Sections 7.1, 7.8–7.10)</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30 / 43</a:t>
            </a:r>
            <a:endParaRPr lang="en-AU" sz="1000" dirty="0"/>
          </a:p>
        </p:txBody>
      </p:sp>
      <p:sp>
        <p:nvSpPr>
          <p:cNvPr id="7" name="Shape 4"/>
          <p:cNvSpPr/>
          <p:nvPr/>
        </p:nvSpPr>
        <p:spPr>
          <a:xfrm>
            <a:off x="548640" y="1481328"/>
            <a:ext cx="11094415" cy="4005072"/>
          </a:xfrm>
          <a:prstGeom prst="roundRect">
            <a:avLst>
              <a:gd name="adj" fmla="val 1826"/>
            </a:avLst>
          </a:prstGeom>
          <a:solidFill>
            <a:srgbClr val="F4F8F9"/>
          </a:solidFill>
          <a:ln w="9525">
            <a:solidFill>
              <a:srgbClr val="D5E0E2"/>
            </a:solidFill>
            <a:prstDash val="solid"/>
          </a:ln>
        </p:spPr>
      </p:sp>
      <p:sp>
        <p:nvSpPr>
          <p:cNvPr id="8" name="Shape 5"/>
          <p:cNvSpPr/>
          <p:nvPr/>
        </p:nvSpPr>
        <p:spPr>
          <a:xfrm>
            <a:off x="563728" y="1847088"/>
            <a:ext cx="3291840" cy="2724912"/>
          </a:xfrm>
          <a:prstGeom prst="roundRect">
            <a:avLst>
              <a:gd name="adj" fmla="val 2685"/>
            </a:avLst>
          </a:prstGeom>
          <a:solidFill>
            <a:srgbClr val="FFFFDE"/>
          </a:solidFill>
          <a:ln w="12700">
            <a:solidFill>
              <a:srgbClr val="AAAA33"/>
            </a:solidFill>
            <a:prstDash val="dash"/>
          </a:ln>
        </p:spPr>
      </p:sp>
      <p:sp>
        <p:nvSpPr>
          <p:cNvPr id="9" name="Text 6"/>
          <p:cNvSpPr txBox="1"/>
          <p:nvPr/>
        </p:nvSpPr>
        <p:spPr>
          <a:xfrm>
            <a:off x="609448" y="1591056"/>
            <a:ext cx="3200400" cy="237744"/>
          </a:xfrm>
          <a:prstGeom prst="rect">
            <a:avLst/>
          </a:prstGeom>
          <a:noFill/>
          <a:ln/>
        </p:spPr>
        <p:txBody>
          <a:bodyPr wrap="square" lIns="0" tIns="0" rIns="0" bIns="0" rtlCol="0" anchor="ctr"/>
          <a:lstStyle/>
          <a:p>
            <a:pPr algn="l" indent="0" marL="0">
              <a:buNone/>
            </a:pPr>
            <a:r>
              <a:rPr lang="en-AU" sz="1050" b="1" dirty="0">
                <a:solidFill>
                  <a:srgbClr val="333333"/>
                </a:solidFill>
                <a:latin typeface="Calibri" pitchFamily="34" charset="0"/>
                <a:ea typeface="Calibri" pitchFamily="34" charset="-122"/>
                <a:cs typeface="Calibri" pitchFamily="34" charset="-120"/>
              </a:rPr>
              <a:t>Patient view (Section 7.2)</a:t>
            </a:r>
            <a:endParaRPr lang="en-AU" sz="1050" dirty="0"/>
          </a:p>
        </p:txBody>
      </p:sp>
      <p:sp>
        <p:nvSpPr>
          <p:cNvPr id="10" name="Shape 7"/>
          <p:cNvSpPr/>
          <p:nvPr/>
        </p:nvSpPr>
        <p:spPr>
          <a:xfrm>
            <a:off x="4038448" y="1847088"/>
            <a:ext cx="4114800" cy="2724912"/>
          </a:xfrm>
          <a:prstGeom prst="roundRect">
            <a:avLst>
              <a:gd name="adj" fmla="val 2685"/>
            </a:avLst>
          </a:prstGeom>
          <a:solidFill>
            <a:srgbClr val="FFFFDE"/>
          </a:solidFill>
          <a:ln w="12700">
            <a:solidFill>
              <a:srgbClr val="AAAA33"/>
            </a:solidFill>
            <a:prstDash val="dash"/>
          </a:ln>
        </p:spPr>
      </p:sp>
      <p:sp>
        <p:nvSpPr>
          <p:cNvPr id="11" name="Text 8"/>
          <p:cNvSpPr txBox="1"/>
          <p:nvPr/>
        </p:nvSpPr>
        <p:spPr>
          <a:xfrm>
            <a:off x="4084168" y="1591056"/>
            <a:ext cx="4023360" cy="237744"/>
          </a:xfrm>
          <a:prstGeom prst="rect">
            <a:avLst/>
          </a:prstGeom>
          <a:noFill/>
          <a:ln/>
        </p:spPr>
        <p:txBody>
          <a:bodyPr wrap="square" lIns="0" tIns="0" rIns="0" bIns="0" rtlCol="0" anchor="ctr"/>
          <a:lstStyle/>
          <a:p>
            <a:pPr algn="l" indent="0" marL="0">
              <a:buNone/>
            </a:pPr>
            <a:r>
              <a:rPr lang="en-AU" sz="1050" b="1" dirty="0">
                <a:solidFill>
                  <a:srgbClr val="333333"/>
                </a:solidFill>
                <a:latin typeface="Calibri" pitchFamily="34" charset="0"/>
                <a:ea typeface="Calibri" pitchFamily="34" charset="-122"/>
                <a:cs typeface="Calibri" pitchFamily="34" charset="-120"/>
              </a:rPr>
              <a:t>Guardian view (Section 7.3)</a:t>
            </a:r>
            <a:endParaRPr lang="en-AU" sz="1050" dirty="0"/>
          </a:p>
        </p:txBody>
      </p:sp>
      <p:sp>
        <p:nvSpPr>
          <p:cNvPr id="12" name="Shape 9"/>
          <p:cNvSpPr/>
          <p:nvPr/>
        </p:nvSpPr>
        <p:spPr>
          <a:xfrm>
            <a:off x="8336128" y="1847088"/>
            <a:ext cx="3319272" cy="2724912"/>
          </a:xfrm>
          <a:prstGeom prst="roundRect">
            <a:avLst>
              <a:gd name="adj" fmla="val 2685"/>
            </a:avLst>
          </a:prstGeom>
          <a:solidFill>
            <a:srgbClr val="FFFFDE"/>
          </a:solidFill>
          <a:ln w="12700">
            <a:solidFill>
              <a:srgbClr val="AAAA33"/>
            </a:solidFill>
            <a:prstDash val="dash"/>
          </a:ln>
        </p:spPr>
      </p:sp>
      <p:sp>
        <p:nvSpPr>
          <p:cNvPr id="13" name="Text 10"/>
          <p:cNvSpPr txBox="1"/>
          <p:nvPr/>
        </p:nvSpPr>
        <p:spPr>
          <a:xfrm>
            <a:off x="8381848" y="1591056"/>
            <a:ext cx="3227832" cy="237744"/>
          </a:xfrm>
          <a:prstGeom prst="rect">
            <a:avLst/>
          </a:prstGeom>
          <a:noFill/>
          <a:ln/>
        </p:spPr>
        <p:txBody>
          <a:bodyPr wrap="square" lIns="0" tIns="0" rIns="0" bIns="0" rtlCol="0" anchor="ctr"/>
          <a:lstStyle/>
          <a:p>
            <a:pPr algn="l" indent="0" marL="0">
              <a:buNone/>
            </a:pPr>
            <a:r>
              <a:rPr lang="en-AU" sz="1050" b="1" dirty="0">
                <a:solidFill>
                  <a:srgbClr val="333333"/>
                </a:solidFill>
                <a:latin typeface="Calibri" pitchFamily="34" charset="0"/>
                <a:ea typeface="Calibri" pitchFamily="34" charset="-122"/>
                <a:cs typeface="Calibri" pitchFamily="34" charset="-120"/>
              </a:rPr>
              <a:t>Doctor view (Section 7.4)</a:t>
            </a:r>
            <a:endParaRPr lang="en-AU" sz="1050" dirty="0"/>
          </a:p>
        </p:txBody>
      </p:sp>
      <p:sp>
        <p:nvSpPr>
          <p:cNvPr id="14" name="Shape 11"/>
          <p:cNvSpPr/>
          <p:nvPr/>
        </p:nvSpPr>
        <p:spPr>
          <a:xfrm>
            <a:off x="838048" y="1984248"/>
            <a:ext cx="2377440" cy="731520"/>
          </a:xfrm>
          <a:prstGeom prst="roundRect">
            <a:avLst>
              <a:gd name="adj" fmla="val 15000"/>
            </a:avLst>
          </a:prstGeom>
          <a:solidFill>
            <a:srgbClr val="FFF2CC"/>
          </a:solidFill>
          <a:ln w="19050">
            <a:solidFill>
              <a:srgbClr val="D6B656"/>
            </a:solidFill>
            <a:prstDash val="solid"/>
          </a:ln>
        </p:spPr>
      </p:sp>
      <p:sp>
        <p:nvSpPr>
          <p:cNvPr id="15" name="Text 12"/>
          <p:cNvSpPr txBox="1"/>
          <p:nvPr/>
        </p:nvSpPr>
        <p:spPr>
          <a:xfrm>
            <a:off x="902056" y="2011680"/>
            <a:ext cx="2249424" cy="676656"/>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Create consent: patient DID, doctor DID, EMR-module scope, guardian DIDs, start / expiry</a:t>
            </a:r>
            <a:endParaRPr lang="en-AU" sz="1050" dirty="0"/>
          </a:p>
        </p:txBody>
      </p:sp>
      <p:sp>
        <p:nvSpPr>
          <p:cNvPr id="16" name="Shape 13"/>
          <p:cNvSpPr/>
          <p:nvPr/>
        </p:nvSpPr>
        <p:spPr>
          <a:xfrm>
            <a:off x="975208" y="2889504"/>
            <a:ext cx="2103120" cy="548640"/>
          </a:xfrm>
          <a:prstGeom prst="diamond">
            <a:avLst/>
          </a:prstGeom>
          <a:solidFill>
            <a:srgbClr val="FFF2CC"/>
          </a:solidFill>
          <a:ln w="19050">
            <a:solidFill>
              <a:srgbClr val="D6B656"/>
            </a:solidFill>
            <a:prstDash val="solid"/>
          </a:ln>
        </p:spPr>
      </p:sp>
      <p:sp>
        <p:nvSpPr>
          <p:cNvPr id="17" name="Text 14"/>
          <p:cNvSpPr txBox="1"/>
          <p:nvPr/>
        </p:nvSpPr>
        <p:spPr>
          <a:xfrm>
            <a:off x="1332738" y="2960827"/>
            <a:ext cx="1388059" cy="405994"/>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Expiry later than start?</a:t>
            </a:r>
            <a:endParaRPr lang="en-AU" sz="1050" dirty="0"/>
          </a:p>
        </p:txBody>
      </p:sp>
      <p:sp>
        <p:nvSpPr>
          <p:cNvPr id="18" name="Shape 15"/>
          <p:cNvSpPr/>
          <p:nvPr/>
        </p:nvSpPr>
        <p:spPr>
          <a:xfrm>
            <a:off x="3261208" y="2971800"/>
            <a:ext cx="502920" cy="384048"/>
          </a:xfrm>
          <a:prstGeom prst="rect">
            <a:avLst/>
          </a:prstGeom>
          <a:solidFill>
            <a:srgbClr val="FFF2CC"/>
          </a:solidFill>
          <a:ln w="19050">
            <a:solidFill>
              <a:srgbClr val="D6B656"/>
            </a:solidFill>
            <a:prstDash val="solid"/>
          </a:ln>
        </p:spPr>
      </p:sp>
      <p:sp>
        <p:nvSpPr>
          <p:cNvPr id="19" name="Text 16"/>
          <p:cNvSpPr txBox="1"/>
          <p:nvPr/>
        </p:nvSpPr>
        <p:spPr>
          <a:xfrm>
            <a:off x="3325216" y="2999232"/>
            <a:ext cx="374904" cy="329184"/>
          </a:xfrm>
          <a:prstGeom prst="rect">
            <a:avLst/>
          </a:prstGeom>
          <a:noFill/>
          <a:ln/>
        </p:spPr>
        <p:txBody>
          <a:bodyPr wrap="square" lIns="0" tIns="0" rIns="0" bIns="0" rtlCol="0" anchor="ctr"/>
          <a:lstStyle/>
          <a:p>
            <a:pPr algn="ctr" indent="0" marL="0">
              <a:lnSpc>
                <a:spcPct val="95000"/>
              </a:lnSpc>
              <a:buNone/>
            </a:pPr>
            <a:r>
              <a:rPr lang="en-AU" sz="950" b="1" dirty="0">
                <a:solidFill>
                  <a:srgbClr val="1C2B31"/>
                </a:solidFill>
                <a:latin typeface="Calibri" pitchFamily="34" charset="0"/>
                <a:ea typeface="Calibri" pitchFamily="34" charset="-122"/>
                <a:cs typeface="Calibri" pitchFamily="34" charset="-120"/>
              </a:rPr>
              <a:t>Reject input</a:t>
            </a:r>
            <a:endParaRPr lang="en-AU" sz="950" dirty="0"/>
          </a:p>
        </p:txBody>
      </p:sp>
      <p:sp>
        <p:nvSpPr>
          <p:cNvPr id="20" name="Shape 17"/>
          <p:cNvSpPr/>
          <p:nvPr/>
        </p:nvSpPr>
        <p:spPr>
          <a:xfrm>
            <a:off x="838048" y="3675888"/>
            <a:ext cx="2377440" cy="603504"/>
          </a:xfrm>
          <a:prstGeom prst="rect">
            <a:avLst/>
          </a:prstGeom>
          <a:solidFill>
            <a:srgbClr val="FFF2CC"/>
          </a:solidFill>
          <a:ln w="19050">
            <a:solidFill>
              <a:srgbClr val="D6B656"/>
            </a:solidFill>
            <a:prstDash val="solid"/>
          </a:ln>
        </p:spPr>
      </p:sp>
      <p:sp>
        <p:nvSpPr>
          <p:cNvPr id="21" name="Text 18"/>
          <p:cNvSpPr txBox="1"/>
          <p:nvPr/>
        </p:nvSpPr>
        <p:spPr>
          <a:xfrm>
            <a:off x="902056" y="3703320"/>
            <a:ext cx="2249424" cy="548640"/>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Consent stored; state = PENDING_SIGNATURE</a:t>
            </a:r>
            <a:endParaRPr lang="en-AU" sz="1050" dirty="0"/>
          </a:p>
          <a:p>
            <a:pPr algn="ctr" indent="0" marL="0">
              <a:lnSpc>
                <a:spcPct val="95000"/>
              </a:lnSpc>
              <a:buNone/>
            </a:pPr>
            <a:r>
              <a:rPr lang="en-AU" sz="900" i="1" dirty="0">
                <a:solidFill>
                  <a:srgbClr val="5E6E73"/>
                </a:solidFill>
                <a:latin typeface="Calibri" pitchFamily="34" charset="0"/>
                <a:ea typeface="Calibri" pitchFamily="34" charset="-122"/>
                <a:cs typeface="Calibri" pitchFamily="34" charset="-120"/>
              </a:rPr>
              <a:t>audit: CREATE_CONSENT</a:t>
            </a:r>
            <a:endParaRPr lang="en-AU" sz="1050" dirty="0"/>
          </a:p>
        </p:txBody>
      </p:sp>
      <p:sp>
        <p:nvSpPr>
          <p:cNvPr id="22" name="Shape 19"/>
          <p:cNvSpPr/>
          <p:nvPr/>
        </p:nvSpPr>
        <p:spPr>
          <a:xfrm>
            <a:off x="2026768" y="2715768"/>
            <a:ext cx="0" cy="173736"/>
          </a:xfrm>
          <a:prstGeom prst="line">
            <a:avLst/>
          </a:prstGeom>
          <a:noFill/>
          <a:ln w="19050">
            <a:solidFill>
              <a:srgbClr val="A8842A"/>
            </a:solidFill>
            <a:prstDash val="solid"/>
            <a:tailEnd type="triangle"/>
          </a:ln>
        </p:spPr>
      </p:sp>
      <p:sp>
        <p:nvSpPr>
          <p:cNvPr id="23" name="Shape 20"/>
          <p:cNvSpPr/>
          <p:nvPr/>
        </p:nvSpPr>
        <p:spPr>
          <a:xfrm>
            <a:off x="3078328" y="3163824"/>
            <a:ext cx="182880" cy="0"/>
          </a:xfrm>
          <a:prstGeom prst="line">
            <a:avLst/>
          </a:prstGeom>
          <a:noFill/>
          <a:ln w="19050">
            <a:solidFill>
              <a:srgbClr val="A8842A"/>
            </a:solidFill>
            <a:prstDash val="solid"/>
            <a:tailEnd type="triangle"/>
          </a:ln>
        </p:spPr>
      </p:sp>
      <p:sp>
        <p:nvSpPr>
          <p:cNvPr id="24" name="Text 21"/>
          <p:cNvSpPr txBox="1"/>
          <p:nvPr/>
        </p:nvSpPr>
        <p:spPr>
          <a:xfrm>
            <a:off x="3114904" y="2980944"/>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25" name="Shape 22"/>
          <p:cNvSpPr/>
          <p:nvPr/>
        </p:nvSpPr>
        <p:spPr>
          <a:xfrm>
            <a:off x="2026768" y="3438144"/>
            <a:ext cx="0" cy="237744"/>
          </a:xfrm>
          <a:prstGeom prst="line">
            <a:avLst/>
          </a:prstGeom>
          <a:noFill/>
          <a:ln w="19050">
            <a:solidFill>
              <a:srgbClr val="A8842A"/>
            </a:solidFill>
            <a:prstDash val="solid"/>
            <a:tailEnd type="triangle"/>
          </a:ln>
        </p:spPr>
      </p:sp>
      <p:sp>
        <p:nvSpPr>
          <p:cNvPr id="26" name="Text 23"/>
          <p:cNvSpPr txBox="1"/>
          <p:nvPr/>
        </p:nvSpPr>
        <p:spPr>
          <a:xfrm>
            <a:off x="2081632" y="3419856"/>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27" name="Shape 24"/>
          <p:cNvSpPr/>
          <p:nvPr/>
        </p:nvSpPr>
        <p:spPr>
          <a:xfrm>
            <a:off x="5135728" y="1956816"/>
            <a:ext cx="2286000" cy="530352"/>
          </a:xfrm>
          <a:prstGeom prst="rect">
            <a:avLst/>
          </a:prstGeom>
          <a:solidFill>
            <a:srgbClr val="FFF2CC"/>
          </a:solidFill>
          <a:ln w="19050">
            <a:solidFill>
              <a:srgbClr val="D6B656"/>
            </a:solidFill>
            <a:prstDash val="solid"/>
          </a:ln>
        </p:spPr>
      </p:sp>
      <p:sp>
        <p:nvSpPr>
          <p:cNvPr id="28" name="Text 25"/>
          <p:cNvSpPr txBox="1"/>
          <p:nvPr/>
        </p:nvSpPr>
        <p:spPr>
          <a:xfrm>
            <a:off x="5199736" y="1984248"/>
            <a:ext cx="2157984" cy="475488"/>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Guardian signs EIP-712 approval</a:t>
            </a:r>
            <a:endParaRPr lang="en-AU" sz="1050" dirty="0"/>
          </a:p>
          <a:p>
            <a:pPr algn="ctr" indent="0" marL="0">
              <a:lnSpc>
                <a:spcPct val="95000"/>
              </a:lnSpc>
              <a:buNone/>
            </a:pPr>
            <a:r>
              <a:rPr lang="en-AU" sz="900" i="1" dirty="0">
                <a:solidFill>
                  <a:srgbClr val="5E6E73"/>
                </a:solidFill>
                <a:latin typeface="Calibri" pitchFamily="34" charset="0"/>
                <a:ea typeface="Calibri" pitchFamily="34" charset="-122"/>
                <a:cs typeface="Calibri" pitchFamily="34" charset="-120"/>
              </a:rPr>
              <a:t>audit: SIGN_CONSENT</a:t>
            </a:r>
            <a:endParaRPr lang="en-AU" sz="1050" dirty="0"/>
          </a:p>
        </p:txBody>
      </p:sp>
      <p:sp>
        <p:nvSpPr>
          <p:cNvPr id="29" name="Shape 26"/>
          <p:cNvSpPr/>
          <p:nvPr/>
        </p:nvSpPr>
        <p:spPr>
          <a:xfrm>
            <a:off x="5090008" y="2596896"/>
            <a:ext cx="2377440" cy="585216"/>
          </a:xfrm>
          <a:prstGeom prst="diamond">
            <a:avLst/>
          </a:prstGeom>
          <a:solidFill>
            <a:srgbClr val="FFF2CC"/>
          </a:solidFill>
          <a:ln w="19050">
            <a:solidFill>
              <a:srgbClr val="D6B656"/>
            </a:solidFill>
            <a:prstDash val="solid"/>
          </a:ln>
        </p:spPr>
      </p:sp>
      <p:sp>
        <p:nvSpPr>
          <p:cNvPr id="30" name="Text 27"/>
          <p:cNvSpPr txBox="1"/>
          <p:nvPr/>
        </p:nvSpPr>
        <p:spPr>
          <a:xfrm>
            <a:off x="5494172" y="2672974"/>
            <a:ext cx="1569110" cy="433060"/>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Signature valid and not a duplicate?</a:t>
            </a:r>
            <a:endParaRPr lang="en-AU" sz="1000" dirty="0"/>
          </a:p>
        </p:txBody>
      </p:sp>
      <p:sp>
        <p:nvSpPr>
          <p:cNvPr id="31" name="Shape 28"/>
          <p:cNvSpPr/>
          <p:nvPr/>
        </p:nvSpPr>
        <p:spPr>
          <a:xfrm>
            <a:off x="4175608" y="2697480"/>
            <a:ext cx="685800" cy="384048"/>
          </a:xfrm>
          <a:prstGeom prst="rect">
            <a:avLst/>
          </a:prstGeom>
          <a:solidFill>
            <a:srgbClr val="FFF2CC"/>
          </a:solidFill>
          <a:ln w="19050">
            <a:solidFill>
              <a:srgbClr val="D6B656"/>
            </a:solidFill>
            <a:prstDash val="solid"/>
          </a:ln>
        </p:spPr>
      </p:sp>
      <p:sp>
        <p:nvSpPr>
          <p:cNvPr id="32" name="Text 29"/>
          <p:cNvSpPr txBox="1"/>
          <p:nvPr/>
        </p:nvSpPr>
        <p:spPr>
          <a:xfrm>
            <a:off x="4239616" y="2724912"/>
            <a:ext cx="557784" cy="329184"/>
          </a:xfrm>
          <a:prstGeom prst="rect">
            <a:avLst/>
          </a:prstGeom>
          <a:noFill/>
          <a:ln/>
        </p:spPr>
        <p:txBody>
          <a:bodyPr wrap="square" lIns="0" tIns="0" rIns="0" bIns="0" rtlCol="0" anchor="ctr"/>
          <a:lstStyle/>
          <a:p>
            <a:pPr algn="ctr" indent="0" marL="0">
              <a:lnSpc>
                <a:spcPct val="95000"/>
              </a:lnSpc>
              <a:buNone/>
            </a:pPr>
            <a:r>
              <a:rPr lang="en-AU" sz="950" b="1" dirty="0">
                <a:solidFill>
                  <a:srgbClr val="1C2B31"/>
                </a:solidFill>
                <a:latin typeface="Calibri" pitchFamily="34" charset="0"/>
                <a:ea typeface="Calibri" pitchFamily="34" charset="-122"/>
                <a:cs typeface="Calibri" pitchFamily="34" charset="-120"/>
              </a:rPr>
              <a:t>Reject approval</a:t>
            </a:r>
            <a:endParaRPr lang="en-AU" sz="950" dirty="0"/>
          </a:p>
        </p:txBody>
      </p:sp>
      <p:sp>
        <p:nvSpPr>
          <p:cNvPr id="33" name="Shape 30"/>
          <p:cNvSpPr/>
          <p:nvPr/>
        </p:nvSpPr>
        <p:spPr>
          <a:xfrm>
            <a:off x="5227168" y="3328416"/>
            <a:ext cx="2103120" cy="512064"/>
          </a:xfrm>
          <a:prstGeom prst="diamond">
            <a:avLst/>
          </a:prstGeom>
          <a:solidFill>
            <a:srgbClr val="FFF2CC"/>
          </a:solidFill>
          <a:ln w="19050">
            <a:solidFill>
              <a:srgbClr val="D6B656"/>
            </a:solidFill>
            <a:prstDash val="solid"/>
          </a:ln>
        </p:spPr>
      </p:sp>
      <p:sp>
        <p:nvSpPr>
          <p:cNvPr id="34" name="Text 31"/>
          <p:cNvSpPr txBox="1"/>
          <p:nvPr/>
        </p:nvSpPr>
        <p:spPr>
          <a:xfrm>
            <a:off x="5584698" y="3394984"/>
            <a:ext cx="1388059" cy="378927"/>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Approvals = N = |G| ?</a:t>
            </a:r>
            <a:endParaRPr lang="en-AU" sz="1050" dirty="0"/>
          </a:p>
        </p:txBody>
      </p:sp>
      <p:sp>
        <p:nvSpPr>
          <p:cNvPr id="35" name="Shape 32"/>
          <p:cNvSpPr/>
          <p:nvPr/>
        </p:nvSpPr>
        <p:spPr>
          <a:xfrm>
            <a:off x="4998568" y="3986784"/>
            <a:ext cx="2560320" cy="566928"/>
          </a:xfrm>
          <a:prstGeom prst="rect">
            <a:avLst/>
          </a:prstGeom>
          <a:solidFill>
            <a:srgbClr val="FFF2CC"/>
          </a:solidFill>
          <a:ln w="19050">
            <a:solidFill>
              <a:srgbClr val="D6B656"/>
            </a:solidFill>
            <a:prstDash val="solid"/>
          </a:ln>
        </p:spPr>
      </p:sp>
      <p:sp>
        <p:nvSpPr>
          <p:cNvPr id="36" name="Text 33"/>
          <p:cNvSpPr txBox="1"/>
          <p:nvPr/>
        </p:nvSpPr>
        <p:spPr>
          <a:xfrm>
            <a:off x="5062576" y="4014216"/>
            <a:ext cx="2432304" cy="512064"/>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Mint consent SBT (local ID + Sepolia anchor); consent becomes ACTIVE</a:t>
            </a:r>
            <a:endParaRPr lang="en-AU" sz="1000" dirty="0"/>
          </a:p>
          <a:p>
            <a:pPr algn="ctr" indent="0" marL="0">
              <a:lnSpc>
                <a:spcPct val="95000"/>
              </a:lnSpc>
              <a:buNone/>
            </a:pPr>
            <a:r>
              <a:rPr lang="en-AU" sz="850" i="1" dirty="0">
                <a:solidFill>
                  <a:srgbClr val="5E6E73"/>
                </a:solidFill>
                <a:latin typeface="Calibri" pitchFamily="34" charset="0"/>
                <a:ea typeface="Calibri" pitchFamily="34" charset="-122"/>
                <a:cs typeface="Calibri" pitchFamily="34" charset="-120"/>
              </a:rPr>
              <a:t>audit: MINT_SBT, ONCHAIN_MINT</a:t>
            </a:r>
            <a:endParaRPr lang="en-AU" sz="1000" dirty="0"/>
          </a:p>
        </p:txBody>
      </p:sp>
      <p:sp>
        <p:nvSpPr>
          <p:cNvPr id="37" name="Shape 34"/>
          <p:cNvSpPr/>
          <p:nvPr/>
        </p:nvSpPr>
        <p:spPr>
          <a:xfrm>
            <a:off x="3215488" y="3977640"/>
            <a:ext cx="731520" cy="0"/>
          </a:xfrm>
          <a:prstGeom prst="line">
            <a:avLst/>
          </a:prstGeom>
          <a:noFill/>
          <a:ln w="19050">
            <a:solidFill>
              <a:srgbClr val="A8842A"/>
            </a:solidFill>
            <a:prstDash val="solid"/>
          </a:ln>
        </p:spPr>
      </p:sp>
      <p:sp>
        <p:nvSpPr>
          <p:cNvPr id="38" name="Shape 35"/>
          <p:cNvSpPr/>
          <p:nvPr/>
        </p:nvSpPr>
        <p:spPr>
          <a:xfrm flipV="1">
            <a:off x="3947008" y="2221992"/>
            <a:ext cx="0" cy="1755648"/>
          </a:xfrm>
          <a:prstGeom prst="line">
            <a:avLst/>
          </a:prstGeom>
          <a:noFill/>
          <a:ln w="19050">
            <a:solidFill>
              <a:srgbClr val="A8842A"/>
            </a:solidFill>
            <a:prstDash val="solid"/>
          </a:ln>
        </p:spPr>
      </p:sp>
      <p:sp>
        <p:nvSpPr>
          <p:cNvPr id="39" name="Shape 36"/>
          <p:cNvSpPr/>
          <p:nvPr/>
        </p:nvSpPr>
        <p:spPr>
          <a:xfrm>
            <a:off x="3947008" y="2221992"/>
            <a:ext cx="1188720" cy="0"/>
          </a:xfrm>
          <a:prstGeom prst="line">
            <a:avLst/>
          </a:prstGeom>
          <a:noFill/>
          <a:ln w="19050">
            <a:solidFill>
              <a:srgbClr val="A8842A"/>
            </a:solidFill>
            <a:prstDash val="solid"/>
            <a:tailEnd type="triangle"/>
          </a:ln>
        </p:spPr>
      </p:sp>
      <p:sp>
        <p:nvSpPr>
          <p:cNvPr id="40" name="Shape 37"/>
          <p:cNvSpPr/>
          <p:nvPr/>
        </p:nvSpPr>
        <p:spPr>
          <a:xfrm>
            <a:off x="6278728" y="2487168"/>
            <a:ext cx="0" cy="109728"/>
          </a:xfrm>
          <a:prstGeom prst="line">
            <a:avLst/>
          </a:prstGeom>
          <a:noFill/>
          <a:ln w="19050">
            <a:solidFill>
              <a:srgbClr val="A8842A"/>
            </a:solidFill>
            <a:prstDash val="solid"/>
            <a:tailEnd type="triangle"/>
          </a:ln>
        </p:spPr>
      </p:sp>
      <p:sp>
        <p:nvSpPr>
          <p:cNvPr id="41" name="Shape 38"/>
          <p:cNvSpPr/>
          <p:nvPr/>
        </p:nvSpPr>
        <p:spPr>
          <a:xfrm flipH="1">
            <a:off x="4861408" y="2889504"/>
            <a:ext cx="228600" cy="0"/>
          </a:xfrm>
          <a:prstGeom prst="line">
            <a:avLst/>
          </a:prstGeom>
          <a:noFill/>
          <a:ln w="19050">
            <a:solidFill>
              <a:srgbClr val="A8842A"/>
            </a:solidFill>
            <a:prstDash val="solid"/>
            <a:tailEnd type="triangle"/>
          </a:ln>
        </p:spPr>
      </p:sp>
      <p:sp>
        <p:nvSpPr>
          <p:cNvPr id="42" name="Text 39"/>
          <p:cNvSpPr txBox="1"/>
          <p:nvPr/>
        </p:nvSpPr>
        <p:spPr>
          <a:xfrm>
            <a:off x="4897984" y="2688336"/>
            <a:ext cx="219456"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43" name="Shape 40"/>
          <p:cNvSpPr/>
          <p:nvPr/>
        </p:nvSpPr>
        <p:spPr>
          <a:xfrm>
            <a:off x="6278728" y="3182112"/>
            <a:ext cx="0" cy="146304"/>
          </a:xfrm>
          <a:prstGeom prst="line">
            <a:avLst/>
          </a:prstGeom>
          <a:noFill/>
          <a:ln w="19050">
            <a:solidFill>
              <a:srgbClr val="A8842A"/>
            </a:solidFill>
            <a:prstDash val="solid"/>
            <a:tailEnd type="triangle"/>
          </a:ln>
        </p:spPr>
      </p:sp>
      <p:sp>
        <p:nvSpPr>
          <p:cNvPr id="44" name="Text 41"/>
          <p:cNvSpPr txBox="1"/>
          <p:nvPr/>
        </p:nvSpPr>
        <p:spPr>
          <a:xfrm>
            <a:off x="6333592" y="3163824"/>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45" name="Shape 42"/>
          <p:cNvSpPr/>
          <p:nvPr/>
        </p:nvSpPr>
        <p:spPr>
          <a:xfrm>
            <a:off x="6278728" y="3840480"/>
            <a:ext cx="0" cy="146304"/>
          </a:xfrm>
          <a:prstGeom prst="line">
            <a:avLst/>
          </a:prstGeom>
          <a:noFill/>
          <a:ln w="19050">
            <a:solidFill>
              <a:srgbClr val="A8842A"/>
            </a:solidFill>
            <a:prstDash val="solid"/>
            <a:tailEnd type="triangle"/>
          </a:ln>
        </p:spPr>
      </p:sp>
      <p:sp>
        <p:nvSpPr>
          <p:cNvPr id="46" name="Text 43"/>
          <p:cNvSpPr txBox="1"/>
          <p:nvPr/>
        </p:nvSpPr>
        <p:spPr>
          <a:xfrm>
            <a:off x="6333592" y="3822192"/>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47" name="Shape 44"/>
          <p:cNvSpPr/>
          <p:nvPr/>
        </p:nvSpPr>
        <p:spPr>
          <a:xfrm>
            <a:off x="7330288" y="3584448"/>
            <a:ext cx="274320" cy="0"/>
          </a:xfrm>
          <a:prstGeom prst="line">
            <a:avLst/>
          </a:prstGeom>
          <a:noFill/>
          <a:ln w="19050">
            <a:solidFill>
              <a:srgbClr val="A8842A"/>
            </a:solidFill>
            <a:prstDash val="dash"/>
          </a:ln>
        </p:spPr>
      </p:sp>
      <p:sp>
        <p:nvSpPr>
          <p:cNvPr id="48" name="Shape 45"/>
          <p:cNvSpPr/>
          <p:nvPr/>
        </p:nvSpPr>
        <p:spPr>
          <a:xfrm flipV="1">
            <a:off x="7604608" y="2221992"/>
            <a:ext cx="0" cy="1362456"/>
          </a:xfrm>
          <a:prstGeom prst="line">
            <a:avLst/>
          </a:prstGeom>
          <a:noFill/>
          <a:ln w="19050">
            <a:solidFill>
              <a:srgbClr val="A8842A"/>
            </a:solidFill>
            <a:prstDash val="dash"/>
          </a:ln>
        </p:spPr>
      </p:sp>
      <p:sp>
        <p:nvSpPr>
          <p:cNvPr id="49" name="Shape 46"/>
          <p:cNvSpPr/>
          <p:nvPr/>
        </p:nvSpPr>
        <p:spPr>
          <a:xfrm flipH="1">
            <a:off x="7421728" y="2221992"/>
            <a:ext cx="182880" cy="0"/>
          </a:xfrm>
          <a:prstGeom prst="line">
            <a:avLst/>
          </a:prstGeom>
          <a:noFill/>
          <a:ln w="19050">
            <a:solidFill>
              <a:srgbClr val="A8842A"/>
            </a:solidFill>
            <a:prstDash val="dash"/>
            <a:tailEnd type="triangle"/>
          </a:ln>
        </p:spPr>
      </p:sp>
      <p:sp>
        <p:nvSpPr>
          <p:cNvPr id="50" name="Text 47"/>
          <p:cNvSpPr txBox="1"/>
          <p:nvPr/>
        </p:nvSpPr>
        <p:spPr>
          <a:xfrm rot="16200000">
            <a:off x="6927952" y="2843784"/>
            <a:ext cx="1645920" cy="201168"/>
          </a:xfrm>
          <a:prstGeom prst="rect">
            <a:avLst/>
          </a:prstGeom>
          <a:noFill/>
          <a:ln/>
        </p:spPr>
        <p:txBody>
          <a:bodyPr wrap="square" lIns="0" tIns="0" rIns="0" bIns="0" rtlCol="0" anchor="ctr"/>
          <a:lstStyle/>
          <a:p>
            <a:pPr algn="ctr" indent="0" marL="0">
              <a:buNone/>
            </a:pPr>
            <a:r>
              <a:rPr lang="en-AU" sz="950" i="1" dirty="0">
                <a:solidFill>
                  <a:srgbClr val="5E6E73"/>
                </a:solidFill>
                <a:latin typeface="Calibri" pitchFamily="34" charset="0"/>
                <a:ea typeface="Calibri" pitchFamily="34" charset="-122"/>
                <a:cs typeface="Calibri" pitchFamily="34" charset="-120"/>
              </a:rPr>
              <a:t>No: wait for next guardian</a:t>
            </a:r>
            <a:endParaRPr lang="en-AU" sz="950" dirty="0"/>
          </a:p>
        </p:txBody>
      </p:sp>
      <p:sp>
        <p:nvSpPr>
          <p:cNvPr id="51" name="Shape 48"/>
          <p:cNvSpPr/>
          <p:nvPr/>
        </p:nvSpPr>
        <p:spPr>
          <a:xfrm>
            <a:off x="8564728" y="1956816"/>
            <a:ext cx="2743200" cy="512064"/>
          </a:xfrm>
          <a:prstGeom prst="rect">
            <a:avLst/>
          </a:prstGeom>
          <a:solidFill>
            <a:srgbClr val="FFF2CC"/>
          </a:solidFill>
          <a:ln w="19050">
            <a:solidFill>
              <a:srgbClr val="D6B656"/>
            </a:solidFill>
            <a:prstDash val="solid"/>
          </a:ln>
        </p:spPr>
      </p:sp>
      <p:sp>
        <p:nvSpPr>
          <p:cNvPr id="52" name="Text 49"/>
          <p:cNvSpPr txBox="1"/>
          <p:nvPr/>
        </p:nvSpPr>
        <p:spPr>
          <a:xfrm>
            <a:off x="8628736" y="1984248"/>
            <a:ext cx="2615184" cy="457200"/>
          </a:xfrm>
          <a:prstGeom prst="rect">
            <a:avLst/>
          </a:prstGeom>
          <a:noFill/>
          <a:ln/>
        </p:spPr>
        <p:txBody>
          <a:bodyPr wrap="square" lIns="0" tIns="0" rIns="0" bIns="0" rtlCol="0" anchor="ctr"/>
          <a:lstStyle/>
          <a:p>
            <a:pPr algn="ctr" indent="0" marL="0">
              <a:lnSpc>
                <a:spcPct val="95000"/>
              </a:lnSpc>
              <a:buNone/>
            </a:pPr>
            <a:r>
              <a:rPr lang="en-AU" sz="1050" b="1" dirty="0">
                <a:solidFill>
                  <a:srgbClr val="1C2B31"/>
                </a:solidFill>
                <a:latin typeface="Calibri" pitchFamily="34" charset="0"/>
                <a:ea typeface="Calibri" pitchFamily="34" charset="-122"/>
                <a:cs typeface="Calibri" pitchFamily="34" charset="-120"/>
              </a:rPr>
              <a:t>Doctor enters consent ID and selects EMR modules</a:t>
            </a:r>
            <a:endParaRPr lang="en-AU" sz="1050" dirty="0"/>
          </a:p>
        </p:txBody>
      </p:sp>
      <p:sp>
        <p:nvSpPr>
          <p:cNvPr id="53" name="Shape 50"/>
          <p:cNvSpPr/>
          <p:nvPr/>
        </p:nvSpPr>
        <p:spPr>
          <a:xfrm>
            <a:off x="8427568" y="2615184"/>
            <a:ext cx="2514600" cy="877824"/>
          </a:xfrm>
          <a:prstGeom prst="diamond">
            <a:avLst/>
          </a:prstGeom>
          <a:solidFill>
            <a:srgbClr val="FFF2CC"/>
          </a:solidFill>
          <a:ln w="19050">
            <a:solidFill>
              <a:srgbClr val="D6B656"/>
            </a:solidFill>
            <a:prstDash val="solid"/>
          </a:ln>
        </p:spPr>
      </p:sp>
      <p:sp>
        <p:nvSpPr>
          <p:cNvPr id="54" name="Text 51"/>
          <p:cNvSpPr txBox="1"/>
          <p:nvPr/>
        </p:nvSpPr>
        <p:spPr>
          <a:xfrm>
            <a:off x="8855050" y="2729301"/>
            <a:ext cx="1659636" cy="649590"/>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State = ACTIVE, access proof valid and </a:t>
            </a:r>
            <a:r>
              <a:rPr lang="en-AU" sz="1000" b="1" dirty="0">
                <a:solidFill>
                  <a:srgbClr val="1C2B31"/>
                </a:solidFill>
                <a:latin typeface="Calibri" pitchFamily="34" charset="0"/>
                <a:ea typeface="Calibri" pitchFamily="34" charset="-122"/>
                <a:cs typeface="Calibri" pitchFamily="34" charset="-120"/>
              </a:rPr>
              <a:t>S</a:t>
            </a:r>
            <a:r>
              <a:rPr lang="en-AU" sz="1180" b="1" baseline="-25000" dirty="0">
                <a:solidFill>
                  <a:srgbClr val="1C2B31"/>
                </a:solidFill>
                <a:latin typeface="Calibri" pitchFamily="34" charset="0"/>
                <a:ea typeface="Calibri" pitchFamily="34" charset="-122"/>
                <a:cs typeface="Calibri" pitchFamily="34" charset="-120"/>
              </a:rPr>
              <a:t>R</a:t>
            </a:r>
            <a:r>
              <a:rPr lang="en-AU" sz="1000" b="1" dirty="0">
                <a:solidFill>
                  <a:srgbClr val="1C2B31"/>
                </a:solidFill>
                <a:latin typeface="Calibri" pitchFamily="34" charset="0"/>
                <a:ea typeface="Calibri" pitchFamily="34" charset="-122"/>
                <a:cs typeface="Calibri" pitchFamily="34" charset="-120"/>
              </a:rPr>
              <a:t> ⊆ </a:t>
            </a:r>
            <a:r>
              <a:rPr lang="en-AU" sz="1000" b="1" dirty="0">
                <a:solidFill>
                  <a:srgbClr val="1C2B31"/>
                </a:solidFill>
                <a:latin typeface="Calibri" pitchFamily="34" charset="0"/>
                <a:ea typeface="Calibri" pitchFamily="34" charset="-122"/>
                <a:cs typeface="Calibri" pitchFamily="34" charset="-120"/>
              </a:rPr>
              <a:t>S</a:t>
            </a:r>
            <a:r>
              <a:rPr lang="en-AU" sz="1180" b="1" baseline="-25000" dirty="0">
                <a:solidFill>
                  <a:srgbClr val="1C2B31"/>
                </a:solidFill>
                <a:latin typeface="Calibri" pitchFamily="34" charset="0"/>
                <a:ea typeface="Calibri" pitchFamily="34" charset="-122"/>
                <a:cs typeface="Calibri" pitchFamily="34" charset="-120"/>
              </a:rPr>
              <a:t>C</a:t>
            </a:r>
            <a:r>
              <a:rPr lang="en-AU" sz="1000" b="1" dirty="0">
                <a:solidFill>
                  <a:srgbClr val="1C2B31"/>
                </a:solidFill>
                <a:latin typeface="Calibri" pitchFamily="34" charset="0"/>
                <a:ea typeface="Calibri" pitchFamily="34" charset="-122"/>
                <a:cs typeface="Calibri" pitchFamily="34" charset="-120"/>
              </a:rPr>
              <a:t> ?</a:t>
            </a:r>
            <a:endParaRPr lang="en-AU" sz="1000" dirty="0"/>
          </a:p>
          <a:p>
            <a:pPr algn="ctr" indent="0" marL="0">
              <a:lnSpc>
                <a:spcPct val="95000"/>
              </a:lnSpc>
              <a:buNone/>
            </a:pPr>
            <a:r>
              <a:rPr lang="en-AU" sz="850" i="1" dirty="0">
                <a:solidFill>
                  <a:srgbClr val="5E6E73"/>
                </a:solidFill>
                <a:latin typeface="Calibri" pitchFamily="34" charset="0"/>
                <a:ea typeface="Calibri" pitchFamily="34" charset="-122"/>
                <a:cs typeface="Calibri" pitchFamily="34" charset="-120"/>
              </a:rPr>
              <a:t>audit: STATE_CHECK</a:t>
            </a:r>
            <a:endParaRPr lang="en-AU" sz="1000" dirty="0"/>
          </a:p>
        </p:txBody>
      </p:sp>
      <p:sp>
        <p:nvSpPr>
          <p:cNvPr id="55" name="Shape 52"/>
          <p:cNvSpPr/>
          <p:nvPr/>
        </p:nvSpPr>
        <p:spPr>
          <a:xfrm>
            <a:off x="8473288" y="3785616"/>
            <a:ext cx="1874520" cy="640080"/>
          </a:xfrm>
          <a:prstGeom prst="roundRect">
            <a:avLst>
              <a:gd name="adj" fmla="val 17143"/>
            </a:avLst>
          </a:prstGeom>
          <a:solidFill>
            <a:srgbClr val="FFF2CC"/>
          </a:solidFill>
          <a:ln w="19050">
            <a:solidFill>
              <a:srgbClr val="D6B656"/>
            </a:solidFill>
            <a:prstDash val="solid"/>
          </a:ln>
        </p:spPr>
      </p:sp>
      <p:sp>
        <p:nvSpPr>
          <p:cNvPr id="56" name="Text 53"/>
          <p:cNvSpPr txBox="1"/>
          <p:nvPr/>
        </p:nvSpPr>
        <p:spPr>
          <a:xfrm>
            <a:off x="8537296" y="3813048"/>
            <a:ext cx="1746504" cy="585216"/>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ACCESS GRANTED: release Synthea modules</a:t>
            </a:r>
            <a:endParaRPr lang="en-AU" sz="1000" dirty="0"/>
          </a:p>
          <a:p>
            <a:pPr algn="ctr" indent="0" marL="0">
              <a:lnSpc>
                <a:spcPct val="95000"/>
              </a:lnSpc>
              <a:buNone/>
            </a:pPr>
            <a:r>
              <a:rPr lang="en-AU" sz="850" i="1" dirty="0">
                <a:solidFill>
                  <a:srgbClr val="5E6E73"/>
                </a:solidFill>
                <a:latin typeface="Calibri" pitchFamily="34" charset="0"/>
                <a:ea typeface="Calibri" pitchFamily="34" charset="-122"/>
                <a:cs typeface="Calibri" pitchFamily="34" charset="-120"/>
              </a:rPr>
              <a:t>audit: DATA_ACCESS</a:t>
            </a:r>
            <a:endParaRPr lang="en-AU" sz="1000" dirty="0"/>
          </a:p>
        </p:txBody>
      </p:sp>
      <p:sp>
        <p:nvSpPr>
          <p:cNvPr id="57" name="Shape 54"/>
          <p:cNvSpPr/>
          <p:nvPr/>
        </p:nvSpPr>
        <p:spPr>
          <a:xfrm>
            <a:off x="10484968" y="3785616"/>
            <a:ext cx="1097280" cy="640080"/>
          </a:xfrm>
          <a:prstGeom prst="roundRect">
            <a:avLst>
              <a:gd name="adj" fmla="val 17143"/>
            </a:avLst>
          </a:prstGeom>
          <a:solidFill>
            <a:srgbClr val="FFF2CC"/>
          </a:solidFill>
          <a:ln w="19050">
            <a:solidFill>
              <a:srgbClr val="D6B656"/>
            </a:solidFill>
            <a:prstDash val="solid"/>
          </a:ln>
        </p:spPr>
      </p:sp>
      <p:sp>
        <p:nvSpPr>
          <p:cNvPr id="58" name="Text 55"/>
          <p:cNvSpPr txBox="1"/>
          <p:nvPr/>
        </p:nvSpPr>
        <p:spPr>
          <a:xfrm>
            <a:off x="10548976" y="3813048"/>
            <a:ext cx="969264" cy="585216"/>
          </a:xfrm>
          <a:prstGeom prst="rect">
            <a:avLst/>
          </a:prstGeom>
          <a:noFill/>
          <a:ln/>
        </p:spPr>
        <p:txBody>
          <a:bodyPr wrap="square" lIns="0" tIns="0" rIns="0" bIns="0" rtlCol="0" anchor="ctr"/>
          <a:lstStyle/>
          <a:p>
            <a:pPr algn="ctr" indent="0" marL="0">
              <a:lnSpc>
                <a:spcPct val="95000"/>
              </a:lnSpc>
              <a:buNone/>
            </a:pPr>
            <a:r>
              <a:rPr lang="en-AU" sz="1000" b="1" dirty="0">
                <a:solidFill>
                  <a:srgbClr val="1C2B31"/>
                </a:solidFill>
                <a:latin typeface="Calibri" pitchFamily="34" charset="0"/>
                <a:ea typeface="Calibri" pitchFamily="34" charset="-122"/>
                <a:cs typeface="Calibri" pitchFamily="34" charset="-120"/>
              </a:rPr>
              <a:t>ACCESS DENIED</a:t>
            </a:r>
            <a:endParaRPr lang="en-AU" sz="1000" dirty="0"/>
          </a:p>
          <a:p>
            <a:pPr algn="ctr" indent="0" marL="0">
              <a:lnSpc>
                <a:spcPct val="95000"/>
              </a:lnSpc>
              <a:buNone/>
            </a:pPr>
            <a:r>
              <a:rPr lang="en-AU" sz="850" i="1" dirty="0">
                <a:solidFill>
                  <a:srgbClr val="5E6E73"/>
                </a:solidFill>
                <a:latin typeface="Calibri" pitchFamily="34" charset="0"/>
                <a:ea typeface="Calibri" pitchFamily="34" charset="-122"/>
                <a:cs typeface="Calibri" pitchFamily="34" charset="-120"/>
              </a:rPr>
              <a:t>audit: DATA_ACCESS</a:t>
            </a:r>
            <a:endParaRPr lang="en-AU" sz="1000" dirty="0"/>
          </a:p>
        </p:txBody>
      </p:sp>
      <p:sp>
        <p:nvSpPr>
          <p:cNvPr id="59" name="Shape 56"/>
          <p:cNvSpPr/>
          <p:nvPr/>
        </p:nvSpPr>
        <p:spPr>
          <a:xfrm>
            <a:off x="7558888" y="4270248"/>
            <a:ext cx="685800" cy="0"/>
          </a:xfrm>
          <a:prstGeom prst="line">
            <a:avLst/>
          </a:prstGeom>
          <a:noFill/>
          <a:ln w="19050">
            <a:solidFill>
              <a:srgbClr val="A8842A"/>
            </a:solidFill>
            <a:prstDash val="solid"/>
          </a:ln>
        </p:spPr>
      </p:sp>
      <p:sp>
        <p:nvSpPr>
          <p:cNvPr id="60" name="Shape 57"/>
          <p:cNvSpPr/>
          <p:nvPr/>
        </p:nvSpPr>
        <p:spPr>
          <a:xfrm flipV="1">
            <a:off x="8244688" y="2212848"/>
            <a:ext cx="0" cy="2057400"/>
          </a:xfrm>
          <a:prstGeom prst="line">
            <a:avLst/>
          </a:prstGeom>
          <a:noFill/>
          <a:ln w="19050">
            <a:solidFill>
              <a:srgbClr val="A8842A"/>
            </a:solidFill>
            <a:prstDash val="solid"/>
          </a:ln>
        </p:spPr>
      </p:sp>
      <p:sp>
        <p:nvSpPr>
          <p:cNvPr id="61" name="Shape 58"/>
          <p:cNvSpPr/>
          <p:nvPr/>
        </p:nvSpPr>
        <p:spPr>
          <a:xfrm>
            <a:off x="8244688" y="2212848"/>
            <a:ext cx="320040" cy="0"/>
          </a:xfrm>
          <a:prstGeom prst="line">
            <a:avLst/>
          </a:prstGeom>
          <a:noFill/>
          <a:ln w="19050">
            <a:solidFill>
              <a:srgbClr val="A8842A"/>
            </a:solidFill>
            <a:prstDash val="solid"/>
            <a:tailEnd type="triangle"/>
          </a:ln>
        </p:spPr>
      </p:sp>
      <p:sp>
        <p:nvSpPr>
          <p:cNvPr id="62" name="Shape 59"/>
          <p:cNvSpPr/>
          <p:nvPr/>
        </p:nvSpPr>
        <p:spPr>
          <a:xfrm>
            <a:off x="9936328" y="2468880"/>
            <a:ext cx="0" cy="146304"/>
          </a:xfrm>
          <a:prstGeom prst="line">
            <a:avLst/>
          </a:prstGeom>
          <a:noFill/>
          <a:ln w="19050">
            <a:solidFill>
              <a:srgbClr val="A8842A"/>
            </a:solidFill>
            <a:prstDash val="solid"/>
            <a:tailEnd type="triangle"/>
          </a:ln>
        </p:spPr>
      </p:sp>
      <p:sp>
        <p:nvSpPr>
          <p:cNvPr id="63" name="Shape 60"/>
          <p:cNvSpPr/>
          <p:nvPr/>
        </p:nvSpPr>
        <p:spPr>
          <a:xfrm>
            <a:off x="9684868" y="3493008"/>
            <a:ext cx="0" cy="146304"/>
          </a:xfrm>
          <a:prstGeom prst="line">
            <a:avLst/>
          </a:prstGeom>
          <a:noFill/>
          <a:ln w="19050">
            <a:solidFill>
              <a:srgbClr val="A8842A"/>
            </a:solidFill>
            <a:prstDash val="solid"/>
          </a:ln>
        </p:spPr>
      </p:sp>
      <p:sp>
        <p:nvSpPr>
          <p:cNvPr id="64" name="Shape 61"/>
          <p:cNvSpPr/>
          <p:nvPr/>
        </p:nvSpPr>
        <p:spPr>
          <a:xfrm flipH="1">
            <a:off x="9410548" y="3639312"/>
            <a:ext cx="274320" cy="0"/>
          </a:xfrm>
          <a:prstGeom prst="line">
            <a:avLst/>
          </a:prstGeom>
          <a:noFill/>
          <a:ln w="19050">
            <a:solidFill>
              <a:srgbClr val="A8842A"/>
            </a:solidFill>
            <a:prstDash val="solid"/>
          </a:ln>
        </p:spPr>
      </p:sp>
      <p:sp>
        <p:nvSpPr>
          <p:cNvPr id="65" name="Shape 62"/>
          <p:cNvSpPr/>
          <p:nvPr/>
        </p:nvSpPr>
        <p:spPr>
          <a:xfrm>
            <a:off x="9410548" y="3639312"/>
            <a:ext cx="0" cy="146304"/>
          </a:xfrm>
          <a:prstGeom prst="line">
            <a:avLst/>
          </a:prstGeom>
          <a:noFill/>
          <a:ln w="19050">
            <a:solidFill>
              <a:srgbClr val="A8842A"/>
            </a:solidFill>
            <a:prstDash val="solid"/>
            <a:tailEnd type="triangle"/>
          </a:ln>
        </p:spPr>
      </p:sp>
      <p:sp>
        <p:nvSpPr>
          <p:cNvPr id="66" name="Text 63"/>
          <p:cNvSpPr txBox="1"/>
          <p:nvPr/>
        </p:nvSpPr>
        <p:spPr>
          <a:xfrm>
            <a:off x="9739732" y="3474720"/>
            <a:ext cx="45720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Yes</a:t>
            </a:r>
            <a:endParaRPr lang="en-AU" sz="950" dirty="0"/>
          </a:p>
        </p:txBody>
      </p:sp>
      <p:sp>
        <p:nvSpPr>
          <p:cNvPr id="67" name="Shape 64"/>
          <p:cNvSpPr/>
          <p:nvPr/>
        </p:nvSpPr>
        <p:spPr>
          <a:xfrm>
            <a:off x="10942168" y="3054096"/>
            <a:ext cx="91440" cy="0"/>
          </a:xfrm>
          <a:prstGeom prst="line">
            <a:avLst/>
          </a:prstGeom>
          <a:noFill/>
          <a:ln w="19050">
            <a:solidFill>
              <a:srgbClr val="A8842A"/>
            </a:solidFill>
            <a:prstDash val="solid"/>
          </a:ln>
        </p:spPr>
      </p:sp>
      <p:sp>
        <p:nvSpPr>
          <p:cNvPr id="68" name="Shape 65"/>
          <p:cNvSpPr/>
          <p:nvPr/>
        </p:nvSpPr>
        <p:spPr>
          <a:xfrm>
            <a:off x="11033608" y="3054096"/>
            <a:ext cx="0" cy="731520"/>
          </a:xfrm>
          <a:prstGeom prst="line">
            <a:avLst/>
          </a:prstGeom>
          <a:noFill/>
          <a:ln w="19050">
            <a:solidFill>
              <a:srgbClr val="A8842A"/>
            </a:solidFill>
            <a:prstDash val="solid"/>
            <a:tailEnd type="triangle"/>
          </a:ln>
        </p:spPr>
      </p:sp>
      <p:sp>
        <p:nvSpPr>
          <p:cNvPr id="69" name="Text 66"/>
          <p:cNvSpPr txBox="1"/>
          <p:nvPr/>
        </p:nvSpPr>
        <p:spPr>
          <a:xfrm>
            <a:off x="10960456" y="2852928"/>
            <a:ext cx="365760" cy="164592"/>
          </a:xfrm>
          <a:prstGeom prst="rect">
            <a:avLst/>
          </a:prstGeom>
          <a:noFill/>
          <a:ln/>
        </p:spPr>
        <p:txBody>
          <a:bodyPr wrap="square" lIns="0" tIns="0" rIns="0" bIns="0" rtlCol="0" anchor="ctr"/>
          <a:lstStyle/>
          <a:p>
            <a:pPr algn="l" indent="0" marL="0">
              <a:buNone/>
            </a:pPr>
            <a:r>
              <a:rPr lang="en-AU" sz="950" dirty="0">
                <a:solidFill>
                  <a:srgbClr val="5E6E73"/>
                </a:solidFill>
                <a:latin typeface="Calibri" pitchFamily="34" charset="0"/>
                <a:ea typeface="Calibri" pitchFamily="34" charset="-122"/>
                <a:cs typeface="Calibri" pitchFamily="34" charset="-120"/>
              </a:rPr>
              <a:t>No</a:t>
            </a:r>
            <a:endParaRPr lang="en-AU" sz="950" dirty="0"/>
          </a:p>
        </p:txBody>
      </p:sp>
      <p:sp>
        <p:nvSpPr>
          <p:cNvPr id="70" name="Shape 67"/>
          <p:cNvSpPr/>
          <p:nvPr/>
        </p:nvSpPr>
        <p:spPr>
          <a:xfrm>
            <a:off x="929488" y="4700016"/>
            <a:ext cx="10424160" cy="438912"/>
          </a:xfrm>
          <a:prstGeom prst="roundRect">
            <a:avLst>
              <a:gd name="adj" fmla="val 25000"/>
            </a:avLst>
          </a:prstGeom>
          <a:solidFill>
            <a:srgbClr val="ECECFF"/>
          </a:solidFill>
          <a:ln w="19050">
            <a:solidFill>
              <a:srgbClr val="9370DB"/>
            </a:solidFill>
            <a:prstDash val="solid"/>
          </a:ln>
        </p:spPr>
      </p:sp>
      <p:sp>
        <p:nvSpPr>
          <p:cNvPr id="71" name="Text 68"/>
          <p:cNvSpPr txBox="1"/>
          <p:nvPr/>
        </p:nvSpPr>
        <p:spPr>
          <a:xfrm>
            <a:off x="993496" y="4727448"/>
            <a:ext cx="10296144" cy="384048"/>
          </a:xfrm>
          <a:prstGeom prst="rect">
            <a:avLst/>
          </a:prstGeom>
          <a:noFill/>
          <a:ln/>
        </p:spPr>
        <p:txBody>
          <a:bodyPr wrap="square" lIns="0" tIns="0" rIns="0" bIns="0" rtlCol="0" anchor="ctr"/>
          <a:lstStyle/>
          <a:p>
            <a:pPr algn="ctr" indent="0" marL="0">
              <a:lnSpc>
                <a:spcPct val="95000"/>
              </a:lnSpc>
              <a:buNone/>
            </a:pPr>
            <a:r>
              <a:rPr lang="en-AU" sz="1100" b="1" dirty="0">
                <a:solidFill>
                  <a:srgbClr val="1C2B31"/>
                </a:solidFill>
                <a:latin typeface="Calibri" pitchFamily="34" charset="0"/>
                <a:ea typeface="Calibri" pitchFamily="34" charset="-122"/>
                <a:cs typeface="Calibri" pitchFamily="34" charset="-120"/>
              </a:rPr>
              <a:t>Audit log (Section 7.5): CREATE_CONSENT · SIGN_CONSENT · MINT_SBT · ONCHAIN_MINT · STATE_CHECK · DATA_ACCESS (GRANTED / DENIED)</a:t>
            </a:r>
            <a:endParaRPr lang="en-AU" sz="1100" dirty="0"/>
          </a:p>
        </p:txBody>
      </p:sp>
      <p:sp>
        <p:nvSpPr>
          <p:cNvPr id="72" name="Shape 69"/>
          <p:cNvSpPr/>
          <p:nvPr/>
        </p:nvSpPr>
        <p:spPr>
          <a:xfrm>
            <a:off x="2026768" y="4279392"/>
            <a:ext cx="0" cy="420624"/>
          </a:xfrm>
          <a:prstGeom prst="line">
            <a:avLst/>
          </a:prstGeom>
          <a:noFill/>
          <a:ln w="19050">
            <a:solidFill>
              <a:srgbClr val="A8842A"/>
            </a:solidFill>
            <a:prstDash val="sysDot"/>
            <a:tailEnd type="triangle"/>
          </a:ln>
        </p:spPr>
      </p:sp>
      <p:sp>
        <p:nvSpPr>
          <p:cNvPr id="73" name="Shape 70"/>
          <p:cNvSpPr/>
          <p:nvPr/>
        </p:nvSpPr>
        <p:spPr>
          <a:xfrm>
            <a:off x="6278728" y="4553712"/>
            <a:ext cx="0" cy="146304"/>
          </a:xfrm>
          <a:prstGeom prst="line">
            <a:avLst/>
          </a:prstGeom>
          <a:noFill/>
          <a:ln w="19050">
            <a:solidFill>
              <a:srgbClr val="A8842A"/>
            </a:solidFill>
            <a:prstDash val="sysDot"/>
            <a:tailEnd type="triangle"/>
          </a:ln>
        </p:spPr>
      </p:sp>
      <p:sp>
        <p:nvSpPr>
          <p:cNvPr id="74" name="Shape 71"/>
          <p:cNvSpPr/>
          <p:nvPr/>
        </p:nvSpPr>
        <p:spPr>
          <a:xfrm>
            <a:off x="9410548" y="4425696"/>
            <a:ext cx="0" cy="274320"/>
          </a:xfrm>
          <a:prstGeom prst="line">
            <a:avLst/>
          </a:prstGeom>
          <a:noFill/>
          <a:ln w="19050">
            <a:solidFill>
              <a:srgbClr val="A8842A"/>
            </a:solidFill>
            <a:prstDash val="sysDot"/>
            <a:tailEnd type="triangle"/>
          </a:ln>
        </p:spPr>
      </p:sp>
      <p:sp>
        <p:nvSpPr>
          <p:cNvPr id="75" name="Shape 72"/>
          <p:cNvSpPr/>
          <p:nvPr/>
        </p:nvSpPr>
        <p:spPr>
          <a:xfrm>
            <a:off x="11033608" y="4425696"/>
            <a:ext cx="0" cy="274320"/>
          </a:xfrm>
          <a:prstGeom prst="line">
            <a:avLst/>
          </a:prstGeom>
          <a:noFill/>
          <a:ln w="19050">
            <a:solidFill>
              <a:srgbClr val="A8842A"/>
            </a:solidFill>
            <a:prstDash val="sysDot"/>
            <a:tailEnd type="triangle"/>
          </a:ln>
        </p:spPr>
      </p:sp>
      <p:sp>
        <p:nvSpPr>
          <p:cNvPr id="76" name="Text 73"/>
          <p:cNvSpPr txBox="1"/>
          <p:nvPr/>
        </p:nvSpPr>
        <p:spPr>
          <a:xfrm>
            <a:off x="685800" y="5138928"/>
            <a:ext cx="10820095"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7.6: HALAH prototype workflow from consent creation to audited access decision</a:t>
            </a:r>
            <a:endParaRPr lang="en-AU" sz="1050" dirty="0"/>
          </a:p>
        </p:txBody>
      </p:sp>
      <p:sp>
        <p:nvSpPr>
          <p:cNvPr id="77" name="Text 74"/>
          <p:cNvSpPr txBox="1"/>
          <p:nvPr/>
        </p:nvSpPr>
        <p:spPr>
          <a:xfrm>
            <a:off x="548640" y="5614416"/>
            <a:ext cx="2567864" cy="292608"/>
          </a:xfrm>
          <a:prstGeom prst="rect">
            <a:avLst/>
          </a:prstGeom>
          <a:noFill/>
          <a:ln/>
        </p:spPr>
        <p:txBody>
          <a:bodyPr wrap="square" lIns="0" tIns="0" rIns="0" bIns="0" rtlCol="0" anchor="ctr"/>
          <a:lstStyle/>
          <a:p>
            <a:pPr indent="0" marL="0">
              <a:buNone/>
            </a:pPr>
            <a:r>
              <a:rPr lang="en-AU" sz="1400" b="1" dirty="0">
                <a:solidFill>
                  <a:srgbClr val="0E3B43"/>
                </a:solidFill>
                <a:latin typeface="Calibri" pitchFamily="34" charset="0"/>
                <a:ea typeface="Calibri" pitchFamily="34" charset="-122"/>
                <a:cs typeface="Calibri" pitchFamily="34" charset="-120"/>
              </a:rPr>
              <a:t>Patient: create consent</a:t>
            </a:r>
            <a:endParaRPr lang="en-AU" sz="1400" dirty="0"/>
          </a:p>
        </p:txBody>
      </p:sp>
      <p:sp>
        <p:nvSpPr>
          <p:cNvPr id="78" name="Text 75"/>
          <p:cNvSpPr txBox="1"/>
          <p:nvPr/>
        </p:nvSpPr>
        <p:spPr>
          <a:xfrm>
            <a:off x="548640" y="5925312"/>
            <a:ext cx="2567864" cy="42976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Patient, doctor and guardian DIDs, module scope and start / expiry time</a:t>
            </a:r>
            <a:endParaRPr lang="en-AU" sz="1250" dirty="0"/>
          </a:p>
        </p:txBody>
      </p:sp>
      <p:sp>
        <p:nvSpPr>
          <p:cNvPr id="79" name="Text 76"/>
          <p:cNvSpPr txBox="1"/>
          <p:nvPr/>
        </p:nvSpPr>
        <p:spPr>
          <a:xfrm>
            <a:off x="3390824" y="5614416"/>
            <a:ext cx="2567864" cy="292608"/>
          </a:xfrm>
          <a:prstGeom prst="rect">
            <a:avLst/>
          </a:prstGeom>
          <a:noFill/>
          <a:ln/>
        </p:spPr>
        <p:txBody>
          <a:bodyPr wrap="square" lIns="0" tIns="0" rIns="0" bIns="0" rtlCol="0" anchor="ctr"/>
          <a:lstStyle/>
          <a:p>
            <a:pPr indent="0" marL="0">
              <a:buNone/>
            </a:pPr>
            <a:r>
              <a:rPr lang="en-AU" sz="1400" b="1" dirty="0">
                <a:solidFill>
                  <a:srgbClr val="0E3B43"/>
                </a:solidFill>
                <a:latin typeface="Calibri" pitchFamily="34" charset="0"/>
                <a:ea typeface="Calibri" pitchFamily="34" charset="-122"/>
                <a:cs typeface="Calibri" pitchFamily="34" charset="-120"/>
              </a:rPr>
              <a:t>Guardian: approve, activate</a:t>
            </a:r>
            <a:endParaRPr lang="en-AU" sz="1400" dirty="0"/>
          </a:p>
        </p:txBody>
      </p:sp>
      <p:sp>
        <p:nvSpPr>
          <p:cNvPr id="80" name="Text 77"/>
          <p:cNvSpPr txBox="1"/>
          <p:nvPr/>
        </p:nvSpPr>
        <p:spPr>
          <a:xfrm>
            <a:off x="3390824" y="5925312"/>
            <a:ext cx="2567864" cy="42976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Verifies guardian identities, records both signatures and mints the SBT</a:t>
            </a:r>
            <a:endParaRPr lang="en-AU" sz="1250" dirty="0"/>
          </a:p>
        </p:txBody>
      </p:sp>
      <p:sp>
        <p:nvSpPr>
          <p:cNvPr id="81" name="Text 78"/>
          <p:cNvSpPr txBox="1"/>
          <p:nvPr/>
        </p:nvSpPr>
        <p:spPr>
          <a:xfrm>
            <a:off x="6233008" y="5614416"/>
            <a:ext cx="2567864" cy="292608"/>
          </a:xfrm>
          <a:prstGeom prst="rect">
            <a:avLst/>
          </a:prstGeom>
          <a:noFill/>
          <a:ln/>
        </p:spPr>
        <p:txBody>
          <a:bodyPr wrap="square" lIns="0" tIns="0" rIns="0" bIns="0" rtlCol="0" anchor="ctr"/>
          <a:lstStyle/>
          <a:p>
            <a:pPr indent="0" marL="0">
              <a:buNone/>
            </a:pPr>
            <a:r>
              <a:rPr lang="en-AU" sz="1400" b="1" dirty="0">
                <a:solidFill>
                  <a:srgbClr val="0E3B43"/>
                </a:solidFill>
                <a:latin typeface="Calibri" pitchFamily="34" charset="0"/>
                <a:ea typeface="Calibri" pitchFamily="34" charset="-122"/>
                <a:cs typeface="Calibri" pitchFamily="34" charset="-120"/>
              </a:rPr>
              <a:t>Doctor: verified access</a:t>
            </a:r>
            <a:endParaRPr lang="en-AU" sz="1400" dirty="0"/>
          </a:p>
        </p:txBody>
      </p:sp>
      <p:sp>
        <p:nvSpPr>
          <p:cNvPr id="82" name="Text 79"/>
          <p:cNvSpPr txBox="1"/>
          <p:nvPr/>
        </p:nvSpPr>
        <p:spPr>
          <a:xfrm>
            <a:off x="6233008" y="5925312"/>
            <a:ext cx="2567864" cy="42976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Checks the consent is ACTIVE; access limited to the authorised modules</a:t>
            </a:r>
            <a:endParaRPr lang="en-AU" sz="1250" dirty="0"/>
          </a:p>
        </p:txBody>
      </p:sp>
      <p:sp>
        <p:nvSpPr>
          <p:cNvPr id="83" name="Text 80"/>
          <p:cNvSpPr txBox="1"/>
          <p:nvPr/>
        </p:nvSpPr>
        <p:spPr>
          <a:xfrm>
            <a:off x="9075191" y="5614416"/>
            <a:ext cx="2567864" cy="292608"/>
          </a:xfrm>
          <a:prstGeom prst="rect">
            <a:avLst/>
          </a:prstGeom>
          <a:noFill/>
          <a:ln/>
        </p:spPr>
        <p:txBody>
          <a:bodyPr wrap="square" lIns="0" tIns="0" rIns="0" bIns="0" rtlCol="0" anchor="ctr"/>
          <a:lstStyle/>
          <a:p>
            <a:pPr indent="0" marL="0">
              <a:buNone/>
            </a:pPr>
            <a:r>
              <a:rPr lang="en-AU" sz="1400" b="1" dirty="0">
                <a:solidFill>
                  <a:srgbClr val="0E3B43"/>
                </a:solidFill>
                <a:latin typeface="Calibri" pitchFamily="34" charset="0"/>
                <a:ea typeface="Calibri" pitchFamily="34" charset="-122"/>
                <a:cs typeface="Calibri" pitchFamily="34" charset="-120"/>
              </a:rPr>
              <a:t>Auditor: trace the evidence</a:t>
            </a:r>
            <a:endParaRPr lang="en-AU" sz="1400" dirty="0"/>
          </a:p>
        </p:txBody>
      </p:sp>
      <p:sp>
        <p:nvSpPr>
          <p:cNvPr id="84" name="Text 81"/>
          <p:cNvSpPr txBox="1"/>
          <p:nvPr/>
        </p:nvSpPr>
        <p:spPr>
          <a:xfrm>
            <a:off x="9075191" y="5925312"/>
            <a:ext cx="2567864" cy="42976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Rebuilds the lifecycle from event-level records and the audit ledger</a:t>
            </a:r>
            <a:endParaRPr lang="en-AU"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Patient creates, guardians activate</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Multi-party consent is built in when the consent contract is constructed (Sections 7.2–7.3)</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31 / 43</a:t>
            </a:r>
            <a:endParaRPr lang="en-AU" sz="1000" dirty="0"/>
          </a:p>
        </p:txBody>
      </p:sp>
      <p:sp>
        <p:nvSpPr>
          <p:cNvPr id="7" name="Shape 4"/>
          <p:cNvSpPr/>
          <p:nvPr/>
        </p:nvSpPr>
        <p:spPr>
          <a:xfrm>
            <a:off x="548640" y="1554480"/>
            <a:ext cx="5364328" cy="3950208"/>
          </a:xfrm>
          <a:prstGeom prst="roundRect">
            <a:avLst>
              <a:gd name="adj" fmla="val 1852"/>
            </a:avLst>
          </a:prstGeom>
          <a:solidFill>
            <a:srgbClr val="F4F8F9"/>
          </a:solidFill>
          <a:ln w="9525">
            <a:solidFill>
              <a:srgbClr val="D5E0E2"/>
            </a:solidFill>
            <a:prstDash val="solid"/>
          </a:ln>
        </p:spPr>
      </p:sp>
      <p:pic>
        <p:nvPicPr>
          <p:cNvPr id="8" name="Image 0" descr="Figure 7.1 (cropped): Patient subsystem – Create Smart Consent Contract">    </p:cNvPr>
          <p:cNvPicPr>
            <a:picLocks noChangeAspect="1"/>
          </p:cNvPicPr>
          <p:nvPr/>
        </p:nvPicPr>
        <p:blipFill>
          <a:blip r:embed="rId1"/>
          <a:stretch>
            <a:fillRect/>
          </a:stretch>
        </p:blipFill>
        <p:spPr>
          <a:xfrm>
            <a:off x="772757" y="1691640"/>
            <a:ext cx="4916093" cy="3364992"/>
          </a:xfrm>
          <a:prstGeom prst="rect">
            <a:avLst/>
          </a:prstGeom>
        </p:spPr>
      </p:pic>
      <p:sp>
        <p:nvSpPr>
          <p:cNvPr id="9" name="Text 5"/>
          <p:cNvSpPr txBox="1"/>
          <p:nvPr/>
        </p:nvSpPr>
        <p:spPr>
          <a:xfrm>
            <a:off x="685800" y="5120640"/>
            <a:ext cx="5090008"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7.1 (cropped): Patient subsystem – Create Smart Consent Contract</a:t>
            </a:r>
            <a:endParaRPr lang="en-AU" sz="1050" dirty="0"/>
          </a:p>
        </p:txBody>
      </p:sp>
      <p:sp>
        <p:nvSpPr>
          <p:cNvPr id="10" name="Shape 6"/>
          <p:cNvSpPr/>
          <p:nvPr/>
        </p:nvSpPr>
        <p:spPr>
          <a:xfrm>
            <a:off x="862490" y="3854849"/>
            <a:ext cx="2320242" cy="256380"/>
          </a:xfrm>
          <a:prstGeom prst="roundRect">
            <a:avLst>
              <a:gd name="adj" fmla="val 14266"/>
            </a:avLst>
          </a:prstGeom>
          <a:solidFill>
            <a:srgbClr val="D4A12A">
              <a:alpha val="0"/>
            </a:srgbClr>
          </a:solidFill>
          <a:ln w="28575">
            <a:solidFill>
              <a:srgbClr val="D4A12A"/>
            </a:solidFill>
            <a:prstDash val="solid"/>
          </a:ln>
        </p:spPr>
      </p:sp>
      <p:sp>
        <p:nvSpPr>
          <p:cNvPr id="11" name="Shape 7"/>
          <p:cNvSpPr/>
          <p:nvPr/>
        </p:nvSpPr>
        <p:spPr>
          <a:xfrm>
            <a:off x="862490" y="4138661"/>
            <a:ext cx="2359152" cy="256032"/>
          </a:xfrm>
          <a:prstGeom prst="roundRect">
            <a:avLst>
              <a:gd name="adj" fmla="val 21429"/>
            </a:avLst>
          </a:prstGeom>
          <a:solidFill>
            <a:srgbClr val="D4A12A"/>
          </a:solidFill>
          <a:ln w="12700">
            <a:solidFill>
              <a:srgbClr val="D4A12A"/>
            </a:solidFill>
            <a:prstDash val="solid"/>
          </a:ln>
        </p:spPr>
      </p:sp>
      <p:sp>
        <p:nvSpPr>
          <p:cNvPr id="12" name="Text 8"/>
          <p:cNvSpPr txBox="1"/>
          <p:nvPr/>
        </p:nvSpPr>
        <p:spPr>
          <a:xfrm>
            <a:off x="862490" y="4138661"/>
            <a:ext cx="2359152"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Scope: Medication, Procedure</a:t>
            </a:r>
            <a:endParaRPr lang="en-AU" sz="1100" dirty="0"/>
          </a:p>
        </p:txBody>
      </p:sp>
      <p:sp>
        <p:nvSpPr>
          <p:cNvPr id="13" name="Shape 9"/>
          <p:cNvSpPr/>
          <p:nvPr/>
        </p:nvSpPr>
        <p:spPr>
          <a:xfrm>
            <a:off x="3285285" y="3181851"/>
            <a:ext cx="2313833" cy="1009498"/>
          </a:xfrm>
          <a:prstGeom prst="roundRect">
            <a:avLst>
              <a:gd name="adj" fmla="val 3623"/>
            </a:avLst>
          </a:prstGeom>
          <a:solidFill>
            <a:srgbClr val="D4A12A">
              <a:alpha val="0"/>
            </a:srgbClr>
          </a:solidFill>
          <a:ln w="28575">
            <a:solidFill>
              <a:srgbClr val="D4A12A"/>
            </a:solidFill>
            <a:prstDash val="solid"/>
          </a:ln>
        </p:spPr>
      </p:sp>
      <p:sp>
        <p:nvSpPr>
          <p:cNvPr id="14" name="Shape 10"/>
          <p:cNvSpPr/>
          <p:nvPr/>
        </p:nvSpPr>
        <p:spPr>
          <a:xfrm>
            <a:off x="3285285" y="4218780"/>
            <a:ext cx="1348740" cy="256032"/>
          </a:xfrm>
          <a:prstGeom prst="roundRect">
            <a:avLst>
              <a:gd name="adj" fmla="val 21429"/>
            </a:avLst>
          </a:prstGeom>
          <a:solidFill>
            <a:srgbClr val="D4A12A"/>
          </a:solidFill>
          <a:ln w="12700">
            <a:solidFill>
              <a:srgbClr val="D4A12A"/>
            </a:solidFill>
            <a:prstDash val="solid"/>
          </a:ln>
        </p:spPr>
      </p:sp>
      <p:sp>
        <p:nvSpPr>
          <p:cNvPr id="15" name="Text 11"/>
          <p:cNvSpPr txBox="1"/>
          <p:nvPr/>
        </p:nvSpPr>
        <p:spPr>
          <a:xfrm>
            <a:off x="3285285" y="4218780"/>
            <a:ext cx="1348740"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Validity window</a:t>
            </a:r>
            <a:endParaRPr lang="en-AU" sz="1100" dirty="0"/>
          </a:p>
        </p:txBody>
      </p:sp>
      <p:sp>
        <p:nvSpPr>
          <p:cNvPr id="16" name="Text 12"/>
          <p:cNvSpPr txBox="1"/>
          <p:nvPr/>
        </p:nvSpPr>
        <p:spPr>
          <a:xfrm>
            <a:off x="548640" y="5577840"/>
            <a:ext cx="5364328" cy="29260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Patient: Create Smart Consent Contract</a:t>
            </a:r>
            <a:endParaRPr lang="en-AU" sz="1500" dirty="0"/>
          </a:p>
        </p:txBody>
      </p:sp>
      <p:sp>
        <p:nvSpPr>
          <p:cNvPr id="17" name="Text 13"/>
          <p:cNvSpPr txBox="1"/>
          <p:nvPr/>
        </p:nvSpPr>
        <p:spPr>
          <a:xfrm>
            <a:off x="548640" y="5870448"/>
            <a:ext cx="5364328" cy="47548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Patient DID, authorised doctor DID, EMR-module scope, guardian DIDs and start/expiry time form the consent object C</a:t>
            </a:r>
            <a:endParaRPr lang="en-AU" sz="1250" dirty="0"/>
          </a:p>
        </p:txBody>
      </p:sp>
      <p:sp>
        <p:nvSpPr>
          <p:cNvPr id="18" name="Shape 14"/>
          <p:cNvSpPr/>
          <p:nvPr/>
        </p:nvSpPr>
        <p:spPr>
          <a:xfrm>
            <a:off x="6278728" y="1554480"/>
            <a:ext cx="5364328" cy="3950208"/>
          </a:xfrm>
          <a:prstGeom prst="roundRect">
            <a:avLst>
              <a:gd name="adj" fmla="val 1852"/>
            </a:avLst>
          </a:prstGeom>
          <a:solidFill>
            <a:srgbClr val="F4F8F9"/>
          </a:solidFill>
          <a:ln w="9525">
            <a:solidFill>
              <a:srgbClr val="D5E0E2"/>
            </a:solidFill>
            <a:prstDash val="solid"/>
          </a:ln>
        </p:spPr>
      </p:sp>
      <p:pic>
        <p:nvPicPr>
          <p:cNvPr id="19" name="Image 1" descr="Figure 7.2 (cropped): Guardian subsystem – Guardian Cryptographic Approval">    </p:cNvPr>
          <p:cNvPicPr>
            <a:picLocks noChangeAspect="1"/>
          </p:cNvPicPr>
          <p:nvPr/>
        </p:nvPicPr>
        <p:blipFill>
          <a:blip r:embed="rId2"/>
          <a:stretch>
            <a:fillRect/>
          </a:stretch>
        </p:blipFill>
        <p:spPr>
          <a:xfrm>
            <a:off x="6690928" y="1691640"/>
            <a:ext cx="4539928" cy="3364992"/>
          </a:xfrm>
          <a:prstGeom prst="rect">
            <a:avLst/>
          </a:prstGeom>
        </p:spPr>
      </p:pic>
      <p:sp>
        <p:nvSpPr>
          <p:cNvPr id="20" name="Text 15"/>
          <p:cNvSpPr txBox="1"/>
          <p:nvPr/>
        </p:nvSpPr>
        <p:spPr>
          <a:xfrm>
            <a:off x="6415888" y="5120640"/>
            <a:ext cx="5090008"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7.2 (cropped): Guardian subsystem – Guardian Cryptographic Approval</a:t>
            </a:r>
            <a:endParaRPr lang="en-AU" sz="1050" dirty="0"/>
          </a:p>
        </p:txBody>
      </p:sp>
      <p:sp>
        <p:nvSpPr>
          <p:cNvPr id="21" name="Shape 16"/>
          <p:cNvSpPr/>
          <p:nvPr/>
        </p:nvSpPr>
        <p:spPr>
          <a:xfrm>
            <a:off x="6773795" y="3831384"/>
            <a:ext cx="4374194" cy="337387"/>
          </a:xfrm>
          <a:prstGeom prst="roundRect">
            <a:avLst>
              <a:gd name="adj" fmla="val 10841"/>
            </a:avLst>
          </a:prstGeom>
          <a:solidFill>
            <a:srgbClr val="D4A12A">
              <a:alpha val="0"/>
            </a:srgbClr>
          </a:solidFill>
          <a:ln w="28575">
            <a:solidFill>
              <a:srgbClr val="D4A12A"/>
            </a:solidFill>
            <a:prstDash val="solid"/>
          </a:ln>
        </p:spPr>
      </p:sp>
      <p:sp>
        <p:nvSpPr>
          <p:cNvPr id="22" name="Shape 17"/>
          <p:cNvSpPr/>
          <p:nvPr/>
        </p:nvSpPr>
        <p:spPr>
          <a:xfrm>
            <a:off x="9977556" y="3876163"/>
            <a:ext cx="1115568" cy="256032"/>
          </a:xfrm>
          <a:prstGeom prst="roundRect">
            <a:avLst>
              <a:gd name="adj" fmla="val 21429"/>
            </a:avLst>
          </a:prstGeom>
          <a:solidFill>
            <a:srgbClr val="D4A12A"/>
          </a:solidFill>
          <a:ln w="12700">
            <a:solidFill>
              <a:srgbClr val="D4A12A"/>
            </a:solidFill>
            <a:prstDash val="solid"/>
          </a:ln>
        </p:spPr>
      </p:sp>
      <p:sp>
        <p:nvSpPr>
          <p:cNvPr id="23" name="Text 18"/>
          <p:cNvSpPr txBox="1"/>
          <p:nvPr/>
        </p:nvSpPr>
        <p:spPr>
          <a:xfrm>
            <a:off x="9977556" y="3876163"/>
            <a:ext cx="1115568"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Verified 2/2</a:t>
            </a:r>
            <a:endParaRPr lang="en-AU" sz="1100" dirty="0"/>
          </a:p>
        </p:txBody>
      </p:sp>
      <p:sp>
        <p:nvSpPr>
          <p:cNvPr id="24" name="Shape 19"/>
          <p:cNvSpPr/>
          <p:nvPr/>
        </p:nvSpPr>
        <p:spPr>
          <a:xfrm>
            <a:off x="6773795" y="4325627"/>
            <a:ext cx="4374194" cy="719167"/>
          </a:xfrm>
          <a:prstGeom prst="roundRect">
            <a:avLst>
              <a:gd name="adj" fmla="val 5086"/>
            </a:avLst>
          </a:prstGeom>
          <a:solidFill>
            <a:srgbClr val="D4A12A">
              <a:alpha val="0"/>
            </a:srgbClr>
          </a:solidFill>
          <a:ln w="28575">
            <a:solidFill>
              <a:srgbClr val="D4A12A"/>
            </a:solidFill>
            <a:prstDash val="solid"/>
          </a:ln>
        </p:spPr>
      </p:sp>
      <p:sp>
        <p:nvSpPr>
          <p:cNvPr id="25" name="Shape 20"/>
          <p:cNvSpPr/>
          <p:nvPr/>
        </p:nvSpPr>
        <p:spPr>
          <a:xfrm>
            <a:off x="10133004" y="4371347"/>
            <a:ext cx="960120" cy="256032"/>
          </a:xfrm>
          <a:prstGeom prst="roundRect">
            <a:avLst>
              <a:gd name="adj" fmla="val 21429"/>
            </a:avLst>
          </a:prstGeom>
          <a:solidFill>
            <a:srgbClr val="D4A12A"/>
          </a:solidFill>
          <a:ln w="12700">
            <a:solidFill>
              <a:srgbClr val="D4A12A"/>
            </a:solidFill>
            <a:prstDash val="solid"/>
          </a:ln>
        </p:spPr>
      </p:sp>
      <p:sp>
        <p:nvSpPr>
          <p:cNvPr id="26" name="Text 21"/>
          <p:cNvSpPr txBox="1"/>
          <p:nvPr/>
        </p:nvSpPr>
        <p:spPr>
          <a:xfrm>
            <a:off x="10133004" y="4371347"/>
            <a:ext cx="960120"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SBT minted</a:t>
            </a:r>
            <a:endParaRPr lang="en-AU" sz="1100" dirty="0"/>
          </a:p>
        </p:txBody>
      </p:sp>
      <p:sp>
        <p:nvSpPr>
          <p:cNvPr id="27" name="Text 22"/>
          <p:cNvSpPr txBox="1"/>
          <p:nvPr/>
        </p:nvSpPr>
        <p:spPr>
          <a:xfrm>
            <a:off x="6278728" y="5577840"/>
            <a:ext cx="5364328" cy="29260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Guardian: Cryptographic Approval</a:t>
            </a:r>
            <a:endParaRPr lang="en-AU" sz="1500" dirty="0"/>
          </a:p>
        </p:txBody>
      </p:sp>
      <p:sp>
        <p:nvSpPr>
          <p:cNvPr id="28" name="Text 23"/>
          <p:cNvSpPr txBox="1"/>
          <p:nvPr/>
        </p:nvSpPr>
        <p:spPr>
          <a:xfrm>
            <a:off x="6278728" y="5870448"/>
            <a:ext cx="5364328" cy="47548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Each guardian verifies their DID and signs; at 2/2 approvals the SBT is minted and the consent is fully activated</a:t>
            </a:r>
            <a:endParaRPr lang="en-AU"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Consent is checked before data are released</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Consent → Verification → AccessDecision in the doctor subsystem (Section 7.4)</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32 / 43</a:t>
            </a:r>
            <a:endParaRPr lang="en-AU" sz="1000" dirty="0"/>
          </a:p>
        </p:txBody>
      </p:sp>
      <p:sp>
        <p:nvSpPr>
          <p:cNvPr id="7" name="Shape 4"/>
          <p:cNvSpPr/>
          <p:nvPr/>
        </p:nvSpPr>
        <p:spPr>
          <a:xfrm>
            <a:off x="548640" y="1554480"/>
            <a:ext cx="5364328" cy="3950208"/>
          </a:xfrm>
          <a:prstGeom prst="roundRect">
            <a:avLst>
              <a:gd name="adj" fmla="val 1852"/>
            </a:avLst>
          </a:prstGeom>
          <a:solidFill>
            <a:srgbClr val="F4F8F9"/>
          </a:solidFill>
          <a:ln w="9525">
            <a:solidFill>
              <a:srgbClr val="D5E0E2"/>
            </a:solidFill>
            <a:prstDash val="solid"/>
          </a:ln>
        </p:spPr>
      </p:sp>
      <p:pic>
        <p:nvPicPr>
          <p:cNvPr id="8" name="Image 0" descr="Figure 7.3 (cropped): Doctor subsystem – consent information, state and authorised scope">    </p:cNvPr>
          <p:cNvPicPr>
            <a:picLocks noChangeAspect="1"/>
          </p:cNvPicPr>
          <p:nvPr/>
        </p:nvPicPr>
        <p:blipFill>
          <a:blip r:embed="rId1"/>
          <a:stretch>
            <a:fillRect/>
          </a:stretch>
        </p:blipFill>
        <p:spPr>
          <a:xfrm>
            <a:off x="1231618" y="1691640"/>
            <a:ext cx="3998372" cy="3364992"/>
          </a:xfrm>
          <a:prstGeom prst="rect">
            <a:avLst/>
          </a:prstGeom>
        </p:spPr>
      </p:pic>
      <p:sp>
        <p:nvSpPr>
          <p:cNvPr id="9" name="Text 5"/>
          <p:cNvSpPr txBox="1"/>
          <p:nvPr/>
        </p:nvSpPr>
        <p:spPr>
          <a:xfrm>
            <a:off x="685800" y="5120640"/>
            <a:ext cx="5090008"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7.3 (cropped): Doctor subsystem – consent information, state and authorised scope</a:t>
            </a:r>
            <a:endParaRPr lang="en-AU" sz="1050" dirty="0"/>
          </a:p>
        </p:txBody>
      </p:sp>
      <p:sp>
        <p:nvSpPr>
          <p:cNvPr id="10" name="Shape 6"/>
          <p:cNvSpPr/>
          <p:nvPr/>
        </p:nvSpPr>
        <p:spPr>
          <a:xfrm>
            <a:off x="1283748" y="3500551"/>
            <a:ext cx="3883686" cy="297141"/>
          </a:xfrm>
          <a:prstGeom prst="roundRect">
            <a:avLst>
              <a:gd name="adj" fmla="val 12309"/>
            </a:avLst>
          </a:prstGeom>
          <a:solidFill>
            <a:srgbClr val="D4A12A">
              <a:alpha val="0"/>
            </a:srgbClr>
          </a:solidFill>
          <a:ln w="28575">
            <a:solidFill>
              <a:srgbClr val="D4A12A"/>
            </a:solidFill>
            <a:prstDash val="solid"/>
          </a:ln>
        </p:spPr>
      </p:sp>
      <p:sp>
        <p:nvSpPr>
          <p:cNvPr id="11" name="Shape 7"/>
          <p:cNvSpPr/>
          <p:nvPr/>
        </p:nvSpPr>
        <p:spPr>
          <a:xfrm>
            <a:off x="3919278" y="3505084"/>
            <a:ext cx="1193292" cy="256032"/>
          </a:xfrm>
          <a:prstGeom prst="roundRect">
            <a:avLst>
              <a:gd name="adj" fmla="val 21429"/>
            </a:avLst>
          </a:prstGeom>
          <a:solidFill>
            <a:srgbClr val="D4A12A"/>
          </a:solidFill>
          <a:ln w="12700">
            <a:solidFill>
              <a:srgbClr val="D4A12A"/>
            </a:solidFill>
            <a:prstDash val="solid"/>
          </a:ln>
        </p:spPr>
      </p:sp>
      <p:sp>
        <p:nvSpPr>
          <p:cNvPr id="12" name="Text 8"/>
          <p:cNvSpPr txBox="1"/>
          <p:nvPr/>
        </p:nvSpPr>
        <p:spPr>
          <a:xfrm>
            <a:off x="3919278" y="3505084"/>
            <a:ext cx="1193292"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State: ACTIVE</a:t>
            </a:r>
            <a:endParaRPr lang="en-AU" sz="1100" dirty="0"/>
          </a:p>
        </p:txBody>
      </p:sp>
      <p:sp>
        <p:nvSpPr>
          <p:cNvPr id="13" name="Shape 9"/>
          <p:cNvSpPr/>
          <p:nvPr/>
        </p:nvSpPr>
        <p:spPr>
          <a:xfrm>
            <a:off x="1283748" y="4391974"/>
            <a:ext cx="3883686" cy="589069"/>
          </a:xfrm>
          <a:prstGeom prst="roundRect">
            <a:avLst>
              <a:gd name="adj" fmla="val 6209"/>
            </a:avLst>
          </a:prstGeom>
          <a:solidFill>
            <a:srgbClr val="D4A12A">
              <a:alpha val="0"/>
            </a:srgbClr>
          </a:solidFill>
          <a:ln w="28575">
            <a:solidFill>
              <a:srgbClr val="D4A12A"/>
            </a:solidFill>
            <a:prstDash val="solid"/>
          </a:ln>
        </p:spPr>
      </p:sp>
      <p:sp>
        <p:nvSpPr>
          <p:cNvPr id="14" name="Shape 10"/>
          <p:cNvSpPr/>
          <p:nvPr/>
        </p:nvSpPr>
        <p:spPr>
          <a:xfrm>
            <a:off x="3686106" y="4688435"/>
            <a:ext cx="1426464" cy="256032"/>
          </a:xfrm>
          <a:prstGeom prst="roundRect">
            <a:avLst>
              <a:gd name="adj" fmla="val 21429"/>
            </a:avLst>
          </a:prstGeom>
          <a:solidFill>
            <a:srgbClr val="D4A12A"/>
          </a:solidFill>
          <a:ln w="12700">
            <a:solidFill>
              <a:srgbClr val="D4A12A"/>
            </a:solidFill>
            <a:prstDash val="solid"/>
          </a:ln>
        </p:spPr>
      </p:sp>
      <p:sp>
        <p:nvSpPr>
          <p:cNvPr id="15" name="Text 11"/>
          <p:cNvSpPr txBox="1"/>
          <p:nvPr/>
        </p:nvSpPr>
        <p:spPr>
          <a:xfrm>
            <a:off x="3686106" y="4688435"/>
            <a:ext cx="1426464"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Authorised scope</a:t>
            </a:r>
            <a:endParaRPr lang="en-AU" sz="1100" dirty="0"/>
          </a:p>
        </p:txBody>
      </p:sp>
      <p:sp>
        <p:nvSpPr>
          <p:cNvPr id="16" name="Text 12"/>
          <p:cNvSpPr txBox="1"/>
          <p:nvPr/>
        </p:nvSpPr>
        <p:spPr>
          <a:xfrm>
            <a:off x="548640" y="5577840"/>
            <a:ext cx="5364328" cy="29260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Consent state and authorised scope</a:t>
            </a:r>
            <a:endParaRPr lang="en-AU" sz="1500" dirty="0"/>
          </a:p>
        </p:txBody>
      </p:sp>
      <p:sp>
        <p:nvSpPr>
          <p:cNvPr id="17" name="Text 13"/>
          <p:cNvSpPr txBox="1"/>
          <p:nvPr/>
        </p:nvSpPr>
        <p:spPr>
          <a:xfrm>
            <a:off x="548640" y="5870448"/>
            <a:ext cx="5364328" cy="47548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The doctor enters the Consent ID and sees patient DID, purpose, State = ACTIVE and Scope = {Medication, Procedure}</a:t>
            </a:r>
            <a:endParaRPr lang="en-AU" sz="1250" dirty="0"/>
          </a:p>
        </p:txBody>
      </p:sp>
      <p:sp>
        <p:nvSpPr>
          <p:cNvPr id="18" name="Shape 14"/>
          <p:cNvSpPr/>
          <p:nvPr/>
        </p:nvSpPr>
        <p:spPr>
          <a:xfrm>
            <a:off x="6278728" y="1554480"/>
            <a:ext cx="5364328" cy="3950208"/>
          </a:xfrm>
          <a:prstGeom prst="roundRect">
            <a:avLst>
              <a:gd name="adj" fmla="val 1852"/>
            </a:avLst>
          </a:prstGeom>
          <a:solidFill>
            <a:srgbClr val="F4F8F9"/>
          </a:solidFill>
          <a:ln w="9525">
            <a:solidFill>
              <a:srgbClr val="D5E0E2"/>
            </a:solidFill>
            <a:prstDash val="solid"/>
          </a:ln>
        </p:spPr>
      </p:sp>
      <p:pic>
        <p:nvPicPr>
          <p:cNvPr id="19" name="Image 1" descr="Figure 7.4 (cropped): Doctor subsystem – requested modules, access decision and records">    </p:cNvPr>
          <p:cNvPicPr>
            <a:picLocks noChangeAspect="1"/>
          </p:cNvPicPr>
          <p:nvPr/>
        </p:nvPicPr>
        <p:blipFill>
          <a:blip r:embed="rId2"/>
          <a:stretch>
            <a:fillRect/>
          </a:stretch>
        </p:blipFill>
        <p:spPr>
          <a:xfrm>
            <a:off x="6901516" y="1691640"/>
            <a:ext cx="4118750" cy="3364992"/>
          </a:xfrm>
          <a:prstGeom prst="rect">
            <a:avLst/>
          </a:prstGeom>
        </p:spPr>
      </p:pic>
      <p:sp>
        <p:nvSpPr>
          <p:cNvPr id="20" name="Text 15"/>
          <p:cNvSpPr txBox="1"/>
          <p:nvPr/>
        </p:nvSpPr>
        <p:spPr>
          <a:xfrm>
            <a:off x="6415888" y="5120640"/>
            <a:ext cx="5090008"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7.4 (cropped): Doctor subsystem – requested modules, access decision and records</a:t>
            </a:r>
            <a:endParaRPr lang="en-AU" sz="1050" dirty="0"/>
          </a:p>
        </p:txBody>
      </p:sp>
      <p:sp>
        <p:nvSpPr>
          <p:cNvPr id="21" name="Shape 16"/>
          <p:cNvSpPr/>
          <p:nvPr/>
        </p:nvSpPr>
        <p:spPr>
          <a:xfrm>
            <a:off x="6968816" y="2523466"/>
            <a:ext cx="3997610" cy="301503"/>
          </a:xfrm>
          <a:prstGeom prst="roundRect">
            <a:avLst>
              <a:gd name="adj" fmla="val 12131"/>
            </a:avLst>
          </a:prstGeom>
          <a:solidFill>
            <a:srgbClr val="D4A12A">
              <a:alpha val="0"/>
            </a:srgbClr>
          </a:solidFill>
          <a:ln w="28575">
            <a:solidFill>
              <a:srgbClr val="D4A12A"/>
            </a:solidFill>
            <a:prstDash val="solid"/>
          </a:ln>
        </p:spPr>
      </p:sp>
      <p:sp>
        <p:nvSpPr>
          <p:cNvPr id="22" name="Shape 17"/>
          <p:cNvSpPr/>
          <p:nvPr/>
        </p:nvSpPr>
        <p:spPr>
          <a:xfrm>
            <a:off x="9562823" y="2532361"/>
            <a:ext cx="1348740" cy="256032"/>
          </a:xfrm>
          <a:prstGeom prst="roundRect">
            <a:avLst>
              <a:gd name="adj" fmla="val 21429"/>
            </a:avLst>
          </a:prstGeom>
          <a:solidFill>
            <a:srgbClr val="D4A12A"/>
          </a:solidFill>
          <a:ln w="12700">
            <a:solidFill>
              <a:srgbClr val="D4A12A"/>
            </a:solidFill>
            <a:prstDash val="solid"/>
          </a:ln>
        </p:spPr>
      </p:sp>
      <p:sp>
        <p:nvSpPr>
          <p:cNvPr id="23" name="Text 18"/>
          <p:cNvSpPr txBox="1"/>
          <p:nvPr/>
        </p:nvSpPr>
        <p:spPr>
          <a:xfrm>
            <a:off x="9562823" y="2532361"/>
            <a:ext cx="1348740"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Requested scope</a:t>
            </a:r>
            <a:endParaRPr lang="en-AU" sz="1100" dirty="0"/>
          </a:p>
        </p:txBody>
      </p:sp>
      <p:sp>
        <p:nvSpPr>
          <p:cNvPr id="24" name="Shape 19"/>
          <p:cNvSpPr/>
          <p:nvPr/>
        </p:nvSpPr>
        <p:spPr>
          <a:xfrm>
            <a:off x="6968816" y="3255688"/>
            <a:ext cx="3997610" cy="304195"/>
          </a:xfrm>
          <a:prstGeom prst="roundRect">
            <a:avLst>
              <a:gd name="adj" fmla="val 12024"/>
            </a:avLst>
          </a:prstGeom>
          <a:solidFill>
            <a:srgbClr val="D4A12A">
              <a:alpha val="0"/>
            </a:srgbClr>
          </a:solidFill>
          <a:ln w="28575">
            <a:solidFill>
              <a:srgbClr val="D4A12A"/>
            </a:solidFill>
            <a:prstDash val="solid"/>
          </a:ln>
        </p:spPr>
      </p:sp>
      <p:sp>
        <p:nvSpPr>
          <p:cNvPr id="25" name="Shape 20"/>
          <p:cNvSpPr/>
          <p:nvPr/>
        </p:nvSpPr>
        <p:spPr>
          <a:xfrm>
            <a:off x="9640547" y="3267276"/>
            <a:ext cx="1271016" cy="256032"/>
          </a:xfrm>
          <a:prstGeom prst="roundRect">
            <a:avLst>
              <a:gd name="adj" fmla="val 21429"/>
            </a:avLst>
          </a:prstGeom>
          <a:solidFill>
            <a:srgbClr val="D4A12A"/>
          </a:solidFill>
          <a:ln w="12700">
            <a:solidFill>
              <a:srgbClr val="D4A12A"/>
            </a:solidFill>
            <a:prstDash val="solid"/>
          </a:ln>
        </p:spPr>
      </p:sp>
      <p:sp>
        <p:nvSpPr>
          <p:cNvPr id="26" name="Text 21"/>
          <p:cNvSpPr txBox="1"/>
          <p:nvPr/>
        </p:nvSpPr>
        <p:spPr>
          <a:xfrm>
            <a:off x="9640547" y="3267276"/>
            <a:ext cx="1271016" cy="256032"/>
          </a:xfrm>
          <a:prstGeom prst="rect">
            <a:avLst/>
          </a:prstGeom>
          <a:noFill/>
          <a:ln/>
        </p:spPr>
        <p:txBody>
          <a:bodyPr wrap="square" lIns="0" tIns="0" rIns="0" bIns="0" rtlCol="0" anchor="ctr"/>
          <a:lstStyle/>
          <a:p>
            <a:pPr algn="ctr" indent="0" marL="0">
              <a:buNone/>
            </a:pPr>
            <a:r>
              <a:rPr lang="en-AU" sz="1100" b="1" dirty="0">
                <a:solidFill>
                  <a:srgbClr val="0E3B43"/>
                </a:solidFill>
                <a:latin typeface="Calibri" pitchFamily="34" charset="0"/>
                <a:ea typeface="Calibri" pitchFamily="34" charset="-122"/>
                <a:cs typeface="Calibri" pitchFamily="34" charset="-120"/>
              </a:rPr>
              <a:t>Access granted</a:t>
            </a:r>
            <a:endParaRPr lang="en-AU" sz="1100" dirty="0"/>
          </a:p>
        </p:txBody>
      </p:sp>
      <p:sp>
        <p:nvSpPr>
          <p:cNvPr id="27" name="Text 22"/>
          <p:cNvSpPr txBox="1"/>
          <p:nvPr/>
        </p:nvSpPr>
        <p:spPr>
          <a:xfrm>
            <a:off x="6278728" y="5577840"/>
            <a:ext cx="5364328" cy="292608"/>
          </a:xfrm>
          <a:prstGeom prst="rect">
            <a:avLst/>
          </a:prstGeom>
          <a:noFill/>
          <a:ln/>
        </p:spPr>
        <p:txBody>
          <a:bodyPr wrap="square" lIns="0" tIns="0" rIns="0" bIns="0" rtlCol="0" anchor="t"/>
          <a:lstStyle/>
          <a:p>
            <a:pPr indent="0" marL="0">
              <a:buNone/>
            </a:pPr>
            <a:r>
              <a:rPr lang="en-AU" sz="1500" b="1" dirty="0">
                <a:solidFill>
                  <a:srgbClr val="0E3B43"/>
                </a:solidFill>
                <a:latin typeface="Calibri" pitchFamily="34" charset="0"/>
                <a:ea typeface="Calibri" pitchFamily="34" charset="-122"/>
                <a:cs typeface="Calibri" pitchFamily="34" charset="-120"/>
              </a:rPr>
              <a:t>Requested modules and access decision</a:t>
            </a:r>
            <a:endParaRPr lang="en-AU" sz="1500" dirty="0"/>
          </a:p>
        </p:txBody>
      </p:sp>
      <p:sp>
        <p:nvSpPr>
          <p:cNvPr id="28" name="Text 23"/>
          <p:cNvSpPr txBox="1"/>
          <p:nvPr/>
        </p:nvSpPr>
        <p:spPr>
          <a:xfrm>
            <a:off x="6278728" y="5870448"/>
            <a:ext cx="5364328" cy="475488"/>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Requested modules are verified, then only MEDICATION and PROCEDURE records are released; the ZK integrity proof is a v1 placeholder</a:t>
            </a:r>
            <a:endParaRPr lang="en-AU"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Access can be traced back to its consent</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Consent Lifecycle, Detailed Audit Records and Complete Blockchain Audit Ledger (Sections 7.5–7.7)</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33 / 43</a:t>
            </a:r>
            <a:endParaRPr lang="en-AU" sz="1000" dirty="0"/>
          </a:p>
        </p:txBody>
      </p:sp>
      <p:sp>
        <p:nvSpPr>
          <p:cNvPr id="7" name="Shape 4"/>
          <p:cNvSpPr/>
          <p:nvPr/>
        </p:nvSpPr>
        <p:spPr>
          <a:xfrm>
            <a:off x="548640" y="1517904"/>
            <a:ext cx="8275320" cy="4224528"/>
          </a:xfrm>
          <a:prstGeom prst="roundRect">
            <a:avLst>
              <a:gd name="adj" fmla="val 1732"/>
            </a:avLst>
          </a:prstGeom>
          <a:solidFill>
            <a:srgbClr val="F4F8F9"/>
          </a:solidFill>
          <a:ln w="9525">
            <a:solidFill>
              <a:srgbClr val="D5E0E2"/>
            </a:solidFill>
            <a:prstDash val="solid"/>
          </a:ln>
        </p:spPr>
      </p:sp>
      <p:pic>
        <p:nvPicPr>
          <p:cNvPr id="8" name="Image 0" descr="Figure 7.5 (event blocks arranged in time order): Auditor subsystem – Blockchain Audit &amp; Consent Lifecycle">    </p:cNvPr>
          <p:cNvPicPr>
            <a:picLocks noChangeAspect="1"/>
          </p:cNvPicPr>
          <p:nvPr/>
        </p:nvPicPr>
        <p:blipFill>
          <a:blip r:embed="rId1"/>
          <a:stretch>
            <a:fillRect/>
          </a:stretch>
        </p:blipFill>
        <p:spPr>
          <a:xfrm>
            <a:off x="685800" y="1681173"/>
            <a:ext cx="8001000" cy="3587094"/>
          </a:xfrm>
          <a:prstGeom prst="rect">
            <a:avLst/>
          </a:prstGeom>
        </p:spPr>
      </p:pic>
      <p:sp>
        <p:nvSpPr>
          <p:cNvPr id="9" name="Text 5"/>
          <p:cNvSpPr txBox="1"/>
          <p:nvPr/>
        </p:nvSpPr>
        <p:spPr>
          <a:xfrm>
            <a:off x="685800" y="5358384"/>
            <a:ext cx="8001000" cy="292608"/>
          </a:xfrm>
          <a:prstGeom prst="rect">
            <a:avLst/>
          </a:prstGeom>
          <a:noFill/>
          <a:ln/>
        </p:spPr>
        <p:txBody>
          <a:bodyPr wrap="square" lIns="0" tIns="0" rIns="0" bIns="0" rtlCol="0" anchor="ctr"/>
          <a:lstStyle/>
          <a:p>
            <a:pPr algn="ctr" indent="0" marL="0">
              <a:buNone/>
            </a:pPr>
            <a:r>
              <a:rPr lang="en-AU" sz="1050" i="1" dirty="0">
                <a:solidFill>
                  <a:srgbClr val="5E6E73"/>
                </a:solidFill>
                <a:latin typeface="Calibri" pitchFamily="34" charset="0"/>
                <a:ea typeface="Calibri" pitchFamily="34" charset="-122"/>
                <a:cs typeface="Calibri" pitchFamily="34" charset="-120"/>
              </a:rPr>
              <a:t>Figure 7.5 (event blocks arranged in time order): Auditor subsystem – Blockchain Audit &amp; Consent Lifecycle</a:t>
            </a:r>
            <a:endParaRPr lang="en-AU" sz="1050" dirty="0"/>
          </a:p>
        </p:txBody>
      </p:sp>
      <p:sp>
        <p:nvSpPr>
          <p:cNvPr id="10" name="Shape 6"/>
          <p:cNvSpPr/>
          <p:nvPr/>
        </p:nvSpPr>
        <p:spPr>
          <a:xfrm>
            <a:off x="855403" y="1716790"/>
            <a:ext cx="274320" cy="274320"/>
          </a:xfrm>
          <a:prstGeom prst="ellipse">
            <a:avLst/>
          </a:prstGeom>
          <a:solidFill>
            <a:srgbClr val="D4A12A"/>
          </a:solidFill>
          <a:ln w="12700">
            <a:solidFill>
              <a:srgbClr val="D4A12A"/>
            </a:solidFill>
            <a:prstDash val="solid"/>
          </a:ln>
        </p:spPr>
      </p:sp>
      <p:sp>
        <p:nvSpPr>
          <p:cNvPr id="11" name="Text 7"/>
          <p:cNvSpPr txBox="1"/>
          <p:nvPr/>
        </p:nvSpPr>
        <p:spPr>
          <a:xfrm>
            <a:off x="855403" y="1716790"/>
            <a:ext cx="274320" cy="274320"/>
          </a:xfrm>
          <a:prstGeom prst="rect">
            <a:avLst/>
          </a:prstGeom>
          <a:noFill/>
          <a:ln/>
        </p:spPr>
        <p:txBody>
          <a:bodyPr wrap="square" lIns="0" tIns="0" rIns="0" bIns="0" rtlCol="0" anchor="ctr"/>
          <a:lstStyle/>
          <a:p>
            <a:pPr algn="ctr" indent="0" marL="0">
              <a:buNone/>
            </a:pPr>
            <a:r>
              <a:rPr lang="en-AU" sz="1200" b="1" dirty="0">
                <a:solidFill>
                  <a:srgbClr val="0E3B43"/>
                </a:solidFill>
                <a:latin typeface="Calibri" pitchFamily="34" charset="0"/>
                <a:ea typeface="Calibri" pitchFamily="34" charset="-122"/>
                <a:cs typeface="Calibri" pitchFamily="34" charset="-120"/>
              </a:rPr>
              <a:t>1</a:t>
            </a:r>
            <a:endParaRPr lang="en-AU" sz="1200" dirty="0"/>
          </a:p>
        </p:txBody>
      </p:sp>
      <p:sp>
        <p:nvSpPr>
          <p:cNvPr id="12" name="Shape 8"/>
          <p:cNvSpPr/>
          <p:nvPr/>
        </p:nvSpPr>
        <p:spPr>
          <a:xfrm>
            <a:off x="4650259" y="1716790"/>
            <a:ext cx="274320" cy="274320"/>
          </a:xfrm>
          <a:prstGeom prst="ellipse">
            <a:avLst/>
          </a:prstGeom>
          <a:solidFill>
            <a:srgbClr val="D4A12A"/>
          </a:solidFill>
          <a:ln w="12700">
            <a:solidFill>
              <a:srgbClr val="D4A12A"/>
            </a:solidFill>
            <a:prstDash val="solid"/>
          </a:ln>
        </p:spPr>
      </p:sp>
      <p:sp>
        <p:nvSpPr>
          <p:cNvPr id="13" name="Text 9"/>
          <p:cNvSpPr txBox="1"/>
          <p:nvPr/>
        </p:nvSpPr>
        <p:spPr>
          <a:xfrm>
            <a:off x="4650259" y="1716790"/>
            <a:ext cx="274320" cy="274320"/>
          </a:xfrm>
          <a:prstGeom prst="rect">
            <a:avLst/>
          </a:prstGeom>
          <a:noFill/>
          <a:ln/>
        </p:spPr>
        <p:txBody>
          <a:bodyPr wrap="square" lIns="0" tIns="0" rIns="0" bIns="0" rtlCol="0" anchor="ctr"/>
          <a:lstStyle/>
          <a:p>
            <a:pPr algn="ctr" indent="0" marL="0">
              <a:buNone/>
            </a:pPr>
            <a:r>
              <a:rPr lang="en-AU" sz="1200" b="1" dirty="0">
                <a:solidFill>
                  <a:srgbClr val="0E3B43"/>
                </a:solidFill>
                <a:latin typeface="Calibri" pitchFamily="34" charset="0"/>
                <a:ea typeface="Calibri" pitchFamily="34" charset="-122"/>
                <a:cs typeface="Calibri" pitchFamily="34" charset="-120"/>
              </a:rPr>
              <a:t>2</a:t>
            </a:r>
            <a:endParaRPr lang="en-AU" sz="1200" dirty="0"/>
          </a:p>
        </p:txBody>
      </p:sp>
      <p:sp>
        <p:nvSpPr>
          <p:cNvPr id="14" name="Shape 10"/>
          <p:cNvSpPr/>
          <p:nvPr/>
        </p:nvSpPr>
        <p:spPr>
          <a:xfrm>
            <a:off x="6732131" y="1716790"/>
            <a:ext cx="274320" cy="274320"/>
          </a:xfrm>
          <a:prstGeom prst="ellipse">
            <a:avLst/>
          </a:prstGeom>
          <a:solidFill>
            <a:srgbClr val="D4A12A"/>
          </a:solidFill>
          <a:ln w="12700">
            <a:solidFill>
              <a:srgbClr val="D4A12A"/>
            </a:solidFill>
            <a:prstDash val="solid"/>
          </a:ln>
        </p:spPr>
      </p:sp>
      <p:sp>
        <p:nvSpPr>
          <p:cNvPr id="15" name="Text 11"/>
          <p:cNvSpPr txBox="1"/>
          <p:nvPr/>
        </p:nvSpPr>
        <p:spPr>
          <a:xfrm>
            <a:off x="6732131" y="1716790"/>
            <a:ext cx="274320" cy="274320"/>
          </a:xfrm>
          <a:prstGeom prst="rect">
            <a:avLst/>
          </a:prstGeom>
          <a:noFill/>
          <a:ln/>
        </p:spPr>
        <p:txBody>
          <a:bodyPr wrap="square" lIns="0" tIns="0" rIns="0" bIns="0" rtlCol="0" anchor="ctr"/>
          <a:lstStyle/>
          <a:p>
            <a:pPr algn="ctr" indent="0" marL="0">
              <a:buNone/>
            </a:pPr>
            <a:r>
              <a:rPr lang="en-AU" sz="1200" b="1" dirty="0">
                <a:solidFill>
                  <a:srgbClr val="0E3B43"/>
                </a:solidFill>
                <a:latin typeface="Calibri" pitchFamily="34" charset="0"/>
                <a:ea typeface="Calibri" pitchFamily="34" charset="-122"/>
                <a:cs typeface="Calibri" pitchFamily="34" charset="-120"/>
              </a:rPr>
              <a:t>3</a:t>
            </a:r>
            <a:endParaRPr lang="en-AU" sz="1200" dirty="0"/>
          </a:p>
        </p:txBody>
      </p:sp>
      <p:sp>
        <p:nvSpPr>
          <p:cNvPr id="16" name="Shape 12"/>
          <p:cNvSpPr/>
          <p:nvPr/>
        </p:nvSpPr>
        <p:spPr>
          <a:xfrm>
            <a:off x="855403" y="3573937"/>
            <a:ext cx="274320" cy="274320"/>
          </a:xfrm>
          <a:prstGeom prst="ellipse">
            <a:avLst/>
          </a:prstGeom>
          <a:solidFill>
            <a:srgbClr val="D4A12A"/>
          </a:solidFill>
          <a:ln w="12700">
            <a:solidFill>
              <a:srgbClr val="D4A12A"/>
            </a:solidFill>
            <a:prstDash val="solid"/>
          </a:ln>
        </p:spPr>
      </p:sp>
      <p:sp>
        <p:nvSpPr>
          <p:cNvPr id="17" name="Text 13"/>
          <p:cNvSpPr txBox="1"/>
          <p:nvPr/>
        </p:nvSpPr>
        <p:spPr>
          <a:xfrm>
            <a:off x="855403" y="3573937"/>
            <a:ext cx="274320" cy="274320"/>
          </a:xfrm>
          <a:prstGeom prst="rect">
            <a:avLst/>
          </a:prstGeom>
          <a:noFill/>
          <a:ln/>
        </p:spPr>
        <p:txBody>
          <a:bodyPr wrap="square" lIns="0" tIns="0" rIns="0" bIns="0" rtlCol="0" anchor="ctr"/>
          <a:lstStyle/>
          <a:p>
            <a:pPr algn="ctr" indent="0" marL="0">
              <a:buNone/>
            </a:pPr>
            <a:r>
              <a:rPr lang="en-AU" sz="1200" b="1" dirty="0">
                <a:solidFill>
                  <a:srgbClr val="0E3B43"/>
                </a:solidFill>
                <a:latin typeface="Calibri" pitchFamily="34" charset="0"/>
                <a:ea typeface="Calibri" pitchFamily="34" charset="-122"/>
                <a:cs typeface="Calibri" pitchFamily="34" charset="-120"/>
              </a:rPr>
              <a:t>4</a:t>
            </a:r>
            <a:endParaRPr lang="en-AU" sz="1200" dirty="0"/>
          </a:p>
        </p:txBody>
      </p:sp>
      <p:sp>
        <p:nvSpPr>
          <p:cNvPr id="18" name="Shape 14"/>
          <p:cNvSpPr/>
          <p:nvPr/>
        </p:nvSpPr>
        <p:spPr>
          <a:xfrm>
            <a:off x="4650259" y="3573937"/>
            <a:ext cx="274320" cy="274320"/>
          </a:xfrm>
          <a:prstGeom prst="ellipse">
            <a:avLst/>
          </a:prstGeom>
          <a:solidFill>
            <a:srgbClr val="D4A12A"/>
          </a:solidFill>
          <a:ln w="12700">
            <a:solidFill>
              <a:srgbClr val="D4A12A"/>
            </a:solidFill>
            <a:prstDash val="solid"/>
          </a:ln>
        </p:spPr>
      </p:sp>
      <p:sp>
        <p:nvSpPr>
          <p:cNvPr id="19" name="Text 15"/>
          <p:cNvSpPr txBox="1"/>
          <p:nvPr/>
        </p:nvSpPr>
        <p:spPr>
          <a:xfrm>
            <a:off x="4650259" y="3573937"/>
            <a:ext cx="274320" cy="274320"/>
          </a:xfrm>
          <a:prstGeom prst="rect">
            <a:avLst/>
          </a:prstGeom>
          <a:noFill/>
          <a:ln/>
        </p:spPr>
        <p:txBody>
          <a:bodyPr wrap="square" lIns="0" tIns="0" rIns="0" bIns="0" rtlCol="0" anchor="ctr"/>
          <a:lstStyle/>
          <a:p>
            <a:pPr algn="ctr" indent="0" marL="0">
              <a:buNone/>
            </a:pPr>
            <a:r>
              <a:rPr lang="en-AU" sz="1200" b="1" dirty="0">
                <a:solidFill>
                  <a:srgbClr val="0E3B43"/>
                </a:solidFill>
                <a:latin typeface="Calibri" pitchFamily="34" charset="0"/>
                <a:ea typeface="Calibri" pitchFamily="34" charset="-122"/>
                <a:cs typeface="Calibri" pitchFamily="34" charset="-120"/>
              </a:rPr>
              <a:t>5</a:t>
            </a:r>
            <a:endParaRPr lang="en-AU" sz="1200" dirty="0"/>
          </a:p>
        </p:txBody>
      </p:sp>
      <p:sp>
        <p:nvSpPr>
          <p:cNvPr id="20" name="Shape 16"/>
          <p:cNvSpPr/>
          <p:nvPr/>
        </p:nvSpPr>
        <p:spPr>
          <a:xfrm>
            <a:off x="6732131" y="3573937"/>
            <a:ext cx="274320" cy="274320"/>
          </a:xfrm>
          <a:prstGeom prst="ellipse">
            <a:avLst/>
          </a:prstGeom>
          <a:solidFill>
            <a:srgbClr val="D4A12A"/>
          </a:solidFill>
          <a:ln w="12700">
            <a:solidFill>
              <a:srgbClr val="D4A12A"/>
            </a:solidFill>
            <a:prstDash val="solid"/>
          </a:ln>
        </p:spPr>
      </p:sp>
      <p:sp>
        <p:nvSpPr>
          <p:cNvPr id="21" name="Text 17"/>
          <p:cNvSpPr txBox="1"/>
          <p:nvPr/>
        </p:nvSpPr>
        <p:spPr>
          <a:xfrm>
            <a:off x="6732131" y="3573937"/>
            <a:ext cx="274320" cy="274320"/>
          </a:xfrm>
          <a:prstGeom prst="rect">
            <a:avLst/>
          </a:prstGeom>
          <a:noFill/>
          <a:ln/>
        </p:spPr>
        <p:txBody>
          <a:bodyPr wrap="square" lIns="0" tIns="0" rIns="0" bIns="0" rtlCol="0" anchor="ctr"/>
          <a:lstStyle/>
          <a:p>
            <a:pPr algn="ctr" indent="0" marL="0">
              <a:buNone/>
            </a:pPr>
            <a:r>
              <a:rPr lang="en-AU" sz="1200" b="1" dirty="0">
                <a:solidFill>
                  <a:srgbClr val="0E3B43"/>
                </a:solidFill>
                <a:latin typeface="Calibri" pitchFamily="34" charset="0"/>
                <a:ea typeface="Calibri" pitchFamily="34" charset="-122"/>
                <a:cs typeface="Calibri" pitchFamily="34" charset="-120"/>
              </a:rPr>
              <a:t>6</a:t>
            </a:r>
            <a:endParaRPr lang="en-AU" sz="1200" dirty="0"/>
          </a:p>
        </p:txBody>
      </p:sp>
      <p:sp>
        <p:nvSpPr>
          <p:cNvPr id="22" name="Shape 18"/>
          <p:cNvSpPr/>
          <p:nvPr/>
        </p:nvSpPr>
        <p:spPr>
          <a:xfrm>
            <a:off x="9144000" y="1572768"/>
            <a:ext cx="365760" cy="365760"/>
          </a:xfrm>
          <a:prstGeom prst="ellipse">
            <a:avLst/>
          </a:prstGeom>
          <a:solidFill>
            <a:srgbClr val="13707B"/>
          </a:solidFill>
          <a:ln w="12700">
            <a:solidFill>
              <a:srgbClr val="13707B"/>
            </a:solidFill>
            <a:prstDash val="solid"/>
          </a:ln>
        </p:spPr>
      </p:sp>
      <p:pic>
        <p:nvPicPr>
          <p:cNvPr id="23" name="Image 1" descr="preencoded.png">    </p:cNvPr>
          <p:cNvPicPr>
            <a:picLocks noChangeAspect="1"/>
          </p:cNvPicPr>
          <p:nvPr/>
        </p:nvPicPr>
        <p:blipFill>
          <a:blip r:embed="rId2"/>
          <a:stretch>
            <a:fillRect/>
          </a:stretch>
        </p:blipFill>
        <p:spPr>
          <a:xfrm>
            <a:off x="9231782" y="1660550"/>
            <a:ext cx="190195" cy="190195"/>
          </a:xfrm>
          <a:prstGeom prst="rect">
            <a:avLst/>
          </a:prstGeom>
        </p:spPr>
      </p:pic>
      <p:sp>
        <p:nvSpPr>
          <p:cNvPr id="24" name="Text 19"/>
          <p:cNvSpPr txBox="1"/>
          <p:nvPr/>
        </p:nvSpPr>
        <p:spPr>
          <a:xfrm>
            <a:off x="9692640" y="1554480"/>
            <a:ext cx="1950415" cy="329184"/>
          </a:xfrm>
          <a:prstGeom prst="rect">
            <a:avLst/>
          </a:prstGeom>
          <a:noFill/>
          <a:ln/>
        </p:spPr>
        <p:txBody>
          <a:bodyPr wrap="square" lIns="0" tIns="0" rIns="0" bIns="0" rtlCol="0" anchor="t"/>
          <a:lstStyle/>
          <a:p>
            <a:pPr indent="0" marL="0">
              <a:buNone/>
            </a:pPr>
            <a:r>
              <a:rPr lang="en-AU" sz="1450" b="1" dirty="0">
                <a:solidFill>
                  <a:srgbClr val="0E3B43"/>
                </a:solidFill>
                <a:latin typeface="Calibri" pitchFamily="34" charset="0"/>
                <a:ea typeface="Calibri" pitchFamily="34" charset="-122"/>
                <a:cs typeface="Calibri" pitchFamily="34" charset="-120"/>
              </a:rPr>
              <a:t>Lifecycle reconstruction</a:t>
            </a:r>
            <a:endParaRPr lang="en-AU" sz="1450" dirty="0"/>
          </a:p>
        </p:txBody>
      </p:sp>
      <p:sp>
        <p:nvSpPr>
          <p:cNvPr id="25" name="Text 20"/>
          <p:cNvSpPr txBox="1"/>
          <p:nvPr/>
        </p:nvSpPr>
        <p:spPr>
          <a:xfrm>
            <a:off x="9692640" y="1883664"/>
            <a:ext cx="1950415" cy="926592"/>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CREATE_CONSENT, SIGN_CONSENT by each guardian, MINT_SBT, STATE_CHECK, then DATA_ACCESS with GRANTED</a:t>
            </a:r>
            <a:endParaRPr lang="en-AU" sz="1250" dirty="0"/>
          </a:p>
        </p:txBody>
      </p:sp>
      <p:sp>
        <p:nvSpPr>
          <p:cNvPr id="26" name="Shape 21"/>
          <p:cNvSpPr/>
          <p:nvPr/>
        </p:nvSpPr>
        <p:spPr>
          <a:xfrm>
            <a:off x="9144000" y="3011424"/>
            <a:ext cx="365760" cy="365760"/>
          </a:xfrm>
          <a:prstGeom prst="ellipse">
            <a:avLst/>
          </a:prstGeom>
          <a:solidFill>
            <a:srgbClr val="13707B"/>
          </a:solidFill>
          <a:ln w="12700">
            <a:solidFill>
              <a:srgbClr val="13707B"/>
            </a:solidFill>
            <a:prstDash val="solid"/>
          </a:ln>
        </p:spPr>
      </p:sp>
      <p:pic>
        <p:nvPicPr>
          <p:cNvPr id="27" name="Image 2" descr="preencoded.png">    </p:cNvPr>
          <p:cNvPicPr>
            <a:picLocks noChangeAspect="1"/>
          </p:cNvPicPr>
          <p:nvPr/>
        </p:nvPicPr>
        <p:blipFill>
          <a:blip r:embed="rId3"/>
          <a:stretch>
            <a:fillRect/>
          </a:stretch>
        </p:blipFill>
        <p:spPr>
          <a:xfrm>
            <a:off x="9231782" y="3099206"/>
            <a:ext cx="190195" cy="190195"/>
          </a:xfrm>
          <a:prstGeom prst="rect">
            <a:avLst/>
          </a:prstGeom>
        </p:spPr>
      </p:pic>
      <p:sp>
        <p:nvSpPr>
          <p:cNvPr id="28" name="Text 22"/>
          <p:cNvSpPr txBox="1"/>
          <p:nvPr/>
        </p:nvSpPr>
        <p:spPr>
          <a:xfrm>
            <a:off x="9692640" y="2993136"/>
            <a:ext cx="1950415" cy="329184"/>
          </a:xfrm>
          <a:prstGeom prst="rect">
            <a:avLst/>
          </a:prstGeom>
          <a:noFill/>
          <a:ln/>
        </p:spPr>
        <p:txBody>
          <a:bodyPr wrap="square" lIns="0" tIns="0" rIns="0" bIns="0" rtlCol="0" anchor="t"/>
          <a:lstStyle/>
          <a:p>
            <a:pPr indent="0" marL="0">
              <a:buNone/>
            </a:pPr>
            <a:r>
              <a:rPr lang="en-AU" sz="1450" b="1" dirty="0">
                <a:solidFill>
                  <a:srgbClr val="0E3B43"/>
                </a:solidFill>
                <a:latin typeface="Calibri" pitchFamily="34" charset="0"/>
                <a:ea typeface="Calibri" pitchFamily="34" charset="-122"/>
                <a:cs typeface="Calibri" pitchFamily="34" charset="-120"/>
              </a:rPr>
              <a:t>Event-level records</a:t>
            </a:r>
            <a:endParaRPr lang="en-AU" sz="1450" dirty="0"/>
          </a:p>
        </p:txBody>
      </p:sp>
      <p:sp>
        <p:nvSpPr>
          <p:cNvPr id="29" name="Text 23"/>
          <p:cNvSpPr txBox="1"/>
          <p:nvPr/>
        </p:nvSpPr>
        <p:spPr>
          <a:xfrm>
            <a:off x="9692640" y="3322320"/>
            <a:ext cx="1950415" cy="926592"/>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Each event carries actor, role, action, result, timestamp and consent context as forensic evidence</a:t>
            </a:r>
            <a:endParaRPr lang="en-AU" sz="1250" dirty="0"/>
          </a:p>
        </p:txBody>
      </p:sp>
      <p:sp>
        <p:nvSpPr>
          <p:cNvPr id="30" name="Shape 24"/>
          <p:cNvSpPr/>
          <p:nvPr/>
        </p:nvSpPr>
        <p:spPr>
          <a:xfrm>
            <a:off x="9144000" y="4450080"/>
            <a:ext cx="365760" cy="365760"/>
          </a:xfrm>
          <a:prstGeom prst="ellipse">
            <a:avLst/>
          </a:prstGeom>
          <a:solidFill>
            <a:srgbClr val="13707B"/>
          </a:solidFill>
          <a:ln w="12700">
            <a:solidFill>
              <a:srgbClr val="13707B"/>
            </a:solidFill>
            <a:prstDash val="solid"/>
          </a:ln>
        </p:spPr>
      </p:sp>
      <p:pic>
        <p:nvPicPr>
          <p:cNvPr id="31" name="Image 3" descr="preencoded.png">    </p:cNvPr>
          <p:cNvPicPr>
            <a:picLocks noChangeAspect="1"/>
          </p:cNvPicPr>
          <p:nvPr/>
        </p:nvPicPr>
        <p:blipFill>
          <a:blip r:embed="rId4"/>
          <a:stretch>
            <a:fillRect/>
          </a:stretch>
        </p:blipFill>
        <p:spPr>
          <a:xfrm>
            <a:off x="9231782" y="4537862"/>
            <a:ext cx="190195" cy="190195"/>
          </a:xfrm>
          <a:prstGeom prst="rect">
            <a:avLst/>
          </a:prstGeom>
        </p:spPr>
      </p:pic>
      <p:sp>
        <p:nvSpPr>
          <p:cNvPr id="32" name="Text 25"/>
          <p:cNvSpPr txBox="1"/>
          <p:nvPr/>
        </p:nvSpPr>
        <p:spPr>
          <a:xfrm>
            <a:off x="9692640" y="4431792"/>
            <a:ext cx="1950415" cy="329184"/>
          </a:xfrm>
          <a:prstGeom prst="rect">
            <a:avLst/>
          </a:prstGeom>
          <a:noFill/>
          <a:ln/>
        </p:spPr>
        <p:txBody>
          <a:bodyPr wrap="square" lIns="0" tIns="0" rIns="0" bIns="0" rtlCol="0" anchor="t"/>
          <a:lstStyle/>
          <a:p>
            <a:pPr indent="0" marL="0">
              <a:buNone/>
            </a:pPr>
            <a:r>
              <a:rPr lang="en-AU" sz="1450" b="1" dirty="0">
                <a:solidFill>
                  <a:srgbClr val="0E3B43"/>
                </a:solidFill>
                <a:latin typeface="Calibri" pitchFamily="34" charset="0"/>
                <a:ea typeface="Calibri" pitchFamily="34" charset="-122"/>
                <a:cs typeface="Calibri" pitchFamily="34" charset="-120"/>
              </a:rPr>
              <a:t>Ledger integrity</a:t>
            </a:r>
            <a:endParaRPr lang="en-AU" sz="1450" dirty="0"/>
          </a:p>
        </p:txBody>
      </p:sp>
      <p:sp>
        <p:nvSpPr>
          <p:cNvPr id="33" name="Text 26"/>
          <p:cNvSpPr txBox="1"/>
          <p:nvPr/>
        </p:nvSpPr>
        <p:spPr>
          <a:xfrm>
            <a:off x="9692640" y="4760976"/>
            <a:ext cx="1950415" cy="926592"/>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21 total events, 3 consent events, 3 access requests; Blockchain Integrity = VERIFIED</a:t>
            </a:r>
            <a:endParaRPr lang="en-AU" sz="1250" dirty="0"/>
          </a:p>
        </p:txBody>
      </p:sp>
      <p:sp>
        <p:nvSpPr>
          <p:cNvPr id="34" name="Text 27"/>
          <p:cNvSpPr txBox="1"/>
          <p:nvPr/>
        </p:nvSpPr>
        <p:spPr>
          <a:xfrm>
            <a:off x="548640" y="5852160"/>
            <a:ext cx="11094415" cy="457200"/>
          </a:xfrm>
          <a:prstGeom prst="rect">
            <a:avLst/>
          </a:prstGeom>
          <a:noFill/>
          <a:ln/>
        </p:spPr>
        <p:txBody>
          <a:bodyPr wrap="square" lIns="0" tIns="0" rIns="0" bIns="0" rtlCol="0" anchor="ctr"/>
          <a:lstStyle/>
          <a:p>
            <a:pPr indent="0" marL="0">
              <a:buNone/>
            </a:pPr>
            <a:r>
              <a:rPr lang="en-AU" sz="1400" i="1" dirty="0">
                <a:solidFill>
                  <a:srgbClr val="0B5560"/>
                </a:solidFill>
                <a:latin typeface="Calibri" pitchFamily="34" charset="0"/>
                <a:ea typeface="Calibri" pitchFamily="34" charset="-122"/>
                <a:cs typeface="Calibri" pitchFamily="34" charset="-120"/>
              </a:rPr>
              <a:t>The auditor can reconstruct who accessed the data and why: in the demo, DATA_ACCESS is GRANTED only after consent is ACTIVE</a:t>
            </a:r>
            <a:endParaRPr lang="en-AU"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From architecture to source code</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MVC layers of Chapter 5 in the HALAH prototype, repository commit 0a960ca (Section 7.10, Table 7.2)</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34 / 43</a:t>
            </a:r>
            <a:endParaRPr lang="en-AU"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508760"/>
                <a:gridCol w="4206240"/>
                <a:gridCol w="5376672"/>
              </a:tblGrid>
              <a:tr h="420624">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Layer</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HALAH module(s)</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300" b="1" dirty="0">
                          <a:solidFill>
                            <a:srgbClr val="FFFFFF"/>
                          </a:solidFill>
                          <a:latin typeface="Calibri" pitchFamily="34" charset="0"/>
                          <a:ea typeface="Calibri" pitchFamily="34" charset="-122"/>
                          <a:cs typeface="Calibri" pitchFamily="34" charset="-120"/>
                        </a:rPr>
                        <a:t>Responsibility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View</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app.py (Patient, Guardian, Doctor, Auditor); halah_theme.py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Role-specific interaction; submits requests only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Controller</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services/consent_service.py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Consent creation (Algorithm 1)</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Controller</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services/identity_service.py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DID check; EIP-712 approval signing and verification (Algorithms 2–3,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I</a:t>
                      </a:r>
                      <a:r>
                        <a:rPr lang="en-AU" sz="1300" dirty="0">
                          <a:solidFill>
                            <a:srgbClr val="1C2B31"/>
                          </a:solidFill>
                          <a:latin typeface="Calibri" pitchFamily="34" charset="0"/>
                          <a:ea typeface="Calibri" pitchFamily="34" charset="-122"/>
                          <a:cs typeface="Calibri" pitchFamily="34" charset="-120"/>
                        </a:rPr>
                        <a: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Controller</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services/state_service.py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Consent state checks (Algorithm 5;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A</a:t>
                      </a:r>
                      <a:r>
                        <a:rPr lang="en-AU" sz="1300" dirty="0">
                          <a:solidFill>
                            <a:srgbClr val="1C2B31"/>
                          </a:solidFill>
                          <a:latin typeface="Calibri" pitchFamily="34" charset="0"/>
                          <a:ea typeface="Calibri" pitchFamily="34" charset="-122"/>
                          <a:cs typeface="Calibri" pitchFamily="34" charset="-120"/>
                        </a:rPr>
                        <a:t>,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T</a:t>
                      </a:r>
                      <a:r>
                        <a:rPr lang="en-AU" sz="1300" dirty="0">
                          <a:solidFill>
                            <a:srgbClr val="1C2B31"/>
                          </a:solidFill>
                          <a:latin typeface="Calibri" pitchFamily="34" charset="0"/>
                          <a:ea typeface="Calibri" pitchFamily="34" charset="-122"/>
                          <a:cs typeface="Calibri" pitchFamily="34" charset="-120"/>
                        </a:rPr>
                        <a:t>,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L</a:t>
                      </a:r>
                      <a:r>
                        <a:rPr lang="en-AU" sz="1300" dirty="0">
                          <a:solidFill>
                            <a:srgbClr val="1C2B31"/>
                          </a:solidFill>
                          <a:latin typeface="Calibri" pitchFamily="34" charset="0"/>
                          <a:ea typeface="Calibri" pitchFamily="34" charset="-122"/>
                          <a:cs typeface="Calibri" pitchFamily="34" charset="-120"/>
                        </a:rPr>
                        <a: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Controller</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services/access_service.py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Scope check, release gate, decision matrix (Algorithm 4, </a:t>
                      </a:r>
                      <a:r>
                        <a:rPr lang="en-AU" sz="1300" dirty="0">
                          <a:solidFill>
                            <a:srgbClr val="1C2B31"/>
                          </a:solidFill>
                          <a:latin typeface="Calibri" pitchFamily="34" charset="0"/>
                          <a:ea typeface="Calibri" pitchFamily="34" charset="-122"/>
                          <a:cs typeface="Calibri" pitchFamily="34" charset="-120"/>
                        </a:rPr>
                        <a:t>V</a:t>
                      </a:r>
                      <a:r>
                        <a:rPr lang="en-AU" sz="1530" baseline="-25000" dirty="0">
                          <a:solidFill>
                            <a:srgbClr val="1C2B31"/>
                          </a:solidFill>
                          <a:latin typeface="Calibri" pitchFamily="34" charset="0"/>
                          <a:ea typeface="Calibri" pitchFamily="34" charset="-122"/>
                          <a:cs typeface="Calibri" pitchFamily="34" charset="-120"/>
                        </a:rPr>
                        <a:t>P</a:t>
                      </a:r>
                      <a:r>
                        <a:rPr lang="en-AU" sz="1300" dirty="0">
                          <a:solidFill>
                            <a:srgbClr val="1C2B31"/>
                          </a:solidFill>
                          <a:latin typeface="Calibri" pitchFamily="34" charset="0"/>
                          <a:ea typeface="Calibri" pitchFamily="34" charset="-122"/>
                          <a:cs typeface="Calibri" pitchFamily="34" charset="-120"/>
                        </a:rPr>
                        <a: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Controller</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services/blockchain_service.py; services/anchor_service.py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SBT minting, revocation and on-chain anchoring (evidence E)</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Model</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models/consent.py; models/access.py; database/ (SQLite)</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 = (I, A, P, T, L, E) and request R; consent, approval and audit state</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Protected resource</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data/synthea/*.csv via database/repository.py</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Synthetic EMR modules, released only after authorisation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420624">
                <a:tc>
                  <a:txBody>
                    <a:bodyPr/>
                    <a:lstStyle/>
                    <a:p>
                      <a:pPr indent="0" marL="0">
                        <a:buNone/>
                      </a:pPr>
                      <a:r>
                        <a:rPr lang="en-AU" sz="1300" b="1" dirty="0">
                          <a:solidFill>
                            <a:srgbClr val="1C2B31"/>
                          </a:solidFill>
                          <a:latin typeface="Calibri" pitchFamily="34" charset="0"/>
                          <a:ea typeface="Calibri" pitchFamily="34" charset="-122"/>
                          <a:cs typeface="Calibri" pitchFamily="34" charset="-120"/>
                        </a:rPr>
                        <a:t>Smart contract</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contracts/ConsentSBTv3.sol (v2 for the Table 7.4 evidence)</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300" dirty="0">
                          <a:solidFill>
                            <a:srgbClr val="1C2B31"/>
                          </a:solidFill>
                          <a:latin typeface="Calibri" pitchFamily="34" charset="0"/>
                          <a:ea typeface="Calibri" pitchFamily="34" charset="-122"/>
                          <a:cs typeface="Calibri" pitchFamily="34" charset="-120"/>
                        </a:rPr>
                        <a:t>Soulbound consent token; on-chain validity; ERC-5484 burn</a:t>
                      </a:r>
                      <a:endParaRPr lang="en-AU" sz="13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18 automated tests, none failed</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pytest 9.1.1, Python 3.11, run on 28 September 2026 (Section 7.11, Table 7.3)</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35 / 43</a:t>
            </a:r>
            <a:endParaRPr lang="en-AU" sz="1000" dirty="0"/>
          </a:p>
        </p:txBody>
      </p:sp>
      <p:sp>
        <p:nvSpPr>
          <p:cNvPr id="7" name="Shape 4"/>
          <p:cNvSpPr/>
          <p:nvPr/>
        </p:nvSpPr>
        <p:spPr>
          <a:xfrm>
            <a:off x="548640" y="1691640"/>
            <a:ext cx="2834640" cy="1188720"/>
          </a:xfrm>
          <a:prstGeom prst="roundRect">
            <a:avLst>
              <a:gd name="adj" fmla="val 7692"/>
            </a:avLst>
          </a:prstGeom>
          <a:solidFill>
            <a:srgbClr val="13707B"/>
          </a:solidFill>
          <a:ln w="12700">
            <a:solidFill>
              <a:srgbClr val="13707B"/>
            </a:solidFill>
            <a:prstDash val="solid"/>
          </a:ln>
        </p:spPr>
      </p:sp>
      <p:sp>
        <p:nvSpPr>
          <p:cNvPr id="8" name="Text 5"/>
          <p:cNvSpPr txBox="1"/>
          <p:nvPr/>
        </p:nvSpPr>
        <p:spPr>
          <a:xfrm>
            <a:off x="731520" y="1691640"/>
            <a:ext cx="1097280" cy="1188720"/>
          </a:xfrm>
          <a:prstGeom prst="rect">
            <a:avLst/>
          </a:prstGeom>
          <a:noFill/>
          <a:ln/>
        </p:spPr>
        <p:txBody>
          <a:bodyPr wrap="square" lIns="0" tIns="0" rIns="0" bIns="0" rtlCol="0" anchor="ctr"/>
          <a:lstStyle/>
          <a:p>
            <a:pPr indent="0" marL="0">
              <a:buNone/>
            </a:pPr>
            <a:r>
              <a:rPr lang="en-AU" sz="4800" b="1" dirty="0">
                <a:solidFill>
                  <a:srgbClr val="FFFFFF"/>
                </a:solidFill>
                <a:latin typeface="Cambria" pitchFamily="34" charset="0"/>
                <a:ea typeface="Cambria" pitchFamily="34" charset="-122"/>
                <a:cs typeface="Cambria" pitchFamily="34" charset="-120"/>
              </a:rPr>
              <a:t>16</a:t>
            </a:r>
            <a:endParaRPr lang="en-AU" sz="4800" dirty="0"/>
          </a:p>
        </p:txBody>
      </p:sp>
      <p:sp>
        <p:nvSpPr>
          <p:cNvPr id="9" name="Text 6"/>
          <p:cNvSpPr txBox="1"/>
          <p:nvPr/>
        </p:nvSpPr>
        <p:spPr>
          <a:xfrm>
            <a:off x="1783080" y="1691640"/>
            <a:ext cx="1508760" cy="1188720"/>
          </a:xfrm>
          <a:prstGeom prst="rect">
            <a:avLst/>
          </a:prstGeom>
          <a:noFill/>
          <a:ln/>
        </p:spPr>
        <p:txBody>
          <a:bodyPr wrap="square" lIns="0" tIns="0" rIns="0" bIns="0" rtlCol="0" anchor="ctr"/>
          <a:lstStyle/>
          <a:p>
            <a:pPr indent="0" marL="0">
              <a:buNone/>
            </a:pPr>
            <a:r>
              <a:rPr lang="en-AU" sz="1400" b="1" dirty="0">
                <a:solidFill>
                  <a:srgbClr val="FFFFFF"/>
                </a:solidFill>
                <a:latin typeface="Calibri" pitchFamily="34" charset="0"/>
                <a:ea typeface="Calibri" pitchFamily="34" charset="-122"/>
                <a:cs typeface="Calibri" pitchFamily="34" charset="-120"/>
              </a:rPr>
              <a:t>tests passed</a:t>
            </a:r>
            <a:endParaRPr lang="en-AU" sz="1400" dirty="0"/>
          </a:p>
        </p:txBody>
      </p:sp>
      <p:sp>
        <p:nvSpPr>
          <p:cNvPr id="10" name="Shape 7"/>
          <p:cNvSpPr/>
          <p:nvPr/>
        </p:nvSpPr>
        <p:spPr>
          <a:xfrm>
            <a:off x="548640" y="3063240"/>
            <a:ext cx="2834640" cy="1188720"/>
          </a:xfrm>
          <a:prstGeom prst="roundRect">
            <a:avLst>
              <a:gd name="adj" fmla="val 7692"/>
            </a:avLst>
          </a:prstGeom>
          <a:solidFill>
            <a:srgbClr val="D4A12A"/>
          </a:solidFill>
          <a:ln w="12700">
            <a:solidFill>
              <a:srgbClr val="D4A12A"/>
            </a:solidFill>
            <a:prstDash val="solid"/>
          </a:ln>
        </p:spPr>
      </p:sp>
      <p:sp>
        <p:nvSpPr>
          <p:cNvPr id="11" name="Text 8"/>
          <p:cNvSpPr txBox="1"/>
          <p:nvPr/>
        </p:nvSpPr>
        <p:spPr>
          <a:xfrm>
            <a:off x="731520" y="3063240"/>
            <a:ext cx="1097280" cy="1188720"/>
          </a:xfrm>
          <a:prstGeom prst="rect">
            <a:avLst/>
          </a:prstGeom>
          <a:noFill/>
          <a:ln/>
        </p:spPr>
        <p:txBody>
          <a:bodyPr wrap="square" lIns="0" tIns="0" rIns="0" bIns="0" rtlCol="0" anchor="ctr"/>
          <a:lstStyle/>
          <a:p>
            <a:pPr indent="0" marL="0">
              <a:buNone/>
            </a:pPr>
            <a:r>
              <a:rPr lang="en-AU" sz="4800" b="1" dirty="0">
                <a:solidFill>
                  <a:srgbClr val="1C2B31"/>
                </a:solidFill>
                <a:latin typeface="Cambria" pitchFamily="34" charset="0"/>
                <a:ea typeface="Cambria" pitchFamily="34" charset="-122"/>
                <a:cs typeface="Cambria" pitchFamily="34" charset="-120"/>
              </a:rPr>
              <a:t>2</a:t>
            </a:r>
            <a:endParaRPr lang="en-AU" sz="4800" dirty="0"/>
          </a:p>
        </p:txBody>
      </p:sp>
      <p:sp>
        <p:nvSpPr>
          <p:cNvPr id="12" name="Text 9"/>
          <p:cNvSpPr txBox="1"/>
          <p:nvPr/>
        </p:nvSpPr>
        <p:spPr>
          <a:xfrm>
            <a:off x="1783080" y="3063240"/>
            <a:ext cx="1508760" cy="1188720"/>
          </a:xfrm>
          <a:prstGeom prst="rect">
            <a:avLst/>
          </a:prstGeom>
          <a:noFill/>
          <a:ln/>
        </p:spPr>
        <p:txBody>
          <a:bodyPr wrap="square" lIns="0" tIns="0" rIns="0" bIns="0" rtlCol="0" anchor="ctr"/>
          <a:lstStyle/>
          <a:p>
            <a:pPr indent="0" marL="0">
              <a:buNone/>
            </a:pPr>
            <a:r>
              <a:rPr lang="en-AU" sz="1400" b="1" dirty="0">
                <a:solidFill>
                  <a:srgbClr val="1C2B31"/>
                </a:solidFill>
                <a:latin typeface="Calibri" pitchFamily="34" charset="0"/>
                <a:ea typeface="Calibri" pitchFamily="34" charset="-122"/>
                <a:cs typeface="Calibri" pitchFamily="34" charset="-120"/>
              </a:rPr>
              <a:t>skipped</a:t>
            </a:r>
            <a:endParaRPr lang="en-AU" sz="1400" dirty="0"/>
          </a:p>
          <a:p>
            <a:pPr indent="0" marL="0">
              <a:buNone/>
            </a:pPr>
            <a:r>
              <a:rPr lang="en-AU" sz="1200" dirty="0">
                <a:solidFill>
                  <a:srgbClr val="1C2B31"/>
                </a:solidFill>
                <a:latin typeface="Calibri" pitchFamily="34" charset="0"/>
                <a:ea typeface="Calibri" pitchFamily="34" charset="-122"/>
                <a:cs typeface="Calibri" pitchFamily="34" charset="-120"/>
              </a:rPr>
              <a:t>ZK circuit not built</a:t>
            </a:r>
            <a:endParaRPr lang="en-AU" sz="1400" dirty="0"/>
          </a:p>
        </p:txBody>
      </p:sp>
      <p:sp>
        <p:nvSpPr>
          <p:cNvPr id="13" name="Shape 10"/>
          <p:cNvSpPr/>
          <p:nvPr/>
        </p:nvSpPr>
        <p:spPr>
          <a:xfrm>
            <a:off x="548640" y="4434840"/>
            <a:ext cx="2834640" cy="1188720"/>
          </a:xfrm>
          <a:prstGeom prst="roundRect">
            <a:avLst>
              <a:gd name="adj" fmla="val 7692"/>
            </a:avLst>
          </a:prstGeom>
          <a:solidFill>
            <a:srgbClr val="0E3B43"/>
          </a:solidFill>
          <a:ln w="12700">
            <a:solidFill>
              <a:srgbClr val="0E3B43"/>
            </a:solidFill>
            <a:prstDash val="solid"/>
          </a:ln>
        </p:spPr>
      </p:sp>
      <p:sp>
        <p:nvSpPr>
          <p:cNvPr id="14" name="Text 11"/>
          <p:cNvSpPr txBox="1"/>
          <p:nvPr/>
        </p:nvSpPr>
        <p:spPr>
          <a:xfrm>
            <a:off x="731520" y="4434840"/>
            <a:ext cx="1097280" cy="1188720"/>
          </a:xfrm>
          <a:prstGeom prst="rect">
            <a:avLst/>
          </a:prstGeom>
          <a:noFill/>
          <a:ln/>
        </p:spPr>
        <p:txBody>
          <a:bodyPr wrap="square" lIns="0" tIns="0" rIns="0" bIns="0" rtlCol="0" anchor="ctr"/>
          <a:lstStyle/>
          <a:p>
            <a:pPr indent="0" marL="0">
              <a:buNone/>
            </a:pPr>
            <a:r>
              <a:rPr lang="en-AU" sz="4800" b="1" dirty="0">
                <a:solidFill>
                  <a:srgbClr val="FFFFFF"/>
                </a:solidFill>
                <a:latin typeface="Cambria" pitchFamily="34" charset="0"/>
                <a:ea typeface="Cambria" pitchFamily="34" charset="-122"/>
                <a:cs typeface="Cambria" pitchFamily="34" charset="-120"/>
              </a:rPr>
              <a:t>0</a:t>
            </a:r>
            <a:endParaRPr lang="en-AU" sz="4800" dirty="0"/>
          </a:p>
        </p:txBody>
      </p:sp>
      <p:sp>
        <p:nvSpPr>
          <p:cNvPr id="15" name="Text 12"/>
          <p:cNvSpPr txBox="1"/>
          <p:nvPr/>
        </p:nvSpPr>
        <p:spPr>
          <a:xfrm>
            <a:off x="1783080" y="4434840"/>
            <a:ext cx="1508760" cy="1188720"/>
          </a:xfrm>
          <a:prstGeom prst="rect">
            <a:avLst/>
          </a:prstGeom>
          <a:noFill/>
          <a:ln/>
        </p:spPr>
        <p:txBody>
          <a:bodyPr wrap="square" lIns="0" tIns="0" rIns="0" bIns="0" rtlCol="0" anchor="ctr"/>
          <a:lstStyle/>
          <a:p>
            <a:pPr indent="0" marL="0">
              <a:buNone/>
            </a:pPr>
            <a:r>
              <a:rPr lang="en-AU" sz="1400" b="1" dirty="0">
                <a:solidFill>
                  <a:srgbClr val="FFFFFF"/>
                </a:solidFill>
                <a:latin typeface="Calibri" pitchFamily="34" charset="0"/>
                <a:ea typeface="Calibri" pitchFamily="34" charset="-122"/>
                <a:cs typeface="Calibri" pitchFamily="34" charset="-120"/>
              </a:rPr>
              <a:t>failed</a:t>
            </a:r>
            <a:endParaRPr lang="en-AU"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749040" y="1691640"/>
          <a:ext cx="7894015" cy="914400"/>
        </p:xfrm>
        <a:graphic>
          <a:graphicData uri="http://schemas.openxmlformats.org/drawingml/2006/table">
            <a:tbl>
              <a:tblPr/>
              <a:tblGrid>
                <a:gridCol w="640080"/>
                <a:gridCol w="4023360"/>
                <a:gridCol w="1234440"/>
                <a:gridCol w="1993392"/>
              </a:tblGrid>
              <a:tr h="393192">
                <a:tc>
                  <a:txBody>
                    <a:bodyPr/>
                    <a:lstStyle/>
                    <a:p>
                      <a:pPr indent="0" marL="0">
                        <a:buNone/>
                      </a:pPr>
                      <a:r>
                        <a:rPr lang="en-AU" sz="1200" b="1" dirty="0">
                          <a:solidFill>
                            <a:srgbClr val="FFFFFF"/>
                          </a:solidFill>
                          <a:latin typeface="Calibri" pitchFamily="34" charset="0"/>
                          <a:ea typeface="Calibri" pitchFamily="34" charset="-122"/>
                          <a:cs typeface="Calibri" pitchFamily="34" charset="-120"/>
                        </a:rPr>
                        <a:t>ID</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200" b="1" dirty="0">
                          <a:solidFill>
                            <a:srgbClr val="FFFFFF"/>
                          </a:solidFill>
                          <a:latin typeface="Calibri" pitchFamily="34" charset="0"/>
                          <a:ea typeface="Calibri" pitchFamily="34" charset="-122"/>
                          <a:cs typeface="Calibri" pitchFamily="34" charset="-120"/>
                        </a:rPr>
                        <a:t>Scenario</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200" b="1" dirty="0">
                          <a:solidFill>
                            <a:srgbClr val="FFFFFF"/>
                          </a:solidFill>
                          <a:latin typeface="Calibri" pitchFamily="34" charset="0"/>
                          <a:ea typeface="Calibri" pitchFamily="34" charset="-122"/>
                          <a:cs typeface="Calibri" pitchFamily="34" charset="-120"/>
                        </a:rPr>
                        <a:t>Predicate</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200" b="1" dirty="0">
                          <a:solidFill>
                            <a:srgbClr val="FFFFFF"/>
                          </a:solidFill>
                          <a:latin typeface="Calibri" pitchFamily="34" charset="0"/>
                          <a:ea typeface="Calibri" pitchFamily="34" charset="-122"/>
                          <a:cs typeface="Calibri" pitchFamily="34" charset="-120"/>
                        </a:rPr>
                        <a:t>Result</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T1</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EIP-712 guardian approval</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I</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T2</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Decision matrix</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I</a:t>
                      </a:r>
                      <a:r>
                        <a:rPr lang="en-AU" sz="1200" dirty="0">
                          <a:solidFill>
                            <a:srgbClr val="1C2B31"/>
                          </a:solidFill>
                          <a:latin typeface="Calibri" pitchFamily="34" charset="0"/>
                          <a:ea typeface="Calibri" pitchFamily="34" charset="-122"/>
                          <a:cs typeface="Calibri" pitchFamily="34" charset="-120"/>
                        </a:rPr>
                        <a:t>–</a:t>
                      </a: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L</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T3</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End-to-end lifecycle, chain mocked</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A</a:t>
                      </a:r>
                      <a:r>
                        <a:rPr lang="en-AU" sz="1200" dirty="0">
                          <a:solidFill>
                            <a:srgbClr val="1C2B31"/>
                          </a:solidFill>
                          <a:latin typeface="Calibri" pitchFamily="34" charset="0"/>
                          <a:ea typeface="Calibri" pitchFamily="34" charset="-122"/>
                          <a:cs typeface="Calibri" pitchFamily="34" charset="-120"/>
                        </a:rPr>
                        <a:t>, </a:t>
                      </a: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L</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T4</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Revocation state</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L</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T5</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v3 contract routing</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T</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T6</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Persistence (3 tests)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E</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T7</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Audit honesty (2 tests)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E</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T8</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Configuration &amp; honesty (6 tests)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Pass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393192">
                <a:tc>
                  <a:txBody>
                    <a:bodyPr/>
                    <a:lstStyle/>
                    <a:p>
                      <a:pPr indent="0" marL="0">
                        <a:buNone/>
                      </a:pPr>
                      <a:r>
                        <a:rPr lang="en-AU" sz="1200" b="1" dirty="0">
                          <a:solidFill>
                            <a:srgbClr val="1C2B31"/>
                          </a:solidFill>
                          <a:latin typeface="Calibri" pitchFamily="34" charset="0"/>
                          <a:ea typeface="Calibri" pitchFamily="34" charset="-122"/>
                          <a:cs typeface="Calibri" pitchFamily="34" charset="-120"/>
                        </a:rPr>
                        <a:t>T9</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Groth16 zero-knowledge (2 tests)</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V</a:t>
                      </a:r>
                      <a:r>
                        <a:rPr lang="en-AU" sz="1420" baseline="-25000" dirty="0">
                          <a:solidFill>
                            <a:srgbClr val="1C2B31"/>
                          </a:solidFill>
                          <a:latin typeface="Calibri" pitchFamily="34" charset="0"/>
                          <a:ea typeface="Calibri" pitchFamily="34" charset="-122"/>
                          <a:cs typeface="Calibri" pitchFamily="34" charset="-120"/>
                        </a:rPr>
                        <a:t>T</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00" dirty="0">
                          <a:solidFill>
                            <a:srgbClr val="1C2B31"/>
                          </a:solidFill>
                          <a:latin typeface="Calibri" pitchFamily="34" charset="0"/>
                          <a:ea typeface="Calibri" pitchFamily="34" charset="-122"/>
                          <a:cs typeface="Calibri" pitchFamily="34" charset="-120"/>
                        </a:rPr>
                        <a:t>Skipped</a:t>
                      </a:r>
                      <a:endParaRPr lang="en-AU" sz="120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bl>
          </a:graphicData>
        </a:graphic>
      </p:graphicFrame>
      <p:sp>
        <p:nvSpPr>
          <p:cNvPr id="17" name="Text 13"/>
          <p:cNvSpPr txBox="1"/>
          <p:nvPr/>
        </p:nvSpPr>
        <p:spPr>
          <a:xfrm>
            <a:off x="548640" y="5852160"/>
            <a:ext cx="11094415" cy="438912"/>
          </a:xfrm>
          <a:prstGeom prst="rect">
            <a:avLst/>
          </a:prstGeom>
          <a:noFill/>
          <a:ln/>
        </p:spPr>
        <p:txBody>
          <a:bodyPr wrap="square" lIns="0" tIns="0" rIns="0" bIns="0" rtlCol="0" anchor="ctr"/>
          <a:lstStyle/>
          <a:p>
            <a:pPr indent="0" marL="0">
              <a:buNone/>
            </a:pPr>
            <a:r>
              <a:rPr lang="en-AU" sz="1300" i="1" dirty="0">
                <a:solidFill>
                  <a:srgbClr val="0B5560"/>
                </a:solidFill>
                <a:latin typeface="Calibri" pitchFamily="34" charset="0"/>
                <a:ea typeface="Calibri" pitchFamily="34" charset="-122"/>
                <a:cs typeface="Calibri" pitchFamily="34" charset="-120"/>
              </a:rPr>
              <a:t>Functional unit and integration tests with the blockchain mocked; not yet the full valid, negative and adversarial scenario set of Algorithm 6</a:t>
            </a:r>
            <a:endParaRPr lang="en-AU"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Consent tokens anchored on Sepolia</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Four consent SBTs minted by ConsentSBTv2 on the Ethereum Sepolia testnet (Section 7.12, Table 7.4)</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36 / 43</a:t>
            </a:r>
            <a:endParaRPr lang="en-AU" sz="1000" dirty="0"/>
          </a:p>
        </p:txBody>
      </p:sp>
      <p:sp>
        <p:nvSpPr>
          <p:cNvPr id="7" name="Shape 4"/>
          <p:cNvSpPr/>
          <p:nvPr/>
        </p:nvSpPr>
        <p:spPr>
          <a:xfrm>
            <a:off x="548640" y="1645920"/>
            <a:ext cx="4846320" cy="2148840"/>
          </a:xfrm>
          <a:prstGeom prst="roundRect">
            <a:avLst>
              <a:gd name="adj" fmla="val 4255"/>
            </a:avLst>
          </a:prstGeom>
          <a:solidFill>
            <a:srgbClr val="0E3B43"/>
          </a:solidFill>
          <a:ln w="12700">
            <a:solidFill>
              <a:srgbClr val="0E3B43"/>
            </a:solidFill>
            <a:prstDash val="solid"/>
          </a:ln>
        </p:spPr>
      </p:sp>
      <p:sp>
        <p:nvSpPr>
          <p:cNvPr id="8" name="Shape 5"/>
          <p:cNvSpPr/>
          <p:nvPr/>
        </p:nvSpPr>
        <p:spPr>
          <a:xfrm>
            <a:off x="822960" y="1874520"/>
            <a:ext cx="566928" cy="566928"/>
          </a:xfrm>
          <a:prstGeom prst="ellipse">
            <a:avLst/>
          </a:prstGeom>
          <a:solidFill>
            <a:srgbClr val="D4A12A"/>
          </a:solidFill>
          <a:ln w="12700">
            <a:solidFill>
              <a:srgbClr val="D4A12A"/>
            </a:solidFill>
            <a:prstDash val="solid"/>
          </a:ln>
        </p:spPr>
      </p:sp>
      <p:pic>
        <p:nvPicPr>
          <p:cNvPr id="9" name="Image 0" descr="preencoded.png">    </p:cNvPr>
          <p:cNvPicPr>
            <a:picLocks noChangeAspect="1"/>
          </p:cNvPicPr>
          <p:nvPr/>
        </p:nvPicPr>
        <p:blipFill>
          <a:blip r:embed="rId1"/>
          <a:stretch>
            <a:fillRect/>
          </a:stretch>
        </p:blipFill>
        <p:spPr>
          <a:xfrm>
            <a:off x="959023" y="2010583"/>
            <a:ext cx="294803" cy="294803"/>
          </a:xfrm>
          <a:prstGeom prst="rect">
            <a:avLst/>
          </a:prstGeom>
        </p:spPr>
      </p:pic>
      <p:sp>
        <p:nvSpPr>
          <p:cNvPr id="10" name="Text 6"/>
          <p:cNvSpPr txBox="1"/>
          <p:nvPr/>
        </p:nvSpPr>
        <p:spPr>
          <a:xfrm>
            <a:off x="1600200" y="1847088"/>
            <a:ext cx="3611880" cy="1097280"/>
          </a:xfrm>
          <a:prstGeom prst="rect">
            <a:avLst/>
          </a:prstGeom>
          <a:noFill/>
          <a:ln/>
        </p:spPr>
        <p:txBody>
          <a:bodyPr wrap="square" lIns="0" tIns="0" rIns="0" bIns="0" rtlCol="0" anchor="t"/>
          <a:lstStyle/>
          <a:p>
            <a:pPr indent="0" marL="0">
              <a:buNone/>
            </a:pPr>
            <a:r>
              <a:rPr lang="en-AU" sz="1800" b="1" dirty="0">
                <a:solidFill>
                  <a:srgbClr val="FFFFFF"/>
                </a:solidFill>
                <a:latin typeface="Calibri" pitchFamily="34" charset="0"/>
                <a:ea typeface="Calibri" pitchFamily="34" charset="-122"/>
                <a:cs typeface="Calibri" pitchFamily="34" charset="-120"/>
              </a:rPr>
              <a:t>Ethereum Sepolia testnet</a:t>
            </a:r>
            <a:endParaRPr lang="en-AU" sz="1800" dirty="0"/>
          </a:p>
          <a:p>
            <a:pPr indent="0" marL="0">
              <a:buNone/>
            </a:pPr>
            <a:r>
              <a:rPr lang="en-AU" sz="1400" dirty="0">
                <a:solidFill>
                  <a:srgbClr val="CFE3E6"/>
                </a:solidFill>
                <a:latin typeface="Calibri" pitchFamily="34" charset="0"/>
                <a:ea typeface="Calibri" pitchFamily="34" charset="-122"/>
                <a:cs typeface="Calibri" pitchFamily="34" charset="-120"/>
              </a:rPr>
              <a:t>Chain ID 11155111</a:t>
            </a:r>
            <a:endParaRPr lang="en-AU" sz="1800" dirty="0"/>
          </a:p>
          <a:p>
            <a:pPr indent="0" marL="0">
              <a:buNone/>
            </a:pPr>
            <a:r>
              <a:rPr lang="en-AU" sz="1400" dirty="0">
                <a:solidFill>
                  <a:srgbClr val="CFE3E6"/>
                </a:solidFill>
                <a:latin typeface="Calibri" pitchFamily="34" charset="0"/>
                <a:ea typeface="Calibri" pitchFamily="34" charset="-122"/>
                <a:cs typeface="Calibri" pitchFamily="34" charset="-120"/>
              </a:rPr>
              <a:t>ConsentSBTv2 contract</a:t>
            </a:r>
            <a:endParaRPr lang="en-AU" sz="1800" dirty="0"/>
          </a:p>
        </p:txBody>
      </p:sp>
      <p:sp>
        <p:nvSpPr>
          <p:cNvPr id="11" name="Text 7"/>
          <p:cNvSpPr txBox="1"/>
          <p:nvPr/>
        </p:nvSpPr>
        <p:spPr>
          <a:xfrm>
            <a:off x="822960" y="3108960"/>
            <a:ext cx="4389120" cy="365760"/>
          </a:xfrm>
          <a:prstGeom prst="rect">
            <a:avLst/>
          </a:prstGeom>
          <a:noFill/>
          <a:ln/>
        </p:spPr>
        <p:txBody>
          <a:bodyPr wrap="square" lIns="0" tIns="0" rIns="0" bIns="0" rtlCol="0" anchor="ctr"/>
          <a:lstStyle/>
          <a:p>
            <a:pPr indent="0" marL="0">
              <a:buNone/>
            </a:pPr>
            <a:r>
              <a:rPr lang="en-AU" sz="1150" dirty="0">
                <a:solidFill>
                  <a:srgbClr val="D4A12A"/>
                </a:solidFill>
                <a:latin typeface="Courier New" pitchFamily="34" charset="0"/>
                <a:ea typeface="Courier New" pitchFamily="34" charset="-122"/>
                <a:cs typeface="Courier New" pitchFamily="34" charset="-120"/>
              </a:rPr>
              <a:t>0xb0dA0440Abd6bd74bE0aebE226D593492124A6e7</a:t>
            </a:r>
            <a:endParaRPr lang="en-AU" sz="11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60720" y="1645920"/>
          <a:ext cx="5882335" cy="914400"/>
        </p:xfrm>
        <a:graphic>
          <a:graphicData uri="http://schemas.openxmlformats.org/drawingml/2006/table">
            <a:tbl>
              <a:tblPr/>
              <a:tblGrid>
                <a:gridCol w="914400"/>
                <a:gridCol w="1463040"/>
                <a:gridCol w="3502152"/>
              </a:tblGrid>
              <a:tr h="429768">
                <a:tc>
                  <a:txBody>
                    <a:bodyPr/>
                    <a:lstStyle/>
                    <a:p>
                      <a:pPr indent="0" marL="0">
                        <a:buNone/>
                      </a:pPr>
                      <a:r>
                        <a:rPr lang="en-AU" sz="1250" b="1" dirty="0">
                          <a:solidFill>
                            <a:srgbClr val="FFFFFF"/>
                          </a:solidFill>
                          <a:latin typeface="Calibri" pitchFamily="34" charset="0"/>
                          <a:ea typeface="Calibri" pitchFamily="34" charset="-122"/>
                          <a:cs typeface="Calibri" pitchFamily="34" charset="-120"/>
                        </a:rPr>
                        <a:t>Token</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250" b="1" dirty="0">
                          <a:solidFill>
                            <a:srgbClr val="FFFFFF"/>
                          </a:solidFill>
                          <a:latin typeface="Calibri" pitchFamily="34" charset="0"/>
                          <a:ea typeface="Calibri" pitchFamily="34" charset="-122"/>
                          <a:cs typeface="Calibri" pitchFamily="34" charset="-120"/>
                        </a:rPr>
                        <a:t>Block</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250" b="1" dirty="0">
                          <a:solidFill>
                            <a:srgbClr val="FFFFFF"/>
                          </a:solidFill>
                          <a:latin typeface="Calibri" pitchFamily="34" charset="0"/>
                          <a:ea typeface="Calibri" pitchFamily="34" charset="-122"/>
                          <a:cs typeface="Calibri" pitchFamily="34" charset="-120"/>
                        </a:rPr>
                        <a:t>Transaction hash (shortened)</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429768">
                <a:tc>
                  <a:txBody>
                    <a:bodyPr/>
                    <a:lstStyle/>
                    <a:p>
                      <a:pPr indent="0" marL="0">
                        <a:buNone/>
                      </a:pPr>
                      <a:r>
                        <a:rPr lang="en-AU" sz="1250" b="1" dirty="0">
                          <a:solidFill>
                            <a:srgbClr val="1C2B31"/>
                          </a:solidFill>
                          <a:latin typeface="Calibri" pitchFamily="34" charset="0"/>
                          <a:ea typeface="Calibri" pitchFamily="34" charset="-122"/>
                          <a:cs typeface="Calibri" pitchFamily="34" charset="-120"/>
                        </a:rPr>
                        <a:t>#1</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11750525</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0x5bfb45ee…c0de105367</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429768">
                <a:tc>
                  <a:txBody>
                    <a:bodyPr/>
                    <a:lstStyle/>
                    <a:p>
                      <a:pPr indent="0" marL="0">
                        <a:buNone/>
                      </a:pPr>
                      <a:r>
                        <a:rPr lang="en-AU" sz="1250" b="1" dirty="0">
                          <a:solidFill>
                            <a:srgbClr val="1C2B31"/>
                          </a:solidFill>
                          <a:latin typeface="Calibri" pitchFamily="34" charset="0"/>
                          <a:ea typeface="Calibri" pitchFamily="34" charset="-122"/>
                          <a:cs typeface="Calibri" pitchFamily="34" charset="-120"/>
                        </a:rPr>
                        <a:t>#2</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11750632</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0x1b964596…e56fc522907</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429768">
                <a:tc>
                  <a:txBody>
                    <a:bodyPr/>
                    <a:lstStyle/>
                    <a:p>
                      <a:pPr indent="0" marL="0">
                        <a:buNone/>
                      </a:pPr>
                      <a:r>
                        <a:rPr lang="en-AU" sz="1250" b="1" dirty="0">
                          <a:solidFill>
                            <a:srgbClr val="1C2B31"/>
                          </a:solidFill>
                          <a:latin typeface="Calibri" pitchFamily="34" charset="0"/>
                          <a:ea typeface="Calibri" pitchFamily="34" charset="-122"/>
                          <a:cs typeface="Calibri" pitchFamily="34" charset="-120"/>
                        </a:rPr>
                        <a:t>#3</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11750702</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0x6812ab16…aabef251121</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429768">
                <a:tc>
                  <a:txBody>
                    <a:bodyPr/>
                    <a:lstStyle/>
                    <a:p>
                      <a:pPr indent="0" marL="0">
                        <a:buNone/>
                      </a:pPr>
                      <a:r>
                        <a:rPr lang="en-AU" sz="1250" b="1" dirty="0">
                          <a:solidFill>
                            <a:srgbClr val="1C2B31"/>
                          </a:solidFill>
                          <a:latin typeface="Calibri" pitchFamily="34" charset="0"/>
                          <a:ea typeface="Calibri" pitchFamily="34" charset="-122"/>
                          <a:cs typeface="Calibri" pitchFamily="34" charset="-120"/>
                        </a:rPr>
                        <a:t>#4</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11750722</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250" dirty="0">
                          <a:solidFill>
                            <a:srgbClr val="1C2B31"/>
                          </a:solidFill>
                          <a:latin typeface="Calibri" pitchFamily="34" charset="0"/>
                          <a:ea typeface="Calibri" pitchFamily="34" charset="-122"/>
                          <a:cs typeface="Calibri" pitchFamily="34" charset="-120"/>
                        </a:rPr>
                        <a:t>0xa4c4156b…eff497e014a</a:t>
                      </a:r>
                      <a:endParaRPr lang="en-AU" sz="1250" dirty="0">
                        <a:latin typeface="Calibri" charset="0"/>
                        <a:ea typeface="Calibri" charset="0"/>
                        <a:cs typeface="Calibri" charset="0"/>
                      </a:endParaRPr>
                    </a:p>
                  </a:txBody>
                  <a:tcPr marL="73152" marR="73152" marT="45720" marB="45720"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bl>
          </a:graphicData>
        </a:graphic>
      </p:graphicFrame>
      <p:sp>
        <p:nvSpPr>
          <p:cNvPr id="13" name="Text 8"/>
          <p:cNvSpPr txBox="1"/>
          <p:nvPr/>
        </p:nvSpPr>
        <p:spPr>
          <a:xfrm>
            <a:off x="5760720" y="3840480"/>
            <a:ext cx="5852160" cy="274320"/>
          </a:xfrm>
          <a:prstGeom prst="rect">
            <a:avLst/>
          </a:prstGeom>
          <a:noFill/>
          <a:ln/>
        </p:spPr>
        <p:txBody>
          <a:bodyPr wrap="square" lIns="0" tIns="0" rIns="0" bIns="0" rtlCol="0" anchor="t"/>
          <a:lstStyle/>
          <a:p>
            <a:pPr indent="0" marL="0">
              <a:buNone/>
            </a:pPr>
            <a:r>
              <a:rPr lang="en-AU" sz="1050" i="1" dirty="0">
                <a:solidFill>
                  <a:srgbClr val="5E6E73"/>
                </a:solidFill>
                <a:latin typeface="Calibri" pitchFamily="34" charset="0"/>
                <a:ea typeface="Calibri" pitchFamily="34" charset="-122"/>
                <a:cs typeface="Calibri" pitchFamily="34" charset="-120"/>
              </a:rPr>
              <a:t>Full hashes: Table 7.4 in the report.</a:t>
            </a:r>
            <a:endParaRPr lang="en-AU" sz="1050" dirty="0"/>
          </a:p>
        </p:txBody>
      </p:sp>
      <p:sp>
        <p:nvSpPr>
          <p:cNvPr id="14" name="Shape 9"/>
          <p:cNvSpPr/>
          <p:nvPr/>
        </p:nvSpPr>
        <p:spPr>
          <a:xfrm>
            <a:off x="548640" y="4251960"/>
            <a:ext cx="3515258" cy="1417320"/>
          </a:xfrm>
          <a:prstGeom prst="roundRect">
            <a:avLst>
              <a:gd name="adj" fmla="val 5161"/>
            </a:avLst>
          </a:prstGeom>
          <a:solidFill>
            <a:srgbClr val="EEF4F5"/>
          </a:solidFill>
          <a:ln w="12700">
            <a:solidFill>
              <a:srgbClr val="EEF4F5"/>
            </a:solidFill>
            <a:prstDash val="solid"/>
          </a:ln>
        </p:spPr>
      </p:sp>
      <p:sp>
        <p:nvSpPr>
          <p:cNvPr id="15" name="Text 10"/>
          <p:cNvSpPr txBox="1"/>
          <p:nvPr/>
        </p:nvSpPr>
        <p:spPr>
          <a:xfrm>
            <a:off x="731520" y="4361688"/>
            <a:ext cx="3149498" cy="329184"/>
          </a:xfrm>
          <a:prstGeom prst="rect">
            <a:avLst/>
          </a:prstGeom>
          <a:noFill/>
          <a:ln/>
        </p:spPr>
        <p:txBody>
          <a:bodyPr wrap="square" lIns="0" tIns="0" rIns="0" bIns="0" rtlCol="0" anchor="t"/>
          <a:lstStyle/>
          <a:p>
            <a:pPr indent="0" marL="0">
              <a:buNone/>
            </a:pPr>
            <a:r>
              <a:rPr lang="en-AU" sz="1450" b="1" dirty="0">
                <a:solidFill>
                  <a:srgbClr val="0E3B43"/>
                </a:solidFill>
                <a:latin typeface="Calibri" pitchFamily="34" charset="0"/>
                <a:ea typeface="Calibri" pitchFamily="34" charset="-122"/>
                <a:cs typeface="Calibri" pitchFamily="34" charset="-120"/>
              </a:rPr>
              <a:t>Anchored activation</a:t>
            </a:r>
            <a:endParaRPr lang="en-AU" sz="1450" dirty="0"/>
          </a:p>
        </p:txBody>
      </p:sp>
      <p:sp>
        <p:nvSpPr>
          <p:cNvPr id="16" name="Text 11"/>
          <p:cNvSpPr txBox="1"/>
          <p:nvPr/>
        </p:nvSpPr>
        <p:spPr>
          <a:xfrm>
            <a:off x="731520" y="4709160"/>
            <a:ext cx="3149498" cy="914400"/>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When the threshold is reached, the consent is anchored by minting a non-transferable consent token</a:t>
            </a:r>
            <a:endParaRPr lang="en-AU" sz="1250" dirty="0"/>
          </a:p>
        </p:txBody>
      </p:sp>
      <p:sp>
        <p:nvSpPr>
          <p:cNvPr id="17" name="Shape 12"/>
          <p:cNvSpPr/>
          <p:nvPr/>
        </p:nvSpPr>
        <p:spPr>
          <a:xfrm>
            <a:off x="4338218" y="4251960"/>
            <a:ext cx="3515258" cy="1417320"/>
          </a:xfrm>
          <a:prstGeom prst="roundRect">
            <a:avLst>
              <a:gd name="adj" fmla="val 5161"/>
            </a:avLst>
          </a:prstGeom>
          <a:solidFill>
            <a:srgbClr val="EEF4F5"/>
          </a:solidFill>
          <a:ln w="12700">
            <a:solidFill>
              <a:srgbClr val="EEF4F5"/>
            </a:solidFill>
            <a:prstDash val="solid"/>
          </a:ln>
        </p:spPr>
      </p:sp>
      <p:sp>
        <p:nvSpPr>
          <p:cNvPr id="18" name="Text 13"/>
          <p:cNvSpPr txBox="1"/>
          <p:nvPr/>
        </p:nvSpPr>
        <p:spPr>
          <a:xfrm>
            <a:off x="4521098" y="4361688"/>
            <a:ext cx="3149498" cy="329184"/>
          </a:xfrm>
          <a:prstGeom prst="rect">
            <a:avLst/>
          </a:prstGeom>
          <a:noFill/>
          <a:ln/>
        </p:spPr>
        <p:txBody>
          <a:bodyPr wrap="square" lIns="0" tIns="0" rIns="0" bIns="0" rtlCol="0" anchor="t"/>
          <a:lstStyle/>
          <a:p>
            <a:pPr indent="0" marL="0">
              <a:buNone/>
            </a:pPr>
            <a:r>
              <a:rPr lang="en-AU" sz="1450" b="1" dirty="0">
                <a:solidFill>
                  <a:srgbClr val="0E3B43"/>
                </a:solidFill>
                <a:latin typeface="Calibri" pitchFamily="34" charset="0"/>
                <a:ea typeface="Calibri" pitchFamily="34" charset="-122"/>
                <a:cs typeface="Calibri" pitchFamily="34" charset="-120"/>
              </a:rPr>
              <a:t>DID-to-address binding</a:t>
            </a:r>
            <a:endParaRPr lang="en-AU" sz="1450" dirty="0"/>
          </a:p>
        </p:txBody>
      </p:sp>
      <p:sp>
        <p:nvSpPr>
          <p:cNvPr id="19" name="Text 14"/>
          <p:cNvSpPr txBox="1"/>
          <p:nvPr/>
        </p:nvSpPr>
        <p:spPr>
          <a:xfrm>
            <a:off x="4521098" y="4709160"/>
            <a:ext cx="3149498" cy="914400"/>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The holder of token #4 equals the address derived from the patient DID 'did:patient:demo'</a:t>
            </a:r>
            <a:endParaRPr lang="en-AU" sz="1250" dirty="0"/>
          </a:p>
        </p:txBody>
      </p:sp>
      <p:sp>
        <p:nvSpPr>
          <p:cNvPr id="20" name="Shape 15"/>
          <p:cNvSpPr/>
          <p:nvPr/>
        </p:nvSpPr>
        <p:spPr>
          <a:xfrm>
            <a:off x="8127797" y="4251960"/>
            <a:ext cx="3515258" cy="1417320"/>
          </a:xfrm>
          <a:prstGeom prst="roundRect">
            <a:avLst>
              <a:gd name="adj" fmla="val 5161"/>
            </a:avLst>
          </a:prstGeom>
          <a:solidFill>
            <a:srgbClr val="EEF4F5"/>
          </a:solidFill>
          <a:ln w="12700">
            <a:solidFill>
              <a:srgbClr val="EEF4F5"/>
            </a:solidFill>
            <a:prstDash val="solid"/>
          </a:ln>
        </p:spPr>
      </p:sp>
      <p:sp>
        <p:nvSpPr>
          <p:cNvPr id="21" name="Text 16"/>
          <p:cNvSpPr txBox="1"/>
          <p:nvPr/>
        </p:nvSpPr>
        <p:spPr>
          <a:xfrm>
            <a:off x="8310677" y="4361688"/>
            <a:ext cx="3149498" cy="329184"/>
          </a:xfrm>
          <a:prstGeom prst="rect">
            <a:avLst/>
          </a:prstGeom>
          <a:noFill/>
          <a:ln/>
        </p:spPr>
        <p:txBody>
          <a:bodyPr wrap="square" lIns="0" tIns="0" rIns="0" bIns="0" rtlCol="0" anchor="t"/>
          <a:lstStyle/>
          <a:p>
            <a:pPr indent="0" marL="0">
              <a:buNone/>
            </a:pPr>
            <a:r>
              <a:rPr lang="en-AU" sz="1450" b="1" dirty="0">
                <a:solidFill>
                  <a:srgbClr val="0E3B43"/>
                </a:solidFill>
                <a:latin typeface="Calibri" pitchFamily="34" charset="0"/>
                <a:ea typeface="Calibri" pitchFamily="34" charset="-122"/>
                <a:cs typeface="Calibri" pitchFamily="34" charset="-120"/>
              </a:rPr>
              <a:t>v2 deployed, v3 current</a:t>
            </a:r>
            <a:endParaRPr lang="en-AU" sz="1450" dirty="0"/>
          </a:p>
        </p:txBody>
      </p:sp>
      <p:sp>
        <p:nvSpPr>
          <p:cNvPr id="22" name="Text 17"/>
          <p:cNvSpPr txBox="1"/>
          <p:nvPr/>
        </p:nvSpPr>
        <p:spPr>
          <a:xfrm>
            <a:off x="8310677" y="4709160"/>
            <a:ext cx="3149498" cy="914400"/>
          </a:xfrm>
          <a:prstGeom prst="rect">
            <a:avLst/>
          </a:prstGeom>
          <a:noFill/>
          <a:ln/>
        </p:spPr>
        <p:txBody>
          <a:bodyPr wrap="square" lIns="0" tIns="0" rIns="0" bIns="0" rtlCol="0" anchor="t"/>
          <a:lstStyle/>
          <a:p>
            <a:pPr indent="0" marL="0">
              <a:buNone/>
            </a:pPr>
            <a:r>
              <a:rPr lang="en-AU" sz="1250" dirty="0">
                <a:solidFill>
                  <a:srgbClr val="1C2B31"/>
                </a:solidFill>
                <a:latin typeface="Calibri" pitchFamily="34" charset="0"/>
                <a:ea typeface="Calibri" pitchFamily="34" charset="-122"/>
                <a:cs typeface="Calibri" pitchFamily="34" charset="-120"/>
              </a:rPr>
              <a:t>Evidence recorded with ConsentSBTv2; ConsentSBTv3 is the current source and is exercised by test T5</a:t>
            </a:r>
            <a:endParaRPr lang="en-AU" sz="1250" dirty="0"/>
          </a:p>
        </p:txBody>
      </p:sp>
      <p:sp>
        <p:nvSpPr>
          <p:cNvPr id="23" name="Text 18"/>
          <p:cNvSpPr txBox="1"/>
          <p:nvPr/>
        </p:nvSpPr>
        <p:spPr>
          <a:xfrm>
            <a:off x="548640" y="5806440"/>
            <a:ext cx="11094415" cy="457200"/>
          </a:xfrm>
          <a:prstGeom prst="rect">
            <a:avLst/>
          </a:prstGeom>
          <a:noFill/>
          <a:ln/>
        </p:spPr>
        <p:txBody>
          <a:bodyPr wrap="square" lIns="0" tIns="0" rIns="0" bIns="0" rtlCol="0" anchor="ctr"/>
          <a:lstStyle/>
          <a:p>
            <a:pPr indent="0" marL="0">
              <a:buNone/>
            </a:pPr>
            <a:r>
              <a:rPr lang="en-AU" sz="1300" i="1" dirty="0">
                <a:solidFill>
                  <a:srgbClr val="0B5560"/>
                </a:solidFill>
                <a:latin typeface="Calibri" pitchFamily="34" charset="0"/>
                <a:ea typeface="Calibri" pitchFamily="34" charset="-122"/>
                <a:cs typeface="Calibri" pitchFamily="34" charset="-120"/>
              </a:rPr>
              <a:t>The tokens show on-chain anchoring and the DID-to-address binding; Sepolia is a public testnet, not a production network (Section 7.13)</a:t>
            </a:r>
            <a:endParaRPr lang="en-AU"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Implementation status and limitations</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Figures 7.1–7.5 come from the first version; the current version is v1.1 (Section 7.13)</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37 / 43</a:t>
            </a:r>
            <a:endParaRPr lang="en-AU" sz="1000" dirty="0"/>
          </a:p>
        </p:txBody>
      </p:sp>
      <p:sp>
        <p:nvSpPr>
          <p:cNvPr id="7" name="Text 4"/>
          <p:cNvSpPr txBox="1"/>
          <p:nvPr/>
        </p:nvSpPr>
        <p:spPr>
          <a:xfrm>
            <a:off x="548640" y="1645920"/>
            <a:ext cx="11094415" cy="566928"/>
          </a:xfrm>
          <a:prstGeom prst="rect">
            <a:avLst/>
          </a:prstGeom>
          <a:noFill/>
          <a:ln/>
        </p:spPr>
        <p:txBody>
          <a:bodyPr wrap="square" lIns="0" tIns="0" rIns="0" bIns="0" rtlCol="0" anchor="t"/>
          <a:lstStyle/>
          <a:p>
            <a:pPr indent="0" marL="0">
              <a:buNone/>
            </a:pPr>
            <a:r>
              <a:rPr lang="en-AU" sz="1500" dirty="0">
                <a:solidFill>
                  <a:srgbClr val="1C2B31"/>
                </a:solidFill>
                <a:latin typeface="Calibri" pitchFamily="34" charset="0"/>
                <a:ea typeface="Calibri" pitchFamily="34" charset="-122"/>
                <a:cs typeface="Calibri" pitchFamily="34" charset="-120"/>
              </a:rPr>
              <a:t>v1.1 records EIP-712 guardian approvals, reports on-chain anchoring per event and labels the data-access proof a placeholder unless the ZK circuit is built.</a:t>
            </a:r>
            <a:endParaRPr lang="en-AU" sz="1500" dirty="0"/>
          </a:p>
        </p:txBody>
      </p:sp>
      <p:sp>
        <p:nvSpPr>
          <p:cNvPr id="8" name="Shape 5"/>
          <p:cNvSpPr/>
          <p:nvPr/>
        </p:nvSpPr>
        <p:spPr>
          <a:xfrm>
            <a:off x="548640" y="2377440"/>
            <a:ext cx="3515258" cy="1783080"/>
          </a:xfrm>
          <a:prstGeom prst="roundRect">
            <a:avLst>
              <a:gd name="adj" fmla="val 5128"/>
            </a:avLst>
          </a:prstGeom>
          <a:solidFill>
            <a:srgbClr val="EEF4F5"/>
          </a:solidFill>
          <a:ln w="12700">
            <a:solidFill>
              <a:srgbClr val="EEF4F5"/>
            </a:solidFill>
            <a:prstDash val="solid"/>
          </a:ln>
        </p:spPr>
      </p:sp>
      <p:sp>
        <p:nvSpPr>
          <p:cNvPr id="9" name="Shape 6"/>
          <p:cNvSpPr/>
          <p:nvPr/>
        </p:nvSpPr>
        <p:spPr>
          <a:xfrm>
            <a:off x="749808" y="2606040"/>
            <a:ext cx="512064" cy="512064"/>
          </a:xfrm>
          <a:prstGeom prst="ellipse">
            <a:avLst/>
          </a:prstGeom>
          <a:solidFill>
            <a:srgbClr val="13707B"/>
          </a:solidFill>
          <a:ln w="12700">
            <a:solidFill>
              <a:srgbClr val="13707B"/>
            </a:solidFill>
            <a:prstDash val="solid"/>
          </a:ln>
        </p:spPr>
      </p:sp>
      <p:pic>
        <p:nvPicPr>
          <p:cNvPr id="10" name="Image 0" descr="preencoded.png">    </p:cNvPr>
          <p:cNvPicPr>
            <a:picLocks noChangeAspect="1"/>
          </p:cNvPicPr>
          <p:nvPr/>
        </p:nvPicPr>
        <p:blipFill>
          <a:blip r:embed="rId1"/>
          <a:stretch>
            <a:fillRect/>
          </a:stretch>
        </p:blipFill>
        <p:spPr>
          <a:xfrm>
            <a:off x="872703" y="2728935"/>
            <a:ext cx="266273" cy="266273"/>
          </a:xfrm>
          <a:prstGeom prst="rect">
            <a:avLst/>
          </a:prstGeom>
        </p:spPr>
      </p:pic>
      <p:sp>
        <p:nvSpPr>
          <p:cNvPr id="11" name="Text 7"/>
          <p:cNvSpPr txBox="1"/>
          <p:nvPr/>
        </p:nvSpPr>
        <p:spPr>
          <a:xfrm>
            <a:off x="1389888" y="25603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Identity evidence</a:t>
            </a:r>
            <a:endParaRPr lang="en-AU" sz="1600" dirty="0"/>
          </a:p>
        </p:txBody>
      </p:sp>
      <p:sp>
        <p:nvSpPr>
          <p:cNvPr id="12" name="Text 8"/>
          <p:cNvSpPr txBox="1"/>
          <p:nvPr/>
        </p:nvSpPr>
        <p:spPr>
          <a:xfrm>
            <a:off x="749808" y="32918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Guardian keys derived from the DID for demonstration; DID check is syntactic; no W3C VC yet (CA3)</a:t>
            </a:r>
            <a:endParaRPr lang="en-AU" sz="1350" dirty="0"/>
          </a:p>
        </p:txBody>
      </p:sp>
      <p:sp>
        <p:nvSpPr>
          <p:cNvPr id="13" name="Shape 9"/>
          <p:cNvSpPr/>
          <p:nvPr/>
        </p:nvSpPr>
        <p:spPr>
          <a:xfrm>
            <a:off x="4338218" y="2377440"/>
            <a:ext cx="3515258" cy="1783080"/>
          </a:xfrm>
          <a:prstGeom prst="roundRect">
            <a:avLst>
              <a:gd name="adj" fmla="val 5128"/>
            </a:avLst>
          </a:prstGeom>
          <a:solidFill>
            <a:srgbClr val="EEF4F5"/>
          </a:solidFill>
          <a:ln w="12700">
            <a:solidFill>
              <a:srgbClr val="EEF4F5"/>
            </a:solidFill>
            <a:prstDash val="solid"/>
          </a:ln>
        </p:spPr>
      </p:sp>
      <p:sp>
        <p:nvSpPr>
          <p:cNvPr id="14" name="Shape 10"/>
          <p:cNvSpPr/>
          <p:nvPr/>
        </p:nvSpPr>
        <p:spPr>
          <a:xfrm>
            <a:off x="4539386" y="2606040"/>
            <a:ext cx="512064" cy="512064"/>
          </a:xfrm>
          <a:prstGeom prst="ellipse">
            <a:avLst/>
          </a:prstGeom>
          <a:solidFill>
            <a:srgbClr val="13707B"/>
          </a:solidFill>
          <a:ln w="12700">
            <a:solidFill>
              <a:srgbClr val="13707B"/>
            </a:solidFill>
            <a:prstDash val="solid"/>
          </a:ln>
        </p:spPr>
      </p:sp>
      <p:pic>
        <p:nvPicPr>
          <p:cNvPr id="15" name="Image 1" descr="preencoded.png">    </p:cNvPr>
          <p:cNvPicPr>
            <a:picLocks noChangeAspect="1"/>
          </p:cNvPicPr>
          <p:nvPr/>
        </p:nvPicPr>
        <p:blipFill>
          <a:blip r:embed="rId2"/>
          <a:stretch>
            <a:fillRect/>
          </a:stretch>
        </p:blipFill>
        <p:spPr>
          <a:xfrm>
            <a:off x="4662282" y="2728935"/>
            <a:ext cx="266273" cy="266273"/>
          </a:xfrm>
          <a:prstGeom prst="rect">
            <a:avLst/>
          </a:prstGeom>
        </p:spPr>
      </p:pic>
      <p:sp>
        <p:nvSpPr>
          <p:cNvPr id="16" name="Text 11"/>
          <p:cNvSpPr txBox="1"/>
          <p:nvPr/>
        </p:nvSpPr>
        <p:spPr>
          <a:xfrm>
            <a:off x="5179466" y="25603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Fixed threshold</a:t>
            </a:r>
            <a:endParaRPr lang="en-AU" sz="1600" dirty="0"/>
          </a:p>
        </p:txBody>
      </p:sp>
      <p:sp>
        <p:nvSpPr>
          <p:cNvPr id="17" name="Text 12"/>
          <p:cNvSpPr txBox="1"/>
          <p:nvPr/>
        </p:nvSpPr>
        <p:spPr>
          <a:xfrm>
            <a:off x="4539386" y="32918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N = |G|, so all designated guardians must approve; configurable k-of-n thresholds are not yet supported</a:t>
            </a:r>
            <a:endParaRPr lang="en-AU" sz="1350" dirty="0"/>
          </a:p>
        </p:txBody>
      </p:sp>
      <p:sp>
        <p:nvSpPr>
          <p:cNvPr id="18" name="Shape 13"/>
          <p:cNvSpPr/>
          <p:nvPr/>
        </p:nvSpPr>
        <p:spPr>
          <a:xfrm>
            <a:off x="8127797" y="2377440"/>
            <a:ext cx="3515258" cy="1783080"/>
          </a:xfrm>
          <a:prstGeom prst="roundRect">
            <a:avLst>
              <a:gd name="adj" fmla="val 5128"/>
            </a:avLst>
          </a:prstGeom>
          <a:solidFill>
            <a:srgbClr val="EEF4F5"/>
          </a:solidFill>
          <a:ln w="12700">
            <a:solidFill>
              <a:srgbClr val="EEF4F5"/>
            </a:solidFill>
            <a:prstDash val="solid"/>
          </a:ln>
        </p:spPr>
      </p:sp>
      <p:sp>
        <p:nvSpPr>
          <p:cNvPr id="19" name="Shape 14"/>
          <p:cNvSpPr/>
          <p:nvPr/>
        </p:nvSpPr>
        <p:spPr>
          <a:xfrm>
            <a:off x="8328965" y="2606040"/>
            <a:ext cx="512064" cy="512064"/>
          </a:xfrm>
          <a:prstGeom prst="ellipse">
            <a:avLst/>
          </a:prstGeom>
          <a:solidFill>
            <a:srgbClr val="13707B"/>
          </a:solidFill>
          <a:ln w="12700">
            <a:solidFill>
              <a:srgbClr val="13707B"/>
            </a:solidFill>
            <a:prstDash val="solid"/>
          </a:ln>
        </p:spPr>
      </p:sp>
      <p:pic>
        <p:nvPicPr>
          <p:cNvPr id="20" name="Image 2" descr="preencoded.png">    </p:cNvPr>
          <p:cNvPicPr>
            <a:picLocks noChangeAspect="1"/>
          </p:cNvPicPr>
          <p:nvPr/>
        </p:nvPicPr>
        <p:blipFill>
          <a:blip r:embed="rId3"/>
          <a:stretch>
            <a:fillRect/>
          </a:stretch>
        </p:blipFill>
        <p:spPr>
          <a:xfrm>
            <a:off x="8451860" y="2728935"/>
            <a:ext cx="266273" cy="266273"/>
          </a:xfrm>
          <a:prstGeom prst="rect">
            <a:avLst/>
          </a:prstGeom>
        </p:spPr>
      </p:pic>
      <p:sp>
        <p:nvSpPr>
          <p:cNvPr id="21" name="Text 15"/>
          <p:cNvSpPr txBox="1"/>
          <p:nvPr/>
        </p:nvSpPr>
        <p:spPr>
          <a:xfrm>
            <a:off x="8969045" y="25603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Purpose and release gate</a:t>
            </a:r>
            <a:endParaRPr lang="en-AU" sz="1600" dirty="0"/>
          </a:p>
        </p:txBody>
      </p:sp>
      <p:sp>
        <p:nvSpPr>
          <p:cNvPr id="22" name="Text 16"/>
          <p:cNvSpPr txBox="1"/>
          <p:nvPr/>
        </p:nvSpPr>
        <p:spPr>
          <a:xfrm>
            <a:off x="8328965" y="32918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Fixed purpose list; per-request binding in CA3; release gated by state, proof and scope, not the full decision matrix</a:t>
            </a:r>
            <a:endParaRPr lang="en-AU" sz="1350" dirty="0"/>
          </a:p>
        </p:txBody>
      </p:sp>
      <p:sp>
        <p:nvSpPr>
          <p:cNvPr id="23" name="Shape 17"/>
          <p:cNvSpPr/>
          <p:nvPr/>
        </p:nvSpPr>
        <p:spPr>
          <a:xfrm>
            <a:off x="548640" y="4434840"/>
            <a:ext cx="3515258" cy="1783080"/>
          </a:xfrm>
          <a:prstGeom prst="roundRect">
            <a:avLst>
              <a:gd name="adj" fmla="val 5128"/>
            </a:avLst>
          </a:prstGeom>
          <a:solidFill>
            <a:srgbClr val="EEF4F5"/>
          </a:solidFill>
          <a:ln w="12700">
            <a:solidFill>
              <a:srgbClr val="EEF4F5"/>
            </a:solidFill>
            <a:prstDash val="solid"/>
          </a:ln>
        </p:spPr>
      </p:sp>
      <p:sp>
        <p:nvSpPr>
          <p:cNvPr id="24" name="Shape 18"/>
          <p:cNvSpPr/>
          <p:nvPr/>
        </p:nvSpPr>
        <p:spPr>
          <a:xfrm>
            <a:off x="749808" y="4663440"/>
            <a:ext cx="512064" cy="512064"/>
          </a:xfrm>
          <a:prstGeom prst="ellipse">
            <a:avLst/>
          </a:prstGeom>
          <a:solidFill>
            <a:srgbClr val="13707B"/>
          </a:solidFill>
          <a:ln w="12700">
            <a:solidFill>
              <a:srgbClr val="13707B"/>
            </a:solidFill>
            <a:prstDash val="solid"/>
          </a:ln>
        </p:spPr>
      </p:sp>
      <p:pic>
        <p:nvPicPr>
          <p:cNvPr id="25" name="Image 3" descr="preencoded.png">    </p:cNvPr>
          <p:cNvPicPr>
            <a:picLocks noChangeAspect="1"/>
          </p:cNvPicPr>
          <p:nvPr/>
        </p:nvPicPr>
        <p:blipFill>
          <a:blip r:embed="rId4"/>
          <a:stretch>
            <a:fillRect/>
          </a:stretch>
        </p:blipFill>
        <p:spPr>
          <a:xfrm>
            <a:off x="872703" y="4786335"/>
            <a:ext cx="266273" cy="266273"/>
          </a:xfrm>
          <a:prstGeom prst="rect">
            <a:avLst/>
          </a:prstGeom>
        </p:spPr>
      </p:pic>
      <p:sp>
        <p:nvSpPr>
          <p:cNvPr id="26" name="Text 19"/>
          <p:cNvSpPr txBox="1"/>
          <p:nvPr/>
        </p:nvSpPr>
        <p:spPr>
          <a:xfrm>
            <a:off x="1389888" y="46177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Synthetic data, testnet</a:t>
            </a:r>
            <a:endParaRPr lang="en-AU" sz="1600" dirty="0"/>
          </a:p>
        </p:txBody>
      </p:sp>
      <p:sp>
        <p:nvSpPr>
          <p:cNvPr id="27" name="Text 20"/>
          <p:cNvSpPr txBox="1"/>
          <p:nvPr/>
        </p:nvSpPr>
        <p:spPr>
          <a:xfrm>
            <a:off x="749808" y="53492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Healthcare data are synthetic (Synthea); the blockchain is a public testnet, not a production network</a:t>
            </a:r>
            <a:endParaRPr lang="en-AU" sz="1350" dirty="0"/>
          </a:p>
        </p:txBody>
      </p:sp>
      <p:sp>
        <p:nvSpPr>
          <p:cNvPr id="28" name="Shape 21"/>
          <p:cNvSpPr/>
          <p:nvPr/>
        </p:nvSpPr>
        <p:spPr>
          <a:xfrm>
            <a:off x="4338218" y="4434840"/>
            <a:ext cx="3515258" cy="1783080"/>
          </a:xfrm>
          <a:prstGeom prst="roundRect">
            <a:avLst>
              <a:gd name="adj" fmla="val 5128"/>
            </a:avLst>
          </a:prstGeom>
          <a:solidFill>
            <a:srgbClr val="EEF4F5"/>
          </a:solidFill>
          <a:ln w="12700">
            <a:solidFill>
              <a:srgbClr val="EEF4F5"/>
            </a:solidFill>
            <a:prstDash val="solid"/>
          </a:ln>
        </p:spPr>
      </p:sp>
      <p:sp>
        <p:nvSpPr>
          <p:cNvPr id="29" name="Shape 22"/>
          <p:cNvSpPr/>
          <p:nvPr/>
        </p:nvSpPr>
        <p:spPr>
          <a:xfrm>
            <a:off x="4539386" y="4663440"/>
            <a:ext cx="512064" cy="512064"/>
          </a:xfrm>
          <a:prstGeom prst="ellipse">
            <a:avLst/>
          </a:prstGeom>
          <a:solidFill>
            <a:srgbClr val="13707B"/>
          </a:solidFill>
          <a:ln w="12700">
            <a:solidFill>
              <a:srgbClr val="13707B"/>
            </a:solidFill>
            <a:prstDash val="solid"/>
          </a:ln>
        </p:spPr>
      </p:sp>
      <p:pic>
        <p:nvPicPr>
          <p:cNvPr id="30" name="Image 4" descr="preencoded.png">    </p:cNvPr>
          <p:cNvPicPr>
            <a:picLocks noChangeAspect="1"/>
          </p:cNvPicPr>
          <p:nvPr/>
        </p:nvPicPr>
        <p:blipFill>
          <a:blip r:embed="rId5"/>
          <a:stretch>
            <a:fillRect/>
          </a:stretch>
        </p:blipFill>
        <p:spPr>
          <a:xfrm>
            <a:off x="4662282" y="4786335"/>
            <a:ext cx="266273" cy="266273"/>
          </a:xfrm>
          <a:prstGeom prst="rect">
            <a:avLst/>
          </a:prstGeom>
        </p:spPr>
      </p:pic>
      <p:sp>
        <p:nvSpPr>
          <p:cNvPr id="31" name="Text 23"/>
          <p:cNvSpPr txBox="1"/>
          <p:nvPr/>
        </p:nvSpPr>
        <p:spPr>
          <a:xfrm>
            <a:off x="5179466" y="46177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Zero-knowledge proof</a:t>
            </a:r>
            <a:endParaRPr lang="en-AU" sz="1600" dirty="0"/>
          </a:p>
        </p:txBody>
      </p:sp>
      <p:sp>
        <p:nvSpPr>
          <p:cNvPr id="32" name="Text 24"/>
          <p:cNvSpPr txBox="1"/>
          <p:nvPr/>
        </p:nvSpPr>
        <p:spPr>
          <a:xfrm>
            <a:off x="4539386" y="53492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Groth16 circuit covers consent validity only; development-only trusted setup; not built for the test run (T9 skipped)</a:t>
            </a:r>
            <a:endParaRPr lang="en-AU" sz="1350" dirty="0"/>
          </a:p>
        </p:txBody>
      </p:sp>
      <p:sp>
        <p:nvSpPr>
          <p:cNvPr id="33" name="Shape 25"/>
          <p:cNvSpPr/>
          <p:nvPr/>
        </p:nvSpPr>
        <p:spPr>
          <a:xfrm>
            <a:off x="8127797" y="4434840"/>
            <a:ext cx="3515258" cy="1783080"/>
          </a:xfrm>
          <a:prstGeom prst="roundRect">
            <a:avLst>
              <a:gd name="adj" fmla="val 5128"/>
            </a:avLst>
          </a:prstGeom>
          <a:solidFill>
            <a:srgbClr val="EEF4F5"/>
          </a:solidFill>
          <a:ln w="12700">
            <a:solidFill>
              <a:srgbClr val="EEF4F5"/>
            </a:solidFill>
            <a:prstDash val="solid"/>
          </a:ln>
        </p:spPr>
      </p:sp>
      <p:sp>
        <p:nvSpPr>
          <p:cNvPr id="34" name="Shape 26"/>
          <p:cNvSpPr/>
          <p:nvPr/>
        </p:nvSpPr>
        <p:spPr>
          <a:xfrm>
            <a:off x="8328965" y="4663440"/>
            <a:ext cx="512064" cy="512064"/>
          </a:xfrm>
          <a:prstGeom prst="ellipse">
            <a:avLst/>
          </a:prstGeom>
          <a:solidFill>
            <a:srgbClr val="13707B"/>
          </a:solidFill>
          <a:ln w="12700">
            <a:solidFill>
              <a:srgbClr val="13707B"/>
            </a:solidFill>
            <a:prstDash val="solid"/>
          </a:ln>
        </p:spPr>
      </p:sp>
      <p:pic>
        <p:nvPicPr>
          <p:cNvPr id="35" name="Image 5" descr="preencoded.png">    </p:cNvPr>
          <p:cNvPicPr>
            <a:picLocks noChangeAspect="1"/>
          </p:cNvPicPr>
          <p:nvPr/>
        </p:nvPicPr>
        <p:blipFill>
          <a:blip r:embed="rId6"/>
          <a:stretch>
            <a:fillRect/>
          </a:stretch>
        </p:blipFill>
        <p:spPr>
          <a:xfrm>
            <a:off x="8451860" y="4786335"/>
            <a:ext cx="266273" cy="266273"/>
          </a:xfrm>
          <a:prstGeom prst="rect">
            <a:avLst/>
          </a:prstGeom>
        </p:spPr>
      </p:pic>
      <p:sp>
        <p:nvSpPr>
          <p:cNvPr id="36" name="Text 27"/>
          <p:cNvSpPr txBox="1"/>
          <p:nvPr/>
        </p:nvSpPr>
        <p:spPr>
          <a:xfrm>
            <a:off x="8969045" y="4617720"/>
            <a:ext cx="2491130" cy="603504"/>
          </a:xfrm>
          <a:prstGeom prst="rect">
            <a:avLst/>
          </a:prstGeom>
          <a:noFill/>
          <a:ln/>
        </p:spPr>
        <p:txBody>
          <a:bodyPr wrap="square" lIns="0" tIns="0" rIns="0" bIns="0" rtlCol="0" anchor="ctr"/>
          <a:lstStyle/>
          <a:p>
            <a:pPr indent="0" marL="0">
              <a:buNone/>
            </a:pPr>
            <a:r>
              <a:rPr lang="en-AU" sz="1600" b="1" dirty="0">
                <a:solidFill>
                  <a:srgbClr val="0E3B43"/>
                </a:solidFill>
                <a:latin typeface="Calibri" pitchFamily="34" charset="0"/>
                <a:ea typeface="Calibri" pitchFamily="34" charset="-122"/>
                <a:cs typeface="Calibri" pitchFamily="34" charset="-120"/>
              </a:rPr>
              <a:t>Functional evaluation</a:t>
            </a:r>
            <a:endParaRPr lang="en-AU" sz="1600" dirty="0"/>
          </a:p>
        </p:txBody>
      </p:sp>
      <p:sp>
        <p:nvSpPr>
          <p:cNvPr id="37" name="Text 28"/>
          <p:cNvSpPr txBox="1"/>
          <p:nvPr/>
        </p:nvSpPr>
        <p:spPr>
          <a:xfrm>
            <a:off x="8328965" y="5349240"/>
            <a:ext cx="3112922" cy="777240"/>
          </a:xfrm>
          <a:prstGeom prst="rect">
            <a:avLst/>
          </a:prstGeom>
          <a:noFill/>
          <a:ln/>
        </p:spPr>
        <p:txBody>
          <a:bodyPr wrap="square" lIns="0" tIns="0" rIns="0" bIns="0" rtlCol="0" anchor="t"/>
          <a:lstStyle/>
          <a:p>
            <a:pPr indent="0" marL="0">
              <a:buNone/>
            </a:pPr>
            <a:r>
              <a:rPr lang="en-AU" sz="1350" dirty="0">
                <a:solidFill>
                  <a:srgbClr val="1C2B31"/>
                </a:solidFill>
                <a:latin typeface="Calibri" pitchFamily="34" charset="0"/>
                <a:ea typeface="Calibri" pitchFamily="34" charset="-122"/>
                <a:cs typeface="Calibri" pitchFamily="34" charset="-120"/>
              </a:rPr>
              <a:t>18 automated tests to date; performance and adversarial measurements are CA3 work</a:t>
            </a:r>
            <a:endParaRPr lang="en-AU"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3B43"/>
        </a:solidFill>
      </p:bgPr>
    </p:bg>
    <p:spTree>
      <p:nvGrpSpPr>
        <p:cNvPr id="1" name=""/>
        <p:cNvGrpSpPr/>
        <p:nvPr/>
      </p:nvGrpSpPr>
      <p:grpSpPr>
        <a:xfrm>
          <a:off x="0" y="0"/>
          <a:ext cx="0" cy="0"/>
          <a:chOff x="0" y="0"/>
          <a:chExt cx="0" cy="0"/>
        </a:xfrm>
      </p:grpSpPr>
      <p:sp>
        <p:nvSpPr>
          <p:cNvPr id="3" name="Shape 0"/>
          <p:cNvSpPr/>
          <p:nvPr/>
        </p:nvSpPr>
        <p:spPr>
          <a:xfrm>
            <a:off x="1005840" y="1737360"/>
            <a:ext cx="3108960" cy="3108960"/>
          </a:xfrm>
          <a:prstGeom prst="ellipse">
            <a:avLst/>
          </a:prstGeom>
          <a:solidFill>
            <a:srgbClr val="0E3B43"/>
          </a:solidFill>
          <a:ln w="38100">
            <a:solidFill>
              <a:srgbClr val="D4A12A"/>
            </a:solidFill>
            <a:prstDash val="solid"/>
          </a:ln>
        </p:spPr>
      </p:sp>
      <p:sp>
        <p:nvSpPr>
          <p:cNvPr id="4" name="Text 1"/>
          <p:cNvSpPr txBox="1"/>
          <p:nvPr/>
        </p:nvSpPr>
        <p:spPr>
          <a:xfrm>
            <a:off x="1005840" y="1737360"/>
            <a:ext cx="3108960" cy="3108960"/>
          </a:xfrm>
          <a:prstGeom prst="rect">
            <a:avLst/>
          </a:prstGeom>
          <a:noFill/>
          <a:ln/>
        </p:spPr>
        <p:txBody>
          <a:bodyPr wrap="square" lIns="0" tIns="0" rIns="0" bIns="0" rtlCol="0" anchor="ctr"/>
          <a:lstStyle/>
          <a:p>
            <a:pPr algn="ctr" indent="0" marL="0">
              <a:buNone/>
            </a:pPr>
            <a:r>
              <a:rPr lang="en-AU" sz="12000" b="1" dirty="0">
                <a:solidFill>
                  <a:srgbClr val="D4A12A"/>
                </a:solidFill>
                <a:latin typeface="Cambria" pitchFamily="34" charset="0"/>
                <a:ea typeface="Cambria" pitchFamily="34" charset="-122"/>
                <a:cs typeface="Cambria" pitchFamily="34" charset="-120"/>
              </a:rPr>
              <a:t>E</a:t>
            </a:r>
            <a:endParaRPr lang="en-AU" sz="12000" dirty="0"/>
          </a:p>
        </p:txBody>
      </p:sp>
      <p:sp>
        <p:nvSpPr>
          <p:cNvPr id="5" name="Text 2"/>
          <p:cNvSpPr txBox="1"/>
          <p:nvPr/>
        </p:nvSpPr>
        <p:spPr>
          <a:xfrm>
            <a:off x="4846320" y="2347468"/>
            <a:ext cx="6766560" cy="365760"/>
          </a:xfrm>
          <a:prstGeom prst="rect">
            <a:avLst/>
          </a:prstGeom>
          <a:noFill/>
          <a:ln/>
        </p:spPr>
        <p:txBody>
          <a:bodyPr wrap="square" lIns="0" tIns="0" rIns="0" bIns="0" rtlCol="0" anchor="ctr"/>
          <a:lstStyle/>
          <a:p>
            <a:pPr indent="0" marL="0">
              <a:buNone/>
            </a:pPr>
            <a:r>
              <a:rPr lang="en-AU" sz="1400" b="1" spc="200" kern="0" dirty="0">
                <a:solidFill>
                  <a:srgbClr val="D4A12A"/>
                </a:solidFill>
                <a:latin typeface="Calibri" pitchFamily="34" charset="0"/>
                <a:ea typeface="Calibri" pitchFamily="34" charset="-122"/>
                <a:cs typeface="Calibri" pitchFamily="34" charset="-120"/>
              </a:rPr>
              <a:t>PART E  ·  CHAPTERS 8–10</a:t>
            </a:r>
            <a:endParaRPr lang="en-AU" sz="1400" dirty="0"/>
          </a:p>
        </p:txBody>
      </p:sp>
      <p:sp>
        <p:nvSpPr>
          <p:cNvPr id="6" name="Text 3"/>
          <p:cNvSpPr txBox="1"/>
          <p:nvPr/>
        </p:nvSpPr>
        <p:spPr>
          <a:xfrm>
            <a:off x="4846320" y="2822956"/>
            <a:ext cx="6766560" cy="645160"/>
          </a:xfrm>
          <a:prstGeom prst="rect">
            <a:avLst/>
          </a:prstGeom>
          <a:noFill/>
          <a:ln/>
        </p:spPr>
        <p:txBody>
          <a:bodyPr wrap="square" lIns="0" tIns="0" rIns="0" bIns="0" rtlCol="0" anchor="t"/>
          <a:lstStyle/>
          <a:p>
            <a:pPr indent="0" marL="0">
              <a:buNone/>
            </a:pPr>
            <a:r>
              <a:rPr lang="en-AU" sz="4000" b="1" dirty="0">
                <a:solidFill>
                  <a:srgbClr val="FFFFFF"/>
                </a:solidFill>
                <a:latin typeface="Cambria" pitchFamily="34" charset="0"/>
                <a:ea typeface="Cambria" pitchFamily="34" charset="-122"/>
                <a:cs typeface="Cambria" pitchFamily="34" charset="-120"/>
              </a:rPr>
              <a:t>Progress and research plan</a:t>
            </a:r>
            <a:endParaRPr lang="en-AU" sz="4000" dirty="0"/>
          </a:p>
        </p:txBody>
      </p:sp>
      <p:sp>
        <p:nvSpPr>
          <p:cNvPr id="7" name="Text 4"/>
          <p:cNvSpPr txBox="1"/>
          <p:nvPr/>
        </p:nvSpPr>
        <p:spPr>
          <a:xfrm>
            <a:off x="4846320" y="3678428"/>
            <a:ext cx="6583680" cy="649224"/>
          </a:xfrm>
          <a:prstGeom prst="rect">
            <a:avLst/>
          </a:prstGeom>
          <a:noFill/>
          <a:ln/>
        </p:spPr>
        <p:txBody>
          <a:bodyPr wrap="square" lIns="0" tIns="0" rIns="0" bIns="0" rtlCol="0" anchor="t"/>
          <a:lstStyle/>
          <a:p>
            <a:pPr indent="0" marL="0">
              <a:buNone/>
            </a:pPr>
            <a:r>
              <a:rPr lang="en-AU" sz="1800" dirty="0">
                <a:solidFill>
                  <a:srgbClr val="CFE3E6"/>
                </a:solidFill>
                <a:latin typeface="Calibri" pitchFamily="34" charset="0"/>
                <a:ea typeface="Calibri" pitchFamily="34" charset="-122"/>
                <a:cs typeface="Calibri" pitchFamily="34" charset="-120"/>
              </a:rPr>
              <a:t>Where each objective stands, the publication plan and the next-stage (CA3) work on RO5 and RO6</a:t>
            </a:r>
            <a:endParaRPr lang="en-AU" sz="1800" dirty="0"/>
          </a:p>
        </p:txBody>
      </p:sp>
      <p:sp>
        <p:nvSpPr>
          <p:cNvPr id="8" name="Text 5"/>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CFE3E6"/>
                </a:solidFill>
                <a:latin typeface="Calibri" pitchFamily="34" charset="0"/>
                <a:ea typeface="Calibri" pitchFamily="34" charset="-122"/>
                <a:cs typeface="Calibri" pitchFamily="34" charset="-120"/>
              </a:rPr>
              <a:t>38 / 43</a:t>
            </a:r>
            <a:endParaRPr lang="en-AU"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600" b="1" dirty="0">
                <a:solidFill>
                  <a:srgbClr val="0E3B43"/>
                </a:solidFill>
                <a:latin typeface="Cambria" pitchFamily="34" charset="0"/>
                <a:ea typeface="Cambria" pitchFamily="34" charset="-122"/>
                <a:cs typeface="Cambria" pitchFamily="34" charset="-120"/>
              </a:rPr>
              <a:t>RO1–RO4 completed at prototype level; RO5–RO6 partial</a:t>
            </a:r>
            <a:endParaRPr lang="en-AU" sz="26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Chapter 8: the status of each research objective and the evidence behind it</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39 / 43</a:t>
            </a:r>
            <a:endParaRPr lang="en-AU" sz="1000" dirty="0"/>
          </a:p>
        </p:txBody>
      </p:sp>
      <p:sp>
        <p:nvSpPr>
          <p:cNvPr id="7" name="Shape 4"/>
          <p:cNvSpPr/>
          <p:nvPr/>
        </p:nvSpPr>
        <p:spPr>
          <a:xfrm>
            <a:off x="548640" y="1645920"/>
            <a:ext cx="11094415" cy="662940"/>
          </a:xfrm>
          <a:prstGeom prst="roundRect">
            <a:avLst>
              <a:gd name="adj" fmla="val 8276"/>
            </a:avLst>
          </a:prstGeom>
          <a:solidFill>
            <a:srgbClr val="EEF4F5"/>
          </a:solidFill>
          <a:ln w="12700">
            <a:solidFill>
              <a:srgbClr val="EEF4F5"/>
            </a:solidFill>
            <a:prstDash val="solid"/>
          </a:ln>
        </p:spPr>
      </p:sp>
      <p:sp>
        <p:nvSpPr>
          <p:cNvPr id="8" name="Shape 5"/>
          <p:cNvSpPr/>
          <p:nvPr/>
        </p:nvSpPr>
        <p:spPr>
          <a:xfrm>
            <a:off x="713232" y="1721358"/>
            <a:ext cx="512064" cy="512064"/>
          </a:xfrm>
          <a:prstGeom prst="ellipse">
            <a:avLst/>
          </a:prstGeom>
          <a:solidFill>
            <a:srgbClr val="0E3B43"/>
          </a:solidFill>
          <a:ln w="12700">
            <a:solidFill>
              <a:srgbClr val="0E3B43"/>
            </a:solidFill>
            <a:prstDash val="solid"/>
          </a:ln>
        </p:spPr>
      </p:sp>
      <p:sp>
        <p:nvSpPr>
          <p:cNvPr id="9" name="Text 6"/>
          <p:cNvSpPr txBox="1"/>
          <p:nvPr/>
        </p:nvSpPr>
        <p:spPr>
          <a:xfrm>
            <a:off x="713232" y="1721358"/>
            <a:ext cx="512064" cy="512064"/>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RO1</a:t>
            </a:r>
            <a:endParaRPr lang="en-AU" sz="1200" dirty="0"/>
          </a:p>
        </p:txBody>
      </p:sp>
      <p:sp>
        <p:nvSpPr>
          <p:cNvPr id="10" name="Text 7"/>
          <p:cNvSpPr txBox="1"/>
          <p:nvPr/>
        </p:nvSpPr>
        <p:spPr>
          <a:xfrm>
            <a:off x="1417320" y="1645920"/>
            <a:ext cx="3063240" cy="662940"/>
          </a:xfrm>
          <a:prstGeom prst="rect">
            <a:avLst/>
          </a:prstGeom>
          <a:noFill/>
          <a:ln/>
        </p:spPr>
        <p:txBody>
          <a:bodyPr wrap="square" lIns="0" tIns="0" rIns="0" bIns="0" rtlCol="0" anchor="ctr"/>
          <a:lstStyle/>
          <a:p>
            <a:pPr indent="0" marL="0">
              <a:buNone/>
            </a:pPr>
            <a:r>
              <a:rPr lang="en-AU" sz="1450" b="1" dirty="0">
                <a:solidFill>
                  <a:srgbClr val="0E3B43"/>
                </a:solidFill>
                <a:latin typeface="Calibri" pitchFamily="34" charset="0"/>
                <a:ea typeface="Calibri" pitchFamily="34" charset="-122"/>
                <a:cs typeface="Calibri" pitchFamily="34" charset="-120"/>
              </a:rPr>
              <a:t>Trust-Centric Consent Model</a:t>
            </a:r>
            <a:endParaRPr lang="en-AU" sz="1450" dirty="0"/>
          </a:p>
        </p:txBody>
      </p:sp>
      <p:sp>
        <p:nvSpPr>
          <p:cNvPr id="11" name="Shape 8"/>
          <p:cNvSpPr/>
          <p:nvPr/>
        </p:nvSpPr>
        <p:spPr>
          <a:xfrm>
            <a:off x="4572000" y="1748790"/>
            <a:ext cx="2743200" cy="457200"/>
          </a:xfrm>
          <a:prstGeom prst="roundRect">
            <a:avLst>
              <a:gd name="adj" fmla="val 20000"/>
            </a:avLst>
          </a:prstGeom>
          <a:solidFill>
            <a:srgbClr val="13707B"/>
          </a:solidFill>
          <a:ln w="12700">
            <a:solidFill>
              <a:srgbClr val="13707B"/>
            </a:solidFill>
            <a:prstDash val="solid"/>
          </a:ln>
        </p:spPr>
      </p:sp>
      <p:sp>
        <p:nvSpPr>
          <p:cNvPr id="12" name="Text 9"/>
          <p:cNvSpPr txBox="1"/>
          <p:nvPr/>
        </p:nvSpPr>
        <p:spPr>
          <a:xfrm>
            <a:off x="4617720" y="1748790"/>
            <a:ext cx="2651760" cy="457200"/>
          </a:xfrm>
          <a:prstGeom prst="rect">
            <a:avLst/>
          </a:prstGeom>
          <a:noFill/>
          <a:ln/>
        </p:spPr>
        <p:txBody>
          <a:bodyPr wrap="square" lIns="0" tIns="0" rIns="0" bIns="0" rtlCol="0" anchor="ctr"/>
          <a:lstStyle/>
          <a:p>
            <a:pPr algn="ctr" indent="0" marL="0">
              <a:buNone/>
            </a:pPr>
            <a:r>
              <a:rPr lang="en-AU" sz="1150" b="1" dirty="0">
                <a:solidFill>
                  <a:srgbClr val="FFFFFF"/>
                </a:solidFill>
                <a:latin typeface="Calibri" pitchFamily="34" charset="0"/>
                <a:ea typeface="Calibri" pitchFamily="34" charset="-122"/>
                <a:cs typeface="Calibri" pitchFamily="34" charset="-120"/>
              </a:rPr>
              <a:t>Completed</a:t>
            </a:r>
            <a:endParaRPr lang="en-AU" sz="1150" dirty="0"/>
          </a:p>
        </p:txBody>
      </p:sp>
      <p:sp>
        <p:nvSpPr>
          <p:cNvPr id="13" name="Text 10"/>
          <p:cNvSpPr txBox="1"/>
          <p:nvPr/>
        </p:nvSpPr>
        <p:spPr>
          <a:xfrm>
            <a:off x="7498080" y="1645920"/>
            <a:ext cx="4007815" cy="662940"/>
          </a:xfrm>
          <a:prstGeom prst="rect">
            <a:avLst/>
          </a:prstGeom>
          <a:noFill/>
          <a:ln/>
        </p:spPr>
        <p:txBody>
          <a:bodyPr wrap="square" lIns="0" tIns="0" rIns="0" bIns="0" rtlCol="0" anchor="ctr"/>
          <a:lstStyle/>
          <a:p>
            <a:pPr indent="0" marL="0">
              <a:buNone/>
            </a:pPr>
            <a:r>
              <a:rPr lang="en-AU" sz="1250" dirty="0">
                <a:solidFill>
                  <a:srgbClr val="1C2B31"/>
                </a:solidFill>
                <a:latin typeface="Calibri" pitchFamily="34" charset="0"/>
                <a:ea typeface="Calibri" pitchFamily="34" charset="-122"/>
                <a:cs typeface="Calibri" pitchFamily="34" charset="-120"/>
              </a:rPr>
              <a:t>Consent as an evaluable object C = (I, A, P, E) (Eq. 7); HALAH uses C = (I, A, P, T, L, E)</a:t>
            </a:r>
            <a:endParaRPr lang="en-AU" sz="1250" dirty="0"/>
          </a:p>
        </p:txBody>
      </p:sp>
      <p:sp>
        <p:nvSpPr>
          <p:cNvPr id="14" name="Shape 11"/>
          <p:cNvSpPr/>
          <p:nvPr/>
        </p:nvSpPr>
        <p:spPr>
          <a:xfrm>
            <a:off x="548640" y="2418588"/>
            <a:ext cx="11094415" cy="662940"/>
          </a:xfrm>
          <a:prstGeom prst="roundRect">
            <a:avLst>
              <a:gd name="adj" fmla="val 8276"/>
            </a:avLst>
          </a:prstGeom>
          <a:solidFill>
            <a:srgbClr val="FFFFFF"/>
          </a:solidFill>
          <a:ln w="12700">
            <a:solidFill>
              <a:srgbClr val="EEF4F5"/>
            </a:solidFill>
            <a:prstDash val="solid"/>
          </a:ln>
        </p:spPr>
      </p:sp>
      <p:sp>
        <p:nvSpPr>
          <p:cNvPr id="15" name="Shape 12"/>
          <p:cNvSpPr/>
          <p:nvPr/>
        </p:nvSpPr>
        <p:spPr>
          <a:xfrm>
            <a:off x="713232" y="2494026"/>
            <a:ext cx="512064" cy="512064"/>
          </a:xfrm>
          <a:prstGeom prst="ellipse">
            <a:avLst/>
          </a:prstGeom>
          <a:solidFill>
            <a:srgbClr val="0E3B43"/>
          </a:solidFill>
          <a:ln w="12700">
            <a:solidFill>
              <a:srgbClr val="0E3B43"/>
            </a:solidFill>
            <a:prstDash val="solid"/>
          </a:ln>
        </p:spPr>
      </p:sp>
      <p:sp>
        <p:nvSpPr>
          <p:cNvPr id="16" name="Text 13"/>
          <p:cNvSpPr txBox="1"/>
          <p:nvPr/>
        </p:nvSpPr>
        <p:spPr>
          <a:xfrm>
            <a:off x="713232" y="2494026"/>
            <a:ext cx="512064" cy="512064"/>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RO2</a:t>
            </a:r>
            <a:endParaRPr lang="en-AU" sz="1200" dirty="0"/>
          </a:p>
        </p:txBody>
      </p:sp>
      <p:sp>
        <p:nvSpPr>
          <p:cNvPr id="17" name="Text 14"/>
          <p:cNvSpPr txBox="1"/>
          <p:nvPr/>
        </p:nvSpPr>
        <p:spPr>
          <a:xfrm>
            <a:off x="1417320" y="2418588"/>
            <a:ext cx="3063240" cy="662940"/>
          </a:xfrm>
          <a:prstGeom prst="rect">
            <a:avLst/>
          </a:prstGeom>
          <a:noFill/>
          <a:ln/>
        </p:spPr>
        <p:txBody>
          <a:bodyPr wrap="square" lIns="0" tIns="0" rIns="0" bIns="0" rtlCol="0" anchor="ctr"/>
          <a:lstStyle/>
          <a:p>
            <a:pPr indent="0" marL="0">
              <a:buNone/>
            </a:pPr>
            <a:r>
              <a:rPr lang="en-AU" sz="1450" b="1" dirty="0">
                <a:solidFill>
                  <a:srgbClr val="0E3B43"/>
                </a:solidFill>
                <a:latin typeface="Calibri" pitchFamily="34" charset="0"/>
                <a:ea typeface="Calibri" pitchFamily="34" charset="-122"/>
                <a:cs typeface="Calibri" pitchFamily="34" charset="-120"/>
              </a:rPr>
              <a:t>Decentralised Identity and Authority</a:t>
            </a:r>
            <a:endParaRPr lang="en-AU" sz="1450" dirty="0"/>
          </a:p>
        </p:txBody>
      </p:sp>
      <p:sp>
        <p:nvSpPr>
          <p:cNvPr id="18" name="Shape 15"/>
          <p:cNvSpPr/>
          <p:nvPr/>
        </p:nvSpPr>
        <p:spPr>
          <a:xfrm>
            <a:off x="4572000" y="2521458"/>
            <a:ext cx="2743200" cy="457200"/>
          </a:xfrm>
          <a:prstGeom prst="roundRect">
            <a:avLst>
              <a:gd name="adj" fmla="val 20000"/>
            </a:avLst>
          </a:prstGeom>
          <a:solidFill>
            <a:srgbClr val="13707B"/>
          </a:solidFill>
          <a:ln w="12700">
            <a:solidFill>
              <a:srgbClr val="13707B"/>
            </a:solidFill>
            <a:prstDash val="solid"/>
          </a:ln>
        </p:spPr>
      </p:sp>
      <p:sp>
        <p:nvSpPr>
          <p:cNvPr id="19" name="Text 16"/>
          <p:cNvSpPr txBox="1"/>
          <p:nvPr/>
        </p:nvSpPr>
        <p:spPr>
          <a:xfrm>
            <a:off x="4617720" y="2521458"/>
            <a:ext cx="2651760" cy="457200"/>
          </a:xfrm>
          <a:prstGeom prst="rect">
            <a:avLst/>
          </a:prstGeom>
          <a:noFill/>
          <a:ln/>
        </p:spPr>
        <p:txBody>
          <a:bodyPr wrap="square" lIns="0" tIns="0" rIns="0" bIns="0" rtlCol="0" anchor="ctr"/>
          <a:lstStyle/>
          <a:p>
            <a:pPr algn="ctr" indent="0" marL="0">
              <a:buNone/>
            </a:pPr>
            <a:r>
              <a:rPr lang="en-AU" sz="1150" b="1" dirty="0">
                <a:solidFill>
                  <a:srgbClr val="FFFFFF"/>
                </a:solidFill>
                <a:latin typeface="Calibri" pitchFamily="34" charset="0"/>
                <a:ea typeface="Calibri" pitchFamily="34" charset="-122"/>
                <a:cs typeface="Calibri" pitchFamily="34" charset="-120"/>
              </a:rPr>
              <a:t>Completed (prototype; W3C VC in CA3)</a:t>
            </a:r>
            <a:endParaRPr lang="en-AU" sz="1150" dirty="0"/>
          </a:p>
        </p:txBody>
      </p:sp>
      <p:sp>
        <p:nvSpPr>
          <p:cNvPr id="20" name="Text 17"/>
          <p:cNvSpPr txBox="1"/>
          <p:nvPr/>
        </p:nvSpPr>
        <p:spPr>
          <a:xfrm>
            <a:off x="7498080" y="2418588"/>
            <a:ext cx="4007815" cy="662940"/>
          </a:xfrm>
          <a:prstGeom prst="rect">
            <a:avLst/>
          </a:prstGeom>
          <a:noFill/>
          <a:ln/>
        </p:spPr>
        <p:txBody>
          <a:bodyPr wrap="square" lIns="0" tIns="0" rIns="0" bIns="0" rtlCol="0" anchor="ctr"/>
          <a:lstStyle/>
          <a:p>
            <a:pPr indent="0" marL="0">
              <a:buNone/>
            </a:pPr>
            <a:r>
              <a:rPr lang="en-AU" sz="1250" dirty="0">
                <a:solidFill>
                  <a:srgbClr val="1C2B31"/>
                </a:solidFill>
                <a:latin typeface="Calibri" pitchFamily="34" charset="0"/>
                <a:ea typeface="Calibri" pitchFamily="34" charset="-122"/>
                <a:cs typeface="Calibri" pitchFamily="34" charset="-120"/>
              </a:rPr>
              <a:t>Identity ≠ authorisation (Eq. 1); wrong guardian, consent ID or missing signature rejected (T1)</a:t>
            </a:r>
            <a:endParaRPr lang="en-AU" sz="1250" dirty="0"/>
          </a:p>
        </p:txBody>
      </p:sp>
      <p:sp>
        <p:nvSpPr>
          <p:cNvPr id="21" name="Shape 18"/>
          <p:cNvSpPr/>
          <p:nvPr/>
        </p:nvSpPr>
        <p:spPr>
          <a:xfrm>
            <a:off x="548640" y="3191256"/>
            <a:ext cx="11094415" cy="662940"/>
          </a:xfrm>
          <a:prstGeom prst="roundRect">
            <a:avLst>
              <a:gd name="adj" fmla="val 8276"/>
            </a:avLst>
          </a:prstGeom>
          <a:solidFill>
            <a:srgbClr val="EEF4F5"/>
          </a:solidFill>
          <a:ln w="12700">
            <a:solidFill>
              <a:srgbClr val="EEF4F5"/>
            </a:solidFill>
            <a:prstDash val="solid"/>
          </a:ln>
        </p:spPr>
      </p:sp>
      <p:sp>
        <p:nvSpPr>
          <p:cNvPr id="22" name="Shape 19"/>
          <p:cNvSpPr/>
          <p:nvPr/>
        </p:nvSpPr>
        <p:spPr>
          <a:xfrm>
            <a:off x="713232" y="3266694"/>
            <a:ext cx="512064" cy="512064"/>
          </a:xfrm>
          <a:prstGeom prst="ellipse">
            <a:avLst/>
          </a:prstGeom>
          <a:solidFill>
            <a:srgbClr val="0E3B43"/>
          </a:solidFill>
          <a:ln w="12700">
            <a:solidFill>
              <a:srgbClr val="0E3B43"/>
            </a:solidFill>
            <a:prstDash val="solid"/>
          </a:ln>
        </p:spPr>
      </p:sp>
      <p:sp>
        <p:nvSpPr>
          <p:cNvPr id="23" name="Text 20"/>
          <p:cNvSpPr txBox="1"/>
          <p:nvPr/>
        </p:nvSpPr>
        <p:spPr>
          <a:xfrm>
            <a:off x="713232" y="3266694"/>
            <a:ext cx="512064" cy="512064"/>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RO3</a:t>
            </a:r>
            <a:endParaRPr lang="en-AU" sz="1200" dirty="0"/>
          </a:p>
        </p:txBody>
      </p:sp>
      <p:sp>
        <p:nvSpPr>
          <p:cNvPr id="24" name="Text 21"/>
          <p:cNvSpPr txBox="1"/>
          <p:nvPr/>
        </p:nvSpPr>
        <p:spPr>
          <a:xfrm>
            <a:off x="1417320" y="3191256"/>
            <a:ext cx="3063240" cy="662940"/>
          </a:xfrm>
          <a:prstGeom prst="rect">
            <a:avLst/>
          </a:prstGeom>
          <a:noFill/>
          <a:ln/>
        </p:spPr>
        <p:txBody>
          <a:bodyPr wrap="square" lIns="0" tIns="0" rIns="0" bIns="0" rtlCol="0" anchor="ctr"/>
          <a:lstStyle/>
          <a:p>
            <a:pPr indent="0" marL="0">
              <a:buNone/>
            </a:pPr>
            <a:r>
              <a:rPr lang="en-AU" sz="1450" b="1" dirty="0">
                <a:solidFill>
                  <a:srgbClr val="0E3B43"/>
                </a:solidFill>
                <a:latin typeface="Calibri" pitchFamily="34" charset="0"/>
                <a:ea typeface="Calibri" pitchFamily="34" charset="-122"/>
                <a:cs typeface="Calibri" pitchFamily="34" charset="-120"/>
              </a:rPr>
              <a:t>Trustworthy Multi-Party Authorisation</a:t>
            </a:r>
            <a:endParaRPr lang="en-AU" sz="1450" dirty="0"/>
          </a:p>
        </p:txBody>
      </p:sp>
      <p:sp>
        <p:nvSpPr>
          <p:cNvPr id="25" name="Shape 22"/>
          <p:cNvSpPr/>
          <p:nvPr/>
        </p:nvSpPr>
        <p:spPr>
          <a:xfrm>
            <a:off x="4572000" y="3294126"/>
            <a:ext cx="2743200" cy="457200"/>
          </a:xfrm>
          <a:prstGeom prst="roundRect">
            <a:avLst>
              <a:gd name="adj" fmla="val 20000"/>
            </a:avLst>
          </a:prstGeom>
          <a:solidFill>
            <a:srgbClr val="13707B"/>
          </a:solidFill>
          <a:ln w="12700">
            <a:solidFill>
              <a:srgbClr val="13707B"/>
            </a:solidFill>
            <a:prstDash val="solid"/>
          </a:ln>
        </p:spPr>
      </p:sp>
      <p:sp>
        <p:nvSpPr>
          <p:cNvPr id="26" name="Text 23"/>
          <p:cNvSpPr txBox="1"/>
          <p:nvPr/>
        </p:nvSpPr>
        <p:spPr>
          <a:xfrm>
            <a:off x="4617720" y="3294126"/>
            <a:ext cx="2651760" cy="457200"/>
          </a:xfrm>
          <a:prstGeom prst="rect">
            <a:avLst/>
          </a:prstGeom>
          <a:noFill/>
          <a:ln/>
        </p:spPr>
        <p:txBody>
          <a:bodyPr wrap="square" lIns="0" tIns="0" rIns="0" bIns="0" rtlCol="0" anchor="ctr"/>
          <a:lstStyle/>
          <a:p>
            <a:pPr algn="ctr" indent="0" marL="0">
              <a:buNone/>
            </a:pPr>
            <a:r>
              <a:rPr lang="en-AU" sz="1150" b="1" dirty="0">
                <a:solidFill>
                  <a:srgbClr val="FFFFFF"/>
                </a:solidFill>
                <a:latin typeface="Calibri" pitchFamily="34" charset="0"/>
                <a:ea typeface="Calibri" pitchFamily="34" charset="-122"/>
                <a:cs typeface="Calibri" pitchFamily="34" charset="-120"/>
              </a:rPr>
              <a:t>Completed</a:t>
            </a:r>
            <a:endParaRPr lang="en-AU" sz="1150" dirty="0"/>
          </a:p>
        </p:txBody>
      </p:sp>
      <p:sp>
        <p:nvSpPr>
          <p:cNvPr id="27" name="Text 24"/>
          <p:cNvSpPr txBox="1"/>
          <p:nvPr/>
        </p:nvSpPr>
        <p:spPr>
          <a:xfrm>
            <a:off x="7498080" y="3191256"/>
            <a:ext cx="4007815" cy="662940"/>
          </a:xfrm>
          <a:prstGeom prst="rect">
            <a:avLst/>
          </a:prstGeom>
          <a:noFill/>
          <a:ln/>
        </p:spPr>
        <p:txBody>
          <a:bodyPr wrap="square" lIns="0" tIns="0" rIns="0" bIns="0" rtlCol="0" anchor="ctr"/>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a:t>
            </a:r>
            <a:r>
              <a:rPr lang="en-AU" sz="1250" dirty="0">
                <a:solidFill>
                  <a:srgbClr val="1C2B31"/>
                </a:solidFill>
                <a:latin typeface="Calibri" pitchFamily="34" charset="0"/>
                <a:ea typeface="Calibri" pitchFamily="34" charset="-122"/>
                <a:cs typeface="Calibri" pitchFamily="34" charset="-120"/>
              </a:rPr>
              <a:t>A</a:t>
            </a:r>
            <a:r>
              <a:rPr lang="en-AU" sz="1480" baseline="-25000" dirty="0">
                <a:solidFill>
                  <a:srgbClr val="1C2B31"/>
                </a:solidFill>
                <a:latin typeface="Calibri" pitchFamily="34" charset="0"/>
                <a:ea typeface="Calibri" pitchFamily="34" charset="-122"/>
                <a:cs typeface="Calibri" pitchFamily="34" charset="-120"/>
              </a:rPr>
              <a:t>v</a:t>
            </a:r>
            <a:r>
              <a:rPr lang="en-AU" sz="1250" dirty="0">
                <a:solidFill>
                  <a:srgbClr val="1C2B31"/>
                </a:solidFill>
                <a:latin typeface="Calibri" pitchFamily="34" charset="0"/>
                <a:ea typeface="Calibri" pitchFamily="34" charset="-122"/>
                <a:cs typeface="Calibri" pitchFamily="34" charset="-120"/>
              </a:rPr>
              <a:t>| ≥ N (Eq. 9); 1/2 approvals: consent PENDING_SIGNATURE; 2/2 plus SBT mint: ACTIVE (T3)</a:t>
            </a:r>
            <a:endParaRPr lang="en-AU" sz="1250" dirty="0"/>
          </a:p>
        </p:txBody>
      </p:sp>
      <p:sp>
        <p:nvSpPr>
          <p:cNvPr id="28" name="Shape 25"/>
          <p:cNvSpPr/>
          <p:nvPr/>
        </p:nvSpPr>
        <p:spPr>
          <a:xfrm>
            <a:off x="548640" y="3963924"/>
            <a:ext cx="11094415" cy="662940"/>
          </a:xfrm>
          <a:prstGeom prst="roundRect">
            <a:avLst>
              <a:gd name="adj" fmla="val 8276"/>
            </a:avLst>
          </a:prstGeom>
          <a:solidFill>
            <a:srgbClr val="FFFFFF"/>
          </a:solidFill>
          <a:ln w="12700">
            <a:solidFill>
              <a:srgbClr val="EEF4F5"/>
            </a:solidFill>
            <a:prstDash val="solid"/>
          </a:ln>
        </p:spPr>
      </p:sp>
      <p:sp>
        <p:nvSpPr>
          <p:cNvPr id="29" name="Shape 26"/>
          <p:cNvSpPr/>
          <p:nvPr/>
        </p:nvSpPr>
        <p:spPr>
          <a:xfrm>
            <a:off x="713232" y="4039362"/>
            <a:ext cx="512064" cy="512064"/>
          </a:xfrm>
          <a:prstGeom prst="ellipse">
            <a:avLst/>
          </a:prstGeom>
          <a:solidFill>
            <a:srgbClr val="0E3B43"/>
          </a:solidFill>
          <a:ln w="12700">
            <a:solidFill>
              <a:srgbClr val="0E3B43"/>
            </a:solidFill>
            <a:prstDash val="solid"/>
          </a:ln>
        </p:spPr>
      </p:sp>
      <p:sp>
        <p:nvSpPr>
          <p:cNvPr id="30" name="Text 27"/>
          <p:cNvSpPr txBox="1"/>
          <p:nvPr/>
        </p:nvSpPr>
        <p:spPr>
          <a:xfrm>
            <a:off x="713232" y="4039362"/>
            <a:ext cx="512064" cy="512064"/>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RO4</a:t>
            </a:r>
            <a:endParaRPr lang="en-AU" sz="1200" dirty="0"/>
          </a:p>
        </p:txBody>
      </p:sp>
      <p:sp>
        <p:nvSpPr>
          <p:cNvPr id="31" name="Text 28"/>
          <p:cNvSpPr txBox="1"/>
          <p:nvPr/>
        </p:nvSpPr>
        <p:spPr>
          <a:xfrm>
            <a:off x="1417320" y="3963924"/>
            <a:ext cx="3063240" cy="662940"/>
          </a:xfrm>
          <a:prstGeom prst="rect">
            <a:avLst/>
          </a:prstGeom>
          <a:noFill/>
          <a:ln/>
        </p:spPr>
        <p:txBody>
          <a:bodyPr wrap="square" lIns="0" tIns="0" rIns="0" bIns="0" rtlCol="0" anchor="ctr"/>
          <a:lstStyle/>
          <a:p>
            <a:pPr indent="0" marL="0">
              <a:buNone/>
            </a:pPr>
            <a:r>
              <a:rPr lang="en-AU" sz="1450" b="1" dirty="0">
                <a:solidFill>
                  <a:srgbClr val="0E3B43"/>
                </a:solidFill>
                <a:latin typeface="Calibri" pitchFamily="34" charset="0"/>
                <a:ea typeface="Calibri" pitchFamily="34" charset="-122"/>
                <a:cs typeface="Calibri" pitchFamily="34" charset="-120"/>
              </a:rPr>
              <a:t>Policy-Aware Access Control</a:t>
            </a:r>
            <a:endParaRPr lang="en-AU" sz="1450" dirty="0"/>
          </a:p>
        </p:txBody>
      </p:sp>
      <p:sp>
        <p:nvSpPr>
          <p:cNvPr id="32" name="Shape 29"/>
          <p:cNvSpPr/>
          <p:nvPr/>
        </p:nvSpPr>
        <p:spPr>
          <a:xfrm>
            <a:off x="4572000" y="4066794"/>
            <a:ext cx="2743200" cy="457200"/>
          </a:xfrm>
          <a:prstGeom prst="roundRect">
            <a:avLst>
              <a:gd name="adj" fmla="val 20000"/>
            </a:avLst>
          </a:prstGeom>
          <a:solidFill>
            <a:srgbClr val="13707B"/>
          </a:solidFill>
          <a:ln w="12700">
            <a:solidFill>
              <a:srgbClr val="13707B"/>
            </a:solidFill>
            <a:prstDash val="solid"/>
          </a:ln>
        </p:spPr>
      </p:sp>
      <p:sp>
        <p:nvSpPr>
          <p:cNvPr id="33" name="Text 30"/>
          <p:cNvSpPr txBox="1"/>
          <p:nvPr/>
        </p:nvSpPr>
        <p:spPr>
          <a:xfrm>
            <a:off x="4617720" y="4066794"/>
            <a:ext cx="2651760" cy="457200"/>
          </a:xfrm>
          <a:prstGeom prst="rect">
            <a:avLst/>
          </a:prstGeom>
          <a:noFill/>
          <a:ln/>
        </p:spPr>
        <p:txBody>
          <a:bodyPr wrap="square" lIns="0" tIns="0" rIns="0" bIns="0" rtlCol="0" anchor="ctr"/>
          <a:lstStyle/>
          <a:p>
            <a:pPr algn="ctr" indent="0" marL="0">
              <a:buNone/>
            </a:pPr>
            <a:r>
              <a:rPr lang="en-AU" sz="1150" b="1" dirty="0">
                <a:solidFill>
                  <a:srgbClr val="FFFFFF"/>
                </a:solidFill>
                <a:latin typeface="Calibri" pitchFamily="34" charset="0"/>
                <a:ea typeface="Calibri" pitchFamily="34" charset="-122"/>
                <a:cs typeface="Calibri" pitchFamily="34" charset="-120"/>
              </a:rPr>
              <a:t>Completed (prototype level)</a:t>
            </a:r>
            <a:endParaRPr lang="en-AU" sz="1150" dirty="0"/>
          </a:p>
        </p:txBody>
      </p:sp>
      <p:sp>
        <p:nvSpPr>
          <p:cNvPr id="34" name="Text 31"/>
          <p:cNvSpPr txBox="1"/>
          <p:nvPr/>
        </p:nvSpPr>
        <p:spPr>
          <a:xfrm>
            <a:off x="7498080" y="3963924"/>
            <a:ext cx="4007815" cy="662940"/>
          </a:xfrm>
          <a:prstGeom prst="rect">
            <a:avLst/>
          </a:prstGeom>
          <a:noFill/>
          <a:ln/>
        </p:spPr>
        <p:txBody>
          <a:bodyPr wrap="square" lIns="0" tIns="0" rIns="0" bIns="0" rtlCol="0" anchor="ctr"/>
          <a:lstStyle/>
          <a:p>
            <a:pPr indent="0" marL="0">
              <a:lnSpc>
                <a:spcPts val="1500"/>
              </a:lnSpc>
              <a:buNone/>
            </a:pP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R</a:t>
            </a:r>
            <a:r>
              <a:rPr lang="en-AU" sz="1250" dirty="0">
                <a:solidFill>
                  <a:srgbClr val="1C2B31"/>
                </a:solidFill>
                <a:latin typeface="Calibri" pitchFamily="34" charset="0"/>
                <a:ea typeface="Calibri" pitchFamily="34" charset="-122"/>
                <a:cs typeface="Calibri" pitchFamily="34" charset="-120"/>
              </a:rPr>
              <a:t> ⊆ </a:t>
            </a:r>
            <a:r>
              <a:rPr lang="en-AU" sz="1250" dirty="0">
                <a:solidFill>
                  <a:srgbClr val="1C2B31"/>
                </a:solidFill>
                <a:latin typeface="Calibri" pitchFamily="34" charset="0"/>
                <a:ea typeface="Calibri" pitchFamily="34" charset="-122"/>
                <a:cs typeface="Calibri" pitchFamily="34" charset="-120"/>
              </a:rPr>
              <a:t>S</a:t>
            </a:r>
            <a:r>
              <a:rPr lang="en-AU" sz="1480" baseline="-25000" dirty="0">
                <a:solidFill>
                  <a:srgbClr val="1C2B31"/>
                </a:solidFill>
                <a:latin typeface="Calibri" pitchFamily="34" charset="0"/>
                <a:ea typeface="Calibri" pitchFamily="34" charset="-122"/>
                <a:cs typeface="Calibri" pitchFamily="34" charset="-120"/>
              </a:rPr>
              <a:t>C</a:t>
            </a:r>
            <a:r>
              <a:rPr lang="en-AU" sz="1250" dirty="0">
                <a:solidFill>
                  <a:srgbClr val="1C2B31"/>
                </a:solidFill>
                <a:latin typeface="Calibri" pitchFamily="34" charset="0"/>
                <a:ea typeface="Calibri" pitchFamily="34" charset="-122"/>
                <a:cs typeface="Calibri" pitchFamily="34" charset="-120"/>
              </a:rPr>
              <a:t> enforced in the service layer (Eq. 25); out-of-scope request: ACCESS DENIED, logged</a:t>
            </a:r>
            <a:endParaRPr lang="en-AU" sz="1250" dirty="0"/>
          </a:p>
        </p:txBody>
      </p:sp>
      <p:sp>
        <p:nvSpPr>
          <p:cNvPr id="35" name="Shape 32"/>
          <p:cNvSpPr/>
          <p:nvPr/>
        </p:nvSpPr>
        <p:spPr>
          <a:xfrm>
            <a:off x="548640" y="4736592"/>
            <a:ext cx="11094415" cy="662940"/>
          </a:xfrm>
          <a:prstGeom prst="roundRect">
            <a:avLst>
              <a:gd name="adj" fmla="val 8276"/>
            </a:avLst>
          </a:prstGeom>
          <a:solidFill>
            <a:srgbClr val="EEF4F5"/>
          </a:solidFill>
          <a:ln w="12700">
            <a:solidFill>
              <a:srgbClr val="EEF4F5"/>
            </a:solidFill>
            <a:prstDash val="solid"/>
          </a:ln>
        </p:spPr>
      </p:sp>
      <p:sp>
        <p:nvSpPr>
          <p:cNvPr id="36" name="Shape 33"/>
          <p:cNvSpPr/>
          <p:nvPr/>
        </p:nvSpPr>
        <p:spPr>
          <a:xfrm>
            <a:off x="713232" y="4812030"/>
            <a:ext cx="512064" cy="512064"/>
          </a:xfrm>
          <a:prstGeom prst="ellipse">
            <a:avLst/>
          </a:prstGeom>
          <a:solidFill>
            <a:srgbClr val="9A7414"/>
          </a:solidFill>
          <a:ln w="12700">
            <a:solidFill>
              <a:srgbClr val="9A7414"/>
            </a:solidFill>
            <a:prstDash val="solid"/>
          </a:ln>
        </p:spPr>
      </p:sp>
      <p:sp>
        <p:nvSpPr>
          <p:cNvPr id="37" name="Text 34"/>
          <p:cNvSpPr txBox="1"/>
          <p:nvPr/>
        </p:nvSpPr>
        <p:spPr>
          <a:xfrm>
            <a:off x="713232" y="4812030"/>
            <a:ext cx="512064" cy="512064"/>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RO5</a:t>
            </a:r>
            <a:endParaRPr lang="en-AU" sz="1200" dirty="0"/>
          </a:p>
        </p:txBody>
      </p:sp>
      <p:sp>
        <p:nvSpPr>
          <p:cNvPr id="38" name="Text 35"/>
          <p:cNvSpPr txBox="1"/>
          <p:nvPr/>
        </p:nvSpPr>
        <p:spPr>
          <a:xfrm>
            <a:off x="1417320" y="4736592"/>
            <a:ext cx="3063240" cy="662940"/>
          </a:xfrm>
          <a:prstGeom prst="rect">
            <a:avLst/>
          </a:prstGeom>
          <a:noFill/>
          <a:ln/>
        </p:spPr>
        <p:txBody>
          <a:bodyPr wrap="square" lIns="0" tIns="0" rIns="0" bIns="0" rtlCol="0" anchor="ctr"/>
          <a:lstStyle/>
          <a:p>
            <a:pPr indent="0" marL="0">
              <a:buNone/>
            </a:pPr>
            <a:r>
              <a:rPr lang="en-AU" sz="1450" b="1" dirty="0">
                <a:solidFill>
                  <a:srgbClr val="0E3B43"/>
                </a:solidFill>
                <a:latin typeface="Calibri" pitchFamily="34" charset="0"/>
                <a:ea typeface="Calibri" pitchFamily="34" charset="-122"/>
                <a:cs typeface="Calibri" pitchFamily="34" charset="-120"/>
              </a:rPr>
              <a:t>Temporal and Lifecycle Trust</a:t>
            </a:r>
            <a:endParaRPr lang="en-AU" sz="1450" dirty="0"/>
          </a:p>
        </p:txBody>
      </p:sp>
      <p:sp>
        <p:nvSpPr>
          <p:cNvPr id="39" name="Shape 36"/>
          <p:cNvSpPr/>
          <p:nvPr/>
        </p:nvSpPr>
        <p:spPr>
          <a:xfrm>
            <a:off x="4572000" y="4839462"/>
            <a:ext cx="2743200" cy="457200"/>
          </a:xfrm>
          <a:prstGeom prst="roundRect">
            <a:avLst>
              <a:gd name="adj" fmla="val 20000"/>
            </a:avLst>
          </a:prstGeom>
          <a:solidFill>
            <a:srgbClr val="D4A12A"/>
          </a:solidFill>
          <a:ln w="12700">
            <a:solidFill>
              <a:srgbClr val="D4A12A"/>
            </a:solidFill>
            <a:prstDash val="solid"/>
          </a:ln>
        </p:spPr>
      </p:sp>
      <p:sp>
        <p:nvSpPr>
          <p:cNvPr id="40" name="Text 37"/>
          <p:cNvSpPr txBox="1"/>
          <p:nvPr/>
        </p:nvSpPr>
        <p:spPr>
          <a:xfrm>
            <a:off x="4617720" y="4839462"/>
            <a:ext cx="2651760" cy="457200"/>
          </a:xfrm>
          <a:prstGeom prst="rect">
            <a:avLst/>
          </a:prstGeom>
          <a:noFill/>
          <a:ln/>
        </p:spPr>
        <p:txBody>
          <a:bodyPr wrap="square" lIns="0" tIns="0" rIns="0" bIns="0" rtlCol="0" anchor="ctr"/>
          <a:lstStyle/>
          <a:p>
            <a:pPr algn="ctr" indent="0" marL="0">
              <a:buNone/>
            </a:pPr>
            <a:r>
              <a:rPr lang="en-AU" sz="1150" b="1" dirty="0">
                <a:solidFill>
                  <a:srgbClr val="1C2B31"/>
                </a:solidFill>
                <a:latin typeface="Calibri" pitchFamily="34" charset="0"/>
                <a:ea typeface="Calibri" pitchFamily="34" charset="-122"/>
                <a:cs typeface="Calibri" pitchFamily="34" charset="-120"/>
              </a:rPr>
              <a:t>Partially completed (prototype)</a:t>
            </a:r>
            <a:endParaRPr lang="en-AU" sz="1150" dirty="0"/>
          </a:p>
        </p:txBody>
      </p:sp>
      <p:sp>
        <p:nvSpPr>
          <p:cNvPr id="41" name="Text 38"/>
          <p:cNvSpPr txBox="1"/>
          <p:nvPr/>
        </p:nvSpPr>
        <p:spPr>
          <a:xfrm>
            <a:off x="7498080" y="4736592"/>
            <a:ext cx="4007815" cy="662940"/>
          </a:xfrm>
          <a:prstGeom prst="rect">
            <a:avLst/>
          </a:prstGeom>
          <a:noFill/>
          <a:ln/>
        </p:spPr>
        <p:txBody>
          <a:bodyPr wrap="square" lIns="0" tIns="0" rIns="0" bIns="0" rtlCol="0" anchor="ctr"/>
          <a:lstStyle/>
          <a:p>
            <a:pPr indent="0" marL="0">
              <a:buNone/>
            </a:pPr>
            <a:r>
              <a:rPr lang="en-AU" sz="1250" dirty="0">
                <a:solidFill>
                  <a:srgbClr val="1C2B31"/>
                </a:solidFill>
                <a:latin typeface="Calibri" pitchFamily="34" charset="0"/>
                <a:ea typeface="Calibri" pitchFamily="34" charset="-122"/>
                <a:cs typeface="Calibri" pitchFamily="34" charset="-120"/>
              </a:rPr>
              <a:t>First version (expiry and revocation) operational; formal lifecycle analysis in CA3</a:t>
            </a:r>
            <a:endParaRPr lang="en-AU" sz="1250" dirty="0"/>
          </a:p>
        </p:txBody>
      </p:sp>
      <p:sp>
        <p:nvSpPr>
          <p:cNvPr id="42" name="Shape 39"/>
          <p:cNvSpPr/>
          <p:nvPr/>
        </p:nvSpPr>
        <p:spPr>
          <a:xfrm>
            <a:off x="548640" y="5509260"/>
            <a:ext cx="11094415" cy="662940"/>
          </a:xfrm>
          <a:prstGeom prst="roundRect">
            <a:avLst>
              <a:gd name="adj" fmla="val 8276"/>
            </a:avLst>
          </a:prstGeom>
          <a:solidFill>
            <a:srgbClr val="FFFFFF"/>
          </a:solidFill>
          <a:ln w="12700">
            <a:solidFill>
              <a:srgbClr val="EEF4F5"/>
            </a:solidFill>
            <a:prstDash val="solid"/>
          </a:ln>
        </p:spPr>
      </p:sp>
      <p:sp>
        <p:nvSpPr>
          <p:cNvPr id="43" name="Shape 40"/>
          <p:cNvSpPr/>
          <p:nvPr/>
        </p:nvSpPr>
        <p:spPr>
          <a:xfrm>
            <a:off x="713232" y="5584698"/>
            <a:ext cx="512064" cy="512064"/>
          </a:xfrm>
          <a:prstGeom prst="ellipse">
            <a:avLst/>
          </a:prstGeom>
          <a:solidFill>
            <a:srgbClr val="9A7414"/>
          </a:solidFill>
          <a:ln w="12700">
            <a:solidFill>
              <a:srgbClr val="9A7414"/>
            </a:solidFill>
            <a:prstDash val="solid"/>
          </a:ln>
        </p:spPr>
      </p:sp>
      <p:sp>
        <p:nvSpPr>
          <p:cNvPr id="44" name="Text 41"/>
          <p:cNvSpPr txBox="1"/>
          <p:nvPr/>
        </p:nvSpPr>
        <p:spPr>
          <a:xfrm>
            <a:off x="713232" y="5584698"/>
            <a:ext cx="512064" cy="512064"/>
          </a:xfrm>
          <a:prstGeom prst="rect">
            <a:avLst/>
          </a:prstGeom>
          <a:noFill/>
          <a:ln/>
        </p:spPr>
        <p:txBody>
          <a:bodyPr wrap="square" lIns="0" tIns="0" rIns="0" bIns="0" rtlCol="0" anchor="ctr"/>
          <a:lstStyle/>
          <a:p>
            <a:pPr algn="ctr" indent="0" marL="0">
              <a:buNone/>
            </a:pPr>
            <a:r>
              <a:rPr lang="en-AU" sz="1200" b="1" dirty="0">
                <a:solidFill>
                  <a:srgbClr val="FFFFFF"/>
                </a:solidFill>
                <a:latin typeface="Calibri" pitchFamily="34" charset="0"/>
                <a:ea typeface="Calibri" pitchFamily="34" charset="-122"/>
                <a:cs typeface="Calibri" pitchFamily="34" charset="-120"/>
              </a:rPr>
              <a:t>RO6</a:t>
            </a:r>
            <a:endParaRPr lang="en-AU" sz="1200" dirty="0"/>
          </a:p>
        </p:txBody>
      </p:sp>
      <p:sp>
        <p:nvSpPr>
          <p:cNvPr id="45" name="Text 42"/>
          <p:cNvSpPr txBox="1"/>
          <p:nvPr/>
        </p:nvSpPr>
        <p:spPr>
          <a:xfrm>
            <a:off x="1417320" y="5509260"/>
            <a:ext cx="3063240" cy="662940"/>
          </a:xfrm>
          <a:prstGeom prst="rect">
            <a:avLst/>
          </a:prstGeom>
          <a:noFill/>
          <a:ln/>
        </p:spPr>
        <p:txBody>
          <a:bodyPr wrap="square" lIns="0" tIns="0" rIns="0" bIns="0" rtlCol="0" anchor="ctr"/>
          <a:lstStyle/>
          <a:p>
            <a:pPr indent="0" marL="0">
              <a:buNone/>
            </a:pPr>
            <a:r>
              <a:rPr lang="en-AU" sz="1450" b="1" dirty="0">
                <a:solidFill>
                  <a:srgbClr val="0E3B43"/>
                </a:solidFill>
                <a:latin typeface="Calibri" pitchFamily="34" charset="0"/>
                <a:ea typeface="Calibri" pitchFamily="34" charset="-122"/>
                <a:cs typeface="Calibri" pitchFamily="34" charset="-120"/>
              </a:rPr>
              <a:t>Security Assurance and Validation</a:t>
            </a:r>
            <a:endParaRPr lang="en-AU" sz="1450" dirty="0"/>
          </a:p>
        </p:txBody>
      </p:sp>
      <p:sp>
        <p:nvSpPr>
          <p:cNvPr id="46" name="Shape 43"/>
          <p:cNvSpPr/>
          <p:nvPr/>
        </p:nvSpPr>
        <p:spPr>
          <a:xfrm>
            <a:off x="4572000" y="5612130"/>
            <a:ext cx="2743200" cy="457200"/>
          </a:xfrm>
          <a:prstGeom prst="roundRect">
            <a:avLst>
              <a:gd name="adj" fmla="val 20000"/>
            </a:avLst>
          </a:prstGeom>
          <a:solidFill>
            <a:srgbClr val="D4A12A"/>
          </a:solidFill>
          <a:ln w="12700">
            <a:solidFill>
              <a:srgbClr val="D4A12A"/>
            </a:solidFill>
            <a:prstDash val="solid"/>
          </a:ln>
        </p:spPr>
      </p:sp>
      <p:sp>
        <p:nvSpPr>
          <p:cNvPr id="47" name="Text 44"/>
          <p:cNvSpPr txBox="1"/>
          <p:nvPr/>
        </p:nvSpPr>
        <p:spPr>
          <a:xfrm>
            <a:off x="4617720" y="5612130"/>
            <a:ext cx="2651760" cy="457200"/>
          </a:xfrm>
          <a:prstGeom prst="rect">
            <a:avLst/>
          </a:prstGeom>
          <a:noFill/>
          <a:ln/>
        </p:spPr>
        <p:txBody>
          <a:bodyPr wrap="square" lIns="0" tIns="0" rIns="0" bIns="0" rtlCol="0" anchor="ctr"/>
          <a:lstStyle/>
          <a:p>
            <a:pPr algn="ctr" indent="0" marL="0">
              <a:buNone/>
            </a:pPr>
            <a:r>
              <a:rPr lang="en-AU" sz="1150" b="1" dirty="0">
                <a:solidFill>
                  <a:srgbClr val="1C2B31"/>
                </a:solidFill>
                <a:latin typeface="Calibri" pitchFamily="34" charset="0"/>
                <a:ea typeface="Calibri" pitchFamily="34" charset="-122"/>
                <a:cs typeface="Calibri" pitchFamily="34" charset="-120"/>
              </a:rPr>
              <a:t>Partially completed (SRQ1–SRQ4)</a:t>
            </a:r>
            <a:endParaRPr lang="en-AU" sz="1150" dirty="0"/>
          </a:p>
        </p:txBody>
      </p:sp>
      <p:sp>
        <p:nvSpPr>
          <p:cNvPr id="48" name="Text 45"/>
          <p:cNvSpPr txBox="1"/>
          <p:nvPr/>
        </p:nvSpPr>
        <p:spPr>
          <a:xfrm>
            <a:off x="7498080" y="5509260"/>
            <a:ext cx="4007815" cy="662940"/>
          </a:xfrm>
          <a:prstGeom prst="rect">
            <a:avLst/>
          </a:prstGeom>
          <a:noFill/>
          <a:ln/>
        </p:spPr>
        <p:txBody>
          <a:bodyPr wrap="square" lIns="0" tIns="0" rIns="0" bIns="0" rtlCol="0" anchor="ctr"/>
          <a:lstStyle/>
          <a:p>
            <a:pPr indent="0" marL="0">
              <a:buNone/>
            </a:pPr>
            <a:r>
              <a:rPr lang="en-AU" sz="1250" dirty="0">
                <a:solidFill>
                  <a:srgbClr val="1C2B31"/>
                </a:solidFill>
                <a:latin typeface="Calibri" pitchFamily="34" charset="0"/>
                <a:ea typeface="Calibri" pitchFamily="34" charset="-122"/>
                <a:cs typeface="Calibri" pitchFamily="34" charset="-120"/>
              </a:rPr>
              <a:t>16 automated tests passed (Table 7.3); formal properties and adversarial tests in CA3</a:t>
            </a:r>
            <a:endParaRPr lang="en-AU"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Publication plan: three research outputs</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Table 9.1: the first paper is drafted, with submission to Computers &amp; Security planned for November 2026</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40 / 43</a:t>
            </a:r>
            <a:endParaRPr lang="en-AU"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840480"/>
                <a:gridCol w="3108960"/>
                <a:gridCol w="4142232"/>
              </a:tblGrid>
              <a:tr h="548640">
                <a:tc>
                  <a:txBody>
                    <a:bodyPr/>
                    <a:lstStyle/>
                    <a:p>
                      <a:pPr indent="0" marL="0">
                        <a:buNone/>
                      </a:pPr>
                      <a:r>
                        <a:rPr lang="en-AU" sz="1550" b="1" dirty="0">
                          <a:solidFill>
                            <a:srgbClr val="FFFFFF"/>
                          </a:solidFill>
                          <a:latin typeface="Calibri" pitchFamily="34" charset="0"/>
                          <a:ea typeface="Calibri" pitchFamily="34" charset="-122"/>
                          <a:cs typeface="Calibri" pitchFamily="34" charset="-120"/>
                        </a:rPr>
                        <a:t>Research output</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550" b="1" dirty="0">
                          <a:solidFill>
                            <a:srgbClr val="FFFFFF"/>
                          </a:solidFill>
                          <a:latin typeface="Calibri" pitchFamily="34" charset="0"/>
                          <a:ea typeface="Calibri" pitchFamily="34" charset="-122"/>
                          <a:cs typeface="Calibri" pitchFamily="34" charset="-120"/>
                        </a:rPr>
                        <a:t>Target venue</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c>
                  <a:txBody>
                    <a:bodyPr/>
                    <a:lstStyle/>
                    <a:p>
                      <a:pPr indent="0" marL="0">
                        <a:buNone/>
                      </a:pPr>
                      <a:r>
                        <a:rPr lang="en-AU" sz="1550" b="1" dirty="0">
                          <a:solidFill>
                            <a:srgbClr val="FFFFFF"/>
                          </a:solidFill>
                          <a:latin typeface="Calibri" pitchFamily="34" charset="0"/>
                          <a:ea typeface="Calibri" pitchFamily="34" charset="-122"/>
                          <a:cs typeface="Calibri" pitchFamily="34" charset="-120"/>
                        </a:rPr>
                        <a:t>Status</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0E3B43"/>
                    </a:solidFill>
                  </a:tcPr>
                </a:tc>
              </a:tr>
              <a:tr h="1051560">
                <a:tc>
                  <a:txBody>
                    <a:bodyPr/>
                    <a:lstStyle/>
                    <a:p>
                      <a:pPr indent="0" marL="0">
                        <a:buNone/>
                      </a:pPr>
                      <a:r>
                        <a:rPr lang="en-AU" sz="1550" b="1" dirty="0">
                          <a:solidFill>
                            <a:srgbClr val="1C2B31"/>
                          </a:solidFill>
                          <a:latin typeface="Calibri" pitchFamily="34" charset="0"/>
                          <a:ea typeface="Calibri" pitchFamily="34" charset="-122"/>
                          <a:cs typeface="Calibri" pitchFamily="34" charset="-120"/>
                        </a:rPr>
                        <a:t>Trust-Centric Consent Framework: model, multi-party policies</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550" dirty="0">
                          <a:solidFill>
                            <a:srgbClr val="1C2B31"/>
                          </a:solidFill>
                          <a:latin typeface="Calibri" pitchFamily="34" charset="0"/>
                          <a:ea typeface="Calibri" pitchFamily="34" charset="-122"/>
                          <a:cs typeface="Calibri" pitchFamily="34" charset="-120"/>
                        </a:rPr>
                        <a:t>Computers &amp; Security (Elsevier)</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550" dirty="0">
                          <a:solidFill>
                            <a:srgbClr val="1C2B31"/>
                          </a:solidFill>
                          <a:latin typeface="Calibri" pitchFamily="34" charset="0"/>
                          <a:ea typeface="Calibri" pitchFamily="34" charset="-122"/>
                          <a:cs typeface="Calibri" pitchFamily="34" charset="-120"/>
                        </a:rPr>
                        <a:t>Draft complete; submission planned November 2026</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r h="1051560">
                <a:tc>
                  <a:txBody>
                    <a:bodyPr/>
                    <a:lstStyle/>
                    <a:p>
                      <a:pPr indent="0" marL="0">
                        <a:buNone/>
                      </a:pPr>
                      <a:r>
                        <a:rPr lang="en-AU" sz="1550" b="1" dirty="0">
                          <a:solidFill>
                            <a:srgbClr val="1C2B31"/>
                          </a:solidFill>
                          <a:latin typeface="Calibri" pitchFamily="34" charset="0"/>
                          <a:ea typeface="Calibri" pitchFamily="34" charset="-122"/>
                          <a:cs typeface="Calibri" pitchFamily="34" charset="-120"/>
                        </a:rPr>
                        <a:t>HALAH Prototype &amp; Validation: implementation and evaluation</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550" dirty="0">
                          <a:solidFill>
                            <a:srgbClr val="1C2B31"/>
                          </a:solidFill>
                          <a:latin typeface="Calibri" pitchFamily="34" charset="0"/>
                          <a:ea typeface="Calibri" pitchFamily="34" charset="-122"/>
                          <a:cs typeface="Calibri" pitchFamily="34" charset="-120"/>
                        </a:rPr>
                        <a:t>Systems / Security Conference</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c>
                  <a:txBody>
                    <a:bodyPr/>
                    <a:lstStyle/>
                    <a:p>
                      <a:pPr indent="0" marL="0">
                        <a:buNone/>
                      </a:pPr>
                      <a:r>
                        <a:rPr lang="en-AU" sz="1550" dirty="0">
                          <a:solidFill>
                            <a:srgbClr val="1C2B31"/>
                          </a:solidFill>
                          <a:latin typeface="Calibri" pitchFamily="34" charset="0"/>
                          <a:ea typeface="Calibri" pitchFamily="34" charset="-122"/>
                          <a:cs typeface="Calibri" pitchFamily="34" charset="-120"/>
                        </a:rPr>
                        <a:t>In progress</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4F8F9"/>
                    </a:solidFill>
                  </a:tcPr>
                </a:tc>
              </a:tr>
              <a:tr h="1051560">
                <a:tc>
                  <a:txBody>
                    <a:bodyPr/>
                    <a:lstStyle/>
                    <a:p>
                      <a:pPr indent="0" marL="0">
                        <a:buNone/>
                      </a:pPr>
                      <a:r>
                        <a:rPr lang="en-AU" sz="1550" b="1" dirty="0">
                          <a:solidFill>
                            <a:srgbClr val="1C2B31"/>
                          </a:solidFill>
                          <a:latin typeface="Calibri" pitchFamily="34" charset="0"/>
                          <a:ea typeface="Calibri" pitchFamily="34" charset="-122"/>
                          <a:cs typeface="Calibri" pitchFamily="34" charset="-120"/>
                        </a:rPr>
                        <a:t>Formal Security &amp; Lifecycle Analysis: temporal constraints</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550" dirty="0">
                          <a:solidFill>
                            <a:srgbClr val="1C2B31"/>
                          </a:solidFill>
                          <a:latin typeface="Calibri" pitchFamily="34" charset="0"/>
                          <a:ea typeface="Calibri" pitchFamily="34" charset="-122"/>
                          <a:cs typeface="Calibri" pitchFamily="34" charset="-120"/>
                        </a:rPr>
                        <a:t>Specialised Workshop / Journal</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c>
                  <a:txBody>
                    <a:bodyPr/>
                    <a:lstStyle/>
                    <a:p>
                      <a:pPr indent="0" marL="0">
                        <a:buNone/>
                      </a:pPr>
                      <a:r>
                        <a:rPr lang="en-AU" sz="1550" dirty="0">
                          <a:solidFill>
                            <a:srgbClr val="1C2B31"/>
                          </a:solidFill>
                          <a:latin typeface="Calibri" pitchFamily="34" charset="0"/>
                          <a:ea typeface="Calibri" pitchFamily="34" charset="-122"/>
                          <a:cs typeface="Calibri" pitchFamily="34" charset="-120"/>
                        </a:rPr>
                        <a:t>Planned</a:t>
                      </a:r>
                      <a:endParaRPr lang="en-AU" sz="1550" dirty="0">
                        <a:latin typeface="Calibri" charset="0"/>
                        <a:ea typeface="Calibri" charset="0"/>
                        <a:cs typeface="Calibri" charset="0"/>
                      </a:endParaRPr>
                    </a:p>
                  </a:txBody>
                  <a:tcPr marL="91440" marR="91440" marT="73152" marB="73152" anchor="ctr">
                    <a:lnL w="6350" cap="flat" cmpd="sng" algn="ctr">
                      <a:solidFill>
                        <a:srgbClr val="D5E0E2"/>
                      </a:solidFill>
                      <a:prstDash val="solid"/>
                      <a:round/>
                      <a:headEnd type="none" w="med" len="med"/>
                      <a:tailEnd type="none" w="med" len="med"/>
                    </a:lnL>
                    <a:lnR w="6350" cap="flat" cmpd="sng" algn="ctr">
                      <a:solidFill>
                        <a:srgbClr val="D5E0E2"/>
                      </a:solidFill>
                      <a:prstDash val="solid"/>
                      <a:round/>
                      <a:headEnd type="none" w="med" len="med"/>
                      <a:tailEnd type="none" w="med" len="med"/>
                    </a:lnR>
                    <a:lnT w="6350" cap="flat" cmpd="sng" algn="ctr">
                      <a:solidFill>
                        <a:srgbClr val="D5E0E2"/>
                      </a:solidFill>
                      <a:prstDash val="solid"/>
                      <a:round/>
                      <a:headEnd type="none" w="med" len="med"/>
                      <a:tailEnd type="none" w="med" len="med"/>
                    </a:lnT>
                    <a:lnB w="6350" cap="flat" cmpd="sng" algn="ctr">
                      <a:solidFill>
                        <a:srgbClr val="D5E0E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3000" b="1" dirty="0">
                <a:solidFill>
                  <a:srgbClr val="0E3B43"/>
                </a:solidFill>
                <a:latin typeface="Cambria" pitchFamily="34" charset="0"/>
                <a:ea typeface="Cambria" pitchFamily="34" charset="-122"/>
                <a:cs typeface="Cambria" pitchFamily="34" charset="-120"/>
              </a:rPr>
              <a:t>Next-stage plan: four research focuses</a:t>
            </a:r>
            <a:endParaRPr lang="en-AU" sz="30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Section 10.2, Table 10.1: whether trust can be maintained over time, formally justified and demonstrated</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41 / 43</a:t>
            </a:r>
            <a:endParaRPr lang="en-AU" sz="1000" dirty="0"/>
          </a:p>
        </p:txBody>
      </p:sp>
      <p:sp>
        <p:nvSpPr>
          <p:cNvPr id="7" name="Shape 4"/>
          <p:cNvSpPr/>
          <p:nvPr/>
        </p:nvSpPr>
        <p:spPr>
          <a:xfrm>
            <a:off x="1935442" y="2606040"/>
            <a:ext cx="8320811" cy="0"/>
          </a:xfrm>
          <a:prstGeom prst="line">
            <a:avLst/>
          </a:prstGeom>
          <a:noFill/>
          <a:ln w="31750">
            <a:solidFill>
              <a:srgbClr val="D4A12A"/>
            </a:solidFill>
            <a:prstDash val="solid"/>
          </a:ln>
        </p:spPr>
      </p:sp>
      <p:sp>
        <p:nvSpPr>
          <p:cNvPr id="8" name="Shape 5"/>
          <p:cNvSpPr/>
          <p:nvPr/>
        </p:nvSpPr>
        <p:spPr>
          <a:xfrm>
            <a:off x="1569682" y="2240280"/>
            <a:ext cx="731520" cy="731520"/>
          </a:xfrm>
          <a:prstGeom prst="ellipse">
            <a:avLst/>
          </a:prstGeom>
          <a:solidFill>
            <a:srgbClr val="9A7414"/>
          </a:solidFill>
          <a:ln w="12700">
            <a:solidFill>
              <a:srgbClr val="9A7414"/>
            </a:solidFill>
            <a:prstDash val="solid"/>
          </a:ln>
        </p:spPr>
      </p:sp>
      <p:sp>
        <p:nvSpPr>
          <p:cNvPr id="9" name="Text 6"/>
          <p:cNvSpPr txBox="1"/>
          <p:nvPr/>
        </p:nvSpPr>
        <p:spPr>
          <a:xfrm>
            <a:off x="1569682" y="2240280"/>
            <a:ext cx="731520" cy="731520"/>
          </a:xfrm>
          <a:prstGeom prst="rect">
            <a:avLst/>
          </a:prstGeom>
          <a:noFill/>
          <a:ln/>
        </p:spPr>
        <p:txBody>
          <a:bodyPr wrap="square" lIns="0" tIns="0" rIns="0" bIns="0" rtlCol="0" anchor="ctr"/>
          <a:lstStyle/>
          <a:p>
            <a:pPr algn="ctr" indent="0" marL="0">
              <a:buNone/>
            </a:pPr>
            <a:r>
              <a:rPr lang="en-AU" sz="2000" b="1" dirty="0">
                <a:solidFill>
                  <a:srgbClr val="FFFFFF"/>
                </a:solidFill>
                <a:latin typeface="Calibri" pitchFamily="34" charset="0"/>
                <a:ea typeface="Calibri" pitchFamily="34" charset="-122"/>
                <a:cs typeface="Calibri" pitchFamily="34" charset="-120"/>
              </a:rPr>
              <a:t>1</a:t>
            </a:r>
            <a:endParaRPr lang="en-AU" sz="2000" dirty="0"/>
          </a:p>
        </p:txBody>
      </p:sp>
      <p:sp>
        <p:nvSpPr>
          <p:cNvPr id="10" name="Text 7"/>
          <p:cNvSpPr txBox="1"/>
          <p:nvPr/>
        </p:nvSpPr>
        <p:spPr>
          <a:xfrm>
            <a:off x="2392642" y="2203704"/>
            <a:ext cx="883882" cy="329184"/>
          </a:xfrm>
          <a:prstGeom prst="rect">
            <a:avLst/>
          </a:prstGeom>
          <a:noFill/>
          <a:ln/>
        </p:spPr>
        <p:txBody>
          <a:bodyPr wrap="square" lIns="0" tIns="0" rIns="0" bIns="0" rtlCol="0" anchor="ctr"/>
          <a:lstStyle/>
          <a:p>
            <a:pPr indent="0" marL="0">
              <a:buNone/>
            </a:pPr>
            <a:r>
              <a:rPr lang="en-AU" sz="1300" b="1" dirty="0">
                <a:solidFill>
                  <a:srgbClr val="9A7414"/>
                </a:solidFill>
                <a:latin typeface="Calibri" pitchFamily="34" charset="0"/>
                <a:ea typeface="Calibri" pitchFamily="34" charset="-122"/>
                <a:cs typeface="Calibri" pitchFamily="34" charset="-120"/>
              </a:rPr>
              <a:t>RO5</a:t>
            </a:r>
            <a:endParaRPr lang="en-AU" sz="1300" dirty="0"/>
          </a:p>
        </p:txBody>
      </p:sp>
      <p:sp>
        <p:nvSpPr>
          <p:cNvPr id="11" name="Shape 8"/>
          <p:cNvSpPr/>
          <p:nvPr/>
        </p:nvSpPr>
        <p:spPr>
          <a:xfrm>
            <a:off x="658368" y="3246120"/>
            <a:ext cx="2554148" cy="2971800"/>
          </a:xfrm>
          <a:prstGeom prst="roundRect">
            <a:avLst>
              <a:gd name="adj" fmla="val 2864"/>
            </a:avLst>
          </a:prstGeom>
          <a:solidFill>
            <a:srgbClr val="FBF1D3"/>
          </a:solidFill>
          <a:ln w="12700">
            <a:solidFill>
              <a:srgbClr val="FBF1D3"/>
            </a:solidFill>
            <a:prstDash val="solid"/>
          </a:ln>
        </p:spPr>
      </p:sp>
      <p:sp>
        <p:nvSpPr>
          <p:cNvPr id="12" name="Text 9"/>
          <p:cNvSpPr txBox="1"/>
          <p:nvPr/>
        </p:nvSpPr>
        <p:spPr>
          <a:xfrm>
            <a:off x="822960" y="3383280"/>
            <a:ext cx="2224964" cy="640080"/>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Temporal and lifecycle trust</a:t>
            </a:r>
            <a:endParaRPr lang="en-AU" sz="1600" dirty="0"/>
          </a:p>
        </p:txBody>
      </p:sp>
      <p:sp>
        <p:nvSpPr>
          <p:cNvPr id="13" name="Text 10"/>
          <p:cNvSpPr txBox="1"/>
          <p:nvPr/>
        </p:nvSpPr>
        <p:spPr>
          <a:xfrm>
            <a:off x="822960" y="4023360"/>
            <a:ext cx="2224964" cy="1234440"/>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Add validity periods, expiry, revocation and controlled transitions; confirm consent is still valid at access</a:t>
            </a:r>
            <a:endParaRPr lang="en-AU" sz="1400" dirty="0"/>
          </a:p>
        </p:txBody>
      </p:sp>
      <p:sp>
        <p:nvSpPr>
          <p:cNvPr id="14" name="Text 11"/>
          <p:cNvSpPr txBox="1"/>
          <p:nvPr/>
        </p:nvSpPr>
        <p:spPr>
          <a:xfrm>
            <a:off x="822960" y="5303520"/>
            <a:ext cx="2224964" cy="822960"/>
          </a:xfrm>
          <a:prstGeom prst="rect">
            <a:avLst/>
          </a:prstGeom>
          <a:noFill/>
          <a:ln/>
        </p:spPr>
        <p:txBody>
          <a:bodyPr wrap="square" lIns="0" tIns="0" rIns="0" bIns="0" rtlCol="0" anchor="t"/>
          <a:lstStyle/>
          <a:p>
            <a:pPr indent="0" marL="0">
              <a:buNone/>
            </a:pPr>
            <a:r>
              <a:rPr lang="en-AU" sz="1300" b="1" dirty="0">
                <a:solidFill>
                  <a:srgbClr val="0B5560"/>
                </a:solidFill>
                <a:latin typeface="Calibri" pitchFamily="34" charset="0"/>
                <a:ea typeface="Calibri" pitchFamily="34" charset="-122"/>
                <a:cs typeface="Calibri" pitchFamily="34" charset="-120"/>
              </a:rPr>
              <a:t>Outcome: </a:t>
            </a:r>
            <a:r>
              <a:rPr lang="en-AU" sz="1300" dirty="0">
                <a:solidFill>
                  <a:srgbClr val="0B5560"/>
                </a:solidFill>
                <a:latin typeface="Calibri" pitchFamily="34" charset="0"/>
                <a:ea typeface="Calibri" pitchFamily="34" charset="-122"/>
                <a:cs typeface="Calibri" pitchFamily="34" charset="-120"/>
              </a:rPr>
              <a:t>A mechanism that checks whether consent is still active at the point of access</a:t>
            </a:r>
            <a:endParaRPr lang="en-AU" sz="1300" dirty="0"/>
          </a:p>
        </p:txBody>
      </p:sp>
      <p:sp>
        <p:nvSpPr>
          <p:cNvPr id="15" name="Shape 12"/>
          <p:cNvSpPr/>
          <p:nvPr/>
        </p:nvSpPr>
        <p:spPr>
          <a:xfrm>
            <a:off x="4343286" y="2240280"/>
            <a:ext cx="731520" cy="731520"/>
          </a:xfrm>
          <a:prstGeom prst="ellipse">
            <a:avLst/>
          </a:prstGeom>
          <a:solidFill>
            <a:srgbClr val="9A7414"/>
          </a:solidFill>
          <a:ln w="12700">
            <a:solidFill>
              <a:srgbClr val="9A7414"/>
            </a:solidFill>
            <a:prstDash val="solid"/>
          </a:ln>
        </p:spPr>
      </p:sp>
      <p:sp>
        <p:nvSpPr>
          <p:cNvPr id="16" name="Text 13"/>
          <p:cNvSpPr txBox="1"/>
          <p:nvPr/>
        </p:nvSpPr>
        <p:spPr>
          <a:xfrm>
            <a:off x="4343286" y="2240280"/>
            <a:ext cx="731520" cy="731520"/>
          </a:xfrm>
          <a:prstGeom prst="rect">
            <a:avLst/>
          </a:prstGeom>
          <a:noFill/>
          <a:ln/>
        </p:spPr>
        <p:txBody>
          <a:bodyPr wrap="square" lIns="0" tIns="0" rIns="0" bIns="0" rtlCol="0" anchor="ctr"/>
          <a:lstStyle/>
          <a:p>
            <a:pPr algn="ctr" indent="0" marL="0">
              <a:buNone/>
            </a:pPr>
            <a:r>
              <a:rPr lang="en-AU" sz="2000" b="1" dirty="0">
                <a:solidFill>
                  <a:srgbClr val="FFFFFF"/>
                </a:solidFill>
                <a:latin typeface="Calibri" pitchFamily="34" charset="0"/>
                <a:ea typeface="Calibri" pitchFamily="34" charset="-122"/>
                <a:cs typeface="Calibri" pitchFamily="34" charset="-120"/>
              </a:rPr>
              <a:t>2</a:t>
            </a:r>
            <a:endParaRPr lang="en-AU" sz="2000" dirty="0"/>
          </a:p>
        </p:txBody>
      </p:sp>
      <p:sp>
        <p:nvSpPr>
          <p:cNvPr id="17" name="Text 14"/>
          <p:cNvSpPr txBox="1"/>
          <p:nvPr/>
        </p:nvSpPr>
        <p:spPr>
          <a:xfrm>
            <a:off x="5166246" y="2203704"/>
            <a:ext cx="883882" cy="329184"/>
          </a:xfrm>
          <a:prstGeom prst="rect">
            <a:avLst/>
          </a:prstGeom>
          <a:noFill/>
          <a:ln/>
        </p:spPr>
        <p:txBody>
          <a:bodyPr wrap="square" lIns="0" tIns="0" rIns="0" bIns="0" rtlCol="0" anchor="ctr"/>
          <a:lstStyle/>
          <a:p>
            <a:pPr indent="0" marL="0">
              <a:buNone/>
            </a:pPr>
            <a:r>
              <a:rPr lang="en-AU" sz="1300" b="1" dirty="0">
                <a:solidFill>
                  <a:srgbClr val="9A7414"/>
                </a:solidFill>
                <a:latin typeface="Calibri" pitchFamily="34" charset="0"/>
                <a:ea typeface="Calibri" pitchFamily="34" charset="-122"/>
                <a:cs typeface="Calibri" pitchFamily="34" charset="-120"/>
              </a:rPr>
              <a:t>RO6</a:t>
            </a:r>
            <a:endParaRPr lang="en-AU" sz="1300" dirty="0"/>
          </a:p>
        </p:txBody>
      </p:sp>
      <p:sp>
        <p:nvSpPr>
          <p:cNvPr id="18" name="Shape 15"/>
          <p:cNvSpPr/>
          <p:nvPr/>
        </p:nvSpPr>
        <p:spPr>
          <a:xfrm>
            <a:off x="3431972" y="3246120"/>
            <a:ext cx="2554148" cy="2971800"/>
          </a:xfrm>
          <a:prstGeom prst="roundRect">
            <a:avLst>
              <a:gd name="adj" fmla="val 2864"/>
            </a:avLst>
          </a:prstGeom>
          <a:solidFill>
            <a:srgbClr val="FBF1D3"/>
          </a:solidFill>
          <a:ln w="12700">
            <a:solidFill>
              <a:srgbClr val="FBF1D3"/>
            </a:solidFill>
            <a:prstDash val="solid"/>
          </a:ln>
        </p:spPr>
      </p:sp>
      <p:sp>
        <p:nvSpPr>
          <p:cNvPr id="19" name="Text 16"/>
          <p:cNvSpPr txBox="1"/>
          <p:nvPr/>
        </p:nvSpPr>
        <p:spPr>
          <a:xfrm>
            <a:off x="3596564" y="3383280"/>
            <a:ext cx="2224964" cy="640080"/>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Formal security assurance</a:t>
            </a:r>
            <a:endParaRPr lang="en-AU" sz="1600" dirty="0"/>
          </a:p>
        </p:txBody>
      </p:sp>
      <p:sp>
        <p:nvSpPr>
          <p:cNvPr id="20" name="Text 17"/>
          <p:cNvSpPr txBox="1"/>
          <p:nvPr/>
        </p:nvSpPr>
        <p:spPr>
          <a:xfrm>
            <a:off x="3596564" y="4023360"/>
            <a:ext cx="2224964" cy="1234440"/>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Define security properties; analyse invalid identity, too few approvals, policy violation, expiry, revocation</a:t>
            </a:r>
            <a:endParaRPr lang="en-AU" sz="1400" dirty="0"/>
          </a:p>
        </p:txBody>
      </p:sp>
      <p:sp>
        <p:nvSpPr>
          <p:cNvPr id="21" name="Text 18"/>
          <p:cNvSpPr txBox="1"/>
          <p:nvPr/>
        </p:nvSpPr>
        <p:spPr>
          <a:xfrm>
            <a:off x="3596564" y="5303520"/>
            <a:ext cx="2224964" cy="822960"/>
          </a:xfrm>
          <a:prstGeom prst="rect">
            <a:avLst/>
          </a:prstGeom>
          <a:noFill/>
          <a:ln/>
        </p:spPr>
        <p:txBody>
          <a:bodyPr wrap="square" lIns="0" tIns="0" rIns="0" bIns="0" rtlCol="0" anchor="t"/>
          <a:lstStyle/>
          <a:p>
            <a:pPr indent="0" marL="0">
              <a:buNone/>
            </a:pPr>
            <a:r>
              <a:rPr lang="en-AU" sz="1300" b="1" dirty="0">
                <a:solidFill>
                  <a:srgbClr val="0B5560"/>
                </a:solidFill>
                <a:latin typeface="Calibri" pitchFamily="34" charset="0"/>
                <a:ea typeface="Calibri" pitchFamily="34" charset="-122"/>
                <a:cs typeface="Calibri" pitchFamily="34" charset="-120"/>
              </a:rPr>
              <a:t>Outcome: </a:t>
            </a:r>
            <a:r>
              <a:rPr lang="en-AU" sz="1300" dirty="0">
                <a:solidFill>
                  <a:srgbClr val="0B5560"/>
                </a:solidFill>
                <a:latin typeface="Calibri" pitchFamily="34" charset="0"/>
                <a:ea typeface="Calibri" pitchFamily="34" charset="-122"/>
                <a:cs typeface="Calibri" pitchFamily="34" charset="-120"/>
              </a:rPr>
              <a:t>A formal security model with explicit security guarantees</a:t>
            </a:r>
            <a:endParaRPr lang="en-AU" sz="1300" dirty="0"/>
          </a:p>
        </p:txBody>
      </p:sp>
      <p:sp>
        <p:nvSpPr>
          <p:cNvPr id="22" name="Shape 19"/>
          <p:cNvSpPr/>
          <p:nvPr/>
        </p:nvSpPr>
        <p:spPr>
          <a:xfrm>
            <a:off x="7116890" y="2240280"/>
            <a:ext cx="731520" cy="731520"/>
          </a:xfrm>
          <a:prstGeom prst="ellipse">
            <a:avLst/>
          </a:prstGeom>
          <a:solidFill>
            <a:srgbClr val="9A7414"/>
          </a:solidFill>
          <a:ln w="12700">
            <a:solidFill>
              <a:srgbClr val="9A7414"/>
            </a:solidFill>
            <a:prstDash val="solid"/>
          </a:ln>
        </p:spPr>
      </p:sp>
      <p:sp>
        <p:nvSpPr>
          <p:cNvPr id="23" name="Text 20"/>
          <p:cNvSpPr txBox="1"/>
          <p:nvPr/>
        </p:nvSpPr>
        <p:spPr>
          <a:xfrm>
            <a:off x="7116890" y="2240280"/>
            <a:ext cx="731520" cy="731520"/>
          </a:xfrm>
          <a:prstGeom prst="rect">
            <a:avLst/>
          </a:prstGeom>
          <a:noFill/>
          <a:ln/>
        </p:spPr>
        <p:txBody>
          <a:bodyPr wrap="square" lIns="0" tIns="0" rIns="0" bIns="0" rtlCol="0" anchor="ctr"/>
          <a:lstStyle/>
          <a:p>
            <a:pPr algn="ctr" indent="0" marL="0">
              <a:buNone/>
            </a:pPr>
            <a:r>
              <a:rPr lang="en-AU" sz="2000" b="1" dirty="0">
                <a:solidFill>
                  <a:srgbClr val="FFFFFF"/>
                </a:solidFill>
                <a:latin typeface="Calibri" pitchFamily="34" charset="0"/>
                <a:ea typeface="Calibri" pitchFamily="34" charset="-122"/>
                <a:cs typeface="Calibri" pitchFamily="34" charset="-120"/>
              </a:rPr>
              <a:t>3</a:t>
            </a:r>
            <a:endParaRPr lang="en-AU" sz="2000" dirty="0"/>
          </a:p>
        </p:txBody>
      </p:sp>
      <p:sp>
        <p:nvSpPr>
          <p:cNvPr id="24" name="Text 21"/>
          <p:cNvSpPr txBox="1"/>
          <p:nvPr/>
        </p:nvSpPr>
        <p:spPr>
          <a:xfrm>
            <a:off x="7939850" y="2203704"/>
            <a:ext cx="883882" cy="329184"/>
          </a:xfrm>
          <a:prstGeom prst="rect">
            <a:avLst/>
          </a:prstGeom>
          <a:noFill/>
          <a:ln/>
        </p:spPr>
        <p:txBody>
          <a:bodyPr wrap="square" lIns="0" tIns="0" rIns="0" bIns="0" rtlCol="0" anchor="ctr"/>
          <a:lstStyle/>
          <a:p>
            <a:pPr indent="0" marL="0">
              <a:buNone/>
            </a:pPr>
            <a:r>
              <a:rPr lang="en-AU" sz="1300" b="1" dirty="0">
                <a:solidFill>
                  <a:srgbClr val="9A7414"/>
                </a:solidFill>
                <a:latin typeface="Calibri" pitchFamily="34" charset="0"/>
                <a:ea typeface="Calibri" pitchFamily="34" charset="-122"/>
                <a:cs typeface="Calibri" pitchFamily="34" charset="-120"/>
              </a:rPr>
              <a:t>RO6</a:t>
            </a:r>
            <a:endParaRPr lang="en-AU" sz="1300" dirty="0"/>
          </a:p>
        </p:txBody>
      </p:sp>
      <p:sp>
        <p:nvSpPr>
          <p:cNvPr id="25" name="Shape 22"/>
          <p:cNvSpPr/>
          <p:nvPr/>
        </p:nvSpPr>
        <p:spPr>
          <a:xfrm>
            <a:off x="6205576" y="3246120"/>
            <a:ext cx="2554148" cy="2971800"/>
          </a:xfrm>
          <a:prstGeom prst="roundRect">
            <a:avLst>
              <a:gd name="adj" fmla="val 2864"/>
            </a:avLst>
          </a:prstGeom>
          <a:solidFill>
            <a:srgbClr val="FBF1D3"/>
          </a:solidFill>
          <a:ln w="12700">
            <a:solidFill>
              <a:srgbClr val="FBF1D3"/>
            </a:solidFill>
            <a:prstDash val="solid"/>
          </a:ln>
        </p:spPr>
      </p:sp>
      <p:sp>
        <p:nvSpPr>
          <p:cNvPr id="26" name="Text 23"/>
          <p:cNvSpPr txBox="1"/>
          <p:nvPr/>
        </p:nvSpPr>
        <p:spPr>
          <a:xfrm>
            <a:off x="6370168" y="3383280"/>
            <a:ext cx="2224964" cy="640080"/>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Empirical validation</a:t>
            </a:r>
            <a:endParaRPr lang="en-AU" sz="1600" dirty="0"/>
          </a:p>
        </p:txBody>
      </p:sp>
      <p:sp>
        <p:nvSpPr>
          <p:cNvPr id="27" name="Text 24"/>
          <p:cNvSpPr txBox="1"/>
          <p:nvPr/>
        </p:nvSpPr>
        <p:spPr>
          <a:xfrm>
            <a:off x="6370168" y="4023360"/>
            <a:ext cx="2224964" cy="1234440"/>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Extend HALAH with positive and negative scenarios; measure runtime, overhead and enforcement accuracy</a:t>
            </a:r>
            <a:endParaRPr lang="en-AU" sz="1400" dirty="0"/>
          </a:p>
        </p:txBody>
      </p:sp>
      <p:sp>
        <p:nvSpPr>
          <p:cNvPr id="28" name="Text 25"/>
          <p:cNvSpPr txBox="1"/>
          <p:nvPr/>
        </p:nvSpPr>
        <p:spPr>
          <a:xfrm>
            <a:off x="6370168" y="5303520"/>
            <a:ext cx="2224964" cy="822960"/>
          </a:xfrm>
          <a:prstGeom prst="rect">
            <a:avLst/>
          </a:prstGeom>
          <a:noFill/>
          <a:ln/>
        </p:spPr>
        <p:txBody>
          <a:bodyPr wrap="square" lIns="0" tIns="0" rIns="0" bIns="0" rtlCol="0" anchor="t"/>
          <a:lstStyle/>
          <a:p>
            <a:pPr indent="0" marL="0">
              <a:buNone/>
            </a:pPr>
            <a:r>
              <a:rPr lang="en-AU" sz="1300" b="1" dirty="0">
                <a:solidFill>
                  <a:srgbClr val="0B5560"/>
                </a:solidFill>
                <a:latin typeface="Calibri" pitchFamily="34" charset="0"/>
                <a:ea typeface="Calibri" pitchFamily="34" charset="-122"/>
                <a:cs typeface="Calibri" pitchFamily="34" charset="-120"/>
              </a:rPr>
              <a:t>Outcome: </a:t>
            </a:r>
            <a:r>
              <a:rPr lang="en-AU" sz="1300" dirty="0">
                <a:solidFill>
                  <a:srgbClr val="0B5560"/>
                </a:solidFill>
                <a:latin typeface="Calibri" pitchFamily="34" charset="0"/>
                <a:ea typeface="Calibri" pitchFamily="34" charset="-122"/>
                <a:cs typeface="Calibri" pitchFamily="34" charset="-120"/>
              </a:rPr>
              <a:t>Empirical evidence and benchmark datasets on enforcement</a:t>
            </a:r>
            <a:endParaRPr lang="en-AU" sz="1300" dirty="0"/>
          </a:p>
        </p:txBody>
      </p:sp>
      <p:sp>
        <p:nvSpPr>
          <p:cNvPr id="29" name="Shape 26"/>
          <p:cNvSpPr/>
          <p:nvPr/>
        </p:nvSpPr>
        <p:spPr>
          <a:xfrm>
            <a:off x="9890493" y="2240280"/>
            <a:ext cx="731520" cy="731520"/>
          </a:xfrm>
          <a:prstGeom prst="ellipse">
            <a:avLst/>
          </a:prstGeom>
          <a:solidFill>
            <a:srgbClr val="9A7414"/>
          </a:solidFill>
          <a:ln w="12700">
            <a:solidFill>
              <a:srgbClr val="9A7414"/>
            </a:solidFill>
            <a:prstDash val="solid"/>
          </a:ln>
        </p:spPr>
      </p:sp>
      <p:sp>
        <p:nvSpPr>
          <p:cNvPr id="30" name="Text 27"/>
          <p:cNvSpPr txBox="1"/>
          <p:nvPr/>
        </p:nvSpPr>
        <p:spPr>
          <a:xfrm>
            <a:off x="9890493" y="2240280"/>
            <a:ext cx="731520" cy="731520"/>
          </a:xfrm>
          <a:prstGeom prst="rect">
            <a:avLst/>
          </a:prstGeom>
          <a:noFill/>
          <a:ln/>
        </p:spPr>
        <p:txBody>
          <a:bodyPr wrap="square" lIns="0" tIns="0" rIns="0" bIns="0" rtlCol="0" anchor="ctr"/>
          <a:lstStyle/>
          <a:p>
            <a:pPr algn="ctr" indent="0" marL="0">
              <a:buNone/>
            </a:pPr>
            <a:r>
              <a:rPr lang="en-AU" sz="2000" b="1" dirty="0">
                <a:solidFill>
                  <a:srgbClr val="FFFFFF"/>
                </a:solidFill>
                <a:latin typeface="Calibri" pitchFamily="34" charset="0"/>
                <a:ea typeface="Calibri" pitchFamily="34" charset="-122"/>
                <a:cs typeface="Calibri" pitchFamily="34" charset="-120"/>
              </a:rPr>
              <a:t>4</a:t>
            </a:r>
            <a:endParaRPr lang="en-AU" sz="2000" dirty="0"/>
          </a:p>
        </p:txBody>
      </p:sp>
      <p:sp>
        <p:nvSpPr>
          <p:cNvPr id="31" name="Text 28"/>
          <p:cNvSpPr txBox="1"/>
          <p:nvPr/>
        </p:nvSpPr>
        <p:spPr>
          <a:xfrm>
            <a:off x="10713453" y="2203704"/>
            <a:ext cx="883882" cy="329184"/>
          </a:xfrm>
          <a:prstGeom prst="rect">
            <a:avLst/>
          </a:prstGeom>
          <a:noFill/>
          <a:ln/>
        </p:spPr>
        <p:txBody>
          <a:bodyPr wrap="square" lIns="0" tIns="0" rIns="0" bIns="0" rtlCol="0" anchor="ctr"/>
          <a:lstStyle/>
          <a:p>
            <a:pPr indent="0" marL="0">
              <a:buNone/>
            </a:pPr>
            <a:r>
              <a:rPr lang="en-AU" sz="1300" b="1" dirty="0">
                <a:solidFill>
                  <a:srgbClr val="9A7414"/>
                </a:solidFill>
                <a:latin typeface="Calibri" pitchFamily="34" charset="0"/>
                <a:ea typeface="Calibri" pitchFamily="34" charset="-122"/>
                <a:cs typeface="Calibri" pitchFamily="34" charset="-120"/>
              </a:rPr>
              <a:t>RO5–RO6</a:t>
            </a:r>
            <a:endParaRPr lang="en-AU" sz="1300" dirty="0"/>
          </a:p>
        </p:txBody>
      </p:sp>
      <p:sp>
        <p:nvSpPr>
          <p:cNvPr id="32" name="Shape 29"/>
          <p:cNvSpPr/>
          <p:nvPr/>
        </p:nvSpPr>
        <p:spPr>
          <a:xfrm>
            <a:off x="8979179" y="3246120"/>
            <a:ext cx="2554148" cy="2971800"/>
          </a:xfrm>
          <a:prstGeom prst="roundRect">
            <a:avLst>
              <a:gd name="adj" fmla="val 2864"/>
            </a:avLst>
          </a:prstGeom>
          <a:solidFill>
            <a:srgbClr val="FBF1D3"/>
          </a:solidFill>
          <a:ln w="12700">
            <a:solidFill>
              <a:srgbClr val="FBF1D3"/>
            </a:solidFill>
            <a:prstDash val="solid"/>
          </a:ln>
        </p:spPr>
      </p:sp>
      <p:sp>
        <p:nvSpPr>
          <p:cNvPr id="33" name="Text 30"/>
          <p:cNvSpPr txBox="1"/>
          <p:nvPr/>
        </p:nvSpPr>
        <p:spPr>
          <a:xfrm>
            <a:off x="9143771" y="3383280"/>
            <a:ext cx="2224964" cy="640080"/>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Integrated evaluation</a:t>
            </a:r>
            <a:endParaRPr lang="en-AU" sz="1600" dirty="0"/>
          </a:p>
        </p:txBody>
      </p:sp>
      <p:sp>
        <p:nvSpPr>
          <p:cNvPr id="34" name="Text 31"/>
          <p:cNvSpPr txBox="1"/>
          <p:nvPr/>
        </p:nvSpPr>
        <p:spPr>
          <a:xfrm>
            <a:off x="9143771" y="4023360"/>
            <a:ext cx="2224964" cy="1234440"/>
          </a:xfrm>
          <a:prstGeom prst="rect">
            <a:avLst/>
          </a:prstGeom>
          <a:noFill/>
          <a:ln/>
        </p:spPr>
        <p:txBody>
          <a:bodyPr wrap="square" lIns="0" tIns="0" rIns="0" bIns="0" rtlCol="0" anchor="t"/>
          <a:lstStyle/>
          <a:p>
            <a:pPr indent="0" marL="0">
              <a:buNone/>
            </a:pPr>
            <a:r>
              <a:rPr lang="en-AU" sz="1400" dirty="0">
                <a:solidFill>
                  <a:srgbClr val="1C2B31"/>
                </a:solidFill>
                <a:latin typeface="Calibri" pitchFamily="34" charset="0"/>
                <a:ea typeface="Calibri" pitchFamily="34" charset="-122"/>
                <a:cs typeface="Calibri" pitchFamily="34" charset="-120"/>
              </a:rPr>
              <a:t>Combine temporal, lifecycle, formal and empirical modules; evaluate interactions, scalability and feasibility</a:t>
            </a:r>
            <a:endParaRPr lang="en-AU" sz="1400" dirty="0"/>
          </a:p>
        </p:txBody>
      </p:sp>
      <p:sp>
        <p:nvSpPr>
          <p:cNvPr id="35" name="Text 32"/>
          <p:cNvSpPr txBox="1"/>
          <p:nvPr/>
        </p:nvSpPr>
        <p:spPr>
          <a:xfrm>
            <a:off x="9143771" y="5303520"/>
            <a:ext cx="2224964" cy="822960"/>
          </a:xfrm>
          <a:prstGeom prst="rect">
            <a:avLst/>
          </a:prstGeom>
          <a:noFill/>
          <a:ln/>
        </p:spPr>
        <p:txBody>
          <a:bodyPr wrap="square" lIns="0" tIns="0" rIns="0" bIns="0" rtlCol="0" anchor="t"/>
          <a:lstStyle/>
          <a:p>
            <a:pPr indent="0" marL="0">
              <a:buNone/>
            </a:pPr>
            <a:r>
              <a:rPr lang="en-AU" sz="1300" b="1" dirty="0">
                <a:solidFill>
                  <a:srgbClr val="0B5560"/>
                </a:solidFill>
                <a:latin typeface="Calibri" pitchFamily="34" charset="0"/>
                <a:ea typeface="Calibri" pitchFamily="34" charset="-122"/>
                <a:cs typeface="Calibri" pitchFamily="34" charset="-120"/>
              </a:rPr>
              <a:t>Outcome: </a:t>
            </a:r>
            <a:r>
              <a:rPr lang="en-AU" sz="1300" dirty="0">
                <a:solidFill>
                  <a:srgbClr val="0B5560"/>
                </a:solidFill>
                <a:latin typeface="Calibri" pitchFamily="34" charset="0"/>
                <a:ea typeface="Calibri" pitchFamily="34" charset="-122"/>
                <a:cs typeface="Calibri" pitchFamily="34" charset="-120"/>
              </a:rPr>
              <a:t>One integrated, validated framework for multi-party consent</a:t>
            </a:r>
            <a:endParaRPr lang="en-AU" sz="1300" dirty="0"/>
          </a:p>
        </p:txBody>
      </p:sp>
      <p:sp>
        <p:nvSpPr>
          <p:cNvPr id="36" name="Text 33"/>
          <p:cNvSpPr txBox="1"/>
          <p:nvPr/>
        </p:nvSpPr>
        <p:spPr>
          <a:xfrm>
            <a:off x="548640" y="1600200"/>
            <a:ext cx="5486400" cy="365760"/>
          </a:xfrm>
          <a:prstGeom prst="rect">
            <a:avLst/>
          </a:prstGeom>
          <a:noFill/>
          <a:ln/>
        </p:spPr>
        <p:txBody>
          <a:bodyPr wrap="square" lIns="0" tIns="0" rIns="0" bIns="0" rtlCol="0" anchor="t"/>
          <a:lstStyle/>
          <a:p>
            <a:pPr indent="0" marL="0">
              <a:buNone/>
            </a:pPr>
            <a:r>
              <a:rPr lang="en-AU" sz="1400" b="1" dirty="0">
                <a:solidFill>
                  <a:srgbClr val="9A7414"/>
                </a:solidFill>
                <a:latin typeface="Calibri" pitchFamily="34" charset="0"/>
                <a:ea typeface="Calibri" pitchFamily="34" charset="-122"/>
                <a:cs typeface="Calibri" pitchFamily="34" charset="-120"/>
              </a:rPr>
              <a:t>Next stage (CA3): RO5 and RO6</a:t>
            </a:r>
            <a:endParaRPr lang="en-AU"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ctr">
            <a:normAutofit/>
          </a:bodyPr>
          <a:lstStyle/>
          <a:p>
            <a:pPr indent="0" marL="0">
              <a:buNone/>
            </a:pPr>
            <a:r>
              <a:rPr lang="en-AU" sz="2800" b="1" dirty="0">
                <a:solidFill>
                  <a:srgbClr val="0E3B43"/>
                </a:solidFill>
                <a:latin typeface="Cambria" pitchFamily="34" charset="0"/>
                <a:ea typeface="Cambria" pitchFamily="34" charset="-122"/>
                <a:cs typeface="Cambria" pitchFamily="34" charset="-120"/>
              </a:rPr>
              <a:t>From recorded consent to an evaluated decision</a:t>
            </a:r>
            <a:endParaRPr lang="en-AU" sz="2800" dirty="0"/>
          </a:p>
        </p:txBody>
      </p:sp>
      <p:sp>
        <p:nvSpPr>
          <p:cNvPr id="4" name="Text 1"/>
          <p:cNvSpPr txBox="1"/>
          <p:nvPr/>
        </p:nvSpPr>
        <p:spPr>
          <a:xfrm>
            <a:off x="548640" y="1069848"/>
            <a:ext cx="11094415" cy="384048"/>
          </a:xfrm>
          <a:prstGeom prst="rect">
            <a:avLst/>
          </a:prstGeom>
          <a:noFill/>
          <a:ln/>
        </p:spPr>
        <p:txBody>
          <a:bodyPr wrap="square" lIns="0" tIns="0" rIns="0" bIns="0" rtlCol="0" anchor="ctr"/>
          <a:lstStyle/>
          <a:p>
            <a:pPr indent="0" marL="0">
              <a:buNone/>
            </a:pPr>
            <a:r>
              <a:rPr lang="en-AU" sz="1500" dirty="0">
                <a:solidFill>
                  <a:srgbClr val="5E6E73"/>
                </a:solidFill>
                <a:latin typeface="Calibri" pitchFamily="34" charset="0"/>
                <a:ea typeface="Calibri" pitchFamily="34" charset="-122"/>
                <a:cs typeface="Calibri" pitchFamily="34" charset="-120"/>
              </a:rPr>
              <a:t>Contributions of the current stage (Chapters 1, 5, 10 and Section 2.6) and the path to CA3</a:t>
            </a:r>
            <a:endParaRPr lang="en-AU" sz="1500" dirty="0"/>
          </a:p>
        </p:txBody>
      </p:sp>
      <p:sp>
        <p:nvSpPr>
          <p:cNvPr id="5" name="Text 2"/>
          <p:cNvSpPr txBox="1"/>
          <p:nvPr/>
        </p:nvSpPr>
        <p:spPr>
          <a:xfrm>
            <a:off x="548640" y="6419088"/>
            <a:ext cx="7315200" cy="256032"/>
          </a:xfrm>
          <a:prstGeom prst="rect">
            <a:avLst/>
          </a:prstGeom>
          <a:noFill/>
          <a:ln/>
        </p:spPr>
        <p:txBody>
          <a:bodyPr wrap="square" lIns="0" tIns="0" rIns="0" bIns="0" rtlCol="0" anchor="ctr"/>
          <a:lstStyle/>
          <a:p>
            <a:pPr indent="0" marL="0">
              <a:buNone/>
            </a:pPr>
            <a:r>
              <a:rPr lang="en-AU" sz="1000" dirty="0">
                <a:solidFill>
                  <a:srgbClr val="5E6E73"/>
                </a:solidFill>
                <a:latin typeface="Calibri" pitchFamily="34" charset="0"/>
                <a:ea typeface="Calibri" pitchFamily="34" charset="-122"/>
                <a:cs typeface="Calibri" pitchFamily="34" charset="-120"/>
              </a:rPr>
              <a:t>A Trusted Authorisation Framework for Multi-Party Patient Consent  ·  CA2</a:t>
            </a:r>
            <a:endParaRPr lang="en-AU" sz="1000" dirty="0"/>
          </a:p>
        </p:txBody>
      </p:sp>
      <p:sp>
        <p:nvSpPr>
          <p:cNvPr id="6" name="Text 3"/>
          <p:cNvSpPr txBox="1"/>
          <p:nvPr/>
        </p:nvSpPr>
        <p:spPr>
          <a:xfrm>
            <a:off x="10271455" y="6419088"/>
            <a:ext cx="1371600" cy="256032"/>
          </a:xfrm>
          <a:prstGeom prst="rect">
            <a:avLst/>
          </a:prstGeom>
          <a:noFill/>
          <a:ln/>
        </p:spPr>
        <p:txBody>
          <a:bodyPr wrap="square" lIns="0" tIns="0" rIns="0" bIns="0" rtlCol="0" anchor="ctr"/>
          <a:lstStyle/>
          <a:p>
            <a:pPr algn="r" indent="0" marL="0">
              <a:buNone/>
            </a:pPr>
            <a:r>
              <a:rPr lang="en-AU" sz="1000" dirty="0">
                <a:solidFill>
                  <a:srgbClr val="5E6E73"/>
                </a:solidFill>
                <a:latin typeface="Calibri" pitchFamily="34" charset="0"/>
                <a:ea typeface="Calibri" pitchFamily="34" charset="-122"/>
                <a:cs typeface="Calibri" pitchFamily="34" charset="-120"/>
              </a:rPr>
              <a:t>42 / 43</a:t>
            </a:r>
            <a:endParaRPr lang="en-AU" sz="1000" dirty="0"/>
          </a:p>
        </p:txBody>
      </p:sp>
      <p:sp>
        <p:nvSpPr>
          <p:cNvPr id="7" name="Text 4"/>
          <p:cNvSpPr txBox="1"/>
          <p:nvPr/>
        </p:nvSpPr>
        <p:spPr>
          <a:xfrm>
            <a:off x="548640" y="1645920"/>
            <a:ext cx="11094415" cy="566928"/>
          </a:xfrm>
          <a:prstGeom prst="rect">
            <a:avLst/>
          </a:prstGeom>
          <a:noFill/>
          <a:ln/>
        </p:spPr>
        <p:txBody>
          <a:bodyPr wrap="square" lIns="0" tIns="0" rIns="0" bIns="0" rtlCol="0" anchor="t"/>
          <a:lstStyle/>
          <a:p>
            <a:pPr indent="0" marL="0">
              <a:buNone/>
            </a:pPr>
            <a:r>
              <a:rPr lang="en-AU" sz="1500" dirty="0">
                <a:solidFill>
                  <a:srgbClr val="1C2B31"/>
                </a:solidFill>
                <a:latin typeface="Calibri" pitchFamily="34" charset="0"/>
                <a:ea typeface="Calibri" pitchFamily="34" charset="-122"/>
                <a:cs typeface="Calibri" pitchFamily="34" charset="-120"/>
              </a:rPr>
              <a:t>No single mechanism makes access trustworthy. The contribution is one explainable decision built from independently verifiable conditions.</a:t>
            </a:r>
            <a:endParaRPr lang="en-AU" sz="1500" dirty="0"/>
          </a:p>
        </p:txBody>
      </p:sp>
      <p:sp>
        <p:nvSpPr>
          <p:cNvPr id="8" name="Shape 5"/>
          <p:cNvSpPr/>
          <p:nvPr/>
        </p:nvSpPr>
        <p:spPr>
          <a:xfrm>
            <a:off x="548640" y="2377440"/>
            <a:ext cx="2567864" cy="3840480"/>
          </a:xfrm>
          <a:prstGeom prst="roundRect">
            <a:avLst>
              <a:gd name="adj" fmla="val 3561"/>
            </a:avLst>
          </a:prstGeom>
          <a:solidFill>
            <a:srgbClr val="EEF4F5"/>
          </a:solidFill>
          <a:ln w="12700">
            <a:solidFill>
              <a:srgbClr val="EEF4F5"/>
            </a:solidFill>
            <a:prstDash val="solid"/>
          </a:ln>
        </p:spPr>
      </p:sp>
      <p:sp>
        <p:nvSpPr>
          <p:cNvPr id="9" name="Text 6"/>
          <p:cNvSpPr txBox="1"/>
          <p:nvPr/>
        </p:nvSpPr>
        <p:spPr>
          <a:xfrm>
            <a:off x="749808" y="5650992"/>
            <a:ext cx="2165528"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Evidence: Eq. (6), Eq. (7); Chapter 5</a:t>
            </a:r>
            <a:endParaRPr lang="en-AU" sz="1250" dirty="0"/>
          </a:p>
        </p:txBody>
      </p:sp>
      <p:sp>
        <p:nvSpPr>
          <p:cNvPr id="10" name="Shape 7"/>
          <p:cNvSpPr/>
          <p:nvPr/>
        </p:nvSpPr>
        <p:spPr>
          <a:xfrm>
            <a:off x="777240" y="2606040"/>
            <a:ext cx="548640" cy="548640"/>
          </a:xfrm>
          <a:prstGeom prst="ellipse">
            <a:avLst/>
          </a:prstGeom>
          <a:solidFill>
            <a:srgbClr val="13707B"/>
          </a:solidFill>
          <a:ln w="12700">
            <a:solidFill>
              <a:srgbClr val="13707B"/>
            </a:solidFill>
            <a:prstDash val="solid"/>
          </a:ln>
        </p:spPr>
      </p:sp>
      <p:pic>
        <p:nvPicPr>
          <p:cNvPr id="11" name="Image 0" descr="preencoded.png">    </p:cNvPr>
          <p:cNvPicPr>
            <a:picLocks noChangeAspect="1"/>
          </p:cNvPicPr>
          <p:nvPr/>
        </p:nvPicPr>
        <p:blipFill>
          <a:blip r:embed="rId1"/>
          <a:stretch>
            <a:fillRect/>
          </a:stretch>
        </p:blipFill>
        <p:spPr>
          <a:xfrm>
            <a:off x="908914" y="2737714"/>
            <a:ext cx="285293" cy="285293"/>
          </a:xfrm>
          <a:prstGeom prst="rect">
            <a:avLst/>
          </a:prstGeom>
        </p:spPr>
      </p:pic>
      <p:sp>
        <p:nvSpPr>
          <p:cNvPr id="12" name="Text 8"/>
          <p:cNvSpPr txBox="1"/>
          <p:nvPr/>
        </p:nvSpPr>
        <p:spPr>
          <a:xfrm>
            <a:off x="777240" y="3291840"/>
            <a:ext cx="2110664" cy="658368"/>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Consent as an evaluable object</a:t>
            </a:r>
            <a:endParaRPr lang="en-AU" sz="1600" dirty="0"/>
          </a:p>
        </p:txBody>
      </p:sp>
      <p:sp>
        <p:nvSpPr>
          <p:cNvPr id="13" name="Text 9"/>
          <p:cNvSpPr txBox="1"/>
          <p:nvPr/>
        </p:nvSpPr>
        <p:spPr>
          <a:xfrm>
            <a:off x="777240" y="4023360"/>
            <a:ext cx="2110664" cy="1563624"/>
          </a:xfrm>
          <a:prstGeom prst="rect">
            <a:avLst/>
          </a:prstGeom>
          <a:noFill/>
          <a:ln/>
        </p:spPr>
        <p:txBody>
          <a:bodyPr wrap="square" lIns="0" tIns="0" rIns="0" bIns="0" rtlCol="0" anchor="t"/>
          <a:lstStyle/>
          <a:p>
            <a:pPr indent="0" marL="0">
              <a:lnSpc>
                <a:spcPts val="1800"/>
              </a:lnSpc>
              <a:buNone/>
            </a:pPr>
            <a:r>
              <a:rPr lang="en-AU" sz="1500" dirty="0">
                <a:solidFill>
                  <a:srgbClr val="1C2B31"/>
                </a:solidFill>
                <a:latin typeface="Calibri" pitchFamily="34" charset="0"/>
                <a:ea typeface="Calibri" pitchFamily="34" charset="-122"/>
                <a:cs typeface="Calibri" pitchFamily="34" charset="-120"/>
              </a:rPr>
              <a:t>C = (I, A, P, E)</a:t>
            </a:r>
            <a:endParaRPr lang="en-AU" sz="1500" dirty="0"/>
          </a:p>
          <a:p>
            <a:pPr indent="0" marL="0">
              <a:lnSpc>
                <a:spcPts val="1800"/>
              </a:lnSpc>
              <a:buNone/>
            </a:pPr>
            <a:r>
              <a:rPr lang="en-AU" sz="1500" dirty="0">
                <a:solidFill>
                  <a:srgbClr val="1C2B31"/>
                </a:solidFill>
                <a:latin typeface="Calibri" pitchFamily="34" charset="0"/>
                <a:ea typeface="Calibri" pitchFamily="34" charset="-122"/>
                <a:cs typeface="Calibri" pitchFamily="34" charset="-120"/>
              </a:rPr>
              <a:t>Decision(C, R) = ALLOW</a:t>
            </a:r>
            <a:endParaRPr lang="en-AU" sz="1500" dirty="0"/>
          </a:p>
          <a:p>
            <a:pPr indent="0" marL="0">
              <a:lnSpc>
                <a:spcPts val="1800"/>
              </a:lnSpc>
              <a:buNone/>
            </a:pPr>
            <a:r>
              <a:rPr lang="en-AU" sz="1500" dirty="0">
                <a:solidFill>
                  <a:srgbClr val="1C2B31"/>
                </a:solidFill>
                <a:latin typeface="Calibri" pitchFamily="34" charset="0"/>
                <a:ea typeface="Calibri" pitchFamily="34" charset="-122"/>
                <a:cs typeface="Calibri" pitchFamily="34" charset="-120"/>
              </a:rPr>
              <a:t>⇔ </a:t>
            </a:r>
            <a:r>
              <a:rPr lang="en-AU" sz="1500" dirty="0">
                <a:solidFill>
                  <a:srgbClr val="1C2B31"/>
                </a:solidFill>
                <a:latin typeface="Calibri" pitchFamily="34" charset="0"/>
                <a:ea typeface="Calibri" pitchFamily="34" charset="-122"/>
                <a:cs typeface="Calibri" pitchFamily="34" charset="-120"/>
              </a:rPr>
              <a:t>V</a:t>
            </a:r>
            <a:r>
              <a:rPr lang="en-AU" sz="1770" baseline="-25000" dirty="0">
                <a:solidFill>
                  <a:srgbClr val="1C2B31"/>
                </a:solidFill>
                <a:latin typeface="Calibri" pitchFamily="34" charset="0"/>
                <a:ea typeface="Calibri" pitchFamily="34" charset="-122"/>
                <a:cs typeface="Calibri" pitchFamily="34" charset="-120"/>
              </a:rPr>
              <a:t>I</a:t>
            </a:r>
            <a:r>
              <a:rPr lang="en-AU" sz="1500" dirty="0">
                <a:solidFill>
                  <a:srgbClr val="1C2B31"/>
                </a:solidFill>
                <a:latin typeface="Calibri" pitchFamily="34" charset="0"/>
                <a:ea typeface="Calibri" pitchFamily="34" charset="-122"/>
                <a:cs typeface="Calibri" pitchFamily="34" charset="-120"/>
              </a:rPr>
              <a:t> ∧ </a:t>
            </a:r>
            <a:r>
              <a:rPr lang="en-AU" sz="1500" dirty="0">
                <a:solidFill>
                  <a:srgbClr val="1C2B31"/>
                </a:solidFill>
                <a:latin typeface="Calibri" pitchFamily="34" charset="0"/>
                <a:ea typeface="Calibri" pitchFamily="34" charset="-122"/>
                <a:cs typeface="Calibri" pitchFamily="34" charset="-120"/>
              </a:rPr>
              <a:t>V</a:t>
            </a:r>
            <a:r>
              <a:rPr lang="en-AU" sz="1770" baseline="-25000" dirty="0">
                <a:solidFill>
                  <a:srgbClr val="1C2B31"/>
                </a:solidFill>
                <a:latin typeface="Calibri" pitchFamily="34" charset="0"/>
                <a:ea typeface="Calibri" pitchFamily="34" charset="-122"/>
                <a:cs typeface="Calibri" pitchFamily="34" charset="-120"/>
              </a:rPr>
              <a:t>A</a:t>
            </a:r>
            <a:r>
              <a:rPr lang="en-AU" sz="1500" dirty="0">
                <a:solidFill>
                  <a:srgbClr val="1C2B31"/>
                </a:solidFill>
                <a:latin typeface="Calibri" pitchFamily="34" charset="0"/>
                <a:ea typeface="Calibri" pitchFamily="34" charset="-122"/>
                <a:cs typeface="Calibri" pitchFamily="34" charset="-120"/>
              </a:rPr>
              <a:t> ∧ </a:t>
            </a:r>
            <a:r>
              <a:rPr lang="en-AU" sz="1500" dirty="0">
                <a:solidFill>
                  <a:srgbClr val="1C2B31"/>
                </a:solidFill>
                <a:latin typeface="Calibri" pitchFamily="34" charset="0"/>
                <a:ea typeface="Calibri" pitchFamily="34" charset="-122"/>
                <a:cs typeface="Calibri" pitchFamily="34" charset="-120"/>
              </a:rPr>
              <a:t>V</a:t>
            </a:r>
            <a:r>
              <a:rPr lang="en-AU" sz="1770" baseline="-25000" dirty="0">
                <a:solidFill>
                  <a:srgbClr val="1C2B31"/>
                </a:solidFill>
                <a:latin typeface="Calibri" pitchFamily="34" charset="0"/>
                <a:ea typeface="Calibri" pitchFamily="34" charset="-122"/>
                <a:cs typeface="Calibri" pitchFamily="34" charset="-120"/>
              </a:rPr>
              <a:t>P</a:t>
            </a:r>
            <a:endParaRPr lang="en-AU" sz="1500" dirty="0"/>
          </a:p>
          <a:p>
            <a:pPr indent="0" marL="0">
              <a:lnSpc>
                <a:spcPts val="1800"/>
              </a:lnSpc>
              <a:buNone/>
            </a:pPr>
            <a:r>
              <a:rPr lang="en-AU" sz="1500" dirty="0">
                <a:solidFill>
                  <a:srgbClr val="1C2B31"/>
                </a:solidFill>
                <a:latin typeface="Calibri" pitchFamily="34" charset="0"/>
                <a:ea typeface="Calibri" pitchFamily="34" charset="-122"/>
                <a:cs typeface="Calibri" pitchFamily="34" charset="-120"/>
              </a:rPr>
              <a:t>Consent is evaluated, not just stored as a record</a:t>
            </a:r>
            <a:endParaRPr lang="en-AU" sz="1500" dirty="0"/>
          </a:p>
        </p:txBody>
      </p:sp>
      <p:sp>
        <p:nvSpPr>
          <p:cNvPr id="14" name="Shape 10"/>
          <p:cNvSpPr/>
          <p:nvPr/>
        </p:nvSpPr>
        <p:spPr>
          <a:xfrm>
            <a:off x="3390824" y="2377440"/>
            <a:ext cx="2567864" cy="3840480"/>
          </a:xfrm>
          <a:prstGeom prst="roundRect">
            <a:avLst>
              <a:gd name="adj" fmla="val 3561"/>
            </a:avLst>
          </a:prstGeom>
          <a:solidFill>
            <a:srgbClr val="EEF4F5"/>
          </a:solidFill>
          <a:ln w="12700">
            <a:solidFill>
              <a:srgbClr val="EEF4F5"/>
            </a:solidFill>
            <a:prstDash val="solid"/>
          </a:ln>
        </p:spPr>
      </p:sp>
      <p:sp>
        <p:nvSpPr>
          <p:cNvPr id="15" name="Text 11"/>
          <p:cNvSpPr txBox="1"/>
          <p:nvPr/>
        </p:nvSpPr>
        <p:spPr>
          <a:xfrm>
            <a:off x="3591992" y="5650992"/>
            <a:ext cx="2165528"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Evidence: Chapter 5; Table 7.2</a:t>
            </a:r>
            <a:endParaRPr lang="en-AU" sz="1250" dirty="0"/>
          </a:p>
        </p:txBody>
      </p:sp>
      <p:sp>
        <p:nvSpPr>
          <p:cNvPr id="16" name="Shape 12"/>
          <p:cNvSpPr/>
          <p:nvPr/>
        </p:nvSpPr>
        <p:spPr>
          <a:xfrm>
            <a:off x="3619424" y="2606040"/>
            <a:ext cx="548640" cy="548640"/>
          </a:xfrm>
          <a:prstGeom prst="ellipse">
            <a:avLst/>
          </a:prstGeom>
          <a:solidFill>
            <a:srgbClr val="13707B"/>
          </a:solidFill>
          <a:ln w="12700">
            <a:solidFill>
              <a:srgbClr val="13707B"/>
            </a:solidFill>
            <a:prstDash val="solid"/>
          </a:ln>
        </p:spPr>
      </p:sp>
      <p:pic>
        <p:nvPicPr>
          <p:cNvPr id="17" name="Image 1" descr="preencoded.png">    </p:cNvPr>
          <p:cNvPicPr>
            <a:picLocks noChangeAspect="1"/>
          </p:cNvPicPr>
          <p:nvPr/>
        </p:nvPicPr>
        <p:blipFill>
          <a:blip r:embed="rId2"/>
          <a:stretch>
            <a:fillRect/>
          </a:stretch>
        </p:blipFill>
        <p:spPr>
          <a:xfrm>
            <a:off x="3751097" y="2737714"/>
            <a:ext cx="285293" cy="285293"/>
          </a:xfrm>
          <a:prstGeom prst="rect">
            <a:avLst/>
          </a:prstGeom>
        </p:spPr>
      </p:pic>
      <p:sp>
        <p:nvSpPr>
          <p:cNvPr id="18" name="Text 13"/>
          <p:cNvSpPr txBox="1"/>
          <p:nvPr/>
        </p:nvSpPr>
        <p:spPr>
          <a:xfrm>
            <a:off x="3619424" y="3291840"/>
            <a:ext cx="2110664" cy="658368"/>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MVC research architecture</a:t>
            </a:r>
            <a:endParaRPr lang="en-AU" sz="1600" dirty="0"/>
          </a:p>
        </p:txBody>
      </p:sp>
      <p:sp>
        <p:nvSpPr>
          <p:cNvPr id="19" name="Text 14"/>
          <p:cNvSpPr txBox="1"/>
          <p:nvPr/>
        </p:nvSpPr>
        <p:spPr>
          <a:xfrm>
            <a:off x="3619424" y="4023360"/>
            <a:ext cx="2110664" cy="1563624"/>
          </a:xfrm>
          <a:prstGeom prst="rect">
            <a:avLst/>
          </a:prstGeom>
          <a:noFill/>
          <a:ln/>
        </p:spPr>
        <p:txBody>
          <a:bodyPr wrap="square" lIns="0" tIns="0" rIns="0" bIns="0" rtlCol="0" anchor="t"/>
          <a:lstStyle/>
          <a:p>
            <a:pPr indent="0" marL="0">
              <a:buNone/>
            </a:pPr>
            <a:r>
              <a:rPr lang="en-AU" sz="1500" dirty="0">
                <a:solidFill>
                  <a:srgbClr val="1C2B31"/>
                </a:solidFill>
                <a:latin typeface="Calibri" pitchFamily="34" charset="0"/>
                <a:ea typeface="Calibri" pitchFamily="34" charset="-122"/>
                <a:cs typeface="Calibri" pitchFamily="34" charset="-120"/>
              </a:rPr>
              <a:t>View submits claims, Controller evaluates predicates, Model holds trust state; data only via the Controller</a:t>
            </a:r>
            <a:endParaRPr lang="en-AU" sz="1500" dirty="0"/>
          </a:p>
        </p:txBody>
      </p:sp>
      <p:sp>
        <p:nvSpPr>
          <p:cNvPr id="20" name="Shape 15"/>
          <p:cNvSpPr/>
          <p:nvPr/>
        </p:nvSpPr>
        <p:spPr>
          <a:xfrm>
            <a:off x="6233008" y="2377440"/>
            <a:ext cx="2567864" cy="3840480"/>
          </a:xfrm>
          <a:prstGeom prst="roundRect">
            <a:avLst>
              <a:gd name="adj" fmla="val 3561"/>
            </a:avLst>
          </a:prstGeom>
          <a:solidFill>
            <a:srgbClr val="EEF4F5"/>
          </a:solidFill>
          <a:ln w="12700">
            <a:solidFill>
              <a:srgbClr val="EEF4F5"/>
            </a:solidFill>
            <a:prstDash val="solid"/>
          </a:ln>
        </p:spPr>
      </p:sp>
      <p:sp>
        <p:nvSpPr>
          <p:cNvPr id="21" name="Text 16"/>
          <p:cNvSpPr txBox="1"/>
          <p:nvPr/>
        </p:nvSpPr>
        <p:spPr>
          <a:xfrm>
            <a:off x="6434176" y="5650992"/>
            <a:ext cx="2165528"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Evidence: Chapter 7; Tables 7.1 and 7.4</a:t>
            </a:r>
            <a:endParaRPr lang="en-AU" sz="1250" dirty="0"/>
          </a:p>
        </p:txBody>
      </p:sp>
      <p:sp>
        <p:nvSpPr>
          <p:cNvPr id="22" name="Shape 17"/>
          <p:cNvSpPr/>
          <p:nvPr/>
        </p:nvSpPr>
        <p:spPr>
          <a:xfrm>
            <a:off x="6461608" y="2606040"/>
            <a:ext cx="548640" cy="548640"/>
          </a:xfrm>
          <a:prstGeom prst="ellipse">
            <a:avLst/>
          </a:prstGeom>
          <a:solidFill>
            <a:srgbClr val="13707B"/>
          </a:solidFill>
          <a:ln w="12700">
            <a:solidFill>
              <a:srgbClr val="13707B"/>
            </a:solidFill>
            <a:prstDash val="solid"/>
          </a:ln>
        </p:spPr>
      </p:sp>
      <p:pic>
        <p:nvPicPr>
          <p:cNvPr id="23" name="Image 2" descr="preencoded.png">    </p:cNvPr>
          <p:cNvPicPr>
            <a:picLocks noChangeAspect="1"/>
          </p:cNvPicPr>
          <p:nvPr/>
        </p:nvPicPr>
        <p:blipFill>
          <a:blip r:embed="rId3"/>
          <a:stretch>
            <a:fillRect/>
          </a:stretch>
        </p:blipFill>
        <p:spPr>
          <a:xfrm>
            <a:off x="6593281" y="2737714"/>
            <a:ext cx="285293" cy="285293"/>
          </a:xfrm>
          <a:prstGeom prst="rect">
            <a:avLst/>
          </a:prstGeom>
        </p:spPr>
      </p:pic>
      <p:sp>
        <p:nvSpPr>
          <p:cNvPr id="24" name="Text 18"/>
          <p:cNvSpPr txBox="1"/>
          <p:nvPr/>
        </p:nvSpPr>
        <p:spPr>
          <a:xfrm>
            <a:off x="6461608" y="3291840"/>
            <a:ext cx="2110664" cy="658368"/>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HALAH prototype</a:t>
            </a:r>
            <a:endParaRPr lang="en-AU" sz="1600" dirty="0"/>
          </a:p>
        </p:txBody>
      </p:sp>
      <p:sp>
        <p:nvSpPr>
          <p:cNvPr id="25" name="Text 19"/>
          <p:cNvSpPr txBox="1"/>
          <p:nvPr/>
        </p:nvSpPr>
        <p:spPr>
          <a:xfrm>
            <a:off x="6461608" y="4023360"/>
            <a:ext cx="2110664" cy="1563624"/>
          </a:xfrm>
          <a:prstGeom prst="rect">
            <a:avLst/>
          </a:prstGeom>
          <a:noFill/>
          <a:ln/>
        </p:spPr>
        <p:txBody>
          <a:bodyPr wrap="square" lIns="0" tIns="0" rIns="0" bIns="0" rtlCol="0" anchor="t"/>
          <a:lstStyle/>
          <a:p>
            <a:pPr indent="0" marL="0">
              <a:buNone/>
            </a:pPr>
            <a:r>
              <a:rPr lang="en-AU" sz="1500" dirty="0">
                <a:solidFill>
                  <a:srgbClr val="1C2B31"/>
                </a:solidFill>
                <a:latin typeface="Calibri" pitchFamily="34" charset="0"/>
                <a:ea typeface="Calibri" pitchFamily="34" charset="-122"/>
                <a:cs typeface="Calibri" pitchFamily="34" charset="-120"/>
              </a:rPr>
              <a:t>Patient, guardian, doctor and auditor subsystems; EIP-712 guardian approvals; consent SBTs on Ethereum Sepolia</a:t>
            </a:r>
            <a:endParaRPr lang="en-AU" sz="1500" dirty="0"/>
          </a:p>
        </p:txBody>
      </p:sp>
      <p:sp>
        <p:nvSpPr>
          <p:cNvPr id="26" name="Shape 20"/>
          <p:cNvSpPr/>
          <p:nvPr/>
        </p:nvSpPr>
        <p:spPr>
          <a:xfrm>
            <a:off x="9075191" y="2377440"/>
            <a:ext cx="2567864" cy="3840480"/>
          </a:xfrm>
          <a:prstGeom prst="roundRect">
            <a:avLst>
              <a:gd name="adj" fmla="val 3561"/>
            </a:avLst>
          </a:prstGeom>
          <a:solidFill>
            <a:srgbClr val="EEF4F5"/>
          </a:solidFill>
          <a:ln w="12700">
            <a:solidFill>
              <a:srgbClr val="EEF4F5"/>
            </a:solidFill>
            <a:prstDash val="solid"/>
          </a:ln>
        </p:spPr>
      </p:sp>
      <p:sp>
        <p:nvSpPr>
          <p:cNvPr id="27" name="Text 21"/>
          <p:cNvSpPr txBox="1"/>
          <p:nvPr/>
        </p:nvSpPr>
        <p:spPr>
          <a:xfrm>
            <a:off x="9276359" y="5650992"/>
            <a:ext cx="2165528" cy="438912"/>
          </a:xfrm>
          <a:prstGeom prst="rect">
            <a:avLst/>
          </a:prstGeom>
          <a:noFill/>
          <a:ln/>
        </p:spPr>
        <p:txBody>
          <a:bodyPr wrap="square" lIns="0" tIns="0" rIns="0" bIns="0" rtlCol="0" anchor="b"/>
          <a:lstStyle/>
          <a:p>
            <a:pPr indent="0" marL="0">
              <a:buNone/>
            </a:pPr>
            <a:r>
              <a:rPr lang="en-AU" sz="1250" b="1" dirty="0">
                <a:solidFill>
                  <a:srgbClr val="13707B"/>
                </a:solidFill>
                <a:latin typeface="Calibri" pitchFamily="34" charset="0"/>
                <a:ea typeface="Calibri" pitchFamily="34" charset="-122"/>
                <a:cs typeface="Calibri" pitchFamily="34" charset="-120"/>
              </a:rPr>
              <a:t>Evidence: Table 7.3: 16 passed, 2 skipped, 0 failed</a:t>
            </a:r>
            <a:endParaRPr lang="en-AU" sz="1250" dirty="0"/>
          </a:p>
        </p:txBody>
      </p:sp>
      <p:sp>
        <p:nvSpPr>
          <p:cNvPr id="28" name="Shape 22"/>
          <p:cNvSpPr/>
          <p:nvPr/>
        </p:nvSpPr>
        <p:spPr>
          <a:xfrm>
            <a:off x="9303791" y="2606040"/>
            <a:ext cx="548640" cy="548640"/>
          </a:xfrm>
          <a:prstGeom prst="ellipse">
            <a:avLst/>
          </a:prstGeom>
          <a:solidFill>
            <a:srgbClr val="13707B"/>
          </a:solidFill>
          <a:ln w="12700">
            <a:solidFill>
              <a:srgbClr val="13707B"/>
            </a:solidFill>
            <a:prstDash val="solid"/>
          </a:ln>
        </p:spPr>
      </p:sp>
      <p:pic>
        <p:nvPicPr>
          <p:cNvPr id="29" name="Image 3" descr="preencoded.png">    </p:cNvPr>
          <p:cNvPicPr>
            <a:picLocks noChangeAspect="1"/>
          </p:cNvPicPr>
          <p:nvPr/>
        </p:nvPicPr>
        <p:blipFill>
          <a:blip r:embed="rId4"/>
          <a:stretch>
            <a:fillRect/>
          </a:stretch>
        </p:blipFill>
        <p:spPr>
          <a:xfrm>
            <a:off x="9435465" y="2737714"/>
            <a:ext cx="285293" cy="285293"/>
          </a:xfrm>
          <a:prstGeom prst="rect">
            <a:avLst/>
          </a:prstGeom>
        </p:spPr>
      </p:pic>
      <p:sp>
        <p:nvSpPr>
          <p:cNvPr id="30" name="Text 23"/>
          <p:cNvSpPr txBox="1"/>
          <p:nvPr/>
        </p:nvSpPr>
        <p:spPr>
          <a:xfrm>
            <a:off x="9303791" y="3291840"/>
            <a:ext cx="2110664" cy="658368"/>
          </a:xfrm>
          <a:prstGeom prst="rect">
            <a:avLst/>
          </a:prstGeom>
          <a:noFill/>
          <a:ln/>
        </p:spPr>
        <p:txBody>
          <a:bodyPr wrap="square" lIns="0" tIns="0" rIns="0" bIns="0" rtlCol="0" anchor="t"/>
          <a:lstStyle/>
          <a:p>
            <a:pPr indent="0" marL="0">
              <a:buNone/>
            </a:pPr>
            <a:r>
              <a:rPr lang="en-AU" sz="1600" b="1" dirty="0">
                <a:solidFill>
                  <a:srgbClr val="0E3B43"/>
                </a:solidFill>
                <a:latin typeface="Calibri" pitchFamily="34" charset="0"/>
                <a:ea typeface="Calibri" pitchFamily="34" charset="-122"/>
                <a:cs typeface="Calibri" pitchFamily="34" charset="-120"/>
              </a:rPr>
              <a:t>Evidence and path to CA3</a:t>
            </a:r>
            <a:endParaRPr lang="en-AU" sz="1600" dirty="0"/>
          </a:p>
        </p:txBody>
      </p:sp>
      <p:sp>
        <p:nvSpPr>
          <p:cNvPr id="31" name="Text 24"/>
          <p:cNvSpPr txBox="1"/>
          <p:nvPr/>
        </p:nvSpPr>
        <p:spPr>
          <a:xfrm>
            <a:off x="9303791" y="4023360"/>
            <a:ext cx="2110664" cy="1563624"/>
          </a:xfrm>
          <a:prstGeom prst="rect">
            <a:avLst/>
          </a:prstGeom>
          <a:noFill/>
          <a:ln/>
        </p:spPr>
        <p:txBody>
          <a:bodyPr wrap="square" lIns="0" tIns="0" rIns="0" bIns="0" rtlCol="0" anchor="t"/>
          <a:lstStyle/>
          <a:p>
            <a:pPr indent="0" marL="0">
              <a:buNone/>
            </a:pPr>
            <a:r>
              <a:rPr lang="en-AU" sz="1500" dirty="0">
                <a:solidFill>
                  <a:srgbClr val="1C2B31"/>
                </a:solidFill>
                <a:latin typeface="Calibri" pitchFamily="34" charset="0"/>
                <a:ea typeface="Calibri" pitchFamily="34" charset="-122"/>
                <a:cs typeface="Calibri" pitchFamily="34" charset="-120"/>
              </a:rPr>
              <a:t>Initial evidence: 16 tests passed, SRQ1–SRQ4; CA3 adds lifecycle trust, formal assurance, empirical validation</a:t>
            </a:r>
            <a:endParaRPr lang="en-AU"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E3B43"/>
        </a:solidFill>
      </p:bgPr>
    </p:bg>
    <p:spTree>
      <p:nvGrpSpPr>
        <p:cNvPr id="1" name=""/>
        <p:cNvGrpSpPr/>
        <p:nvPr/>
      </p:nvGrpSpPr>
      <p:grpSpPr>
        <a:xfrm>
          <a:off x="0" y="0"/>
          <a:ext cx="0" cy="0"/>
          <a:chOff x="0" y="0"/>
          <a:chExt cx="0" cy="0"/>
        </a:xfrm>
      </p:grpSpPr>
      <p:sp>
        <p:nvSpPr>
          <p:cNvPr id="3" name="Text 0"/>
          <p:cNvSpPr txBox="1"/>
          <p:nvPr/>
        </p:nvSpPr>
        <p:spPr>
          <a:xfrm>
            <a:off x="548640" y="1828800"/>
            <a:ext cx="7315200" cy="1097280"/>
          </a:xfrm>
          <a:prstGeom prst="rect">
            <a:avLst/>
          </a:prstGeom>
          <a:noFill/>
          <a:ln/>
        </p:spPr>
        <p:txBody>
          <a:bodyPr wrap="square" lIns="0" tIns="0" rIns="0" bIns="0" rtlCol="0" anchor="t"/>
          <a:lstStyle/>
          <a:p>
            <a:pPr indent="0" marL="0">
              <a:buNone/>
            </a:pPr>
            <a:r>
              <a:rPr lang="en-AU" sz="6000" b="1" dirty="0">
                <a:solidFill>
                  <a:srgbClr val="FFFFFF"/>
                </a:solidFill>
                <a:latin typeface="Cambria" pitchFamily="34" charset="0"/>
                <a:ea typeface="Cambria" pitchFamily="34" charset="-122"/>
                <a:cs typeface="Cambria" pitchFamily="34" charset="-120"/>
              </a:rPr>
              <a:t>Thank you</a:t>
            </a:r>
            <a:endParaRPr lang="en-AU" sz="6000" dirty="0"/>
          </a:p>
        </p:txBody>
      </p:sp>
      <p:sp>
        <p:nvSpPr>
          <p:cNvPr id="4" name="Text 1"/>
          <p:cNvSpPr txBox="1"/>
          <p:nvPr/>
        </p:nvSpPr>
        <p:spPr>
          <a:xfrm>
            <a:off x="548640" y="2971800"/>
            <a:ext cx="7315200" cy="548640"/>
          </a:xfrm>
          <a:prstGeom prst="rect">
            <a:avLst/>
          </a:prstGeom>
          <a:noFill/>
          <a:ln/>
        </p:spPr>
        <p:txBody>
          <a:bodyPr wrap="square" lIns="0" tIns="0" rIns="0" bIns="0" rtlCol="0" anchor="t"/>
          <a:lstStyle/>
          <a:p>
            <a:pPr indent="0" marL="0">
              <a:buNone/>
            </a:pPr>
            <a:r>
              <a:rPr lang="en-AU" sz="2400" dirty="0">
                <a:solidFill>
                  <a:srgbClr val="D4A12A"/>
                </a:solidFill>
                <a:latin typeface="Calibri" pitchFamily="34" charset="0"/>
                <a:ea typeface="Calibri" pitchFamily="34" charset="-122"/>
                <a:cs typeface="Calibri" pitchFamily="34" charset="-120"/>
              </a:rPr>
              <a:t>Questions and feedback</a:t>
            </a:r>
            <a:endParaRPr lang="en-AU" sz="2400" dirty="0"/>
          </a:p>
        </p:txBody>
      </p:sp>
      <p:sp>
        <p:nvSpPr>
          <p:cNvPr id="5" name="Text 2"/>
          <p:cNvSpPr txBox="1"/>
          <p:nvPr/>
        </p:nvSpPr>
        <p:spPr>
          <a:xfrm>
            <a:off x="548640" y="4160520"/>
            <a:ext cx="8229600" cy="1188720"/>
          </a:xfrm>
          <a:prstGeom prst="rect">
            <a:avLst/>
          </a:prstGeom>
          <a:noFill/>
          <a:ln/>
        </p:spPr>
        <p:txBody>
          <a:bodyPr wrap="square" lIns="0" tIns="0" rIns="0" bIns="0" rtlCol="0" anchor="t"/>
          <a:lstStyle/>
          <a:p>
            <a:pPr indent="0" marL="0">
              <a:buNone/>
            </a:pPr>
            <a:r>
              <a:rPr lang="en-AU" sz="1600" b="1" dirty="0">
                <a:solidFill>
                  <a:srgbClr val="FFFFFF"/>
                </a:solidFill>
                <a:latin typeface="Calibri" pitchFamily="34" charset="0"/>
                <a:ea typeface="Calibri" pitchFamily="34" charset="-122"/>
                <a:cs typeface="Calibri" pitchFamily="34" charset="-120"/>
              </a:rPr>
              <a:t>Yasir Dhaifallah O Alyoubi</a:t>
            </a:r>
            <a:endParaRPr lang="en-AU" sz="1600" dirty="0"/>
          </a:p>
          <a:p>
            <a:pPr indent="0" marL="0">
              <a:buNone/>
            </a:pPr>
            <a:r>
              <a:rPr lang="en-AU" sz="1400" dirty="0">
                <a:solidFill>
                  <a:srgbClr val="CFE3E6"/>
                </a:solidFill>
                <a:latin typeface="Calibri" pitchFamily="34" charset="0"/>
                <a:ea typeface="Calibri" pitchFamily="34" charset="-122"/>
                <a:cs typeface="Calibri" pitchFamily="34" charset="-120"/>
              </a:rPr>
              <a:t>YasirDhaifallahO.Alyoubi@student.uts.edu.au</a:t>
            </a:r>
            <a:endParaRPr lang="en-AU" sz="1600" dirty="0"/>
          </a:p>
          <a:p>
            <a:pPr indent="0" marL="0">
              <a:buNone/>
            </a:pPr>
            <a:r>
              <a:rPr lang="en-AU" sz="1300" dirty="0">
                <a:solidFill>
                  <a:srgbClr val="CFE3E6"/>
                </a:solidFill>
                <a:latin typeface="Calibri" pitchFamily="34" charset="0"/>
                <a:ea typeface="Calibri" pitchFamily="34" charset="-122"/>
                <a:cs typeface="Calibri" pitchFamily="34" charset="-120"/>
              </a:rPr>
              <a:t>Principal Supervisor: Professor Farookh Hussain  ·  Co-Supervisor: Dr Firas Al-Doghman</a:t>
            </a:r>
            <a:endParaRPr lang="en-AU" sz="1600" dirty="0"/>
          </a:p>
        </p:txBody>
      </p:sp>
      <p:sp>
        <p:nvSpPr>
          <p:cNvPr id="6" name="Shape 3"/>
          <p:cNvSpPr/>
          <p:nvPr/>
        </p:nvSpPr>
        <p:spPr>
          <a:xfrm>
            <a:off x="9052560" y="1554480"/>
            <a:ext cx="2468880" cy="2468880"/>
          </a:xfrm>
          <a:prstGeom prst="ellipse">
            <a:avLst/>
          </a:prstGeom>
          <a:solidFill>
            <a:srgbClr val="0E3B43"/>
          </a:solidFill>
          <a:ln w="38100">
            <a:solidFill>
              <a:srgbClr val="D4A12A"/>
            </a:solidFill>
            <a:prstDash val="solid"/>
          </a:ln>
        </p:spPr>
      </p:sp>
      <p:pic>
        <p:nvPicPr>
          <p:cNvPr id="7" name="Image 0" descr="preencoded.png">    </p:cNvPr>
          <p:cNvPicPr>
            <a:picLocks noChangeAspect="1"/>
          </p:cNvPicPr>
          <p:nvPr/>
        </p:nvPicPr>
        <p:blipFill>
          <a:blip r:embed="rId1"/>
          <a:stretch>
            <a:fillRect/>
          </a:stretch>
        </p:blipFill>
        <p:spPr>
          <a:xfrm>
            <a:off x="9646920" y="2148840"/>
            <a:ext cx="1280160" cy="1280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University of Technology Sydney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PptxGenJS Presentation</dc:subject>
  <dc:creator>Yasir Dhaifallah O Alyoubi</dc:creator>
  <cp:lastModifiedBy>Yasir Dhaifallah O Alyoubi</cp:lastModifiedBy>
  <cp:revision>1</cp:revision>
  <dcterms:created xsi:type="dcterms:W3CDTF">2026-09-30T15:11:43Z</dcterms:created>
  <dcterms:modified xsi:type="dcterms:W3CDTF">2026-09-30T15:11:43Z</dcterms:modified>
</cp:coreProperties>
</file>
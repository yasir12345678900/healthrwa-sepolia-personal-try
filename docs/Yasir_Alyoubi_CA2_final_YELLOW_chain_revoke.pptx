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56" r:id="rId2"/>
    <p:sldId id="257" r:id="rId3"/>
    <p:sldId id="258" r:id="rId4"/>
    <p:sldId id="259" r:id="rId5"/>
    <p:sldId id="415" r:id="rId6"/>
    <p:sldId id="305" r:id="rId7"/>
    <p:sldId id="306" r:id="rId8"/>
    <p:sldId id="309" r:id="rId9"/>
    <p:sldId id="414" r:id="rId10"/>
    <p:sldId id="312" r:id="rId11"/>
    <p:sldId id="313" r:id="rId12"/>
    <p:sldId id="262" r:id="rId13"/>
    <p:sldId id="302" r:id="rId14"/>
    <p:sldId id="263" r:id="rId15"/>
    <p:sldId id="264" r:id="rId16"/>
    <p:sldId id="410" r:id="rId17"/>
    <p:sldId id="266" r:id="rId18"/>
    <p:sldId id="267" r:id="rId19"/>
    <p:sldId id="268" r:id="rId20"/>
    <p:sldId id="269" r:id="rId21"/>
    <p:sldId id="270" r:id="rId22"/>
    <p:sldId id="271" r:id="rId23"/>
    <p:sldId id="272" r:id="rId24"/>
    <p:sldId id="273" r:id="rId25"/>
    <p:sldId id="274" r:id="rId26"/>
    <p:sldId id="275" r:id="rId27"/>
    <p:sldId id="276" r:id="rId28"/>
    <p:sldId id="278" r:id="rId29"/>
    <p:sldId id="413" r:id="rId30"/>
    <p:sldId id="293" r:id="rId31"/>
    <p:sldId id="294" r:id="rId32"/>
    <p:sldId id="295" r:id="rId33"/>
    <p:sldId id="296" r:id="rId34"/>
    <p:sldId id="297" r:id="rId35"/>
    <p:sldId id="280" r:id="rId36"/>
    <p:sldId id="417" r:id="rId37"/>
    <p:sldId id="281" r:id="rId38"/>
    <p:sldId id="282" r:id="rId39"/>
    <p:sldId id="284" r:id="rId40"/>
    <p:sldId id="416" r:id="rId41"/>
    <p:sldId id="412" r:id="rId42"/>
    <p:sldId id="411" r:id="rId43"/>
    <p:sldId id="290" r:id="rId44"/>
    <p:sldId id="291" r:id="rId45"/>
    <p:sldId id="289" r:id="rId46"/>
    <p:sldId id="300" r:id="rId47"/>
    <p:sldId id="301" r:id="rId4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A6942778-0A59-C3A1-24F4-DFEFB294A139}">
          <p14:sldIdLst>
            <p14:sldId id="256"/>
            <p14:sldId id="257"/>
          </p14:sldIdLst>
        </p14:section>
        <p14:section name="The Problem" id="{96F6FDF1-3C7D-C7BC-4CB4-44E808112E56}">
          <p14:sldIdLst>
            <p14:sldId id="258"/>
            <p14:sldId id="259"/>
          </p14:sldIdLst>
        </p14:section>
        <p14:section name="Literature Review" id="{AA021B7A-1D89-DD7B-6EEA-931123681486}">
          <p14:sldIdLst>
            <p14:sldId id="415"/>
            <p14:sldId id="305"/>
            <p14:sldId id="306"/>
            <p14:sldId id="309"/>
            <p14:sldId id="414"/>
            <p14:sldId id="312"/>
            <p14:sldId id="313"/>
          </p14:sldIdLst>
        </p14:section>
        <p14:section name="Gap, Questions and Objectives" id="{ACB741F8-7344-E54E-3520-6B498F895C17}">
          <p14:sldIdLst>
            <p14:sldId id="262"/>
            <p14:sldId id="302"/>
            <p14:sldId id="263"/>
            <p14:sldId id="264"/>
            <p14:sldId id="410"/>
          </p14:sldIdLst>
        </p14:section>
        <p14:section name="The Framework" id="{4674AA55-3218-DA15-E297-A596FB9CE1A2}">
          <p14:sldIdLst>
            <p14:sldId id="266"/>
            <p14:sldId id="267"/>
            <p14:sldId id="268"/>
            <p14:sldId id="269"/>
            <p14:sldId id="270"/>
            <p14:sldId id="271"/>
            <p14:sldId id="272"/>
            <p14:sldId id="273"/>
            <p14:sldId id="274"/>
            <p14:sldId id="275"/>
            <p14:sldId id="276"/>
            <p14:sldId id="278"/>
          </p14:sldIdLst>
        </p14:section>
        <p14:section name="Demo: The HALAH Prototype" id="{611104C4-4282-3E95-1D48-D00FE3F4F3EA}">
          <p14:sldIdLst>
            <p14:sldId id="413"/>
            <p14:sldId id="293"/>
            <p14:sldId id="294"/>
            <p14:sldId id="295"/>
            <p14:sldId id="296"/>
            <p14:sldId id="297"/>
          </p14:sldIdLst>
        </p14:section>
        <p14:section name="Validation and Evaluation" id="{38214D88-01AF-845D-D65A-C9A4BC2C85DF}">
          <p14:sldIdLst>
            <p14:sldId id="280"/>
            <p14:sldId id="417"/>
            <p14:sldId id="281"/>
            <p14:sldId id="282"/>
          </p14:sldIdLst>
        </p14:section>
        <p14:section name="Contribution" id="{EB11EB97-8735-E73D-577A-B2BB861A5EB4}">
          <p14:sldIdLst>
            <p14:sldId id="284"/>
            <p14:sldId id="416"/>
            <p14:sldId id="412"/>
            <p14:sldId id="411"/>
          </p14:sldIdLst>
        </p14:section>
        <p14:section name="Research Plan" id="{1F39EFB8-3D03-66B5-86E7-768BA670C7C2}">
          <p14:sldIdLst>
            <p14:sldId id="290"/>
            <p14:sldId id="291"/>
            <p14:sldId id="289"/>
          </p14:sldIdLst>
        </p14:section>
        <p14:section name="References" id="{40AA16BB-153B-BBB1-53BB-0EB6F21829F3}">
          <p14:sldIdLst>
            <p14:sldId id="300"/>
          </p14:sldIdLst>
        </p14:section>
        <p14:section name="Thank You" id="{FD86D728-DF0D-F8E8-99EB-24A0646BFE01}">
          <p14:sldIdLst>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72976" autoAdjust="0"/>
  </p:normalViewPr>
  <p:slideViewPr>
    <p:cSldViewPr snapToGrid="0" snapToObjects="1">
      <p:cViewPr>
        <p:scale>
          <a:sx n="66" d="100"/>
          <a:sy n="66" d="100"/>
        </p:scale>
        <p:origin x="442" y="-206"/>
      </p:cViewPr>
      <p:guideLst/>
    </p:cSldViewPr>
  </p:slideViewPr>
  <p:notesTextViewPr>
    <p:cViewPr>
      <p:scale>
        <a:sx n="125" d="100"/>
        <a:sy n="125" d="100"/>
      </p:scale>
      <p:origin x="0" y="0"/>
    </p:cViewPr>
  </p:notesTextViewPr>
  <p:sorterViewPr>
    <p:cViewPr>
      <p:scale>
        <a:sx n="100" d="100"/>
        <a:sy n="100" d="100"/>
      </p:scale>
      <p:origin x="0" y="-8467"/>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strRef>
              <c:f>Sheet1!$B$1</c:f>
              <c:strCache>
                <c:ptCount val="1"/>
                <c:pt idx="0">
                  <c:v>Records</c:v>
                </c:pt>
              </c:strCache>
            </c:strRef>
          </c:tx>
          <c:spPr>
            <a:solidFill>
              <a:srgbClr val="146BA8"/>
            </a:solidFill>
            <a:ln w="0">
              <a:noFill/>
              <a:prstDash val="solid"/>
            </a:ln>
          </c:spPr>
          <c:invertIfNegative val="0"/>
          <c:dLbls>
            <c:numFmt formatCode="#,##0" sourceLinked="0"/>
            <c:spPr>
              <a:noFill/>
              <a:ln>
                <a:noFill/>
              </a:ln>
              <a:effectLst/>
            </c:spPr>
            <c:txPr>
              <a:bodyPr anchorCtr="1"/>
              <a:lstStyle/>
              <a:p>
                <a:pPr>
                  <a:defRPr sz="1575" b="1">
                    <a:solidFill>
                      <a:srgbClr val="103B64"/>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ACM Digital Library</c:v>
                </c:pt>
                <c:pt idx="1">
                  <c:v>ScienceDirect</c:v>
                </c:pt>
                <c:pt idx="2">
                  <c:v>Web of Science</c:v>
                </c:pt>
                <c:pt idx="3">
                  <c:v>ProQuest</c:v>
                </c:pt>
                <c:pt idx="4">
                  <c:v>IEEE Xplore</c:v>
                </c:pt>
                <c:pt idx="5">
                  <c:v>Scopus</c:v>
                </c:pt>
                <c:pt idx="6">
                  <c:v>SpringerLink</c:v>
                </c:pt>
              </c:strCache>
            </c:strRef>
          </c:cat>
          <c:val>
            <c:numRef>
              <c:f>Sheet1!$B$2:$B$8</c:f>
              <c:numCache>
                <c:formatCode>General</c:formatCode>
                <c:ptCount val="7"/>
                <c:pt idx="0">
                  <c:v>11</c:v>
                </c:pt>
                <c:pt idx="1">
                  <c:v>14</c:v>
                </c:pt>
                <c:pt idx="2">
                  <c:v>19</c:v>
                </c:pt>
                <c:pt idx="3">
                  <c:v>24</c:v>
                </c:pt>
                <c:pt idx="4">
                  <c:v>27</c:v>
                </c:pt>
                <c:pt idx="5">
                  <c:v>38</c:v>
                </c:pt>
                <c:pt idx="6">
                  <c:v>46</c:v>
                </c:pt>
              </c:numCache>
            </c:numRef>
          </c:val>
          <c:extLst>
            <c:ext xmlns:c16="http://schemas.microsoft.com/office/drawing/2014/chart" uri="{C3380CC4-5D6E-409C-BE32-E72D297353CC}">
              <c16:uniqueId val="{00000000-E386-47AE-AE7D-FC61AB4A6902}"/>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l"/>
        <c:numFmt formatCode="General" sourceLinked="1"/>
        <c:majorTickMark val="none"/>
        <c:minorTickMark val="none"/>
        <c:tickLblPos val="nextTo"/>
        <c:spPr>
          <a:ln w="0">
            <a:noFill/>
            <a:prstDash val="solid"/>
          </a:ln>
        </c:spPr>
        <c:txPr>
          <a:bodyPr anchorCtr="1"/>
          <a:lstStyle/>
          <a:p>
            <a:pPr>
              <a:defRPr sz="1500">
                <a:solidFill>
                  <a:srgbClr val="24415C"/>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0"/>
        </c:scaling>
        <c:delete val="1"/>
        <c:axPos val="b"/>
        <c:majorGridlines>
          <c:spPr>
            <a:ln w="9525">
              <a:solidFill>
                <a:srgbClr val="DCE9F4"/>
              </a:solidFill>
              <a:prstDash val="solid"/>
            </a:ln>
          </c:spPr>
        </c:majorGridlines>
        <c:numFmt formatCode="General" sourceLinked="1"/>
        <c:majorTickMark val="none"/>
        <c:minorTickMark val="none"/>
        <c:tickLblPos val="nextTo"/>
        <c:crossAx val="48650112"/>
        <c:crosses val="autoZero"/>
        <c:crossBetween val="between"/>
        <c:majorUnit val="10"/>
      </c:valAx>
      <c:spPr>
        <a:noFill/>
        <a:ln w="0">
          <a:noFill/>
          <a:prstDash val="solid"/>
        </a:ln>
      </c:spPr>
    </c:plotArea>
    <c:plotVisOnly val="1"/>
    <c:dispBlanksAs val="zero"/>
    <c:showDLblsOverMax val="1"/>
  </c:chart>
  <c:spPr>
    <a:no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4657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Good </a:t>
            </a:r>
            <a:r>
              <a:rPr lang="en-US" dirty="0"/>
              <a:t>afternoon</a:t>
            </a:r>
            <a:r>
              <a:rPr dirty="0"/>
              <a:t> everyone. My name is Yasir Alyoubi. My principal supervisor is Professor Farookh Hussain, and my co-supervisor is Dr Firas Al-</a:t>
            </a:r>
            <a:r>
              <a:rPr dirty="0" err="1"/>
              <a:t>Doghman</a:t>
            </a:r>
            <a:r>
              <a:rPr dirty="0"/>
              <a:t>.</a:t>
            </a:r>
          </a:p>
          <a:p>
            <a:r>
              <a:rPr dirty="0"/>
              <a:t>My research asks one simple question: when a doctor asks for a patient's data, how can the system be sure the request is really allowed? Not only who is asking, but also: did the patient and the guardians agree, and is the request still inside what they agreed 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the </a:t>
            </a:r>
            <a:r>
              <a:rPr lang="en-US" dirty="0"/>
              <a:t>outline </a:t>
            </a:r>
            <a:r>
              <a:rPr dirty="0"/>
              <a:t>. I start with the research problem, then the literature review and the research gap. Then I present the research questions and objectives, and the research methodology. After that, I give an overview of the solution for each objective, with the prototype and its validation. I finish with the research contributions, my publications and my research plan.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Let me start with the problem. Health data is shared between many independent parties: the patient, the guardians, the doctor and the hospital.</a:t>
            </a:r>
          </a:p>
          <a:p>
            <a:r>
              <a:rPr dirty="0"/>
              <a:t>Today, consent is usually just a stored record. It says that permission was given, but it does not check anything when someone asks for the data.</a:t>
            </a:r>
          </a:p>
          <a:p>
            <a:r>
              <a:rPr dirty="0"/>
              <a:t>A valid login does not prove you have the right to see this patient's data. A request can also ask for more data than agreed, or come after the consent has expired or been </a:t>
            </a:r>
            <a:r>
              <a:rPr dirty="0">
                <a:highlight>
                  <a:srgbClr val="FFFF00"/>
                </a:highlight>
              </a:rPr>
              <a:t>revoked</a:t>
            </a:r>
            <a:r>
              <a:rPr dirty="0"/>
              <a:t>.</a:t>
            </a:r>
          </a:p>
          <a:p>
            <a:r>
              <a:rPr dirty="0"/>
              <a:t>So the main problem is: there is no trusted mechanism that checks all these conditions together, in one decision, with evidence that it is secure.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key idea is to check consent at every data request, not just store it. We check identity, required approvals, purpose and data scope, time, consent status, and supporting evidence. Access is allowed only when all required checks pass.</a:t>
            </a:r>
          </a:p>
          <a:p>
            <a:r>
              <a:rPr lang="en-US" dirty="0"/>
              <a:t>----------------------------------------------------------------------------------------------------------------------------</a:t>
            </a:r>
          </a:p>
          <a:p>
            <a:r>
              <a:rPr dirty="0"/>
              <a:t>My key idea is simple. Consent should not be a record that we store. It should be an object that the system checks at every request.</a:t>
            </a:r>
          </a:p>
          <a:p>
            <a:r>
              <a:rPr dirty="0"/>
              <a:t>I call this object C, and it has six parts. I is identity: who the patient, doctor and guardians are. A is </a:t>
            </a:r>
            <a:r>
              <a:rPr dirty="0" err="1"/>
              <a:t>authorisation</a:t>
            </a:r>
            <a:r>
              <a:rPr dirty="0"/>
              <a:t>: the guardian set</a:t>
            </a:r>
            <a:r>
              <a:rPr lang="en-US" dirty="0"/>
              <a:t> as </a:t>
            </a:r>
            <a:r>
              <a:rPr dirty="0"/>
              <a:t> G and how many approvals are needed. P is policy: the purpose and the data scope. T is time: when the consent starts and ends. L is lifecycle: the current state of the consent. E is evidence: signatures, the token, and the revocation status.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slide shows how I selected the studies for my literature review.</a:t>
            </a:r>
          </a:p>
          <a:p>
            <a:r>
              <a:rPr lang="en-AU" dirty="0"/>
              <a:t>I started with 179 records and removed 21 duplicates. After screening the titles and abstracts, I reviewed 39 full-text studies. I excluded 14 and included 25 studies in the final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slide shows my database search results.</a:t>
            </a:r>
          </a:p>
          <a:p>
            <a:r>
              <a:rPr lang="en-AU" dirty="0"/>
              <a:t>I searched seven academic databases for studies published from 2020 to 2026. I found 179 records before removing duplicates. SpringerLink had the most results, followed by Scopus and IEEE Xplore.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in this slide I show  </a:t>
            </a:r>
            <a:r>
              <a:rPr dirty="0"/>
              <a:t>inclusion and exclusion criteria. </a:t>
            </a:r>
            <a:r>
              <a:rPr lang="en-AU" dirty="0"/>
              <a:t>I included peer-reviewed English studies from 2020 to 2026 on consent or authorisation for healthcare data sharing. Each study had to address a review question and have its full text available. I excluded unrelated studies, duplicates, non-peer-reviewed work, and studies that only covered authentication or briefly mentioned consent.</a:t>
            </a:r>
          </a:p>
          <a:p>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a:t>
            </a:r>
            <a:r>
              <a:rPr dirty="0"/>
              <a:t>quality assessment. </a:t>
            </a:r>
            <a:r>
              <a:rPr lang="en-AU" dirty="0"/>
              <a:t>I used six questions, each linked to a research question. I checked consent modelling, identity and authority, multi-party approval, policy enforcement, time and revocation, and security validation.</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Here </a:t>
            </a:r>
            <a:r>
              <a:rPr lang="en-US" dirty="0"/>
              <a:t>are</a:t>
            </a:r>
            <a:r>
              <a:rPr dirty="0"/>
              <a:t> the list of the 25 primary studies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Moving to </a:t>
            </a:r>
            <a:r>
              <a:rPr lang="en-AU" sz="1200" b="1" dirty="0">
                <a:solidFill>
                  <a:srgbClr val="103B64"/>
                </a:solidFill>
                <a:latin typeface="Arial"/>
                <a:ea typeface="Arial"/>
                <a:cs typeface="Arial"/>
              </a:rPr>
              <a:t>STUDY COMPARISON </a:t>
            </a:r>
            <a:r>
              <a:rPr dirty="0"/>
              <a:t>This table compares studies S1 to S13 against my six requirements.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dirty="0"/>
              <a:t>Yes means the study fully meets the requirement. </a:t>
            </a:r>
            <a:r>
              <a:rPr lang="en-US" dirty="0"/>
              <a:t>NO</a:t>
            </a:r>
            <a:r>
              <a:rPr dirty="0"/>
              <a:t> means it does not fully meet it.</a:t>
            </a:r>
          </a:p>
          <a:p>
            <a:r>
              <a:rPr dirty="0"/>
              <a:t>You can see that each study is strong in some areas but weak in others. For example, Madine and colleagues meet four requirements, but not policy and assurance. No row is Yes across all six columns.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the second half of the comparison,</a:t>
            </a:r>
            <a:r>
              <a:rPr lang="en-US" dirty="0"/>
              <a:t> until the study </a:t>
            </a:r>
            <a:r>
              <a:rPr dirty="0"/>
              <a:t>S25. </a:t>
            </a:r>
            <a:endParaRPr lang="en-US" dirty="0"/>
          </a:p>
          <a:p>
            <a:endParaRPr lang="en-US" dirty="0"/>
          </a:p>
          <a:p>
            <a:endParaRPr lang="en-US" dirty="0"/>
          </a:p>
          <a:p>
            <a:r>
              <a:rPr lang="en-US" dirty="0"/>
              <a:t>-----------------------------------------------------------------------------------------------------</a:t>
            </a:r>
          </a:p>
          <a:p>
            <a:r>
              <a:rPr dirty="0"/>
              <a:t>The pattern is the same. Multi-party approval, in the Req 3 column, is mostly missing.</a:t>
            </a:r>
          </a:p>
          <a:p>
            <a:r>
              <a:rPr dirty="0"/>
              <a:t>For example, Phuyal and colleagues are strong on identity and assurance, but consent is given by one patient only, with no multi-party approval. So no single study meets all six requirements, and this is the gap my research addresses.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a:t>
            </a:r>
            <a:r>
              <a:rPr lang="en-US" dirty="0" err="1"/>
              <a:t>reseaech</a:t>
            </a:r>
            <a:r>
              <a:rPr lang="en-US" dirty="0"/>
              <a:t> gap for my study is </a:t>
            </a:r>
          </a:p>
          <a:p>
            <a:endParaRPr lang="en-US" dirty="0"/>
          </a:p>
          <a:p>
            <a:r>
              <a:rPr lang="en-US" dirty="0"/>
              <a:t>So the research gap for my study is the lack of one integrated framework that verifies identity and authority, supports multi-party consent, and enforces access policies, data scope, time limits, and lifecycle .</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 From this research gap comes my main research question which is How can we build a trusted framework for multi-party consent in healthcare data sharing?</a:t>
            </a:r>
          </a:p>
          <a:p>
            <a:r>
              <a:rPr lang="ar-SA" dirty="0"/>
              <a:t>----------------------------------------------------------------------------------------------------------------------------------------------</a:t>
            </a:r>
            <a:endParaRPr dirty="0"/>
          </a:p>
          <a:p>
            <a:r>
              <a:rPr dirty="0"/>
              <a:t>Establish means creating trusted participants and a collective decision. Enforce means checking these conditions every time someone asks for data.</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6 sub questions I have</a:t>
            </a:r>
            <a:endParaRPr lang="en-AU" dirty="0"/>
          </a:p>
          <a:p>
            <a:r>
              <a:rPr lang="en-AU" dirty="0"/>
              <a:t>RQ1 focuses on consent modelling.</a:t>
            </a:r>
          </a:p>
          <a:p>
            <a:r>
              <a:rPr lang="en-AU" dirty="0"/>
              <a:t>RQ2 covers identity and authority.</a:t>
            </a:r>
          </a:p>
          <a:p>
            <a:r>
              <a:rPr lang="en-AU" dirty="0"/>
              <a:t>RQ3 addresses multi-party approval.</a:t>
            </a:r>
          </a:p>
          <a:p>
            <a:r>
              <a:rPr lang="en-AU" dirty="0"/>
              <a:t>RQ4 examines access policies and data scope.</a:t>
            </a:r>
          </a:p>
          <a:p>
            <a:r>
              <a:rPr lang="en-AU" dirty="0"/>
              <a:t>RQ5 deals with time, expiry, and revocation.</a:t>
            </a:r>
          </a:p>
          <a:p>
            <a:r>
              <a:rPr lang="en-AU" dirty="0"/>
              <a:t>RQ6 evaluates security and access decisions.</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So, we take the previous six sub-research questions and turn them into six research objectives, as shown here.</a:t>
            </a:r>
          </a:p>
          <a:p>
            <a:r>
              <a:rPr lang="en-US" dirty="0"/>
              <a:t>--------------------------------------------------------------------------------------------------------------------------------</a:t>
            </a:r>
          </a:p>
          <a:p>
            <a:endParaRPr lang="en-US" dirty="0"/>
          </a:p>
          <a:p>
            <a:r>
              <a:rPr dirty="0"/>
              <a:t>Each research question has one objective.</a:t>
            </a:r>
          </a:p>
          <a:p>
            <a:r>
              <a:rPr dirty="0"/>
              <a:t>RO1 builds the consent model. RO2 verifies identity and authority with DIDs and verifiable credentials. RO3 builds the multi-party approval with a threshold. RO4 checks the purpose and the data scope of each request. RO5 adds time and lifecycle controls. RO6 analyses and tests the security of the whole framework.</a:t>
            </a:r>
            <a:endParaRPr lang="en-US" dirty="0"/>
          </a:p>
          <a:p>
            <a:r>
              <a:rPr lang="en-US" dirty="0"/>
              <a:t>--------------------------------------------------------------------------------------------------------------------------</a:t>
            </a:r>
          </a:p>
          <a:p>
            <a:r>
              <a:rPr lang="en-AU" dirty="0"/>
              <a:t>RO1 turns consent from a stored record into an object with six parts: identity, authorisation, policy, time, lifecycle and evidence. At every request, the system checks the request against these parts. For example, if the consent allows only Observation and Medication, a request for Procedure is denied, even from the right doctor.”</a:t>
            </a:r>
          </a:p>
          <a:p>
            <a:r>
              <a:rPr lang="en-AU" dirty="0"/>
              <a:t>--------------------------------------------------------------------------------------------------------------------------------</a:t>
            </a:r>
          </a:p>
          <a:p>
            <a:r>
              <a:rPr lang="en-AU" dirty="0"/>
              <a:t>“RO2 separates identity from authority. The DID shows who the participant is, and the verifiable credential shows what they are allowed to do, for example that they are a doctor or a guardian. A valid DID alone never gives access. In the prototype, each guardian’s credential is checked before their signature is accepted, and the doctor’s credential is checked at every request, together with a check that this is the doctor named in the consent. Full DID resolution is planned for the next stage.”</a:t>
            </a:r>
          </a:p>
          <a:p>
            <a:r>
              <a:rPr lang="en-AU" dirty="0"/>
              <a:t>---------------------------------------------------------------------------------------------------------------------</a:t>
            </a:r>
          </a:p>
          <a:p>
            <a:r>
              <a:rPr lang="en-AU" dirty="0"/>
              <a:t>“RO3 makes consent a collective decision. The patient defines a guardian set G, and the consent becomes active only when the required number of guardians approve. Each guardian signs an EIP-712 approval, and the system checks that the signer is in G. Approvals from outsiders and repeated approvals are not counted, so no single person can activate the consent alone. In the prototype, every listed guardian must sign: two of two in the demo.”</a:t>
            </a:r>
          </a:p>
          <a:p>
            <a:r>
              <a:rPr lang="en-AU" dirty="0"/>
              <a:t>------------------------------------------------------------------------------------------------------------------------</a:t>
            </a:r>
            <a:endParaRPr lang="ar-SA" dirty="0"/>
          </a:p>
          <a:p>
            <a:r>
              <a:rPr lang="en-AU" dirty="0"/>
              <a:t>“The rule is N-of-N, so every guardian in G must sign. The prototype accepts more than two guardians, but I </a:t>
            </a:r>
            <a:r>
              <a:rPr lang="en-AU" b="1" dirty="0"/>
              <a:t>showed</a:t>
            </a:r>
            <a:r>
              <a:rPr lang="en-AU" dirty="0"/>
              <a:t> and </a:t>
            </a:r>
            <a:r>
              <a:rPr lang="en-AU" b="1" dirty="0"/>
              <a:t>tested</a:t>
            </a:r>
            <a:r>
              <a:rPr lang="en-AU" dirty="0"/>
              <a:t> it with two, so two of two.”</a:t>
            </a:r>
          </a:p>
          <a:p>
            <a:r>
              <a:rPr lang="en-AU" dirty="0"/>
              <a:t>-------------------------------------------</a:t>
            </a:r>
          </a:p>
          <a:p>
            <a:r>
              <a:rPr lang="en-AU" dirty="0"/>
              <a:t>RO3 makes consent a collective decision. The patient chooses a guardian set G, and the consent becomes active only when every guardian in G signs. Each guardian signs an EIP-712 approval, and the system checks that the signer is in G. Approvals from outsiders and repeated approvals are not counted, so no single person can activate the consent alone. I tested it with two guardians, so two of two. Then a </a:t>
            </a:r>
            <a:r>
              <a:rPr lang="en-AU" dirty="0" err="1"/>
              <a:t>soulbound</a:t>
            </a:r>
            <a:r>
              <a:rPr lang="en-AU" dirty="0"/>
              <a:t> token is minted on </a:t>
            </a:r>
            <a:r>
              <a:rPr lang="en-AU" dirty="0" err="1"/>
              <a:t>Sepolia</a:t>
            </a:r>
            <a:r>
              <a:rPr lang="en-AU" dirty="0"/>
              <a:t> in the background.”</a:t>
            </a:r>
          </a:p>
          <a:p>
            <a:r>
              <a:rPr lang="en-AU" dirty="0"/>
              <a:t>----------------------------------------------------------------</a:t>
            </a:r>
          </a:p>
          <a:p>
            <a:r>
              <a:rPr lang="en-AU" dirty="0"/>
              <a:t>“RO4 checks each request against the consent policy. A valid identity and all the approvals are still not enough. The requested data must be inside the scope the patient agreed to, and the purpose must be a supported purpose. For example, if the consent allows only Observation and Medication, a request for Procedure is denied. An empty request is also denied. In the prototype, the request uses the consent’s own purpose, so comparing a separate request purpose is planned for the next stage.”</a:t>
            </a:r>
          </a:p>
          <a:p>
            <a:r>
              <a:rPr lang="en-AU" dirty="0"/>
              <a:t>------------------------------------------------------------------------</a:t>
            </a:r>
          </a:p>
          <a:p>
            <a:r>
              <a:rPr lang="en-AU" dirty="0"/>
              <a:t>“RO5 adds time and lifecycle. A consent is not valid forever. It has a start and an end time, and a state such as pending, active, expired or </a:t>
            </a:r>
            <a:r>
              <a:rPr lang="en-AU" dirty="0">
                <a:highlight>
                  <a:srgbClr val="FFFF00"/>
                </a:highlight>
              </a:rPr>
              <a:t>revoked</a:t>
            </a:r>
            <a:r>
              <a:rPr lang="en-AU" dirty="0"/>
              <a:t>. At every request, the system checks the time window and the state, and access is allowed only when the consent is ACTIVE. Today, the validity window is stored </a:t>
            </a:r>
            <a:r>
              <a:rPr lang="en-AU" dirty="0">
                <a:highlight>
                  <a:srgbClr val="FFFF00"/>
                </a:highlight>
              </a:rPr>
              <a:t>on-chain</a:t>
            </a:r>
            <a:r>
              <a:rPr lang="en-AU" dirty="0"/>
              <a:t>, and revocation works end to end, with an </a:t>
            </a:r>
            <a:r>
              <a:rPr lang="en-AU" dirty="0">
                <a:highlight>
                  <a:srgbClr val="FFFF00"/>
                </a:highlight>
              </a:rPr>
              <a:t>on-chain</a:t>
            </a:r>
            <a:r>
              <a:rPr lang="en-AU" dirty="0"/>
              <a:t> </a:t>
            </a:r>
            <a:r>
              <a:rPr lang="en-AU" dirty="0">
                <a:highlight>
                  <a:srgbClr val="FFFF00"/>
                </a:highlight>
              </a:rPr>
              <a:t>revoke</a:t>
            </a:r>
            <a:r>
              <a:rPr lang="en-AU" dirty="0"/>
              <a:t> transaction. In the next stage I will add the SUSPENDED state, the transition check, consent changes and a formal lifecycle model.”</a:t>
            </a:r>
          </a:p>
          <a:p>
            <a:r>
              <a:rPr lang="en-AU" dirty="0"/>
              <a:t>-----------------------------------------------------------------------------------------</a:t>
            </a:r>
          </a:p>
          <a:p>
            <a:r>
              <a:rPr lang="en-AU" dirty="0"/>
              <a:t>“RO6 checks that the framework really does what it should, in two ways. The testing part is done: 46 automated tests pass, including twelve attack scenarios, and all attacks are refused. I also measured gas, confirmation time and processing time. The formal part is for the next stage: proofs or model checking, to show that no path in the system can give access when a condition fails.”</a:t>
            </a:r>
            <a:endParaRPr lang="ar-SA" dirty="0"/>
          </a:p>
          <a:p>
            <a:r>
              <a:rPr lang="ar-SA"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“The six objectives build on each other to answer one question: is this data request really allowed? Take a patient, Ahmed, who is a minor. In RO1, Ahmed creates a consent as an object, not just a record: it names Dr Khalid, two guardians, the purpose Treatment, only Observation and Medication data, and a time window from October to December. In RO2, the system checks each person’s identity with a DID and their authority with a verifiable credential, and identity alone never gives access. In RO3, the consent becomes active only when both guardians sign, so no single person can approve alone. In RO4, when Dr Khalid asks for data, a request for Observation is allowed, but a request for Procedure is denied. In RO5, if he asks in January after the consent has expired, or after Ahmed </a:t>
            </a:r>
            <a:r>
              <a:rPr lang="en-AU" dirty="0">
                <a:highlight>
                  <a:srgbClr val="FFFF00"/>
                </a:highlight>
              </a:rPr>
              <a:t>revokes</a:t>
            </a:r>
            <a:r>
              <a:rPr lang="en-AU" dirty="0"/>
              <a:t> it, the request is denied. In RO6, I showed that all of this works: 46 tests pass and all twelve attacks are refused, and formal proofs come in the next stage. So Dr Khalid sees the data only when every condition is true at the same time.”</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Here is the research methodology we used, which is based on Design Science Research (DSR).</a:t>
            </a:r>
          </a:p>
          <a:p>
            <a:r>
              <a:rPr lang="en-AU" dirty="0"/>
              <a:t>It has five stages, starting with identifying the problem, followed by designing, developing, and testing our solution.</a:t>
            </a:r>
          </a:p>
          <a:p>
            <a:r>
              <a:rPr lang="en-AU" dirty="0"/>
              <a:t>Finally, we evaluate the results and present our conclusions.</a:t>
            </a:r>
          </a:p>
          <a:p>
            <a:pPr marL="0" marR="0" lvl="0" indent="0" algn="l" defTabSz="914400" rtl="0" eaLnBrk="1" fontAlgn="auto" latinLnBrk="0" hangingPunct="1">
              <a:lnSpc>
                <a:spcPct val="100000"/>
              </a:lnSpc>
              <a:spcBef>
                <a:spcPts val="0"/>
              </a:spcBef>
              <a:spcAft>
                <a:spcPts val="0"/>
              </a:spcAft>
              <a:buClrTx/>
              <a:buSzTx/>
              <a:buFontTx/>
              <a:buNone/>
              <a:tabLst/>
              <a:defRPr/>
            </a:pPr>
            <a:r>
              <a:rPr lang="ar-SA" dirty="0"/>
              <a:t>----------------------------------------------------------------------------------------------------------------------</a:t>
            </a:r>
            <a:endParaRPr dirty="0"/>
          </a:p>
          <a:p>
            <a:r>
              <a:rPr dirty="0"/>
              <a:t>The arrows show that knowledge from each stage goes back into the process, so the design improves in each iteration.</a:t>
            </a:r>
          </a:p>
        </p:txBody>
      </p:sp>
      <p:sp>
        <p:nvSpPr>
          <p:cNvPr id="4" name="Slide Number Placeholder 3"/>
          <p:cNvSpPr>
            <a:spLocks noGrp="1"/>
          </p:cNvSpPr>
          <p:nvPr>
            <p:ph type="sldNum" sz="quarter" idx="5"/>
          </p:nvPr>
        </p:nvSpPr>
        <p:spPr/>
        <p:txBody>
          <a:bodyPr/>
          <a:lstStyle/>
          <a:p>
            <a:fld id="{C65C87FE-7F56-4B2A-AEE0-F5C409B9B5DE}" type="slidenum">
              <a:rPr lang="en-AU" smtClean="0"/>
              <a:t>16</a:t>
            </a:fld>
            <a:endParaRPr lang="en-AU"/>
          </a:p>
        </p:txBody>
      </p:sp>
    </p:spTree>
    <p:extLst>
      <p:ext uri="{BB962C8B-B14F-4D97-AF65-F5344CB8AC3E}">
        <p14:creationId xmlns:p14="http://schemas.microsoft.com/office/powerpoint/2010/main" val="2089590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show the MVC architecture model.</a:t>
            </a:r>
          </a:p>
          <a:p>
            <a:endParaRPr lang="en-US" dirty="0"/>
          </a:p>
          <a:p>
            <a:r>
              <a:rPr lang="en-US" dirty="0"/>
              <a:t>It has three layers.</a:t>
            </a:r>
          </a:p>
          <a:p>
            <a:endParaRPr lang="en-US" dirty="0"/>
          </a:p>
          <a:p>
            <a:r>
              <a:rPr lang="en-US" dirty="0"/>
              <a:t>First, the View allows users to interact with the system.</a:t>
            </a:r>
          </a:p>
          <a:p>
            <a:endParaRPr lang="en-US" dirty="0"/>
          </a:p>
          <a:p>
            <a:r>
              <a:rPr lang="en-US" dirty="0"/>
              <a:t>Second, the Controller checks identity, authority, approvals, policy, time, and consent status.</a:t>
            </a:r>
          </a:p>
          <a:p>
            <a:endParaRPr lang="en-US" dirty="0"/>
          </a:p>
          <a:p>
            <a:r>
              <a:rPr lang="en-US" dirty="0"/>
              <a:t>Third, the Model stores consent information and evidence.</a:t>
            </a:r>
          </a:p>
          <a:p>
            <a:endParaRPr lang="en-US" dirty="0"/>
          </a:p>
          <a:p>
            <a:r>
              <a:rPr lang="en-US" dirty="0"/>
              <a:t>Access is allowed only when all checks pass.</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kern="1200" dirty="0">
                <a:solidFill>
                  <a:srgbClr val="FFFFFF"/>
                </a:solidFill>
                <a:latin typeface="+mn-lt"/>
                <a:ea typeface="+mn-ea"/>
                <a:cs typeface="+mn-cs"/>
              </a:rPr>
              <a:t>This is the heart of the framework. Access is allowed only when five checks are all true.</a:t>
            </a:r>
          </a:p>
          <a:p>
            <a:r>
              <a:rPr lang="en-AU" sz="1400" dirty="0"/>
              <a:t>VI checks identity and authority. VA checks that all required guardians approved. VP checks the purpose and data scope. VT checks the time window. VL checks the lifecycle state.</a:t>
            </a:r>
            <a:br>
              <a:rPr lang="en-AU" sz="1400" dirty="0"/>
            </a:br>
            <a:r>
              <a:rPr lang="en-AU" sz="1400" dirty="0"/>
              <a:t>If any one check fails, the answer is DENY. Every decision</a:t>
            </a:r>
            <a:endParaRPr lang="ar-SA" sz="1400" dirty="0"/>
          </a:p>
          <a:p>
            <a:r>
              <a:rPr lang="en-AU" sz="1400" dirty="0"/>
              <a:t>, allowed or denied, is written to the audit ledger.</a:t>
            </a:r>
            <a:endParaRPr lang="ar-SA" sz="1400" dirty="0"/>
          </a:p>
          <a:p>
            <a:r>
              <a:rPr lang="ar-SA" sz="1400" kern="1200" dirty="0">
                <a:solidFill>
                  <a:srgbClr val="FFFFFF"/>
                </a:solidFill>
                <a:latin typeface="+mn-lt"/>
                <a:ea typeface="+mn-ea"/>
                <a:cs typeface="+mn-cs"/>
              </a:rPr>
              <a:t>------------------------------------------------------------------------</a:t>
            </a:r>
          </a:p>
          <a:p>
            <a:r>
              <a:rPr lang="en-US" sz="1200" kern="1200" dirty="0">
                <a:solidFill>
                  <a:srgbClr val="FFFFFF"/>
                </a:solidFill>
                <a:latin typeface="+mn-lt"/>
                <a:ea typeface="+mn-ea"/>
                <a:cs typeface="+mn-cs"/>
              </a:rPr>
              <a:t>C	The consent object C = (I, A, P, T, L, E): who is involved, which guardians must approve, the purpose and data scope, the time window, the lifecycle state and the evidence.</a:t>
            </a:r>
          </a:p>
          <a:p>
            <a:r>
              <a:rPr lang="en-US" sz="1200" kern="1200" dirty="0">
                <a:solidFill>
                  <a:srgbClr val="FFFFFF"/>
                </a:solidFill>
                <a:latin typeface="+mn-lt"/>
                <a:ea typeface="+mn-ea"/>
                <a:cs typeface="+mn-cs"/>
              </a:rPr>
              <a:t>R	The access request: what the doctor asks for, meaning the data modules (S_R) and the purpose.</a:t>
            </a:r>
          </a:p>
          <a:p>
            <a:r>
              <a:rPr lang="en-US" sz="1200" kern="1200" dirty="0">
                <a:solidFill>
                  <a:srgbClr val="FFFFFF"/>
                </a:solidFill>
                <a:latin typeface="+mn-lt"/>
                <a:ea typeface="+mn-ea"/>
                <a:cs typeface="+mn-cs"/>
              </a:rPr>
              <a:t>t	The time of the request: the moment the doctor asks for the data.</a:t>
            </a:r>
          </a:p>
          <a:p>
            <a:r>
              <a:rPr lang="en-US" sz="1200" kern="1200" dirty="0">
                <a:solidFill>
                  <a:srgbClr val="FFFFFF"/>
                </a:solidFill>
                <a:latin typeface="+mn-lt"/>
                <a:ea typeface="+mn-ea"/>
                <a:cs typeface="+mn-cs"/>
              </a:rPr>
              <a:t>u	The requesting participant, for example the doctor.</a:t>
            </a:r>
          </a:p>
          <a:p>
            <a:endParaRPr lang="en-US" sz="1200" kern="1200" dirty="0">
              <a:solidFill>
                <a:srgbClr val="FFFFFF"/>
              </a:solidFill>
              <a:latin typeface="+mn-lt"/>
              <a:ea typeface="+mn-ea"/>
              <a:cs typeface="+mn-cs"/>
            </a:endParaRPr>
          </a:p>
          <a:p>
            <a:r>
              <a:rPr lang="en-AU" b="1" dirty="0"/>
              <a:t>“t </a:t>
            </a:r>
            <a:r>
              <a:rPr lang="en-AU" dirty="0"/>
              <a:t>is the time of the request.</a:t>
            </a:r>
            <a:r>
              <a:rPr lang="en-AU" b="1" dirty="0"/>
              <a:t> VT </a:t>
            </a:r>
            <a:r>
              <a:rPr lang="en-AU" dirty="0"/>
              <a:t>is the check that uses it: it compares t with the consent’s validity window T, and passes only when t is between the start and the end time.”</a:t>
            </a:r>
            <a:endParaRPr sz="1200" kern="1200" dirty="0">
              <a:solidFill>
                <a:srgbClr val="FFFFFF"/>
              </a:solidFill>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Objective 1, I developed a trust-aware consent model.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First, the patient selects the doctor, guardians, data scope, and validity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the system checks the information and rejects any invalid input.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Finally, my framework which name is HALAH, creates a consent ID, saves the consent, and records the evidence in the audit log.</a:t>
            </a:r>
          </a:p>
          <a:p>
            <a:r>
              <a:rPr lang="en-US" dirty="0"/>
              <a:t>--------------------------------------------------------------------------------------------------------------------------------------------
Inputs and Output
Require: Patient identity </a:t>
            </a:r>
            <a:r>
              <a:rPr lang="en-US" dirty="0" err="1"/>
              <a:t>I_p</a:t>
            </a:r>
            <a:r>
              <a:rPr lang="en-US" dirty="0"/>
              <a:t>, </a:t>
            </a:r>
            <a:r>
              <a:rPr lang="en-US" dirty="0" err="1"/>
              <a:t>authorised</a:t>
            </a:r>
            <a:r>
              <a:rPr lang="en-US" dirty="0"/>
              <a:t> doctor D, guardian set G, purpose </a:t>
            </a:r>
            <a:r>
              <a:rPr lang="en-US" dirty="0" err="1"/>
              <a:t>P_u</a:t>
            </a:r>
            <a:r>
              <a:rPr lang="en-US" dirty="0"/>
              <a:t>, data scope S_C, validity interval T
Explanation: The algorithm starts by receiving the information required to create a consent.
Ensure: Consent object C or rejection
Explanation: The algorithm either creates a valid consent or rejects the request.
Step-by-Step Explanation
Line 1: Validate </a:t>
            </a:r>
            <a:r>
              <a:rPr lang="en-US" dirty="0" err="1"/>
              <a:t>I_p</a:t>
            </a:r>
            <a:r>
              <a:rPr lang="en-US" dirty="0"/>
              <a:t>
First, we verify the patient’s identity.
Line 2: if </a:t>
            </a:r>
            <a:r>
              <a:rPr lang="en-US" dirty="0" err="1"/>
              <a:t>I_p</a:t>
            </a:r>
            <a:r>
              <a:rPr lang="en-US" dirty="0"/>
              <a:t> is invalid then
We check whether the patient’s identity is invalid.
Line 3: return REJECT
If the identity is invalid, the request is rejected.
Line 4: end if
This completes the identity validation check.
Line 5: Validate </a:t>
            </a:r>
            <a:r>
              <a:rPr lang="en-US" dirty="0" err="1"/>
              <a:t>authorised</a:t>
            </a:r>
            <a:r>
              <a:rPr lang="en-US" dirty="0"/>
              <a:t> doctor D, guardian set G, purpose </a:t>
            </a:r>
            <a:r>
              <a:rPr lang="en-US" dirty="0" err="1"/>
              <a:t>P_u</a:t>
            </a:r>
            <a:r>
              <a:rPr lang="en-US" dirty="0"/>
              <a:t> and data scope S_C
Next, we check the other parts of the consent: that the doctor is </a:t>
            </a:r>
            <a:r>
              <a:rPr lang="en-US" dirty="0" err="1"/>
              <a:t>authorised</a:t>
            </a:r>
            <a:r>
              <a:rPr lang="en-US" dirty="0"/>
              <a:t>, that the guardians are valid, that the purpose of using the patient’s data is valid, and that the data scope, which is the patient data that can be accessed, is valid.
Line 6: if any of them is invalid then
We check whether any of these four parts is invalid.
Line 7: return REJECT
If one of them is invalid, the request is rejected, and no consent is created.
Line 8: end if
This completes these four checks.
Line 9: Validate validity interval T = (</a:t>
            </a:r>
            <a:r>
              <a:rPr lang="en-US" dirty="0" err="1"/>
              <a:t>t_s</a:t>
            </a:r>
            <a:r>
              <a:rPr lang="en-US" dirty="0"/>
              <a:t>, </a:t>
            </a:r>
            <a:r>
              <a:rPr lang="en-US" dirty="0" err="1"/>
              <a:t>t_e</a:t>
            </a:r>
            <a:r>
              <a:rPr lang="en-US" dirty="0"/>
              <a:t>)
We check the consent’s start and end times.
Line 10: if </a:t>
            </a:r>
            <a:r>
              <a:rPr lang="en-US" dirty="0" err="1"/>
              <a:t>t_e</a:t>
            </a:r>
            <a:r>
              <a:rPr lang="en-US" dirty="0"/>
              <a:t> ≤ </a:t>
            </a:r>
            <a:r>
              <a:rPr lang="en-US" dirty="0" err="1"/>
              <a:t>t_s</a:t>
            </a:r>
            <a:r>
              <a:rPr lang="en-US" dirty="0"/>
              <a:t> then
We check whether the end time is earlier than or equal to the start time.
Line 11: return REJECT
If the time interval is invalid, the request is rejected.
Line 12: end if
This completes the time validation check.
Line 13: Define </a:t>
            </a:r>
            <a:r>
              <a:rPr lang="en-US" dirty="0" err="1"/>
              <a:t>authorisation</a:t>
            </a:r>
            <a:r>
              <a:rPr lang="en-US" dirty="0"/>
              <a:t> requirement A
We define the conditions that must be met later before access can be granted, such as the required guardian approvals.
Line 14: Generate consent identifier </a:t>
            </a:r>
            <a:r>
              <a:rPr lang="en-US" dirty="0" err="1"/>
              <a:t>id_C</a:t>
            </a:r>
            <a:r>
              <a:rPr lang="en-US" dirty="0"/>
              <a:t>
We generate a unique identifier for the consent.
Line 15: Construct C = (I, A, P, T, L, E)
We build the consent object from its six parts: identity I, </a:t>
            </a:r>
            <a:r>
              <a:rPr lang="en-US" dirty="0" err="1"/>
              <a:t>authorisation</a:t>
            </a:r>
            <a:r>
              <a:rPr lang="en-US" dirty="0"/>
              <a:t> requirements A, policy P (the purpose and the data scope), time T (the validity interval), the lifecycle state L, which starts as pending until the guardians approve, and evidence E.
Line 16: Persist C
We store the newly created consent object.
Line 17: Record consent creation evidence
We record evidence of the consent creation for auditing and traceability.
Line 18: return C
Finally, we return the successfully created consent object.
Note: In the prototype, the purpose is fixed to Treatment. The consent is saved </a:t>
            </a:r>
            <a:r>
              <a:rPr lang="en-US" dirty="0">
                <a:highlight>
                  <a:srgbClr val="FFFF00"/>
                </a:highlight>
              </a:rPr>
              <a:t>off-chain</a:t>
            </a:r>
            <a:r>
              <a:rPr lang="en-US" dirty="0"/>
              <a:t> in the state PENDING_SIGNATURE, and nothing goes on the </a:t>
            </a:r>
            <a:r>
              <a:rPr lang="en-US" dirty="0">
                <a:highlight>
                  <a:srgbClr val="FFFF00"/>
                </a:highlight>
              </a:rPr>
              <a:t>blockchain</a:t>
            </a:r>
            <a:r>
              <a:rPr lang="en-US" dirty="0"/>
              <a:t> until all guardians approve.</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flowchart here shows how Objective 1 works.</a:t>
            </a:r>
          </a:p>
          <a:p>
            <a:endParaRPr lang="en-US" dirty="0"/>
          </a:p>
          <a:p>
            <a:r>
              <a:rPr lang="en-US" dirty="0"/>
              <a:t>First, the system collects and checks the consent information.</a:t>
            </a:r>
          </a:p>
          <a:p>
            <a:endParaRPr lang="en-US" dirty="0"/>
          </a:p>
          <a:p>
            <a:r>
              <a:rPr lang="en-US" dirty="0"/>
              <a:t>If anything is invalid, the request is rejected.</a:t>
            </a:r>
          </a:p>
          <a:p>
            <a:endParaRPr lang="en-US" dirty="0"/>
          </a:p>
          <a:p>
            <a:r>
              <a:rPr lang="en-US" dirty="0"/>
              <a:t>Otherwise, the system creates the consent, gives it an ID, saves it, and records the event in the audit log.                                                               Notable, I already finish this objective</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Objective 2, we aim to develop a **</a:t>
            </a:r>
            <a:r>
              <a:rPr lang="en-US" dirty="0" err="1"/>
              <a:t>decentralised</a:t>
            </a:r>
            <a:r>
              <a:rPr lang="en-US" dirty="0"/>
              <a:t> identity and authority verification mechanism**.</a:t>
            </a:r>
          </a:p>
          <a:p>
            <a:endParaRPr lang="en-US" dirty="0"/>
          </a:p>
          <a:p>
            <a:r>
              <a:rPr lang="en-US" dirty="0"/>
              <a:t>I check who the person is and what they are allowed to do.</a:t>
            </a:r>
          </a:p>
          <a:p>
            <a:endParaRPr lang="en-US" dirty="0"/>
          </a:p>
          <a:p>
            <a:r>
              <a:rPr lang="en-US" dirty="0"/>
              <a:t>The DID (</a:t>
            </a:r>
            <a:r>
              <a:rPr lang="en-US" dirty="0" err="1"/>
              <a:t>Decentralised</a:t>
            </a:r>
            <a:r>
              <a:rPr lang="en-US" dirty="0"/>
              <a:t> Identifier) is used for identity, and the VC (Verifiable Credential) is used to verify their authority.</a:t>
            </a:r>
          </a:p>
          <a:p>
            <a:endParaRPr lang="en-US" dirty="0"/>
          </a:p>
          <a:p>
            <a:r>
              <a:rPr lang="en-US" dirty="0"/>
              <a:t>In HALAH, the guardian's credential is checked before their signature is added.</a:t>
            </a:r>
          </a:p>
          <a:p>
            <a:r>
              <a:rPr lang="en-US" dirty="0"/>
              <a:t>------------------------------------------------------------------------------------------------------------------</a:t>
            </a:r>
          </a:p>
          <a:p>
            <a:endParaRPr lang="en-US" dirty="0"/>
          </a:p>
          <a:p>
            <a:r>
              <a:rPr lang="en-US" dirty="0"/>
              <a:t>Inputs and Output
Require: Participant u, consent object C
Explanation: The algorithm starts by receiving the participant who wants to take part and the consent object that defines the required authority.
Ensure: Verification result V_I(u)
Explanation: The algorithm returns VALID if both the participant’s identity and authority are verified, or INVALID otherwise. This result is not an access decision by itself; the later stages use it.
Step-by-Step Explanation
Line 1: Resolve DID of u
First, we resolve the participant’s DID to find their DID document.
Line 2: if DID resolution fails then
We check whether the DID could not be resolved.
Line 3: return INVALID
If the DID cannot be resolved, the participant is invalid and the process stops.
Line 4: end if
This completes the DID resolution check.
Line 5: Verify DID document and associated identity information
Next, we check that the DID document is well formed and that its keys can be trusted.
Line 6: if DID verification fails then
We check whether the DID verification failed.
Line 7: return INVALID
If it failed, we return INVALID.
Line 8: end if
This completes the DID verification check.
Line 9: Retrieve VC associated with u
Then, we retrieve the participant’s verifiable credential, which holds claims such as their role.
Line 10: if VC retrieval fails then
We check whether a credential could not be found.
Line 11: return INVALID
Without a credential, the participant cannot show any authority, so we return INVALID.
Line 12: end if
This completes the credential retrieval check.
Line 13: Verify VC signature, issuer, subject, and validity
We check that the signature is correct, the issuer is trusted, the credential belongs to this participant, and it is still within its valid time period.
Line 14: if VC verification fails then
We check whether any of these four checks failed.
Line 15: return INVALID
If any check fails, we return INVALID.
Line 16: end if
This completes the credential verification check.
Line 17: Extract role and authority claims from VC
Next, we read the role and authority claims from the credential, for example doctor or guardian.
Line 18: if claims do not satisfy the authority requirements of C then
We compare these claims with the </a:t>
            </a:r>
            <a:r>
              <a:rPr lang="en-US" dirty="0" err="1"/>
              <a:t>authorisation</a:t>
            </a:r>
            <a:r>
              <a:rPr lang="en-US" dirty="0"/>
              <a:t> requirements of consent C.
Line 19: return INVALID
If the claims do not meet the requirements, we return INVALID. A valid identity alone never gives access.
Line 20: end if
This completes the authority check.
Line 21: Record identity and authority verification evidence
We record the evidence, such as the DID, the credential, the issuer, the claims and the time, for auditing.
Line 22: return VALID
Finally, we return VALID, which means the participant’s identity and authority are both verified.
Note: Today, the guardian workflow verifies the guardian’s credential before adding the signature to the consent. Full DID resolution, in lines 1 to 8, is planned for the next stage.</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shows how Objective 2 works.</a:t>
            </a:r>
          </a:p>
          <a:p>
            <a:endParaRPr lang="en-US" dirty="0"/>
          </a:p>
          <a:p>
            <a:r>
              <a:rPr lang="en-US" dirty="0"/>
              <a:t>First, the system checks the participant's DID and verifiable credential.</a:t>
            </a:r>
          </a:p>
          <a:p>
            <a:endParaRPr lang="en-US" dirty="0"/>
          </a:p>
          <a:p>
            <a:r>
              <a:rPr lang="en-US" dirty="0"/>
              <a:t>Next, it checks if their role and authority match the consent requirements.</a:t>
            </a:r>
          </a:p>
          <a:p>
            <a:endParaRPr lang="en-US" dirty="0"/>
          </a:p>
          <a:p>
            <a:r>
              <a:rPr lang="en-US" dirty="0"/>
              <a:t>If any check fails, the participant is rejected.</a:t>
            </a:r>
          </a:p>
          <a:p>
            <a:r>
              <a:rPr lang="en-US" dirty="0"/>
              <a:t>Otherwise, the system records the evidence and confirms their identity and authority.                                                                                      Notable, I already finish this objective</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For Objective 3, I developed a multi-party approval method .</a:t>
            </a:r>
          </a:p>
          <a:p>
            <a:r>
              <a:rPr lang="en-AU" dirty="0"/>
              <a:t>In HALAH, both guardians must approve the consent.</a:t>
            </a:r>
          </a:p>
          <a:p>
            <a:r>
              <a:rPr lang="en-AU" dirty="0"/>
              <a:t>The system checks each guardian and rejects invalid or duplicate approvals.</a:t>
            </a:r>
          </a:p>
          <a:p>
            <a:r>
              <a:rPr lang="en-AU" dirty="0"/>
              <a:t>If only one guardian approves, the consent stays pending.</a:t>
            </a:r>
          </a:p>
          <a:p>
            <a:r>
              <a:rPr lang="en-AU" dirty="0"/>
              <a:t>When both guardians approve, the consent becomes active.</a:t>
            </a:r>
          </a:p>
          <a:p>
            <a:r>
              <a:rPr lang="en-US" dirty="0"/>
              <a:t>---------------------------------------------------------------------------------------------------------------------------------</a:t>
            </a:r>
          </a:p>
          <a:p>
            <a:r>
              <a:rPr lang="en-AU" dirty="0"/>
              <a:t>Note: In the prototype, N is the number of guardians, so the demo needs 2-of-2. When the threshold is met, a local token is recorded and the consent becomes active</a:t>
            </a:r>
            <a:endParaRPr lang="ar-SA" dirty="0"/>
          </a:p>
          <a:p>
            <a:r>
              <a:rPr lang="ar-SA" dirty="0"/>
              <a:t>--------------------------------------------------------------------------------------------------------------------------------------</a:t>
            </a:r>
            <a:endParaRPr lang="en-US" dirty="0"/>
          </a:p>
          <a:p>
            <a:r>
              <a:rPr lang="en-US" dirty="0"/>
              <a:t>
Inputs and Output
Require: Consent object C, participant approval a, threshold N
Explanation: The algorithm receives the consent, one approval from a participant, and the number of valid approvals that are needed.
Ensure: </a:t>
            </a:r>
            <a:r>
              <a:rPr lang="en-US" dirty="0" err="1"/>
              <a:t>Authorisation</a:t>
            </a:r>
            <a:r>
              <a:rPr lang="en-US" dirty="0"/>
              <a:t> result
Explanation: The algorithm returns ALLOW, PENDING or DENY for this approval.
Step-by-Step Explanation
Line 1: Retrieve required participant set G
First, we retrieve the set G of participants who are allowed to approve this consent, for example the guardians.
Line 2: Verify identity and authority of participant submitting a
Next, we verify the identity and authority of the person who submitted the approval. This can use the DID and VC check from Algorithm 2.
Line 3: if verification fails then
We check whether this verification has failed.
Line 4: Record invalid approval
If it failed, we record the approval as invalid.
Line 5: return DENY
The approval is denied, and it does not count towards the threshold.
Line 6: end if
This completes the identity and authority check.
Line 7: if participant is not in G then
Then, we check whether the participant is outside the required participant set G.
Line 8: Record </a:t>
            </a:r>
            <a:r>
              <a:rPr lang="en-US" dirty="0" err="1"/>
              <a:t>unauthorised</a:t>
            </a:r>
            <a:r>
              <a:rPr lang="en-US" dirty="0"/>
              <a:t> approval attempt
If so, we record it as an </a:t>
            </a:r>
            <a:r>
              <a:rPr lang="en-US" dirty="0" err="1"/>
              <a:t>unauthorised</a:t>
            </a:r>
            <a:r>
              <a:rPr lang="en-US" dirty="0"/>
              <a:t> approval attempt.
Line 9: return DENY
The approval is denied, because only members of G can be counted.
Line 10: end if
This completes the membership check.
Line 11: if participant has already approved C then
Next, we check whether this participant has already approved this consent.
Line 12: Record duplicate approval
If so, we record a duplicate approval.
Line 13: return DENY
The extra approval is denied, so one person cannot be counted twice.
Line 14: end if
This completes the duplicate check.
Line 15: Record valid approval a
The approval has passed all three checks, so we record it as valid.
Line 16: Update valid approval set </a:t>
            </a:r>
            <a:r>
              <a:rPr lang="en-US" dirty="0" err="1"/>
              <a:t>A_v</a:t>
            </a:r>
            <a:r>
              <a:rPr lang="en-US" dirty="0"/>
              <a:t>
We add this approval to the set of valid approvals, </a:t>
            </a:r>
            <a:r>
              <a:rPr lang="en-US" dirty="0" err="1"/>
              <a:t>A_v</a:t>
            </a:r>
            <a:r>
              <a:rPr lang="en-US" dirty="0"/>
              <a:t>.
Line 17: if |</a:t>
            </a:r>
            <a:r>
              <a:rPr lang="en-US" dirty="0" err="1"/>
              <a:t>A_v</a:t>
            </a:r>
            <a:r>
              <a:rPr lang="en-US" dirty="0"/>
              <a:t>| ≥ N then
We check whether the number of valid approvals has reached the threshold N.
Line 18: Activate </a:t>
            </a:r>
            <a:r>
              <a:rPr lang="en-US" dirty="0" err="1"/>
              <a:t>authorisation</a:t>
            </a:r>
            <a:r>
              <a:rPr lang="en-US" dirty="0"/>
              <a:t>
If it has, we activate the </a:t>
            </a:r>
            <a:r>
              <a:rPr lang="en-US" dirty="0" err="1"/>
              <a:t>authorisation</a:t>
            </a:r>
            <a:r>
              <a:rPr lang="en-US" dirty="0"/>
              <a:t>, so the consent can move on to the access-control stage.
Line 19: Generate activation or token evidence
We generate evidence of the activation, such as a consent token. It can include the consent identifier, the threshold N and the approving participants.
Line 20: Record threshold-satisfied event
We record in the audit log that the threshold was met, for traceability.
Line 21: return ALLOW
The result is ALLOW.
Line 22: else
Otherwise, the threshold has not been reached yet.
Line 23: Keep consent in pending state
We keep the consent in the pending state, so access is not activated.
Line 24: Record threshold-pending event
We record a threshold-pending event, so we can see later how many approvals are still needed.
Line 25: return PENDING
The result is PENDING, and the consent waits for more approvals.
Line 26: end if
Finally, this completes the threshold check, and the algorithm ends.
Note: In the prototype, N is the number of guardians, so the demo needs 2-of-2. When the threshold is met, a local token is recorded, and the mint is anchored on the </a:t>
            </a:r>
            <a:r>
              <a:rPr lang="en-US" dirty="0" err="1"/>
              <a:t>Sepolia</a:t>
            </a:r>
            <a:r>
              <a:rPr lang="en-US" dirty="0"/>
              <a:t> test network in the background.</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Here the  flowchart shows how Objective 3 works.</a:t>
            </a:r>
          </a:p>
          <a:p>
            <a:r>
              <a:rPr lang="en-AU" dirty="0"/>
              <a:t>First, the system checks the guardian's identity and signature.</a:t>
            </a:r>
          </a:p>
          <a:p>
            <a:r>
              <a:rPr lang="en-AU" dirty="0"/>
              <a:t>Next, it checks if the guardian is authorised and has not already approved.</a:t>
            </a:r>
          </a:p>
          <a:p>
            <a:r>
              <a:rPr lang="en-AU" dirty="0"/>
              <a:t>If a check fails, the approval is rejected.</a:t>
            </a:r>
          </a:p>
          <a:p>
            <a:r>
              <a:rPr lang="en-AU" dirty="0"/>
              <a:t>If only one guardian approves, the consent stays pending.</a:t>
            </a:r>
          </a:p>
          <a:p>
            <a:r>
              <a:rPr lang="en-AU" dirty="0"/>
              <a:t>When both guardians approve, the consent becomes active, and the evidence is recorded.</a:t>
            </a:r>
          </a:p>
          <a:p>
            <a:r>
              <a:rPr lang="en-AU" dirty="0"/>
              <a:t>And this objective has been achieved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  Objective 4, </a:t>
            </a:r>
            <a:r>
              <a:rPr lang="en-US" dirty="0"/>
              <a:t>we aim to develop a policy-aware method for healthcare data access</a:t>
            </a:r>
            <a:r>
              <a:rPr lang="en-AU" dirty="0"/>
              <a:t>.</a:t>
            </a:r>
          </a:p>
          <a:p>
            <a:r>
              <a:rPr lang="en-AU" dirty="0"/>
              <a:t>First, the system checks identity, approvals, and consent status.</a:t>
            </a:r>
          </a:p>
          <a:p>
            <a:r>
              <a:rPr lang="en-AU" dirty="0"/>
              <a:t>Next, it checks the purpose, data scope, and time.</a:t>
            </a:r>
          </a:p>
          <a:p>
            <a:r>
              <a:rPr lang="en-AU" dirty="0"/>
              <a:t>If any check fails, access is denied.</a:t>
            </a:r>
          </a:p>
          <a:p>
            <a:r>
              <a:rPr lang="en-AU" dirty="0"/>
              <a:t>Otherwise, access is allowed, and the decision is recorded.</a:t>
            </a:r>
          </a:p>
          <a:p>
            <a:r>
              <a:rPr lang="en-US" dirty="0"/>
              <a:t>----------------------------------------------------------------------------------------------------------------------------------</a:t>
            </a:r>
          </a:p>
          <a:p>
            <a:r>
              <a:rPr lang="en-US" dirty="0"/>
              <a:t>
Inputs and Output
Require: Consent object C, access request R, requesting participant u
Explanation: The algorithm starts with the patient’s consent, the request for data, and the participant who makes the request, for example a doctor.
Ensure: Access decision
Explanation: The algorithm returns one decision, ALLOW or DENY, and it records that decision.
Step-by-Step Explanation
Line 1: Verify DID and VC of u
First, we verify the </a:t>
            </a:r>
            <a:r>
              <a:rPr lang="en-US" dirty="0" err="1"/>
              <a:t>decentralised</a:t>
            </a:r>
            <a:r>
              <a:rPr lang="en-US" dirty="0"/>
              <a:t> identifier and the verifiable credential of the requester. This uses the identity check from Algorithm 2.
Line 2: if identity or authority verification fails then
We check whether the identity or authority check for the requester has failed.
Line 3: Record denied decision
If it has failed, we record the denied decision for auditing.
Line 4: return DENY
The request is denied and stops here.
Line 5: end if
This completes the identity and authority check.
Line 6: Evaluate consent state
Next, we check the current state of the consent. It must be active, within its validity period, and not </a:t>
            </a:r>
            <a:r>
              <a:rPr lang="en-US" dirty="0">
                <a:highlight>
                  <a:srgbClr val="FFFF00"/>
                </a:highlight>
              </a:rPr>
              <a:t>revoked</a:t>
            </a:r>
            <a:r>
              <a:rPr lang="en-US" dirty="0"/>
              <a:t>.
Line 7: if consent is not active then
We check whether the consent is not active.
Line 8: Record denied decision
If the consent is not active, we record the denied decision.
Line 9: return DENY
The request is denied.
Line 10: end if
This completes the consent state check.
Line 11: Verify multi-party </a:t>
            </a:r>
            <a:r>
              <a:rPr lang="en-US" dirty="0" err="1"/>
              <a:t>authorisation</a:t>
            </a:r>
            <a:r>
              <a:rPr lang="en-US" dirty="0"/>
              <a:t>
Then, we verify the multi-party </a:t>
            </a:r>
            <a:r>
              <a:rPr lang="en-US" dirty="0" err="1"/>
              <a:t>authorisation</a:t>
            </a:r>
            <a:r>
              <a:rPr lang="en-US" dirty="0"/>
              <a:t>. We compare the number of valid approvals, |</a:t>
            </a:r>
            <a:r>
              <a:rPr lang="en-US" dirty="0" err="1"/>
              <a:t>A_v</a:t>
            </a:r>
            <a:r>
              <a:rPr lang="en-US" dirty="0"/>
              <a:t>|, with the required threshold N.
Line 12: if threshold is not satisfied then
We check whether there are fewer valid approvals than the threshold.
Line 13: Record denied decision
If there are not enough approvals, we record the denied decision.
Line 14: return DENY
The request is denied.
Line 15: end if
This completes the multi-party </a:t>
            </a:r>
            <a:r>
              <a:rPr lang="en-US" dirty="0" err="1"/>
              <a:t>authorisation</a:t>
            </a:r>
            <a:r>
              <a:rPr lang="en-US" dirty="0"/>
              <a:t> check.
Line 16: Evaluate requested purpose
Next, we compare the purpose of the request with the purpose the patient allowed in the consent.
Line 17: if purpose is incompatible with consent then
We check whether the purpose does not match the consent. This stops valid credentials from being used for a purpose the patient did not allow.
Line 18: Record denied decision
If the purpose does not match, we record the denied decision.
Line 19: return DENY
The request is denied.
Line 20: end if
This completes the purpose check.
Line 21: Evaluate requested data scope
We look at the data the request asks for, S_R, and the data the patient allowed, S_C.
Line 22: if S_R ⊈ S_C then
We check whether the request asks for data outside the allowed scope. For example, the request may ask for Procedure records when only Observation and Medication records are allowed.
Line 23: Record denied decision
If the request goes outside the scope, we record the denied decision.
Line 24: return DENY
The request is denied.
Line 25: end if
This completes the data scope check.
Line 26: Generate or verify access evidence
All checks have passed, so we generate or verify the evidence for this decision. In the flowchart on the next slide, this is the Groth16 proof, which must be valid before any data is released.
Line 27: Retrieve </a:t>
            </a:r>
            <a:r>
              <a:rPr lang="en-US" dirty="0" err="1"/>
              <a:t>authorised</a:t>
            </a:r>
            <a:r>
              <a:rPr lang="en-US" dirty="0"/>
              <a:t> healthcare data
Then, we retrieve only the data inside the </a:t>
            </a:r>
            <a:r>
              <a:rPr lang="en-US" dirty="0" err="1"/>
              <a:t>authorised</a:t>
            </a:r>
            <a:r>
              <a:rPr lang="en-US" dirty="0"/>
              <a:t> scope, and nothing more.
Line 28: Record granted decision
We record the granted decision, so an auditor can see why and when access was given.
Line 29: return ALLOW
Finally, we return ALLOW, and the requester receives the </a:t>
            </a:r>
            <a:r>
              <a:rPr lang="en-US" dirty="0" err="1"/>
              <a:t>authorised</a:t>
            </a:r>
            <a:r>
              <a:rPr lang="en-US" dirty="0"/>
              <a:t> data.
Note: In the prototype, the request uses the consent’s own purpose, so the purpose check confirms that it is a supported healthcare purpose. The requested scope must also be non-empty.</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flowchart shows  Objective 4. And As I said previously, if any check fails, the access will be denied .</a:t>
            </a:r>
          </a:p>
          <a:p>
            <a:endParaRPr lang="en-US" dirty="0"/>
          </a:p>
          <a:p>
            <a:r>
              <a:rPr lang="en-US" dirty="0"/>
              <a:t>Also this objective is done</a:t>
            </a:r>
          </a:p>
          <a:p>
            <a:r>
              <a:rPr lang="ar-SA" dirty="0"/>
              <a:t>--------------------------------------------------------------------------------------</a:t>
            </a:r>
          </a:p>
          <a:p>
            <a:r>
              <a:rPr lang="en-US" dirty="0"/>
              <a:t>This flowchart shows Algorithm 4. It checks the consent state, then the identity, then the approvals, then the purpose, then the data scope, then the time window, and finally the access proof. Any failure gives DENY and is recorded. Only when everything passes does the system return the </a:t>
            </a:r>
            <a:r>
              <a:rPr lang="en-US" dirty="0" err="1"/>
              <a:t>authorised</a:t>
            </a:r>
            <a:r>
              <a:rPr lang="en-US" dirty="0"/>
              <a:t> data.</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Objective 5, we aim to develop a mechanism to ensure that consent is valid and trusted over time.</a:t>
            </a:r>
            <a:endParaRPr lang="ar-SA" dirty="0"/>
          </a:p>
          <a:p>
            <a:r>
              <a:rPr lang="en-US" dirty="0"/>
              <a:t> This work is still in progress.</a:t>
            </a:r>
          </a:p>
          <a:p>
            <a:endParaRPr lang="en-US" dirty="0"/>
          </a:p>
          <a:p>
            <a:r>
              <a:rPr lang="en-US" dirty="0"/>
              <a:t>Currently, HALAH checks the consent time and status before allowing access.</a:t>
            </a:r>
          </a:p>
          <a:p>
            <a:endParaRPr lang="en-US" dirty="0"/>
          </a:p>
          <a:p>
            <a:r>
              <a:rPr lang="en-US" dirty="0"/>
              <a:t>It also supports consent revocation.</a:t>
            </a:r>
          </a:p>
          <a:p>
            <a:endParaRPr lang="en-US" dirty="0"/>
          </a:p>
          <a:p>
            <a:r>
              <a:rPr lang="en-US" dirty="0"/>
              <a:t>If the consent has expired or been </a:t>
            </a:r>
            <a:r>
              <a:rPr lang="en-US" dirty="0">
                <a:highlight>
                  <a:srgbClr val="FFFF00"/>
                </a:highlight>
              </a:rPr>
              <a:t>revoked</a:t>
            </a:r>
            <a:r>
              <a:rPr lang="en-US" dirty="0"/>
              <a:t>, access is denied.</a:t>
            </a:r>
          </a:p>
          <a:p>
            <a:endParaRPr lang="en-US" dirty="0"/>
          </a:p>
          <a:p>
            <a:r>
              <a:rPr lang="en-US" dirty="0"/>
              <a:t>In the next stage, I will add more lifecycle controls, such as suspension and consent changes.</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in Objective 6, we aim to develop and evaluate security testing methods to ensure the system is secure and  reliable.</a:t>
            </a:r>
          </a:p>
          <a:p>
            <a:endParaRPr lang="en-US" dirty="0"/>
          </a:p>
          <a:p>
            <a:r>
              <a:rPr lang="en-US" dirty="0"/>
              <a:t>So far, all 46 automated tests have passed, including 12 attack scenarios.</a:t>
            </a:r>
          </a:p>
          <a:p>
            <a:r>
              <a:rPr lang="en-US" dirty="0"/>
              <a:t>I also measured gas costs, confirmation time, and processing time.</a:t>
            </a:r>
          </a:p>
          <a:p>
            <a:r>
              <a:rPr lang="en-US" dirty="0"/>
              <a:t>In the next stage, I will add formal security proofs and more testing.</a:t>
            </a:r>
            <a:endParaRPr lang="ar-SA" dirty="0"/>
          </a:p>
          <a:p>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upcoming slides, </a:t>
            </a:r>
            <a:r>
              <a:rPr lang="en-US" dirty="0" err="1"/>
              <a:t>i</a:t>
            </a:r>
            <a:r>
              <a:rPr lang="en-US" dirty="0"/>
              <a:t> will explain HALAH prototype.</a:t>
            </a:r>
          </a:p>
          <a:p>
            <a:endParaRPr lang="en-US" dirty="0"/>
          </a:p>
          <a:p>
            <a:r>
              <a:rPr lang="en-US" dirty="0"/>
              <a:t>HALAH has four interfaces: patient, guardian, doctor, and auditor.</a:t>
            </a:r>
          </a:p>
          <a:p>
            <a:endParaRPr lang="en-US" dirty="0"/>
          </a:p>
          <a:p>
            <a:r>
              <a:rPr lang="en-US" dirty="0"/>
              <a:t>It checks identity, authority, and guardian approvals.</a:t>
            </a:r>
          </a:p>
          <a:p>
            <a:endParaRPr lang="en-US" dirty="0"/>
          </a:p>
          <a:p>
            <a:r>
              <a:rPr lang="en-US" dirty="0"/>
              <a:t>It also checks access rules, time, and consent status before allowing access.</a:t>
            </a:r>
          </a:p>
          <a:p>
            <a:endParaRPr lang="en-US" dirty="0"/>
          </a:p>
          <a:p>
            <a:r>
              <a:rPr lang="en-US" dirty="0"/>
              <a:t>The system uses synthetic Synthea healthcare data and records decisions in an audit log.</a:t>
            </a:r>
          </a:p>
          <a:p>
            <a:r>
              <a:rPr lang="en-US" dirty="0"/>
              <a:t>-----------------------------------------------------------------------------------</a:t>
            </a:r>
          </a:p>
          <a:p>
            <a:r>
              <a:rPr lang="en-US" dirty="0"/>
              <a:t>HALAH means History Access Link for </a:t>
            </a:r>
            <a:r>
              <a:rPr lang="en-US" dirty="0" err="1"/>
              <a:t>Authorised</a:t>
            </a:r>
            <a:r>
              <a:rPr lang="en-US" dirty="0"/>
              <a:t> Healthcare.</a:t>
            </a:r>
          </a:p>
          <a:p>
            <a:endParaRPr lang="en-US" dirty="0"/>
          </a:p>
          <a:p>
            <a:r>
              <a:rPr lang="en-US" dirty="0"/>
              <a:t>It has four interfaces: patient, guardian, doctor and auditor. Every participant has a DID, and a verifiable credential is checked before access or approval. Every listed guardian must sign, and the consent becomes active only when all have signed. The decision engine checks the five conditions at every request, and one failed check gives DENY. The data are synthetic Synthea records. The audit ledger keeps all events, and the medical records stay inside the application.</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Halah prototype This is the patient screen.</a:t>
            </a:r>
          </a:p>
          <a:p>
            <a:endParaRPr lang="en-US" dirty="0"/>
          </a:p>
          <a:p>
            <a:r>
              <a:rPr lang="en-US" dirty="0"/>
              <a:t>First, the patient selects the doctor, two guardians, the data to share, and the expiry date.</a:t>
            </a:r>
          </a:p>
          <a:p>
            <a:endParaRPr lang="en-US" dirty="0"/>
          </a:p>
          <a:p>
            <a:r>
              <a:rPr lang="en-US" dirty="0"/>
              <a:t>Next, HALAH creates the consent and gives it an ID.</a:t>
            </a:r>
          </a:p>
          <a:p>
            <a:endParaRPr lang="en-US" dirty="0"/>
          </a:p>
          <a:p>
            <a:r>
              <a:rPr lang="en-US" dirty="0"/>
              <a:t>The consent stays pending until both guardians approve.</a:t>
            </a:r>
          </a:p>
          <a:p>
            <a:endParaRPr lang="en-US" dirty="0"/>
          </a:p>
          <a:p>
            <a:r>
              <a:rPr lang="en-US" dirty="0"/>
              <a:t>At this stage, access is not allowed.</a:t>
            </a:r>
          </a:p>
          <a:p>
            <a:r>
              <a:rPr lang="ar-SA" dirty="0"/>
              <a:t>--------------------------------------------------------------------------------------</a:t>
            </a:r>
          </a:p>
          <a:p>
            <a:pPr rtl="1"/>
            <a:r>
              <a:rPr lang="en-AU" dirty="0"/>
              <a:t>:</a:t>
            </a:r>
          </a:p>
          <a:p>
            <a:pPr rtl="1"/>
            <a:r>
              <a:rPr lang="en-AU" b="1" dirty="0" err="1"/>
              <a:t>لو</a:t>
            </a:r>
            <a:r>
              <a:rPr lang="en-AU" b="1" dirty="0"/>
              <a:t> </a:t>
            </a:r>
            <a:r>
              <a:rPr lang="en-AU" b="1" dirty="0" err="1"/>
              <a:t>سألوا</a:t>
            </a:r>
            <a:r>
              <a:rPr lang="en-AU" b="1" dirty="0"/>
              <a:t> "</a:t>
            </a:r>
            <a:r>
              <a:rPr lang="en-AU" b="1" dirty="0" err="1"/>
              <a:t>ليش</a:t>
            </a:r>
            <a:r>
              <a:rPr lang="en-AU" b="1" dirty="0"/>
              <a:t> </a:t>
            </a:r>
            <a:r>
              <a:rPr lang="en-AU" b="1" dirty="0" err="1"/>
              <a:t>ما</a:t>
            </a:r>
            <a:r>
              <a:rPr lang="en-AU" b="1" dirty="0"/>
              <a:t> </a:t>
            </a:r>
            <a:r>
              <a:rPr lang="en-AU" b="1" dirty="0" err="1"/>
              <a:t>فيه</a:t>
            </a:r>
            <a:r>
              <a:rPr lang="en-AU" b="1" dirty="0"/>
              <a:t> </a:t>
            </a:r>
            <a:r>
              <a:rPr lang="en-AU" b="1" dirty="0" err="1"/>
              <a:t>شي</a:t>
            </a:r>
            <a:r>
              <a:rPr lang="en-AU" b="1" dirty="0"/>
              <a:t> </a:t>
            </a:r>
            <a:r>
              <a:rPr lang="en-AU" b="1" dirty="0" err="1"/>
              <a:t>على</a:t>
            </a:r>
            <a:r>
              <a:rPr lang="en-AU" b="1" dirty="0"/>
              <a:t> </a:t>
            </a:r>
            <a:r>
              <a:rPr lang="en-AU" b="1" dirty="0" err="1"/>
              <a:t>البلوكتشين</a:t>
            </a:r>
            <a:r>
              <a:rPr lang="en-AU" b="1" dirty="0"/>
              <a:t>؟":</a:t>
            </a:r>
            <a:br>
              <a:rPr lang="en-AU" dirty="0"/>
            </a:br>
            <a:r>
              <a:rPr lang="en-AU" dirty="0"/>
              <a:t>“The consent goes </a:t>
            </a:r>
            <a:r>
              <a:rPr lang="en-AU" dirty="0">
                <a:highlight>
                  <a:srgbClr val="FFFF00"/>
                </a:highlight>
              </a:rPr>
              <a:t>on-chain</a:t>
            </a:r>
            <a:r>
              <a:rPr lang="en-AU" dirty="0"/>
              <a:t> only after both guardians approve. Until then it is pending, so nothing is anchored.”</a:t>
            </a:r>
          </a:p>
          <a:p>
            <a:pPr rtl="1"/>
            <a:r>
              <a:rPr lang="en-AU" b="1" dirty="0" err="1"/>
              <a:t>لو</a:t>
            </a:r>
            <a:r>
              <a:rPr lang="en-AU" b="1" dirty="0"/>
              <a:t> </a:t>
            </a:r>
            <a:r>
              <a:rPr lang="en-AU" b="1" dirty="0" err="1"/>
              <a:t>سألوا</a:t>
            </a:r>
            <a:r>
              <a:rPr lang="en-AU" b="1" dirty="0"/>
              <a:t> "</a:t>
            </a:r>
            <a:r>
              <a:rPr lang="en-AU" b="1" dirty="0" err="1"/>
              <a:t>وين</a:t>
            </a:r>
            <a:r>
              <a:rPr lang="en-AU" b="1" dirty="0"/>
              <a:t> RO1 </a:t>
            </a:r>
            <a:r>
              <a:rPr lang="en-AU" b="1" dirty="0" err="1"/>
              <a:t>هنا</a:t>
            </a:r>
            <a:r>
              <a:rPr lang="en-AU" b="1" dirty="0"/>
              <a:t>؟":</a:t>
            </a:r>
            <a:br>
              <a:rPr lang="en-AU" dirty="0"/>
            </a:br>
            <a:r>
              <a:rPr lang="en-AU" dirty="0"/>
              <a:t>“This is RO1. The consent is created as a structured object with identity, guardians, data scope and time, so it can be checked at every request later.”</a:t>
            </a:r>
          </a:p>
          <a:p>
            <a:pPr rtl="1"/>
            <a:r>
              <a:rPr lang="en-AU" b="1" dirty="0" err="1"/>
              <a:t>لو</a:t>
            </a:r>
            <a:r>
              <a:rPr lang="en-AU" b="1" dirty="0"/>
              <a:t> </a:t>
            </a:r>
            <a:r>
              <a:rPr lang="en-AU" b="1" dirty="0" err="1"/>
              <a:t>سألوا</a:t>
            </a:r>
            <a:r>
              <a:rPr lang="en-AU" b="1" dirty="0"/>
              <a:t> "</a:t>
            </a:r>
            <a:r>
              <a:rPr lang="en-AU" b="1" dirty="0" err="1"/>
              <a:t>هل</a:t>
            </a:r>
            <a:r>
              <a:rPr lang="en-AU" b="1" dirty="0"/>
              <a:t> </a:t>
            </a:r>
            <a:r>
              <a:rPr lang="en-AU" b="1" dirty="0" err="1"/>
              <a:t>النظام</a:t>
            </a:r>
            <a:r>
              <a:rPr lang="en-AU" b="1" dirty="0"/>
              <a:t> </a:t>
            </a:r>
            <a:r>
              <a:rPr lang="en-AU" b="1" dirty="0" err="1"/>
              <a:t>يتحقق</a:t>
            </a:r>
            <a:r>
              <a:rPr lang="en-AU" b="1" dirty="0"/>
              <a:t> </a:t>
            </a:r>
            <a:r>
              <a:rPr lang="en-AU" b="1" dirty="0" err="1"/>
              <a:t>من</a:t>
            </a:r>
            <a:r>
              <a:rPr lang="en-AU" b="1" dirty="0"/>
              <a:t> </a:t>
            </a:r>
            <a:r>
              <a:rPr lang="en-AU" b="1" dirty="0" err="1"/>
              <a:t>المدخلات</a:t>
            </a:r>
            <a:r>
              <a:rPr lang="en-AU" b="1" dirty="0"/>
              <a:t>؟":</a:t>
            </a:r>
            <a:br>
              <a:rPr lang="en-AU" dirty="0"/>
            </a:br>
            <a:r>
              <a:rPr lang="en-AU" dirty="0"/>
              <a:t>“Yes. Bad input is rejected, for example an empty data scope, a malformed DID, or an end date before the start date.”</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guardian's screen.</a:t>
            </a:r>
          </a:p>
          <a:p>
            <a:endParaRPr lang="en-US" dirty="0"/>
          </a:p>
          <a:p>
            <a:r>
              <a:rPr lang="en-US" dirty="0"/>
              <a:t>First, the guardian enters the consent ID and selects their DID.</a:t>
            </a:r>
          </a:p>
          <a:p>
            <a:endParaRPr lang="en-US" dirty="0"/>
          </a:p>
          <a:p>
            <a:r>
              <a:rPr lang="en-US" dirty="0"/>
              <a:t>Next, the guardian signs the consent, and HALAH checks the signature.</a:t>
            </a:r>
          </a:p>
          <a:p>
            <a:endParaRPr lang="en-US" dirty="0"/>
          </a:p>
          <a:p>
            <a:r>
              <a:rPr lang="en-US" dirty="0"/>
              <a:t>The system now shows 1 out of 2 approvals.</a:t>
            </a:r>
          </a:p>
          <a:p>
            <a:endParaRPr lang="en-US" dirty="0"/>
          </a:p>
          <a:p>
            <a:r>
              <a:rPr lang="en-US" dirty="0"/>
              <a:t>The consent stays pending until the second guardian approves.</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second guardian signs the consent.</a:t>
            </a:r>
          </a:p>
          <a:p>
            <a:endParaRPr lang="en-US" dirty="0"/>
          </a:p>
          <a:p>
            <a:r>
              <a:rPr lang="en-US" dirty="0"/>
              <a:t>HALAH checks the signature, and the system shows 2 out of 2 approvals.</a:t>
            </a:r>
          </a:p>
          <a:p>
            <a:endParaRPr lang="en-US" dirty="0"/>
          </a:p>
          <a:p>
            <a:r>
              <a:rPr lang="en-US" dirty="0"/>
              <a:t>The consent becomes active</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is the doctor's screen.</a:t>
            </a:r>
          </a:p>
          <a:p>
            <a:r>
              <a:rPr lang="en-AU" dirty="0"/>
              <a:t>After both guardians approve, the consent becomes active.</a:t>
            </a:r>
          </a:p>
          <a:p>
            <a:r>
              <a:rPr lang="en-AU" dirty="0"/>
              <a:t>HALAH checks five conditions: identity, authority, policy, time, and consent status.</a:t>
            </a:r>
          </a:p>
          <a:p>
            <a:r>
              <a:rPr lang="en-AU" dirty="0"/>
              <a:t>All checks pass, so the system allows access.</a:t>
            </a:r>
          </a:p>
          <a:p>
            <a:r>
              <a:rPr lang="en-AU" dirty="0"/>
              <a:t>The doctor can now request data within the agreed scope.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slide shows the healthcare records the doctor can access.</a:t>
            </a:r>
          </a:p>
          <a:p>
            <a:r>
              <a:rPr lang="en-AU" dirty="0"/>
              <a:t>After all checks pass, HALAH displays only the approved data.</a:t>
            </a:r>
          </a:p>
          <a:p>
            <a:r>
              <a:rPr lang="en-AU" dirty="0"/>
              <a:t>The four modules are Observation, Medication, Condition, and Procedure.</a:t>
            </a:r>
          </a:p>
          <a:p>
            <a:r>
              <a:rPr lang="en-AU" dirty="0"/>
              <a:t>Any request outside the approved scope is denied.</a:t>
            </a:r>
          </a:p>
          <a:p>
            <a:r>
              <a:rPr lang="en-AU"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All records come from the synthetic dataset</a:t>
            </a:r>
          </a:p>
          <a:p>
            <a:r>
              <a:rPr lang="en-AU" dirty="0"/>
              <a:t>All records come from the synthetic Synthea dataset, not real patients.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slide shows how I validated HALAH.</a:t>
            </a:r>
          </a:p>
          <a:p>
            <a:r>
              <a:rPr lang="en-AU" dirty="0"/>
              <a:t>First, I tested valid and invalid requests.</a:t>
            </a:r>
          </a:p>
          <a:p>
            <a:r>
              <a:rPr lang="en-AU" dirty="0"/>
              <a:t>Next, I tested 12 attack scenarios, and all were rejected.</a:t>
            </a:r>
          </a:p>
          <a:p>
            <a:r>
              <a:rPr lang="en-AU" dirty="0"/>
              <a:t>In total, all 46 automated tests passed.</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the access decisions recorded in HALAH.</a:t>
            </a:r>
          </a:p>
          <a:p>
            <a:endParaRPr lang="en-US" dirty="0"/>
          </a:p>
          <a:p>
            <a:r>
              <a:rPr lang="en-US" dirty="0"/>
              <a:t>All five checks passed for these requests, so access was allowed.</a:t>
            </a:r>
          </a:p>
          <a:p>
            <a:endParaRPr lang="en-US" dirty="0"/>
          </a:p>
          <a:p>
            <a:r>
              <a:rPr lang="en-US" dirty="0"/>
              <a:t>After the consent was </a:t>
            </a:r>
            <a:r>
              <a:rPr lang="en-US" dirty="0">
                <a:highlight>
                  <a:srgbClr val="FFFF00"/>
                </a:highlight>
              </a:rPr>
              <a:t>revoked</a:t>
            </a:r>
            <a:r>
              <a:rPr lang="en-US" dirty="0"/>
              <a:t>, access was denied.</a:t>
            </a:r>
          </a:p>
          <a:p>
            <a:endParaRPr lang="en-US" dirty="0"/>
          </a:p>
          <a:p>
            <a:r>
              <a:rPr lang="en-US" dirty="0"/>
              <a:t>The updated system also records denied requests.</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the access decisions recorded in HALAH.</a:t>
            </a:r>
          </a:p>
          <a:p>
            <a:endParaRPr lang="en-US" dirty="0"/>
          </a:p>
          <a:p>
            <a:r>
              <a:rPr lang="en-US" dirty="0"/>
              <a:t>All five checks passed for these requests, so access was allowed.</a:t>
            </a:r>
          </a:p>
          <a:p>
            <a:endParaRPr lang="en-US" dirty="0"/>
          </a:p>
          <a:p>
            <a:r>
              <a:rPr lang="en-US" dirty="0"/>
              <a:t>After the consent was </a:t>
            </a:r>
            <a:r>
              <a:rPr lang="en-US" dirty="0">
                <a:highlight>
                  <a:srgbClr val="FFFF00"/>
                </a:highlight>
              </a:rPr>
              <a:t>revoked</a:t>
            </a:r>
            <a:r>
              <a:rPr lang="en-US" dirty="0"/>
              <a:t>, access was denied.</a:t>
            </a:r>
          </a:p>
          <a:p>
            <a:endParaRPr lang="en-US" dirty="0"/>
          </a:p>
          <a:p>
            <a:r>
              <a:rPr lang="en-US" dirty="0"/>
              <a:t>The updated system also records denied requests.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 also attacked my own system. This table shows each attack, the part of the consent it targets, and the result before and after hardening.</a:t>
            </a:r>
            <a:br>
              <a:rPr lang="en-AU" dirty="0"/>
            </a:br>
            <a:r>
              <a:rPr lang="en-AU" dirty="0"/>
              <a:t>Some attacks, marked Accepted, passed at unit level before the hardening, when the service function was called directly. For A1, A3 and A5, the interface already blocked them. A12 was accepted before the credential check was added. After hardening, all twelve attacks in this table are refused.</a:t>
            </a:r>
            <a:endParaRPr lang="ar-SA" dirty="0"/>
          </a:p>
          <a:p>
            <a:r>
              <a:rPr lang="en-AU" dirty="0"/>
              <a:t>-------------------------------------------------------------------------------------------------------------------</a:t>
            </a:r>
          </a:p>
          <a:p>
            <a:r>
              <a:rPr lang="en-AU" dirty="0"/>
              <a:t>A11 attacks the smart contract itself. An account that is not the owner tries to mint a consent token, </a:t>
            </a:r>
            <a:r>
              <a:rPr lang="en-AU" dirty="0">
                <a:highlight>
                  <a:srgbClr val="FFFF00"/>
                </a:highlight>
              </a:rPr>
              <a:t>revoke</a:t>
            </a:r>
            <a:r>
              <a:rPr lang="en-AU" dirty="0"/>
              <a:t> someone else’s consent, or transfer the token. All three are refused: only the owner can mint or </a:t>
            </a:r>
            <a:r>
              <a:rPr lang="en-AU" dirty="0">
                <a:highlight>
                  <a:srgbClr val="FFFF00"/>
                </a:highlight>
              </a:rPr>
              <a:t>revoke</a:t>
            </a:r>
            <a:r>
              <a:rPr lang="en-AU" dirty="0"/>
              <a:t>, and the token is </a:t>
            </a:r>
            <a:r>
              <a:rPr lang="en-AU" dirty="0" err="1"/>
              <a:t>soulbound</a:t>
            </a:r>
            <a:r>
              <a:rPr lang="en-AU" dirty="0"/>
              <a:t>, so it cannot be transferred. This test runs the contract code on a local test </a:t>
            </a:r>
            <a:r>
              <a:rPr lang="en-AU" dirty="0">
                <a:highlight>
                  <a:srgbClr val="FFFF00"/>
                </a:highlight>
              </a:rPr>
              <a:t>chain</a:t>
            </a:r>
            <a:r>
              <a:rPr lang="en-AU" dirty="0"/>
              <a:t>, not on </a:t>
            </a:r>
            <a:r>
              <a:rPr lang="en-AU" dirty="0" err="1"/>
              <a:t>Sepolia</a:t>
            </a:r>
            <a:r>
              <a:rPr lang="en-AU" dirty="0"/>
              <a:t>.</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traditional EHR systems with my HALAH framework.</a:t>
            </a:r>
          </a:p>
          <a:p>
            <a:endParaRPr lang="en-US" dirty="0"/>
          </a:p>
          <a:p>
            <a:r>
              <a:rPr lang="en-US" dirty="0"/>
              <a:t>Traditional systems often use central logins and stored permissions.</a:t>
            </a:r>
          </a:p>
          <a:p>
            <a:endParaRPr lang="en-US" dirty="0"/>
          </a:p>
          <a:p>
            <a:r>
              <a:rPr lang="en-US" dirty="0"/>
              <a:t>In HALAH, we check identity, authority, guardian approvals, access rules, time, and revocation.</a:t>
            </a:r>
          </a:p>
          <a:p>
            <a:endParaRPr lang="en-US" dirty="0"/>
          </a:p>
          <a:p>
            <a:r>
              <a:rPr lang="en-US" dirty="0"/>
              <a:t>Every request is checked, and every decision is recorded.</a:t>
            </a:r>
          </a:p>
          <a:p>
            <a:endParaRPr lang="en-US" dirty="0"/>
          </a:p>
          <a:p>
            <a:r>
              <a:rPr lang="en-US" dirty="0"/>
              <a:t>This makes access decisions easier to verify and audit.</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dataset used in my research.</a:t>
            </a:r>
          </a:p>
          <a:p>
            <a:endParaRPr lang="en-US" dirty="0"/>
          </a:p>
          <a:p>
            <a:r>
              <a:rPr lang="en-US" dirty="0"/>
              <a:t>I used Synthea 1K, which contains public 1,000 simulated patient records.</a:t>
            </a:r>
          </a:p>
          <a:p>
            <a:endParaRPr lang="en-US" dirty="0"/>
          </a:p>
          <a:p>
            <a:r>
              <a:rPr lang="en-US" dirty="0"/>
              <a:t>The data includes patient information, medical conditions, medications, and procedures.</a:t>
            </a:r>
          </a:p>
          <a:p>
            <a:endParaRPr lang="en-US" dirty="0"/>
          </a:p>
          <a:p>
            <a:r>
              <a:rPr lang="en-US" dirty="0"/>
              <a:t>I used this dataset to test healthcare data access in HALAH.</a:t>
            </a:r>
          </a:p>
          <a:p>
            <a:endParaRPr lang="en-US" dirty="0"/>
          </a:p>
          <a:p>
            <a:r>
              <a:rPr lang="en-US" dirty="0"/>
              <a:t>No real patient data was used.</a:t>
            </a:r>
            <a:endParaRPr lang="en-AU"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slide shows the three main scientific contributions of my research.</a:t>
            </a:r>
          </a:p>
          <a:p>
            <a:r>
              <a:rPr lang="en-AU" dirty="0"/>
              <a:t>First, I propose a consent model that combines identity, authority, multi-party approval, and policy.</a:t>
            </a:r>
          </a:p>
          <a:p>
            <a:endParaRPr lang="en-AU" dirty="0"/>
          </a:p>
          <a:p>
            <a:r>
              <a:rPr lang="en-AU" dirty="0"/>
              <a:t>Second, I develop a system that requires approval from multiple authorised people.</a:t>
            </a:r>
          </a:p>
          <a:p>
            <a:endParaRPr lang="en-AU" dirty="0"/>
          </a:p>
          <a:p>
            <a:r>
              <a:rPr lang="en-AU" dirty="0"/>
              <a:t>Third, I propose a trust-aware approach that checks these conditions before allowing access to healthcare data.</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slide shows the three main social contributions of my research.</a:t>
            </a:r>
          </a:p>
          <a:p>
            <a:r>
              <a:rPr lang="en-AU" dirty="0"/>
              <a:t>First, it helps patients and guardians control who can access their health data.</a:t>
            </a:r>
          </a:p>
          <a:p>
            <a:endParaRPr lang="en-AU" dirty="0"/>
          </a:p>
          <a:p>
            <a:r>
              <a:rPr lang="en-AU" dirty="0"/>
              <a:t>Second, it protects patient privacy by limiting access to approved purposes and data.</a:t>
            </a:r>
          </a:p>
          <a:p>
            <a:endParaRPr lang="en-AU" dirty="0"/>
          </a:p>
          <a:p>
            <a:r>
              <a:rPr lang="en-AU" dirty="0"/>
              <a:t>Third, it improves transparency by recording consent activities and access decisions.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my research plan.</a:t>
            </a:r>
          </a:p>
          <a:p>
            <a:endParaRPr lang="en-US" dirty="0"/>
          </a:p>
          <a:p>
            <a:r>
              <a:rPr lang="en-US" dirty="0"/>
              <a:t>So far, I have completed Chapters 1 to 7 and submitted my BWCCA conference paper.</a:t>
            </a:r>
          </a:p>
          <a:p>
            <a:endParaRPr lang="en-US" dirty="0"/>
          </a:p>
          <a:p>
            <a:r>
              <a:rPr lang="en-US" dirty="0"/>
              <a:t>I am now working on Chapter 8 and preparing my literature review paper for submission.</a:t>
            </a:r>
          </a:p>
          <a:p>
            <a:endParaRPr lang="en-US" dirty="0"/>
          </a:p>
          <a:p>
            <a:r>
              <a:rPr lang="en-US" dirty="0"/>
              <a:t>Next, I plan to finish the remaining work and complete CA3 in February 2027.</a:t>
            </a:r>
          </a:p>
          <a:p>
            <a:endParaRPr lang="en-US" dirty="0"/>
          </a:p>
          <a:p>
            <a:r>
              <a:rPr lang="en-US" dirty="0"/>
              <a:t>My target is to submit my PhD thesis in May 2027.</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timeline of my research. Which shows the research plan with the publications.</a:t>
            </a:r>
          </a:p>
          <a:p>
            <a:endParaRPr lang="en-US" dirty="0"/>
          </a:p>
          <a:p>
            <a:r>
              <a:rPr lang="en-US" dirty="0"/>
              <a:t>As </a:t>
            </a:r>
            <a:r>
              <a:rPr lang="en-US" dirty="0" err="1"/>
              <a:t>i</a:t>
            </a:r>
            <a:r>
              <a:rPr lang="en-US" dirty="0"/>
              <a:t> said, My final target is to submit my PhD thesis in May 2027.</a:t>
            </a:r>
          </a:p>
          <a:p>
            <a:endParaRPr lang="en-US" dirty="0"/>
          </a:p>
          <a:p>
            <a:r>
              <a:rPr lang="en-US" dirty="0"/>
              <a:t>--------------------------------------------------------------------------------------------------------</a:t>
            </a:r>
          </a:p>
          <a:p>
            <a:r>
              <a:rPr dirty="0"/>
              <a:t>Chapters one to seven and the BWCCA conference paper are done. The SLR journal paper is ready for submission, and Chapter 8 on RO5 is in progress. In December, Chapter 9 with the conclusion. In January 2027, the journal paper on formal assurance. Then the next candidature assessment in February 2027, and thesis submission in May 2027.</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are the list of my research publications.</a:t>
            </a:r>
          </a:p>
          <a:p>
            <a:endParaRPr lang="en-US" dirty="0"/>
          </a:p>
          <a:p>
            <a:r>
              <a:rPr lang="en-US" dirty="0"/>
              <a:t>I published two papers at IEEE ICEBE in 2025.</a:t>
            </a:r>
          </a:p>
          <a:p>
            <a:endParaRPr lang="en-US" dirty="0"/>
          </a:p>
          <a:p>
            <a:r>
              <a:rPr lang="en-US" dirty="0"/>
              <a:t>Three more papers were accepted in 2026: one at ICEBE and two at BWCCA.</a:t>
            </a:r>
          </a:p>
          <a:p>
            <a:endParaRPr lang="en-US" dirty="0"/>
          </a:p>
          <a:p>
            <a:r>
              <a:rPr lang="en-US" dirty="0"/>
              <a:t>Paper number 4 is directly related to my PhD research on multi-party consent.</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These are the references</a:t>
            </a:r>
            <a:r>
              <a:rPr lang="en-US" dirty="0"/>
              <a:t> I used in this presentation</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Thank you for your attention. </a:t>
            </a:r>
            <a:endParaRPr lang="en-US" dirty="0"/>
          </a:p>
          <a:p>
            <a:pPr rtl="0"/>
            <a:r>
              <a:rPr lang="en-AU" b="1" dirty="0"/>
              <a:t>Can you explain your project in simple words?</a:t>
            </a:r>
            <a:br>
              <a:rPr lang="en-AU" dirty="0"/>
            </a:br>
            <a:r>
              <a:rPr lang="en-AU" dirty="0"/>
              <a:t>My system shares a patient’s health data only when all their guardians agree. Every time someone asks for the data, the system checks the consent again.</a:t>
            </a:r>
          </a:p>
          <a:p>
            <a:pPr rtl="0"/>
            <a:r>
              <a:rPr lang="en-AU" b="1" dirty="0"/>
              <a:t>2. Who is this system for?</a:t>
            </a:r>
            <a:br>
              <a:rPr lang="en-AU" dirty="0"/>
            </a:br>
            <a:r>
              <a:rPr lang="en-AU" dirty="0"/>
              <a:t>It is for patients who cannot decide alone, like children or older people. It also helps their guardians and their doctors.</a:t>
            </a:r>
          </a:p>
          <a:p>
            <a:pPr rtl="0"/>
            <a:r>
              <a:rPr lang="en-AU" b="1" dirty="0"/>
              <a:t>3. What did you actually build?</a:t>
            </a:r>
            <a:br>
              <a:rPr lang="en-AU" dirty="0"/>
            </a:br>
            <a:r>
              <a:rPr lang="en-AU" dirty="0"/>
              <a:t>I built a working web prototype. The patient creates a consent, the guardians approve it, and the doctor asks for access. The system checks the request, decides, and records the result.</a:t>
            </a:r>
          </a:p>
          <a:p>
            <a:pPr rtl="0"/>
            <a:r>
              <a:rPr lang="en-AU" b="1" dirty="0"/>
              <a:t>4. How do you know a guardian is really a guardian?</a:t>
            </a:r>
            <a:br>
              <a:rPr lang="en-AU" dirty="0"/>
            </a:br>
            <a:r>
              <a:rPr lang="en-AU" dirty="0"/>
              <a:t>Each guardian has a digital credential from a trusted issuer. The system checks the credential is real, belongs to that person, is still valid and has the right role.</a:t>
            </a:r>
          </a:p>
          <a:p>
            <a:pPr rtl="0"/>
            <a:r>
              <a:rPr lang="en-AU" b="1" dirty="0"/>
              <a:t>5. What happens if one guardian does not approve?</a:t>
            </a:r>
            <a:br>
              <a:rPr lang="en-AU" dirty="0"/>
            </a:br>
            <a:r>
              <a:rPr lang="en-AU" dirty="0"/>
              <a:t>The consent stays pending, so nobody can see the data. This is safer, but it can be slower.</a:t>
            </a:r>
          </a:p>
          <a:p>
            <a:pPr rtl="0"/>
            <a:r>
              <a:rPr lang="en-AU" b="1" dirty="0"/>
              <a:t>6. Why do you check the consent every time, and not only once?</a:t>
            </a:r>
            <a:br>
              <a:rPr lang="en-AU" dirty="0"/>
            </a:br>
            <a:r>
              <a:rPr lang="en-AU" dirty="0"/>
              <a:t>Things can change. A consent can expire or be cancelled, so the system checks it again on every request.</a:t>
            </a:r>
          </a:p>
          <a:p>
            <a:pPr rtl="0"/>
            <a:r>
              <a:rPr lang="en-AU" b="1" dirty="0"/>
              <a:t>7. What happens if someone tries to fake an approval?</a:t>
            </a:r>
            <a:br>
              <a:rPr lang="en-AU" dirty="0"/>
            </a:br>
            <a:r>
              <a:rPr lang="en-AU" dirty="0"/>
              <a:t>The signature check fails, so the approval does not count. I tested 12 attacks like this, and the system refused all of them.</a:t>
            </a:r>
          </a:p>
          <a:p>
            <a:pPr rtl="0"/>
            <a:r>
              <a:rPr lang="en-AU" b="1" dirty="0"/>
              <a:t>8. Why do you need the audit ledger?</a:t>
            </a:r>
            <a:br>
              <a:rPr lang="en-AU" dirty="0"/>
            </a:br>
            <a:r>
              <a:rPr lang="en-AU" dirty="0"/>
              <a:t>It records every decision, with the time and the result of each check. Later, anyone can see who asked for data and why it was allowed or denied.</a:t>
            </a:r>
          </a:p>
          <a:p>
            <a:pPr rtl="0"/>
            <a:r>
              <a:rPr lang="en-AU" b="1" dirty="0"/>
              <a:t>9. What are the limits of your prototype?</a:t>
            </a:r>
            <a:br>
              <a:rPr lang="en-AU" dirty="0"/>
            </a:br>
            <a:r>
              <a:rPr lang="en-AU" dirty="0"/>
              <a:t>It uses synthetic data and demo keys. It has not been tested in a real hospital yet.</a:t>
            </a:r>
          </a:p>
          <a:p>
            <a:pPr rtl="0"/>
            <a:r>
              <a:rPr lang="en-AU" b="1" dirty="0"/>
              <a:t>10. What will you do next?</a:t>
            </a:r>
            <a:br>
              <a:rPr lang="en-AU" dirty="0"/>
            </a:br>
            <a:r>
              <a:rPr lang="en-AU" dirty="0"/>
              <a:t>I will finish RO5 and RO6 and add the formal proofs. Then I will write the thesis, due in May 2027.</a:t>
            </a:r>
          </a:p>
          <a:p>
            <a:endParaRPr lang="en-AU" dirty="0"/>
          </a:p>
          <a:p>
            <a:pPr rtl="0"/>
            <a:r>
              <a:rPr lang="en-AU" b="1" dirty="0"/>
              <a:t>What is your novelty?</a:t>
            </a:r>
            <a:endParaRPr lang="en-AU" dirty="0"/>
          </a:p>
          <a:p>
            <a:pPr rtl="0"/>
            <a:r>
              <a:rPr lang="en-AU" dirty="0"/>
              <a:t>Other studies check only some of the conditions, or they check consent once and then stop. In my framework, every request must pass all the conditions together: identity, authority, approval from all guardians, purpose, time and lifecycle state. The patient also chooses the guardians.</a:t>
            </a:r>
          </a:p>
          <a:p>
            <a:pPr rtl="0"/>
            <a:r>
              <a:rPr lang="en-AU" dirty="0"/>
              <a:t>If they push: </a:t>
            </a:r>
            <a:r>
              <a:rPr lang="en-AU" i="1" dirty="0"/>
              <a:t>“Multi-party approval already exists in the literature, but only at one moment, for example at registration. In my work it is checked on every request.”</a:t>
            </a:r>
            <a:endParaRPr lang="en-AU" dirty="0"/>
          </a:p>
          <a:p>
            <a:pPr rtl="0"/>
            <a:r>
              <a:rPr lang="en-AU" b="1" dirty="0"/>
              <a:t>What is your main contribution?</a:t>
            </a:r>
            <a:endParaRPr lang="en-AU" dirty="0"/>
          </a:p>
          <a:p>
            <a:pPr rtl="0"/>
            <a:r>
              <a:rPr lang="en-AU" dirty="0"/>
              <a:t>My main contribution has three parts:</a:t>
            </a:r>
          </a:p>
          <a:p>
            <a:pPr lvl="0" rtl="0"/>
            <a:r>
              <a:rPr lang="en-AU" b="1" dirty="0"/>
              <a:t>A consent model.</a:t>
            </a:r>
            <a:r>
              <a:rPr lang="en-AU" dirty="0"/>
              <a:t> Consent is an object with six parts that can be checked, not just a yes-or-no record.</a:t>
            </a:r>
          </a:p>
          <a:p>
            <a:pPr lvl="0" rtl="0"/>
            <a:r>
              <a:rPr lang="en-AU" b="1" dirty="0"/>
              <a:t>A multi-guardian approval method.</a:t>
            </a:r>
            <a:r>
              <a:rPr lang="en-AU" dirty="0"/>
              <a:t> Only real, verified approvals count, and the same guardian cannot be counted twice.</a:t>
            </a:r>
          </a:p>
          <a:p>
            <a:pPr lvl="0" rtl="0"/>
            <a:r>
              <a:rPr lang="en-AU" b="1" dirty="0"/>
              <a:t>A decision rule.</a:t>
            </a:r>
            <a:r>
              <a:rPr lang="en-AU" dirty="0"/>
              <a:t> Five checks run on every request, and all of them must pass.</a:t>
            </a:r>
          </a:p>
          <a:p>
            <a:pPr rtl="0"/>
            <a:r>
              <a:rPr lang="en-AU" dirty="0"/>
              <a:t>I showed this in a working prototype and tested it with 46 tests and 12 attacks.</a:t>
            </a:r>
          </a:p>
          <a:p>
            <a:pPr rtl="0"/>
            <a:r>
              <a:rPr lang="en-AU" dirty="0"/>
              <a:t>One-sentence version: </a:t>
            </a:r>
            <a:r>
              <a:rPr lang="en-AU" i="1" dirty="0"/>
              <a:t>“Data is shared only when identity, authority, all guardians, purpose, time and state are all valid, and this is checked every time.”</a:t>
            </a:r>
            <a:endParaRPr lang="en-AU" dirty="0"/>
          </a:p>
          <a:p>
            <a:pPr rtl="0"/>
            <a:br>
              <a:rPr lang="en-AU" dirty="0"/>
            </a:br>
            <a:r>
              <a:rPr lang="en-AU" b="1" dirty="0">
                <a:effectLst/>
              </a:rPr>
              <a:t>10 more questions</a:t>
            </a:r>
            <a:endParaRPr lang="en-AU" dirty="0">
              <a:effectLst/>
            </a:endParaRPr>
          </a:p>
          <a:p>
            <a:pPr rtl="0"/>
            <a:r>
              <a:rPr lang="en-AU" b="1" dirty="0">
                <a:effectLst/>
              </a:rPr>
              <a:t>1. What gap did you find in the literature?</a:t>
            </a:r>
            <a:br>
              <a:rPr lang="en-AU" dirty="0">
                <a:effectLst/>
              </a:rPr>
            </a:br>
            <a:r>
              <a:rPr lang="en-AU" dirty="0">
                <a:effectLst/>
              </a:rPr>
              <a:t>I found two gaps. First, no study puts all the conditions into one decision. Second, no study proves or fully tests the whole decision.</a:t>
            </a:r>
          </a:p>
          <a:p>
            <a:pPr rtl="0"/>
            <a:r>
              <a:rPr lang="en-AU" b="1" dirty="0">
                <a:effectLst/>
              </a:rPr>
              <a:t>2. How did you review the literature?</a:t>
            </a:r>
            <a:br>
              <a:rPr lang="en-AU" dirty="0">
                <a:effectLst/>
              </a:rPr>
            </a:br>
            <a:r>
              <a:rPr lang="en-AU" dirty="0">
                <a:effectLst/>
              </a:rPr>
              <a:t>I did a systematic review using PRISMA 2020. I included papers from 2020 to 2026 and analysed 25 studies in full.</a:t>
            </a:r>
          </a:p>
          <a:p>
            <a:pPr rtl="0"/>
            <a:r>
              <a:rPr lang="en-AU" b="1" dirty="0">
                <a:effectLst/>
              </a:rPr>
              <a:t>3. Multi-party consent already exists. What is different in yours?</a:t>
            </a:r>
            <a:br>
              <a:rPr lang="en-AU" dirty="0">
                <a:effectLst/>
              </a:rPr>
            </a:br>
            <a:r>
              <a:rPr lang="en-AU" dirty="0">
                <a:effectLst/>
              </a:rPr>
              <a:t>In other studies, it happens only once, like at registration. In mine, it is checked on every request, and the patient picks the guardians.</a:t>
            </a:r>
          </a:p>
          <a:p>
            <a:pPr rtl="0"/>
            <a:r>
              <a:rPr lang="en-AU" b="1" dirty="0">
                <a:effectLst/>
              </a:rPr>
              <a:t>4. What research method did you use?</a:t>
            </a:r>
            <a:br>
              <a:rPr lang="en-AU" dirty="0">
                <a:effectLst/>
              </a:rPr>
            </a:br>
            <a:r>
              <a:rPr lang="en-AU" dirty="0">
                <a:effectLst/>
              </a:rPr>
              <a:t>Design Science Research. I found the problem, suggested a solution, built it, tested it and drew conclusions. It fits because I am building and testing a system.</a:t>
            </a:r>
          </a:p>
          <a:p>
            <a:pPr rtl="0"/>
            <a:r>
              <a:rPr lang="en-AU" b="1" dirty="0">
                <a:effectLst/>
              </a:rPr>
              <a:t>5. What are the six parts of your consent?</a:t>
            </a:r>
            <a:br>
              <a:rPr lang="en-AU" dirty="0">
                <a:effectLst/>
              </a:rPr>
            </a:br>
            <a:r>
              <a:rPr lang="en-AU" dirty="0">
                <a:effectLst/>
              </a:rPr>
              <a:t>Identity, authority (the guardians and how many must approve), policy (purpose and which data), time, lifecycle state and evidence.</a:t>
            </a:r>
          </a:p>
          <a:p>
            <a:pPr rtl="0"/>
            <a:r>
              <a:rPr lang="en-AU" b="1" dirty="0">
                <a:effectLst/>
              </a:rPr>
              <a:t>6. What states can a consent be in?</a:t>
            </a:r>
            <a:br>
              <a:rPr lang="en-AU" dirty="0">
                <a:effectLst/>
              </a:rPr>
            </a:br>
            <a:r>
              <a:rPr lang="en-AU" dirty="0">
                <a:effectLst/>
              </a:rPr>
              <a:t>Pending, active, </a:t>
            </a:r>
            <a:r>
              <a:rPr lang="en-AU" dirty="0">
                <a:effectLst/>
                <a:highlight>
                  <a:srgbClr val="FFFF00"/>
                </a:highlight>
              </a:rPr>
              <a:t>revoked</a:t>
            </a:r>
            <a:r>
              <a:rPr lang="en-AU" dirty="0">
                <a:effectLst/>
              </a:rPr>
              <a:t> or expired. Only an active consent allows access.</a:t>
            </a:r>
          </a:p>
          <a:p>
            <a:pPr rtl="0"/>
            <a:r>
              <a:rPr lang="en-AU" b="1" dirty="0">
                <a:effectLst/>
              </a:rPr>
              <a:t>7. How many guardians can a patient have?</a:t>
            </a:r>
            <a:br>
              <a:rPr lang="en-AU" dirty="0">
                <a:effectLst/>
              </a:rPr>
            </a:br>
            <a:r>
              <a:rPr lang="en-AU" dirty="0">
                <a:effectLst/>
              </a:rPr>
              <a:t>The patient decides how many, and all of them must approve. I tested it with two guardians.</a:t>
            </a:r>
          </a:p>
          <a:p>
            <a:pPr rtl="0"/>
            <a:r>
              <a:rPr lang="en-AU" b="1" dirty="0">
                <a:effectLst/>
              </a:rPr>
              <a:t>8. What can a doctor ask for the data for?</a:t>
            </a:r>
            <a:br>
              <a:rPr lang="en-AU" dirty="0">
                <a:effectLst/>
              </a:rPr>
            </a:br>
            <a:r>
              <a:rPr lang="en-AU" dirty="0">
                <a:effectLst/>
              </a:rPr>
              <a:t>Only treatment, research or emergency. Any other purpose is denied.</a:t>
            </a:r>
          </a:p>
          <a:p>
            <a:pPr rtl="0"/>
            <a:r>
              <a:rPr lang="en-AU" b="1" dirty="0">
                <a:effectLst/>
              </a:rPr>
              <a:t>9. Did anything go wrong during testing?</a:t>
            </a:r>
            <a:br>
              <a:rPr lang="en-AU" dirty="0">
                <a:effectLst/>
              </a:rPr>
            </a:br>
            <a:r>
              <a:rPr lang="en-AU" dirty="0">
                <a:effectLst/>
              </a:rPr>
              <a:t>Yes. At first, three attacks (A1, A3 and A5) worked when the code was called directly. I fixed the code, and now all 12 attacks are refused.</a:t>
            </a:r>
          </a:p>
          <a:p>
            <a:pPr rtl="0"/>
            <a:r>
              <a:rPr lang="en-AU" b="1" dirty="0">
                <a:effectLst/>
              </a:rPr>
              <a:t>10. Have you published anything?</a:t>
            </a:r>
            <a:br>
              <a:rPr lang="en-AU" dirty="0">
                <a:effectLst/>
              </a:rPr>
            </a:br>
            <a:r>
              <a:rPr lang="en-AU" dirty="0">
                <a:effectLst/>
              </a:rPr>
              <a:t>Yes. One paper has been accepted at BWCCA 2026.</a:t>
            </a:r>
          </a:p>
          <a:p>
            <a:pPr rtl="0"/>
            <a:r>
              <a:rPr lang="en-AU" dirty="0">
                <a:effectLst/>
              </a:rPr>
              <a:t>I took these answers from your report. For Q8, the code also checks jurisdiction, but I left it out as you asked.</a:t>
            </a:r>
          </a:p>
          <a:p>
            <a:endParaRPr lang="en-AU" dirty="0"/>
          </a:p>
          <a:p>
            <a:endParaRPr lang="en-AU" dirty="0"/>
          </a:p>
          <a:p>
            <a:endParaRPr dirty="0"/>
          </a:p>
          <a:p>
            <a:endParaRPr dirty="0"/>
          </a:p>
          <a:p>
            <a:r>
              <a:rPr dirty="0"/>
              <a:t>Likely questions and short answers:</a:t>
            </a:r>
          </a:p>
          <a:p>
            <a:r>
              <a:rPr dirty="0"/>
              <a:t>1. Why </a:t>
            </a:r>
            <a:r>
              <a:rPr dirty="0">
                <a:highlight>
                  <a:srgbClr val="FFFF00"/>
                </a:highlight>
              </a:rPr>
              <a:t>blockchain</a:t>
            </a:r>
            <a:r>
              <a:rPr dirty="0"/>
              <a:t>, if the data stays </a:t>
            </a:r>
            <a:r>
              <a:rPr dirty="0">
                <a:highlight>
                  <a:srgbClr val="FFFF00"/>
                </a:highlight>
              </a:rPr>
              <a:t>off-chain</a:t>
            </a:r>
            <a:r>
              <a:rPr dirty="0"/>
              <a:t>? </a:t>
            </a:r>
          </a:p>
          <a:p>
            <a:r>
              <a:rPr dirty="0"/>
              <a:t>It gives a shared record that cannot be changed quietly: the consent state and the revocation. No medical data is on the </a:t>
            </a:r>
            <a:r>
              <a:rPr dirty="0">
                <a:highlight>
                  <a:srgbClr val="FFFF00"/>
                </a:highlight>
              </a:rPr>
              <a:t>chain</a:t>
            </a:r>
            <a:r>
              <a:rPr dirty="0"/>
              <a:t>.</a:t>
            </a:r>
          </a:p>
          <a:p>
            <a:r>
              <a:rPr dirty="0"/>
              <a:t>2. What is new? </a:t>
            </a:r>
          </a:p>
          <a:p>
            <a:r>
              <a:rPr dirty="0"/>
              <a:t>The consent object carries all the conditions. Multi-party approval is a condition of every access, not a backup path. And the whole decision is tested against attacks.</a:t>
            </a:r>
          </a:p>
          <a:p>
            <a:r>
              <a:rPr dirty="0"/>
              <a:t>3. Why is RO6 only partly done?</a:t>
            </a:r>
          </a:p>
          <a:p>
            <a:r>
              <a:rPr dirty="0"/>
              <a:t> The testing is done. The formal proofs are the next stage.</a:t>
            </a:r>
          </a:p>
          <a:p>
            <a:r>
              <a:rPr dirty="0"/>
              <a:t>4. Why Groth16? </a:t>
            </a:r>
          </a:p>
          <a:p>
            <a:r>
              <a:rPr dirty="0"/>
              <a:t>It proves the consent has not expired without showing the secret. Today the prover and verifier run on the same server, so it shows the ZK step works; it is not yet an extra privacy guarantee.</a:t>
            </a:r>
          </a:p>
          <a:p>
            <a:r>
              <a:rPr dirty="0"/>
              <a:t>5. Why did some attacks pass before the hardening?</a:t>
            </a:r>
          </a:p>
          <a:p>
            <a:r>
              <a:rPr dirty="0"/>
              <a:t> Only when the service functions were called directly, not through the screens. The checks are now in the service layer, so they are refused on every path.</a:t>
            </a:r>
          </a:p>
          <a:p>
            <a:r>
              <a:rPr dirty="0"/>
              <a:t>6. The guardian keys come from the DIDs. Can someone else sign?</a:t>
            </a:r>
          </a:p>
          <a:p>
            <a:r>
              <a:rPr dirty="0"/>
              <a:t> In the prototype, yes in principle. That is a known limitation. Wallet-held keys and full DID resolution are planned for the next stage.</a:t>
            </a:r>
          </a:p>
          <a:p>
            <a:r>
              <a:rPr dirty="0"/>
              <a:t>7. Why N-of-N and not k-of-n?</a:t>
            </a:r>
          </a:p>
          <a:p>
            <a:r>
              <a:rPr dirty="0"/>
              <a:t> N-of-N is the safest setting: no guardian can be bypassed. k-of-n is a direct </a:t>
            </a:r>
            <a:r>
              <a:rPr dirty="0" err="1"/>
              <a:t>generalisation</a:t>
            </a:r>
            <a:r>
              <a:rPr dirty="0"/>
              <a:t> for future work.</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lstStyle>
            <a:lvl1pPr marL="0" indent="0" algn="ctr">
              <a:buNone/>
              <a:defRPr lang="en-US" sz="3000" b="1" dirty="0">
                <a:solidFill>
                  <a:srgbClr val="FFFFFF"/>
                </a:solidFill>
                <a:latin typeface="Arial" pitchFamily="34" charset="0"/>
                <a:ea typeface="Arial" pitchFamily="34" charset="-122"/>
                <a:cs typeface="Arial" pitchFamily="34" charset="-120"/>
              </a:defRPr>
            </a:lvl1pPr>
          </a:lstStyle>
          <a:p>
            <a:pPr marL="0" indent="0" algn="ctr">
              <a:buNone/>
            </a:pPr>
            <a:endParaRPr lang="en-US" sz="3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9183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95376-6A6A-8841-B7E4-1F35C224933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E96F4E9-2DE5-D7EB-95B3-8E54FB2A71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A0198B3-BB9B-B6BB-C9C0-D35E11062643}"/>
              </a:ext>
            </a:extLst>
          </p:cNvPr>
          <p:cNvSpPr>
            <a:spLocks noGrp="1"/>
          </p:cNvSpPr>
          <p:nvPr>
            <p:ph type="dt" sz="half" idx="10"/>
          </p:nvPr>
        </p:nvSpPr>
        <p:spPr/>
        <p:txBody>
          <a:bodyPr/>
          <a:lstStyle/>
          <a:p>
            <a:fld id="{13A31A13-ADD8-45A6-BA20-4C35DCF1F406}" type="datetimeFigureOut">
              <a:rPr lang="en-AU" smtClean="0"/>
              <a:t>15/10/2026</a:t>
            </a:fld>
            <a:endParaRPr lang="en-AU"/>
          </a:p>
        </p:txBody>
      </p:sp>
      <p:sp>
        <p:nvSpPr>
          <p:cNvPr id="5" name="Footer Placeholder 4">
            <a:extLst>
              <a:ext uri="{FF2B5EF4-FFF2-40B4-BE49-F238E27FC236}">
                <a16:creationId xmlns:a16="http://schemas.microsoft.com/office/drawing/2014/main" id="{D2B7D850-541D-4EC8-9030-D6F52645964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90B99EC-2238-CBDA-CDDF-7C2C97A10F2D}"/>
              </a:ext>
            </a:extLst>
          </p:cNvPr>
          <p:cNvSpPr>
            <a:spLocks noGrp="1"/>
          </p:cNvSpPr>
          <p:nvPr>
            <p:ph type="sldNum" sz="quarter" idx="12"/>
          </p:nvPr>
        </p:nvSpPr>
        <p:spPr/>
        <p:txBody>
          <a:bodyPr/>
          <a:lstStyle/>
          <a:p>
            <a:fld id="{BEEADC8E-7141-4E37-96AF-0E1D097C062D}" type="slidenum">
              <a:rPr lang="en-AU" smtClean="0"/>
              <a:t>‹#›</a:t>
            </a:fld>
            <a:endParaRPr lang="en-AU"/>
          </a:p>
        </p:txBody>
      </p:sp>
    </p:spTree>
    <p:extLst>
      <p:ext uri="{BB962C8B-B14F-4D97-AF65-F5344CB8AC3E}">
        <p14:creationId xmlns:p14="http://schemas.microsoft.com/office/powerpoint/2010/main" val="20486506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7.png"/><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0.pn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hyperlink" Target="https://doi.org/10.2753/MIS0742-1222240302"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ard"/>
          <p:cNvSpPr/>
          <p:nvPr/>
        </p:nvSpPr>
        <p:spPr>
          <a:xfrm>
            <a:off x="9692640" y="274320"/>
            <a:ext cx="2103120" cy="1143000"/>
          </a:xfrm>
          <a:prstGeom prst="roundRect">
            <a:avLst>
              <a:gd name="adj" fmla="val 8000"/>
            </a:avLst>
          </a:prstGeom>
          <a:solidFill>
            <a:srgbClr val="FFFFFF"/>
          </a:solidFill>
          <a:ln w="12700">
            <a:solidFill>
              <a:srgbClr val="FFFFFF"/>
            </a:solidFill>
            <a:prstDash val="solid"/>
          </a:ln>
        </p:spPr>
        <p:txBody>
          <a:bodyPr/>
          <a:lstStyle/>
          <a:p>
            <a:endParaRPr lang="en-AU"/>
          </a:p>
        </p:txBody>
      </p:sp>
      <p:pic>
        <p:nvPicPr>
          <p:cNvPr id="3" name="UTS logo" descr="/tmp/deck/img/uts.png"/>
          <p:cNvPicPr>
            <a:picLocks noChangeAspect="1"/>
          </p:cNvPicPr>
          <p:nvPr/>
        </p:nvPicPr>
        <p:blipFill>
          <a:blip r:embed="rId3"/>
          <a:stretch>
            <a:fillRect/>
          </a:stretch>
        </p:blipFill>
        <p:spPr>
          <a:xfrm>
            <a:off x="9829800" y="301752"/>
            <a:ext cx="1828800" cy="1170432"/>
          </a:xfrm>
          <a:prstGeom prst="rect">
            <a:avLst/>
          </a:prstGeom>
        </p:spPr>
      </p:pic>
      <p:sp>
        <p:nvSpPr>
          <p:cNvPr id="4" name="deck title"/>
          <p:cNvSpPr txBox="1"/>
          <p:nvPr/>
        </p:nvSpPr>
        <p:spPr>
          <a:xfrm>
            <a:off x="1280160" y="1554480"/>
            <a:ext cx="9601200" cy="1463040"/>
          </a:xfrm>
          <a:prstGeom prst="rect">
            <a:avLst/>
          </a:prstGeom>
          <a:noFill/>
          <a:ln/>
        </p:spPr>
        <p:txBody>
          <a:bodyPr wrap="square" rtlCol="0" anchor="ctr"/>
          <a:lstStyle/>
          <a:p>
            <a:pPr marL="0" indent="0" algn="ctr">
              <a:buNone/>
            </a:pPr>
            <a:r>
              <a:rPr lang="en-US" sz="3200" b="1" i="1" dirty="0">
                <a:solidFill>
                  <a:srgbClr val="FFFFFF"/>
                </a:solidFill>
                <a:latin typeface="Arial" pitchFamily="34" charset="0"/>
                <a:ea typeface="Arial" pitchFamily="34" charset="-122"/>
                <a:cs typeface="Arial" pitchFamily="34" charset="-120"/>
              </a:rPr>
              <a:t>A Trusted Authorisation Framework for Multi-Party Patient Consent in Healthcare Data Sharing</a:t>
            </a:r>
            <a:endParaRPr lang="en-US" sz="3200" dirty="0"/>
          </a:p>
        </p:txBody>
      </p:sp>
      <p:sp>
        <p:nvSpPr>
          <p:cNvPr id="6" name="people"/>
          <p:cNvSpPr txBox="1"/>
          <p:nvPr/>
        </p:nvSpPr>
        <p:spPr>
          <a:xfrm>
            <a:off x="2194560" y="3840480"/>
            <a:ext cx="7772400" cy="1737360"/>
          </a:xfrm>
          <a:prstGeom prst="rect">
            <a:avLst/>
          </a:prstGeom>
          <a:noFill/>
          <a:ln/>
        </p:spPr>
        <p:txBody>
          <a:bodyPr wrap="square" rtlCol="0" anchor="ctr"/>
          <a:lstStyle/>
          <a:p>
            <a:pPr marL="0" indent="0" algn="ctr">
              <a:spcAft>
                <a:spcPts val="400"/>
              </a:spcAft>
              <a:buNone/>
            </a:pPr>
            <a:r>
              <a:rPr lang="en-US" sz="1800" b="1" i="1" dirty="0">
                <a:solidFill>
                  <a:srgbClr val="FFFFFF"/>
                </a:solidFill>
              </a:rPr>
              <a:t>Principal Supervisor: Professor Farookh Hussain</a:t>
            </a:r>
            <a:endParaRPr lang="en-US" sz="1800" dirty="0"/>
          </a:p>
          <a:p>
            <a:pPr marL="0" indent="0" algn="ctr">
              <a:spcAft>
                <a:spcPts val="400"/>
              </a:spcAft>
              <a:buNone/>
            </a:pPr>
            <a:r>
              <a:rPr lang="en-US" sz="1800" b="1" i="1" dirty="0">
                <a:solidFill>
                  <a:srgbClr val="FFFFFF"/>
                </a:solidFill>
              </a:rPr>
              <a:t>Co-Supervisor: Dr. Firas Al-Doghman</a:t>
            </a:r>
            <a:endParaRPr lang="en-US" sz="1800" dirty="0"/>
          </a:p>
          <a:p>
            <a:pPr marL="0" indent="0" algn="ctr">
              <a:spcAft>
                <a:spcPts val="400"/>
              </a:spcAft>
              <a:buNone/>
            </a:pPr>
            <a:r>
              <a:rPr lang="en-US" sz="1800" b="1" i="1" dirty="0">
                <a:solidFill>
                  <a:srgbClr val="FFFFFF"/>
                </a:solidFill>
              </a:rPr>
              <a:t>Presenter: Yasir Dhaifallah O Alyoubi</a:t>
            </a:r>
            <a:endParaRPr lang="en-US" sz="1800" dirty="0"/>
          </a:p>
          <a:p>
            <a:pPr marL="0" indent="0" algn="ctr">
              <a:spcAft>
                <a:spcPts val="400"/>
              </a:spcAft>
              <a:buNone/>
            </a:pPr>
            <a:r>
              <a:rPr lang="en-US" sz="1800" b="1" i="1" dirty="0">
                <a:solidFill>
                  <a:srgbClr val="FFFFFF"/>
                </a:solidFill>
              </a:rPr>
              <a:t>STUDENT ID #: 24724078</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OUTLINE</a:t>
            </a:r>
            <a:endParaRPr lang="en-US" sz="3000" dirty="0"/>
          </a:p>
        </p:txBody>
      </p:sp>
      <p:sp>
        <p:nvSpPr>
          <p:cNvPr id="4" name="cube 01"/>
          <p:cNvSpPr/>
          <p:nvPr/>
        </p:nvSpPr>
        <p:spPr>
          <a:xfrm>
            <a:off x="1060704" y="1965960"/>
            <a:ext cx="1097280" cy="731520"/>
          </a:xfrm>
          <a:prstGeom prst="cube">
            <a:avLst/>
          </a:prstGeom>
          <a:solidFill>
            <a:srgbClr val="285A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5" name="number 01"/>
          <p:cNvSpPr txBox="1"/>
          <p:nvPr/>
        </p:nvSpPr>
        <p:spPr>
          <a:xfrm>
            <a:off x="1060704" y="2148840"/>
            <a:ext cx="914400" cy="548640"/>
          </a:xfrm>
          <a:prstGeom prst="rect">
            <a:avLst/>
          </a:prstGeom>
          <a:noFill/>
          <a:ln/>
        </p:spPr>
        <p:txBody>
          <a:bodyPr wrap="square" rtlCol="0" anchor="ctr"/>
          <a:lstStyle/>
          <a:p>
            <a:pPr marL="0" indent="0" algn="ctr">
              <a:buNone/>
            </a:pPr>
            <a:r>
              <a:rPr lang="en-US" sz="1600" b="1" dirty="0">
                <a:solidFill>
                  <a:srgbClr val="FFFFFF"/>
                </a:solidFill>
              </a:rPr>
              <a:t>01</a:t>
            </a:r>
            <a:endParaRPr lang="en-US" sz="1600" dirty="0"/>
          </a:p>
        </p:txBody>
      </p:sp>
      <p:sp>
        <p:nvSpPr>
          <p:cNvPr id="6" name="item 01"/>
          <p:cNvSpPr txBox="1"/>
          <p:nvPr/>
        </p:nvSpPr>
        <p:spPr>
          <a:xfrm>
            <a:off x="2340864" y="2148840"/>
            <a:ext cx="4114800" cy="548640"/>
          </a:xfrm>
          <a:prstGeom prst="rect">
            <a:avLst/>
          </a:prstGeom>
          <a:noFill/>
          <a:ln/>
        </p:spPr>
        <p:txBody>
          <a:bodyPr wrap="square" rtlCol="0" anchor="ctr"/>
          <a:lstStyle/>
          <a:p>
            <a:pPr marL="0" indent="0">
              <a:buNone/>
            </a:pPr>
            <a:r>
              <a:rPr lang="en-US" sz="1800" b="1" dirty="0">
                <a:solidFill>
                  <a:srgbClr val="FFFFFF"/>
                </a:solidFill>
              </a:rPr>
              <a:t>RESEARCH PROBLEM </a:t>
            </a:r>
            <a:endParaRPr lang="en-US" sz="1800" dirty="0"/>
          </a:p>
        </p:txBody>
      </p:sp>
      <p:sp>
        <p:nvSpPr>
          <p:cNvPr id="7" name="cube 02"/>
          <p:cNvSpPr/>
          <p:nvPr/>
        </p:nvSpPr>
        <p:spPr>
          <a:xfrm>
            <a:off x="1060704" y="2743200"/>
            <a:ext cx="1097280" cy="731520"/>
          </a:xfrm>
          <a:prstGeom prst="cube">
            <a:avLst/>
          </a:prstGeom>
          <a:solidFill>
            <a:srgbClr val="2864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8" name="number 02"/>
          <p:cNvSpPr txBox="1"/>
          <p:nvPr/>
        </p:nvSpPr>
        <p:spPr>
          <a:xfrm>
            <a:off x="1060704" y="2926080"/>
            <a:ext cx="914400" cy="548640"/>
          </a:xfrm>
          <a:prstGeom prst="rect">
            <a:avLst/>
          </a:prstGeom>
          <a:noFill/>
          <a:ln/>
        </p:spPr>
        <p:txBody>
          <a:bodyPr wrap="square" rtlCol="0" anchor="ctr"/>
          <a:lstStyle/>
          <a:p>
            <a:pPr marL="0" indent="0" algn="ctr">
              <a:buNone/>
            </a:pPr>
            <a:r>
              <a:rPr lang="en-US" sz="1600" b="1" dirty="0">
                <a:solidFill>
                  <a:srgbClr val="FFFFFF"/>
                </a:solidFill>
              </a:rPr>
              <a:t>02</a:t>
            </a:r>
            <a:endParaRPr lang="en-US" sz="1600" dirty="0"/>
          </a:p>
        </p:txBody>
      </p:sp>
      <p:sp>
        <p:nvSpPr>
          <p:cNvPr id="9" name="item 02"/>
          <p:cNvSpPr txBox="1"/>
          <p:nvPr/>
        </p:nvSpPr>
        <p:spPr>
          <a:xfrm>
            <a:off x="2340864" y="2926080"/>
            <a:ext cx="4114800" cy="548640"/>
          </a:xfrm>
          <a:prstGeom prst="rect">
            <a:avLst/>
          </a:prstGeom>
          <a:noFill/>
          <a:ln/>
        </p:spPr>
        <p:txBody>
          <a:bodyPr wrap="square" rtlCol="0" anchor="ctr"/>
          <a:lstStyle/>
          <a:p>
            <a:pPr marL="0" indent="0">
              <a:buNone/>
            </a:pPr>
            <a:r>
              <a:rPr lang="en-US" sz="1800" b="1" dirty="0">
                <a:solidFill>
                  <a:srgbClr val="FFFFFF"/>
                </a:solidFill>
              </a:rPr>
              <a:t>LITERATURE REVIEW</a:t>
            </a:r>
            <a:endParaRPr lang="en-US" sz="1800" dirty="0"/>
          </a:p>
        </p:txBody>
      </p:sp>
      <p:sp>
        <p:nvSpPr>
          <p:cNvPr id="10" name="cube 03"/>
          <p:cNvSpPr/>
          <p:nvPr/>
        </p:nvSpPr>
        <p:spPr>
          <a:xfrm>
            <a:off x="1060704" y="3520440"/>
            <a:ext cx="1097280" cy="731520"/>
          </a:xfrm>
          <a:prstGeom prst="cube">
            <a:avLst/>
          </a:prstGeom>
          <a:solidFill>
            <a:srgbClr val="286E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11" name="number 03"/>
          <p:cNvSpPr txBox="1"/>
          <p:nvPr/>
        </p:nvSpPr>
        <p:spPr>
          <a:xfrm>
            <a:off x="1060704" y="3703320"/>
            <a:ext cx="914400" cy="548640"/>
          </a:xfrm>
          <a:prstGeom prst="rect">
            <a:avLst/>
          </a:prstGeom>
          <a:noFill/>
          <a:ln/>
        </p:spPr>
        <p:txBody>
          <a:bodyPr wrap="square" rtlCol="0" anchor="ctr"/>
          <a:lstStyle/>
          <a:p>
            <a:pPr marL="0" indent="0" algn="ctr">
              <a:buNone/>
            </a:pPr>
            <a:r>
              <a:rPr lang="en-US" sz="1600" b="1" dirty="0">
                <a:solidFill>
                  <a:srgbClr val="FFFFFF"/>
                </a:solidFill>
              </a:rPr>
              <a:t>03</a:t>
            </a:r>
            <a:endParaRPr lang="en-US" sz="1600" dirty="0"/>
          </a:p>
        </p:txBody>
      </p:sp>
      <p:sp>
        <p:nvSpPr>
          <p:cNvPr id="12" name="item 03"/>
          <p:cNvSpPr txBox="1"/>
          <p:nvPr/>
        </p:nvSpPr>
        <p:spPr>
          <a:xfrm>
            <a:off x="2340864" y="3703320"/>
            <a:ext cx="4114800" cy="548640"/>
          </a:xfrm>
          <a:prstGeom prst="rect">
            <a:avLst/>
          </a:prstGeom>
          <a:noFill/>
          <a:ln/>
        </p:spPr>
        <p:txBody>
          <a:bodyPr wrap="square" rtlCol="0" anchor="ctr"/>
          <a:lstStyle/>
          <a:p>
            <a:pPr marL="0" indent="0">
              <a:buNone/>
            </a:pPr>
            <a:r>
              <a:rPr lang="en-US" sz="1800" b="1" dirty="0">
                <a:solidFill>
                  <a:srgbClr val="FFFFFF"/>
                </a:solidFill>
              </a:rPr>
              <a:t>RESEARCH GAP</a:t>
            </a:r>
            <a:endParaRPr lang="en-US" sz="1800" dirty="0"/>
          </a:p>
        </p:txBody>
      </p:sp>
      <p:sp>
        <p:nvSpPr>
          <p:cNvPr id="13" name="cube 04"/>
          <p:cNvSpPr/>
          <p:nvPr/>
        </p:nvSpPr>
        <p:spPr>
          <a:xfrm>
            <a:off x="1060704" y="4297680"/>
            <a:ext cx="1097280" cy="731520"/>
          </a:xfrm>
          <a:prstGeom prst="cube">
            <a:avLst/>
          </a:prstGeom>
          <a:solidFill>
            <a:srgbClr val="2878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14" name="number 04"/>
          <p:cNvSpPr txBox="1"/>
          <p:nvPr/>
        </p:nvSpPr>
        <p:spPr>
          <a:xfrm>
            <a:off x="1060704" y="4480560"/>
            <a:ext cx="914400" cy="548640"/>
          </a:xfrm>
          <a:prstGeom prst="rect">
            <a:avLst/>
          </a:prstGeom>
          <a:noFill/>
          <a:ln/>
        </p:spPr>
        <p:txBody>
          <a:bodyPr wrap="square" rtlCol="0" anchor="ctr"/>
          <a:lstStyle/>
          <a:p>
            <a:pPr marL="0" indent="0" algn="ctr">
              <a:buNone/>
            </a:pPr>
            <a:r>
              <a:rPr lang="en-US" sz="1600" b="1" dirty="0">
                <a:solidFill>
                  <a:srgbClr val="FFFFFF"/>
                </a:solidFill>
              </a:rPr>
              <a:t>04</a:t>
            </a:r>
            <a:endParaRPr lang="en-US" sz="1600" dirty="0"/>
          </a:p>
        </p:txBody>
      </p:sp>
      <p:sp>
        <p:nvSpPr>
          <p:cNvPr id="15" name="item 04"/>
          <p:cNvSpPr txBox="1"/>
          <p:nvPr/>
        </p:nvSpPr>
        <p:spPr>
          <a:xfrm>
            <a:off x="2340864" y="4480560"/>
            <a:ext cx="4114800" cy="548640"/>
          </a:xfrm>
          <a:prstGeom prst="rect">
            <a:avLst/>
          </a:prstGeom>
          <a:noFill/>
          <a:ln/>
        </p:spPr>
        <p:txBody>
          <a:bodyPr wrap="square" rtlCol="0" anchor="ctr"/>
          <a:lstStyle/>
          <a:p>
            <a:r>
              <a:rPr lang="en-US" b="1" dirty="0">
                <a:solidFill>
                  <a:srgbClr val="FFFFFF"/>
                </a:solidFill>
              </a:rPr>
              <a:t>RESEARCH QUESTIONS AND OBJECTIVES</a:t>
            </a:r>
            <a:endParaRPr lang="en-US" sz="1800" dirty="0"/>
          </a:p>
        </p:txBody>
      </p:sp>
      <p:sp>
        <p:nvSpPr>
          <p:cNvPr id="16" name="cube 05"/>
          <p:cNvSpPr/>
          <p:nvPr/>
        </p:nvSpPr>
        <p:spPr>
          <a:xfrm>
            <a:off x="1060704" y="5074920"/>
            <a:ext cx="1097280" cy="731520"/>
          </a:xfrm>
          <a:prstGeom prst="cube">
            <a:avLst/>
          </a:prstGeom>
          <a:solidFill>
            <a:srgbClr val="2882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17" name="number 05"/>
          <p:cNvSpPr txBox="1"/>
          <p:nvPr/>
        </p:nvSpPr>
        <p:spPr>
          <a:xfrm>
            <a:off x="1060704" y="5257800"/>
            <a:ext cx="914400" cy="548640"/>
          </a:xfrm>
          <a:prstGeom prst="rect">
            <a:avLst/>
          </a:prstGeom>
          <a:noFill/>
          <a:ln/>
        </p:spPr>
        <p:txBody>
          <a:bodyPr wrap="square" rtlCol="0" anchor="ctr"/>
          <a:lstStyle/>
          <a:p>
            <a:pPr marL="0" indent="0" algn="ctr">
              <a:buNone/>
            </a:pPr>
            <a:r>
              <a:rPr lang="en-US" sz="1600" b="1" dirty="0">
                <a:solidFill>
                  <a:srgbClr val="FFFFFF"/>
                </a:solidFill>
              </a:rPr>
              <a:t>05</a:t>
            </a:r>
            <a:endParaRPr lang="en-US" sz="1600" dirty="0"/>
          </a:p>
        </p:txBody>
      </p:sp>
      <p:sp>
        <p:nvSpPr>
          <p:cNvPr id="18" name="item 05"/>
          <p:cNvSpPr txBox="1"/>
          <p:nvPr/>
        </p:nvSpPr>
        <p:spPr>
          <a:xfrm>
            <a:off x="2340864" y="5257800"/>
            <a:ext cx="4114800" cy="548640"/>
          </a:xfrm>
          <a:prstGeom prst="rect">
            <a:avLst/>
          </a:prstGeom>
          <a:noFill/>
          <a:ln/>
        </p:spPr>
        <p:txBody>
          <a:bodyPr wrap="square" rtlCol="0" anchor="ctr"/>
          <a:lstStyle/>
          <a:p>
            <a:r>
              <a:rPr lang="en-US" b="1" dirty="0">
                <a:solidFill>
                  <a:srgbClr val="FFFFFF"/>
                </a:solidFill>
              </a:rPr>
              <a:t>RESEARCH METHODOLOGY</a:t>
            </a:r>
            <a:endParaRPr lang="en-US" sz="1800" dirty="0"/>
          </a:p>
        </p:txBody>
      </p:sp>
      <p:sp>
        <p:nvSpPr>
          <p:cNvPr id="19" name="cube 06"/>
          <p:cNvSpPr/>
          <p:nvPr/>
        </p:nvSpPr>
        <p:spPr>
          <a:xfrm>
            <a:off x="6547104" y="1965960"/>
            <a:ext cx="1097280" cy="731520"/>
          </a:xfrm>
          <a:prstGeom prst="cube">
            <a:avLst/>
          </a:prstGeom>
          <a:solidFill>
            <a:srgbClr val="288C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20" name="number 06"/>
          <p:cNvSpPr txBox="1"/>
          <p:nvPr/>
        </p:nvSpPr>
        <p:spPr>
          <a:xfrm>
            <a:off x="6547104" y="2148840"/>
            <a:ext cx="914400" cy="548640"/>
          </a:xfrm>
          <a:prstGeom prst="rect">
            <a:avLst/>
          </a:prstGeom>
          <a:noFill/>
          <a:ln/>
        </p:spPr>
        <p:txBody>
          <a:bodyPr wrap="square" rtlCol="0" anchor="ctr"/>
          <a:lstStyle/>
          <a:p>
            <a:pPr marL="0" indent="0" algn="ctr">
              <a:buNone/>
            </a:pPr>
            <a:r>
              <a:rPr lang="en-US" sz="1600" b="1" dirty="0">
                <a:solidFill>
                  <a:srgbClr val="FFFFFF"/>
                </a:solidFill>
              </a:rPr>
              <a:t>06</a:t>
            </a:r>
            <a:endParaRPr lang="en-US" sz="1600" dirty="0"/>
          </a:p>
        </p:txBody>
      </p:sp>
      <p:sp>
        <p:nvSpPr>
          <p:cNvPr id="21" name="item 06"/>
          <p:cNvSpPr txBox="1"/>
          <p:nvPr/>
        </p:nvSpPr>
        <p:spPr>
          <a:xfrm>
            <a:off x="7827264" y="2148840"/>
            <a:ext cx="4206240" cy="548640"/>
          </a:xfrm>
          <a:prstGeom prst="rect">
            <a:avLst/>
          </a:prstGeom>
          <a:noFill/>
          <a:ln/>
        </p:spPr>
        <p:txBody>
          <a:bodyPr wrap="square" rtlCol="0" anchor="ctr"/>
          <a:lstStyle/>
          <a:p>
            <a:r>
              <a:rPr lang="en-US" b="1" dirty="0">
                <a:solidFill>
                  <a:srgbClr val="FFFFFF"/>
                </a:solidFill>
              </a:rPr>
              <a:t>OVERVIEW SOLUTION OF OBJECTIVES </a:t>
            </a:r>
            <a:endParaRPr lang="en-US" sz="1800" dirty="0"/>
          </a:p>
        </p:txBody>
      </p:sp>
      <p:sp>
        <p:nvSpPr>
          <p:cNvPr id="22" name="cube 07"/>
          <p:cNvSpPr/>
          <p:nvPr/>
        </p:nvSpPr>
        <p:spPr>
          <a:xfrm>
            <a:off x="6547104" y="2743200"/>
            <a:ext cx="1097280" cy="731520"/>
          </a:xfrm>
          <a:prstGeom prst="cube">
            <a:avLst/>
          </a:prstGeom>
          <a:solidFill>
            <a:srgbClr val="2896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23" name="number 07"/>
          <p:cNvSpPr txBox="1"/>
          <p:nvPr/>
        </p:nvSpPr>
        <p:spPr>
          <a:xfrm>
            <a:off x="6547104" y="2926080"/>
            <a:ext cx="914400" cy="548640"/>
          </a:xfrm>
          <a:prstGeom prst="rect">
            <a:avLst/>
          </a:prstGeom>
          <a:noFill/>
          <a:ln/>
        </p:spPr>
        <p:txBody>
          <a:bodyPr wrap="square" rtlCol="0" anchor="ctr"/>
          <a:lstStyle/>
          <a:p>
            <a:pPr marL="0" indent="0" algn="ctr">
              <a:buNone/>
            </a:pPr>
            <a:r>
              <a:rPr lang="en-US" sz="1600" b="1" dirty="0">
                <a:solidFill>
                  <a:srgbClr val="FFFFFF"/>
                </a:solidFill>
              </a:rPr>
              <a:t>07</a:t>
            </a:r>
            <a:endParaRPr lang="en-US" sz="1600" dirty="0"/>
          </a:p>
        </p:txBody>
      </p:sp>
      <p:sp>
        <p:nvSpPr>
          <p:cNvPr id="24" name="item 07"/>
          <p:cNvSpPr txBox="1"/>
          <p:nvPr/>
        </p:nvSpPr>
        <p:spPr>
          <a:xfrm>
            <a:off x="7827264" y="2926080"/>
            <a:ext cx="4206240" cy="548640"/>
          </a:xfrm>
          <a:prstGeom prst="rect">
            <a:avLst/>
          </a:prstGeom>
          <a:noFill/>
          <a:ln/>
        </p:spPr>
        <p:txBody>
          <a:bodyPr wrap="square" rtlCol="0" anchor="ctr"/>
          <a:lstStyle/>
          <a:p>
            <a:r>
              <a:rPr lang="en-US" b="1" dirty="0">
                <a:solidFill>
                  <a:srgbClr val="FFFFFF"/>
                </a:solidFill>
              </a:rPr>
              <a:t>RESEARCH</a:t>
            </a:r>
            <a:r>
              <a:rPr lang="en-US" b="1" dirty="0">
                <a:solidFill>
                  <a:srgbClr val="FFFFFF"/>
                </a:solidFill>
                <a:latin typeface="Arial" pitchFamily="34" charset="0"/>
                <a:ea typeface="Arial" pitchFamily="34" charset="-122"/>
                <a:cs typeface="Arial" pitchFamily="34" charset="-120"/>
              </a:rPr>
              <a:t> </a:t>
            </a:r>
            <a:r>
              <a:rPr lang="en-US" b="1" dirty="0">
                <a:solidFill>
                  <a:srgbClr val="FFFFFF"/>
                </a:solidFill>
              </a:rPr>
              <a:t>CONTRIBUTIONS</a:t>
            </a:r>
            <a:r>
              <a:rPr lang="ar-SA" b="1" dirty="0">
                <a:solidFill>
                  <a:srgbClr val="FFFFFF"/>
                </a:solidFill>
                <a:latin typeface="Arial" pitchFamily="34" charset="0"/>
                <a:cs typeface="Arial" pitchFamily="34" charset="-120"/>
              </a:rPr>
              <a:t> </a:t>
            </a:r>
            <a:endParaRPr lang="en-US" b="1" dirty="0">
              <a:solidFill>
                <a:srgbClr val="FFFFFF"/>
              </a:solidFill>
              <a:latin typeface="Arial" pitchFamily="34" charset="0"/>
              <a:cs typeface="Arial" pitchFamily="34" charset="-120"/>
            </a:endParaRPr>
          </a:p>
        </p:txBody>
      </p:sp>
      <p:sp>
        <p:nvSpPr>
          <p:cNvPr id="25" name="cube 08"/>
          <p:cNvSpPr/>
          <p:nvPr/>
        </p:nvSpPr>
        <p:spPr>
          <a:xfrm>
            <a:off x="6547104" y="3520440"/>
            <a:ext cx="1097280" cy="731520"/>
          </a:xfrm>
          <a:prstGeom prst="cube">
            <a:avLst/>
          </a:prstGeom>
          <a:solidFill>
            <a:srgbClr val="28A0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26" name="number 08"/>
          <p:cNvSpPr txBox="1"/>
          <p:nvPr/>
        </p:nvSpPr>
        <p:spPr>
          <a:xfrm>
            <a:off x="6547104" y="3703320"/>
            <a:ext cx="914400" cy="548640"/>
          </a:xfrm>
          <a:prstGeom prst="rect">
            <a:avLst/>
          </a:prstGeom>
          <a:noFill/>
          <a:ln/>
        </p:spPr>
        <p:txBody>
          <a:bodyPr wrap="square" rtlCol="0" anchor="ctr"/>
          <a:lstStyle/>
          <a:p>
            <a:pPr marL="0" indent="0" algn="ctr">
              <a:buNone/>
            </a:pPr>
            <a:r>
              <a:rPr lang="en-US" sz="1600" b="1" dirty="0">
                <a:solidFill>
                  <a:srgbClr val="FFFFFF"/>
                </a:solidFill>
              </a:rPr>
              <a:t>08</a:t>
            </a:r>
            <a:endParaRPr lang="en-US" sz="1600" dirty="0"/>
          </a:p>
        </p:txBody>
      </p:sp>
      <p:sp>
        <p:nvSpPr>
          <p:cNvPr id="27" name="item 08"/>
          <p:cNvSpPr txBox="1"/>
          <p:nvPr/>
        </p:nvSpPr>
        <p:spPr>
          <a:xfrm>
            <a:off x="7827264" y="3703320"/>
            <a:ext cx="4206240" cy="548640"/>
          </a:xfrm>
          <a:prstGeom prst="rect">
            <a:avLst/>
          </a:prstGeom>
          <a:noFill/>
          <a:ln/>
        </p:spPr>
        <p:txBody>
          <a:bodyPr wrap="square" rtlCol="0" anchor="ctr"/>
          <a:lstStyle/>
          <a:p>
            <a:pPr marL="0" indent="0">
              <a:buNone/>
            </a:pPr>
            <a:r>
              <a:rPr lang="en-US" sz="1800" b="1" dirty="0">
                <a:solidFill>
                  <a:srgbClr val="FFFFFF"/>
                </a:solidFill>
              </a:rPr>
              <a:t>PUBLICATIONS</a:t>
            </a:r>
            <a:endParaRPr lang="en-US" sz="1800" dirty="0"/>
          </a:p>
        </p:txBody>
      </p:sp>
      <p:sp>
        <p:nvSpPr>
          <p:cNvPr id="28" name="cube 09"/>
          <p:cNvSpPr/>
          <p:nvPr/>
        </p:nvSpPr>
        <p:spPr>
          <a:xfrm>
            <a:off x="6547104" y="4297680"/>
            <a:ext cx="1097280" cy="731520"/>
          </a:xfrm>
          <a:prstGeom prst="cube">
            <a:avLst/>
          </a:prstGeom>
          <a:solidFill>
            <a:srgbClr val="28AA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29" name="number 09"/>
          <p:cNvSpPr txBox="1"/>
          <p:nvPr/>
        </p:nvSpPr>
        <p:spPr>
          <a:xfrm>
            <a:off x="6547104" y="4480560"/>
            <a:ext cx="914400" cy="548640"/>
          </a:xfrm>
          <a:prstGeom prst="rect">
            <a:avLst/>
          </a:prstGeom>
          <a:noFill/>
          <a:ln/>
        </p:spPr>
        <p:txBody>
          <a:bodyPr wrap="square" rtlCol="0" anchor="ctr"/>
          <a:lstStyle/>
          <a:p>
            <a:pPr marL="0" indent="0" algn="ctr">
              <a:buNone/>
            </a:pPr>
            <a:r>
              <a:rPr lang="en-US" sz="1600" b="1" dirty="0">
                <a:solidFill>
                  <a:srgbClr val="FFFFFF"/>
                </a:solidFill>
              </a:rPr>
              <a:t>09</a:t>
            </a:r>
            <a:endParaRPr lang="en-US" sz="1600" dirty="0"/>
          </a:p>
        </p:txBody>
      </p:sp>
      <p:sp>
        <p:nvSpPr>
          <p:cNvPr id="30" name="item 09"/>
          <p:cNvSpPr txBox="1"/>
          <p:nvPr/>
        </p:nvSpPr>
        <p:spPr>
          <a:xfrm>
            <a:off x="7827264" y="4480560"/>
            <a:ext cx="4206240" cy="548640"/>
          </a:xfrm>
          <a:prstGeom prst="rect">
            <a:avLst/>
          </a:prstGeom>
          <a:noFill/>
          <a:ln/>
        </p:spPr>
        <p:txBody>
          <a:bodyPr wrap="square" rtlCol="0" anchor="ctr"/>
          <a:lstStyle/>
          <a:p>
            <a:r>
              <a:rPr lang="en-US" b="1" dirty="0">
                <a:solidFill>
                  <a:srgbClr val="FFFFFF"/>
                </a:solidFill>
              </a:rPr>
              <a:t>RESEARCH PLAN</a:t>
            </a:r>
            <a:endParaRPr lang="en-US" sz="1800" dirty="0"/>
          </a:p>
        </p:txBody>
      </p:sp>
      <p:sp>
        <p:nvSpPr>
          <p:cNvPr id="31" name="cube 10"/>
          <p:cNvSpPr/>
          <p:nvPr/>
        </p:nvSpPr>
        <p:spPr>
          <a:xfrm>
            <a:off x="6547104" y="5074920"/>
            <a:ext cx="1097280" cy="731520"/>
          </a:xfrm>
          <a:prstGeom prst="cube">
            <a:avLst/>
          </a:prstGeom>
          <a:solidFill>
            <a:srgbClr val="28B4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32" name="number 10"/>
          <p:cNvSpPr txBox="1"/>
          <p:nvPr/>
        </p:nvSpPr>
        <p:spPr>
          <a:xfrm>
            <a:off x="6547104" y="5257800"/>
            <a:ext cx="914400" cy="548640"/>
          </a:xfrm>
          <a:prstGeom prst="rect">
            <a:avLst/>
          </a:prstGeom>
          <a:noFill/>
          <a:ln/>
        </p:spPr>
        <p:txBody>
          <a:bodyPr wrap="square" rtlCol="0" anchor="ctr"/>
          <a:lstStyle/>
          <a:p>
            <a:pPr marL="0" indent="0" algn="ctr">
              <a:buNone/>
            </a:pPr>
            <a:r>
              <a:rPr lang="en-US" sz="1600" b="1" dirty="0">
                <a:solidFill>
                  <a:srgbClr val="FFFFFF"/>
                </a:solidFill>
              </a:rPr>
              <a:t>10</a:t>
            </a:r>
            <a:endParaRPr lang="en-US" sz="1600" dirty="0"/>
          </a:p>
        </p:txBody>
      </p:sp>
      <p:sp>
        <p:nvSpPr>
          <p:cNvPr id="33" name="item 10"/>
          <p:cNvSpPr txBox="1"/>
          <p:nvPr/>
        </p:nvSpPr>
        <p:spPr>
          <a:xfrm>
            <a:off x="7827264" y="5257800"/>
            <a:ext cx="4206240" cy="548640"/>
          </a:xfrm>
          <a:prstGeom prst="rect">
            <a:avLst/>
          </a:prstGeom>
          <a:noFill/>
          <a:ln/>
        </p:spPr>
        <p:txBody>
          <a:bodyPr wrap="square" rtlCol="0" anchor="ctr"/>
          <a:lstStyle/>
          <a:p>
            <a:pPr marL="0" indent="0">
              <a:buNone/>
            </a:pPr>
            <a:r>
              <a:rPr lang="en-US" sz="1800" b="1" dirty="0">
                <a:solidFill>
                  <a:srgbClr val="FFFFFF"/>
                </a:solidFill>
              </a:rPr>
              <a:t>REFERENCES</a:t>
            </a:r>
            <a:endParaRPr lang="en-US" sz="1800" dirty="0"/>
          </a:p>
        </p:txBody>
      </p:sp>
      <p:sp>
        <p:nvSpPr>
          <p:cNvPr id="3"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THE RESEARCH PROBLEM</a:t>
            </a:r>
            <a:endParaRPr lang="en-US" sz="3000" dirty="0"/>
          </a:p>
        </p:txBody>
      </p:sp>
      <p:sp>
        <p:nvSpPr>
          <p:cNvPr id="4" name="bullets"/>
          <p:cNvSpPr txBox="1"/>
          <p:nvPr/>
        </p:nvSpPr>
        <p:spPr>
          <a:xfrm>
            <a:off x="822960" y="1280160"/>
            <a:ext cx="6217920" cy="4937760"/>
          </a:xfrm>
          <a:prstGeom prst="rect">
            <a:avLst/>
          </a:prstGeom>
          <a:noFill/>
          <a:ln/>
        </p:spPr>
        <p:txBody>
          <a:bodyPr wrap="square" rtlCol="0" anchor="t"/>
          <a:lstStyle/>
          <a:p>
            <a:pPr marL="342900" indent="-342900">
              <a:spcAft>
                <a:spcPts val="1000"/>
              </a:spcAft>
              <a:buSzPct val="100000"/>
              <a:buChar char="•"/>
            </a:pPr>
            <a:r>
              <a:rPr lang="en-US" sz="1900" dirty="0">
                <a:solidFill>
                  <a:srgbClr val="FFFFFF"/>
                </a:solidFill>
              </a:rPr>
              <a:t>Healthcare data is shared between many independent parties: patient, guardians, doctor, hospital.</a:t>
            </a:r>
            <a:endParaRPr lang="en-US" sz="1900" dirty="0"/>
          </a:p>
          <a:p>
            <a:pPr marL="342900" indent="-342900">
              <a:spcAft>
                <a:spcPts val="1000"/>
              </a:spcAft>
              <a:buSzPct val="100000"/>
              <a:buChar char="•"/>
            </a:pPr>
            <a:r>
              <a:rPr lang="en-US" sz="1900" dirty="0">
                <a:solidFill>
                  <a:srgbClr val="FFFFFF"/>
                </a:solidFill>
              </a:rPr>
              <a:t>Today, consent is a stored record. It shows that permission was given, but it checks nothing at access time.</a:t>
            </a:r>
            <a:endParaRPr lang="en-US" sz="1900" dirty="0"/>
          </a:p>
          <a:p>
            <a:pPr marL="342900" indent="-342900">
              <a:spcAft>
                <a:spcPts val="1000"/>
              </a:spcAft>
              <a:buSzPct val="100000"/>
              <a:buChar char="•"/>
            </a:pPr>
            <a:r>
              <a:rPr lang="en-US" sz="1900" dirty="0">
                <a:solidFill>
                  <a:srgbClr val="FFFFFF"/>
                </a:solidFill>
              </a:rPr>
              <a:t>A valid identity does not prove the right to see this patient's data.</a:t>
            </a:r>
            <a:endParaRPr lang="en-US" sz="1900" dirty="0"/>
          </a:p>
          <a:p>
            <a:pPr marL="342900" indent="-342900">
              <a:spcAft>
                <a:spcPts val="1000"/>
              </a:spcAft>
              <a:buSzPct val="100000"/>
              <a:buChar char="•"/>
            </a:pPr>
            <a:r>
              <a:rPr lang="en-US" sz="1900" dirty="0">
                <a:solidFill>
                  <a:srgbClr val="FFFFFF"/>
                </a:solidFill>
              </a:rPr>
              <a:t>A request can ask for more data than allowed, or arrive after the consent expired or was </a:t>
            </a:r>
            <a:r>
              <a:rPr lang="en-US" sz="1900" dirty="0">
                <a:solidFill>
                  <a:srgbClr val="FFFFFF"/>
                </a:solidFill>
                <a:highlight>
                  <a:srgbClr val="FFFF00"/>
                </a:highlight>
              </a:rPr>
              <a:t>revoked</a:t>
            </a:r>
            <a:r>
              <a:rPr lang="en-US" sz="1900" dirty="0">
                <a:solidFill>
                  <a:srgbClr val="FFFFFF"/>
                </a:solidFill>
              </a:rPr>
              <a:t>.</a:t>
            </a:r>
            <a:endParaRPr lang="en-US" sz="1900" dirty="0"/>
          </a:p>
          <a:p>
            <a:pPr marL="342900" indent="-342900">
              <a:spcAft>
                <a:spcPts val="1000"/>
              </a:spcAft>
              <a:buSzPct val="100000"/>
              <a:buChar char="•"/>
            </a:pPr>
            <a:r>
              <a:rPr lang="en-US" sz="1900" dirty="0">
                <a:solidFill>
                  <a:srgbClr val="FFFFFF"/>
                </a:solidFill>
              </a:rPr>
              <a:t>None of the reviewed studies proves or tests the whole decision.</a:t>
            </a:r>
            <a:endParaRPr lang="en-US" sz="1900" dirty="0"/>
          </a:p>
        </p:txBody>
      </p:sp>
      <p:sp>
        <p:nvSpPr>
          <p:cNvPr id="5" name="card In one sentence"/>
          <p:cNvSpPr/>
          <p:nvPr/>
        </p:nvSpPr>
        <p:spPr>
          <a:xfrm>
            <a:off x="882315" y="5108933"/>
            <a:ext cx="9380668" cy="937814"/>
          </a:xfrm>
          <a:prstGeom prst="roundRect">
            <a:avLst>
              <a:gd name="adj" fmla="val 2326"/>
            </a:avLst>
          </a:prstGeom>
          <a:solidFill>
            <a:srgbClr val="FFFFFF">
              <a:alpha val="92000"/>
            </a:srgbClr>
          </a:solidFill>
          <a:ln w="19050">
            <a:solidFill>
              <a:srgbClr val="1FB5D6"/>
            </a:solidFill>
            <a:prstDash val="solid"/>
          </a:ln>
        </p:spPr>
        <p:txBody>
          <a:bodyPr/>
          <a:lstStyle/>
          <a:p>
            <a:endParaRPr lang="en-AU"/>
          </a:p>
        </p:txBody>
      </p:sp>
      <p:sp>
        <p:nvSpPr>
          <p:cNvPr id="6" name="card text In one sentence"/>
          <p:cNvSpPr txBox="1"/>
          <p:nvPr/>
        </p:nvSpPr>
        <p:spPr>
          <a:xfrm>
            <a:off x="1214239" y="5256375"/>
            <a:ext cx="8726202" cy="839097"/>
          </a:xfrm>
          <a:prstGeom prst="rect">
            <a:avLst/>
          </a:prstGeom>
          <a:noFill/>
          <a:ln/>
        </p:spPr>
        <p:txBody>
          <a:bodyPr wrap="square" rtlCol="0" anchor="t"/>
          <a:lstStyle/>
          <a:p>
            <a:pPr marL="0" indent="0">
              <a:spcAft>
                <a:spcPts val="400"/>
              </a:spcAft>
              <a:buNone/>
            </a:pPr>
            <a:r>
              <a:rPr lang="en-US" sz="1600" b="1" i="1" dirty="0">
                <a:solidFill>
                  <a:srgbClr val="0B1F33"/>
                </a:solidFill>
              </a:rPr>
              <a:t>The main problem </a:t>
            </a:r>
            <a:r>
              <a:rPr lang="en-US" sz="1600" dirty="0">
                <a:solidFill>
                  <a:srgbClr val="0B1F33"/>
                </a:solidFill>
              </a:rPr>
              <a:t>is that there is no trusted mechanism that checks identity, authority, multi-party approval, policy, time and lifecycle together in one access decision, with evidence that it is secure.</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THE KEY IDEA</a:t>
            </a:r>
            <a:endParaRPr lang="en-US" sz="3000" dirty="0"/>
          </a:p>
        </p:txBody>
      </p:sp>
      <p:sp>
        <p:nvSpPr>
          <p:cNvPr id="4" name="idea box"/>
          <p:cNvSpPr/>
          <p:nvPr/>
        </p:nvSpPr>
        <p:spPr>
          <a:xfrm>
            <a:off x="822960" y="1188720"/>
            <a:ext cx="10424160" cy="1371600"/>
          </a:xfrm>
          <a:prstGeom prst="roundRect">
            <a:avLst>
              <a:gd name="adj" fmla="val 6667"/>
            </a:avLst>
          </a:prstGeom>
          <a:solidFill>
            <a:srgbClr val="0B2A4A">
              <a:alpha val="85000"/>
            </a:srgbClr>
          </a:solidFill>
          <a:ln w="19050">
            <a:solidFill>
              <a:srgbClr val="1FB5D6"/>
            </a:solidFill>
            <a:prstDash val="solid"/>
          </a:ln>
        </p:spPr>
        <p:txBody>
          <a:bodyPr/>
          <a:lstStyle/>
          <a:p>
            <a:endParaRPr lang="en-AU"/>
          </a:p>
        </p:txBody>
      </p:sp>
      <p:sp>
        <p:nvSpPr>
          <p:cNvPr id="5" name="idea text"/>
          <p:cNvSpPr txBox="1"/>
          <p:nvPr/>
        </p:nvSpPr>
        <p:spPr>
          <a:xfrm>
            <a:off x="1005840" y="1234440"/>
            <a:ext cx="10058400" cy="1280160"/>
          </a:xfrm>
          <a:prstGeom prst="rect">
            <a:avLst/>
          </a:prstGeom>
          <a:noFill/>
          <a:ln/>
        </p:spPr>
        <p:txBody>
          <a:bodyPr wrap="square" rtlCol="0" anchor="ctr"/>
          <a:lstStyle/>
          <a:p>
            <a:pPr marL="0" indent="0" algn="ctr">
              <a:buNone/>
            </a:pPr>
            <a:r>
              <a:rPr lang="en-US" sz="2000" b="1" dirty="0">
                <a:solidFill>
                  <a:srgbClr val="FFFFFF"/>
                </a:solidFill>
              </a:rPr>
              <a:t>Consent is not a stored record. It is an object checked at every request.</a:t>
            </a:r>
            <a:endParaRPr lang="en-US" sz="2000" dirty="0"/>
          </a:p>
          <a:p>
            <a:pPr marL="0" indent="0" algn="ctr">
              <a:buNone/>
            </a:pPr>
            <a:r>
              <a:rPr lang="en-US" sz="2800" b="1" dirty="0">
                <a:solidFill>
                  <a:srgbClr val="1FB5D6"/>
                </a:solidFill>
              </a:rPr>
              <a:t>C = (I, A, P, T, L, E)</a:t>
            </a:r>
            <a:endParaRPr lang="en-US" sz="2000" dirty="0"/>
          </a:p>
        </p:txBody>
      </p:sp>
      <p:sp>
        <p:nvSpPr>
          <p:cNvPr id="6" name="card I  Identity"/>
          <p:cNvSpPr/>
          <p:nvPr/>
        </p:nvSpPr>
        <p:spPr>
          <a:xfrm>
            <a:off x="822960" y="278892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7" name="card text I  Identity"/>
          <p:cNvSpPr txBox="1"/>
          <p:nvPr/>
        </p:nvSpPr>
        <p:spPr>
          <a:xfrm>
            <a:off x="960120" y="288036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I  Identity</a:t>
            </a:r>
            <a:endParaRPr lang="en-US" sz="1900" dirty="0"/>
          </a:p>
          <a:p>
            <a:pPr marL="0" indent="0">
              <a:spcAft>
                <a:spcPts val="400"/>
              </a:spcAft>
              <a:buNone/>
            </a:pPr>
            <a:r>
              <a:rPr lang="en-US" sz="1600" dirty="0">
                <a:solidFill>
                  <a:srgbClr val="0B1F33"/>
                </a:solidFill>
              </a:rPr>
              <a:t>Who is the patient, the doctor and each guardian (DID).</a:t>
            </a:r>
            <a:endParaRPr lang="en-US" sz="1900" dirty="0"/>
          </a:p>
        </p:txBody>
      </p:sp>
      <p:sp>
        <p:nvSpPr>
          <p:cNvPr id="8" name="card A  Authorisation"/>
          <p:cNvSpPr/>
          <p:nvPr/>
        </p:nvSpPr>
        <p:spPr>
          <a:xfrm>
            <a:off x="4389120" y="278892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9" name="card text A  Authorisation"/>
          <p:cNvSpPr txBox="1"/>
          <p:nvPr/>
        </p:nvSpPr>
        <p:spPr>
          <a:xfrm>
            <a:off x="4526280" y="288036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A  Authorisation</a:t>
            </a:r>
            <a:endParaRPr lang="en-US" sz="1900" dirty="0"/>
          </a:p>
          <a:p>
            <a:pPr marL="0" indent="0">
              <a:spcAft>
                <a:spcPts val="400"/>
              </a:spcAft>
              <a:buNone/>
            </a:pPr>
            <a:r>
              <a:rPr lang="en-US" sz="1600" dirty="0">
                <a:solidFill>
                  <a:srgbClr val="0B1F33"/>
                </a:solidFill>
              </a:rPr>
              <a:t>The guardian set G and how many approvals are needed (N).</a:t>
            </a:r>
            <a:endParaRPr lang="en-US" sz="1900" dirty="0"/>
          </a:p>
        </p:txBody>
      </p:sp>
      <p:sp>
        <p:nvSpPr>
          <p:cNvPr id="10" name="card P  Policy"/>
          <p:cNvSpPr/>
          <p:nvPr/>
        </p:nvSpPr>
        <p:spPr>
          <a:xfrm>
            <a:off x="7955280" y="278892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11" name="card text P  Policy"/>
          <p:cNvSpPr txBox="1"/>
          <p:nvPr/>
        </p:nvSpPr>
        <p:spPr>
          <a:xfrm>
            <a:off x="8092440" y="288036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P  Policy</a:t>
            </a:r>
            <a:endParaRPr lang="en-US" sz="1900" dirty="0"/>
          </a:p>
          <a:p>
            <a:pPr marL="0" indent="0">
              <a:spcAft>
                <a:spcPts val="400"/>
              </a:spcAft>
              <a:buNone/>
            </a:pPr>
            <a:r>
              <a:rPr lang="en-US" sz="1600" dirty="0">
                <a:solidFill>
                  <a:srgbClr val="0B1F33"/>
                </a:solidFill>
              </a:rPr>
              <a:t>The purpose and the data scope that were agreed.</a:t>
            </a:r>
            <a:endParaRPr lang="en-US" sz="1900" dirty="0"/>
          </a:p>
        </p:txBody>
      </p:sp>
      <p:sp>
        <p:nvSpPr>
          <p:cNvPr id="12" name="card T  Time"/>
          <p:cNvSpPr/>
          <p:nvPr/>
        </p:nvSpPr>
        <p:spPr>
          <a:xfrm>
            <a:off x="822960" y="457200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13" name="card text T  Time"/>
          <p:cNvSpPr txBox="1"/>
          <p:nvPr/>
        </p:nvSpPr>
        <p:spPr>
          <a:xfrm>
            <a:off x="960120" y="466344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T  Time</a:t>
            </a:r>
            <a:endParaRPr lang="en-US" sz="1900" dirty="0"/>
          </a:p>
          <a:p>
            <a:pPr marL="0" indent="0">
              <a:spcAft>
                <a:spcPts val="400"/>
              </a:spcAft>
              <a:buNone/>
            </a:pPr>
            <a:r>
              <a:rPr lang="en-US" sz="1600" dirty="0">
                <a:solidFill>
                  <a:srgbClr val="0B1F33"/>
                </a:solidFill>
              </a:rPr>
              <a:t>When the consent starts and when it expires.</a:t>
            </a:r>
            <a:endParaRPr lang="en-US" sz="1900" dirty="0"/>
          </a:p>
        </p:txBody>
      </p:sp>
      <p:sp>
        <p:nvSpPr>
          <p:cNvPr id="14" name="card L  Lifecycle"/>
          <p:cNvSpPr/>
          <p:nvPr/>
        </p:nvSpPr>
        <p:spPr>
          <a:xfrm>
            <a:off x="4389120" y="457200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15" name="card text L  Lifecycle"/>
          <p:cNvSpPr txBox="1"/>
          <p:nvPr/>
        </p:nvSpPr>
        <p:spPr>
          <a:xfrm>
            <a:off x="4526280" y="466344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L  Lifecycle</a:t>
            </a:r>
            <a:endParaRPr lang="en-US" sz="1900" dirty="0"/>
          </a:p>
          <a:p>
            <a:pPr marL="0" indent="0">
              <a:spcAft>
                <a:spcPts val="400"/>
              </a:spcAft>
              <a:buNone/>
            </a:pPr>
            <a:r>
              <a:rPr lang="en-US" sz="1600" dirty="0">
                <a:solidFill>
                  <a:srgbClr val="0B1F33"/>
                </a:solidFill>
              </a:rPr>
              <a:t>The state of the consent, from creation to expiry or revocation.</a:t>
            </a:r>
            <a:endParaRPr lang="en-US" sz="1900" dirty="0"/>
          </a:p>
        </p:txBody>
      </p:sp>
      <p:sp>
        <p:nvSpPr>
          <p:cNvPr id="16" name="card E  Evidence"/>
          <p:cNvSpPr/>
          <p:nvPr/>
        </p:nvSpPr>
        <p:spPr>
          <a:xfrm>
            <a:off x="7955280" y="457200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17" name="card text E  Evidence"/>
          <p:cNvSpPr txBox="1"/>
          <p:nvPr/>
        </p:nvSpPr>
        <p:spPr>
          <a:xfrm>
            <a:off x="8092440" y="466344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E  Evidence</a:t>
            </a:r>
            <a:endParaRPr lang="en-US" sz="1900" dirty="0"/>
          </a:p>
          <a:p>
            <a:pPr marL="0" indent="0">
              <a:spcAft>
                <a:spcPts val="400"/>
              </a:spcAft>
              <a:buNone/>
            </a:pPr>
            <a:r>
              <a:rPr lang="en-US" sz="1600" dirty="0">
                <a:solidFill>
                  <a:srgbClr val="0B1F33"/>
                </a:solidFill>
              </a:rPr>
              <a:t>Signatures, the token, and whether it is </a:t>
            </a:r>
            <a:r>
              <a:rPr lang="en-US" sz="1600" dirty="0">
                <a:solidFill>
                  <a:srgbClr val="0B1F33"/>
                </a:solidFill>
                <a:highlight>
                  <a:srgbClr val="FFFF00"/>
                </a:highlight>
              </a:rPr>
              <a:t>revoked</a:t>
            </a:r>
            <a:r>
              <a:rPr lang="en-US" sz="1600" dirty="0">
                <a:solidFill>
                  <a:srgbClr val="0B1F33"/>
                </a:solidFill>
              </a:rPr>
              <a:t>.</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Arrow Connector 21">
            <a:extLst>
              <a:ext uri="{FF2B5EF4-FFF2-40B4-BE49-F238E27FC236}">
                <a16:creationId xmlns:a16="http://schemas.microsoft.com/office/drawing/2014/main" id="{B22F05F8-A3EA-4568-A566-9B233E3A9FC5}"/>
              </a:ext>
            </a:extLst>
          </p:cNvPr>
          <p:cNvCxnSpPr>
            <a:stCxn id="9" idx="3"/>
            <a:endCxn id="21" idx="1"/>
          </p:cNvCxnSpPr>
          <p:nvPr/>
        </p:nvCxnSpPr>
        <p:spPr>
          <a:xfrm>
            <a:off x="6877050" y="4638675"/>
            <a:ext cx="981075" cy="0"/>
          </a:xfrm>
          <a:prstGeom prst="straightConnector1">
            <a:avLst/>
          </a:prstGeom>
          <a:ln w="19050">
            <a:solidFill>
              <a:srgbClr val="146BA8"/>
            </a:solidFill>
            <a:prstDash val="solid"/>
            <a:tailEnd type="triangle" w="med" len="med"/>
          </a:ln>
        </p:spPr>
      </p:cxnSp>
      <p:cxnSp>
        <p:nvCxnSpPr>
          <p:cNvPr id="20" name="Straight Arrow Connector 19">
            <a:extLst>
              <a:ext uri="{FF2B5EF4-FFF2-40B4-BE49-F238E27FC236}">
                <a16:creationId xmlns:a16="http://schemas.microsoft.com/office/drawing/2014/main" id="{02632CC2-67F9-4A43-BA60-D784C440AA9A}"/>
              </a:ext>
            </a:extLst>
          </p:cNvPr>
          <p:cNvCxnSpPr>
            <a:stCxn id="8" idx="3"/>
            <a:endCxn id="19" idx="1"/>
          </p:cNvCxnSpPr>
          <p:nvPr/>
        </p:nvCxnSpPr>
        <p:spPr>
          <a:xfrm>
            <a:off x="6877050" y="3686175"/>
            <a:ext cx="981075" cy="0"/>
          </a:xfrm>
          <a:prstGeom prst="straightConnector1">
            <a:avLst/>
          </a:prstGeom>
          <a:ln w="19050">
            <a:solidFill>
              <a:srgbClr val="146BA8"/>
            </a:solidFill>
            <a:prstDash val="solid"/>
            <a:tailEnd type="triangle" w="med" len="med"/>
          </a:ln>
        </p:spPr>
      </p:cxnSp>
      <p:cxnSp>
        <p:nvCxnSpPr>
          <p:cNvPr id="18" name="Straight Arrow Connector 17">
            <a:extLst>
              <a:ext uri="{FF2B5EF4-FFF2-40B4-BE49-F238E27FC236}">
                <a16:creationId xmlns:a16="http://schemas.microsoft.com/office/drawing/2014/main" id="{259845E7-D4C2-4995-AC3B-EE7BB0CAC425}"/>
              </a:ext>
            </a:extLst>
          </p:cNvPr>
          <p:cNvCxnSpPr>
            <a:stCxn id="7" idx="3"/>
            <a:endCxn id="17" idx="1"/>
          </p:cNvCxnSpPr>
          <p:nvPr/>
        </p:nvCxnSpPr>
        <p:spPr>
          <a:xfrm>
            <a:off x="6877050" y="2733675"/>
            <a:ext cx="981075" cy="0"/>
          </a:xfrm>
          <a:prstGeom prst="straightConnector1">
            <a:avLst/>
          </a:prstGeom>
          <a:ln w="19050">
            <a:solidFill>
              <a:srgbClr val="146BA8"/>
            </a:solidFill>
            <a:prstDash val="solid"/>
            <a:tailEnd type="triangle" w="med" len="med"/>
          </a:ln>
        </p:spPr>
      </p:cxnSp>
      <p:cxnSp>
        <p:nvCxnSpPr>
          <p:cNvPr id="16" name="Straight Arrow Connector 15">
            <a:extLst>
              <a:ext uri="{FF2B5EF4-FFF2-40B4-BE49-F238E27FC236}">
                <a16:creationId xmlns:a16="http://schemas.microsoft.com/office/drawing/2014/main" id="{50B23DC6-FB9D-43AC-B2D5-3BA1A0F0D39C}"/>
              </a:ext>
            </a:extLst>
          </p:cNvPr>
          <p:cNvCxnSpPr>
            <a:stCxn id="6" idx="3"/>
            <a:endCxn id="15" idx="1"/>
          </p:cNvCxnSpPr>
          <p:nvPr/>
        </p:nvCxnSpPr>
        <p:spPr>
          <a:xfrm>
            <a:off x="6877050" y="1781175"/>
            <a:ext cx="981075" cy="0"/>
          </a:xfrm>
          <a:prstGeom prst="straightConnector1">
            <a:avLst/>
          </a:prstGeom>
          <a:ln w="19050">
            <a:solidFill>
              <a:srgbClr val="146BA8"/>
            </a:solidFill>
            <a:prstDash val="solid"/>
            <a:tailEnd type="triangle" w="med" len="med"/>
          </a:ln>
        </p:spPr>
      </p:cxnSp>
      <p:cxnSp>
        <p:nvCxnSpPr>
          <p:cNvPr id="14" name="Straight Arrow Connector 13">
            <a:extLst>
              <a:ext uri="{FF2B5EF4-FFF2-40B4-BE49-F238E27FC236}">
                <a16:creationId xmlns:a16="http://schemas.microsoft.com/office/drawing/2014/main" id="{6682747D-6CE3-48FC-B6E9-CF2E02AFADB3}"/>
              </a:ext>
            </a:extLst>
          </p:cNvPr>
          <p:cNvCxnSpPr>
            <a:stCxn id="9" idx="2"/>
            <a:endCxn id="10" idx="0"/>
          </p:cNvCxnSpPr>
          <p:nvPr/>
        </p:nvCxnSpPr>
        <p:spPr>
          <a:xfrm>
            <a:off x="3733800" y="4953000"/>
            <a:ext cx="0" cy="323850"/>
          </a:xfrm>
          <a:prstGeom prst="straightConnector1">
            <a:avLst/>
          </a:prstGeom>
          <a:ln w="19050">
            <a:solidFill>
              <a:srgbClr val="146BA8"/>
            </a:solidFill>
            <a:prstDash val="solid"/>
            <a:tailEnd type="triangle" w="med" len="med"/>
          </a:ln>
        </p:spPr>
      </p:cxnSp>
      <p:cxnSp>
        <p:nvCxnSpPr>
          <p:cNvPr id="13" name="Straight Arrow Connector 12">
            <a:extLst>
              <a:ext uri="{FF2B5EF4-FFF2-40B4-BE49-F238E27FC236}">
                <a16:creationId xmlns:a16="http://schemas.microsoft.com/office/drawing/2014/main" id="{FF37512D-9B62-43F3-944B-B2201423114A}"/>
              </a:ext>
            </a:extLst>
          </p:cNvPr>
          <p:cNvCxnSpPr>
            <a:stCxn id="8" idx="2"/>
            <a:endCxn id="9" idx="0"/>
          </p:cNvCxnSpPr>
          <p:nvPr/>
        </p:nvCxnSpPr>
        <p:spPr>
          <a:xfrm>
            <a:off x="3733800" y="4000500"/>
            <a:ext cx="0" cy="323850"/>
          </a:xfrm>
          <a:prstGeom prst="straightConnector1">
            <a:avLst/>
          </a:prstGeom>
          <a:ln w="19050">
            <a:solidFill>
              <a:srgbClr val="146BA8"/>
            </a:solidFill>
            <a:prstDash val="solid"/>
            <a:tailEnd type="triangle" w="med" len="med"/>
          </a:ln>
        </p:spPr>
      </p:cxnSp>
      <p:cxnSp>
        <p:nvCxnSpPr>
          <p:cNvPr id="12" name="Straight Arrow Connector 11">
            <a:extLst>
              <a:ext uri="{FF2B5EF4-FFF2-40B4-BE49-F238E27FC236}">
                <a16:creationId xmlns:a16="http://schemas.microsoft.com/office/drawing/2014/main" id="{B7901DCA-16DC-4A59-ABE9-8BCD2E294865}"/>
              </a:ext>
            </a:extLst>
          </p:cNvPr>
          <p:cNvCxnSpPr>
            <a:stCxn id="7" idx="2"/>
            <a:endCxn id="8" idx="0"/>
          </p:cNvCxnSpPr>
          <p:nvPr/>
        </p:nvCxnSpPr>
        <p:spPr>
          <a:xfrm>
            <a:off x="3733800" y="3048000"/>
            <a:ext cx="0" cy="323850"/>
          </a:xfrm>
          <a:prstGeom prst="straightConnector1">
            <a:avLst/>
          </a:prstGeom>
          <a:ln w="19050">
            <a:solidFill>
              <a:srgbClr val="146BA8"/>
            </a:solidFill>
            <a:prstDash val="solid"/>
            <a:tailEnd type="triangle" w="med" len="med"/>
          </a:ln>
        </p:spPr>
      </p:cxnSp>
      <p:cxnSp>
        <p:nvCxnSpPr>
          <p:cNvPr id="11" name="Straight Arrow Connector 10">
            <a:extLst>
              <a:ext uri="{FF2B5EF4-FFF2-40B4-BE49-F238E27FC236}">
                <a16:creationId xmlns:a16="http://schemas.microsoft.com/office/drawing/2014/main" id="{4F18893E-8660-4B51-8E7F-88D3101EEE30}"/>
              </a:ext>
            </a:extLst>
          </p:cNvPr>
          <p:cNvCxnSpPr>
            <a:stCxn id="6" idx="2"/>
            <a:endCxn id="7" idx="0"/>
          </p:cNvCxnSpPr>
          <p:nvPr/>
        </p:nvCxnSpPr>
        <p:spPr>
          <a:xfrm>
            <a:off x="3733800" y="2095500"/>
            <a:ext cx="0" cy="323850"/>
          </a:xfrm>
          <a:prstGeom prst="straightConnector1">
            <a:avLst/>
          </a:prstGeom>
          <a:ln w="19050">
            <a:solidFill>
              <a:srgbClr val="146BA8"/>
            </a:solidFill>
            <a:prstDash val="solid"/>
            <a:tailEnd type="triangle" w="med" len="med"/>
          </a:ln>
        </p:spPr>
      </p:cxnSp>
      <p:sp>
        <p:nvSpPr>
          <p:cNvPr id="24" name="headline">
            <a:extLst>
              <a:ext uri="{FF2B5EF4-FFF2-40B4-BE49-F238E27FC236}">
                <a16:creationId xmlns:a16="http://schemas.microsoft.com/office/drawing/2014/main" id="{E50BC571-B394-49B1-9A27-B28976EB4859}"/>
              </a:ext>
            </a:extLst>
          </p:cNvPr>
          <p:cNvSpPr>
            <a:spLocks noGrp="1"/>
          </p:cNvSpPr>
          <p:nvPr/>
        </p:nvSpPr>
        <p:spPr>
          <a:xfrm>
            <a:off x="590550" y="369572"/>
            <a:ext cx="11053762" cy="635316"/>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nSpc>
                <a:spcPct val="106000"/>
              </a:lnSpc>
              <a:defRPr sz="2700" b="1">
                <a:solidFill>
                  <a:srgbClr val="103B64"/>
                </a:solidFill>
                <a:latin typeface="Arial"/>
                <a:ea typeface="Arial"/>
                <a:cs typeface="Arial"/>
              </a:defRPr>
            </a:pPr>
            <a:r>
              <a:rPr sz="2000" b="1" dirty="0">
                <a:solidFill>
                  <a:srgbClr val="103B64"/>
                </a:solidFill>
                <a:latin typeface="Arial"/>
                <a:ea typeface="Arial"/>
                <a:cs typeface="Arial"/>
              </a:rPr>
              <a:t> </a:t>
            </a:r>
            <a:r>
              <a:rPr lang="en-US" altLang="ko-KR" sz="2000" b="1" dirty="0">
                <a:solidFill>
                  <a:srgbClr val="103B64"/>
                </a:solidFill>
                <a:latin typeface="Arial"/>
                <a:cs typeface="Arial"/>
              </a:rPr>
              <a:t>Systematic Literature Review</a:t>
            </a:r>
          </a:p>
          <a:p>
            <a:pPr algn="l">
              <a:lnSpc>
                <a:spcPct val="106000"/>
              </a:lnSpc>
              <a:buNone/>
              <a:defRPr sz="2700" b="1">
                <a:solidFill>
                  <a:srgbClr val="103B64"/>
                </a:solidFill>
                <a:latin typeface="Arial"/>
                <a:ea typeface="Arial"/>
                <a:cs typeface="Arial"/>
              </a:defRPr>
            </a:pPr>
            <a:endParaRPr sz="2700" b="1" dirty="0">
              <a:solidFill>
                <a:srgbClr val="103B64"/>
              </a:solidFill>
              <a:latin typeface="Arial"/>
              <a:ea typeface="Arial"/>
              <a:cs typeface="Arial"/>
            </a:endParaRPr>
          </a:p>
        </p:txBody>
      </p:sp>
      <p:sp>
        <p:nvSpPr>
          <p:cNvPr id="2" name="Rectangle 1">
            <a:extLst>
              <a:ext uri="{FF2B5EF4-FFF2-40B4-BE49-F238E27FC236}">
                <a16:creationId xmlns:a16="http://schemas.microsoft.com/office/drawing/2014/main" id="{032D6FF0-C4FA-4983-B1C3-20158469DBE6}"/>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3" name="subtitle">
            <a:extLst>
              <a:ext uri="{FF2B5EF4-FFF2-40B4-BE49-F238E27FC236}">
                <a16:creationId xmlns:a16="http://schemas.microsoft.com/office/drawing/2014/main" id="{58807BB0-BCC7-4D10-A656-B0171522959C}"/>
              </a:ext>
            </a:extLst>
          </p:cNvPr>
          <p:cNvSpPr>
            <a:spLocks noGrp="1"/>
          </p:cNvSpPr>
          <p:nvPr/>
        </p:nvSpPr>
        <p:spPr>
          <a:xfrm>
            <a:off x="590550" y="1047750"/>
            <a:ext cx="11010900" cy="333375"/>
          </a:xfrm>
          <a:prstGeom prst="rect">
            <a:avLst/>
          </a:prstGeom>
          <a:noFill/>
          <a:ln w="0">
            <a:noFill/>
            <a:prstDash val="solid"/>
          </a:ln>
        </p:spPr>
        <p:txBody>
          <a:bodyPr wrap="square" lIns="0" tIns="0" rIns="0" bIns="0" anchor="ctr">
            <a:noAutofit/>
          </a:bodyPr>
          <a:lstStyle>
            <a:defPPr algn="l">
              <a:defRPr sz="1575" b="0">
                <a:solidFill>
                  <a:srgbClr val="56718B"/>
                </a:solidFill>
                <a:latin typeface="Arial"/>
                <a:ea typeface="Arial"/>
                <a:cs typeface="Arial"/>
              </a:defRPr>
            </a:defPPr>
          </a:lstStyle>
          <a:p>
            <a:pPr>
              <a:lnSpc>
                <a:spcPct val="106000"/>
              </a:lnSpc>
              <a:defRPr sz="1575" b="0">
                <a:solidFill>
                  <a:srgbClr val="56718B"/>
                </a:solidFill>
                <a:latin typeface="Arial"/>
                <a:ea typeface="Arial"/>
                <a:cs typeface="Arial"/>
              </a:defRPr>
            </a:pPr>
            <a:r>
              <a:rPr lang="en-AU" sz="1575" dirty="0">
                <a:solidFill>
                  <a:srgbClr val="56718B"/>
                </a:solidFill>
                <a:latin typeface="Arial"/>
                <a:ea typeface="Arial"/>
                <a:cs typeface="Arial"/>
              </a:rPr>
              <a:t>Study Selection Process</a:t>
            </a:r>
            <a:endParaRPr sz="1575" b="0" dirty="0">
              <a:solidFill>
                <a:srgbClr val="56718B"/>
              </a:solidFill>
              <a:latin typeface="Arial"/>
              <a:ea typeface="Arial"/>
              <a:cs typeface="Arial"/>
            </a:endParaRPr>
          </a:p>
        </p:txBody>
      </p:sp>
      <p:sp>
        <p:nvSpPr>
          <p:cNvPr id="5" name="page-number">
            <a:extLst>
              <a:ext uri="{FF2B5EF4-FFF2-40B4-BE49-F238E27FC236}">
                <a16:creationId xmlns:a16="http://schemas.microsoft.com/office/drawing/2014/main" id="{AFCBAA2F-7410-41FA-8314-A7042C8EB874}"/>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8</a:t>
            </a:r>
          </a:p>
        </p:txBody>
      </p:sp>
      <p:sp>
        <p:nvSpPr>
          <p:cNvPr id="6" name="Rectangle 5">
            <a:extLst>
              <a:ext uri="{FF2B5EF4-FFF2-40B4-BE49-F238E27FC236}">
                <a16:creationId xmlns:a16="http://schemas.microsoft.com/office/drawing/2014/main" id="{648FA12C-6297-4A7D-96C9-9FCB8B1D2980}"/>
              </a:ext>
            </a:extLst>
          </p:cNvPr>
          <p:cNvSpPr>
            <a:spLocks noGrp="1"/>
          </p:cNvSpPr>
          <p:nvPr/>
        </p:nvSpPr>
        <p:spPr>
          <a:xfrm>
            <a:off x="590550" y="1466850"/>
            <a:ext cx="6286500" cy="628650"/>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00" b="1">
                <a:solidFill>
                  <a:srgbClr val="103B64"/>
                </a:solidFill>
                <a:latin typeface="Arial"/>
                <a:ea typeface="Arial"/>
                <a:cs typeface="Arial"/>
              </a:defRPr>
            </a:defPPr>
          </a:lstStyle>
          <a:p>
            <a:pPr algn="ctr">
              <a:lnSpc>
                <a:spcPct val="103000"/>
              </a:lnSpc>
              <a:buNone/>
              <a:defRPr sz="1800" b="1">
                <a:solidFill>
                  <a:srgbClr val="103B64"/>
                </a:solidFill>
                <a:latin typeface="Arial"/>
                <a:ea typeface="Arial"/>
                <a:cs typeface="Arial"/>
              </a:defRPr>
            </a:pPr>
            <a:r>
              <a:rPr lang="ar-SA" sz="1800" b="1" dirty="0">
                <a:solidFill>
                  <a:srgbClr val="103B64"/>
                </a:solidFill>
                <a:latin typeface="Arial"/>
                <a:ea typeface="Arial"/>
                <a:cs typeface="Arial"/>
              </a:rPr>
              <a:t>179</a:t>
            </a:r>
            <a:r>
              <a:rPr sz="1800" b="1" dirty="0">
                <a:solidFill>
                  <a:srgbClr val="103B64"/>
                </a:solidFill>
                <a:latin typeface="Arial"/>
                <a:ea typeface="Arial"/>
                <a:cs typeface="Arial"/>
              </a:rPr>
              <a:t> </a:t>
            </a:r>
            <a:r>
              <a:rPr lang="en-US" sz="1800" b="1" dirty="0">
                <a:solidFill>
                  <a:srgbClr val="103B64"/>
                </a:solidFill>
                <a:latin typeface="Arial"/>
                <a:ea typeface="Arial"/>
                <a:cs typeface="Arial"/>
              </a:rPr>
              <a:t>R</a:t>
            </a:r>
            <a:r>
              <a:rPr sz="1800" b="1" dirty="0">
                <a:solidFill>
                  <a:srgbClr val="103B64"/>
                </a:solidFill>
                <a:latin typeface="Arial"/>
                <a:ea typeface="Arial"/>
                <a:cs typeface="Arial"/>
              </a:rPr>
              <a:t>ecords </a:t>
            </a:r>
            <a:r>
              <a:rPr lang="en-US" b="1" dirty="0">
                <a:solidFill>
                  <a:srgbClr val="103B64"/>
                </a:solidFill>
                <a:latin typeface="Arial"/>
                <a:ea typeface="Arial"/>
                <a:cs typeface="Arial"/>
              </a:rPr>
              <a:t>I</a:t>
            </a:r>
            <a:r>
              <a:rPr sz="1800" b="1" dirty="0">
                <a:solidFill>
                  <a:srgbClr val="103B64"/>
                </a:solidFill>
                <a:latin typeface="Arial"/>
                <a:ea typeface="Arial"/>
                <a:cs typeface="Arial"/>
              </a:rPr>
              <a:t>dentified</a:t>
            </a:r>
          </a:p>
        </p:txBody>
      </p:sp>
      <p:sp>
        <p:nvSpPr>
          <p:cNvPr id="7" name="Rectangle 6">
            <a:extLst>
              <a:ext uri="{FF2B5EF4-FFF2-40B4-BE49-F238E27FC236}">
                <a16:creationId xmlns:a16="http://schemas.microsoft.com/office/drawing/2014/main" id="{B13B810A-C52A-4D3B-8B08-A9A20FF83745}"/>
              </a:ext>
            </a:extLst>
          </p:cNvPr>
          <p:cNvSpPr>
            <a:spLocks noGrp="1"/>
          </p:cNvSpPr>
          <p:nvPr/>
        </p:nvSpPr>
        <p:spPr>
          <a:xfrm>
            <a:off x="590550" y="2419350"/>
            <a:ext cx="6286500" cy="628650"/>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00" b="1">
                <a:solidFill>
                  <a:srgbClr val="103B64"/>
                </a:solidFill>
                <a:latin typeface="Arial"/>
                <a:ea typeface="Arial"/>
                <a:cs typeface="Arial"/>
              </a:defRPr>
            </a:defPPr>
          </a:lstStyle>
          <a:p>
            <a:pPr algn="ctr">
              <a:lnSpc>
                <a:spcPct val="103000"/>
              </a:lnSpc>
              <a:buNone/>
              <a:defRPr sz="1800" b="1">
                <a:solidFill>
                  <a:srgbClr val="103B64"/>
                </a:solidFill>
                <a:latin typeface="Arial"/>
                <a:ea typeface="Arial"/>
                <a:cs typeface="Arial"/>
              </a:defRPr>
            </a:pPr>
            <a:r>
              <a:rPr lang="ar-SA" sz="1800" b="1" dirty="0">
                <a:solidFill>
                  <a:srgbClr val="103B64"/>
                </a:solidFill>
                <a:latin typeface="Arial"/>
                <a:ea typeface="Arial"/>
                <a:cs typeface="Arial"/>
              </a:rPr>
              <a:t>158</a:t>
            </a:r>
            <a:r>
              <a:rPr sz="1800" b="1" dirty="0">
                <a:solidFill>
                  <a:srgbClr val="103B64"/>
                </a:solidFill>
                <a:latin typeface="Arial"/>
                <a:ea typeface="Arial"/>
                <a:cs typeface="Arial"/>
              </a:rPr>
              <a:t> </a:t>
            </a:r>
            <a:r>
              <a:rPr lang="en-AU" sz="1800" b="1" dirty="0">
                <a:solidFill>
                  <a:srgbClr val="103B64"/>
                </a:solidFill>
                <a:latin typeface="Arial"/>
                <a:ea typeface="Arial"/>
                <a:cs typeface="Arial"/>
              </a:rPr>
              <a:t>T</a:t>
            </a:r>
            <a:r>
              <a:rPr lang="en-AU" b="1" dirty="0">
                <a:solidFill>
                  <a:srgbClr val="103B64"/>
                </a:solidFill>
                <a:latin typeface="Arial"/>
                <a:ea typeface="Arial"/>
                <a:cs typeface="Arial"/>
              </a:rPr>
              <a:t>itle</a:t>
            </a:r>
            <a:r>
              <a:rPr lang="en-US" b="1" dirty="0">
                <a:solidFill>
                  <a:srgbClr val="103B64"/>
                </a:solidFill>
                <a:latin typeface="Arial"/>
                <a:ea typeface="Arial"/>
                <a:cs typeface="Arial"/>
              </a:rPr>
              <a:t>s</a:t>
            </a:r>
            <a:r>
              <a:rPr lang="en-AU" b="1" dirty="0">
                <a:solidFill>
                  <a:srgbClr val="103B64"/>
                </a:solidFill>
                <a:latin typeface="Arial"/>
                <a:ea typeface="Arial"/>
                <a:cs typeface="Arial"/>
              </a:rPr>
              <a:t> S</a:t>
            </a:r>
            <a:r>
              <a:rPr sz="1800" b="1" dirty="0" err="1">
                <a:solidFill>
                  <a:srgbClr val="103B64"/>
                </a:solidFill>
                <a:latin typeface="Arial"/>
                <a:ea typeface="Arial"/>
                <a:cs typeface="Arial"/>
              </a:rPr>
              <a:t>creened</a:t>
            </a:r>
            <a:endParaRPr sz="1800" b="1" dirty="0">
              <a:solidFill>
                <a:srgbClr val="103B64"/>
              </a:solidFill>
              <a:latin typeface="Arial"/>
              <a:ea typeface="Arial"/>
              <a:cs typeface="Arial"/>
            </a:endParaRPr>
          </a:p>
        </p:txBody>
      </p:sp>
      <p:sp>
        <p:nvSpPr>
          <p:cNvPr id="8" name="Rectangle 7">
            <a:extLst>
              <a:ext uri="{FF2B5EF4-FFF2-40B4-BE49-F238E27FC236}">
                <a16:creationId xmlns:a16="http://schemas.microsoft.com/office/drawing/2014/main" id="{73655119-B5D0-4FD1-B91A-FD18BD0D65EF}"/>
              </a:ext>
            </a:extLst>
          </p:cNvPr>
          <p:cNvSpPr>
            <a:spLocks noGrp="1"/>
          </p:cNvSpPr>
          <p:nvPr/>
        </p:nvSpPr>
        <p:spPr>
          <a:xfrm>
            <a:off x="590550" y="3371850"/>
            <a:ext cx="6286500" cy="628650"/>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00" b="1">
                <a:solidFill>
                  <a:srgbClr val="103B64"/>
                </a:solidFill>
                <a:latin typeface="Arial"/>
                <a:ea typeface="Arial"/>
                <a:cs typeface="Arial"/>
              </a:defRPr>
            </a:defPPr>
          </a:lstStyle>
          <a:p>
            <a:pPr algn="ctr">
              <a:lnSpc>
                <a:spcPct val="103000"/>
              </a:lnSpc>
              <a:buNone/>
              <a:defRPr sz="1800" b="1">
                <a:solidFill>
                  <a:srgbClr val="103B64"/>
                </a:solidFill>
                <a:latin typeface="Arial"/>
                <a:ea typeface="Arial"/>
                <a:cs typeface="Arial"/>
              </a:defRPr>
            </a:pPr>
            <a:r>
              <a:rPr lang="ar-SA" sz="1800" b="1" dirty="0">
                <a:solidFill>
                  <a:srgbClr val="103B64"/>
                </a:solidFill>
                <a:latin typeface="Arial"/>
                <a:ea typeface="Arial"/>
                <a:cs typeface="Arial"/>
              </a:rPr>
              <a:t>82</a:t>
            </a:r>
            <a:r>
              <a:rPr sz="1800" b="1" dirty="0">
                <a:solidFill>
                  <a:srgbClr val="103B64"/>
                </a:solidFill>
                <a:latin typeface="Arial"/>
                <a:ea typeface="Arial"/>
                <a:cs typeface="Arial"/>
              </a:rPr>
              <a:t> </a:t>
            </a:r>
            <a:r>
              <a:rPr lang="en-AU" b="1" dirty="0">
                <a:solidFill>
                  <a:srgbClr val="103B64"/>
                </a:solidFill>
                <a:latin typeface="Arial"/>
                <a:ea typeface="Arial"/>
                <a:cs typeface="Arial"/>
              </a:rPr>
              <a:t>Abstracts Screened </a:t>
            </a:r>
            <a:endParaRPr sz="1800" b="1" dirty="0">
              <a:solidFill>
                <a:srgbClr val="103B64"/>
              </a:solidFill>
              <a:latin typeface="Arial"/>
              <a:ea typeface="Arial"/>
              <a:cs typeface="Arial"/>
            </a:endParaRPr>
          </a:p>
        </p:txBody>
      </p:sp>
      <p:sp>
        <p:nvSpPr>
          <p:cNvPr id="9" name="Rectangle 8">
            <a:extLst>
              <a:ext uri="{FF2B5EF4-FFF2-40B4-BE49-F238E27FC236}">
                <a16:creationId xmlns:a16="http://schemas.microsoft.com/office/drawing/2014/main" id="{A7C05603-B0CF-4606-90D5-C4FCB49AF5C1}"/>
              </a:ext>
            </a:extLst>
          </p:cNvPr>
          <p:cNvSpPr>
            <a:spLocks noGrp="1"/>
          </p:cNvSpPr>
          <p:nvPr/>
        </p:nvSpPr>
        <p:spPr>
          <a:xfrm>
            <a:off x="590550" y="4324350"/>
            <a:ext cx="6286500" cy="628650"/>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00" b="1">
                <a:solidFill>
                  <a:srgbClr val="103B64"/>
                </a:solidFill>
                <a:latin typeface="Arial"/>
                <a:ea typeface="Arial"/>
                <a:cs typeface="Arial"/>
              </a:defRPr>
            </a:defPPr>
          </a:lstStyle>
          <a:p>
            <a:pPr algn="ctr">
              <a:lnSpc>
                <a:spcPct val="103000"/>
              </a:lnSpc>
              <a:buNone/>
              <a:defRPr sz="1800" b="1">
                <a:solidFill>
                  <a:srgbClr val="103B64"/>
                </a:solidFill>
                <a:latin typeface="Arial"/>
                <a:ea typeface="Arial"/>
                <a:cs typeface="Arial"/>
              </a:defRPr>
            </a:pPr>
            <a:r>
              <a:rPr lang="ar-SA" b="1" dirty="0">
                <a:solidFill>
                  <a:srgbClr val="103B64"/>
                </a:solidFill>
                <a:latin typeface="Arial"/>
                <a:ea typeface="Arial"/>
                <a:cs typeface="Arial"/>
              </a:rPr>
              <a:t>39</a:t>
            </a:r>
            <a:r>
              <a:rPr lang="en-AU" b="1" dirty="0">
                <a:solidFill>
                  <a:srgbClr val="103B64"/>
                </a:solidFill>
                <a:latin typeface="Arial"/>
                <a:ea typeface="Arial"/>
                <a:cs typeface="Arial"/>
              </a:rPr>
              <a:t> Full-text Studies Assessed</a:t>
            </a:r>
            <a:endParaRPr sz="1800" b="1" dirty="0">
              <a:solidFill>
                <a:srgbClr val="103B64"/>
              </a:solidFill>
              <a:latin typeface="Arial"/>
              <a:ea typeface="Arial"/>
              <a:cs typeface="Arial"/>
            </a:endParaRPr>
          </a:p>
        </p:txBody>
      </p:sp>
      <p:sp>
        <p:nvSpPr>
          <p:cNvPr id="10" name="Rectangle 9">
            <a:extLst>
              <a:ext uri="{FF2B5EF4-FFF2-40B4-BE49-F238E27FC236}">
                <a16:creationId xmlns:a16="http://schemas.microsoft.com/office/drawing/2014/main" id="{1E69E6C1-7E20-43A4-B534-DA3EC6F0F421}"/>
              </a:ext>
            </a:extLst>
          </p:cNvPr>
          <p:cNvSpPr>
            <a:spLocks noGrp="1"/>
          </p:cNvSpPr>
          <p:nvPr/>
        </p:nvSpPr>
        <p:spPr>
          <a:xfrm>
            <a:off x="590550" y="5276850"/>
            <a:ext cx="6286500" cy="628650"/>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00" b="1">
                <a:solidFill>
                  <a:srgbClr val="103B64"/>
                </a:solidFill>
                <a:latin typeface="Arial"/>
                <a:ea typeface="Arial"/>
                <a:cs typeface="Arial"/>
              </a:defRPr>
            </a:defPPr>
          </a:lstStyle>
          <a:p>
            <a:pPr algn="ctr">
              <a:lnSpc>
                <a:spcPct val="103000"/>
              </a:lnSpc>
              <a:buNone/>
              <a:defRPr sz="1800" b="1">
                <a:solidFill>
                  <a:srgbClr val="103B64"/>
                </a:solidFill>
                <a:latin typeface="Arial"/>
                <a:ea typeface="Arial"/>
                <a:cs typeface="Arial"/>
              </a:defRPr>
            </a:pPr>
            <a:r>
              <a:rPr lang="en-US" b="1" dirty="0">
                <a:solidFill>
                  <a:srgbClr val="103B64"/>
                </a:solidFill>
                <a:latin typeface="Arial"/>
                <a:ea typeface="Arial"/>
                <a:cs typeface="Arial"/>
              </a:rPr>
              <a:t>25 Studies Included in Analysis </a:t>
            </a:r>
            <a:endParaRPr sz="1800" b="1" dirty="0">
              <a:solidFill>
                <a:srgbClr val="103B64"/>
              </a:solidFill>
              <a:latin typeface="Arial"/>
              <a:ea typeface="Arial"/>
              <a:cs typeface="Arial"/>
            </a:endParaRPr>
          </a:p>
        </p:txBody>
      </p:sp>
      <p:sp>
        <p:nvSpPr>
          <p:cNvPr id="15" name="Rectangle 14">
            <a:extLst>
              <a:ext uri="{FF2B5EF4-FFF2-40B4-BE49-F238E27FC236}">
                <a16:creationId xmlns:a16="http://schemas.microsoft.com/office/drawing/2014/main" id="{41B5B6D5-EEED-428B-8745-2E2CB3162E1F}"/>
              </a:ext>
            </a:extLst>
          </p:cNvPr>
          <p:cNvSpPr>
            <a:spLocks noGrp="1"/>
          </p:cNvSpPr>
          <p:nvPr/>
        </p:nvSpPr>
        <p:spPr>
          <a:xfrm>
            <a:off x="7858125" y="1466850"/>
            <a:ext cx="3743325" cy="628650"/>
          </a:xfrm>
          <a:prstGeom prst="rect">
            <a:avLst/>
          </a:prstGeom>
          <a:solidFill>
            <a:srgbClr val="FFFFFF"/>
          </a:solidFill>
          <a:ln w="13335">
            <a:solidFill>
              <a:srgbClr val="DCE9F4"/>
            </a:solidFill>
            <a:prstDash val="solid"/>
          </a:ln>
        </p:spPr>
        <p:txBody>
          <a:bodyPr wrap="square" lIns="114300" tIns="47625" rIns="114300" bIns="47625" anchor="ctr">
            <a:noAutofit/>
          </a:bodyPr>
          <a:lstStyle>
            <a:defPPr algn="ctr">
              <a:defRPr sz="1650" b="1">
                <a:solidFill>
                  <a:srgbClr val="103B64"/>
                </a:solidFill>
                <a:latin typeface="Arial"/>
                <a:ea typeface="Arial"/>
                <a:cs typeface="Arial"/>
              </a:defRPr>
            </a:defPPr>
          </a:lstStyle>
          <a:p>
            <a:pPr algn="ctr">
              <a:lnSpc>
                <a:spcPct val="103000"/>
              </a:lnSpc>
              <a:buNone/>
              <a:defRPr sz="1650" b="1">
                <a:solidFill>
                  <a:srgbClr val="103B64"/>
                </a:solidFill>
                <a:latin typeface="Arial"/>
                <a:ea typeface="Arial"/>
                <a:cs typeface="Arial"/>
              </a:defRPr>
            </a:pPr>
            <a:r>
              <a:rPr lang="ar-SA" sz="1650" b="1" dirty="0">
                <a:solidFill>
                  <a:srgbClr val="103B64"/>
                </a:solidFill>
                <a:latin typeface="Arial"/>
                <a:ea typeface="Arial"/>
                <a:cs typeface="Arial"/>
              </a:rPr>
              <a:t>21</a:t>
            </a:r>
            <a:r>
              <a:rPr lang="en-US" sz="1650" b="1" dirty="0">
                <a:solidFill>
                  <a:srgbClr val="103B64"/>
                </a:solidFill>
                <a:latin typeface="Arial"/>
                <a:ea typeface="Arial"/>
                <a:cs typeface="Arial"/>
              </a:rPr>
              <a:t> </a:t>
            </a:r>
            <a:r>
              <a:rPr lang="en-AU" sz="1650" b="1" dirty="0">
                <a:solidFill>
                  <a:srgbClr val="103B64"/>
                </a:solidFill>
                <a:latin typeface="Arial"/>
                <a:ea typeface="Arial"/>
                <a:cs typeface="Arial"/>
              </a:rPr>
              <a:t>D</a:t>
            </a:r>
            <a:r>
              <a:rPr sz="1650" b="1" dirty="0" err="1">
                <a:solidFill>
                  <a:srgbClr val="103B64"/>
                </a:solidFill>
                <a:latin typeface="Arial"/>
                <a:ea typeface="Arial"/>
                <a:cs typeface="Arial"/>
              </a:rPr>
              <a:t>uplicates</a:t>
            </a:r>
            <a:r>
              <a:rPr lang="ar-SA" sz="1650" b="1" dirty="0">
                <a:solidFill>
                  <a:srgbClr val="103B64"/>
                </a:solidFill>
                <a:latin typeface="Arial"/>
                <a:ea typeface="Arial"/>
                <a:cs typeface="Arial"/>
              </a:rPr>
              <a:t> </a:t>
            </a:r>
            <a:r>
              <a:rPr lang="en-US" sz="1650" b="1" dirty="0">
                <a:solidFill>
                  <a:srgbClr val="103B64"/>
                </a:solidFill>
                <a:latin typeface="Arial"/>
                <a:ea typeface="Arial"/>
                <a:cs typeface="Arial"/>
              </a:rPr>
              <a:t>Removed </a:t>
            </a:r>
            <a:endParaRPr sz="1650" b="1" dirty="0">
              <a:solidFill>
                <a:srgbClr val="103B64"/>
              </a:solidFill>
              <a:latin typeface="Arial"/>
              <a:ea typeface="Arial"/>
              <a:cs typeface="Arial"/>
            </a:endParaRPr>
          </a:p>
        </p:txBody>
      </p:sp>
      <p:sp>
        <p:nvSpPr>
          <p:cNvPr id="17" name="Rectangle 16">
            <a:extLst>
              <a:ext uri="{FF2B5EF4-FFF2-40B4-BE49-F238E27FC236}">
                <a16:creationId xmlns:a16="http://schemas.microsoft.com/office/drawing/2014/main" id="{4EE48C45-DFD4-4537-BA42-AE6A170BAB95}"/>
              </a:ext>
            </a:extLst>
          </p:cNvPr>
          <p:cNvSpPr>
            <a:spLocks noGrp="1"/>
          </p:cNvSpPr>
          <p:nvPr/>
        </p:nvSpPr>
        <p:spPr>
          <a:xfrm>
            <a:off x="7858125" y="2419350"/>
            <a:ext cx="3743325" cy="628650"/>
          </a:xfrm>
          <a:prstGeom prst="rect">
            <a:avLst/>
          </a:prstGeom>
          <a:solidFill>
            <a:srgbClr val="FFFFFF"/>
          </a:solidFill>
          <a:ln w="13335">
            <a:solidFill>
              <a:srgbClr val="DCE9F4"/>
            </a:solidFill>
            <a:prstDash val="solid"/>
          </a:ln>
        </p:spPr>
        <p:txBody>
          <a:bodyPr wrap="square" lIns="114300" tIns="47625" rIns="114300" bIns="47625" anchor="ctr">
            <a:noAutofit/>
          </a:bodyPr>
          <a:lstStyle>
            <a:defPPr algn="ctr">
              <a:defRPr sz="1650" b="1">
                <a:solidFill>
                  <a:srgbClr val="103B64"/>
                </a:solidFill>
                <a:latin typeface="Arial"/>
                <a:ea typeface="Arial"/>
                <a:cs typeface="Arial"/>
              </a:defRPr>
            </a:defPPr>
          </a:lstStyle>
          <a:p>
            <a:pPr algn="ctr">
              <a:lnSpc>
                <a:spcPct val="103000"/>
              </a:lnSpc>
              <a:buNone/>
              <a:defRPr sz="1650" b="1">
                <a:solidFill>
                  <a:srgbClr val="103B64"/>
                </a:solidFill>
                <a:latin typeface="Arial"/>
                <a:ea typeface="Arial"/>
                <a:cs typeface="Arial"/>
              </a:defRPr>
            </a:pPr>
            <a:r>
              <a:rPr lang="ar-SA" sz="1650" b="1" dirty="0">
                <a:solidFill>
                  <a:srgbClr val="103B64"/>
                </a:solidFill>
                <a:latin typeface="Arial"/>
                <a:ea typeface="Arial"/>
                <a:cs typeface="Arial"/>
              </a:rPr>
              <a:t>76</a:t>
            </a:r>
            <a:r>
              <a:rPr lang="en-US" sz="1650" b="1" dirty="0">
                <a:solidFill>
                  <a:srgbClr val="103B64"/>
                </a:solidFill>
                <a:latin typeface="Arial"/>
                <a:ea typeface="Arial"/>
                <a:cs typeface="Arial"/>
              </a:rPr>
              <a:t> </a:t>
            </a:r>
            <a:r>
              <a:rPr lang="ar-SA" sz="1650" b="1" dirty="0">
                <a:solidFill>
                  <a:srgbClr val="103B64"/>
                </a:solidFill>
                <a:latin typeface="Arial"/>
                <a:ea typeface="Arial"/>
                <a:cs typeface="Arial"/>
              </a:rPr>
              <a:t> </a:t>
            </a:r>
            <a:r>
              <a:rPr lang="en-US" sz="1650" b="1" dirty="0">
                <a:solidFill>
                  <a:srgbClr val="103B64"/>
                </a:solidFill>
                <a:latin typeface="Arial"/>
                <a:ea typeface="Arial"/>
                <a:cs typeface="Arial"/>
              </a:rPr>
              <a:t>R</a:t>
            </a:r>
            <a:r>
              <a:rPr lang="ar-SA" sz="1650" b="1" dirty="0">
                <a:solidFill>
                  <a:srgbClr val="103B64"/>
                </a:solidFill>
                <a:latin typeface="Arial"/>
                <a:ea typeface="Arial"/>
                <a:cs typeface="Arial"/>
              </a:rPr>
              <a:t>ecords </a:t>
            </a:r>
            <a:r>
              <a:rPr lang="en-US" sz="1650" b="1" dirty="0">
                <a:solidFill>
                  <a:srgbClr val="103B64"/>
                </a:solidFill>
                <a:latin typeface="Arial"/>
                <a:ea typeface="Arial"/>
                <a:cs typeface="Arial"/>
              </a:rPr>
              <a:t>E</a:t>
            </a:r>
            <a:r>
              <a:rPr lang="ar-SA" sz="1650" b="1" dirty="0">
                <a:solidFill>
                  <a:srgbClr val="103B64"/>
                </a:solidFill>
                <a:latin typeface="Arial"/>
                <a:ea typeface="Arial"/>
                <a:cs typeface="Arial"/>
              </a:rPr>
              <a:t>xcluded by title</a:t>
            </a:r>
            <a:endParaRPr sz="1650" b="1" dirty="0">
              <a:solidFill>
                <a:srgbClr val="103B64"/>
              </a:solidFill>
              <a:latin typeface="Arial"/>
              <a:ea typeface="Arial"/>
              <a:cs typeface="Arial"/>
            </a:endParaRPr>
          </a:p>
        </p:txBody>
      </p:sp>
      <p:sp>
        <p:nvSpPr>
          <p:cNvPr id="19" name="Rectangle 18">
            <a:extLst>
              <a:ext uri="{FF2B5EF4-FFF2-40B4-BE49-F238E27FC236}">
                <a16:creationId xmlns:a16="http://schemas.microsoft.com/office/drawing/2014/main" id="{41FF8D69-9C56-4FA7-AD38-950B2BB503C0}"/>
              </a:ext>
            </a:extLst>
          </p:cNvPr>
          <p:cNvSpPr>
            <a:spLocks noGrp="1"/>
          </p:cNvSpPr>
          <p:nvPr/>
        </p:nvSpPr>
        <p:spPr>
          <a:xfrm>
            <a:off x="7858125" y="3371850"/>
            <a:ext cx="3743325" cy="628650"/>
          </a:xfrm>
          <a:prstGeom prst="rect">
            <a:avLst/>
          </a:prstGeom>
          <a:solidFill>
            <a:srgbClr val="FFFFFF"/>
          </a:solidFill>
          <a:ln w="13335">
            <a:solidFill>
              <a:srgbClr val="DCE9F4"/>
            </a:solidFill>
            <a:prstDash val="solid"/>
          </a:ln>
        </p:spPr>
        <p:txBody>
          <a:bodyPr wrap="square" lIns="114300" tIns="47625" rIns="114300" bIns="47625" anchor="ctr">
            <a:noAutofit/>
          </a:bodyPr>
          <a:lstStyle>
            <a:defPPr algn="ctr">
              <a:defRPr sz="1650" b="1">
                <a:solidFill>
                  <a:srgbClr val="103B64"/>
                </a:solidFill>
                <a:latin typeface="Arial"/>
                <a:ea typeface="Arial"/>
                <a:cs typeface="Arial"/>
              </a:defRPr>
            </a:defPPr>
          </a:lstStyle>
          <a:p>
            <a:pPr algn="ctr">
              <a:lnSpc>
                <a:spcPct val="103000"/>
              </a:lnSpc>
              <a:buNone/>
              <a:defRPr sz="1650" b="1">
                <a:solidFill>
                  <a:srgbClr val="103B64"/>
                </a:solidFill>
                <a:latin typeface="Arial"/>
                <a:ea typeface="Arial"/>
                <a:cs typeface="Arial"/>
              </a:defRPr>
            </a:pPr>
            <a:r>
              <a:rPr lang="ar-SA" sz="1650" b="1" dirty="0">
                <a:solidFill>
                  <a:srgbClr val="103B64"/>
                </a:solidFill>
                <a:latin typeface="Arial"/>
                <a:ea typeface="Arial"/>
                <a:cs typeface="Arial"/>
              </a:rPr>
              <a:t>43</a:t>
            </a:r>
            <a:r>
              <a:rPr lang="en-AU" sz="1650" b="1" dirty="0">
                <a:solidFill>
                  <a:srgbClr val="103B64"/>
                </a:solidFill>
                <a:latin typeface="Arial"/>
                <a:ea typeface="Arial"/>
                <a:cs typeface="Arial"/>
              </a:rPr>
              <a:t> Records Excluded</a:t>
            </a:r>
            <a:endParaRPr sz="1650" b="1" dirty="0">
              <a:solidFill>
                <a:srgbClr val="103B64"/>
              </a:solidFill>
              <a:latin typeface="Arial"/>
              <a:ea typeface="Arial"/>
              <a:cs typeface="Arial"/>
            </a:endParaRPr>
          </a:p>
        </p:txBody>
      </p:sp>
      <p:sp>
        <p:nvSpPr>
          <p:cNvPr id="21" name="Rectangle 20">
            <a:extLst>
              <a:ext uri="{FF2B5EF4-FFF2-40B4-BE49-F238E27FC236}">
                <a16:creationId xmlns:a16="http://schemas.microsoft.com/office/drawing/2014/main" id="{B4E7B3E7-F749-4CFB-BE54-C83E8A315034}"/>
              </a:ext>
            </a:extLst>
          </p:cNvPr>
          <p:cNvSpPr>
            <a:spLocks noGrp="1"/>
          </p:cNvSpPr>
          <p:nvPr/>
        </p:nvSpPr>
        <p:spPr>
          <a:xfrm>
            <a:off x="7858125" y="4324350"/>
            <a:ext cx="3743325" cy="628650"/>
          </a:xfrm>
          <a:prstGeom prst="rect">
            <a:avLst/>
          </a:prstGeom>
          <a:solidFill>
            <a:srgbClr val="FFFFFF"/>
          </a:solidFill>
          <a:ln w="13335">
            <a:solidFill>
              <a:srgbClr val="DCE9F4"/>
            </a:solidFill>
            <a:prstDash val="solid"/>
          </a:ln>
        </p:spPr>
        <p:txBody>
          <a:bodyPr wrap="square" lIns="114300" tIns="47625" rIns="114300" bIns="47625" anchor="ctr">
            <a:noAutofit/>
          </a:bodyPr>
          <a:lstStyle>
            <a:defPPr algn="ctr">
              <a:defRPr sz="1650" b="1">
                <a:solidFill>
                  <a:srgbClr val="103B64"/>
                </a:solidFill>
                <a:latin typeface="Arial"/>
                <a:ea typeface="Arial"/>
                <a:cs typeface="Arial"/>
              </a:defRPr>
            </a:defPPr>
          </a:lstStyle>
          <a:p>
            <a:pPr algn="ctr">
              <a:lnSpc>
                <a:spcPct val="103000"/>
              </a:lnSpc>
              <a:buNone/>
              <a:defRPr sz="1650" b="1">
                <a:solidFill>
                  <a:srgbClr val="103B64"/>
                </a:solidFill>
                <a:latin typeface="Arial"/>
                <a:ea typeface="Arial"/>
                <a:cs typeface="Arial"/>
              </a:defRPr>
            </a:pPr>
            <a:r>
              <a:rPr lang="ar-SA" sz="1650" b="1" dirty="0">
                <a:solidFill>
                  <a:srgbClr val="103B64"/>
                </a:solidFill>
                <a:latin typeface="Arial"/>
                <a:ea typeface="Arial"/>
                <a:cs typeface="Arial"/>
              </a:rPr>
              <a:t>14</a:t>
            </a:r>
            <a:r>
              <a:rPr lang="en-AU" sz="1650" b="1" dirty="0">
                <a:solidFill>
                  <a:srgbClr val="103B64"/>
                </a:solidFill>
                <a:latin typeface="Arial"/>
                <a:ea typeface="Arial"/>
                <a:cs typeface="Arial"/>
              </a:rPr>
              <a:t> Studies Excluded</a:t>
            </a:r>
            <a:endParaRPr sz="1650" b="1" dirty="0">
              <a:solidFill>
                <a:srgbClr val="103B64"/>
              </a:solidFill>
              <a:latin typeface="Arial"/>
              <a:ea typeface="Arial"/>
              <a:cs typeface="Arial"/>
            </a:endParaRPr>
          </a:p>
        </p:txBody>
      </p:sp>
    </p:spTree>
    <p:extLst>
      <p:ext uri="{BB962C8B-B14F-4D97-AF65-F5344CB8AC3E}">
        <p14:creationId xmlns:p14="http://schemas.microsoft.com/office/powerpoint/2010/main" val="2473626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headline">
            <a:extLst>
              <a:ext uri="{FF2B5EF4-FFF2-40B4-BE49-F238E27FC236}">
                <a16:creationId xmlns:a16="http://schemas.microsoft.com/office/drawing/2014/main" id="{1A29122A-70AC-437A-AB53-2F51A3C84438}"/>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nSpc>
                <a:spcPct val="106000"/>
              </a:lnSpc>
              <a:defRPr sz="2700" b="1">
                <a:solidFill>
                  <a:srgbClr val="103B64"/>
                </a:solidFill>
                <a:latin typeface="Arial"/>
                <a:ea typeface="Arial"/>
                <a:cs typeface="Arial"/>
              </a:defRPr>
            </a:pPr>
            <a:r>
              <a:rPr sz="2700" b="1" dirty="0">
                <a:solidFill>
                  <a:srgbClr val="103B64"/>
                </a:solidFill>
                <a:latin typeface="Arial"/>
                <a:ea typeface="Arial"/>
                <a:cs typeface="Arial"/>
              </a:rPr>
              <a:t> </a:t>
            </a:r>
            <a:r>
              <a:rPr lang="en-AU" sz="2700" b="1" dirty="0">
                <a:solidFill>
                  <a:srgbClr val="103B64"/>
                </a:solidFill>
                <a:latin typeface="Arial"/>
                <a:ea typeface="Arial"/>
                <a:cs typeface="Arial"/>
              </a:rPr>
              <a:t>Database Search Results</a:t>
            </a:r>
            <a:endParaRPr sz="2700" b="1" dirty="0">
              <a:solidFill>
                <a:srgbClr val="103B64"/>
              </a:solidFill>
              <a:latin typeface="Arial"/>
              <a:ea typeface="Arial"/>
              <a:cs typeface="Arial"/>
            </a:endParaRPr>
          </a:p>
        </p:txBody>
      </p:sp>
      <p:sp>
        <p:nvSpPr>
          <p:cNvPr id="2" name="Rectangle 1">
            <a:extLst>
              <a:ext uri="{FF2B5EF4-FFF2-40B4-BE49-F238E27FC236}">
                <a16:creationId xmlns:a16="http://schemas.microsoft.com/office/drawing/2014/main" id="{FB94088B-AB8B-404B-944D-C5A47B525E15}"/>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3" name="subtitle">
            <a:extLst>
              <a:ext uri="{FF2B5EF4-FFF2-40B4-BE49-F238E27FC236}">
                <a16:creationId xmlns:a16="http://schemas.microsoft.com/office/drawing/2014/main" id="{DA909BAE-EFF5-4A9F-BB4A-2941F0C394EF}"/>
              </a:ext>
            </a:extLst>
          </p:cNvPr>
          <p:cNvSpPr>
            <a:spLocks noGrp="1"/>
          </p:cNvSpPr>
          <p:nvPr/>
        </p:nvSpPr>
        <p:spPr>
          <a:xfrm>
            <a:off x="590550" y="1047750"/>
            <a:ext cx="11010900" cy="333375"/>
          </a:xfrm>
          <a:prstGeom prst="rect">
            <a:avLst/>
          </a:prstGeom>
          <a:noFill/>
          <a:ln w="0">
            <a:noFill/>
            <a:prstDash val="solid"/>
          </a:ln>
        </p:spPr>
        <p:txBody>
          <a:bodyPr wrap="square" lIns="0" tIns="0" rIns="0" bIns="0" anchor="ctr">
            <a:noAutofit/>
          </a:bodyPr>
          <a:lstStyle>
            <a:defPPr algn="l">
              <a:defRPr sz="1575" b="0">
                <a:solidFill>
                  <a:srgbClr val="56718B"/>
                </a:solidFill>
                <a:latin typeface="Arial"/>
                <a:ea typeface="Arial"/>
                <a:cs typeface="Arial"/>
              </a:defRPr>
            </a:defPPr>
          </a:lstStyle>
          <a:p>
            <a:pPr>
              <a:lnSpc>
                <a:spcPct val="106000"/>
              </a:lnSpc>
              <a:defRPr sz="1575" b="0">
                <a:solidFill>
                  <a:srgbClr val="56718B"/>
                </a:solidFill>
                <a:latin typeface="Arial"/>
                <a:ea typeface="Arial"/>
                <a:cs typeface="Arial"/>
              </a:defRPr>
            </a:pPr>
            <a:r>
              <a:rPr lang="en-US" sz="1575" dirty="0">
                <a:solidFill>
                  <a:srgbClr val="56718B"/>
                </a:solidFill>
                <a:latin typeface="Arial"/>
                <a:ea typeface="Arial"/>
                <a:cs typeface="Arial"/>
              </a:rPr>
              <a:t>A total of </a:t>
            </a:r>
            <a:r>
              <a:rPr lang="ar-SA" sz="1575" dirty="0">
                <a:solidFill>
                  <a:srgbClr val="56718B"/>
                </a:solidFill>
                <a:latin typeface="Arial"/>
                <a:ea typeface="Arial"/>
                <a:cs typeface="Arial"/>
              </a:rPr>
              <a:t>179</a:t>
            </a:r>
            <a:r>
              <a:rPr lang="en-US" sz="1575" dirty="0">
                <a:solidFill>
                  <a:srgbClr val="56718B"/>
                </a:solidFill>
                <a:latin typeface="Arial"/>
                <a:ea typeface="Arial"/>
                <a:cs typeface="Arial"/>
              </a:rPr>
              <a:t> records were identified from seven academic databases before removing duplicates.</a:t>
            </a:r>
            <a:endParaRPr sz="1575" b="0" dirty="0">
              <a:solidFill>
                <a:srgbClr val="56718B"/>
              </a:solidFill>
              <a:latin typeface="Arial"/>
              <a:ea typeface="Arial"/>
              <a:cs typeface="Arial"/>
            </a:endParaRPr>
          </a:p>
        </p:txBody>
      </p:sp>
      <p:sp>
        <p:nvSpPr>
          <p:cNvPr id="5" name="page-number">
            <a:extLst>
              <a:ext uri="{FF2B5EF4-FFF2-40B4-BE49-F238E27FC236}">
                <a16:creationId xmlns:a16="http://schemas.microsoft.com/office/drawing/2014/main" id="{2D00D979-170C-4EF1-8A27-C52D20EEF3A3}"/>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6</a:t>
            </a:r>
          </a:p>
        </p:txBody>
      </p:sp>
      <p:graphicFrame>
        <p:nvGraphicFramePr>
          <p:cNvPr id="6" name="Chart">
            <a:extLst>
              <a:ext uri="{FF2B5EF4-FFF2-40B4-BE49-F238E27FC236}">
                <a16:creationId xmlns:a16="http://schemas.microsoft.com/office/drawing/2014/main" id="{B5898507-3625-4B53-8404-BAC299C1933A}"/>
              </a:ext>
            </a:extLst>
          </p:cNvPr>
          <p:cNvGraphicFramePr/>
          <p:nvPr>
            <p:extLst>
              <p:ext uri="{D42A27DB-BD31-4B8C-83A1-F6EECF244321}">
                <p14:modId xmlns:p14="http://schemas.microsoft.com/office/powerpoint/2010/main" val="1014667499"/>
              </p:ext>
            </p:extLst>
          </p:nvPr>
        </p:nvGraphicFramePr>
        <p:xfrm>
          <a:off x="590550" y="1524000"/>
          <a:ext cx="7353300" cy="3943350"/>
        </p:xfrm>
        <a:graphic>
          <a:graphicData uri="http://schemas.openxmlformats.org/drawingml/2006/chart">
            <c:chart xmlns:c="http://schemas.openxmlformats.org/drawingml/2006/chart" xmlns:r="http://schemas.openxmlformats.org/officeDocument/2006/relationships" r:id="rId3"/>
          </a:graphicData>
        </a:graphic>
      </p:graphicFrame>
      <p:sp>
        <p:nvSpPr>
          <p:cNvPr id="10" name="Rectangle 9">
            <a:extLst>
              <a:ext uri="{FF2B5EF4-FFF2-40B4-BE49-F238E27FC236}">
                <a16:creationId xmlns:a16="http://schemas.microsoft.com/office/drawing/2014/main" id="{7758E988-89CE-45E8-87B7-30F60176080D}"/>
              </a:ext>
            </a:extLst>
          </p:cNvPr>
          <p:cNvSpPr>
            <a:spLocks noGrp="1"/>
          </p:cNvSpPr>
          <p:nvPr/>
        </p:nvSpPr>
        <p:spPr>
          <a:xfrm>
            <a:off x="590550" y="5695950"/>
            <a:ext cx="11010900" cy="12383"/>
          </a:xfrm>
          <a:prstGeom prst="rect">
            <a:avLst/>
          </a:prstGeom>
          <a:solidFill>
            <a:srgbClr val="DCE9F4"/>
          </a:solidFill>
          <a:ln w="13335">
            <a:solidFill>
              <a:srgbClr val="DCE9F4"/>
            </a:solidFill>
            <a:prstDash val="solid"/>
          </a:ln>
        </p:spPr>
        <p:txBody>
          <a:bodyPr/>
          <a:lstStyle/>
          <a:p>
            <a:endParaRPr lang="en-AU"/>
          </a:p>
        </p:txBody>
      </p:sp>
      <p:sp>
        <p:nvSpPr>
          <p:cNvPr id="11" name="text">
            <a:extLst>
              <a:ext uri="{FF2B5EF4-FFF2-40B4-BE49-F238E27FC236}">
                <a16:creationId xmlns:a16="http://schemas.microsoft.com/office/drawing/2014/main" id="{941BB19E-4D01-4C07-BC1A-6FF7EFD27D0F}"/>
              </a:ext>
            </a:extLst>
          </p:cNvPr>
          <p:cNvSpPr>
            <a:spLocks noGrp="1"/>
          </p:cNvSpPr>
          <p:nvPr/>
        </p:nvSpPr>
        <p:spPr>
          <a:xfrm>
            <a:off x="590550" y="5810250"/>
            <a:ext cx="2095500" cy="361950"/>
          </a:xfrm>
          <a:prstGeom prst="rect">
            <a:avLst/>
          </a:prstGeom>
          <a:noFill/>
          <a:ln w="0">
            <a:noFill/>
            <a:prstDash val="solid"/>
          </a:ln>
        </p:spPr>
        <p:txBody>
          <a:bodyPr wrap="square" lIns="0" tIns="0" rIns="0" bIns="0" anchor="ctr">
            <a:noAutofit/>
          </a:bodyPr>
          <a:lstStyle>
            <a:defPPr algn="l">
              <a:defRPr sz="1725" b="1">
                <a:solidFill>
                  <a:srgbClr val="103B64"/>
                </a:solidFill>
                <a:latin typeface="Arial"/>
                <a:ea typeface="Arial"/>
                <a:cs typeface="Arial"/>
              </a:defRPr>
            </a:defPPr>
          </a:lstStyle>
          <a:p>
            <a:pPr>
              <a:lnSpc>
                <a:spcPct val="106000"/>
              </a:lnSpc>
              <a:defRPr sz="1725" b="1">
                <a:solidFill>
                  <a:srgbClr val="103B64"/>
                </a:solidFill>
                <a:latin typeface="Arial"/>
                <a:ea typeface="Arial"/>
                <a:cs typeface="Arial"/>
              </a:defRPr>
            </a:pPr>
            <a:r>
              <a:rPr sz="1725" b="1" dirty="0">
                <a:solidFill>
                  <a:srgbClr val="103B64"/>
                </a:solidFill>
                <a:latin typeface="Arial"/>
                <a:ea typeface="Arial"/>
                <a:cs typeface="Arial"/>
              </a:rPr>
              <a:t>Search</a:t>
            </a:r>
            <a:r>
              <a:rPr lang="en-US" sz="1725" b="1" dirty="0">
                <a:solidFill>
                  <a:srgbClr val="103B64"/>
                </a:solidFill>
                <a:latin typeface="Arial"/>
                <a:ea typeface="Arial"/>
                <a:cs typeface="Arial"/>
              </a:rPr>
              <a:t> String</a:t>
            </a:r>
            <a:r>
              <a:rPr sz="1725" b="1" dirty="0">
                <a:solidFill>
                  <a:srgbClr val="103B64"/>
                </a:solidFill>
                <a:latin typeface="Arial"/>
                <a:ea typeface="Arial"/>
                <a:cs typeface="Arial"/>
              </a:rPr>
              <a:t> </a:t>
            </a:r>
            <a:r>
              <a:rPr lang="en-US" sz="1725" b="1" dirty="0">
                <a:solidFill>
                  <a:srgbClr val="103B64"/>
                </a:solidFill>
                <a:latin typeface="Arial"/>
                <a:ea typeface="Arial"/>
                <a:cs typeface="Arial"/>
              </a:rPr>
              <a:t> </a:t>
            </a:r>
            <a:endParaRPr sz="1725" b="1" dirty="0">
              <a:solidFill>
                <a:srgbClr val="103B64"/>
              </a:solidFill>
              <a:latin typeface="Arial"/>
              <a:ea typeface="Arial"/>
              <a:cs typeface="Arial"/>
            </a:endParaRPr>
          </a:p>
        </p:txBody>
      </p:sp>
      <p:sp>
        <p:nvSpPr>
          <p:cNvPr id="12" name="text">
            <a:extLst>
              <a:ext uri="{FF2B5EF4-FFF2-40B4-BE49-F238E27FC236}">
                <a16:creationId xmlns:a16="http://schemas.microsoft.com/office/drawing/2014/main" id="{74DFB39E-2D43-4881-B469-90A9B5DC5C85}"/>
              </a:ext>
            </a:extLst>
          </p:cNvPr>
          <p:cNvSpPr>
            <a:spLocks noGrp="1"/>
          </p:cNvSpPr>
          <p:nvPr/>
        </p:nvSpPr>
        <p:spPr>
          <a:xfrm>
            <a:off x="2360141" y="5764590"/>
            <a:ext cx="9831859" cy="902910"/>
          </a:xfrm>
          <a:prstGeom prst="rect">
            <a:avLst/>
          </a:prstGeom>
          <a:noFill/>
          <a:ln w="0">
            <a:noFill/>
            <a:prstDash val="solid"/>
          </a:ln>
        </p:spPr>
        <p:txBody>
          <a:bodyPr wrap="square" lIns="0" tIns="0" rIns="0" bIns="0" anchor="ctr">
            <a:noAutofit/>
          </a:bodyPr>
          <a:lstStyle>
            <a:defPPr algn="l">
              <a:defRPr sz="1725" b="0">
                <a:solidFill>
                  <a:srgbClr val="24415C"/>
                </a:solidFill>
                <a:latin typeface="Arial"/>
                <a:ea typeface="Arial"/>
                <a:cs typeface="Arial"/>
              </a:defRPr>
            </a:defPPr>
          </a:lstStyle>
          <a:p>
            <a:pPr>
              <a:lnSpc>
                <a:spcPct val="106000"/>
              </a:lnSpc>
              <a:defRPr sz="1725" b="0">
                <a:solidFill>
                  <a:srgbClr val="24415C"/>
                </a:solidFill>
                <a:latin typeface="Arial"/>
                <a:ea typeface="Arial"/>
                <a:cs typeface="Arial"/>
              </a:defRPr>
            </a:pPr>
            <a:r>
              <a:rPr lang="en-US" sz="1725" dirty="0">
                <a:solidFill>
                  <a:srgbClr val="24415C"/>
                </a:solidFill>
                <a:latin typeface="Arial"/>
                <a:ea typeface="Arial"/>
                <a:cs typeface="Arial"/>
              </a:rPr>
              <a:t>("Healthcare" OR "Health Data" OR "Medical Records")AND</a:t>
            </a:r>
          </a:p>
          <a:p>
            <a:pPr>
              <a:lnSpc>
                <a:spcPct val="106000"/>
              </a:lnSpc>
              <a:defRPr sz="1725" b="0">
                <a:solidFill>
                  <a:srgbClr val="24415C"/>
                </a:solidFill>
                <a:latin typeface="Arial"/>
                <a:ea typeface="Arial"/>
                <a:cs typeface="Arial"/>
              </a:defRPr>
            </a:pPr>
            <a:r>
              <a:rPr lang="en-US" sz="1725" dirty="0">
                <a:solidFill>
                  <a:srgbClr val="24415C"/>
                </a:solidFill>
                <a:latin typeface="Arial"/>
                <a:ea typeface="Arial"/>
                <a:cs typeface="Arial"/>
              </a:rPr>
              <a:t>("Consent" OR "</a:t>
            </a:r>
            <a:r>
              <a:rPr lang="en-US" sz="1725" dirty="0" err="1">
                <a:solidFill>
                  <a:srgbClr val="24415C"/>
                </a:solidFill>
                <a:latin typeface="Arial"/>
                <a:ea typeface="Arial"/>
                <a:cs typeface="Arial"/>
              </a:rPr>
              <a:t>Authorisation</a:t>
            </a:r>
            <a:r>
              <a:rPr lang="en-US" sz="1725" dirty="0">
                <a:solidFill>
                  <a:srgbClr val="24415C"/>
                </a:solidFill>
                <a:latin typeface="Arial"/>
                <a:ea typeface="Arial"/>
                <a:cs typeface="Arial"/>
              </a:rPr>
              <a:t>" OR "Authorization")</a:t>
            </a:r>
            <a:r>
              <a:rPr lang="ar-SA" sz="1725" dirty="0">
                <a:solidFill>
                  <a:srgbClr val="24415C"/>
                </a:solidFill>
                <a:latin typeface="Arial"/>
                <a:ea typeface="Arial"/>
                <a:cs typeface="Arial"/>
              </a:rPr>
              <a:t> </a:t>
            </a:r>
            <a:r>
              <a:rPr lang="en-US" sz="1725" dirty="0">
                <a:solidFill>
                  <a:srgbClr val="24415C"/>
                </a:solidFill>
                <a:latin typeface="Arial"/>
                <a:ea typeface="Arial"/>
                <a:cs typeface="Arial"/>
              </a:rPr>
              <a:t>AND</a:t>
            </a:r>
          </a:p>
          <a:p>
            <a:pPr>
              <a:lnSpc>
                <a:spcPct val="106000"/>
              </a:lnSpc>
              <a:defRPr sz="1725" b="0">
                <a:solidFill>
                  <a:srgbClr val="24415C"/>
                </a:solidFill>
                <a:latin typeface="Arial"/>
                <a:ea typeface="Arial"/>
                <a:cs typeface="Arial"/>
              </a:defRPr>
            </a:pPr>
            <a:r>
              <a:rPr lang="en-US" sz="1725" dirty="0">
                <a:solidFill>
                  <a:srgbClr val="24415C"/>
                </a:solidFill>
                <a:latin typeface="Arial"/>
                <a:ea typeface="Arial"/>
                <a:cs typeface="Arial"/>
              </a:rPr>
              <a:t>("Trust" OR "Multi-party" OR "Multi-party Approval")</a:t>
            </a:r>
            <a:endParaRPr lang="en-US" sz="1725" b="0" dirty="0">
              <a:solidFill>
                <a:srgbClr val="24415C"/>
              </a:solidFill>
              <a:latin typeface="Arial"/>
              <a:ea typeface="Arial"/>
              <a:cs typeface="Arial"/>
            </a:endParaRPr>
          </a:p>
        </p:txBody>
      </p:sp>
      <p:sp>
        <p:nvSpPr>
          <p:cNvPr id="15" name="TextBox 14">
            <a:extLst>
              <a:ext uri="{FF2B5EF4-FFF2-40B4-BE49-F238E27FC236}">
                <a16:creationId xmlns:a16="http://schemas.microsoft.com/office/drawing/2014/main" id="{C66B4837-D1AB-118B-8931-69B36FDA3CDC}"/>
              </a:ext>
            </a:extLst>
          </p:cNvPr>
          <p:cNvSpPr txBox="1"/>
          <p:nvPr/>
        </p:nvSpPr>
        <p:spPr>
          <a:xfrm>
            <a:off x="8089751" y="5192554"/>
            <a:ext cx="3913094" cy="331053"/>
          </a:xfrm>
          <a:prstGeom prst="rect">
            <a:avLst/>
          </a:prstGeom>
          <a:noFill/>
        </p:spPr>
        <p:txBody>
          <a:bodyPr wrap="square">
            <a:spAutoFit/>
          </a:bodyPr>
          <a:lstStyle/>
          <a:p>
            <a:pPr algn="l">
              <a:lnSpc>
                <a:spcPct val="106000"/>
              </a:lnSpc>
              <a:buNone/>
              <a:defRPr sz="1575" b="0">
                <a:solidFill>
                  <a:srgbClr val="56718B"/>
                </a:solidFill>
                <a:latin typeface="Arial"/>
                <a:ea typeface="Arial"/>
                <a:cs typeface="Arial"/>
              </a:defRPr>
            </a:pPr>
            <a:r>
              <a:rPr lang="en-AU" sz="1575" b="0" dirty="0">
                <a:solidFill>
                  <a:srgbClr val="56718B"/>
                </a:solidFill>
                <a:latin typeface="Arial"/>
                <a:ea typeface="Arial"/>
                <a:cs typeface="Arial"/>
              </a:rPr>
              <a:t>Publication range: 2020–2026</a:t>
            </a:r>
          </a:p>
        </p:txBody>
      </p:sp>
    </p:spTree>
    <p:extLst>
      <p:ext uri="{BB962C8B-B14F-4D97-AF65-F5344CB8AC3E}">
        <p14:creationId xmlns:p14="http://schemas.microsoft.com/office/powerpoint/2010/main" val="1701575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headline">
            <a:extLst>
              <a:ext uri="{FF2B5EF4-FFF2-40B4-BE49-F238E27FC236}">
                <a16:creationId xmlns:a16="http://schemas.microsoft.com/office/drawing/2014/main" id="{3178A9BD-89CF-4F74-906B-0DACE7023475}"/>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nSpc>
                <a:spcPct val="106000"/>
              </a:lnSpc>
              <a:defRPr sz="2700" b="1">
                <a:solidFill>
                  <a:srgbClr val="103B64"/>
                </a:solidFill>
                <a:latin typeface="Arial"/>
                <a:ea typeface="Arial"/>
                <a:cs typeface="Arial"/>
              </a:defRPr>
            </a:pPr>
            <a:r>
              <a:rPr sz="2400" b="1" dirty="0">
                <a:solidFill>
                  <a:srgbClr val="103B64"/>
                </a:solidFill>
                <a:latin typeface="Arial"/>
                <a:ea typeface="Arial"/>
                <a:cs typeface="Arial"/>
              </a:rPr>
              <a:t> </a:t>
            </a:r>
            <a:r>
              <a:rPr lang="en-US" altLang="ko-KR" sz="2400" b="1" dirty="0">
                <a:solidFill>
                  <a:srgbClr val="103B64"/>
                </a:solidFill>
                <a:latin typeface="Arial"/>
                <a:cs typeface="Arial"/>
              </a:rPr>
              <a:t>Inclusion and exclusion criteria</a:t>
            </a:r>
            <a:endParaRPr sz="2400" b="1" dirty="0">
              <a:solidFill>
                <a:srgbClr val="103B64"/>
              </a:solidFill>
              <a:latin typeface="Arial"/>
              <a:cs typeface="Arial"/>
            </a:endParaRPr>
          </a:p>
        </p:txBody>
      </p:sp>
      <p:sp>
        <p:nvSpPr>
          <p:cNvPr id="2" name="Rectangle 1">
            <a:extLst>
              <a:ext uri="{FF2B5EF4-FFF2-40B4-BE49-F238E27FC236}">
                <a16:creationId xmlns:a16="http://schemas.microsoft.com/office/drawing/2014/main" id="{4651512C-B0FB-4517-A10E-F75514A500F5}"/>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5" name="page-number">
            <a:extLst>
              <a:ext uri="{FF2B5EF4-FFF2-40B4-BE49-F238E27FC236}">
                <a16:creationId xmlns:a16="http://schemas.microsoft.com/office/drawing/2014/main" id="{87B25020-CB7B-477D-8199-F8308EE96C92}"/>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7</a:t>
            </a:r>
          </a:p>
        </p:txBody>
      </p:sp>
      <p:sp>
        <p:nvSpPr>
          <p:cNvPr id="6" name="text">
            <a:extLst>
              <a:ext uri="{FF2B5EF4-FFF2-40B4-BE49-F238E27FC236}">
                <a16:creationId xmlns:a16="http://schemas.microsoft.com/office/drawing/2014/main" id="{60490495-8C9D-4FA2-B4E6-67B3664195E3}"/>
              </a:ext>
            </a:extLst>
          </p:cNvPr>
          <p:cNvSpPr>
            <a:spLocks noGrp="1"/>
          </p:cNvSpPr>
          <p:nvPr/>
        </p:nvSpPr>
        <p:spPr>
          <a:xfrm>
            <a:off x="590550" y="1619250"/>
            <a:ext cx="5048250" cy="400050"/>
          </a:xfrm>
          <a:prstGeom prst="rect">
            <a:avLst/>
          </a:prstGeom>
          <a:noFill/>
          <a:ln w="0">
            <a:noFill/>
            <a:prstDash val="solid"/>
          </a:ln>
        </p:spPr>
        <p:txBody>
          <a:bodyPr wrap="square" lIns="0" tIns="0" rIns="0" bIns="0" anchor="ctr">
            <a:noAutofit/>
          </a:bodyPr>
          <a:lstStyle>
            <a:defPPr algn="l">
              <a:defRPr sz="2250" b="1">
                <a:solidFill>
                  <a:srgbClr val="146BA8"/>
                </a:solidFill>
                <a:latin typeface="Arial"/>
                <a:ea typeface="Arial"/>
                <a:cs typeface="Arial"/>
              </a:defRPr>
            </a:defPPr>
          </a:lstStyle>
          <a:p>
            <a:pPr algn="l">
              <a:lnSpc>
                <a:spcPct val="106000"/>
              </a:lnSpc>
              <a:buNone/>
              <a:defRPr sz="2250" b="1">
                <a:solidFill>
                  <a:srgbClr val="146BA8"/>
                </a:solidFill>
                <a:latin typeface="Arial"/>
                <a:ea typeface="Arial"/>
                <a:cs typeface="Arial"/>
              </a:defRPr>
            </a:pPr>
            <a:r>
              <a:rPr sz="2250" b="1" dirty="0">
                <a:solidFill>
                  <a:srgbClr val="146BA8"/>
                </a:solidFill>
                <a:latin typeface="Arial"/>
                <a:ea typeface="Arial"/>
                <a:cs typeface="Arial"/>
              </a:rPr>
              <a:t>Included</a:t>
            </a:r>
          </a:p>
        </p:txBody>
      </p:sp>
      <p:sp>
        <p:nvSpPr>
          <p:cNvPr id="7" name="text">
            <a:extLst>
              <a:ext uri="{FF2B5EF4-FFF2-40B4-BE49-F238E27FC236}">
                <a16:creationId xmlns:a16="http://schemas.microsoft.com/office/drawing/2014/main" id="{3E724831-B70C-4D58-ADBC-B57648F7BA41}"/>
              </a:ext>
            </a:extLst>
          </p:cNvPr>
          <p:cNvSpPr>
            <a:spLocks noGrp="1"/>
          </p:cNvSpPr>
          <p:nvPr/>
        </p:nvSpPr>
        <p:spPr>
          <a:xfrm>
            <a:off x="790575" y="2266950"/>
            <a:ext cx="4762500" cy="5429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Healthcare data sharing</a:t>
            </a:r>
          </a:p>
        </p:txBody>
      </p:sp>
      <p:sp>
        <p:nvSpPr>
          <p:cNvPr id="8" name="text">
            <a:extLst>
              <a:ext uri="{FF2B5EF4-FFF2-40B4-BE49-F238E27FC236}">
                <a16:creationId xmlns:a16="http://schemas.microsoft.com/office/drawing/2014/main" id="{9BCF20AD-DA9A-4072-8644-1A41EFD16117}"/>
              </a:ext>
            </a:extLst>
          </p:cNvPr>
          <p:cNvSpPr>
            <a:spLocks noGrp="1"/>
          </p:cNvSpPr>
          <p:nvPr/>
        </p:nvSpPr>
        <p:spPr>
          <a:xfrm>
            <a:off x="790575" y="2952750"/>
            <a:ext cx="4762500" cy="5429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Consent or authorisation relevant to data access</a:t>
            </a:r>
          </a:p>
        </p:txBody>
      </p:sp>
      <p:sp>
        <p:nvSpPr>
          <p:cNvPr id="9" name="text">
            <a:extLst>
              <a:ext uri="{FF2B5EF4-FFF2-40B4-BE49-F238E27FC236}">
                <a16:creationId xmlns:a16="http://schemas.microsoft.com/office/drawing/2014/main" id="{5686DD4A-7E99-4572-BCA6-E8A2F261587B}"/>
              </a:ext>
            </a:extLst>
          </p:cNvPr>
          <p:cNvSpPr>
            <a:spLocks noGrp="1"/>
          </p:cNvSpPr>
          <p:nvPr/>
        </p:nvSpPr>
        <p:spPr>
          <a:xfrm>
            <a:off x="790575" y="3638550"/>
            <a:ext cx="4762500" cy="5429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A model, mechanism, system or evaluation that addresses a review question</a:t>
            </a:r>
          </a:p>
        </p:txBody>
      </p:sp>
      <p:sp>
        <p:nvSpPr>
          <p:cNvPr id="10" name="text">
            <a:extLst>
              <a:ext uri="{FF2B5EF4-FFF2-40B4-BE49-F238E27FC236}">
                <a16:creationId xmlns:a16="http://schemas.microsoft.com/office/drawing/2014/main" id="{557BF72B-EAD0-4CC6-8756-576E6E3C1D29}"/>
              </a:ext>
            </a:extLst>
          </p:cNvPr>
          <p:cNvSpPr>
            <a:spLocks noGrp="1"/>
          </p:cNvSpPr>
          <p:nvPr/>
        </p:nvSpPr>
        <p:spPr>
          <a:xfrm>
            <a:off x="790575" y="4324350"/>
            <a:ext cx="4762500" cy="5429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Peer-reviewed English paper with full text</a:t>
            </a:r>
          </a:p>
        </p:txBody>
      </p:sp>
      <p:sp>
        <p:nvSpPr>
          <p:cNvPr id="11" name="text">
            <a:extLst>
              <a:ext uri="{FF2B5EF4-FFF2-40B4-BE49-F238E27FC236}">
                <a16:creationId xmlns:a16="http://schemas.microsoft.com/office/drawing/2014/main" id="{3172D377-87DD-4500-9DA3-CA51A8294572}"/>
              </a:ext>
            </a:extLst>
          </p:cNvPr>
          <p:cNvSpPr>
            <a:spLocks noGrp="1"/>
          </p:cNvSpPr>
          <p:nvPr/>
        </p:nvSpPr>
        <p:spPr>
          <a:xfrm>
            <a:off x="790575" y="5010150"/>
            <a:ext cx="4762500" cy="5429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dirty="0">
                <a:solidFill>
                  <a:srgbClr val="24415C"/>
                </a:solidFill>
                <a:latin typeface="Arial"/>
                <a:ea typeface="Arial"/>
                <a:cs typeface="Arial"/>
              </a:rPr>
              <a:t>Publication between 2020 and 2026</a:t>
            </a:r>
          </a:p>
        </p:txBody>
      </p:sp>
      <p:sp>
        <p:nvSpPr>
          <p:cNvPr id="12" name="text">
            <a:extLst>
              <a:ext uri="{FF2B5EF4-FFF2-40B4-BE49-F238E27FC236}">
                <a16:creationId xmlns:a16="http://schemas.microsoft.com/office/drawing/2014/main" id="{BE4F1EB8-82CB-4CD0-8CA5-7D21537B5378}"/>
              </a:ext>
            </a:extLst>
          </p:cNvPr>
          <p:cNvSpPr>
            <a:spLocks noGrp="1"/>
          </p:cNvSpPr>
          <p:nvPr/>
        </p:nvSpPr>
        <p:spPr>
          <a:xfrm>
            <a:off x="6724650" y="1619250"/>
            <a:ext cx="4876800" cy="400050"/>
          </a:xfrm>
          <a:prstGeom prst="rect">
            <a:avLst/>
          </a:prstGeom>
          <a:noFill/>
          <a:ln w="0">
            <a:noFill/>
            <a:prstDash val="solid"/>
          </a:ln>
        </p:spPr>
        <p:txBody>
          <a:bodyPr wrap="square" lIns="0" tIns="0" rIns="0" bIns="0" anchor="ctr">
            <a:noAutofit/>
          </a:bodyPr>
          <a:lstStyle>
            <a:defPPr algn="l">
              <a:defRPr sz="2250" b="1">
                <a:solidFill>
                  <a:srgbClr val="103B64"/>
                </a:solidFill>
                <a:latin typeface="Arial"/>
                <a:ea typeface="Arial"/>
                <a:cs typeface="Arial"/>
              </a:defRPr>
            </a:defPPr>
          </a:lstStyle>
          <a:p>
            <a:pPr algn="l">
              <a:lnSpc>
                <a:spcPct val="106000"/>
              </a:lnSpc>
              <a:buNone/>
              <a:defRPr sz="2250" b="1">
                <a:solidFill>
                  <a:srgbClr val="103B64"/>
                </a:solidFill>
                <a:latin typeface="Arial"/>
                <a:ea typeface="Arial"/>
                <a:cs typeface="Arial"/>
              </a:defRPr>
            </a:pPr>
            <a:r>
              <a:rPr sz="2250" b="1" dirty="0">
                <a:solidFill>
                  <a:srgbClr val="103B64"/>
                </a:solidFill>
                <a:latin typeface="Arial"/>
                <a:ea typeface="Arial"/>
                <a:cs typeface="Arial"/>
              </a:rPr>
              <a:t>Excluded</a:t>
            </a:r>
          </a:p>
        </p:txBody>
      </p:sp>
      <p:sp>
        <p:nvSpPr>
          <p:cNvPr id="13" name="text">
            <a:extLst>
              <a:ext uri="{FF2B5EF4-FFF2-40B4-BE49-F238E27FC236}">
                <a16:creationId xmlns:a16="http://schemas.microsoft.com/office/drawing/2014/main" id="{876B0B42-E470-4353-94F6-8387BD5472A5}"/>
              </a:ext>
            </a:extLst>
          </p:cNvPr>
          <p:cNvSpPr>
            <a:spLocks noGrp="1"/>
          </p:cNvSpPr>
          <p:nvPr/>
        </p:nvSpPr>
        <p:spPr>
          <a:xfrm>
            <a:off x="6724650" y="2266950"/>
            <a:ext cx="4876800" cy="7334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Outside healthcare or the authorisation scope</a:t>
            </a:r>
          </a:p>
        </p:txBody>
      </p:sp>
      <p:sp>
        <p:nvSpPr>
          <p:cNvPr id="14" name="text">
            <a:extLst>
              <a:ext uri="{FF2B5EF4-FFF2-40B4-BE49-F238E27FC236}">
                <a16:creationId xmlns:a16="http://schemas.microsoft.com/office/drawing/2014/main" id="{0C6E550C-CD51-424B-B5E4-953C9FF5C361}"/>
              </a:ext>
            </a:extLst>
          </p:cNvPr>
          <p:cNvSpPr>
            <a:spLocks noGrp="1"/>
          </p:cNvSpPr>
          <p:nvPr/>
        </p:nvSpPr>
        <p:spPr>
          <a:xfrm>
            <a:off x="6724650" y="3209925"/>
            <a:ext cx="4876800" cy="7334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Authentication alone or a superficial mention of consent</a:t>
            </a:r>
          </a:p>
        </p:txBody>
      </p:sp>
      <p:sp>
        <p:nvSpPr>
          <p:cNvPr id="15" name="text">
            <a:extLst>
              <a:ext uri="{FF2B5EF4-FFF2-40B4-BE49-F238E27FC236}">
                <a16:creationId xmlns:a16="http://schemas.microsoft.com/office/drawing/2014/main" id="{58CA767E-6B6C-4875-B31F-F186284AC9F8}"/>
              </a:ext>
            </a:extLst>
          </p:cNvPr>
          <p:cNvSpPr>
            <a:spLocks noGrp="1"/>
          </p:cNvSpPr>
          <p:nvPr/>
        </p:nvSpPr>
        <p:spPr>
          <a:xfrm>
            <a:off x="6724650" y="4152900"/>
            <a:ext cx="4876800" cy="7334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dirty="0">
                <a:solidFill>
                  <a:srgbClr val="24415C"/>
                </a:solidFill>
                <a:latin typeface="Arial"/>
                <a:ea typeface="Arial"/>
                <a:cs typeface="Arial"/>
              </a:rPr>
              <a:t>Non-peer-reviewed work and duplicate publications</a:t>
            </a:r>
          </a:p>
        </p:txBody>
      </p:sp>
      <p:sp>
        <p:nvSpPr>
          <p:cNvPr id="16" name="text">
            <a:extLst>
              <a:ext uri="{FF2B5EF4-FFF2-40B4-BE49-F238E27FC236}">
                <a16:creationId xmlns:a16="http://schemas.microsoft.com/office/drawing/2014/main" id="{255D9708-E4DE-4F62-AA33-6C5B645FFAEE}"/>
              </a:ext>
            </a:extLst>
          </p:cNvPr>
          <p:cNvSpPr>
            <a:spLocks noGrp="1"/>
          </p:cNvSpPr>
          <p:nvPr/>
        </p:nvSpPr>
        <p:spPr>
          <a:xfrm>
            <a:off x="6724650" y="5095875"/>
            <a:ext cx="4876800" cy="7334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endParaRPr sz="1875" b="0" dirty="0">
              <a:solidFill>
                <a:srgbClr val="24415C"/>
              </a:solidFill>
              <a:latin typeface="Arial"/>
              <a:ea typeface="Arial"/>
              <a:cs typeface="Arial"/>
            </a:endParaRPr>
          </a:p>
        </p:txBody>
      </p:sp>
    </p:spTree>
    <p:extLst>
      <p:ext uri="{BB962C8B-B14F-4D97-AF65-F5344CB8AC3E}">
        <p14:creationId xmlns:p14="http://schemas.microsoft.com/office/powerpoint/2010/main" val="49901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headline">
            <a:extLst>
              <a:ext uri="{FF2B5EF4-FFF2-40B4-BE49-F238E27FC236}">
                <a16:creationId xmlns:a16="http://schemas.microsoft.com/office/drawing/2014/main" id="{4728717E-F00F-496E-81CF-1CC10DE63271}"/>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l">
              <a:lnSpc>
                <a:spcPct val="106000"/>
              </a:lnSpc>
              <a:buNone/>
              <a:defRPr sz="2700" b="1">
                <a:solidFill>
                  <a:srgbClr val="103B64"/>
                </a:solidFill>
                <a:latin typeface="Arial"/>
                <a:ea typeface="Arial"/>
                <a:cs typeface="Arial"/>
              </a:defRPr>
            </a:pPr>
            <a:r>
              <a:rPr sz="2700" b="1" dirty="0">
                <a:solidFill>
                  <a:srgbClr val="103B64"/>
                </a:solidFill>
                <a:latin typeface="Arial"/>
                <a:ea typeface="Arial"/>
                <a:cs typeface="Arial"/>
              </a:rPr>
              <a:t> QUALITY ASSESSMENT</a:t>
            </a:r>
          </a:p>
        </p:txBody>
      </p:sp>
      <p:sp>
        <p:nvSpPr>
          <p:cNvPr id="2" name="Rectangle 1">
            <a:extLst>
              <a:ext uri="{FF2B5EF4-FFF2-40B4-BE49-F238E27FC236}">
                <a16:creationId xmlns:a16="http://schemas.microsoft.com/office/drawing/2014/main" id="{3EF5DB58-D95B-4FB8-9DAB-28E45D51512E}"/>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3" name="subtitle">
            <a:extLst>
              <a:ext uri="{FF2B5EF4-FFF2-40B4-BE49-F238E27FC236}">
                <a16:creationId xmlns:a16="http://schemas.microsoft.com/office/drawing/2014/main" id="{1CF1818E-501A-4BC8-9633-675A6D912C83}"/>
              </a:ext>
            </a:extLst>
          </p:cNvPr>
          <p:cNvSpPr>
            <a:spLocks noGrp="1"/>
          </p:cNvSpPr>
          <p:nvPr/>
        </p:nvSpPr>
        <p:spPr>
          <a:xfrm>
            <a:off x="590550" y="1047750"/>
            <a:ext cx="11010900" cy="333375"/>
          </a:xfrm>
          <a:prstGeom prst="rect">
            <a:avLst/>
          </a:prstGeom>
          <a:noFill/>
          <a:ln w="0">
            <a:noFill/>
            <a:prstDash val="solid"/>
          </a:ln>
        </p:spPr>
        <p:txBody>
          <a:bodyPr wrap="square" lIns="0" tIns="0" rIns="0" bIns="0" anchor="ctr">
            <a:noAutofit/>
          </a:bodyPr>
          <a:lstStyle>
            <a:defPPr algn="l">
              <a:defRPr sz="1575" b="0">
                <a:solidFill>
                  <a:srgbClr val="56718B"/>
                </a:solidFill>
                <a:latin typeface="Arial"/>
                <a:ea typeface="Arial"/>
                <a:cs typeface="Arial"/>
              </a:defRPr>
            </a:defPPr>
          </a:lstStyle>
          <a:p>
            <a:pPr algn="l">
              <a:lnSpc>
                <a:spcPct val="106000"/>
              </a:lnSpc>
              <a:buNone/>
              <a:defRPr sz="1575" b="0">
                <a:solidFill>
                  <a:srgbClr val="56718B"/>
                </a:solidFill>
                <a:latin typeface="Arial"/>
                <a:ea typeface="Arial"/>
                <a:cs typeface="Arial"/>
              </a:defRPr>
            </a:pPr>
            <a:r>
              <a:rPr sz="1575" b="0" dirty="0">
                <a:solidFill>
                  <a:srgbClr val="56718B"/>
                </a:solidFill>
                <a:latin typeface="Arial"/>
                <a:ea typeface="Arial"/>
                <a:cs typeface="Arial"/>
              </a:rPr>
              <a:t>Quality inclusion uses QA1–QA4</a:t>
            </a:r>
          </a:p>
        </p:txBody>
      </p:sp>
      <p:sp>
        <p:nvSpPr>
          <p:cNvPr id="5" name="page-number">
            <a:extLst>
              <a:ext uri="{FF2B5EF4-FFF2-40B4-BE49-F238E27FC236}">
                <a16:creationId xmlns:a16="http://schemas.microsoft.com/office/drawing/2014/main" id="{C1D2C059-7E18-4C74-832B-29FBDF27D113}"/>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10</a:t>
            </a:r>
          </a:p>
        </p:txBody>
      </p:sp>
      <p:graphicFrame>
        <p:nvGraphicFramePr>
          <p:cNvPr id="6" name="Table 5">
            <a:extLst>
              <a:ext uri="{FF2B5EF4-FFF2-40B4-BE49-F238E27FC236}">
                <a16:creationId xmlns:a16="http://schemas.microsoft.com/office/drawing/2014/main" id="{BA44CA7F-5C2A-4C6B-9DB4-610ADE7FC381}"/>
              </a:ext>
            </a:extLst>
          </p:cNvPr>
          <p:cNvGraphicFramePr/>
          <p:nvPr>
            <p:extLst>
              <p:ext uri="{D42A27DB-BD31-4B8C-83A1-F6EECF244321}">
                <p14:modId xmlns:p14="http://schemas.microsoft.com/office/powerpoint/2010/main" val="3674624745"/>
              </p:ext>
            </p:extLst>
          </p:nvPr>
        </p:nvGraphicFramePr>
        <p:xfrm>
          <a:off x="590550" y="1502213"/>
          <a:ext cx="7524750" cy="4130040"/>
        </p:xfrm>
        <a:graphic>
          <a:graphicData uri="http://schemas.openxmlformats.org/drawingml/2006/table">
            <a:tbl>
              <a:tblPr>
                <a:tableStyleId>{5C22544A-7EE6-4342-B048-85BDC9FD1C3A}</a:tableStyleId>
              </a:tblPr>
              <a:tblGrid>
                <a:gridCol w="990600">
                  <a:extLst>
                    <a:ext uri="{9D8B030D-6E8A-4147-A177-3AD203B41FA5}">
                      <a16:colId xmlns:a16="http://schemas.microsoft.com/office/drawing/2014/main" val="20000"/>
                    </a:ext>
                  </a:extLst>
                </a:gridCol>
                <a:gridCol w="6534150">
                  <a:extLst>
                    <a:ext uri="{9D8B030D-6E8A-4147-A177-3AD203B41FA5}">
                      <a16:colId xmlns:a16="http://schemas.microsoft.com/office/drawing/2014/main" val="20001"/>
                    </a:ext>
                  </a:extLst>
                </a:gridCol>
              </a:tblGrid>
              <a:tr h="560070">
                <a:tc>
                  <a:txBody>
                    <a:bodyPr/>
                    <a:lstStyle/>
                    <a:p>
                      <a:pPr algn="l">
                        <a:lnSpc>
                          <a:spcPct val="100000"/>
                        </a:lnSpc>
                        <a:buNone/>
                      </a:pPr>
                      <a:r>
                        <a:rPr sz="1725" b="1">
                          <a:solidFill>
                            <a:srgbClr val="FFFFFF"/>
                          </a:solidFill>
                          <a:latin typeface="Arial"/>
                          <a:ea typeface="Arial"/>
                          <a:cs typeface="Arial"/>
                        </a:rPr>
                        <a:t>Item</a:t>
                      </a:r>
                    </a:p>
                  </a:txBody>
                  <a:tcPr marL="76200" marR="76200" marT="38100" marB="38100" anchor="ctr">
                    <a:lnL w="6668">
                      <a:solidFill>
                        <a:srgbClr val="DCE9F4"/>
                      </a:solidFill>
                      <a:prstDash val="soli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725" b="1">
                          <a:solidFill>
                            <a:srgbClr val="FFFFFF"/>
                          </a:solidFill>
                          <a:latin typeface="Arial"/>
                          <a:ea typeface="Arial"/>
                          <a:cs typeface="Arial"/>
                        </a:rPr>
                        <a:t>Inclusion question</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extLst>
                  <a:ext uri="{0D108BD9-81ED-4DB2-BD59-A6C34878D82A}">
                    <a16:rowId xmlns:a16="http://schemas.microsoft.com/office/drawing/2014/main" val="10000"/>
                  </a:ext>
                </a:extLst>
              </a:tr>
              <a:tr h="560070">
                <a:tc>
                  <a:txBody>
                    <a:bodyPr/>
                    <a:lstStyle/>
                    <a:p>
                      <a:pPr algn="l">
                        <a:lnSpc>
                          <a:spcPct val="100000"/>
                        </a:lnSpc>
                        <a:buNone/>
                      </a:pPr>
                      <a:r>
                        <a:rPr sz="1725" b="0">
                          <a:solidFill>
                            <a:srgbClr val="24415C"/>
                          </a:solidFill>
                          <a:latin typeface="Arial"/>
                          <a:ea typeface="Arial"/>
                          <a:cs typeface="Arial"/>
                        </a:rPr>
                        <a:t>QA1</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US" sz="1725" b="0" dirty="0">
                          <a:solidFill>
                            <a:srgbClr val="24415C"/>
                          </a:solidFill>
                          <a:latin typeface="Arial"/>
                          <a:ea typeface="Arial"/>
                          <a:cs typeface="Arial"/>
                        </a:rPr>
                        <a:t>Does the study define a consent model covering identity, authority, policy, and evidence?</a:t>
                      </a:r>
                      <a:endParaRPr sz="1725"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extLst>
                  <a:ext uri="{0D108BD9-81ED-4DB2-BD59-A6C34878D82A}">
                    <a16:rowId xmlns:a16="http://schemas.microsoft.com/office/drawing/2014/main" val="10001"/>
                  </a:ext>
                </a:extLst>
              </a:tr>
              <a:tr h="560070">
                <a:tc>
                  <a:txBody>
                    <a:bodyPr/>
                    <a:lstStyle/>
                    <a:p>
                      <a:pPr algn="l">
                        <a:lnSpc>
                          <a:spcPct val="100000"/>
                        </a:lnSpc>
                        <a:buNone/>
                      </a:pPr>
                      <a:r>
                        <a:rPr sz="1725" b="0">
                          <a:solidFill>
                            <a:srgbClr val="24415C"/>
                          </a:solidFill>
                          <a:latin typeface="Arial"/>
                          <a:ea typeface="Arial"/>
                          <a:cs typeface="Arial"/>
                        </a:rPr>
                        <a:t>QA2</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lang="en-US" sz="1725" b="0" dirty="0">
                          <a:solidFill>
                            <a:srgbClr val="24415C"/>
                          </a:solidFill>
                          <a:latin typeface="Arial"/>
                          <a:ea typeface="Arial"/>
                          <a:cs typeface="Arial"/>
                        </a:rPr>
                        <a:t> Does the study verify participant identities and their </a:t>
                      </a:r>
                      <a:r>
                        <a:rPr lang="en-US" sz="1725" b="0" dirty="0" err="1">
                          <a:solidFill>
                            <a:srgbClr val="24415C"/>
                          </a:solidFill>
                          <a:latin typeface="Arial"/>
                          <a:ea typeface="Arial"/>
                          <a:cs typeface="Arial"/>
                        </a:rPr>
                        <a:t>authorisation</a:t>
                      </a:r>
                      <a:r>
                        <a:rPr lang="en-US" sz="1725" b="0" dirty="0">
                          <a:solidFill>
                            <a:srgbClr val="24415C"/>
                          </a:solidFill>
                          <a:latin typeface="Arial"/>
                          <a:ea typeface="Arial"/>
                          <a:cs typeface="Arial"/>
                        </a:rPr>
                        <a:t> authority</a:t>
                      </a:r>
                      <a:endParaRPr sz="1725"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extLst>
                  <a:ext uri="{0D108BD9-81ED-4DB2-BD59-A6C34878D82A}">
                    <a16:rowId xmlns:a16="http://schemas.microsoft.com/office/drawing/2014/main" val="10002"/>
                  </a:ext>
                </a:extLst>
              </a:tr>
              <a:tr h="560070">
                <a:tc>
                  <a:txBody>
                    <a:bodyPr/>
                    <a:lstStyle/>
                    <a:p>
                      <a:pPr algn="l">
                        <a:lnSpc>
                          <a:spcPct val="100000"/>
                        </a:lnSpc>
                        <a:buNone/>
                      </a:pPr>
                      <a:r>
                        <a:rPr sz="1725" b="0">
                          <a:solidFill>
                            <a:srgbClr val="24415C"/>
                          </a:solidFill>
                          <a:latin typeface="Arial"/>
                          <a:ea typeface="Arial"/>
                          <a:cs typeface="Arial"/>
                        </a:rPr>
                        <a:t>QA3</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US" sz="1725" b="0" dirty="0">
                          <a:solidFill>
                            <a:srgbClr val="24415C"/>
                          </a:solidFill>
                          <a:latin typeface="Arial"/>
                          <a:ea typeface="Arial"/>
                          <a:cs typeface="Arial"/>
                        </a:rPr>
                        <a:t>Does the study support consent decisions requiring approval from multiple </a:t>
                      </a:r>
                      <a:r>
                        <a:rPr lang="en-US" sz="1725" b="0" dirty="0" err="1">
                          <a:solidFill>
                            <a:srgbClr val="24415C"/>
                          </a:solidFill>
                          <a:latin typeface="Arial"/>
                          <a:ea typeface="Arial"/>
                          <a:cs typeface="Arial"/>
                        </a:rPr>
                        <a:t>authorised</a:t>
                      </a:r>
                      <a:r>
                        <a:rPr lang="en-US" sz="1725" b="0" dirty="0">
                          <a:solidFill>
                            <a:srgbClr val="24415C"/>
                          </a:solidFill>
                          <a:latin typeface="Arial"/>
                          <a:ea typeface="Arial"/>
                          <a:cs typeface="Arial"/>
                        </a:rPr>
                        <a:t> participants?</a:t>
                      </a:r>
                      <a:endParaRPr sz="1725"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extLst>
                  <a:ext uri="{0D108BD9-81ED-4DB2-BD59-A6C34878D82A}">
                    <a16:rowId xmlns:a16="http://schemas.microsoft.com/office/drawing/2014/main" val="10003"/>
                  </a:ext>
                </a:extLst>
              </a:tr>
              <a:tr h="560070">
                <a:tc>
                  <a:txBody>
                    <a:bodyPr/>
                    <a:lstStyle/>
                    <a:p>
                      <a:pPr algn="l">
                        <a:lnSpc>
                          <a:spcPct val="100000"/>
                        </a:lnSpc>
                        <a:buNone/>
                      </a:pPr>
                      <a:r>
                        <a:rPr sz="1725" b="0">
                          <a:solidFill>
                            <a:srgbClr val="24415C"/>
                          </a:solidFill>
                          <a:latin typeface="Arial"/>
                          <a:ea typeface="Arial"/>
                          <a:cs typeface="Arial"/>
                        </a:rPr>
                        <a:t>QA4</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cap="flat" cmpd="sng" algn="ctr">
                      <a:solidFill>
                        <a:srgbClr val="DCE9F4"/>
                      </a:solidFill>
                      <a:prstDash val="solid"/>
                      <a:round/>
                      <a:headEnd type="none" w="med" len="med"/>
                      <a:tailEnd type="none" w="med" len="med"/>
                    </a:lnB>
                    <a:solidFill>
                      <a:srgbClr val="F4F8FC"/>
                    </a:solidFill>
                  </a:tcPr>
                </a:tc>
                <a:tc>
                  <a:txBody>
                    <a:bodyPr/>
                    <a:lstStyle/>
                    <a:p>
                      <a:pPr algn="l">
                        <a:lnSpc>
                          <a:spcPct val="100000"/>
                        </a:lnSpc>
                        <a:buNone/>
                      </a:pPr>
                      <a:r>
                        <a:rPr lang="en-US" sz="1725" b="0" dirty="0">
                          <a:solidFill>
                            <a:srgbClr val="24415C"/>
                          </a:solidFill>
                          <a:latin typeface="Arial"/>
                          <a:ea typeface="Arial"/>
                          <a:cs typeface="Arial"/>
                        </a:rPr>
                        <a:t>Does the study enforce purpose, data scope, and approval rules before allowing access?</a:t>
                      </a:r>
                      <a:endParaRPr sz="1725"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cap="flat" cmpd="sng" algn="ctr">
                      <a:solidFill>
                        <a:srgbClr val="DCE9F4"/>
                      </a:solidFill>
                      <a:prstDash val="solid"/>
                      <a:round/>
                      <a:headEnd type="none" w="med" len="med"/>
                      <a:tailEnd type="none" w="med" len="med"/>
                    </a:lnB>
                    <a:solidFill>
                      <a:srgbClr val="F4F8FC"/>
                    </a:solidFill>
                  </a:tcPr>
                </a:tc>
                <a:extLst>
                  <a:ext uri="{0D108BD9-81ED-4DB2-BD59-A6C34878D82A}">
                    <a16:rowId xmlns:a16="http://schemas.microsoft.com/office/drawing/2014/main" val="10004"/>
                  </a:ext>
                </a:extLst>
              </a:tr>
              <a:tr h="560070">
                <a:tc>
                  <a:txBody>
                    <a:bodyPr/>
                    <a:lstStyle/>
                    <a:p>
                      <a:pPr algn="l">
                        <a:lnSpc>
                          <a:spcPct val="100000"/>
                        </a:lnSpc>
                        <a:buNone/>
                      </a:pPr>
                      <a:r>
                        <a:rPr lang="en-US" sz="1725" b="0" dirty="0">
                          <a:solidFill>
                            <a:srgbClr val="24415C"/>
                          </a:solidFill>
                          <a:latin typeface="Arial"/>
                          <a:ea typeface="Arial"/>
                          <a:cs typeface="Arial"/>
                        </a:rPr>
                        <a:t>QA5</a:t>
                      </a:r>
                      <a:endParaRPr sz="1725" b="0" dirty="0">
                        <a:solidFill>
                          <a:srgbClr val="24415C"/>
                        </a:solidFill>
                        <a:latin typeface="Arial"/>
                        <a:ea typeface="Arial"/>
                        <a:cs typeface="Arial"/>
                      </a:endParaRPr>
                    </a:p>
                  </a:txBody>
                  <a:tcPr marL="76200" marR="76200" marT="38100" marB="38100" anchor="ctr">
                    <a:lnL w="6668">
                      <a:solidFill>
                        <a:srgbClr val="DCE9F4"/>
                      </a:solidFill>
                      <a:prstDash val="solid"/>
                    </a:lnL>
                    <a:lnR w="6668" cap="flat" cmpd="sng" algn="ctr">
                      <a:solidFill>
                        <a:srgbClr val="DCE9F4"/>
                      </a:solidFill>
                      <a:prstDash val="solid"/>
                      <a:round/>
                      <a:headEnd type="none" w="med" len="med"/>
                      <a:tailEnd type="none" w="med" len="med"/>
                    </a:lnR>
                    <a:lnT w="6668" cap="flat" cmpd="sng" algn="ctr">
                      <a:solidFill>
                        <a:srgbClr val="DCE9F4"/>
                      </a:solidFill>
                      <a:prstDash val="solid"/>
                      <a:round/>
                      <a:headEnd type="none" w="med" len="med"/>
                      <a:tailEnd type="none" w="med" len="med"/>
                    </a:lnT>
                    <a:lnB w="6668" cap="flat" cmpd="sng" algn="ctr">
                      <a:solidFill>
                        <a:srgbClr val="DCE9F4"/>
                      </a:solidFill>
                      <a:prstDash val="solid"/>
                      <a:round/>
                      <a:headEnd type="none" w="med" len="med"/>
                      <a:tailEnd type="none" w="med" len="med"/>
                    </a:lnB>
                    <a:solidFill>
                      <a:srgbClr val="F4F8FC"/>
                    </a:solidFill>
                  </a:tcPr>
                </a:tc>
                <a:tc>
                  <a:txBody>
                    <a:bodyPr/>
                    <a:lstStyle/>
                    <a:p>
                      <a:pPr algn="l">
                        <a:lnSpc>
                          <a:spcPct val="100000"/>
                        </a:lnSpc>
                        <a:buNone/>
                      </a:pPr>
                      <a:r>
                        <a:rPr lang="en-US" sz="1725" b="0" dirty="0">
                          <a:solidFill>
                            <a:srgbClr val="24415C"/>
                          </a:solidFill>
                          <a:latin typeface="Arial"/>
                          <a:ea typeface="Arial"/>
                          <a:cs typeface="Arial"/>
                        </a:rPr>
                        <a:t>Does the study manage consent validity, expiry, and revocation? </a:t>
                      </a:r>
                      <a:endParaRPr sz="1725"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cap="flat" cmpd="sng" algn="ctr">
                      <a:solidFill>
                        <a:srgbClr val="DCE9F4"/>
                      </a:solidFill>
                      <a:prstDash val="solid"/>
                      <a:round/>
                      <a:headEnd type="none" w="med" len="med"/>
                      <a:tailEnd type="none" w="med" len="med"/>
                    </a:lnB>
                    <a:solidFill>
                      <a:srgbClr val="F4F8FC"/>
                    </a:solidFill>
                  </a:tcPr>
                </a:tc>
                <a:extLst>
                  <a:ext uri="{0D108BD9-81ED-4DB2-BD59-A6C34878D82A}">
                    <a16:rowId xmlns:a16="http://schemas.microsoft.com/office/drawing/2014/main" val="1213089378"/>
                  </a:ext>
                </a:extLst>
              </a:tr>
              <a:tr h="560070">
                <a:tc>
                  <a:txBody>
                    <a:bodyPr/>
                    <a:lstStyle/>
                    <a:p>
                      <a:pPr algn="l">
                        <a:lnSpc>
                          <a:spcPct val="100000"/>
                        </a:lnSpc>
                        <a:buNone/>
                      </a:pPr>
                      <a:r>
                        <a:rPr lang="en-US" sz="1725" b="0" dirty="0">
                          <a:solidFill>
                            <a:srgbClr val="24415C"/>
                          </a:solidFill>
                          <a:latin typeface="Arial"/>
                          <a:ea typeface="Arial"/>
                          <a:cs typeface="Arial"/>
                        </a:rPr>
                        <a:t>QA6</a:t>
                      </a:r>
                      <a:endParaRPr sz="1725" b="0" dirty="0">
                        <a:solidFill>
                          <a:srgbClr val="24415C"/>
                        </a:solidFill>
                        <a:latin typeface="Arial"/>
                        <a:ea typeface="Arial"/>
                        <a:cs typeface="Arial"/>
                      </a:endParaRPr>
                    </a:p>
                  </a:txBody>
                  <a:tcPr marL="76200" marR="76200" marT="38100" marB="38100" anchor="ctr">
                    <a:lnL w="6668">
                      <a:solidFill>
                        <a:srgbClr val="DCE9F4"/>
                      </a:solidFill>
                      <a:prstDash val="solid"/>
                    </a:lnL>
                    <a:lnR w="6668" cap="flat" cmpd="sng" algn="ctr">
                      <a:solidFill>
                        <a:srgbClr val="DCE9F4"/>
                      </a:solidFill>
                      <a:prstDash val="solid"/>
                      <a:round/>
                      <a:headEnd type="none" w="med" len="med"/>
                      <a:tailEnd type="none" w="med" len="me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lang="en-US" sz="1725" b="0" dirty="0">
                          <a:solidFill>
                            <a:srgbClr val="24415C"/>
                          </a:solidFill>
                          <a:latin typeface="Arial"/>
                          <a:ea typeface="Arial"/>
                          <a:cs typeface="Arial"/>
                        </a:rPr>
                        <a:t>Does the study validate security and access decisions through formal analysis or implementation testing?</a:t>
                      </a:r>
                      <a:endParaRPr sz="1725"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extLst>
                  <a:ext uri="{0D108BD9-81ED-4DB2-BD59-A6C34878D82A}">
                    <a16:rowId xmlns:a16="http://schemas.microsoft.com/office/drawing/2014/main" val="3955121684"/>
                  </a:ext>
                </a:extLst>
              </a:tr>
            </a:tbl>
          </a:graphicData>
        </a:graphic>
      </p:graphicFrame>
    </p:spTree>
    <p:extLst>
      <p:ext uri="{BB962C8B-B14F-4D97-AF65-F5344CB8AC3E}">
        <p14:creationId xmlns:p14="http://schemas.microsoft.com/office/powerpoint/2010/main" val="1517065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headline">
            <a:extLst>
              <a:ext uri="{FF2B5EF4-FFF2-40B4-BE49-F238E27FC236}">
                <a16:creationId xmlns:a16="http://schemas.microsoft.com/office/drawing/2014/main" id="{EAA49FCD-6474-4965-8487-91E512158047}"/>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ctr">
              <a:lnSpc>
                <a:spcPct val="106000"/>
              </a:lnSpc>
              <a:buNone/>
              <a:defRPr sz="2700" b="1">
                <a:solidFill>
                  <a:srgbClr val="103B64"/>
                </a:solidFill>
                <a:latin typeface="Arial"/>
                <a:ea typeface="Arial"/>
                <a:cs typeface="Arial"/>
              </a:defRPr>
            </a:pPr>
            <a:r>
              <a:rPr sz="2700" b="1" dirty="0">
                <a:solidFill>
                  <a:srgbClr val="103B64"/>
                </a:solidFill>
                <a:latin typeface="Arial"/>
                <a:ea typeface="Arial"/>
                <a:cs typeface="Arial"/>
              </a:rPr>
              <a:t>LIST OF THE ANALYSED STUDIES</a:t>
            </a:r>
          </a:p>
        </p:txBody>
      </p:sp>
      <p:sp>
        <p:nvSpPr>
          <p:cNvPr id="2" name="Rectangle 1">
            <a:extLst>
              <a:ext uri="{FF2B5EF4-FFF2-40B4-BE49-F238E27FC236}">
                <a16:creationId xmlns:a16="http://schemas.microsoft.com/office/drawing/2014/main" id="{ACEE08DE-4D7D-48D1-B007-0EAB14464BBC}"/>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5" name="page-number">
            <a:extLst>
              <a:ext uri="{FF2B5EF4-FFF2-40B4-BE49-F238E27FC236}">
                <a16:creationId xmlns:a16="http://schemas.microsoft.com/office/drawing/2014/main" id="{3D6C3840-BA05-48F8-B96C-AC509D9018B9}"/>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11</a:t>
            </a:r>
          </a:p>
        </p:txBody>
      </p:sp>
      <p:graphicFrame>
        <p:nvGraphicFramePr>
          <p:cNvPr id="6" name="Table 5">
            <a:extLst>
              <a:ext uri="{FF2B5EF4-FFF2-40B4-BE49-F238E27FC236}">
                <a16:creationId xmlns:a16="http://schemas.microsoft.com/office/drawing/2014/main" id="{16758AE8-EE98-4146-B748-D7A6A2A828D3}"/>
              </a:ext>
            </a:extLst>
          </p:cNvPr>
          <p:cNvGraphicFramePr/>
          <p:nvPr/>
        </p:nvGraphicFramePr>
        <p:xfrm>
          <a:off x="590550" y="1005840"/>
          <a:ext cx="11010900" cy="5335016"/>
        </p:xfrm>
        <a:graphic>
          <a:graphicData uri="http://schemas.openxmlformats.org/drawingml/2006/table">
            <a:tbl>
              <a:tblPr>
                <a:tableStyleId>{5C22544A-7EE6-4342-B048-85BDC9FD1C3A}</a:tableStyleId>
              </a:tblPr>
              <a:tblGrid>
                <a:gridCol w="59436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8267700">
                  <a:extLst>
                    <a:ext uri="{9D8B030D-6E8A-4147-A177-3AD203B41FA5}">
                      <a16:colId xmlns:a16="http://schemas.microsoft.com/office/drawing/2014/main" val="20002"/>
                    </a:ext>
                  </a:extLst>
                </a:gridCol>
              </a:tblGrid>
              <a:tr h="283464">
                <a:tc>
                  <a:txBody>
                    <a:bodyPr/>
                    <a:lstStyle/>
                    <a:p>
                      <a:pPr algn="ctr">
                        <a:lnSpc>
                          <a:spcPct val="100000"/>
                        </a:lnSpc>
                        <a:buNone/>
                      </a:pPr>
                      <a:r>
                        <a:rPr sz="1100" b="1">
                          <a:solidFill>
                            <a:srgbClr val="FFFFFF"/>
                          </a:solidFill>
                          <a:latin typeface="Arial"/>
                          <a:ea typeface="Arial"/>
                          <a:cs typeface="Arial"/>
                        </a:rPr>
                        <a:t>Study</a:t>
                      </a:r>
                    </a:p>
                  </a:txBody>
                  <a:tcPr marL="50800" marR="50800" marT="25400" marB="25400" anchor="ctr">
                    <a:lnL w="6668">
                      <a:solidFill>
                        <a:srgbClr val="DCE9F4"/>
                      </a:solidFill>
                      <a:prstDash val="soli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l">
                        <a:lnSpc>
                          <a:spcPct val="100000"/>
                        </a:lnSpc>
                        <a:buNone/>
                      </a:pPr>
                      <a:r>
                        <a:rPr sz="1100" b="1">
                          <a:solidFill>
                            <a:srgbClr val="FFFFFF"/>
                          </a:solidFill>
                          <a:latin typeface="Arial"/>
                          <a:ea typeface="Arial"/>
                          <a:cs typeface="Arial"/>
                        </a:rPr>
                        <a:t>Authors and year</a:t>
                      </a:r>
                    </a:p>
                  </a:txBody>
                  <a:tcPr marL="50800" marR="50800" marT="25400" marB="254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l">
                        <a:lnSpc>
                          <a:spcPct val="100000"/>
                        </a:lnSpc>
                        <a:buNone/>
                      </a:pPr>
                      <a:r>
                        <a:rPr sz="1100" b="1">
                          <a:solidFill>
                            <a:srgbClr val="FFFFFF"/>
                          </a:solidFill>
                          <a:latin typeface="Arial"/>
                          <a:ea typeface="Arial"/>
                          <a:cs typeface="Arial"/>
                        </a:rPr>
                        <a:t>Article title</a:t>
                      </a:r>
                    </a:p>
                  </a:txBody>
                  <a:tcPr marL="50800" marR="50800" marT="25400" marB="254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extLst>
                  <a:ext uri="{0D108BD9-81ED-4DB2-BD59-A6C34878D82A}">
                    <a16:rowId xmlns:a16="http://schemas.microsoft.com/office/drawing/2014/main" val="10000"/>
                  </a:ext>
                </a:extLst>
              </a:tr>
              <a:tr h="192024">
                <a:tc>
                  <a:txBody>
                    <a:bodyPr/>
                    <a:lstStyle/>
                    <a:p>
                      <a:pPr algn="ctr">
                        <a:lnSpc>
                          <a:spcPct val="100000"/>
                        </a:lnSpc>
                        <a:buNone/>
                      </a:pPr>
                      <a:r>
                        <a:rPr sz="1000" b="0">
                          <a:solidFill>
                            <a:srgbClr val="24415C"/>
                          </a:solidFill>
                          <a:latin typeface="Arial"/>
                          <a:ea typeface="Arial"/>
                          <a:cs typeface="Arial"/>
                        </a:rPr>
                        <a:t>S1</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Abbasi et al. (2026)</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Nexa: Enabling Secure, Scalable, and Decentralized Management of Electronic Health Records Using Threshold Cryptography and Public </a:t>
                      </a:r>
                      <a:r>
                        <a:rPr lang="en-AU" sz="1000" b="0" dirty="0">
                          <a:solidFill>
                            <a:srgbClr val="24415C"/>
                          </a:solidFill>
                          <a:highlight>
                            <a:srgbClr val="FFFF00"/>
                          </a:highlight>
                          <a:latin typeface="Arial"/>
                          <a:ea typeface="Arial"/>
                          <a:cs typeface="Arial"/>
                        </a:rPr>
                        <a:t>Blockchains</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1"/>
                  </a:ext>
                </a:extLst>
              </a:tr>
              <a:tr h="192024">
                <a:tc>
                  <a:txBody>
                    <a:bodyPr/>
                    <a:lstStyle/>
                    <a:p>
                      <a:pPr algn="ctr">
                        <a:lnSpc>
                          <a:spcPct val="100000"/>
                        </a:lnSpc>
                        <a:buNone/>
                      </a:pPr>
                      <a:r>
                        <a:rPr sz="1000" b="0">
                          <a:solidFill>
                            <a:srgbClr val="24415C"/>
                          </a:solidFill>
                          <a:latin typeface="Arial"/>
                          <a:ea typeface="Arial"/>
                          <a:cs typeface="Arial"/>
                        </a:rPr>
                        <a:t>S2</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Albalwy et al. (2021)</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A </a:t>
                      </a:r>
                      <a:r>
                        <a:rPr lang="en-AU" sz="1000" b="0" dirty="0">
                          <a:solidFill>
                            <a:srgbClr val="24415C"/>
                          </a:solidFill>
                          <a:highlight>
                            <a:srgbClr val="FFFF00"/>
                          </a:highlight>
                          <a:latin typeface="Arial"/>
                          <a:ea typeface="Arial"/>
                          <a:cs typeface="Arial"/>
                        </a:rPr>
                        <a:t>Blockchain</a:t>
                      </a:r>
                      <a:r>
                        <a:rPr lang="en-AU" sz="1000" b="0" dirty="0">
                          <a:solidFill>
                            <a:srgbClr val="24415C"/>
                          </a:solidFill>
                          <a:latin typeface="Arial"/>
                          <a:ea typeface="Arial"/>
                          <a:cs typeface="Arial"/>
                        </a:rPr>
                        <a:t>-based dynamic consent architecture to support clinical genomic data sharing (</a:t>
                      </a:r>
                      <a:r>
                        <a:rPr lang="en-AU" sz="1000" b="0" dirty="0">
                          <a:solidFill>
                            <a:srgbClr val="24415C"/>
                          </a:solidFill>
                          <a:highlight>
                            <a:srgbClr val="FFFF00"/>
                          </a:highlight>
                          <a:latin typeface="Arial"/>
                          <a:ea typeface="Arial"/>
                          <a:cs typeface="Arial"/>
                        </a:rPr>
                        <a:t>ConsentChain</a:t>
                      </a:r>
                      <a:r>
                        <a:rPr lang="en-AU" sz="1000" b="0" dirty="0">
                          <a:solidFill>
                            <a:srgbClr val="24415C"/>
                          </a:solidFill>
                          <a:latin typeface="Arial"/>
                          <a:ea typeface="Arial"/>
                          <a:cs typeface="Arial"/>
                        </a:rPr>
                        <a:t>): Proof-of-concept study</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2"/>
                  </a:ext>
                </a:extLst>
              </a:tr>
              <a:tr h="192024">
                <a:tc>
                  <a:txBody>
                    <a:bodyPr/>
                    <a:lstStyle/>
                    <a:p>
                      <a:pPr algn="ctr">
                        <a:lnSpc>
                          <a:spcPct val="100000"/>
                        </a:lnSpc>
                        <a:buNone/>
                      </a:pPr>
                      <a:r>
                        <a:rPr sz="1000" b="0">
                          <a:solidFill>
                            <a:srgbClr val="24415C"/>
                          </a:solidFill>
                          <a:latin typeface="Arial"/>
                          <a:ea typeface="Arial"/>
                          <a:cs typeface="Arial"/>
                        </a:rPr>
                        <a:t>S3</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Al Amin et al. (2023)</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Informed Consent as Patient Driven Policy for Clinical Diagnosis and Treatment: A Smart Contract Based Approach</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2393998605"/>
                  </a:ext>
                </a:extLst>
              </a:tr>
              <a:tr h="192024">
                <a:tc>
                  <a:txBody>
                    <a:bodyPr/>
                    <a:lstStyle/>
                    <a:p>
                      <a:pPr algn="ctr">
                        <a:lnSpc>
                          <a:spcPct val="100000"/>
                        </a:lnSpc>
                        <a:buNone/>
                      </a:pPr>
                      <a:r>
                        <a:rPr sz="1000" b="0">
                          <a:solidFill>
                            <a:srgbClr val="24415C"/>
                          </a:solidFill>
                          <a:latin typeface="Arial"/>
                          <a:ea typeface="Arial"/>
                          <a:cs typeface="Arial"/>
                        </a:rPr>
                        <a:t>S4</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Ekholm et al. (2025)</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Implementing electronic informed consent in rare disease genomics</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631272076"/>
                  </a:ext>
                </a:extLst>
              </a:tr>
              <a:tr h="192024">
                <a:tc>
                  <a:txBody>
                    <a:bodyPr/>
                    <a:lstStyle/>
                    <a:p>
                      <a:pPr algn="ctr">
                        <a:lnSpc>
                          <a:spcPct val="100000"/>
                        </a:lnSpc>
                        <a:buNone/>
                      </a:pPr>
                      <a:r>
                        <a:rPr sz="1000" b="0">
                          <a:solidFill>
                            <a:srgbClr val="24415C"/>
                          </a:solidFill>
                          <a:latin typeface="Arial"/>
                          <a:ea typeface="Arial"/>
                          <a:cs typeface="Arial"/>
                        </a:rPr>
                        <a:t>S5</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Eneh et al. (2026)</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Demo: EdgeConsent: </a:t>
                      </a:r>
                      <a:r>
                        <a:rPr lang="en-AU" sz="1000" b="0" dirty="0">
                          <a:solidFill>
                            <a:srgbClr val="24415C"/>
                          </a:solidFill>
                          <a:highlight>
                            <a:srgbClr val="FFFF00"/>
                          </a:highlight>
                          <a:latin typeface="Arial"/>
                          <a:ea typeface="Arial"/>
                          <a:cs typeface="Arial"/>
                        </a:rPr>
                        <a:t>On-Chain</a:t>
                      </a:r>
                      <a:r>
                        <a:rPr lang="en-AU" sz="1000" b="0" dirty="0">
                          <a:solidFill>
                            <a:srgbClr val="24415C"/>
                          </a:solidFill>
                          <a:latin typeface="Arial"/>
                          <a:ea typeface="Arial"/>
                          <a:cs typeface="Arial"/>
                        </a:rPr>
                        <a:t> Attribute-Based Access Control for Data Consent Management</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74290227"/>
                  </a:ext>
                </a:extLst>
              </a:tr>
              <a:tr h="192024">
                <a:tc>
                  <a:txBody>
                    <a:bodyPr/>
                    <a:lstStyle/>
                    <a:p>
                      <a:pPr algn="ctr">
                        <a:lnSpc>
                          <a:spcPct val="100000"/>
                        </a:lnSpc>
                        <a:buNone/>
                      </a:pPr>
                      <a:r>
                        <a:rPr sz="1000" b="0">
                          <a:solidFill>
                            <a:srgbClr val="24415C"/>
                          </a:solidFill>
                          <a:latin typeface="Arial"/>
                          <a:ea typeface="Arial"/>
                          <a:cs typeface="Arial"/>
                        </a:rPr>
                        <a:t>S6</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Hagström et al. (2024)</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Minors’ and guardian access to and use of a national patient portal: A retrospective comparative case study of Sweden and Finland</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3439312405"/>
                  </a:ext>
                </a:extLst>
              </a:tr>
              <a:tr h="192024">
                <a:tc>
                  <a:txBody>
                    <a:bodyPr/>
                    <a:lstStyle/>
                    <a:p>
                      <a:pPr algn="ctr">
                        <a:lnSpc>
                          <a:spcPct val="100000"/>
                        </a:lnSpc>
                        <a:buNone/>
                      </a:pPr>
                      <a:r>
                        <a:rPr sz="1000" b="0">
                          <a:solidFill>
                            <a:srgbClr val="24415C"/>
                          </a:solidFill>
                          <a:latin typeface="Arial"/>
                          <a:ea typeface="Arial"/>
                          <a:cs typeface="Arial"/>
                        </a:rPr>
                        <a:t>S7</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Jaiman and Urovi (2020)</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A Consent Model for </a:t>
                      </a:r>
                      <a:r>
                        <a:rPr lang="en-AU" sz="1000" b="0" dirty="0">
                          <a:solidFill>
                            <a:srgbClr val="24415C"/>
                          </a:solidFill>
                          <a:highlight>
                            <a:srgbClr val="FFFF00"/>
                          </a:highlight>
                          <a:latin typeface="Arial"/>
                          <a:ea typeface="Arial"/>
                          <a:cs typeface="Arial"/>
                        </a:rPr>
                        <a:t>Blockchain</a:t>
                      </a:r>
                      <a:r>
                        <a:rPr lang="en-AU" sz="1000" b="0" dirty="0">
                          <a:solidFill>
                            <a:srgbClr val="24415C"/>
                          </a:solidFill>
                          <a:latin typeface="Arial"/>
                          <a:ea typeface="Arial"/>
                          <a:cs typeface="Arial"/>
                        </a:rPr>
                        <a:t>-Based Health Data Sharing Platforms</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88047248"/>
                  </a:ext>
                </a:extLst>
              </a:tr>
              <a:tr h="192024">
                <a:tc>
                  <a:txBody>
                    <a:bodyPr/>
                    <a:lstStyle/>
                    <a:p>
                      <a:pPr algn="ctr">
                        <a:lnSpc>
                          <a:spcPct val="100000"/>
                        </a:lnSpc>
                        <a:buNone/>
                      </a:pPr>
                      <a:r>
                        <a:rPr sz="1000" b="0">
                          <a:solidFill>
                            <a:srgbClr val="24415C"/>
                          </a:solidFill>
                          <a:latin typeface="Arial"/>
                          <a:ea typeface="Arial"/>
                          <a:cs typeface="Arial"/>
                        </a:rPr>
                        <a:t>S8</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Zhao and Su (2024)</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A threshold traceable delegation authorization scheme for data sharing in healthcare</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967738440"/>
                  </a:ext>
                </a:extLst>
              </a:tr>
              <a:tr h="192024">
                <a:tc>
                  <a:txBody>
                    <a:bodyPr/>
                    <a:lstStyle/>
                    <a:p>
                      <a:pPr algn="ctr">
                        <a:lnSpc>
                          <a:spcPct val="100000"/>
                        </a:lnSpc>
                        <a:buNone/>
                      </a:pPr>
                      <a:r>
                        <a:rPr sz="1000" b="0">
                          <a:solidFill>
                            <a:srgbClr val="24415C"/>
                          </a:solidFill>
                          <a:latin typeface="Arial"/>
                          <a:ea typeface="Arial"/>
                          <a:cs typeface="Arial"/>
                        </a:rPr>
                        <a:t>S9</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Li et al. (2026a)</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Privacy-Preserving Fine-Grained EMR Access Control for IoMT: A Hybrid RBAC-Smart Contract Scheme With Attribute-Based Authorization</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3894139342"/>
                  </a:ext>
                </a:extLst>
              </a:tr>
              <a:tr h="192024">
                <a:tc>
                  <a:txBody>
                    <a:bodyPr/>
                    <a:lstStyle/>
                    <a:p>
                      <a:pPr algn="ctr">
                        <a:lnSpc>
                          <a:spcPct val="100000"/>
                        </a:lnSpc>
                        <a:buNone/>
                      </a:pPr>
                      <a:r>
                        <a:rPr sz="1000" b="0">
                          <a:solidFill>
                            <a:srgbClr val="24415C"/>
                          </a:solidFill>
                          <a:latin typeface="Arial"/>
                          <a:ea typeface="Arial"/>
                          <a:cs typeface="Arial"/>
                        </a:rPr>
                        <a:t>S10</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Madine et al. (2020)</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Fully Decentralized Multi-Party Consent Management for Secure Sharing of Patient Health Records</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539882287"/>
                  </a:ext>
                </a:extLst>
              </a:tr>
              <a:tr h="192024">
                <a:tc>
                  <a:txBody>
                    <a:bodyPr/>
                    <a:lstStyle/>
                    <a:p>
                      <a:pPr algn="ctr">
                        <a:lnSpc>
                          <a:spcPct val="100000"/>
                        </a:lnSpc>
                        <a:buNone/>
                      </a:pPr>
                      <a:r>
                        <a:rPr sz="1000" b="0">
                          <a:solidFill>
                            <a:srgbClr val="24415C"/>
                          </a:solidFill>
                          <a:latin typeface="Arial"/>
                          <a:ea typeface="Arial"/>
                          <a:cs typeface="Arial"/>
                        </a:rPr>
                        <a:t>S11</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Maruthi and Singh (2025)</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Enhancing Security and Privacy of IoMT Data for Unconscious Patient With </a:t>
                      </a:r>
                      <a:r>
                        <a:rPr lang="en-AU" sz="1000" b="0" dirty="0">
                          <a:solidFill>
                            <a:srgbClr val="24415C"/>
                          </a:solidFill>
                          <a:highlight>
                            <a:srgbClr val="FFFF00"/>
                          </a:highlight>
                          <a:latin typeface="Arial"/>
                          <a:ea typeface="Arial"/>
                          <a:cs typeface="Arial"/>
                        </a:rPr>
                        <a:t>Blockchain</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85295131"/>
                  </a:ext>
                </a:extLst>
              </a:tr>
              <a:tr h="192024">
                <a:tc>
                  <a:txBody>
                    <a:bodyPr/>
                    <a:lstStyle/>
                    <a:p>
                      <a:pPr algn="ctr">
                        <a:lnSpc>
                          <a:spcPct val="100000"/>
                        </a:lnSpc>
                        <a:buNone/>
                      </a:pPr>
                      <a:r>
                        <a:rPr sz="1000" b="0">
                          <a:solidFill>
                            <a:srgbClr val="24415C"/>
                          </a:solidFill>
                          <a:latin typeface="Arial"/>
                          <a:ea typeface="Arial"/>
                          <a:cs typeface="Arial"/>
                        </a:rPr>
                        <a:t>S12</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Mei et al. (2026)</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Efficient Dual-Revocation CP-ABE for Secure and Fine-Grained Data Sharing in IoMT</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2673809460"/>
                  </a:ext>
                </a:extLst>
              </a:tr>
              <a:tr h="192024">
                <a:tc>
                  <a:txBody>
                    <a:bodyPr/>
                    <a:lstStyle/>
                    <a:p>
                      <a:pPr algn="ctr">
                        <a:lnSpc>
                          <a:spcPct val="100000"/>
                        </a:lnSpc>
                        <a:buNone/>
                      </a:pPr>
                      <a:r>
                        <a:rPr sz="1000" b="0">
                          <a:solidFill>
                            <a:srgbClr val="24415C"/>
                          </a:solidFill>
                          <a:latin typeface="Arial"/>
                          <a:ea typeface="Arial"/>
                          <a:cs typeface="Arial"/>
                        </a:rPr>
                        <a:t>S13</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Panagoulias et al. (2026)</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highlight>
                            <a:srgbClr val="FFFF00"/>
                          </a:highlight>
                          <a:latin typeface="Arial"/>
                          <a:ea typeface="Arial"/>
                          <a:cs typeface="Arial"/>
                        </a:rPr>
                        <a:t>Blockchain</a:t>
                      </a:r>
                      <a:r>
                        <a:rPr lang="en-AU" sz="1000" b="0" dirty="0">
                          <a:solidFill>
                            <a:srgbClr val="24415C"/>
                          </a:solidFill>
                          <a:latin typeface="Arial"/>
                          <a:ea typeface="Arial"/>
                          <a:cs typeface="Arial"/>
                        </a:rPr>
                        <a:t>-Enabled Trust and Compliance for Clinical AI: Decentralized Governance Without Decentralized Data Storage</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3712172628"/>
                  </a:ext>
                </a:extLst>
              </a:tr>
              <a:tr h="192024">
                <a:tc>
                  <a:txBody>
                    <a:bodyPr/>
                    <a:lstStyle/>
                    <a:p>
                      <a:pPr algn="ctr">
                        <a:lnSpc>
                          <a:spcPct val="100000"/>
                        </a:lnSpc>
                        <a:buNone/>
                      </a:pPr>
                      <a:r>
                        <a:rPr sz="1000" b="0">
                          <a:solidFill>
                            <a:srgbClr val="24415C"/>
                          </a:solidFill>
                          <a:latin typeface="Arial"/>
                          <a:ea typeface="Arial"/>
                          <a:cs typeface="Arial"/>
                        </a:rPr>
                        <a:t>S14</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Phuyal et al. (2026b)</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Enabling Cross-Institution Health Data Sharing in Norway: EUDI Wallets, </a:t>
                      </a:r>
                      <a:r>
                        <a:rPr lang="en-AU" sz="1000" b="0" dirty="0">
                          <a:solidFill>
                            <a:srgbClr val="24415C"/>
                          </a:solidFill>
                          <a:highlight>
                            <a:srgbClr val="FFFF00"/>
                          </a:highlight>
                          <a:latin typeface="Arial"/>
                          <a:ea typeface="Arial"/>
                          <a:cs typeface="Arial"/>
                        </a:rPr>
                        <a:t>On-Chain</a:t>
                      </a:r>
                      <a:r>
                        <a:rPr lang="en-AU" sz="1000" b="0" dirty="0">
                          <a:solidFill>
                            <a:srgbClr val="24415C"/>
                          </a:solidFill>
                          <a:latin typeface="Arial"/>
                          <a:ea typeface="Arial"/>
                          <a:cs typeface="Arial"/>
                        </a:rPr>
                        <a:t> Consent, and openEHR↔FHIR Translation</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4164462473"/>
                  </a:ext>
                </a:extLst>
              </a:tr>
              <a:tr h="192024">
                <a:tc>
                  <a:txBody>
                    <a:bodyPr/>
                    <a:lstStyle/>
                    <a:p>
                      <a:pPr algn="ctr">
                        <a:lnSpc>
                          <a:spcPct val="100000"/>
                        </a:lnSpc>
                        <a:buNone/>
                      </a:pPr>
                      <a:r>
                        <a:rPr sz="1000" b="0">
                          <a:solidFill>
                            <a:srgbClr val="24415C"/>
                          </a:solidFill>
                          <a:latin typeface="Arial"/>
                          <a:ea typeface="Arial"/>
                          <a:cs typeface="Arial"/>
                        </a:rPr>
                        <a:t>S15</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Phuyal et al. (2026a)</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A </a:t>
                      </a:r>
                      <a:r>
                        <a:rPr lang="en-AU" sz="1000" b="0" dirty="0">
                          <a:solidFill>
                            <a:srgbClr val="24415C"/>
                          </a:solidFill>
                          <a:highlight>
                            <a:srgbClr val="FFFF00"/>
                          </a:highlight>
                          <a:latin typeface="Arial"/>
                          <a:ea typeface="Arial"/>
                          <a:cs typeface="Arial"/>
                        </a:rPr>
                        <a:t>Blockchain</a:t>
                      </a:r>
                      <a:r>
                        <a:rPr lang="en-AU" sz="1000" b="0" dirty="0">
                          <a:solidFill>
                            <a:srgbClr val="24415C"/>
                          </a:solidFill>
                          <a:latin typeface="Arial"/>
                          <a:ea typeface="Arial"/>
                          <a:cs typeface="Arial"/>
                        </a:rPr>
                        <a:t>-Based Architecture for Dynamic and Auditable Patient Consent in Secondary Use of Health Data</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2973926234"/>
                  </a:ext>
                </a:extLst>
              </a:tr>
              <a:tr h="192024">
                <a:tc>
                  <a:txBody>
                    <a:bodyPr/>
                    <a:lstStyle/>
                    <a:p>
                      <a:pPr algn="ctr">
                        <a:lnSpc>
                          <a:spcPct val="100000"/>
                        </a:lnSpc>
                        <a:buNone/>
                      </a:pPr>
                      <a:r>
                        <a:rPr sz="1000" b="0">
                          <a:solidFill>
                            <a:srgbClr val="24415C"/>
                          </a:solidFill>
                          <a:latin typeface="Arial"/>
                          <a:ea typeface="Arial"/>
                          <a:cs typeface="Arial"/>
                        </a:rPr>
                        <a:t>S16</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Punia et al. (2025)</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An access control system for cloud-based healthcare systems driven by </a:t>
                      </a:r>
                      <a:r>
                        <a:rPr lang="en-AU" sz="1000" b="0" dirty="0">
                          <a:solidFill>
                            <a:srgbClr val="24415C"/>
                          </a:solidFill>
                          <a:highlight>
                            <a:srgbClr val="FFFF00"/>
                          </a:highlight>
                          <a:latin typeface="Arial"/>
                          <a:ea typeface="Arial"/>
                          <a:cs typeface="Arial"/>
                        </a:rPr>
                        <a:t>blockchain</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3627416642"/>
                  </a:ext>
                </a:extLst>
              </a:tr>
              <a:tr h="192024">
                <a:tc>
                  <a:txBody>
                    <a:bodyPr/>
                    <a:lstStyle/>
                    <a:p>
                      <a:pPr algn="ctr">
                        <a:lnSpc>
                          <a:spcPct val="100000"/>
                        </a:lnSpc>
                        <a:buNone/>
                      </a:pPr>
                      <a:r>
                        <a:rPr sz="1000" b="0">
                          <a:solidFill>
                            <a:srgbClr val="24415C"/>
                          </a:solidFill>
                          <a:latin typeface="Arial"/>
                          <a:ea typeface="Arial"/>
                          <a:cs typeface="Arial"/>
                        </a:rPr>
                        <a:t>S17</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Román-Martínez et al. (2023)</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highlight>
                            <a:srgbClr val="FFFF00"/>
                          </a:highlight>
                          <a:latin typeface="Arial"/>
                          <a:ea typeface="Arial"/>
                          <a:cs typeface="Arial"/>
                        </a:rPr>
                        <a:t>Blockchain</a:t>
                      </a:r>
                      <a:r>
                        <a:rPr lang="en-AU" sz="1000" b="0" dirty="0">
                          <a:solidFill>
                            <a:srgbClr val="24415C"/>
                          </a:solidFill>
                          <a:latin typeface="Arial"/>
                          <a:ea typeface="Arial"/>
                          <a:cs typeface="Arial"/>
                        </a:rPr>
                        <a:t>-Based Service-Oriented Architecture for Consent Management, Access Control, and Auditing</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2097835254"/>
                  </a:ext>
                </a:extLst>
              </a:tr>
              <a:tr h="192024">
                <a:tc>
                  <a:txBody>
                    <a:bodyPr/>
                    <a:lstStyle/>
                    <a:p>
                      <a:pPr algn="ctr">
                        <a:lnSpc>
                          <a:spcPct val="100000"/>
                        </a:lnSpc>
                        <a:buNone/>
                      </a:pPr>
                      <a:r>
                        <a:rPr sz="1000" b="0">
                          <a:solidFill>
                            <a:srgbClr val="24415C"/>
                          </a:solidFill>
                          <a:latin typeface="Arial"/>
                          <a:ea typeface="Arial"/>
                          <a:cs typeface="Arial"/>
                        </a:rPr>
                        <a:t>S18</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Hema et al. (2026)</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Patient Centric Cryptographic Protection of Cloud Electronic Health Records</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185976374"/>
                  </a:ext>
                </a:extLst>
              </a:tr>
              <a:tr h="192024">
                <a:tc>
                  <a:txBody>
                    <a:bodyPr/>
                    <a:lstStyle/>
                    <a:p>
                      <a:pPr algn="ctr">
                        <a:lnSpc>
                          <a:spcPct val="100000"/>
                        </a:lnSpc>
                        <a:buNone/>
                      </a:pPr>
                      <a:r>
                        <a:rPr sz="1000" b="0">
                          <a:solidFill>
                            <a:srgbClr val="24415C"/>
                          </a:solidFill>
                          <a:latin typeface="Arial"/>
                          <a:ea typeface="Arial"/>
                          <a:cs typeface="Arial"/>
                        </a:rPr>
                        <a:t>S19</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SooHoo et al. (2026)</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Development of the authentication and authorization processes for the iAgree portal, a platform for patient-controlled data sharing across health systems</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2270074840"/>
                  </a:ext>
                </a:extLst>
              </a:tr>
              <a:tr h="192024">
                <a:tc>
                  <a:txBody>
                    <a:bodyPr/>
                    <a:lstStyle/>
                    <a:p>
                      <a:pPr algn="ctr">
                        <a:lnSpc>
                          <a:spcPct val="100000"/>
                        </a:lnSpc>
                        <a:buNone/>
                      </a:pPr>
                      <a:r>
                        <a:rPr sz="1000" b="0">
                          <a:solidFill>
                            <a:srgbClr val="24415C"/>
                          </a:solidFill>
                          <a:latin typeface="Arial"/>
                          <a:ea typeface="Arial"/>
                          <a:cs typeface="Arial"/>
                        </a:rPr>
                        <a:t>S20</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Tan et al. (2024)</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Secure and privacy-preserving sharing of personal health records with multi-party pre-authorization verification</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627001809"/>
                  </a:ext>
                </a:extLst>
              </a:tr>
              <a:tr h="192024">
                <a:tc>
                  <a:txBody>
                    <a:bodyPr/>
                    <a:lstStyle/>
                    <a:p>
                      <a:pPr algn="ctr">
                        <a:lnSpc>
                          <a:spcPct val="100000"/>
                        </a:lnSpc>
                        <a:buNone/>
                      </a:pPr>
                      <a:r>
                        <a:rPr sz="1000" b="0">
                          <a:solidFill>
                            <a:srgbClr val="24415C"/>
                          </a:solidFill>
                          <a:latin typeface="Arial"/>
                          <a:ea typeface="Arial"/>
                          <a:cs typeface="Arial"/>
                        </a:rPr>
                        <a:t>S21</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Tith et al. (2020)</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Patient consent management by a purpose-based consent model for electronic health record based on </a:t>
                      </a:r>
                      <a:r>
                        <a:rPr lang="en-AU" sz="1000" b="0" dirty="0">
                          <a:solidFill>
                            <a:srgbClr val="24415C"/>
                          </a:solidFill>
                          <a:highlight>
                            <a:srgbClr val="FFFF00"/>
                          </a:highlight>
                          <a:latin typeface="Arial"/>
                          <a:ea typeface="Arial"/>
                          <a:cs typeface="Arial"/>
                        </a:rPr>
                        <a:t>blockchain</a:t>
                      </a:r>
                      <a:r>
                        <a:rPr lang="en-AU" sz="1000" b="0" dirty="0">
                          <a:solidFill>
                            <a:srgbClr val="24415C"/>
                          </a:solidFill>
                          <a:latin typeface="Arial"/>
                          <a:ea typeface="Arial"/>
                          <a:cs typeface="Arial"/>
                        </a:rPr>
                        <a:t> technology</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2939404043"/>
                  </a:ext>
                </a:extLst>
              </a:tr>
              <a:tr h="192024">
                <a:tc>
                  <a:txBody>
                    <a:bodyPr/>
                    <a:lstStyle/>
                    <a:p>
                      <a:pPr algn="ctr">
                        <a:lnSpc>
                          <a:spcPct val="100000"/>
                        </a:lnSpc>
                        <a:buNone/>
                      </a:pPr>
                      <a:r>
                        <a:rPr sz="1000" b="0">
                          <a:solidFill>
                            <a:srgbClr val="24415C"/>
                          </a:solidFill>
                          <a:latin typeface="Arial"/>
                          <a:ea typeface="Arial"/>
                          <a:cs typeface="Arial"/>
                        </a:rPr>
                        <a:t>S22</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Tremper et al. (2026)</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Mainzelliste: Ten years of pseudonymization, record linkage, and informed consent management</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458194092"/>
                  </a:ext>
                </a:extLst>
              </a:tr>
              <a:tr h="192024">
                <a:tc>
                  <a:txBody>
                    <a:bodyPr/>
                    <a:lstStyle/>
                    <a:p>
                      <a:pPr algn="ctr">
                        <a:lnSpc>
                          <a:spcPct val="100000"/>
                        </a:lnSpc>
                        <a:buNone/>
                      </a:pPr>
                      <a:r>
                        <a:rPr sz="1000" b="0">
                          <a:solidFill>
                            <a:srgbClr val="24415C"/>
                          </a:solidFill>
                          <a:latin typeface="Arial"/>
                          <a:ea typeface="Arial"/>
                          <a:cs typeface="Arial"/>
                        </a:rPr>
                        <a:t>S23</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Tseng et al. (2025)</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highlight>
                            <a:srgbClr val="FFFF00"/>
                          </a:highlight>
                          <a:latin typeface="Arial"/>
                          <a:ea typeface="Arial"/>
                          <a:cs typeface="Arial"/>
                        </a:rPr>
                        <a:t>EMR-Chain</a:t>
                      </a:r>
                      <a:r>
                        <a:rPr lang="en-AU" sz="1000" b="0" dirty="0">
                          <a:solidFill>
                            <a:srgbClr val="24415C"/>
                          </a:solidFill>
                          <a:latin typeface="Arial"/>
                          <a:ea typeface="Arial"/>
                          <a:cs typeface="Arial"/>
                        </a:rPr>
                        <a:t>: Decentralized Electronic Medical Record Exchange System</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3119557954"/>
                  </a:ext>
                </a:extLst>
              </a:tr>
              <a:tr h="192024">
                <a:tc>
                  <a:txBody>
                    <a:bodyPr/>
                    <a:lstStyle/>
                    <a:p>
                      <a:pPr algn="ctr">
                        <a:lnSpc>
                          <a:spcPct val="100000"/>
                        </a:lnSpc>
                        <a:buNone/>
                      </a:pPr>
                      <a:r>
                        <a:rPr sz="1000" b="0">
                          <a:solidFill>
                            <a:srgbClr val="24415C"/>
                          </a:solidFill>
                          <a:latin typeface="Arial"/>
                          <a:ea typeface="Arial"/>
                          <a:cs typeface="Arial"/>
                        </a:rPr>
                        <a:t>S24</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000" b="0">
                          <a:solidFill>
                            <a:srgbClr val="24415C"/>
                          </a:solidFill>
                          <a:latin typeface="Arial"/>
                          <a:ea typeface="Arial"/>
                          <a:cs typeface="Arial"/>
                        </a:rPr>
                        <a:t>Wu et al. (2022)</a:t>
                      </a: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l">
                        <a:lnSpc>
                          <a:spcPct val="100000"/>
                        </a:lnSpc>
                        <a:buNone/>
                      </a:pPr>
                      <a:r>
                        <a:rPr lang="en-AU" sz="1000" b="0" dirty="0">
                          <a:solidFill>
                            <a:srgbClr val="24415C"/>
                          </a:solidFill>
                          <a:latin typeface="Arial"/>
                          <a:ea typeface="Arial"/>
                          <a:cs typeface="Arial"/>
                        </a:rPr>
                        <a:t>Apply Trust Computing and Privacy Preserving Smart Contracts to Manage, Share, and Analyze Multi-site Clinical Trial Data</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298307672"/>
                  </a:ext>
                </a:extLst>
              </a:tr>
              <a:tr h="192024">
                <a:tc>
                  <a:txBody>
                    <a:bodyPr/>
                    <a:lstStyle/>
                    <a:p>
                      <a:pPr algn="ctr">
                        <a:lnSpc>
                          <a:spcPct val="100000"/>
                        </a:lnSpc>
                        <a:buNone/>
                      </a:pPr>
                      <a:r>
                        <a:rPr sz="1000" b="0">
                          <a:solidFill>
                            <a:srgbClr val="24415C"/>
                          </a:solidFill>
                          <a:latin typeface="Arial"/>
                          <a:ea typeface="Arial"/>
                          <a:cs typeface="Arial"/>
                        </a:rPr>
                        <a:t>S25</a:t>
                      </a:r>
                    </a:p>
                  </a:txBody>
                  <a:tcPr marL="50800" marR="50800" marT="6350" marB="635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lang="en-AU" sz="1000" b="0" dirty="0">
                          <a:solidFill>
                            <a:srgbClr val="24415C"/>
                          </a:solidFill>
                          <a:latin typeface="Arial"/>
                          <a:ea typeface="Arial"/>
                          <a:cs typeface="Arial"/>
                        </a:rPr>
                        <a:t>Wu and Zhang (2025)</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l">
                        <a:lnSpc>
                          <a:spcPct val="100000"/>
                        </a:lnSpc>
                        <a:buNone/>
                      </a:pPr>
                      <a:r>
                        <a:rPr lang="en-AU" sz="1000" b="0" dirty="0">
                          <a:solidFill>
                            <a:srgbClr val="24415C"/>
                          </a:solidFill>
                          <a:latin typeface="Arial"/>
                          <a:ea typeface="Arial"/>
                          <a:cs typeface="Arial"/>
                        </a:rPr>
                        <a:t>HealthDID: An efficient and authorizable multi-party privacy-preserving EMR sharing system based on DID</a:t>
                      </a:r>
                      <a:endParaRPr sz="1500" b="0" dirty="0">
                        <a:solidFill>
                          <a:srgbClr val="56718B"/>
                        </a:solidFill>
                        <a:latin typeface="Arial"/>
                        <a:ea typeface="Arial"/>
                        <a:cs typeface="Arial"/>
                      </a:endParaRPr>
                    </a:p>
                  </a:txBody>
                  <a:tcPr marL="50800" marR="50800" marT="6350" marB="635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802922229"/>
                  </a:ext>
                </a:extLst>
              </a:tr>
            </a:tbl>
          </a:graphicData>
        </a:graphic>
      </p:graphicFrame>
    </p:spTree>
    <p:extLst>
      <p:ext uri="{BB962C8B-B14F-4D97-AF65-F5344CB8AC3E}">
        <p14:creationId xmlns:p14="http://schemas.microsoft.com/office/powerpoint/2010/main" val="4158156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headline">
            <a:extLst>
              <a:ext uri="{FF2B5EF4-FFF2-40B4-BE49-F238E27FC236}">
                <a16:creationId xmlns:a16="http://schemas.microsoft.com/office/drawing/2014/main" id="{EAA49FCD-6474-4965-8487-91E512158047}"/>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l">
              <a:lnSpc>
                <a:spcPct val="106000"/>
              </a:lnSpc>
              <a:buNone/>
              <a:defRPr sz="2700" b="1">
                <a:solidFill>
                  <a:srgbClr val="103B64"/>
                </a:solidFill>
                <a:latin typeface="Arial"/>
                <a:ea typeface="Arial"/>
                <a:cs typeface="Arial"/>
              </a:defRPr>
            </a:pPr>
            <a:r>
              <a:rPr sz="2700" b="1" dirty="0">
                <a:solidFill>
                  <a:srgbClr val="103B64"/>
                </a:solidFill>
                <a:latin typeface="Arial"/>
                <a:ea typeface="Arial"/>
                <a:cs typeface="Arial"/>
              </a:rPr>
              <a:t>STUDY COMPARISON: S1–S13</a:t>
            </a:r>
          </a:p>
        </p:txBody>
      </p:sp>
      <p:sp>
        <p:nvSpPr>
          <p:cNvPr id="2" name="Rectangle 1">
            <a:extLst>
              <a:ext uri="{FF2B5EF4-FFF2-40B4-BE49-F238E27FC236}">
                <a16:creationId xmlns:a16="http://schemas.microsoft.com/office/drawing/2014/main" id="{ACEE08DE-4D7D-48D1-B007-0EAB14464BBC}"/>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5" name="page-number">
            <a:extLst>
              <a:ext uri="{FF2B5EF4-FFF2-40B4-BE49-F238E27FC236}">
                <a16:creationId xmlns:a16="http://schemas.microsoft.com/office/drawing/2014/main" id="{3D6C3840-BA05-48F8-B96C-AC509D9018B9}"/>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11</a:t>
            </a:r>
          </a:p>
        </p:txBody>
      </p:sp>
      <p:graphicFrame>
        <p:nvGraphicFramePr>
          <p:cNvPr id="6" name="Table 5">
            <a:extLst>
              <a:ext uri="{FF2B5EF4-FFF2-40B4-BE49-F238E27FC236}">
                <a16:creationId xmlns:a16="http://schemas.microsoft.com/office/drawing/2014/main" id="{16758AE8-EE98-4146-B748-D7A6A2A828D3}"/>
              </a:ext>
            </a:extLst>
          </p:cNvPr>
          <p:cNvGraphicFramePr/>
          <p:nvPr>
            <p:extLst>
              <p:ext uri="{D42A27DB-BD31-4B8C-83A1-F6EECF244321}">
                <p14:modId xmlns:p14="http://schemas.microsoft.com/office/powerpoint/2010/main" val="3671327951"/>
              </p:ext>
            </p:extLst>
          </p:nvPr>
        </p:nvGraphicFramePr>
        <p:xfrm>
          <a:off x="590550" y="1504950"/>
          <a:ext cx="11010900" cy="4533900"/>
        </p:xfrm>
        <a:graphic>
          <a:graphicData uri="http://schemas.openxmlformats.org/drawingml/2006/table">
            <a:tbl>
              <a:tblPr>
                <a:tableStyleId>{5C22544A-7EE6-4342-B048-85BDC9FD1C3A}</a:tableStyleId>
              </a:tblPr>
              <a:tblGrid>
                <a:gridCol w="3752850">
                  <a:extLst>
                    <a:ext uri="{9D8B030D-6E8A-4147-A177-3AD203B41FA5}">
                      <a16:colId xmlns:a16="http://schemas.microsoft.com/office/drawing/2014/main" val="20000"/>
                    </a:ext>
                  </a:extLst>
                </a:gridCol>
                <a:gridCol w="1209675">
                  <a:extLst>
                    <a:ext uri="{9D8B030D-6E8A-4147-A177-3AD203B41FA5}">
                      <a16:colId xmlns:a16="http://schemas.microsoft.com/office/drawing/2014/main" val="20001"/>
                    </a:ext>
                  </a:extLst>
                </a:gridCol>
                <a:gridCol w="1209675">
                  <a:extLst>
                    <a:ext uri="{9D8B030D-6E8A-4147-A177-3AD203B41FA5}">
                      <a16:colId xmlns:a16="http://schemas.microsoft.com/office/drawing/2014/main" val="20002"/>
                    </a:ext>
                  </a:extLst>
                </a:gridCol>
                <a:gridCol w="1209675">
                  <a:extLst>
                    <a:ext uri="{9D8B030D-6E8A-4147-A177-3AD203B41FA5}">
                      <a16:colId xmlns:a16="http://schemas.microsoft.com/office/drawing/2014/main" val="20003"/>
                    </a:ext>
                  </a:extLst>
                </a:gridCol>
                <a:gridCol w="1209675">
                  <a:extLst>
                    <a:ext uri="{9D8B030D-6E8A-4147-A177-3AD203B41FA5}">
                      <a16:colId xmlns:a16="http://schemas.microsoft.com/office/drawing/2014/main" val="20004"/>
                    </a:ext>
                  </a:extLst>
                </a:gridCol>
                <a:gridCol w="1209675">
                  <a:extLst>
                    <a:ext uri="{9D8B030D-6E8A-4147-A177-3AD203B41FA5}">
                      <a16:colId xmlns:a16="http://schemas.microsoft.com/office/drawing/2014/main" val="20005"/>
                    </a:ext>
                  </a:extLst>
                </a:gridCol>
                <a:gridCol w="1209675">
                  <a:extLst>
                    <a:ext uri="{9D8B030D-6E8A-4147-A177-3AD203B41FA5}">
                      <a16:colId xmlns:a16="http://schemas.microsoft.com/office/drawing/2014/main" val="20006"/>
                    </a:ext>
                  </a:extLst>
                </a:gridCol>
              </a:tblGrid>
              <a:tr h="323850">
                <a:tc>
                  <a:txBody>
                    <a:bodyPr/>
                    <a:lstStyle/>
                    <a:p>
                      <a:pPr algn="l">
                        <a:lnSpc>
                          <a:spcPct val="100000"/>
                        </a:lnSpc>
                        <a:buNone/>
                      </a:pPr>
                      <a:r>
                        <a:rPr sz="1500" b="1">
                          <a:solidFill>
                            <a:srgbClr val="FFFFFF"/>
                          </a:solidFill>
                          <a:latin typeface="Arial"/>
                          <a:ea typeface="Arial"/>
                          <a:cs typeface="Arial"/>
                        </a:rPr>
                        <a:t>Study</a:t>
                      </a:r>
                    </a:p>
                  </a:txBody>
                  <a:tcPr marL="76200" marR="76200" marT="38100" marB="38100" anchor="ctr">
                    <a:lnL w="6668">
                      <a:solidFill>
                        <a:srgbClr val="DCE9F4"/>
                      </a:solidFill>
                      <a:prstDash val="soli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1</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2</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3</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4</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5</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6</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extLst>
                  <a:ext uri="{0D108BD9-81ED-4DB2-BD59-A6C34878D82A}">
                    <a16:rowId xmlns:a16="http://schemas.microsoft.com/office/drawing/2014/main" val="10000"/>
                  </a:ext>
                </a:extLst>
              </a:tr>
              <a:tr h="323850">
                <a:tc>
                  <a:txBody>
                    <a:bodyPr/>
                    <a:lstStyle/>
                    <a:p>
                      <a:pPr algn="l">
                        <a:lnSpc>
                          <a:spcPct val="100000"/>
                        </a:lnSpc>
                        <a:buNone/>
                      </a:pPr>
                      <a:r>
                        <a:rPr sz="1500" b="0">
                          <a:solidFill>
                            <a:srgbClr val="24415C"/>
                          </a:solidFill>
                          <a:latin typeface="Arial"/>
                          <a:ea typeface="Arial"/>
                          <a:cs typeface="Arial"/>
                        </a:rPr>
                        <a:t>S1 Abbasi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1"/>
                  </a:ext>
                </a:extLst>
              </a:tr>
              <a:tr h="323850">
                <a:tc>
                  <a:txBody>
                    <a:bodyPr/>
                    <a:lstStyle/>
                    <a:p>
                      <a:pPr algn="l">
                        <a:lnSpc>
                          <a:spcPct val="100000"/>
                        </a:lnSpc>
                        <a:buNone/>
                      </a:pPr>
                      <a:r>
                        <a:rPr sz="1500" b="0">
                          <a:solidFill>
                            <a:srgbClr val="24415C"/>
                          </a:solidFill>
                          <a:latin typeface="Arial"/>
                          <a:ea typeface="Arial"/>
                          <a:cs typeface="Arial"/>
                        </a:rPr>
                        <a:t>S2 Albalwy et al. (2021)</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02"/>
                  </a:ext>
                </a:extLst>
              </a:tr>
              <a:tr h="323850">
                <a:tc>
                  <a:txBody>
                    <a:bodyPr/>
                    <a:lstStyle/>
                    <a:p>
                      <a:pPr algn="l">
                        <a:lnSpc>
                          <a:spcPct val="100000"/>
                        </a:lnSpc>
                        <a:buNone/>
                      </a:pPr>
                      <a:r>
                        <a:rPr sz="1500" b="0">
                          <a:solidFill>
                            <a:srgbClr val="24415C"/>
                          </a:solidFill>
                          <a:latin typeface="Arial"/>
                          <a:ea typeface="Arial"/>
                          <a:cs typeface="Arial"/>
                        </a:rPr>
                        <a:t>S3 Al Amin et al. (2023)</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3"/>
                  </a:ext>
                </a:extLst>
              </a:tr>
              <a:tr h="323850">
                <a:tc>
                  <a:txBody>
                    <a:bodyPr/>
                    <a:lstStyle/>
                    <a:p>
                      <a:pPr algn="l">
                        <a:lnSpc>
                          <a:spcPct val="100000"/>
                        </a:lnSpc>
                        <a:buNone/>
                      </a:pPr>
                      <a:r>
                        <a:rPr sz="1500" b="0">
                          <a:solidFill>
                            <a:srgbClr val="24415C"/>
                          </a:solidFill>
                          <a:latin typeface="Arial"/>
                          <a:ea typeface="Arial"/>
                          <a:cs typeface="Arial"/>
                        </a:rPr>
                        <a:t>S4 Ekholm et al. (2025)</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4"/>
                  </a:ext>
                </a:extLst>
              </a:tr>
              <a:tr h="323850">
                <a:tc>
                  <a:txBody>
                    <a:bodyPr/>
                    <a:lstStyle/>
                    <a:p>
                      <a:pPr algn="l">
                        <a:lnSpc>
                          <a:spcPct val="100000"/>
                        </a:lnSpc>
                        <a:buNone/>
                      </a:pPr>
                      <a:r>
                        <a:rPr sz="1500" b="0">
                          <a:solidFill>
                            <a:srgbClr val="24415C"/>
                          </a:solidFill>
                          <a:latin typeface="Arial"/>
                          <a:ea typeface="Arial"/>
                          <a:cs typeface="Arial"/>
                        </a:rPr>
                        <a:t>S5 Eneh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5"/>
                  </a:ext>
                </a:extLst>
              </a:tr>
              <a:tr h="323850">
                <a:tc>
                  <a:txBody>
                    <a:bodyPr/>
                    <a:lstStyle/>
                    <a:p>
                      <a:pPr algn="l">
                        <a:lnSpc>
                          <a:spcPct val="100000"/>
                        </a:lnSpc>
                        <a:buNone/>
                      </a:pPr>
                      <a:r>
                        <a:rPr sz="1500" b="0">
                          <a:solidFill>
                            <a:srgbClr val="24415C"/>
                          </a:solidFill>
                          <a:latin typeface="Arial"/>
                          <a:ea typeface="Arial"/>
                          <a:cs typeface="Arial"/>
                        </a:rPr>
                        <a:t>S6 Hagström et al. (2024)</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06"/>
                  </a:ext>
                </a:extLst>
              </a:tr>
              <a:tr h="323850">
                <a:tc>
                  <a:txBody>
                    <a:bodyPr/>
                    <a:lstStyle/>
                    <a:p>
                      <a:pPr algn="l">
                        <a:lnSpc>
                          <a:spcPct val="100000"/>
                        </a:lnSpc>
                        <a:buNone/>
                      </a:pPr>
                      <a:r>
                        <a:rPr sz="1500" b="0">
                          <a:solidFill>
                            <a:srgbClr val="24415C"/>
                          </a:solidFill>
                          <a:latin typeface="Arial"/>
                          <a:ea typeface="Arial"/>
                          <a:cs typeface="Arial"/>
                        </a:rPr>
                        <a:t>S7 Jaiman and Urovi (2020)</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07"/>
                  </a:ext>
                </a:extLst>
              </a:tr>
              <a:tr h="323850">
                <a:tc>
                  <a:txBody>
                    <a:bodyPr/>
                    <a:lstStyle/>
                    <a:p>
                      <a:pPr algn="l">
                        <a:lnSpc>
                          <a:spcPct val="100000"/>
                        </a:lnSpc>
                        <a:buNone/>
                      </a:pPr>
                      <a:r>
                        <a:rPr sz="1500" b="0">
                          <a:solidFill>
                            <a:srgbClr val="24415C"/>
                          </a:solidFill>
                          <a:latin typeface="Arial"/>
                          <a:ea typeface="Arial"/>
                          <a:cs typeface="Arial"/>
                        </a:rPr>
                        <a:t>S8 Zhao and Su (2024)</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08"/>
                  </a:ext>
                </a:extLst>
              </a:tr>
              <a:tr h="323850">
                <a:tc>
                  <a:txBody>
                    <a:bodyPr/>
                    <a:lstStyle/>
                    <a:p>
                      <a:pPr algn="l">
                        <a:lnSpc>
                          <a:spcPct val="100000"/>
                        </a:lnSpc>
                        <a:buNone/>
                      </a:pPr>
                      <a:r>
                        <a:rPr sz="1500" b="0">
                          <a:solidFill>
                            <a:srgbClr val="24415C"/>
                          </a:solidFill>
                          <a:latin typeface="Arial"/>
                          <a:ea typeface="Arial"/>
                          <a:cs typeface="Arial"/>
                        </a:rPr>
                        <a:t>S9 Li et al. (2026a)</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9"/>
                  </a:ext>
                </a:extLst>
              </a:tr>
              <a:tr h="323850">
                <a:tc>
                  <a:txBody>
                    <a:bodyPr/>
                    <a:lstStyle/>
                    <a:p>
                      <a:pPr algn="l">
                        <a:lnSpc>
                          <a:spcPct val="100000"/>
                        </a:lnSpc>
                        <a:buNone/>
                      </a:pPr>
                      <a:r>
                        <a:rPr sz="1500" b="0">
                          <a:solidFill>
                            <a:srgbClr val="24415C"/>
                          </a:solidFill>
                          <a:latin typeface="Arial"/>
                          <a:ea typeface="Arial"/>
                          <a:cs typeface="Arial"/>
                        </a:rPr>
                        <a:t>S10 Madine et al. (2020)</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10"/>
                  </a:ext>
                </a:extLst>
              </a:tr>
              <a:tr h="323850">
                <a:tc>
                  <a:txBody>
                    <a:bodyPr/>
                    <a:lstStyle/>
                    <a:p>
                      <a:pPr algn="l">
                        <a:lnSpc>
                          <a:spcPct val="100000"/>
                        </a:lnSpc>
                        <a:buNone/>
                      </a:pPr>
                      <a:r>
                        <a:rPr sz="1500" b="0">
                          <a:solidFill>
                            <a:srgbClr val="24415C"/>
                          </a:solidFill>
                          <a:latin typeface="Arial"/>
                          <a:ea typeface="Arial"/>
                          <a:cs typeface="Arial"/>
                        </a:rPr>
                        <a:t>S11 Maruthi and Singh (2025)</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11"/>
                  </a:ext>
                </a:extLst>
              </a:tr>
              <a:tr h="323850">
                <a:tc>
                  <a:txBody>
                    <a:bodyPr/>
                    <a:lstStyle/>
                    <a:p>
                      <a:pPr algn="l">
                        <a:lnSpc>
                          <a:spcPct val="100000"/>
                        </a:lnSpc>
                        <a:buNone/>
                      </a:pPr>
                      <a:r>
                        <a:rPr sz="1500" b="0">
                          <a:solidFill>
                            <a:srgbClr val="24415C"/>
                          </a:solidFill>
                          <a:latin typeface="Arial"/>
                          <a:ea typeface="Arial"/>
                          <a:cs typeface="Arial"/>
                        </a:rPr>
                        <a:t>S12 Mei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12"/>
                  </a:ext>
                </a:extLst>
              </a:tr>
              <a:tr h="323850">
                <a:tc>
                  <a:txBody>
                    <a:bodyPr/>
                    <a:lstStyle/>
                    <a:p>
                      <a:pPr algn="l">
                        <a:lnSpc>
                          <a:spcPct val="100000"/>
                        </a:lnSpc>
                        <a:buNone/>
                      </a:pPr>
                      <a:r>
                        <a:rPr sz="1500" b="0">
                          <a:solidFill>
                            <a:srgbClr val="24415C"/>
                          </a:solidFill>
                          <a:latin typeface="Arial"/>
                          <a:ea typeface="Arial"/>
                          <a:cs typeface="Arial"/>
                        </a:rPr>
                        <a:t>S13 Panagoulias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dirty="0">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131209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headline">
            <a:extLst>
              <a:ext uri="{FF2B5EF4-FFF2-40B4-BE49-F238E27FC236}">
                <a16:creationId xmlns:a16="http://schemas.microsoft.com/office/drawing/2014/main" id="{AA511421-C2D7-4DAB-B54A-F8F48F5EACA4}"/>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l">
              <a:lnSpc>
                <a:spcPct val="106000"/>
              </a:lnSpc>
              <a:buNone/>
              <a:defRPr sz="2700" b="1">
                <a:solidFill>
                  <a:srgbClr val="103B64"/>
                </a:solidFill>
                <a:latin typeface="Arial"/>
                <a:ea typeface="Arial"/>
                <a:cs typeface="Arial"/>
              </a:defRPr>
            </a:pPr>
            <a:r>
              <a:rPr sz="2700" b="1">
                <a:solidFill>
                  <a:srgbClr val="103B64"/>
                </a:solidFill>
                <a:latin typeface="Arial"/>
                <a:ea typeface="Arial"/>
                <a:cs typeface="Arial"/>
              </a:rPr>
              <a:t>STUDY COMPARISON: S14–S25</a:t>
            </a:r>
          </a:p>
        </p:txBody>
      </p:sp>
      <p:sp>
        <p:nvSpPr>
          <p:cNvPr id="2" name="Rectangle 1">
            <a:extLst>
              <a:ext uri="{FF2B5EF4-FFF2-40B4-BE49-F238E27FC236}">
                <a16:creationId xmlns:a16="http://schemas.microsoft.com/office/drawing/2014/main" id="{A28DCFC6-31A9-4DCA-A70D-F8A51ADDCE00}"/>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5" name="page-number">
            <a:extLst>
              <a:ext uri="{FF2B5EF4-FFF2-40B4-BE49-F238E27FC236}">
                <a16:creationId xmlns:a16="http://schemas.microsoft.com/office/drawing/2014/main" id="{96C21CB9-8A5F-402E-8B04-538D1272CDDA}"/>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12</a:t>
            </a:r>
          </a:p>
        </p:txBody>
      </p:sp>
      <p:graphicFrame>
        <p:nvGraphicFramePr>
          <p:cNvPr id="6" name="Table 5">
            <a:extLst>
              <a:ext uri="{FF2B5EF4-FFF2-40B4-BE49-F238E27FC236}">
                <a16:creationId xmlns:a16="http://schemas.microsoft.com/office/drawing/2014/main" id="{6F239629-C9A4-46DC-B36D-8A6DCDED3378}"/>
              </a:ext>
            </a:extLst>
          </p:cNvPr>
          <p:cNvGraphicFramePr/>
          <p:nvPr>
            <p:extLst>
              <p:ext uri="{D42A27DB-BD31-4B8C-83A1-F6EECF244321}">
                <p14:modId xmlns:p14="http://schemas.microsoft.com/office/powerpoint/2010/main" val="2961296834"/>
              </p:ext>
            </p:extLst>
          </p:nvPr>
        </p:nvGraphicFramePr>
        <p:xfrm>
          <a:off x="590550" y="1504950"/>
          <a:ext cx="11010900" cy="4267198"/>
        </p:xfrm>
        <a:graphic>
          <a:graphicData uri="http://schemas.openxmlformats.org/drawingml/2006/table">
            <a:tbl>
              <a:tblPr>
                <a:tableStyleId>{5C22544A-7EE6-4342-B048-85BDC9FD1C3A}</a:tableStyleId>
              </a:tblPr>
              <a:tblGrid>
                <a:gridCol w="3752850">
                  <a:extLst>
                    <a:ext uri="{9D8B030D-6E8A-4147-A177-3AD203B41FA5}">
                      <a16:colId xmlns:a16="http://schemas.microsoft.com/office/drawing/2014/main" val="20000"/>
                    </a:ext>
                  </a:extLst>
                </a:gridCol>
                <a:gridCol w="1209675">
                  <a:extLst>
                    <a:ext uri="{9D8B030D-6E8A-4147-A177-3AD203B41FA5}">
                      <a16:colId xmlns:a16="http://schemas.microsoft.com/office/drawing/2014/main" val="20001"/>
                    </a:ext>
                  </a:extLst>
                </a:gridCol>
                <a:gridCol w="1209675">
                  <a:extLst>
                    <a:ext uri="{9D8B030D-6E8A-4147-A177-3AD203B41FA5}">
                      <a16:colId xmlns:a16="http://schemas.microsoft.com/office/drawing/2014/main" val="20002"/>
                    </a:ext>
                  </a:extLst>
                </a:gridCol>
                <a:gridCol w="1209675">
                  <a:extLst>
                    <a:ext uri="{9D8B030D-6E8A-4147-A177-3AD203B41FA5}">
                      <a16:colId xmlns:a16="http://schemas.microsoft.com/office/drawing/2014/main" val="20003"/>
                    </a:ext>
                  </a:extLst>
                </a:gridCol>
                <a:gridCol w="1209675">
                  <a:extLst>
                    <a:ext uri="{9D8B030D-6E8A-4147-A177-3AD203B41FA5}">
                      <a16:colId xmlns:a16="http://schemas.microsoft.com/office/drawing/2014/main" val="20004"/>
                    </a:ext>
                  </a:extLst>
                </a:gridCol>
                <a:gridCol w="1209675">
                  <a:extLst>
                    <a:ext uri="{9D8B030D-6E8A-4147-A177-3AD203B41FA5}">
                      <a16:colId xmlns:a16="http://schemas.microsoft.com/office/drawing/2014/main" val="20005"/>
                    </a:ext>
                  </a:extLst>
                </a:gridCol>
                <a:gridCol w="1209675">
                  <a:extLst>
                    <a:ext uri="{9D8B030D-6E8A-4147-A177-3AD203B41FA5}">
                      <a16:colId xmlns:a16="http://schemas.microsoft.com/office/drawing/2014/main" val="20006"/>
                    </a:ext>
                  </a:extLst>
                </a:gridCol>
              </a:tblGrid>
              <a:tr h="328246">
                <a:tc>
                  <a:txBody>
                    <a:bodyPr/>
                    <a:lstStyle/>
                    <a:p>
                      <a:pPr algn="l">
                        <a:lnSpc>
                          <a:spcPct val="100000"/>
                        </a:lnSpc>
                        <a:buNone/>
                      </a:pPr>
                      <a:r>
                        <a:rPr sz="1500" b="1">
                          <a:solidFill>
                            <a:srgbClr val="FFFFFF"/>
                          </a:solidFill>
                          <a:latin typeface="Arial"/>
                          <a:ea typeface="Arial"/>
                          <a:cs typeface="Arial"/>
                        </a:rPr>
                        <a:t>Study</a:t>
                      </a:r>
                    </a:p>
                  </a:txBody>
                  <a:tcPr marL="76200" marR="76200" marT="38100" marB="38100" anchor="ctr">
                    <a:lnL w="6668">
                      <a:solidFill>
                        <a:srgbClr val="DCE9F4"/>
                      </a:solidFill>
                      <a:prstDash val="soli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1</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2</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3</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4</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5</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6</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extLst>
                  <a:ext uri="{0D108BD9-81ED-4DB2-BD59-A6C34878D82A}">
                    <a16:rowId xmlns:a16="http://schemas.microsoft.com/office/drawing/2014/main" val="10000"/>
                  </a:ext>
                </a:extLst>
              </a:tr>
              <a:tr h="328246">
                <a:tc>
                  <a:txBody>
                    <a:bodyPr/>
                    <a:lstStyle/>
                    <a:p>
                      <a:pPr algn="l">
                        <a:lnSpc>
                          <a:spcPct val="100000"/>
                        </a:lnSpc>
                        <a:buNone/>
                      </a:pPr>
                      <a:r>
                        <a:rPr sz="1500" b="0">
                          <a:solidFill>
                            <a:srgbClr val="24415C"/>
                          </a:solidFill>
                          <a:latin typeface="Arial"/>
                          <a:ea typeface="Arial"/>
                          <a:cs typeface="Arial"/>
                        </a:rPr>
                        <a:t>S14 Phuyal et al. (2026b)</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01"/>
                  </a:ext>
                </a:extLst>
              </a:tr>
              <a:tr h="328246">
                <a:tc>
                  <a:txBody>
                    <a:bodyPr/>
                    <a:lstStyle/>
                    <a:p>
                      <a:pPr algn="l">
                        <a:lnSpc>
                          <a:spcPct val="100000"/>
                        </a:lnSpc>
                        <a:buNone/>
                      </a:pPr>
                      <a:r>
                        <a:rPr sz="1500" b="0">
                          <a:solidFill>
                            <a:srgbClr val="24415C"/>
                          </a:solidFill>
                          <a:latin typeface="Arial"/>
                          <a:ea typeface="Arial"/>
                          <a:cs typeface="Arial"/>
                        </a:rPr>
                        <a:t>S15 Phuyal et al. (2026a)</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lang="en-AU" sz="1500" b="0" dirty="0">
                          <a:solidFill>
                            <a:srgbClr val="24415C"/>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2"/>
                  </a:ext>
                </a:extLst>
              </a:tr>
              <a:tr h="328246">
                <a:tc>
                  <a:txBody>
                    <a:bodyPr/>
                    <a:lstStyle/>
                    <a:p>
                      <a:pPr algn="l">
                        <a:lnSpc>
                          <a:spcPct val="100000"/>
                        </a:lnSpc>
                        <a:buNone/>
                      </a:pPr>
                      <a:r>
                        <a:rPr sz="1500" b="0">
                          <a:solidFill>
                            <a:srgbClr val="24415C"/>
                          </a:solidFill>
                          <a:latin typeface="Arial"/>
                          <a:ea typeface="Arial"/>
                          <a:cs typeface="Arial"/>
                        </a:rPr>
                        <a:t>S16 Punia et al. (2025)</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24415C"/>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3"/>
                  </a:ext>
                </a:extLst>
              </a:tr>
              <a:tr h="328246">
                <a:tc>
                  <a:txBody>
                    <a:bodyPr/>
                    <a:lstStyle/>
                    <a:p>
                      <a:pPr algn="l">
                        <a:lnSpc>
                          <a:spcPct val="100000"/>
                        </a:lnSpc>
                        <a:buNone/>
                      </a:pPr>
                      <a:r>
                        <a:rPr sz="1500" b="0">
                          <a:solidFill>
                            <a:srgbClr val="24415C"/>
                          </a:solidFill>
                          <a:latin typeface="Arial"/>
                          <a:ea typeface="Arial"/>
                          <a:cs typeface="Arial"/>
                        </a:rPr>
                        <a:t>S17 Román-Martínez et al. (2023)</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4"/>
                  </a:ext>
                </a:extLst>
              </a:tr>
              <a:tr h="328246">
                <a:tc>
                  <a:txBody>
                    <a:bodyPr/>
                    <a:lstStyle/>
                    <a:p>
                      <a:pPr algn="l">
                        <a:lnSpc>
                          <a:spcPct val="100000"/>
                        </a:lnSpc>
                        <a:buNone/>
                      </a:pPr>
                      <a:r>
                        <a:rPr sz="1500" b="0">
                          <a:solidFill>
                            <a:srgbClr val="24415C"/>
                          </a:solidFill>
                          <a:latin typeface="Arial"/>
                          <a:ea typeface="Arial"/>
                          <a:cs typeface="Arial"/>
                        </a:rPr>
                        <a:t>S18 Hema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5"/>
                  </a:ext>
                </a:extLst>
              </a:tr>
              <a:tr h="328246">
                <a:tc>
                  <a:txBody>
                    <a:bodyPr/>
                    <a:lstStyle/>
                    <a:p>
                      <a:pPr algn="l">
                        <a:lnSpc>
                          <a:spcPct val="100000"/>
                        </a:lnSpc>
                        <a:buNone/>
                      </a:pPr>
                      <a:r>
                        <a:rPr sz="1500" b="0">
                          <a:solidFill>
                            <a:srgbClr val="24415C"/>
                          </a:solidFill>
                          <a:latin typeface="Arial"/>
                          <a:ea typeface="Arial"/>
                          <a:cs typeface="Arial"/>
                        </a:rPr>
                        <a:t>S19 SooHoo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6"/>
                  </a:ext>
                </a:extLst>
              </a:tr>
              <a:tr h="328246">
                <a:tc>
                  <a:txBody>
                    <a:bodyPr/>
                    <a:lstStyle/>
                    <a:p>
                      <a:pPr algn="l">
                        <a:lnSpc>
                          <a:spcPct val="100000"/>
                        </a:lnSpc>
                        <a:buNone/>
                      </a:pPr>
                      <a:r>
                        <a:rPr sz="1500" b="0">
                          <a:solidFill>
                            <a:srgbClr val="24415C"/>
                          </a:solidFill>
                          <a:latin typeface="Arial"/>
                          <a:ea typeface="Arial"/>
                          <a:cs typeface="Arial"/>
                        </a:rPr>
                        <a:t>S20 Tan et al. (2024)</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7"/>
                  </a:ext>
                </a:extLst>
              </a:tr>
              <a:tr h="328246">
                <a:tc>
                  <a:txBody>
                    <a:bodyPr/>
                    <a:lstStyle/>
                    <a:p>
                      <a:pPr algn="l">
                        <a:lnSpc>
                          <a:spcPct val="100000"/>
                        </a:lnSpc>
                        <a:buNone/>
                      </a:pPr>
                      <a:r>
                        <a:rPr sz="1500" b="0">
                          <a:solidFill>
                            <a:srgbClr val="24415C"/>
                          </a:solidFill>
                          <a:latin typeface="Arial"/>
                          <a:ea typeface="Arial"/>
                          <a:cs typeface="Arial"/>
                        </a:rPr>
                        <a:t>S21 Tith et al. (2020)</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8"/>
                  </a:ext>
                </a:extLst>
              </a:tr>
              <a:tr h="328246">
                <a:tc>
                  <a:txBody>
                    <a:bodyPr/>
                    <a:lstStyle/>
                    <a:p>
                      <a:pPr algn="l">
                        <a:lnSpc>
                          <a:spcPct val="100000"/>
                        </a:lnSpc>
                        <a:buNone/>
                      </a:pPr>
                      <a:r>
                        <a:rPr sz="1500" b="0">
                          <a:solidFill>
                            <a:srgbClr val="24415C"/>
                          </a:solidFill>
                          <a:latin typeface="Arial"/>
                          <a:ea typeface="Arial"/>
                          <a:cs typeface="Arial"/>
                        </a:rPr>
                        <a:t>S22 Tremper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9"/>
                  </a:ext>
                </a:extLst>
              </a:tr>
              <a:tr h="328246">
                <a:tc>
                  <a:txBody>
                    <a:bodyPr/>
                    <a:lstStyle/>
                    <a:p>
                      <a:pPr algn="l">
                        <a:lnSpc>
                          <a:spcPct val="100000"/>
                        </a:lnSpc>
                        <a:buNone/>
                      </a:pPr>
                      <a:r>
                        <a:rPr sz="1500" b="0">
                          <a:solidFill>
                            <a:srgbClr val="24415C"/>
                          </a:solidFill>
                          <a:latin typeface="Arial"/>
                          <a:ea typeface="Arial"/>
                          <a:cs typeface="Arial"/>
                        </a:rPr>
                        <a:t>S23 Tseng et al. (2025)</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10"/>
                  </a:ext>
                </a:extLst>
              </a:tr>
              <a:tr h="328246">
                <a:tc>
                  <a:txBody>
                    <a:bodyPr/>
                    <a:lstStyle/>
                    <a:p>
                      <a:pPr algn="l">
                        <a:lnSpc>
                          <a:spcPct val="100000"/>
                        </a:lnSpc>
                        <a:buNone/>
                      </a:pPr>
                      <a:r>
                        <a:rPr sz="1500" b="0">
                          <a:solidFill>
                            <a:srgbClr val="24415C"/>
                          </a:solidFill>
                          <a:latin typeface="Arial"/>
                          <a:ea typeface="Arial"/>
                          <a:cs typeface="Arial"/>
                        </a:rPr>
                        <a:t>S24 Wu et al. (2022)</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lang="en-AU" sz="1500" b="0" dirty="0">
                          <a:solidFill>
                            <a:srgbClr val="56718B"/>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11"/>
                  </a:ext>
                </a:extLst>
              </a:tr>
              <a:tr h="328246">
                <a:tc>
                  <a:txBody>
                    <a:bodyPr/>
                    <a:lstStyle/>
                    <a:p>
                      <a:pPr algn="l">
                        <a:lnSpc>
                          <a:spcPct val="100000"/>
                        </a:lnSpc>
                        <a:buNone/>
                      </a:pPr>
                      <a:r>
                        <a:rPr sz="1500" b="0">
                          <a:solidFill>
                            <a:srgbClr val="24415C"/>
                          </a:solidFill>
                          <a:latin typeface="Arial"/>
                          <a:ea typeface="Arial"/>
                          <a:cs typeface="Arial"/>
                        </a:rPr>
                        <a:t>S25 Wu and Zhang (2025)</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US" sz="1500" b="0" dirty="0">
                          <a:solidFill>
                            <a:srgbClr val="24415C"/>
                          </a:solidFill>
                          <a:latin typeface="Arial"/>
                          <a:ea typeface="Arial"/>
                          <a:cs typeface="Arial"/>
                        </a:rPr>
                        <a:t>NO</a:t>
                      </a:r>
                      <a:endParaRPr sz="1500" b="0" dirty="0">
                        <a:solidFill>
                          <a:srgbClr val="24415C"/>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dirty="0">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500754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RESEARCH GAP</a:t>
            </a:r>
            <a:endParaRPr lang="en-US" sz="3000" dirty="0"/>
          </a:p>
        </p:txBody>
      </p:sp>
      <p:sp>
        <p:nvSpPr>
          <p:cNvPr id="4" name="gap box"/>
          <p:cNvSpPr/>
          <p:nvPr/>
        </p:nvSpPr>
        <p:spPr>
          <a:xfrm>
            <a:off x="822960" y="1371600"/>
            <a:ext cx="10515600" cy="4572000"/>
          </a:xfrm>
          <a:prstGeom prst="roundRect">
            <a:avLst>
              <a:gd name="adj" fmla="val 2400"/>
            </a:avLst>
          </a:prstGeom>
          <a:solidFill>
            <a:srgbClr val="0B2A4A">
              <a:alpha val="85000"/>
            </a:srgbClr>
          </a:solidFill>
          <a:ln w="25400">
            <a:solidFill>
              <a:srgbClr val="1FB5D6"/>
            </a:solidFill>
            <a:prstDash val="solid"/>
          </a:ln>
        </p:spPr>
        <p:txBody>
          <a:bodyPr/>
          <a:lstStyle/>
          <a:p>
            <a:endParaRPr lang="en-AU"/>
          </a:p>
        </p:txBody>
      </p:sp>
      <p:sp>
        <p:nvSpPr>
          <p:cNvPr id="5" name="gap text"/>
          <p:cNvSpPr txBox="1"/>
          <p:nvPr/>
        </p:nvSpPr>
        <p:spPr>
          <a:xfrm>
            <a:off x="1188720" y="1554480"/>
            <a:ext cx="9784080" cy="4206240"/>
          </a:xfrm>
          <a:prstGeom prst="rect">
            <a:avLst/>
          </a:prstGeom>
          <a:noFill/>
          <a:ln/>
        </p:spPr>
        <p:txBody>
          <a:bodyPr wrap="square" rtlCol="0" anchor="ctr"/>
          <a:lstStyle/>
          <a:p>
            <a:pPr algn="ctr"/>
            <a:r>
              <a:rPr lang="en-US" sz="2800" i="1" dirty="0">
                <a:solidFill>
                  <a:srgbClr val="FFFFFF"/>
                </a:solidFill>
              </a:rPr>
              <a:t>Existing healthcare consent and access-control research provides many of the necessary technological building blocks. However, there is still a need for an integrated Trust Computing framework that treats patient consent as a verifiable </a:t>
            </a:r>
            <a:r>
              <a:rPr lang="en-US" sz="2800" i="1" dirty="0" err="1">
                <a:solidFill>
                  <a:srgbClr val="FFFFFF"/>
                </a:solidFill>
              </a:rPr>
              <a:t>authorisation</a:t>
            </a:r>
            <a:r>
              <a:rPr lang="en-US" sz="2800" i="1" dirty="0">
                <a:solidFill>
                  <a:srgbClr val="FFFFFF"/>
                </a:solidFill>
              </a:rPr>
              <a:t> object, verifies identity, trust, and authority, supports multi-party </a:t>
            </a:r>
            <a:r>
              <a:rPr lang="en-US" sz="2800" i="1" dirty="0" err="1">
                <a:solidFill>
                  <a:srgbClr val="FFFFFF"/>
                </a:solidFill>
              </a:rPr>
              <a:t>authorisation</a:t>
            </a:r>
            <a:r>
              <a:rPr lang="en-US" sz="2800" i="1" dirty="0">
                <a:solidFill>
                  <a:srgbClr val="FFFFFF"/>
                </a:solidFill>
              </a:rPr>
              <a:t>, and enforces access policies and data-scope restrictions.</a:t>
            </a:r>
            <a:endParaRPr lang="en-US" sz="28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390BC-FCFF-B076-DC7B-52BCE0B82E6F}"/>
              </a:ext>
            </a:extLst>
          </p:cNvPr>
          <p:cNvSpPr>
            <a:spLocks noGrp="1"/>
          </p:cNvSpPr>
          <p:nvPr>
            <p:ph type="title" idx="100"/>
          </p:nvPr>
        </p:nvSpPr>
        <p:spPr/>
        <p:txBody>
          <a:bodyPr/>
          <a:lstStyle/>
          <a:p>
            <a:r>
              <a:rPr lang="en-US" dirty="0"/>
              <a:t>MAIN RESEARCH QUESTION</a:t>
            </a:r>
            <a:endParaRPr lang="en-AU" dirty="0"/>
          </a:p>
        </p:txBody>
      </p:sp>
      <p:sp>
        <p:nvSpPr>
          <p:cNvPr id="7" name="rq box">
            <a:extLst>
              <a:ext uri="{FF2B5EF4-FFF2-40B4-BE49-F238E27FC236}">
                <a16:creationId xmlns:a16="http://schemas.microsoft.com/office/drawing/2014/main" id="{D7CDB2B0-CA62-B143-896E-D49C9A8F2F26}"/>
              </a:ext>
            </a:extLst>
          </p:cNvPr>
          <p:cNvSpPr/>
          <p:nvPr/>
        </p:nvSpPr>
        <p:spPr>
          <a:xfrm>
            <a:off x="640080" y="2766060"/>
            <a:ext cx="10698480" cy="1325880"/>
          </a:xfrm>
          <a:prstGeom prst="roundRect">
            <a:avLst>
              <a:gd name="adj" fmla="val 8276"/>
            </a:avLst>
          </a:prstGeom>
          <a:solidFill>
            <a:srgbClr val="0B2A4A">
              <a:alpha val="85000"/>
            </a:srgbClr>
          </a:solidFill>
          <a:ln w="25400">
            <a:solidFill>
              <a:srgbClr val="1FB5D6"/>
            </a:solidFill>
            <a:prstDash val="solid"/>
          </a:ln>
        </p:spPr>
        <p:txBody>
          <a:bodyPr/>
          <a:lstStyle/>
          <a:p>
            <a:pPr algn="ctr"/>
            <a:r>
              <a:rPr lang="en-US" sz="2400" i="1" dirty="0">
                <a:solidFill>
                  <a:srgbClr val="FFFFFF"/>
                </a:solidFill>
              </a:rPr>
              <a:t>How can a trust-oriented computing framework establish and enforce trustworthy multi-party consent for </a:t>
            </a:r>
            <a:r>
              <a:rPr lang="en-US" sz="2400" i="1" dirty="0" err="1">
                <a:solidFill>
                  <a:srgbClr val="FFFFFF"/>
                </a:solidFill>
              </a:rPr>
              <a:t>decentralised</a:t>
            </a:r>
            <a:r>
              <a:rPr lang="en-US" sz="2400" i="1" dirty="0">
                <a:solidFill>
                  <a:srgbClr val="FFFFFF"/>
                </a:solidFill>
              </a:rPr>
              <a:t> healthcare data sharing under identity, authority, and policy constraints?</a:t>
            </a:r>
            <a:endParaRPr lang="en-US" sz="2400" dirty="0"/>
          </a:p>
          <a:p>
            <a:pPr algn="ctr"/>
            <a:endParaRPr lang="en-AU" dirty="0"/>
          </a:p>
        </p:txBody>
      </p:sp>
    </p:spTree>
    <p:extLst>
      <p:ext uri="{BB962C8B-B14F-4D97-AF65-F5344CB8AC3E}">
        <p14:creationId xmlns:p14="http://schemas.microsoft.com/office/powerpoint/2010/main" val="2640977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SUB-RESEARCH QUESTIONS</a:t>
            </a:r>
            <a:endParaRPr lang="en-US" sz="3000" dirty="0"/>
          </a:p>
        </p:txBody>
      </p:sp>
      <p:sp>
        <p:nvSpPr>
          <p:cNvPr id="6" name="card RQ1"/>
          <p:cNvSpPr/>
          <p:nvPr/>
        </p:nvSpPr>
        <p:spPr>
          <a:xfrm>
            <a:off x="731520" y="1492134"/>
            <a:ext cx="3429000" cy="1828800"/>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7" name="card text RQ1"/>
          <p:cNvSpPr txBox="1"/>
          <p:nvPr/>
        </p:nvSpPr>
        <p:spPr>
          <a:xfrm>
            <a:off x="868680" y="1583574"/>
            <a:ext cx="3154680" cy="1645920"/>
          </a:xfrm>
          <a:prstGeom prst="rect">
            <a:avLst/>
          </a:prstGeom>
          <a:noFill/>
          <a:ln/>
        </p:spPr>
        <p:txBody>
          <a:bodyPr wrap="square" rtlCol="0" anchor="t"/>
          <a:lstStyle/>
          <a:p>
            <a:pPr marL="0" indent="0">
              <a:spcAft>
                <a:spcPts val="400"/>
              </a:spcAft>
              <a:buNone/>
            </a:pPr>
            <a:r>
              <a:rPr lang="en-US" sz="1900" b="1" dirty="0">
                <a:solidFill>
                  <a:srgbClr val="0B2A4A"/>
                </a:solidFill>
              </a:rPr>
              <a:t>RQ1</a:t>
            </a:r>
            <a:endParaRPr lang="en-US" sz="1900" dirty="0"/>
          </a:p>
          <a:p>
            <a:pPr marL="0" indent="0">
              <a:spcAft>
                <a:spcPts val="400"/>
              </a:spcAft>
              <a:buNone/>
            </a:pPr>
            <a:r>
              <a:rPr lang="en-US" sz="1400" dirty="0">
                <a:solidFill>
                  <a:srgbClr val="0B1F33"/>
                </a:solidFill>
              </a:rPr>
              <a:t>How can patient consent be modelled as a trust-aware authorisation object that explicitly represents identity, authority requirements, policy constraints, and authorisation evidence?</a:t>
            </a:r>
            <a:endParaRPr lang="en-US" sz="1400" dirty="0"/>
          </a:p>
        </p:txBody>
      </p:sp>
      <p:sp>
        <p:nvSpPr>
          <p:cNvPr id="8" name="card RQ2"/>
          <p:cNvSpPr/>
          <p:nvPr/>
        </p:nvSpPr>
        <p:spPr>
          <a:xfrm>
            <a:off x="4343400" y="1492134"/>
            <a:ext cx="3429000" cy="1828800"/>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9" name="card text RQ2"/>
          <p:cNvSpPr txBox="1"/>
          <p:nvPr/>
        </p:nvSpPr>
        <p:spPr>
          <a:xfrm>
            <a:off x="4480560" y="1583574"/>
            <a:ext cx="3154680" cy="1645920"/>
          </a:xfrm>
          <a:prstGeom prst="rect">
            <a:avLst/>
          </a:prstGeom>
          <a:noFill/>
          <a:ln/>
        </p:spPr>
        <p:txBody>
          <a:bodyPr wrap="square" rtlCol="0" anchor="t"/>
          <a:lstStyle/>
          <a:p>
            <a:pPr marL="0" indent="0">
              <a:spcAft>
                <a:spcPts val="400"/>
              </a:spcAft>
              <a:buNone/>
            </a:pPr>
            <a:r>
              <a:rPr lang="en-US" sz="1900" b="1" dirty="0">
                <a:solidFill>
                  <a:srgbClr val="0B2A4A"/>
                </a:solidFill>
              </a:rPr>
              <a:t>RQ2</a:t>
            </a:r>
            <a:endParaRPr lang="en-US" sz="1900" dirty="0"/>
          </a:p>
          <a:p>
            <a:pPr marL="0" indent="0">
              <a:spcAft>
                <a:spcPts val="400"/>
              </a:spcAft>
              <a:buNone/>
            </a:pPr>
            <a:r>
              <a:rPr lang="en-US" sz="1400" dirty="0">
                <a:solidFill>
                  <a:srgbClr val="0B1F33"/>
                </a:solidFill>
              </a:rPr>
              <a:t>How can decentralised identities and verifiable credentials establish trustworthy participants while explicitly separating identity authentication from authorisation authority?</a:t>
            </a:r>
            <a:endParaRPr lang="en-US" sz="1400" dirty="0"/>
          </a:p>
        </p:txBody>
      </p:sp>
      <p:sp>
        <p:nvSpPr>
          <p:cNvPr id="10" name="card RQ3"/>
          <p:cNvSpPr/>
          <p:nvPr/>
        </p:nvSpPr>
        <p:spPr>
          <a:xfrm>
            <a:off x="7955280" y="1492134"/>
            <a:ext cx="3429000" cy="1828800"/>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11" name="card text RQ3"/>
          <p:cNvSpPr txBox="1"/>
          <p:nvPr/>
        </p:nvSpPr>
        <p:spPr>
          <a:xfrm>
            <a:off x="8092440" y="1583574"/>
            <a:ext cx="3154680" cy="1694464"/>
          </a:xfrm>
          <a:prstGeom prst="rect">
            <a:avLst/>
          </a:prstGeom>
          <a:noFill/>
          <a:ln/>
        </p:spPr>
        <p:txBody>
          <a:bodyPr wrap="square" rtlCol="0" anchor="t"/>
          <a:lstStyle/>
          <a:p>
            <a:pPr marL="0" indent="0">
              <a:spcAft>
                <a:spcPts val="400"/>
              </a:spcAft>
              <a:buNone/>
            </a:pPr>
            <a:r>
              <a:rPr lang="en-US" sz="1900" b="1" dirty="0">
                <a:solidFill>
                  <a:srgbClr val="0B2A4A"/>
                </a:solidFill>
              </a:rPr>
              <a:t>RQ3</a:t>
            </a:r>
            <a:endParaRPr lang="en-US" sz="1900" dirty="0"/>
          </a:p>
          <a:p>
            <a:pPr marL="0" indent="0">
              <a:spcAft>
                <a:spcPts val="400"/>
              </a:spcAft>
              <a:buNone/>
            </a:pPr>
            <a:r>
              <a:rPr lang="en-US" sz="1400" dirty="0">
                <a:solidFill>
                  <a:srgbClr val="0B1F33"/>
                </a:solidFill>
              </a:rPr>
              <a:t>How can multiple independently verified participants jointly establish a trustworthy consent decision without allowing a single participant to unilaterally authorise sensitive healthcare data access?</a:t>
            </a:r>
            <a:endParaRPr lang="en-US" sz="1400" dirty="0"/>
          </a:p>
        </p:txBody>
      </p:sp>
      <p:sp>
        <p:nvSpPr>
          <p:cNvPr id="12" name="card RQ4"/>
          <p:cNvSpPr/>
          <p:nvPr/>
        </p:nvSpPr>
        <p:spPr>
          <a:xfrm>
            <a:off x="731520" y="3412374"/>
            <a:ext cx="3429000" cy="2226426"/>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13" name="card text RQ4"/>
          <p:cNvSpPr txBox="1"/>
          <p:nvPr/>
        </p:nvSpPr>
        <p:spPr>
          <a:xfrm>
            <a:off x="868680" y="3503814"/>
            <a:ext cx="3154680" cy="1689288"/>
          </a:xfrm>
          <a:prstGeom prst="rect">
            <a:avLst/>
          </a:prstGeom>
          <a:noFill/>
          <a:ln/>
        </p:spPr>
        <p:txBody>
          <a:bodyPr wrap="square" rtlCol="0" anchor="t"/>
          <a:lstStyle/>
          <a:p>
            <a:pPr marL="0" indent="0">
              <a:spcAft>
                <a:spcPts val="400"/>
              </a:spcAft>
              <a:buNone/>
            </a:pPr>
            <a:r>
              <a:rPr lang="en-US" sz="1900" b="1" dirty="0">
                <a:solidFill>
                  <a:srgbClr val="0B2A4A"/>
                </a:solidFill>
              </a:rPr>
              <a:t>RQ4</a:t>
            </a:r>
            <a:endParaRPr lang="en-US" sz="1900" dirty="0"/>
          </a:p>
          <a:p>
            <a:pPr marL="0" indent="0">
              <a:spcAft>
                <a:spcPts val="400"/>
              </a:spcAft>
              <a:buNone/>
            </a:pPr>
            <a:r>
              <a:rPr lang="en-US" sz="1400" dirty="0">
                <a:solidFill>
                  <a:srgbClr val="0B1F33"/>
                </a:solidFill>
              </a:rPr>
              <a:t>How can policy, purpose, and data-scope constraints be incorporated into authorisation decisions so that valid identities and sufficient approvals cannot be used to obtain unauthorised healthcare data?</a:t>
            </a:r>
            <a:endParaRPr lang="en-US" sz="1400" dirty="0"/>
          </a:p>
        </p:txBody>
      </p:sp>
      <p:sp>
        <p:nvSpPr>
          <p:cNvPr id="14" name="card RQ5"/>
          <p:cNvSpPr/>
          <p:nvPr/>
        </p:nvSpPr>
        <p:spPr>
          <a:xfrm>
            <a:off x="4343400" y="3412374"/>
            <a:ext cx="3429000" cy="2226426"/>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15" name="card text RQ5"/>
          <p:cNvSpPr txBox="1"/>
          <p:nvPr/>
        </p:nvSpPr>
        <p:spPr>
          <a:xfrm>
            <a:off x="4480560" y="3503814"/>
            <a:ext cx="3154680" cy="1645920"/>
          </a:xfrm>
          <a:prstGeom prst="rect">
            <a:avLst/>
          </a:prstGeom>
          <a:noFill/>
          <a:ln/>
        </p:spPr>
        <p:txBody>
          <a:bodyPr wrap="square" rtlCol="0" anchor="t"/>
          <a:lstStyle/>
          <a:p>
            <a:pPr marL="0" indent="0">
              <a:spcAft>
                <a:spcPts val="400"/>
              </a:spcAft>
              <a:buNone/>
            </a:pPr>
            <a:r>
              <a:rPr lang="en-US" sz="1900" b="1" dirty="0">
                <a:solidFill>
                  <a:srgbClr val="0B2A4A"/>
                </a:solidFill>
              </a:rPr>
              <a:t>RQ5</a:t>
            </a:r>
            <a:endParaRPr lang="en-US" sz="1900" dirty="0"/>
          </a:p>
          <a:p>
            <a:pPr marL="0" indent="0">
              <a:spcAft>
                <a:spcPts val="400"/>
              </a:spcAft>
              <a:buNone/>
            </a:pPr>
            <a:r>
              <a:rPr lang="en-US" sz="1400" dirty="0">
                <a:solidFill>
                  <a:srgbClr val="0B1F33"/>
                </a:solidFill>
              </a:rPr>
              <a:t>How can temporal validity and consent lifecycle controls ensure that an authorisation remains valid only within its permitted time interval and lifecycle state, and is rejected after expiration, revocation, or an unauthorised state transition?</a:t>
            </a:r>
            <a:endParaRPr lang="en-US" sz="1400" dirty="0"/>
          </a:p>
        </p:txBody>
      </p:sp>
      <p:sp>
        <p:nvSpPr>
          <p:cNvPr id="16" name="card RQ6"/>
          <p:cNvSpPr/>
          <p:nvPr/>
        </p:nvSpPr>
        <p:spPr>
          <a:xfrm>
            <a:off x="7955280" y="3412374"/>
            <a:ext cx="3429000" cy="2226426"/>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17" name="card text RQ6"/>
          <p:cNvSpPr txBox="1"/>
          <p:nvPr/>
        </p:nvSpPr>
        <p:spPr>
          <a:xfrm>
            <a:off x="8092440" y="3503814"/>
            <a:ext cx="3154680" cy="1645920"/>
          </a:xfrm>
          <a:prstGeom prst="rect">
            <a:avLst/>
          </a:prstGeom>
          <a:noFill/>
          <a:ln/>
        </p:spPr>
        <p:txBody>
          <a:bodyPr wrap="square" rtlCol="0" anchor="t"/>
          <a:lstStyle/>
          <a:p>
            <a:pPr marL="0" indent="0">
              <a:spcAft>
                <a:spcPts val="400"/>
              </a:spcAft>
              <a:buNone/>
            </a:pPr>
            <a:r>
              <a:rPr lang="en-US" sz="1900" b="1" dirty="0">
                <a:solidFill>
                  <a:srgbClr val="0B2A4A"/>
                </a:solidFill>
              </a:rPr>
              <a:t>RQ6</a:t>
            </a:r>
            <a:endParaRPr lang="en-US" sz="1900" dirty="0"/>
          </a:p>
          <a:p>
            <a:pPr marL="0" indent="0">
              <a:spcAft>
                <a:spcPts val="400"/>
              </a:spcAft>
              <a:buNone/>
            </a:pPr>
            <a:r>
              <a:rPr lang="en-US" sz="1400" dirty="0">
                <a:solidFill>
                  <a:srgbClr val="0B1F33"/>
                </a:solidFill>
              </a:rPr>
              <a:t>How can the security properties of the proposed trust-oriented authorisation mechanism be formally defined and empirically evaluated to demonstrate that the implemented framework correctly enforces authorised and unauthorised healthcare data-access decisions?</a:t>
            </a:r>
            <a:endParaRPr lang="en-US" sz="2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RESEARCH OBJECTIVES</a:t>
            </a:r>
            <a:endParaRPr lang="en-US" sz="3000" dirty="0"/>
          </a:p>
        </p:txBody>
      </p:sp>
      <p:graphicFrame>
        <p:nvGraphicFramePr>
          <p:cNvPr id="10" name="table"/>
          <p:cNvGraphicFramePr>
            <a:graphicFrameLocks noGrp="1"/>
          </p:cNvGraphicFramePr>
          <p:nvPr>
            <p:extLst>
              <p:ext uri="{D42A27DB-BD31-4B8C-83A1-F6EECF244321}">
                <p14:modId xmlns:p14="http://schemas.microsoft.com/office/powerpoint/2010/main" val="4149005746"/>
              </p:ext>
            </p:extLst>
          </p:nvPr>
        </p:nvGraphicFramePr>
        <p:xfrm>
          <a:off x="731519" y="1188720"/>
          <a:ext cx="10832952" cy="5120640"/>
        </p:xfrm>
        <a:graphic>
          <a:graphicData uri="http://schemas.openxmlformats.org/drawingml/2006/table">
            <a:tbl>
              <a:tblPr/>
              <a:tblGrid>
                <a:gridCol w="1000462">
                  <a:extLst>
                    <a:ext uri="{9D8B030D-6E8A-4147-A177-3AD203B41FA5}">
                      <a16:colId xmlns:a16="http://schemas.microsoft.com/office/drawing/2014/main" val="20000"/>
                    </a:ext>
                  </a:extLst>
                </a:gridCol>
                <a:gridCol w="9832490">
                  <a:extLst>
                    <a:ext uri="{9D8B030D-6E8A-4147-A177-3AD203B41FA5}">
                      <a16:colId xmlns:a16="http://schemas.microsoft.com/office/drawing/2014/main" val="20001"/>
                    </a:ext>
                  </a:extLst>
                </a:gridCol>
              </a:tblGrid>
              <a:tr h="731520">
                <a:tc>
                  <a:txBody>
                    <a:bodyPr/>
                    <a:lstStyle/>
                    <a:p>
                      <a:pPr marL="0" indent="0" algn="ctr">
                        <a:buNone/>
                      </a:pPr>
                      <a:r>
                        <a:rPr lang="en-US" sz="1600" b="1" dirty="0">
                          <a:solidFill>
                            <a:srgbClr val="FFFFFF"/>
                          </a:solidFill>
                        </a:rPr>
                        <a:t>Objective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600" b="1" dirty="0">
                          <a:solidFill>
                            <a:srgbClr val="FFFFFF"/>
                          </a:solidFill>
                        </a:rPr>
                        <a:t>Description</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731520">
                <a:tc>
                  <a:txBody>
                    <a:bodyPr/>
                    <a:lstStyle/>
                    <a:p>
                      <a:pPr marL="0" indent="0" algn="ctr">
                        <a:buNone/>
                      </a:pPr>
                      <a:r>
                        <a:rPr lang="en-US" sz="1600" b="1" dirty="0">
                          <a:solidFill>
                            <a:srgbClr val="0B1F33"/>
                          </a:solidFill>
                        </a:rPr>
                        <a:t>RO1</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To develop a trust-aware consent model that represents patient consent as a structured and evaluable authorisation object.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lgn="ctr">
                        <a:buNone/>
                      </a:pPr>
                      <a:r>
                        <a:rPr lang="en-US" sz="1600" b="1" dirty="0">
                          <a:solidFill>
                            <a:srgbClr val="0B1F33"/>
                          </a:solidFill>
                        </a:rPr>
                        <a:t>RO2</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To develop a decentralised identity and authority verification mechanism using decentralised identifiers and verifiable credentials.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lgn="ctr">
                        <a:buNone/>
                      </a:pPr>
                      <a:r>
                        <a:rPr lang="en-US" sz="1600" b="1" dirty="0">
                          <a:solidFill>
                            <a:srgbClr val="0B1F33"/>
                          </a:solidFill>
                        </a:rPr>
                        <a:t>RO3</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To develop a threshold-based multi-party authorisation mechanism through which multiple independently verified participants and guardians can jointly establish a trustworthy consent decision.</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lgn="ctr">
                        <a:buNone/>
                      </a:pPr>
                      <a:r>
                        <a:rPr lang="en-US" sz="1600" b="1" dirty="0">
                          <a:solidFill>
                            <a:srgbClr val="0B1F33"/>
                          </a:solidFill>
                        </a:rPr>
                        <a:t>RO4</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To develop a policy-aware authorisation mechanism that evaluates the purpose and data scope of a requested operation against the constraints defined by the consent.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31520">
                <a:tc>
                  <a:txBody>
                    <a:bodyPr/>
                    <a:lstStyle/>
                    <a:p>
                      <a:pPr marL="0" indent="0" algn="ctr">
                        <a:buNone/>
                      </a:pPr>
                      <a:r>
                        <a:rPr lang="en-US" sz="1600" b="1" dirty="0">
                          <a:solidFill>
                            <a:srgbClr val="0B1F33"/>
                          </a:solidFill>
                        </a:rPr>
                        <a:t>RO5 </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To extend the trust-oriented framework with temporal validity and consent lifecycle controls.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31520">
                <a:tc>
                  <a:txBody>
                    <a:bodyPr/>
                    <a:lstStyle/>
                    <a:p>
                      <a:pPr marL="0" indent="0" algn="ctr">
                        <a:buNone/>
                      </a:pPr>
                      <a:r>
                        <a:rPr lang="en-US" sz="1600" b="1" dirty="0">
                          <a:solidFill>
                            <a:srgbClr val="0B1F33"/>
                          </a:solidFill>
                        </a:rPr>
                        <a:t>RO6</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To formally analyse and empirically evaluate whether the implemented framework satisfies its defined trust and authorisation properties under representative healthcare data-sharing scenarios.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A1B15-59C9-36C1-905F-AABC3A7AD8B6}"/>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dirty="0">
                <a:solidFill>
                  <a:srgbClr val="FFFFFF"/>
                </a:solidFill>
              </a:rPr>
              <a:t>Research Methodology </a:t>
            </a:r>
          </a:p>
        </p:txBody>
      </p:sp>
      <p:sp>
        <p:nvSpPr>
          <p:cNvPr id="10" name="Content Placeholder 9">
            <a:extLst>
              <a:ext uri="{FF2B5EF4-FFF2-40B4-BE49-F238E27FC236}">
                <a16:creationId xmlns:a16="http://schemas.microsoft.com/office/drawing/2014/main" id="{825BDCBB-AFEF-640F-2B5D-DA2F84BD2A61}"/>
              </a:ext>
            </a:extLst>
          </p:cNvPr>
          <p:cNvSpPr>
            <a:spLocks noGrp="1"/>
          </p:cNvSpPr>
          <p:nvPr>
            <p:ph idx="1"/>
          </p:nvPr>
        </p:nvSpPr>
        <p:spPr>
          <a:xfrm>
            <a:off x="2993341" y="5790205"/>
            <a:ext cx="5658290" cy="415226"/>
          </a:xfrm>
        </p:spPr>
        <p:txBody>
          <a:bodyPr vert="horz" lIns="91440" tIns="45720" rIns="91440" bIns="45720" rtlCol="0" anchor="ctr">
            <a:normAutofit fontScale="25000" lnSpcReduction="20000"/>
          </a:bodyPr>
          <a:lstStyle/>
          <a:p>
            <a:pPr marL="0" indent="0">
              <a:buNone/>
            </a:pPr>
            <a:r>
              <a:rPr lang="en-US" sz="5600" dirty="0"/>
              <a:t>Design Science Research Methodology Process Model (Peffers et al. 2007)</a:t>
            </a:r>
            <a:endParaRPr lang="en-US" sz="1700" dirty="0">
              <a:solidFill>
                <a:srgbClr val="FFFFFF"/>
              </a:solidFill>
            </a:endParaRPr>
          </a:p>
        </p:txBody>
      </p:sp>
      <p:pic>
        <p:nvPicPr>
          <p:cNvPr id="4" name="Content Placeholder 3">
            <a:extLst>
              <a:ext uri="{FF2B5EF4-FFF2-40B4-BE49-F238E27FC236}">
                <a16:creationId xmlns:a16="http://schemas.microsoft.com/office/drawing/2014/main" id="{F0A85399-6ED2-C74D-67C7-37CF31F7EF4F}"/>
              </a:ext>
            </a:extLst>
          </p:cNvPr>
          <p:cNvPicPr>
            <a:picLocks noChangeAspect="1"/>
          </p:cNvPicPr>
          <p:nvPr/>
        </p:nvPicPr>
        <p:blipFill>
          <a:blip r:embed="rId3"/>
          <a:stretch>
            <a:fillRect/>
          </a:stretch>
        </p:blipFill>
        <p:spPr>
          <a:xfrm>
            <a:off x="715747" y="2082019"/>
            <a:ext cx="10496203" cy="3708186"/>
          </a:xfrm>
          <a:prstGeom prst="rect">
            <a:avLst/>
          </a:prstGeom>
        </p:spPr>
      </p:pic>
      <p:sp>
        <p:nvSpPr>
          <p:cNvPr id="5" name="headline">
            <a:extLst>
              <a:ext uri="{FF2B5EF4-FFF2-40B4-BE49-F238E27FC236}">
                <a16:creationId xmlns:a16="http://schemas.microsoft.com/office/drawing/2014/main" id="{A9BE2E39-AE25-8DAC-EF8A-FDED92D5277B}"/>
              </a:ext>
            </a:extLst>
          </p:cNvPr>
          <p:cNvSpPr>
            <a:spLocks noGrp="1"/>
          </p:cNvSpPr>
          <p:nvPr/>
        </p:nvSpPr>
        <p:spPr>
          <a:xfrm>
            <a:off x="590550" y="781607"/>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l">
              <a:lnSpc>
                <a:spcPct val="104000"/>
              </a:lnSpc>
              <a:buNone/>
              <a:defRPr sz="2700" b="1">
                <a:solidFill>
                  <a:srgbClr val="103B64"/>
                </a:solidFill>
                <a:latin typeface="Arial"/>
                <a:ea typeface="Arial"/>
                <a:cs typeface="Arial"/>
              </a:defRPr>
            </a:pPr>
            <a:r>
              <a:rPr sz="2700" b="1" dirty="0">
                <a:solidFill>
                  <a:srgbClr val="103B64"/>
                </a:solidFill>
                <a:latin typeface="Arial"/>
                <a:ea typeface="Arial"/>
                <a:cs typeface="Arial"/>
              </a:rPr>
              <a:t>RESEARCH METHODOLOGY</a:t>
            </a:r>
          </a:p>
        </p:txBody>
      </p:sp>
      <p:sp>
        <p:nvSpPr>
          <p:cNvPr id="6" name="Rectangle 5">
            <a:extLst>
              <a:ext uri="{FF2B5EF4-FFF2-40B4-BE49-F238E27FC236}">
                <a16:creationId xmlns:a16="http://schemas.microsoft.com/office/drawing/2014/main" id="{E9E7DB83-0671-2AD7-7C18-E12C8A37C65B}"/>
              </a:ext>
            </a:extLst>
          </p:cNvPr>
          <p:cNvSpPr/>
          <p:nvPr/>
        </p:nvSpPr>
        <p:spPr>
          <a:xfrm>
            <a:off x="386154" y="1462466"/>
            <a:ext cx="2937958" cy="5048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103B64"/>
                </a:solidFill>
                <a:latin typeface="Arial"/>
                <a:cs typeface="Arial"/>
              </a:rPr>
              <a:t>DSR </a:t>
            </a:r>
            <a:r>
              <a:rPr lang="en-AU" b="1" dirty="0">
                <a:solidFill>
                  <a:srgbClr val="103B64"/>
                </a:solidFill>
                <a:latin typeface="Arial"/>
                <a:cs typeface="Arial"/>
              </a:rPr>
              <a:t>METHODOLOGY</a:t>
            </a:r>
            <a:r>
              <a:rPr lang="en-US" b="1" dirty="0">
                <a:solidFill>
                  <a:srgbClr val="103B64"/>
                </a:solidFill>
                <a:latin typeface="Arial"/>
                <a:cs typeface="Arial"/>
              </a:rPr>
              <a:t> </a:t>
            </a:r>
            <a:endParaRPr lang="en-AU" b="1" dirty="0">
              <a:solidFill>
                <a:srgbClr val="103B64"/>
              </a:solidFill>
              <a:latin typeface="Arial"/>
              <a:cs typeface="Arial"/>
            </a:endParaRPr>
          </a:p>
        </p:txBody>
      </p:sp>
    </p:spTree>
    <p:extLst>
      <p:ext uri="{BB962C8B-B14F-4D97-AF65-F5344CB8AC3E}">
        <p14:creationId xmlns:p14="http://schemas.microsoft.com/office/powerpoint/2010/main" val="1259510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FRAMEWORK ARCHITECTURE</a:t>
            </a:r>
            <a:endParaRPr lang="en-US" sz="3000" dirty="0"/>
          </a:p>
        </p:txBody>
      </p:sp>
      <p:sp>
        <p:nvSpPr>
          <p:cNvPr id="4" name="F6 panel"/>
          <p:cNvSpPr/>
          <p:nvPr/>
        </p:nvSpPr>
        <p:spPr>
          <a:xfrm>
            <a:off x="1737360" y="1097280"/>
            <a:ext cx="8695944" cy="5440680"/>
          </a:xfrm>
          <a:prstGeom prst="roundRect">
            <a:avLst>
              <a:gd name="adj" fmla="val 2017"/>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5" name="F6" descr="/tmp/deck/img/F6.png"/>
          <p:cNvPicPr>
            <a:picLocks noChangeAspect="1"/>
          </p:cNvPicPr>
          <p:nvPr/>
        </p:nvPicPr>
        <p:blipFill>
          <a:blip r:embed="rId3"/>
          <a:stretch>
            <a:fillRect/>
          </a:stretch>
        </p:blipFill>
        <p:spPr>
          <a:xfrm>
            <a:off x="1849371" y="1207008"/>
            <a:ext cx="8471922" cy="522122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THE DECISION RULE</a:t>
            </a:r>
            <a:endParaRPr lang="en-US" sz="3000" dirty="0"/>
          </a:p>
        </p:txBody>
      </p:sp>
      <p:sp>
        <p:nvSpPr>
          <p:cNvPr id="4" name="decision box"/>
          <p:cNvSpPr/>
          <p:nvPr/>
        </p:nvSpPr>
        <p:spPr>
          <a:xfrm>
            <a:off x="731520" y="1188720"/>
            <a:ext cx="10698480" cy="1097280"/>
          </a:xfrm>
          <a:prstGeom prst="roundRect">
            <a:avLst>
              <a:gd name="adj" fmla="val 8333"/>
            </a:avLst>
          </a:prstGeom>
          <a:solidFill>
            <a:srgbClr val="0B2A4A">
              <a:alpha val="85000"/>
            </a:srgbClr>
          </a:solidFill>
          <a:ln w="19050">
            <a:solidFill>
              <a:srgbClr val="1FB5D6"/>
            </a:solidFill>
            <a:prstDash val="solid"/>
          </a:ln>
        </p:spPr>
        <p:txBody>
          <a:bodyPr/>
          <a:lstStyle/>
          <a:p>
            <a:endParaRPr lang="en-AU"/>
          </a:p>
        </p:txBody>
      </p:sp>
      <p:sp>
        <p:nvSpPr>
          <p:cNvPr id="5" name="decision text"/>
          <p:cNvSpPr txBox="1"/>
          <p:nvPr/>
        </p:nvSpPr>
        <p:spPr>
          <a:xfrm>
            <a:off x="822960" y="1234440"/>
            <a:ext cx="10515600" cy="10058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Decision(C, R, t) = ALLOW  ⟺  VI(u) ∧ VA(C) ∧ VP(C, R) ∧ VT(C, t) ∧ VL(C)</a:t>
            </a:r>
            <a:endParaRPr lang="en-US" sz="2000" dirty="0"/>
          </a:p>
        </p:txBody>
      </p:sp>
      <p:sp>
        <p:nvSpPr>
          <p:cNvPr id="6" name="card VI"/>
          <p:cNvSpPr/>
          <p:nvPr/>
        </p:nvSpPr>
        <p:spPr>
          <a:xfrm>
            <a:off x="731520" y="2606040"/>
            <a:ext cx="2011680" cy="1600200"/>
          </a:xfrm>
          <a:prstGeom prst="roundRect">
            <a:avLst>
              <a:gd name="adj" fmla="val 5714"/>
            </a:avLst>
          </a:prstGeom>
          <a:solidFill>
            <a:srgbClr val="FFFFFF">
              <a:alpha val="92000"/>
            </a:srgbClr>
          </a:solidFill>
          <a:ln w="19050">
            <a:solidFill>
              <a:srgbClr val="1FB5D6"/>
            </a:solidFill>
            <a:prstDash val="solid"/>
          </a:ln>
        </p:spPr>
        <p:txBody>
          <a:bodyPr/>
          <a:lstStyle/>
          <a:p>
            <a:endParaRPr lang="en-AU"/>
          </a:p>
        </p:txBody>
      </p:sp>
      <p:sp>
        <p:nvSpPr>
          <p:cNvPr id="7" name="card text VI"/>
          <p:cNvSpPr txBox="1"/>
          <p:nvPr/>
        </p:nvSpPr>
        <p:spPr>
          <a:xfrm>
            <a:off x="868680" y="2697480"/>
            <a:ext cx="1737360" cy="1417320"/>
          </a:xfrm>
          <a:prstGeom prst="rect">
            <a:avLst/>
          </a:prstGeom>
          <a:noFill/>
          <a:ln/>
        </p:spPr>
        <p:txBody>
          <a:bodyPr wrap="square" rtlCol="0" anchor="t"/>
          <a:lstStyle/>
          <a:p>
            <a:pPr marL="0" indent="0">
              <a:spcAft>
                <a:spcPts val="400"/>
              </a:spcAft>
              <a:buNone/>
            </a:pPr>
            <a:r>
              <a:rPr lang="en-US" sz="1900" b="1" dirty="0">
                <a:solidFill>
                  <a:srgbClr val="0B2A4A"/>
                </a:solidFill>
              </a:rPr>
              <a:t>VI</a:t>
            </a:r>
            <a:endParaRPr lang="en-US" sz="1900" dirty="0"/>
          </a:p>
          <a:p>
            <a:pPr marL="0" indent="0">
              <a:spcAft>
                <a:spcPts val="400"/>
              </a:spcAft>
              <a:buNone/>
            </a:pPr>
            <a:r>
              <a:rPr lang="en-US" sz="1600" dirty="0">
                <a:solidFill>
                  <a:srgbClr val="0B1F33"/>
                </a:solidFill>
              </a:rPr>
              <a:t>Identity and authority validity</a:t>
            </a:r>
            <a:endParaRPr lang="en-US" sz="1900" dirty="0"/>
          </a:p>
        </p:txBody>
      </p:sp>
      <p:sp>
        <p:nvSpPr>
          <p:cNvPr id="8" name="card VA"/>
          <p:cNvSpPr/>
          <p:nvPr/>
        </p:nvSpPr>
        <p:spPr>
          <a:xfrm>
            <a:off x="2898648" y="2606040"/>
            <a:ext cx="2011680" cy="1600200"/>
          </a:xfrm>
          <a:prstGeom prst="roundRect">
            <a:avLst>
              <a:gd name="adj" fmla="val 5714"/>
            </a:avLst>
          </a:prstGeom>
          <a:solidFill>
            <a:srgbClr val="FFFFFF">
              <a:alpha val="92000"/>
            </a:srgbClr>
          </a:solidFill>
          <a:ln w="19050">
            <a:solidFill>
              <a:srgbClr val="1FB5D6"/>
            </a:solidFill>
            <a:prstDash val="solid"/>
          </a:ln>
        </p:spPr>
        <p:txBody>
          <a:bodyPr/>
          <a:lstStyle/>
          <a:p>
            <a:endParaRPr lang="en-AU"/>
          </a:p>
        </p:txBody>
      </p:sp>
      <p:sp>
        <p:nvSpPr>
          <p:cNvPr id="9" name="card text VA"/>
          <p:cNvSpPr txBox="1"/>
          <p:nvPr/>
        </p:nvSpPr>
        <p:spPr>
          <a:xfrm>
            <a:off x="3035808" y="2697480"/>
            <a:ext cx="1737360" cy="1417320"/>
          </a:xfrm>
          <a:prstGeom prst="rect">
            <a:avLst/>
          </a:prstGeom>
          <a:noFill/>
          <a:ln/>
        </p:spPr>
        <p:txBody>
          <a:bodyPr wrap="square" rtlCol="0" anchor="t"/>
          <a:lstStyle/>
          <a:p>
            <a:pPr marL="0" indent="0">
              <a:spcAft>
                <a:spcPts val="400"/>
              </a:spcAft>
              <a:buNone/>
            </a:pPr>
            <a:r>
              <a:rPr lang="en-US" sz="1900" b="1" dirty="0">
                <a:solidFill>
                  <a:srgbClr val="0B2A4A"/>
                </a:solidFill>
              </a:rPr>
              <a:t>VA</a:t>
            </a:r>
            <a:endParaRPr lang="en-US" sz="1900" dirty="0"/>
          </a:p>
          <a:p>
            <a:pPr marL="0" indent="0">
              <a:spcAft>
                <a:spcPts val="400"/>
              </a:spcAft>
              <a:buNone/>
            </a:pPr>
            <a:r>
              <a:rPr lang="en-US" sz="1600" dirty="0">
                <a:solidFill>
                  <a:srgbClr val="0B1F33"/>
                </a:solidFill>
              </a:rPr>
              <a:t>Collective authorisation validity</a:t>
            </a:r>
            <a:endParaRPr lang="en-US" sz="1900" dirty="0"/>
          </a:p>
        </p:txBody>
      </p:sp>
      <p:sp>
        <p:nvSpPr>
          <p:cNvPr id="10" name="card VP"/>
          <p:cNvSpPr/>
          <p:nvPr/>
        </p:nvSpPr>
        <p:spPr>
          <a:xfrm>
            <a:off x="5065776" y="2606040"/>
            <a:ext cx="2011680" cy="1600200"/>
          </a:xfrm>
          <a:prstGeom prst="roundRect">
            <a:avLst>
              <a:gd name="adj" fmla="val 5714"/>
            </a:avLst>
          </a:prstGeom>
          <a:solidFill>
            <a:srgbClr val="FFFFFF">
              <a:alpha val="92000"/>
            </a:srgbClr>
          </a:solidFill>
          <a:ln w="19050">
            <a:solidFill>
              <a:srgbClr val="1FB5D6"/>
            </a:solidFill>
            <a:prstDash val="solid"/>
          </a:ln>
        </p:spPr>
        <p:txBody>
          <a:bodyPr/>
          <a:lstStyle/>
          <a:p>
            <a:endParaRPr lang="en-AU"/>
          </a:p>
        </p:txBody>
      </p:sp>
      <p:sp>
        <p:nvSpPr>
          <p:cNvPr id="11" name="card text VP"/>
          <p:cNvSpPr txBox="1"/>
          <p:nvPr/>
        </p:nvSpPr>
        <p:spPr>
          <a:xfrm>
            <a:off x="5202936" y="2697480"/>
            <a:ext cx="1737360" cy="1417320"/>
          </a:xfrm>
          <a:prstGeom prst="rect">
            <a:avLst/>
          </a:prstGeom>
          <a:noFill/>
          <a:ln/>
        </p:spPr>
        <p:txBody>
          <a:bodyPr wrap="square" rtlCol="0" anchor="t"/>
          <a:lstStyle/>
          <a:p>
            <a:pPr marL="0" indent="0">
              <a:spcAft>
                <a:spcPts val="400"/>
              </a:spcAft>
              <a:buNone/>
            </a:pPr>
            <a:r>
              <a:rPr lang="en-US" sz="1900" b="1" dirty="0">
                <a:solidFill>
                  <a:srgbClr val="0B2A4A"/>
                </a:solidFill>
              </a:rPr>
              <a:t>VP</a:t>
            </a:r>
            <a:endParaRPr lang="en-US" sz="1900" dirty="0"/>
          </a:p>
          <a:p>
            <a:pPr marL="0" indent="0">
              <a:spcAft>
                <a:spcPts val="400"/>
              </a:spcAft>
              <a:buNone/>
            </a:pPr>
            <a:r>
              <a:rPr lang="en-US" sz="1600" dirty="0">
                <a:solidFill>
                  <a:srgbClr val="0B1F33"/>
                </a:solidFill>
              </a:rPr>
              <a:t>Policy and contextual compliance</a:t>
            </a:r>
            <a:endParaRPr lang="en-US" sz="1900" dirty="0"/>
          </a:p>
        </p:txBody>
      </p:sp>
      <p:sp>
        <p:nvSpPr>
          <p:cNvPr id="12" name="card VT"/>
          <p:cNvSpPr/>
          <p:nvPr/>
        </p:nvSpPr>
        <p:spPr>
          <a:xfrm>
            <a:off x="7232904" y="2606040"/>
            <a:ext cx="2011680" cy="1600200"/>
          </a:xfrm>
          <a:prstGeom prst="roundRect">
            <a:avLst>
              <a:gd name="adj" fmla="val 5714"/>
            </a:avLst>
          </a:prstGeom>
          <a:solidFill>
            <a:srgbClr val="FFFFFF">
              <a:alpha val="92000"/>
            </a:srgbClr>
          </a:solidFill>
          <a:ln w="19050">
            <a:solidFill>
              <a:srgbClr val="1FB5D6"/>
            </a:solidFill>
            <a:prstDash val="solid"/>
          </a:ln>
        </p:spPr>
        <p:txBody>
          <a:bodyPr/>
          <a:lstStyle/>
          <a:p>
            <a:endParaRPr lang="en-AU"/>
          </a:p>
        </p:txBody>
      </p:sp>
      <p:sp>
        <p:nvSpPr>
          <p:cNvPr id="13" name="card text VT"/>
          <p:cNvSpPr txBox="1"/>
          <p:nvPr/>
        </p:nvSpPr>
        <p:spPr>
          <a:xfrm>
            <a:off x="7370064" y="2697480"/>
            <a:ext cx="1737360" cy="1417320"/>
          </a:xfrm>
          <a:prstGeom prst="rect">
            <a:avLst/>
          </a:prstGeom>
          <a:noFill/>
          <a:ln/>
        </p:spPr>
        <p:txBody>
          <a:bodyPr wrap="square" rtlCol="0" anchor="t"/>
          <a:lstStyle/>
          <a:p>
            <a:pPr marL="0" indent="0">
              <a:spcAft>
                <a:spcPts val="400"/>
              </a:spcAft>
              <a:buNone/>
            </a:pPr>
            <a:r>
              <a:rPr lang="en-US" sz="1900" b="1" dirty="0">
                <a:solidFill>
                  <a:srgbClr val="0B2A4A"/>
                </a:solidFill>
              </a:rPr>
              <a:t>VT</a:t>
            </a:r>
            <a:endParaRPr lang="en-US" sz="1900" dirty="0"/>
          </a:p>
          <a:p>
            <a:pPr marL="0" indent="0">
              <a:spcAft>
                <a:spcPts val="400"/>
              </a:spcAft>
              <a:buNone/>
            </a:pPr>
            <a:r>
              <a:rPr lang="en-US" sz="1600" dirty="0">
                <a:solidFill>
                  <a:srgbClr val="0B1F33"/>
                </a:solidFill>
              </a:rPr>
              <a:t>Temporal validity</a:t>
            </a:r>
            <a:endParaRPr lang="en-US" sz="1900" dirty="0"/>
          </a:p>
        </p:txBody>
      </p:sp>
      <p:sp>
        <p:nvSpPr>
          <p:cNvPr id="14" name="card VL"/>
          <p:cNvSpPr/>
          <p:nvPr/>
        </p:nvSpPr>
        <p:spPr>
          <a:xfrm>
            <a:off x="9400032" y="2606040"/>
            <a:ext cx="2011680" cy="1600200"/>
          </a:xfrm>
          <a:prstGeom prst="roundRect">
            <a:avLst>
              <a:gd name="adj" fmla="val 5714"/>
            </a:avLst>
          </a:prstGeom>
          <a:solidFill>
            <a:srgbClr val="FFFFFF">
              <a:alpha val="92000"/>
            </a:srgbClr>
          </a:solidFill>
          <a:ln w="19050">
            <a:solidFill>
              <a:srgbClr val="1FB5D6"/>
            </a:solidFill>
            <a:prstDash val="solid"/>
          </a:ln>
        </p:spPr>
        <p:txBody>
          <a:bodyPr/>
          <a:lstStyle/>
          <a:p>
            <a:endParaRPr lang="en-AU"/>
          </a:p>
        </p:txBody>
      </p:sp>
      <p:sp>
        <p:nvSpPr>
          <p:cNvPr id="15" name="card text VL"/>
          <p:cNvSpPr txBox="1"/>
          <p:nvPr/>
        </p:nvSpPr>
        <p:spPr>
          <a:xfrm>
            <a:off x="9537192" y="2697480"/>
            <a:ext cx="1737360" cy="1417320"/>
          </a:xfrm>
          <a:prstGeom prst="rect">
            <a:avLst/>
          </a:prstGeom>
          <a:noFill/>
          <a:ln/>
        </p:spPr>
        <p:txBody>
          <a:bodyPr wrap="square" rtlCol="0" anchor="t"/>
          <a:lstStyle/>
          <a:p>
            <a:pPr marL="0" indent="0">
              <a:spcAft>
                <a:spcPts val="400"/>
              </a:spcAft>
              <a:buNone/>
            </a:pPr>
            <a:r>
              <a:rPr lang="en-US" sz="1900" b="1" dirty="0">
                <a:solidFill>
                  <a:srgbClr val="0B2A4A"/>
                </a:solidFill>
              </a:rPr>
              <a:t>VL</a:t>
            </a:r>
            <a:endParaRPr lang="en-US" sz="1900" dirty="0"/>
          </a:p>
          <a:p>
            <a:pPr marL="0" indent="0">
              <a:spcAft>
                <a:spcPts val="400"/>
              </a:spcAft>
              <a:buNone/>
            </a:pPr>
            <a:r>
              <a:rPr lang="en-US" sz="1600" dirty="0">
                <a:solidFill>
                  <a:srgbClr val="0B1F33"/>
                </a:solidFill>
              </a:rPr>
              <a:t>Consent lifecycle validity</a:t>
            </a:r>
            <a:endParaRPr lang="en-US" sz="1900" dirty="0"/>
          </a:p>
        </p:txBody>
      </p:sp>
      <p:sp>
        <p:nvSpPr>
          <p:cNvPr id="16" name="bullets"/>
          <p:cNvSpPr txBox="1"/>
          <p:nvPr/>
        </p:nvSpPr>
        <p:spPr>
          <a:xfrm>
            <a:off x="822960" y="4480560"/>
            <a:ext cx="10515600" cy="1828800"/>
          </a:xfrm>
          <a:prstGeom prst="rect">
            <a:avLst/>
          </a:prstGeom>
          <a:noFill/>
          <a:ln/>
        </p:spPr>
        <p:txBody>
          <a:bodyPr wrap="square" rtlCol="0" anchor="t"/>
          <a:lstStyle/>
          <a:p>
            <a:pPr marL="342900" indent="-342900">
              <a:spcAft>
                <a:spcPts val="1000"/>
              </a:spcAft>
              <a:buSzPct val="100000"/>
              <a:buChar char="•"/>
            </a:pPr>
            <a:r>
              <a:rPr lang="en-US" sz="1800" dirty="0">
                <a:solidFill>
                  <a:srgbClr val="FFFFFF"/>
                </a:solidFill>
              </a:rPr>
              <a:t>One failed check is enough to say DENY.</a:t>
            </a:r>
            <a:endParaRPr lang="en-US" sz="1800" dirty="0"/>
          </a:p>
          <a:p>
            <a:pPr marL="285750" indent="-285750">
              <a:buFont typeface="Arial" panose="020B0604020202020204" pitchFamily="34" charset="0"/>
              <a:buChar char="•"/>
            </a:pPr>
            <a:r>
              <a:rPr lang="en-AU" dirty="0">
                <a:solidFill>
                  <a:srgbClr val="FFFFFF"/>
                </a:solidFill>
              </a:rPr>
              <a:t>Every access decision, allowed or denied, is written to the audit ledger with its decision matrix</a:t>
            </a:r>
            <a:r>
              <a:rPr lang="en-AU" b="1" dirty="0">
                <a:solidFill>
                  <a:schemeClr val="bg1"/>
                </a:solidFill>
              </a:rPr>
              <a:t>.</a:t>
            </a:r>
            <a:endParaRPr lang="en-AU" dirty="0">
              <a:solidFill>
                <a:schemeClr val="bg1"/>
              </a:solidFill>
            </a:endParaRPr>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dirty="0"/>
              <a:t>Proposed solution for objective 1</a:t>
            </a:r>
          </a:p>
        </p:txBody>
      </p:sp>
      <p:sp>
        <p:nvSpPr>
          <p:cNvPr id="5"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txBody>
          <a:bodyPr/>
          <a:lstStyle/>
          <a:p>
            <a:endParaRPr lang="en-AU"/>
          </a:p>
        </p:txBody>
      </p:sp>
      <p:sp>
        <p:nvSpPr>
          <p:cNvPr id="6"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Done</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patient chooses the doctor, the guardians, the data modules, and the start and expiry time.</a:t>
            </a:r>
            <a:endParaRPr lang="en-US" sz="1600" dirty="0"/>
          </a:p>
          <a:p>
            <a:pPr marL="342900" indent="-342900">
              <a:spcAft>
                <a:spcPts val="1000"/>
              </a:spcAft>
              <a:buSzPct val="100000"/>
              <a:buChar char="•"/>
            </a:pPr>
            <a:r>
              <a:rPr lang="en-US" sz="1600" dirty="0">
                <a:solidFill>
                  <a:srgbClr val="FFFFFF"/>
                </a:solidFill>
              </a:rPr>
              <a:t>In this prototype the purpose is fixed to Treatment.</a:t>
            </a:r>
            <a:endParaRPr lang="en-US" sz="1600" dirty="0"/>
          </a:p>
          <a:p>
            <a:pPr marL="342900" indent="-342900">
              <a:spcAft>
                <a:spcPts val="1000"/>
              </a:spcAft>
              <a:buSzPct val="100000"/>
              <a:buChar char="•"/>
            </a:pPr>
            <a:r>
              <a:rPr lang="en-US" sz="1600" dirty="0">
                <a:solidFill>
                  <a:srgbClr val="FFFFFF"/>
                </a:solidFill>
              </a:rPr>
              <a:t>Bad input is rejected, for example an empty data scope or a malformed guardian DID.</a:t>
            </a:r>
            <a:endParaRPr lang="en-US" sz="1600" dirty="0"/>
          </a:p>
          <a:p>
            <a:pPr marL="342900" indent="-342900">
              <a:spcAft>
                <a:spcPts val="1000"/>
              </a:spcAft>
              <a:buSzPct val="100000"/>
              <a:buChar char="•"/>
            </a:pPr>
            <a:r>
              <a:rPr lang="en-US" sz="1600" dirty="0">
                <a:solidFill>
                  <a:srgbClr val="FFFFFF"/>
                </a:solidFill>
              </a:rPr>
              <a:t>The system creates the consent object, assigns a consent identifier, persists the record, and records the creation event in the audit layer.</a:t>
            </a:r>
            <a:endParaRPr lang="en-US" sz="1600" dirty="0"/>
          </a:p>
        </p:txBody>
      </p:sp>
      <p:sp>
        <p:nvSpPr>
          <p:cNvPr id="8" name="ALG1 panel"/>
          <p:cNvSpPr/>
          <p:nvPr/>
        </p:nvSpPr>
        <p:spPr>
          <a:xfrm>
            <a:off x="6035040" y="1745454"/>
            <a:ext cx="5715000" cy="3961452"/>
          </a:xfrm>
          <a:prstGeom prst="roundRect">
            <a:avLst>
              <a:gd name="adj" fmla="val 277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ALG1" descr="/tmp/deck/img/ALG1.png"/>
          <p:cNvPicPr>
            <a:picLocks noChangeAspect="1"/>
          </p:cNvPicPr>
          <p:nvPr/>
        </p:nvPicPr>
        <p:blipFill>
          <a:blip r:embed="rId3"/>
          <a:stretch>
            <a:fillRect/>
          </a:stretch>
        </p:blipFill>
        <p:spPr>
          <a:xfrm>
            <a:off x="6144768" y="1855182"/>
            <a:ext cx="5495544" cy="3741996"/>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19</a:t>
            </a:fld>
            <a:endParaRPr lang="en-US"/>
          </a:p>
        </p:txBody>
      </p:sp>
      <p:sp>
        <p:nvSpPr>
          <p:cNvPr id="10" name="Text 0">
            <a:extLst>
              <a:ext uri="{FF2B5EF4-FFF2-40B4-BE49-F238E27FC236}">
                <a16:creationId xmlns:a16="http://schemas.microsoft.com/office/drawing/2014/main" id="{2FF9D90F-9048-7A63-763E-E468C996F28E}"/>
              </a:ext>
            </a:extLst>
          </p:cNvPr>
          <p:cNvSpPr txBox="1">
            <a:spLocks/>
          </p:cNvSpPr>
          <p:nvPr/>
        </p:nvSpPr>
        <p:spPr>
          <a:xfrm>
            <a:off x="341376" y="960120"/>
            <a:ext cx="5169408" cy="731520"/>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AU" sz="1400" i="1">
                <a:solidFill>
                  <a:srgbClr val="1FB5D6"/>
                </a:solidFill>
              </a:rPr>
              <a:t>RO1: Trust-Centric Consent Model</a:t>
            </a:r>
            <a:endParaRPr lang="en-AU" sz="1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i="1" dirty="0">
                <a:solidFill>
                  <a:srgbClr val="1FB5D6"/>
                </a:solidFill>
              </a:rPr>
              <a:t>RO1: Trust-Centric Consent Model</a:t>
            </a:r>
            <a:endParaRPr lang="en-US" sz="3200" dirty="0"/>
          </a:p>
        </p:txBody>
      </p:sp>
      <p:sp>
        <p:nvSpPr>
          <p:cNvPr id="6" name="F10 panel"/>
          <p:cNvSpPr/>
          <p:nvPr/>
        </p:nvSpPr>
        <p:spPr>
          <a:xfrm>
            <a:off x="4743972" y="960120"/>
            <a:ext cx="2703751" cy="5532120"/>
          </a:xfrm>
          <a:prstGeom prst="roundRect">
            <a:avLst>
              <a:gd name="adj" fmla="val 4058"/>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7" name="F10" descr="/tmp/deck/img/F10.png"/>
          <p:cNvPicPr>
            <a:picLocks noChangeAspect="1"/>
          </p:cNvPicPr>
          <p:nvPr/>
        </p:nvPicPr>
        <p:blipFill>
          <a:blip r:embed="rId3"/>
          <a:stretch>
            <a:fillRect/>
          </a:stretch>
        </p:blipFill>
        <p:spPr>
          <a:xfrm>
            <a:off x="4853700" y="1069848"/>
            <a:ext cx="2484295"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dirty="0"/>
              <a:t>Proposed solution for objective 2</a:t>
            </a:r>
          </a:p>
        </p:txBody>
      </p:sp>
      <p:sp>
        <p:nvSpPr>
          <p:cNvPr id="5"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txBody>
          <a:bodyPr/>
          <a:lstStyle/>
          <a:p>
            <a:endParaRPr lang="en-AU"/>
          </a:p>
        </p:txBody>
      </p:sp>
      <p:sp>
        <p:nvSpPr>
          <p:cNvPr id="6"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Done</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500" dirty="0">
                <a:solidFill>
                  <a:srgbClr val="FFFFFF"/>
                </a:solidFill>
              </a:rPr>
              <a:t>Identity is checked through the DID; authority through a verifiable credential.</a:t>
            </a:r>
            <a:endParaRPr lang="en-US" sz="1500" dirty="0"/>
          </a:p>
          <a:p>
            <a:pPr marL="342900" indent="-342900">
              <a:spcAft>
                <a:spcPts val="1000"/>
              </a:spcAft>
              <a:buSzPct val="100000"/>
              <a:buChar char="•"/>
            </a:pPr>
            <a:r>
              <a:rPr lang="en-US" sz="1500" dirty="0">
                <a:solidFill>
                  <a:srgbClr val="FFFFFF"/>
                </a:solidFill>
              </a:rPr>
              <a:t>Identity is not authority: a valid DID alone never gives access.</a:t>
            </a:r>
            <a:endParaRPr lang="en-US" sz="1500" dirty="0"/>
          </a:p>
          <a:p>
            <a:pPr marL="342900" indent="-342900">
              <a:spcAft>
                <a:spcPts val="1000"/>
              </a:spcAft>
              <a:buSzPct val="100000"/>
              <a:buChar char="•"/>
            </a:pPr>
            <a:r>
              <a:rPr lang="en-US" sz="1500" dirty="0">
                <a:solidFill>
                  <a:srgbClr val="FFFFFF"/>
                </a:solidFill>
              </a:rPr>
              <a:t>In the HALAH implementation, the Guardian workflow uses a selected guardian DID and invokes VC verification before adding the guardian's signature to the consent.</a:t>
            </a:r>
            <a:endParaRPr lang="en-US" sz="1500" dirty="0"/>
          </a:p>
          <a:p>
            <a:pPr marL="342900" indent="-342900">
              <a:spcAft>
                <a:spcPts val="1000"/>
              </a:spcAft>
              <a:buSzPct val="100000"/>
              <a:buChar char="•"/>
            </a:pPr>
            <a:r>
              <a:rPr lang="en-US" sz="1500" dirty="0">
                <a:solidFill>
                  <a:srgbClr val="FFFFFF"/>
                </a:solidFill>
              </a:rPr>
              <a:t>Full DID resolution is planned for the next stage.</a:t>
            </a:r>
            <a:endParaRPr lang="en-US" sz="1500" dirty="0"/>
          </a:p>
        </p:txBody>
      </p:sp>
      <p:sp>
        <p:nvSpPr>
          <p:cNvPr id="8" name="ALG2 panel"/>
          <p:cNvSpPr/>
          <p:nvPr/>
        </p:nvSpPr>
        <p:spPr>
          <a:xfrm>
            <a:off x="6296033" y="960120"/>
            <a:ext cx="5193014" cy="5532120"/>
          </a:xfrm>
          <a:prstGeom prst="roundRect">
            <a:avLst>
              <a:gd name="adj" fmla="val 2113"/>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ALG2" descr="/tmp/deck/img/ALG2.png"/>
          <p:cNvPicPr>
            <a:picLocks noChangeAspect="1"/>
          </p:cNvPicPr>
          <p:nvPr/>
        </p:nvPicPr>
        <p:blipFill>
          <a:blip r:embed="rId3"/>
          <a:stretch>
            <a:fillRect/>
          </a:stretch>
        </p:blipFill>
        <p:spPr>
          <a:xfrm>
            <a:off x="6405761" y="1069848"/>
            <a:ext cx="4973558"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21</a:t>
            </a:fld>
            <a:endParaRPr lang="en-US"/>
          </a:p>
        </p:txBody>
      </p:sp>
      <p:sp>
        <p:nvSpPr>
          <p:cNvPr id="26" name="Text 0">
            <a:extLst>
              <a:ext uri="{FF2B5EF4-FFF2-40B4-BE49-F238E27FC236}">
                <a16:creationId xmlns:a16="http://schemas.microsoft.com/office/drawing/2014/main" id="{D928237E-07D0-0CDC-A5E0-8C863F76329B}"/>
              </a:ext>
            </a:extLst>
          </p:cNvPr>
          <p:cNvSpPr txBox="1">
            <a:spLocks/>
          </p:cNvSpPr>
          <p:nvPr/>
        </p:nvSpPr>
        <p:spPr>
          <a:xfrm>
            <a:off x="0" y="1197033"/>
            <a:ext cx="5622174" cy="349134"/>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US" sz="1400" i="1" dirty="0">
                <a:solidFill>
                  <a:srgbClr val="1FB5D6"/>
                </a:solidFill>
              </a:rPr>
              <a:t>RO2: </a:t>
            </a:r>
            <a:r>
              <a:rPr lang="en-US" sz="1400" i="1" dirty="0" err="1">
                <a:solidFill>
                  <a:srgbClr val="1FB5D6"/>
                </a:solidFill>
              </a:rPr>
              <a:t>Decentralised</a:t>
            </a:r>
            <a:r>
              <a:rPr lang="en-US" sz="1400" i="1" dirty="0">
                <a:solidFill>
                  <a:srgbClr val="1FB5D6"/>
                </a:solidFill>
              </a:rPr>
              <a:t> Identity and Authority Trust</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i="1" dirty="0">
                <a:solidFill>
                  <a:srgbClr val="1FB5D6"/>
                </a:solidFill>
              </a:rPr>
              <a:t>RO2: </a:t>
            </a:r>
            <a:r>
              <a:rPr lang="en-US" sz="3200" i="1" dirty="0" err="1">
                <a:solidFill>
                  <a:srgbClr val="1FB5D6"/>
                </a:solidFill>
              </a:rPr>
              <a:t>Decentralised</a:t>
            </a:r>
            <a:r>
              <a:rPr lang="en-US" sz="3200" i="1" dirty="0">
                <a:solidFill>
                  <a:srgbClr val="1FB5D6"/>
                </a:solidFill>
              </a:rPr>
              <a:t> Identity and Authority Trust</a:t>
            </a:r>
            <a:endParaRPr lang="en-US" sz="3200" dirty="0"/>
          </a:p>
        </p:txBody>
      </p:sp>
      <p:sp>
        <p:nvSpPr>
          <p:cNvPr id="6" name="F12 panel"/>
          <p:cNvSpPr/>
          <p:nvPr/>
        </p:nvSpPr>
        <p:spPr>
          <a:xfrm>
            <a:off x="4203067" y="960120"/>
            <a:ext cx="3785562" cy="5532120"/>
          </a:xfrm>
          <a:prstGeom prst="roundRect">
            <a:avLst>
              <a:gd name="adj" fmla="val 2899"/>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7" name="F12" descr="/tmp/deck/img/F12.png"/>
          <p:cNvPicPr>
            <a:picLocks noChangeAspect="1"/>
          </p:cNvPicPr>
          <p:nvPr/>
        </p:nvPicPr>
        <p:blipFill>
          <a:blip r:embed="rId3"/>
          <a:stretch>
            <a:fillRect/>
          </a:stretch>
        </p:blipFill>
        <p:spPr>
          <a:xfrm>
            <a:off x="4312795" y="1069848"/>
            <a:ext cx="3566106"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dirty="0"/>
              <a:t>Proposed solution for objective 3</a:t>
            </a:r>
          </a:p>
        </p:txBody>
      </p:sp>
      <p:sp>
        <p:nvSpPr>
          <p:cNvPr id="5"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txBody>
          <a:bodyPr/>
          <a:lstStyle/>
          <a:p>
            <a:endParaRPr lang="en-AU"/>
          </a:p>
        </p:txBody>
      </p:sp>
      <p:sp>
        <p:nvSpPr>
          <p:cNvPr id="6"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Done</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285750" indent="-285750">
              <a:spcAft>
                <a:spcPts val="1000"/>
              </a:spcAft>
              <a:buSzPct val="100000"/>
              <a:buFont typeface="Arial" panose="020B0604020202020204" pitchFamily="34" charset="0"/>
              <a:buChar char="•"/>
            </a:pPr>
            <a:r>
              <a:rPr lang="en-US" sz="1450" dirty="0">
                <a:solidFill>
                  <a:srgbClr val="FFFFFF"/>
                </a:solidFill>
              </a:rPr>
              <a:t>The guardian set G is fixed when the consent is created.</a:t>
            </a:r>
            <a:endParaRPr lang="en-US" sz="1450" dirty="0"/>
          </a:p>
          <a:p>
            <a:pPr marL="285750" indent="-285750">
              <a:buFont typeface="Arial" panose="020B0604020202020204" pitchFamily="34" charset="0"/>
              <a:buChar char="•"/>
            </a:pPr>
            <a:r>
              <a:rPr lang="en-AU" sz="1450" dirty="0">
                <a:solidFill>
                  <a:srgbClr val="FFFFFF"/>
                </a:solidFill>
              </a:rPr>
              <a:t>Each guardian signs a digital approval; the system checks who signed and that this person is in G.</a:t>
            </a:r>
            <a:endParaRPr lang="ar-SA" sz="1450" dirty="0">
              <a:solidFill>
                <a:srgbClr val="FFFFFF"/>
              </a:solidFill>
            </a:endParaRPr>
          </a:p>
          <a:p>
            <a:pPr marL="285750" indent="-285750">
              <a:buFont typeface="Arial" panose="020B0604020202020204" pitchFamily="34" charset="0"/>
              <a:buChar char="•"/>
            </a:pPr>
            <a:endParaRPr lang="en-AU" sz="1450" dirty="0">
              <a:solidFill>
                <a:srgbClr val="FFFFFF"/>
              </a:solidFill>
            </a:endParaRPr>
          </a:p>
          <a:p>
            <a:pPr marL="285750" indent="-285750">
              <a:spcAft>
                <a:spcPts val="1000"/>
              </a:spcAft>
              <a:buSzPct val="100000"/>
              <a:buFont typeface="Arial" panose="020B0604020202020204" pitchFamily="34" charset="0"/>
              <a:buChar char="•"/>
            </a:pPr>
            <a:r>
              <a:rPr lang="en-US" sz="1450" dirty="0">
                <a:solidFill>
                  <a:srgbClr val="FFFFFF"/>
                </a:solidFill>
              </a:rPr>
              <a:t>Approvals from outsiders and duplicates are not counted; a signature replayed from another consent fails the identity check.</a:t>
            </a:r>
            <a:endParaRPr lang="en-US" sz="1450" dirty="0"/>
          </a:p>
          <a:p>
            <a:pPr marL="285750" indent="-285750">
              <a:spcAft>
                <a:spcPts val="1000"/>
              </a:spcAft>
              <a:buSzPct val="100000"/>
              <a:buFont typeface="Arial" panose="020B0604020202020204" pitchFamily="34" charset="0"/>
              <a:buChar char="•"/>
            </a:pPr>
            <a:r>
              <a:rPr lang="en-US" sz="1450" dirty="0">
                <a:solidFill>
                  <a:srgbClr val="FFFFFF"/>
                </a:solidFill>
              </a:rPr>
              <a:t>N-of-N rule: every listed guardian must sign (2-of-2 in the demo).</a:t>
            </a:r>
            <a:endParaRPr lang="en-US" sz="1450" dirty="0"/>
          </a:p>
          <a:p>
            <a:pPr marL="285750" indent="-285750">
              <a:buFont typeface="Arial" panose="020B0604020202020204" pitchFamily="34" charset="0"/>
              <a:buChar char="•"/>
            </a:pPr>
            <a:r>
              <a:rPr lang="en-AU" sz="1450" dirty="0">
                <a:solidFill>
                  <a:srgbClr val="FFFFFF"/>
                </a:solidFill>
              </a:rPr>
              <a:t>When all have signed, the consent becomes active.</a:t>
            </a:r>
          </a:p>
          <a:p>
            <a:pPr marL="285750" indent="-285750">
              <a:buFont typeface="Arial" panose="020B0604020202020204" pitchFamily="34" charset="0"/>
              <a:buChar char="•"/>
            </a:pPr>
            <a:endParaRPr lang="en-AU" sz="1450" dirty="0">
              <a:solidFill>
                <a:srgbClr val="FFFFFF"/>
              </a:solidFill>
            </a:endParaRPr>
          </a:p>
          <a:p>
            <a:pPr marL="285750" indent="-285750">
              <a:spcAft>
                <a:spcPts val="1000"/>
              </a:spcAft>
              <a:buSzPct val="100000"/>
              <a:buFont typeface="Arial" panose="020B0604020202020204" pitchFamily="34" charset="0"/>
              <a:buChar char="•"/>
            </a:pPr>
            <a:r>
              <a:rPr lang="en-US" sz="1450" dirty="0">
                <a:solidFill>
                  <a:srgbClr val="FFFFFF"/>
                </a:solidFill>
              </a:rPr>
              <a:t>In the prototype the guardian keys are derived from the guardian DIDs; wallet-held keys are for the next stage.</a:t>
            </a:r>
            <a:endParaRPr lang="en-US" sz="1450" dirty="0"/>
          </a:p>
        </p:txBody>
      </p:sp>
      <p:sp>
        <p:nvSpPr>
          <p:cNvPr id="8" name="ALG3 panel"/>
          <p:cNvSpPr/>
          <p:nvPr/>
        </p:nvSpPr>
        <p:spPr>
          <a:xfrm>
            <a:off x="6632236" y="960120"/>
            <a:ext cx="4520608" cy="5532120"/>
          </a:xfrm>
          <a:prstGeom prst="roundRect">
            <a:avLst>
              <a:gd name="adj" fmla="val 2427"/>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ALG3" descr="/tmp/deck/img/ALG3.png"/>
          <p:cNvPicPr>
            <a:picLocks noChangeAspect="1"/>
          </p:cNvPicPr>
          <p:nvPr/>
        </p:nvPicPr>
        <p:blipFill>
          <a:blip r:embed="rId3"/>
          <a:stretch>
            <a:fillRect/>
          </a:stretch>
        </p:blipFill>
        <p:spPr>
          <a:xfrm>
            <a:off x="6741964" y="1069848"/>
            <a:ext cx="4301152"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23</a:t>
            </a:fld>
            <a:endParaRPr lang="en-US"/>
          </a:p>
        </p:txBody>
      </p:sp>
      <p:sp>
        <p:nvSpPr>
          <p:cNvPr id="3" name="Text 0">
            <a:extLst>
              <a:ext uri="{FF2B5EF4-FFF2-40B4-BE49-F238E27FC236}">
                <a16:creationId xmlns:a16="http://schemas.microsoft.com/office/drawing/2014/main" id="{445DAE5C-E091-9851-AE46-0D49EFB69D20}"/>
              </a:ext>
            </a:extLst>
          </p:cNvPr>
          <p:cNvSpPr txBox="1">
            <a:spLocks/>
          </p:cNvSpPr>
          <p:nvPr/>
        </p:nvSpPr>
        <p:spPr>
          <a:xfrm>
            <a:off x="0" y="1190106"/>
            <a:ext cx="6168044" cy="410094"/>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AU" sz="1600" i="1" dirty="0">
                <a:solidFill>
                  <a:srgbClr val="1FB5D6"/>
                </a:solidFill>
              </a:rPr>
              <a:t>RO3: Trustworthy Multi-Party Authorisation</a:t>
            </a:r>
            <a:endParaRPr lang="en-AU"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i="1" dirty="0">
                <a:solidFill>
                  <a:srgbClr val="1FB5D6"/>
                </a:solidFill>
              </a:rPr>
              <a:t>RO3: Trustworthy Multi-Party </a:t>
            </a:r>
            <a:r>
              <a:rPr lang="en-US" sz="3200" i="1" dirty="0" err="1">
                <a:solidFill>
                  <a:srgbClr val="1FB5D6"/>
                </a:solidFill>
              </a:rPr>
              <a:t>Authorisation</a:t>
            </a:r>
            <a:endParaRPr lang="en-US" sz="3200" dirty="0"/>
          </a:p>
        </p:txBody>
      </p:sp>
      <p:sp>
        <p:nvSpPr>
          <p:cNvPr id="4"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txBody>
          <a:bodyPr/>
          <a:lstStyle/>
          <a:p>
            <a:endParaRPr lang="en-AU"/>
          </a:p>
        </p:txBody>
      </p:sp>
      <p:sp>
        <p:nvSpPr>
          <p:cNvPr id="5"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Done</a:t>
            </a:r>
            <a:endParaRPr lang="en-US" sz="1400" dirty="0"/>
          </a:p>
        </p:txBody>
      </p:sp>
      <p:sp>
        <p:nvSpPr>
          <p:cNvPr id="6" name="F13 panel"/>
          <p:cNvSpPr/>
          <p:nvPr/>
        </p:nvSpPr>
        <p:spPr>
          <a:xfrm>
            <a:off x="4266250" y="960120"/>
            <a:ext cx="3659194" cy="5532120"/>
          </a:xfrm>
          <a:prstGeom prst="roundRect">
            <a:avLst>
              <a:gd name="adj" fmla="val 2999"/>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7" name="F13" descr="/tmp/deck/img/F13.png"/>
          <p:cNvPicPr>
            <a:picLocks noChangeAspect="1"/>
          </p:cNvPicPr>
          <p:nvPr/>
        </p:nvPicPr>
        <p:blipFill>
          <a:blip r:embed="rId3"/>
          <a:stretch>
            <a:fillRect/>
          </a:stretch>
        </p:blipFill>
        <p:spPr>
          <a:xfrm>
            <a:off x="4375978" y="1069848"/>
            <a:ext cx="3439738"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dirty="0"/>
              <a:t>Proposed solution for objective 4</a:t>
            </a:r>
          </a:p>
        </p:txBody>
      </p:sp>
      <p:sp>
        <p:nvSpPr>
          <p:cNvPr id="5"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txBody>
          <a:bodyPr/>
          <a:lstStyle/>
          <a:p>
            <a:endParaRPr lang="en-AU"/>
          </a:p>
        </p:txBody>
      </p:sp>
      <p:sp>
        <p:nvSpPr>
          <p:cNvPr id="6"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Done</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550" dirty="0">
                <a:solidFill>
                  <a:srgbClr val="FFFFFF"/>
                </a:solidFill>
              </a:rPr>
              <a:t>The requested data must be a non-empty subset of the agreed data scope.</a:t>
            </a:r>
            <a:endParaRPr lang="en-US" sz="1550" dirty="0"/>
          </a:p>
          <a:p>
            <a:pPr marL="342900" indent="-342900">
              <a:spcAft>
                <a:spcPts val="1000"/>
              </a:spcAft>
              <a:buSzPct val="100000"/>
              <a:buChar char="•"/>
            </a:pPr>
            <a:r>
              <a:rPr lang="en-US" sz="1550" dirty="0">
                <a:solidFill>
                  <a:srgbClr val="FFFFFF"/>
                </a:solidFill>
              </a:rPr>
              <a:t>The purpose must be a supported purpose of the consent.</a:t>
            </a:r>
            <a:endParaRPr lang="en-US" sz="1550" dirty="0"/>
          </a:p>
          <a:p>
            <a:pPr marL="342900" indent="-342900">
              <a:spcAft>
                <a:spcPts val="1000"/>
              </a:spcAft>
              <a:buSzPct val="100000"/>
              <a:buChar char="•"/>
            </a:pPr>
            <a:r>
              <a:rPr lang="en-US" sz="1550" dirty="0">
                <a:solidFill>
                  <a:srgbClr val="FFFFFF"/>
                </a:solidFill>
              </a:rPr>
              <a:t>Time and the lifecycle state are checked in the same decision.</a:t>
            </a:r>
          </a:p>
          <a:p>
            <a:pPr marL="285750" indent="-285750">
              <a:buFont typeface="Arial" panose="020B0604020202020204" pitchFamily="34" charset="0"/>
              <a:buChar char="•"/>
            </a:pPr>
            <a:r>
              <a:rPr lang="en-AU" sz="1550" dirty="0">
                <a:solidFill>
                  <a:srgbClr val="FFFFFF"/>
                </a:solidFill>
              </a:rPr>
              <a:t>Access evidence must be verified before any data is retrieved.</a:t>
            </a:r>
          </a:p>
          <a:p>
            <a:pPr marL="342900" indent="-342900">
              <a:spcAft>
                <a:spcPts val="1000"/>
              </a:spcAft>
              <a:buSzPct val="100000"/>
              <a:buChar char="•"/>
            </a:pPr>
            <a:r>
              <a:rPr lang="en-US" sz="1550" dirty="0">
                <a:solidFill>
                  <a:srgbClr val="FFFFFF"/>
                </a:solidFill>
              </a:rPr>
              <a:t>Example: asking for Procedure when only Observation and Medication were agreed gives DENY.</a:t>
            </a:r>
            <a:endParaRPr lang="en-US" sz="1550" dirty="0"/>
          </a:p>
        </p:txBody>
      </p:sp>
      <p:sp>
        <p:nvSpPr>
          <p:cNvPr id="8" name="ALG4 panel"/>
          <p:cNvSpPr/>
          <p:nvPr/>
        </p:nvSpPr>
        <p:spPr>
          <a:xfrm>
            <a:off x="6651819" y="960120"/>
            <a:ext cx="4481441" cy="5532120"/>
          </a:xfrm>
          <a:prstGeom prst="roundRect">
            <a:avLst>
              <a:gd name="adj" fmla="val 2448"/>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ALG4" descr="/tmp/deck/img/ALG4.png"/>
          <p:cNvPicPr>
            <a:picLocks noChangeAspect="1"/>
          </p:cNvPicPr>
          <p:nvPr/>
        </p:nvPicPr>
        <p:blipFill>
          <a:blip r:embed="rId3"/>
          <a:stretch>
            <a:fillRect/>
          </a:stretch>
        </p:blipFill>
        <p:spPr>
          <a:xfrm>
            <a:off x="6761547" y="1069848"/>
            <a:ext cx="4261985"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25</a:t>
            </a:fld>
            <a:endParaRPr lang="en-US"/>
          </a:p>
        </p:txBody>
      </p:sp>
      <p:sp>
        <p:nvSpPr>
          <p:cNvPr id="3" name="Text 0">
            <a:extLst>
              <a:ext uri="{FF2B5EF4-FFF2-40B4-BE49-F238E27FC236}">
                <a16:creationId xmlns:a16="http://schemas.microsoft.com/office/drawing/2014/main" id="{71C1D0AB-311B-2384-02A9-C7E1EB47C4E5}"/>
              </a:ext>
            </a:extLst>
          </p:cNvPr>
          <p:cNvSpPr txBox="1">
            <a:spLocks/>
          </p:cNvSpPr>
          <p:nvPr/>
        </p:nvSpPr>
        <p:spPr>
          <a:xfrm>
            <a:off x="822960" y="997527"/>
            <a:ext cx="4408516" cy="602673"/>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US" sz="1400" i="1" dirty="0">
                <a:solidFill>
                  <a:srgbClr val="1FB5D6"/>
                </a:solidFill>
              </a:rPr>
              <a:t>RO4: Policy- and Context-Aware Access Control</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i="1" dirty="0">
                <a:solidFill>
                  <a:srgbClr val="1FB5D6"/>
                </a:solidFill>
              </a:rPr>
              <a:t>RO4: Policy- and Context-Aware Access Control</a:t>
            </a:r>
            <a:endParaRPr lang="en-US" sz="3200" dirty="0"/>
          </a:p>
        </p:txBody>
      </p:sp>
      <p:sp>
        <p:nvSpPr>
          <p:cNvPr id="6" name="F14 panel"/>
          <p:cNvSpPr/>
          <p:nvPr/>
        </p:nvSpPr>
        <p:spPr>
          <a:xfrm>
            <a:off x="4903969" y="960120"/>
            <a:ext cx="2383757" cy="5532120"/>
          </a:xfrm>
          <a:prstGeom prst="roundRect">
            <a:avLst>
              <a:gd name="adj" fmla="val 4603"/>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7" name="F14" descr="/tmp/deck/img/F14.png"/>
          <p:cNvPicPr>
            <a:picLocks noChangeAspect="1"/>
          </p:cNvPicPr>
          <p:nvPr/>
        </p:nvPicPr>
        <p:blipFill>
          <a:blip r:embed="rId3"/>
          <a:stretch>
            <a:fillRect/>
          </a:stretch>
        </p:blipFill>
        <p:spPr>
          <a:xfrm>
            <a:off x="5013697" y="1069848"/>
            <a:ext cx="2164301"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dirty="0"/>
              <a:t>Proposed solution for objective 5</a:t>
            </a:r>
          </a:p>
        </p:txBody>
      </p:sp>
      <p:sp>
        <p:nvSpPr>
          <p:cNvPr id="5" name="status chip"/>
          <p:cNvSpPr/>
          <p:nvPr/>
        </p:nvSpPr>
        <p:spPr>
          <a:xfrm>
            <a:off x="548640" y="1783080"/>
            <a:ext cx="2377440" cy="411480"/>
          </a:xfrm>
          <a:prstGeom prst="roundRect">
            <a:avLst>
              <a:gd name="adj" fmla="val 44444"/>
            </a:avLst>
          </a:prstGeom>
          <a:solidFill>
            <a:srgbClr val="B7791F"/>
          </a:solidFill>
          <a:ln w="12700">
            <a:solidFill>
              <a:srgbClr val="B7791F"/>
            </a:solidFill>
            <a:prstDash val="solid"/>
          </a:ln>
        </p:spPr>
        <p:txBody>
          <a:bodyPr/>
          <a:lstStyle/>
          <a:p>
            <a:endParaRPr lang="en-AU"/>
          </a:p>
        </p:txBody>
      </p:sp>
      <p:sp>
        <p:nvSpPr>
          <p:cNvPr id="6"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In Progress</a:t>
            </a:r>
            <a:endParaRPr lang="en-US" sz="1400" dirty="0"/>
          </a:p>
        </p:txBody>
      </p:sp>
      <p:sp>
        <p:nvSpPr>
          <p:cNvPr id="7" name="bullets"/>
          <p:cNvSpPr txBox="1"/>
          <p:nvPr/>
        </p:nvSpPr>
        <p:spPr>
          <a:xfrm>
            <a:off x="920766" y="2338230"/>
            <a:ext cx="10319988" cy="3491069"/>
          </a:xfrm>
          <a:prstGeom prst="rect">
            <a:avLst/>
          </a:prstGeom>
          <a:noFill/>
          <a:ln/>
        </p:spPr>
        <p:txBody>
          <a:bodyPr wrap="square" rtlCol="0" anchor="t"/>
          <a:lstStyle/>
          <a:p>
            <a:pPr marL="342900" indent="-342900">
              <a:spcAft>
                <a:spcPts val="1000"/>
              </a:spcAft>
              <a:buSzPct val="100000"/>
              <a:buChar char="•"/>
            </a:pPr>
            <a:r>
              <a:rPr lang="en-US" sz="2000" dirty="0">
                <a:solidFill>
                  <a:srgbClr val="FFFFFF"/>
                </a:solidFill>
              </a:rPr>
              <a:t>Working now: the validity window is stored </a:t>
            </a:r>
            <a:r>
              <a:rPr lang="en-US" sz="2000" dirty="0">
                <a:solidFill>
                  <a:srgbClr val="FFFFFF"/>
                </a:solidFill>
                <a:highlight>
                  <a:srgbClr val="FFFF00"/>
                </a:highlight>
              </a:rPr>
              <a:t>on-chain</a:t>
            </a:r>
            <a:r>
              <a:rPr lang="en-US" sz="2000" dirty="0">
                <a:solidFill>
                  <a:srgbClr val="FFFFFF"/>
                </a:solidFill>
              </a:rPr>
              <a:t> and checked at every request.</a:t>
            </a:r>
            <a:endParaRPr lang="en-US" sz="2000" dirty="0"/>
          </a:p>
          <a:p>
            <a:pPr marL="342900" indent="-342900">
              <a:spcAft>
                <a:spcPts val="1000"/>
              </a:spcAft>
              <a:buSzPct val="100000"/>
              <a:buChar char="•"/>
            </a:pPr>
            <a:r>
              <a:rPr lang="en-US" sz="2000" dirty="0">
                <a:solidFill>
                  <a:srgbClr val="FFFFFF"/>
                </a:solidFill>
              </a:rPr>
              <a:t>Working now: revocation end to end, including an </a:t>
            </a:r>
            <a:r>
              <a:rPr lang="en-US" sz="2000" dirty="0">
                <a:solidFill>
                  <a:srgbClr val="FFFFFF"/>
                </a:solidFill>
                <a:highlight>
                  <a:srgbClr val="FFFF00"/>
                </a:highlight>
              </a:rPr>
              <a:t>on-chain</a:t>
            </a:r>
            <a:r>
              <a:rPr lang="en-US" sz="2000" dirty="0">
                <a:solidFill>
                  <a:srgbClr val="FFFFFF"/>
                </a:solidFill>
              </a:rPr>
              <a:t> </a:t>
            </a:r>
            <a:r>
              <a:rPr lang="en-US" sz="2000" dirty="0">
                <a:solidFill>
                  <a:srgbClr val="FFFFFF"/>
                </a:solidFill>
                <a:highlight>
                  <a:srgbClr val="FFFF00"/>
                </a:highlight>
              </a:rPr>
              <a:t>revoke</a:t>
            </a:r>
            <a:r>
              <a:rPr lang="en-US" sz="2000" dirty="0">
                <a:solidFill>
                  <a:srgbClr val="FFFFFF"/>
                </a:solidFill>
              </a:rPr>
              <a:t> transaction.</a:t>
            </a:r>
            <a:endParaRPr lang="en-US" sz="2000" dirty="0"/>
          </a:p>
          <a:p>
            <a:pPr marL="342900" indent="-342900">
              <a:spcAft>
                <a:spcPts val="1000"/>
              </a:spcAft>
              <a:buSzPct val="100000"/>
              <a:buChar char="•"/>
            </a:pPr>
            <a:r>
              <a:rPr lang="en-US" sz="2000" dirty="0">
                <a:solidFill>
                  <a:srgbClr val="FFFFFF"/>
                </a:solidFill>
              </a:rPr>
              <a:t>Design: L is the lifecycle state (CREATED, PENDING, ACTIVE, SUSPENDED, </a:t>
            </a:r>
            <a:r>
              <a:rPr lang="en-US" sz="2000" dirty="0">
                <a:solidFill>
                  <a:srgbClr val="FFFFFF"/>
                </a:solidFill>
                <a:highlight>
                  <a:srgbClr val="FFFF00"/>
                </a:highlight>
              </a:rPr>
              <a:t>REVOKED</a:t>
            </a:r>
            <a:r>
              <a:rPr lang="en-US" sz="2000" dirty="0">
                <a:solidFill>
                  <a:srgbClr val="FFFFFF"/>
                </a:solidFill>
              </a:rPr>
              <a:t>, EXPIRED), checked by VL(C) = ValidState(C) ∧ ValidTransition(C).</a:t>
            </a:r>
            <a:endParaRPr lang="en-US" sz="2000" dirty="0"/>
          </a:p>
          <a:p>
            <a:pPr marL="342900" indent="-342900">
              <a:spcAft>
                <a:spcPts val="1000"/>
              </a:spcAft>
              <a:buSzPct val="100000"/>
              <a:buChar char="•"/>
            </a:pPr>
            <a:r>
              <a:rPr lang="en-US" sz="2000" dirty="0">
                <a:solidFill>
                  <a:srgbClr val="FFFFFF"/>
                </a:solidFill>
              </a:rPr>
              <a:t>Working now: a clear lifecycle: PENDING_SIGNATURE, PENDING_TOKEN, NOT_STARTED, ACTIVE, EXPIRED, </a:t>
            </a:r>
            <a:r>
              <a:rPr lang="en-US" sz="2000" dirty="0">
                <a:solidFill>
                  <a:srgbClr val="FFFFFF"/>
                </a:solidFill>
                <a:highlight>
                  <a:srgbClr val="FFFF00"/>
                </a:highlight>
              </a:rPr>
              <a:t>REVOKED</a:t>
            </a:r>
            <a:r>
              <a:rPr lang="en-US" sz="2000" dirty="0">
                <a:solidFill>
                  <a:srgbClr val="FFFFFF"/>
                </a:solidFill>
              </a:rPr>
              <a:t>.</a:t>
            </a:r>
            <a:endParaRPr lang="en-US" sz="2000" dirty="0"/>
          </a:p>
          <a:p>
            <a:pPr marL="342900" indent="-342900">
              <a:spcAft>
                <a:spcPts val="1000"/>
              </a:spcAft>
              <a:buSzPct val="100000"/>
              <a:buChar char="•"/>
            </a:pPr>
            <a:r>
              <a:rPr lang="en-US" sz="2000" dirty="0">
                <a:solidFill>
                  <a:srgbClr val="FFFFFF"/>
                </a:solidFill>
              </a:rPr>
              <a:t>Next stage: the SUSPENDED state, the lifecycle transition check, consent modification, delegation, guardian-set changes and a formal lifecycle model.</a:t>
            </a:r>
            <a:endParaRPr lang="en-US" sz="2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27</a:t>
            </a:fld>
            <a:endParaRPr lang="en-US"/>
          </a:p>
        </p:txBody>
      </p:sp>
      <p:sp>
        <p:nvSpPr>
          <p:cNvPr id="3" name="Text 0">
            <a:extLst>
              <a:ext uri="{FF2B5EF4-FFF2-40B4-BE49-F238E27FC236}">
                <a16:creationId xmlns:a16="http://schemas.microsoft.com/office/drawing/2014/main" id="{8E804DD9-5F7C-FDD1-4DA5-2DF8A64F5E48}"/>
              </a:ext>
            </a:extLst>
          </p:cNvPr>
          <p:cNvSpPr txBox="1">
            <a:spLocks/>
          </p:cNvSpPr>
          <p:nvPr/>
        </p:nvSpPr>
        <p:spPr>
          <a:xfrm>
            <a:off x="764726" y="1028700"/>
            <a:ext cx="4049843" cy="640080"/>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US" sz="1800" i="1" dirty="0">
                <a:solidFill>
                  <a:srgbClr val="1FB5D6"/>
                </a:solidFill>
              </a:rPr>
              <a:t>RO5: Temporal and Lifecycle Trust</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2800" dirty="0"/>
              <a:t>Proposed solution for objective 6</a:t>
            </a:r>
          </a:p>
        </p:txBody>
      </p:sp>
      <p:sp>
        <p:nvSpPr>
          <p:cNvPr id="5" name="status chip"/>
          <p:cNvSpPr/>
          <p:nvPr/>
        </p:nvSpPr>
        <p:spPr>
          <a:xfrm>
            <a:off x="548640" y="1783080"/>
            <a:ext cx="3200400" cy="411480"/>
          </a:xfrm>
          <a:prstGeom prst="roundRect">
            <a:avLst>
              <a:gd name="adj" fmla="val 44444"/>
            </a:avLst>
          </a:prstGeom>
          <a:solidFill>
            <a:srgbClr val="6D5BA8"/>
          </a:solidFill>
          <a:ln w="12700">
            <a:solidFill>
              <a:srgbClr val="6D5BA8"/>
            </a:solidFill>
            <a:prstDash val="solid"/>
          </a:ln>
        </p:spPr>
        <p:txBody>
          <a:bodyPr/>
          <a:lstStyle/>
          <a:p>
            <a:endParaRPr lang="en-AU"/>
          </a:p>
        </p:txBody>
      </p:sp>
      <p:sp>
        <p:nvSpPr>
          <p:cNvPr id="6" name="status text"/>
          <p:cNvSpPr txBox="1"/>
          <p:nvPr/>
        </p:nvSpPr>
        <p:spPr>
          <a:xfrm>
            <a:off x="548640" y="1783080"/>
            <a:ext cx="3200400" cy="411480"/>
          </a:xfrm>
          <a:prstGeom prst="rect">
            <a:avLst/>
          </a:prstGeom>
          <a:noFill/>
          <a:ln/>
        </p:spPr>
        <p:txBody>
          <a:bodyPr wrap="square" rtlCol="0" anchor="ctr"/>
          <a:lstStyle/>
          <a:p>
            <a:pPr marL="0" indent="0" algn="ctr">
              <a:buNone/>
            </a:pPr>
            <a:r>
              <a:rPr lang="en-US" sz="1400" b="1" dirty="0">
                <a:solidFill>
                  <a:srgbClr val="FFFFFF"/>
                </a:solidFill>
              </a:rPr>
              <a:t>Status: Partially completed</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Done: 46 automated tests pass, including 12 attack scenarios A1 to A12.</a:t>
            </a:r>
            <a:endParaRPr lang="en-US" sz="1600" dirty="0"/>
          </a:p>
          <a:p>
            <a:pPr marL="342900" indent="-342900">
              <a:spcAft>
                <a:spcPts val="1000"/>
              </a:spcAft>
              <a:buSzPct val="100000"/>
              <a:buChar char="•"/>
            </a:pPr>
            <a:r>
              <a:rPr lang="en-US" sz="1600" dirty="0">
                <a:solidFill>
                  <a:srgbClr val="FFFFFF"/>
                </a:solidFill>
              </a:rPr>
              <a:t>Done: gas, confirmation latency and processing time measured.</a:t>
            </a:r>
            <a:endParaRPr lang="en-US" sz="1600" dirty="0"/>
          </a:p>
          <a:p>
            <a:pPr marL="342900" indent="-342900">
              <a:spcAft>
                <a:spcPts val="1000"/>
              </a:spcAft>
              <a:buSzPct val="100000"/>
              <a:buChar char="•"/>
            </a:pPr>
            <a:r>
              <a:rPr lang="en-US" sz="1600" dirty="0">
                <a:solidFill>
                  <a:srgbClr val="FFFFFF"/>
                </a:solidFill>
              </a:rPr>
              <a:t>Next stage: formal proofs or model checking of the security properties, and a larger evaluation under load.</a:t>
            </a:r>
            <a:endParaRPr lang="en-US" sz="1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28</a:t>
            </a:fld>
            <a:endParaRPr lang="en-US"/>
          </a:p>
        </p:txBody>
      </p:sp>
      <p:sp>
        <p:nvSpPr>
          <p:cNvPr id="3" name="Text 0">
            <a:extLst>
              <a:ext uri="{FF2B5EF4-FFF2-40B4-BE49-F238E27FC236}">
                <a16:creationId xmlns:a16="http://schemas.microsoft.com/office/drawing/2014/main" id="{CFF9E547-B108-F639-F60D-8E5E60FC29BF}"/>
              </a:ext>
            </a:extLst>
          </p:cNvPr>
          <p:cNvSpPr txBox="1">
            <a:spLocks/>
          </p:cNvSpPr>
          <p:nvPr/>
        </p:nvSpPr>
        <p:spPr>
          <a:xfrm>
            <a:off x="254922" y="1222601"/>
            <a:ext cx="5841077" cy="400101"/>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US" sz="1600" i="1" dirty="0">
                <a:solidFill>
                  <a:srgbClr val="1FB5D6"/>
                </a:solidFill>
              </a:rPr>
              <a:t>RO6: Formal Security Assurance and Empirical Validation</a:t>
            </a:r>
            <a:endParaRPr lang="en-US" sz="1600" dirty="0"/>
          </a:p>
        </p:txBody>
      </p:sp>
      <p:sp>
        <p:nvSpPr>
          <p:cNvPr id="10" name="F16 panel">
            <a:extLst>
              <a:ext uri="{FF2B5EF4-FFF2-40B4-BE49-F238E27FC236}">
                <a16:creationId xmlns:a16="http://schemas.microsoft.com/office/drawing/2014/main" id="{07737720-46D5-B88C-ABBC-FA89282C8FFF}"/>
              </a:ext>
            </a:extLst>
          </p:cNvPr>
          <p:cNvSpPr/>
          <p:nvPr/>
        </p:nvSpPr>
        <p:spPr>
          <a:xfrm>
            <a:off x="6164133" y="1056942"/>
            <a:ext cx="5675087" cy="5532120"/>
          </a:xfrm>
          <a:prstGeom prst="roundRect">
            <a:avLst>
              <a:gd name="adj" fmla="val 1983"/>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12" name="F16" descr="/tmp/deck/img/F16.png">
            <a:extLst>
              <a:ext uri="{FF2B5EF4-FFF2-40B4-BE49-F238E27FC236}">
                <a16:creationId xmlns:a16="http://schemas.microsoft.com/office/drawing/2014/main" id="{1D67FA77-C3AD-4CF8-7021-C79487AC4381}"/>
              </a:ext>
            </a:extLst>
          </p:cNvPr>
          <p:cNvPicPr>
            <a:picLocks noChangeAspect="1"/>
          </p:cNvPicPr>
          <p:nvPr/>
        </p:nvPicPr>
        <p:blipFill>
          <a:blip r:embed="rId3"/>
          <a:stretch>
            <a:fillRect/>
          </a:stretch>
        </p:blipFill>
        <p:spPr>
          <a:xfrm>
            <a:off x="6273861" y="1166670"/>
            <a:ext cx="5455631" cy="531266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THE HALAH PROTOTYPE</a:t>
            </a:r>
            <a:endParaRPr lang="en-US" sz="3000" dirty="0"/>
          </a:p>
        </p:txBody>
      </p:sp>
      <p:sp>
        <p:nvSpPr>
          <p:cNvPr id="5" name="card Four interfaces"/>
          <p:cNvSpPr/>
          <p:nvPr/>
        </p:nvSpPr>
        <p:spPr>
          <a:xfrm>
            <a:off x="640080" y="155448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6" name="card text Four interfaces"/>
          <p:cNvSpPr txBox="1"/>
          <p:nvPr/>
        </p:nvSpPr>
        <p:spPr>
          <a:xfrm>
            <a:off x="777240" y="164592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Four interfaces</a:t>
            </a:r>
            <a:endParaRPr lang="en-US" sz="1900" dirty="0"/>
          </a:p>
          <a:p>
            <a:pPr marL="0" indent="0">
              <a:spcAft>
                <a:spcPts val="400"/>
              </a:spcAft>
              <a:buNone/>
            </a:pPr>
            <a:r>
              <a:rPr lang="en-US" sz="1600" dirty="0">
                <a:solidFill>
                  <a:srgbClr val="0B1F33"/>
                </a:solidFill>
              </a:rPr>
              <a:t>Patient, guardian, doctor and auditor</a:t>
            </a:r>
            <a:endParaRPr lang="en-US" sz="1900" dirty="0"/>
          </a:p>
        </p:txBody>
      </p:sp>
      <p:sp>
        <p:nvSpPr>
          <p:cNvPr id="7" name="card Identity and credentials"/>
          <p:cNvSpPr/>
          <p:nvPr/>
        </p:nvSpPr>
        <p:spPr>
          <a:xfrm>
            <a:off x="4343400" y="155448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8" name="card text Identity and credentials"/>
          <p:cNvSpPr txBox="1"/>
          <p:nvPr/>
        </p:nvSpPr>
        <p:spPr>
          <a:xfrm>
            <a:off x="4480560" y="164592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Identity and credentials</a:t>
            </a:r>
            <a:endParaRPr lang="en-US" sz="1900" dirty="0"/>
          </a:p>
          <a:p>
            <a:pPr marL="0" indent="0">
              <a:spcAft>
                <a:spcPts val="400"/>
              </a:spcAft>
              <a:buNone/>
            </a:pPr>
            <a:r>
              <a:rPr lang="en-US" sz="1600" dirty="0">
                <a:solidFill>
                  <a:srgbClr val="0B1F33"/>
                </a:solidFill>
              </a:rPr>
              <a:t>A DID for every participant; a verifiable credential is checked before access or approval</a:t>
            </a:r>
            <a:endParaRPr lang="en-US" sz="1900" dirty="0"/>
          </a:p>
        </p:txBody>
      </p:sp>
      <p:sp>
        <p:nvSpPr>
          <p:cNvPr id="9" name="card Approval and consent token"/>
          <p:cNvSpPr/>
          <p:nvPr/>
        </p:nvSpPr>
        <p:spPr>
          <a:xfrm>
            <a:off x="8046720" y="155448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10" name="card text Approval and consent token"/>
          <p:cNvSpPr txBox="1"/>
          <p:nvPr/>
        </p:nvSpPr>
        <p:spPr>
          <a:xfrm>
            <a:off x="8183880" y="1645920"/>
            <a:ext cx="3246120" cy="1920240"/>
          </a:xfrm>
          <a:prstGeom prst="rect">
            <a:avLst/>
          </a:prstGeom>
          <a:noFill/>
          <a:ln/>
        </p:spPr>
        <p:txBody>
          <a:bodyPr wrap="square" rtlCol="0" anchor="t"/>
          <a:lstStyle/>
          <a:p>
            <a:pPr>
              <a:spcAft>
                <a:spcPts val="400"/>
              </a:spcAft>
            </a:pPr>
            <a:r>
              <a:rPr lang="en-AU" sz="1900" b="1" dirty="0">
                <a:solidFill>
                  <a:srgbClr val="0B2A4A"/>
                </a:solidFill>
              </a:rPr>
              <a:t>Multi-party approval</a:t>
            </a:r>
            <a:endParaRPr lang="ar-SA" sz="1900" b="1" dirty="0">
              <a:solidFill>
                <a:srgbClr val="0B2A4A"/>
              </a:solidFill>
            </a:endParaRPr>
          </a:p>
          <a:p>
            <a:pPr>
              <a:spcAft>
                <a:spcPts val="400"/>
              </a:spcAft>
            </a:pPr>
            <a:r>
              <a:rPr lang="en-AU" sz="1600" dirty="0">
                <a:solidFill>
                  <a:srgbClr val="0B1F33"/>
                </a:solidFill>
              </a:rPr>
              <a:t>Every</a:t>
            </a:r>
            <a:r>
              <a:rPr lang="en-AU" sz="2000" dirty="0"/>
              <a:t> </a:t>
            </a:r>
            <a:r>
              <a:rPr lang="en-AU" sz="1600" dirty="0">
                <a:solidFill>
                  <a:srgbClr val="0B1F33"/>
                </a:solidFill>
              </a:rPr>
              <a:t>listed guardian signs a digital approval; the consent becomes active only when all have signed</a:t>
            </a:r>
            <a:endParaRPr lang="en-US" sz="1600" dirty="0">
              <a:solidFill>
                <a:srgbClr val="0B1F33"/>
              </a:solidFill>
            </a:endParaRPr>
          </a:p>
        </p:txBody>
      </p:sp>
      <p:sp>
        <p:nvSpPr>
          <p:cNvPr id="11" name="card Decision engine"/>
          <p:cNvSpPr/>
          <p:nvPr/>
        </p:nvSpPr>
        <p:spPr>
          <a:xfrm>
            <a:off x="640080" y="393192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12" name="card text Decision engine"/>
          <p:cNvSpPr txBox="1"/>
          <p:nvPr/>
        </p:nvSpPr>
        <p:spPr>
          <a:xfrm>
            <a:off x="777240" y="402336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Decision engine</a:t>
            </a:r>
            <a:endParaRPr lang="en-US" sz="1900" dirty="0"/>
          </a:p>
          <a:p>
            <a:pPr>
              <a:spcAft>
                <a:spcPts val="400"/>
              </a:spcAft>
            </a:pPr>
            <a:r>
              <a:rPr lang="en-US" sz="1600" dirty="0">
                <a:solidFill>
                  <a:srgbClr val="0B1F33"/>
                </a:solidFill>
              </a:rPr>
              <a:t>VI ∧ VA ∧ VP ∧ VT ∧ VL checked at every request; one failed check gives DENY</a:t>
            </a:r>
            <a:endParaRPr lang="en-US" sz="1900" dirty="0"/>
          </a:p>
        </p:txBody>
      </p:sp>
      <p:sp>
        <p:nvSpPr>
          <p:cNvPr id="13" name="card Data"/>
          <p:cNvSpPr/>
          <p:nvPr/>
        </p:nvSpPr>
        <p:spPr>
          <a:xfrm>
            <a:off x="4343400" y="393192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14" name="card text Data"/>
          <p:cNvSpPr txBox="1"/>
          <p:nvPr/>
        </p:nvSpPr>
        <p:spPr>
          <a:xfrm>
            <a:off x="4480560" y="402336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Data</a:t>
            </a:r>
            <a:endParaRPr lang="en-US" sz="1900" dirty="0"/>
          </a:p>
          <a:p>
            <a:pPr marL="0" indent="0">
              <a:spcAft>
                <a:spcPts val="400"/>
              </a:spcAft>
              <a:buNone/>
            </a:pPr>
            <a:r>
              <a:rPr lang="en-US" sz="1600" dirty="0">
                <a:solidFill>
                  <a:srgbClr val="0B1F33"/>
                </a:solidFill>
              </a:rPr>
              <a:t>Synthetic Synthea records: Observation, Medication, Condition, Procedure</a:t>
            </a:r>
            <a:endParaRPr lang="en-US" sz="1900" dirty="0"/>
          </a:p>
        </p:txBody>
      </p:sp>
      <p:sp>
        <p:nvSpPr>
          <p:cNvPr id="15" name="card Evidence"/>
          <p:cNvSpPr/>
          <p:nvPr/>
        </p:nvSpPr>
        <p:spPr>
          <a:xfrm>
            <a:off x="8046720" y="393192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16" name="card text Evidence"/>
          <p:cNvSpPr txBox="1"/>
          <p:nvPr/>
        </p:nvSpPr>
        <p:spPr>
          <a:xfrm>
            <a:off x="8183880" y="402336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Evidence</a:t>
            </a:r>
            <a:endParaRPr lang="en-US" sz="1900" dirty="0"/>
          </a:p>
          <a:p>
            <a:pPr>
              <a:spcAft>
                <a:spcPts val="400"/>
              </a:spcAft>
            </a:pPr>
            <a:r>
              <a:rPr lang="en-AU" sz="1600" dirty="0"/>
              <a:t>Audit ledger of consent events and access decisions; medical records stay inside the application</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DEMO 1: THE PATIENT CREATES THE CONSENT</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txBody>
          <a:bodyPr/>
          <a:lstStyle/>
          <a:p>
            <a:endParaRPr lang="en-AU"/>
          </a:p>
        </p:txBody>
      </p:sp>
      <p:sp>
        <p:nvSpPr>
          <p:cNvPr id="5" name="status text"/>
          <p:cNvSpPr txBox="1"/>
          <p:nvPr/>
        </p:nvSpPr>
        <p:spPr>
          <a:xfrm>
            <a:off x="731520" y="1005840"/>
            <a:ext cx="2377440" cy="411480"/>
          </a:xfrm>
          <a:prstGeom prst="rect">
            <a:avLst/>
          </a:prstGeom>
          <a:noFill/>
          <a:ln/>
        </p:spPr>
        <p:txBody>
          <a:bodyPr wrap="square" rtlCol="0" anchor="ctr"/>
          <a:lstStyle/>
          <a:p>
            <a:pPr marL="0" indent="0" algn="ctr">
              <a:buNone/>
            </a:pPr>
            <a:r>
              <a:rPr lang="en-US" sz="1400" b="1" dirty="0">
                <a:solidFill>
                  <a:srgbClr val="FFFFFF"/>
                </a:solidFill>
              </a:rPr>
              <a:t>RO1</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marL="0" indent="0">
              <a:buNone/>
            </a:pPr>
            <a:r>
              <a:rPr lang="en-US" sz="1600" i="1" dirty="0">
                <a:solidFill>
                  <a:srgbClr val="1FB5D6"/>
                </a:solidFill>
              </a:rPr>
              <a:t>Consent as an evaluable object</a:t>
            </a:r>
            <a:endParaRPr lang="en-US" sz="1600" dirty="0"/>
          </a:p>
        </p:txBody>
      </p:sp>
      <p:sp>
        <p:nvSpPr>
          <p:cNvPr id="7" name="F21x panel"/>
          <p:cNvSpPr/>
          <p:nvPr/>
        </p:nvSpPr>
        <p:spPr>
          <a:xfrm>
            <a:off x="640080" y="1600200"/>
            <a:ext cx="6949440" cy="4709160"/>
          </a:xfrm>
          <a:prstGeom prst="roundRect">
            <a:avLst>
              <a:gd name="adj" fmla="val 233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8" name="F21x" descr="/tmp/deck/img/F21x.png"/>
          <p:cNvPicPr>
            <a:picLocks noChangeAspect="1"/>
          </p:cNvPicPr>
          <p:nvPr/>
        </p:nvPicPr>
        <p:blipFill>
          <a:blip r:embed="rId3"/>
          <a:stretch>
            <a:fillRect/>
          </a:stretch>
        </p:blipFill>
        <p:spPr>
          <a:xfrm>
            <a:off x="846698" y="1709928"/>
            <a:ext cx="6536203" cy="4489704"/>
          </a:xfrm>
          <a:prstGeom prst="rect">
            <a:avLst/>
          </a:prstGeom>
        </p:spPr>
      </p:pic>
      <p:sp>
        <p:nvSpPr>
          <p:cNvPr id="9" name="caption"/>
          <p:cNvSpPr txBox="1"/>
          <p:nvPr/>
        </p:nvSpPr>
        <p:spPr>
          <a:xfrm>
            <a:off x="640080" y="6355080"/>
            <a:ext cx="6949440" cy="320040"/>
          </a:xfrm>
          <a:prstGeom prst="rect">
            <a:avLst/>
          </a:prstGeom>
          <a:noFill/>
          <a:ln/>
        </p:spPr>
        <p:txBody>
          <a:bodyPr wrap="square" rtlCol="0" anchor="ctr"/>
          <a:lstStyle/>
          <a:p>
            <a:pPr marL="0" indent="0" algn="ctr">
              <a:buNone/>
            </a:pPr>
            <a:r>
              <a:rPr lang="en-US" sz="1200" i="1" dirty="0">
                <a:solidFill>
                  <a:srgbClr val="FFFFFF"/>
                </a:solidFill>
              </a:rPr>
              <a:t>Patient screen, consent 04da25f5 (shown in two parts)</a:t>
            </a:r>
            <a:endParaRPr lang="en-US" sz="1200" dirty="0"/>
          </a:p>
        </p:txBody>
      </p:sp>
      <p:sp>
        <p:nvSpPr>
          <p:cNvPr id="10" name="bullets"/>
          <p:cNvSpPr txBox="1"/>
          <p:nvPr/>
        </p:nvSpPr>
        <p:spPr>
          <a:xfrm>
            <a:off x="7863840" y="1600200"/>
            <a:ext cx="3749040" cy="4754880"/>
          </a:xfrm>
          <a:prstGeom prst="rect">
            <a:avLst/>
          </a:prstGeom>
          <a:noFill/>
          <a:ln/>
        </p:spPr>
        <p:txBody>
          <a:bodyPr wrap="square" rtlCol="0" anchor="t"/>
          <a:lstStyle/>
          <a:p>
            <a:pPr marL="285750" indent="-285750">
              <a:spcAft>
                <a:spcPts val="1000"/>
              </a:spcAft>
              <a:buSzPct val="100000"/>
              <a:buFont typeface="Arial" panose="020B0604020202020204" pitchFamily="34" charset="0"/>
              <a:buChar char="•"/>
            </a:pPr>
            <a:r>
              <a:rPr lang="en-US" sz="1600" dirty="0">
                <a:solidFill>
                  <a:srgbClr val="FFFFFF"/>
                </a:solidFill>
              </a:rPr>
              <a:t>The patient enters the doctor's DID, two guardians, the data modules and the end date.</a:t>
            </a:r>
            <a:endParaRPr lang="en-US" sz="1600" dirty="0"/>
          </a:p>
          <a:p>
            <a:pPr marL="285750" indent="-285750">
              <a:spcAft>
                <a:spcPts val="1000"/>
              </a:spcAft>
              <a:buSzPct val="100000"/>
              <a:buFont typeface="Arial" panose="020B0604020202020204" pitchFamily="34" charset="0"/>
              <a:buChar char="•"/>
            </a:pPr>
            <a:r>
              <a:rPr lang="en-AU" sz="1600" dirty="0">
                <a:solidFill>
                  <a:srgbClr val="FFFFFF"/>
                </a:solidFill>
              </a:rPr>
              <a:t>The system saves the consent and gives it an ID. </a:t>
            </a:r>
            <a:endParaRPr lang="ar-SA" sz="1600" dirty="0">
              <a:solidFill>
                <a:srgbClr val="FFFFFF"/>
              </a:solidFill>
            </a:endParaRPr>
          </a:p>
          <a:p>
            <a:pPr marL="285750" indent="-285750">
              <a:spcAft>
                <a:spcPts val="1000"/>
              </a:spcAft>
              <a:buSzPct val="100000"/>
              <a:buFont typeface="Arial" panose="020B0604020202020204" pitchFamily="34" charset="0"/>
              <a:buChar char="•"/>
            </a:pPr>
            <a:r>
              <a:rPr lang="en-US" sz="1600" dirty="0">
                <a:solidFill>
                  <a:srgbClr val="FFFFFF"/>
                </a:solidFill>
              </a:rPr>
              <a:t>The state is PENDING_SIGNATURE, with 0 of 2 signatures.</a:t>
            </a:r>
            <a:endParaRPr lang="en-US" sz="1600" dirty="0"/>
          </a:p>
          <a:p>
            <a:pPr marL="285750" indent="-285750">
              <a:spcAft>
                <a:spcPts val="1000"/>
              </a:spcAft>
              <a:buSzPct val="100000"/>
              <a:buFont typeface="Arial" panose="020B0604020202020204" pitchFamily="34" charset="0"/>
              <a:buChar char="•"/>
            </a:pPr>
            <a:r>
              <a:rPr lang="en-AU" sz="1600" dirty="0">
                <a:solidFill>
                  <a:srgbClr val="FFFFFF"/>
                </a:solidFill>
              </a:rPr>
              <a:t>The consent is not active yet.</a:t>
            </a:r>
            <a:endParaRPr lang="en-US" sz="1600" dirty="0">
              <a:solidFill>
                <a:srgbClr val="FFFFFF"/>
              </a:solidFill>
            </a:endParaRPr>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DEMO 2: THE FIRST GUARDIAN APPROVES</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txBody>
          <a:bodyPr/>
          <a:lstStyle/>
          <a:p>
            <a:endParaRPr lang="en-AU"/>
          </a:p>
        </p:txBody>
      </p:sp>
      <p:sp>
        <p:nvSpPr>
          <p:cNvPr id="5" name="status text"/>
          <p:cNvSpPr txBox="1"/>
          <p:nvPr/>
        </p:nvSpPr>
        <p:spPr>
          <a:xfrm>
            <a:off x="731520" y="1005840"/>
            <a:ext cx="2377440" cy="411480"/>
          </a:xfrm>
          <a:prstGeom prst="rect">
            <a:avLst/>
          </a:prstGeom>
          <a:noFill/>
          <a:ln/>
        </p:spPr>
        <p:txBody>
          <a:bodyPr wrap="square" rtlCol="0" anchor="ctr"/>
          <a:lstStyle/>
          <a:p>
            <a:pPr marL="0" indent="0" algn="ctr">
              <a:buNone/>
            </a:pPr>
            <a:r>
              <a:rPr lang="en-US" sz="1400" b="1" dirty="0">
                <a:solidFill>
                  <a:srgbClr val="FFFFFF"/>
                </a:solidFill>
              </a:rPr>
              <a:t>RO2 + RO3</a:t>
            </a:r>
            <a:endParaRPr lang="en-US" sz="1400" dirty="0"/>
          </a:p>
        </p:txBody>
      </p:sp>
      <p:sp>
        <p:nvSpPr>
          <p:cNvPr id="7" name="bullets"/>
          <p:cNvSpPr txBox="1"/>
          <p:nvPr/>
        </p:nvSpPr>
        <p:spPr>
          <a:xfrm>
            <a:off x="731520" y="1463040"/>
            <a:ext cx="10789920" cy="914400"/>
          </a:xfrm>
          <a:prstGeom prst="rect">
            <a:avLst/>
          </a:prstGeom>
          <a:noFill/>
          <a:ln/>
        </p:spPr>
        <p:txBody>
          <a:bodyPr wrap="square" rtlCol="0" anchor="t"/>
          <a:lstStyle/>
          <a:p>
            <a:pPr marL="285750" indent="-285750">
              <a:buSzPct val="100000"/>
              <a:buFont typeface="Arial" panose="020B0604020202020204" pitchFamily="34" charset="0"/>
              <a:buChar char="•"/>
            </a:pPr>
            <a:r>
              <a:rPr lang="en-US" sz="1400" dirty="0">
                <a:solidFill>
                  <a:srgbClr val="FFFFFF"/>
                </a:solidFill>
              </a:rPr>
              <a:t>Guardian A enters the consent ID and chooses their DID.</a:t>
            </a:r>
            <a:endParaRPr lang="en-US" sz="1400" dirty="0"/>
          </a:p>
          <a:p>
            <a:pPr marL="285750" indent="-285750">
              <a:buFont typeface="Arial" panose="020B0604020202020204" pitchFamily="34" charset="0"/>
              <a:buChar char="•"/>
            </a:pPr>
            <a:r>
              <a:rPr lang="en-AU" sz="1400" dirty="0">
                <a:solidFill>
                  <a:srgbClr val="FFFFFF"/>
                </a:solidFill>
              </a:rPr>
              <a:t>The first guardian signs a digital approval. The system checks the signature and finds who signed</a:t>
            </a:r>
            <a:r>
              <a:rPr lang="en-AU" sz="1400" b="1" dirty="0"/>
              <a:t>.</a:t>
            </a:r>
            <a:endParaRPr lang="en-AU" sz="1400" dirty="0"/>
          </a:p>
          <a:p>
            <a:pPr marL="285750" indent="-285750">
              <a:buSzPct val="100000"/>
              <a:buFont typeface="Arial" panose="020B0604020202020204" pitchFamily="34" charset="0"/>
              <a:buChar char="•"/>
            </a:pPr>
            <a:r>
              <a:rPr lang="en-US" sz="1400" dirty="0">
                <a:solidFill>
                  <a:srgbClr val="FFFFFF"/>
                </a:solidFill>
              </a:rPr>
              <a:t>The counter shows 1 of 2. The consent stays pending.</a:t>
            </a:r>
            <a:endParaRPr lang="en-US" sz="1400" dirty="0"/>
          </a:p>
        </p:txBody>
      </p:sp>
      <p:sp>
        <p:nvSpPr>
          <p:cNvPr id="8" name="F22 panel"/>
          <p:cNvSpPr/>
          <p:nvPr/>
        </p:nvSpPr>
        <p:spPr>
          <a:xfrm>
            <a:off x="1197572" y="2514600"/>
            <a:ext cx="9796551" cy="3657600"/>
          </a:xfrm>
          <a:prstGeom prst="roundRect">
            <a:avLst>
              <a:gd name="adj" fmla="val 300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F22" descr="/tmp/deck/img/F22.png"/>
          <p:cNvPicPr>
            <a:picLocks noChangeAspect="1"/>
          </p:cNvPicPr>
          <p:nvPr/>
        </p:nvPicPr>
        <p:blipFill>
          <a:blip r:embed="rId3"/>
          <a:stretch>
            <a:fillRect/>
          </a:stretch>
        </p:blipFill>
        <p:spPr>
          <a:xfrm>
            <a:off x="1307300" y="2624328"/>
            <a:ext cx="9577095" cy="3438144"/>
          </a:xfrm>
          <a:prstGeom prst="rect">
            <a:avLst/>
          </a:prstGeom>
        </p:spPr>
      </p:pic>
      <p:sp>
        <p:nvSpPr>
          <p:cNvPr id="10" name="caption"/>
          <p:cNvSpPr txBox="1"/>
          <p:nvPr/>
        </p:nvSpPr>
        <p:spPr>
          <a:xfrm>
            <a:off x="1197572" y="6217920"/>
            <a:ext cx="9796551" cy="320040"/>
          </a:xfrm>
          <a:prstGeom prst="rect">
            <a:avLst/>
          </a:prstGeom>
          <a:noFill/>
          <a:ln/>
        </p:spPr>
        <p:txBody>
          <a:bodyPr wrap="square" rtlCol="0" anchor="ctr"/>
          <a:lstStyle/>
          <a:p>
            <a:pPr marL="0" indent="0" algn="ctr">
              <a:buNone/>
            </a:pPr>
            <a:r>
              <a:rPr lang="en-US" sz="1200" i="1" dirty="0">
                <a:solidFill>
                  <a:srgbClr val="FFFFFF"/>
                </a:solidFill>
              </a:rPr>
              <a:t>Guardian screen at the first approval: signature verified, 1 of 2 signatures</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2800" b="1" dirty="0">
                <a:solidFill>
                  <a:srgbClr val="FFFFFF"/>
                </a:solidFill>
                <a:latin typeface="Arial" pitchFamily="34" charset="0"/>
                <a:ea typeface="Arial" pitchFamily="34" charset="-122"/>
                <a:cs typeface="Arial" pitchFamily="34" charset="-120"/>
              </a:rPr>
              <a:t> </a:t>
            </a:r>
            <a:r>
              <a:rPr lang="en-AU" sz="2800" dirty="0"/>
              <a:t>DEMO 3: SECOND APPROVAL, CONSENT ACTIVE</a:t>
            </a:r>
            <a:endParaRPr lang="en-US" sz="28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txBody>
          <a:bodyPr/>
          <a:lstStyle/>
          <a:p>
            <a:endParaRPr lang="en-AU"/>
          </a:p>
        </p:txBody>
      </p:sp>
      <p:sp>
        <p:nvSpPr>
          <p:cNvPr id="5" name="status text"/>
          <p:cNvSpPr txBox="1"/>
          <p:nvPr/>
        </p:nvSpPr>
        <p:spPr>
          <a:xfrm>
            <a:off x="731520" y="1005840"/>
            <a:ext cx="2377440" cy="411480"/>
          </a:xfrm>
          <a:prstGeom prst="rect">
            <a:avLst/>
          </a:prstGeom>
          <a:noFill/>
          <a:ln/>
        </p:spPr>
        <p:txBody>
          <a:bodyPr wrap="square" rtlCol="0" anchor="ctr"/>
          <a:lstStyle/>
          <a:p>
            <a:pPr marL="0" indent="0" algn="ctr">
              <a:buNone/>
            </a:pPr>
            <a:r>
              <a:rPr lang="en-US" sz="1400" b="1" dirty="0">
                <a:solidFill>
                  <a:srgbClr val="FFFFFF"/>
                </a:solidFill>
              </a:rPr>
              <a:t>RO3</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r>
              <a:rPr lang="en-AU" sz="1600" dirty="0">
                <a:solidFill>
                  <a:schemeClr val="bg1"/>
                </a:solidFill>
              </a:rPr>
              <a:t>Threshold reached: 2 of 2, the consent becomes active</a:t>
            </a:r>
            <a:endParaRPr lang="en-US" sz="1600" dirty="0">
              <a:solidFill>
                <a:schemeClr val="bg1"/>
              </a:solidFill>
            </a:endParaRPr>
          </a:p>
        </p:txBody>
      </p:sp>
      <p:sp>
        <p:nvSpPr>
          <p:cNvPr id="7" name="bullets"/>
          <p:cNvSpPr txBox="1"/>
          <p:nvPr/>
        </p:nvSpPr>
        <p:spPr>
          <a:xfrm>
            <a:off x="731520" y="1463040"/>
            <a:ext cx="10789920" cy="868680"/>
          </a:xfrm>
          <a:prstGeom prst="rect">
            <a:avLst/>
          </a:prstGeom>
          <a:noFill/>
          <a:ln/>
        </p:spPr>
        <p:txBody>
          <a:bodyPr wrap="square" rtlCol="0" anchor="t"/>
          <a:lstStyle/>
          <a:p>
            <a:pPr marL="342900" indent="-342900">
              <a:buSzPct val="100000"/>
              <a:buChar char="•"/>
            </a:pPr>
            <a:r>
              <a:rPr lang="en-US" sz="1400" dirty="0">
                <a:solidFill>
                  <a:srgbClr val="FFFFFF"/>
                </a:solidFill>
              </a:rPr>
              <a:t>The second signature is verified. Now 2 of 2 guardians have signed.</a:t>
            </a:r>
            <a:endParaRPr lang="ar-SA" sz="1400" dirty="0">
              <a:solidFill>
                <a:srgbClr val="FFFFFF"/>
              </a:solidFill>
            </a:endParaRPr>
          </a:p>
          <a:p>
            <a:pPr>
              <a:buSzPct val="100000"/>
            </a:pPr>
            <a:endParaRPr lang="en-US" sz="1400" dirty="0"/>
          </a:p>
          <a:p>
            <a:pPr marL="342900" indent="-342900">
              <a:buSzPct val="100000"/>
              <a:buChar char="•"/>
            </a:pPr>
            <a:r>
              <a:rPr lang="en-AU" sz="1400" dirty="0">
                <a:solidFill>
                  <a:srgbClr val="FFFFFF"/>
                </a:solidFill>
              </a:rPr>
              <a:t>The consent becomes active.</a:t>
            </a:r>
            <a:r>
              <a:rPr lang="en-US" sz="1400" dirty="0">
                <a:solidFill>
                  <a:srgbClr val="FFFFFF"/>
                </a:solidFill>
              </a:rPr>
              <a:t>. The guardian does not wait.</a:t>
            </a:r>
          </a:p>
        </p:txBody>
      </p:sp>
      <p:sp>
        <p:nvSpPr>
          <p:cNvPr id="8" name="F23 panel"/>
          <p:cNvSpPr/>
          <p:nvPr/>
        </p:nvSpPr>
        <p:spPr>
          <a:xfrm>
            <a:off x="640080" y="2377440"/>
            <a:ext cx="5394960" cy="2743200"/>
          </a:xfrm>
          <a:prstGeom prst="roundRect">
            <a:avLst>
              <a:gd name="adj" fmla="val 400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F23" descr="/tmp/deck/img/F23.png"/>
          <p:cNvPicPr>
            <a:picLocks noChangeAspect="1"/>
          </p:cNvPicPr>
          <p:nvPr/>
        </p:nvPicPr>
        <p:blipFill>
          <a:blip r:embed="rId3"/>
          <a:stretch>
            <a:fillRect/>
          </a:stretch>
        </p:blipFill>
        <p:spPr>
          <a:xfrm>
            <a:off x="749808" y="2562614"/>
            <a:ext cx="5175504" cy="2372852"/>
          </a:xfrm>
          <a:prstGeom prst="rect">
            <a:avLst/>
          </a:prstGeom>
        </p:spPr>
      </p:pic>
      <p:sp>
        <p:nvSpPr>
          <p:cNvPr id="10" name="caption"/>
          <p:cNvSpPr txBox="1"/>
          <p:nvPr/>
        </p:nvSpPr>
        <p:spPr>
          <a:xfrm>
            <a:off x="640080" y="5166360"/>
            <a:ext cx="5394960" cy="320040"/>
          </a:xfrm>
          <a:prstGeom prst="rect">
            <a:avLst/>
          </a:prstGeom>
          <a:noFill/>
          <a:ln/>
        </p:spPr>
        <p:txBody>
          <a:bodyPr wrap="square" rtlCol="0" anchor="ctr"/>
          <a:lstStyle/>
          <a:p>
            <a:pPr algn="ctr"/>
            <a:r>
              <a:rPr lang="en-US" sz="1200" i="1" dirty="0">
                <a:solidFill>
                  <a:schemeClr val="bg1"/>
                </a:solidFill>
              </a:rPr>
              <a:t>Same screen, after signed </a:t>
            </a:r>
            <a:endParaRPr lang="en-US" sz="1200" dirty="0">
              <a:solidFill>
                <a:schemeClr val="bg1"/>
              </a:solidFill>
            </a:endParaRPr>
          </a:p>
        </p:txBody>
      </p:sp>
      <p:sp>
        <p:nvSpPr>
          <p:cNvPr id="11" name="F25c panel"/>
          <p:cNvSpPr/>
          <p:nvPr/>
        </p:nvSpPr>
        <p:spPr>
          <a:xfrm>
            <a:off x="6172200" y="2377440"/>
            <a:ext cx="5394960" cy="2743200"/>
          </a:xfrm>
          <a:prstGeom prst="roundRect">
            <a:avLst>
              <a:gd name="adj" fmla="val 400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12" name="F25c" descr="/tmp/deck/img/F25c.png"/>
          <p:cNvPicPr>
            <a:picLocks noChangeAspect="1"/>
          </p:cNvPicPr>
          <p:nvPr/>
        </p:nvPicPr>
        <p:blipFill>
          <a:blip r:embed="rId4"/>
          <a:stretch>
            <a:fillRect/>
          </a:stretch>
        </p:blipFill>
        <p:spPr>
          <a:xfrm>
            <a:off x="6281928" y="2980123"/>
            <a:ext cx="5175504" cy="1537835"/>
          </a:xfrm>
          <a:prstGeom prst="rect">
            <a:avLst/>
          </a:prstGeom>
        </p:spPr>
      </p:pic>
      <p:sp>
        <p:nvSpPr>
          <p:cNvPr id="13" name="caption"/>
          <p:cNvSpPr txBox="1"/>
          <p:nvPr/>
        </p:nvSpPr>
        <p:spPr>
          <a:xfrm>
            <a:off x="6172200" y="5166360"/>
            <a:ext cx="5394960" cy="320040"/>
          </a:xfrm>
          <a:prstGeom prst="rect">
            <a:avLst/>
          </a:prstGeom>
          <a:noFill/>
          <a:ln/>
        </p:spPr>
        <p:txBody>
          <a:bodyPr wrap="square" rtlCol="0" anchor="ctr"/>
          <a:lstStyle/>
          <a:p>
            <a:pPr algn="ctr"/>
            <a:r>
              <a:rPr lang="en-US" sz="1200" i="1" dirty="0">
                <a:solidFill>
                  <a:schemeClr val="bg1"/>
                </a:solidFill>
              </a:rPr>
              <a:t>Second approval: 2 of 2 guardians signed</a:t>
            </a:r>
            <a:endParaRPr lang="en-US" sz="1200" dirty="0">
              <a:solidFill>
                <a:schemeClr val="bg1"/>
              </a:solidFill>
            </a:endParaRPr>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DEMO 4: THE DOCTOR IS ALLOWED</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txBody>
          <a:bodyPr/>
          <a:lstStyle/>
          <a:p>
            <a:endParaRPr lang="en-AU"/>
          </a:p>
        </p:txBody>
      </p:sp>
      <p:sp>
        <p:nvSpPr>
          <p:cNvPr id="5" name="status text"/>
          <p:cNvSpPr txBox="1"/>
          <p:nvPr/>
        </p:nvSpPr>
        <p:spPr>
          <a:xfrm>
            <a:off x="731520" y="1005840"/>
            <a:ext cx="2377440" cy="411480"/>
          </a:xfrm>
          <a:prstGeom prst="rect">
            <a:avLst/>
          </a:prstGeom>
          <a:noFill/>
          <a:ln/>
        </p:spPr>
        <p:txBody>
          <a:bodyPr wrap="square" rtlCol="0" anchor="ctr"/>
          <a:lstStyle/>
          <a:p>
            <a:pPr marL="0" indent="0" algn="ctr">
              <a:buNone/>
            </a:pPr>
            <a:r>
              <a:rPr lang="en-US" sz="1400" b="1" dirty="0">
                <a:solidFill>
                  <a:srgbClr val="FFFFFF"/>
                </a:solidFill>
              </a:rPr>
              <a:t>RO2 + RO4</a:t>
            </a:r>
            <a:endParaRPr lang="en-US" sz="1400" dirty="0"/>
          </a:p>
        </p:txBody>
      </p:sp>
      <p:sp>
        <p:nvSpPr>
          <p:cNvPr id="7" name="bullets"/>
          <p:cNvSpPr txBox="1"/>
          <p:nvPr/>
        </p:nvSpPr>
        <p:spPr>
          <a:xfrm>
            <a:off x="731520" y="1463040"/>
            <a:ext cx="10789920" cy="914400"/>
          </a:xfrm>
          <a:prstGeom prst="rect">
            <a:avLst/>
          </a:prstGeom>
          <a:noFill/>
          <a:ln/>
        </p:spPr>
        <p:txBody>
          <a:bodyPr wrap="square" rtlCol="0" anchor="t"/>
          <a:lstStyle/>
          <a:p>
            <a:pPr marL="342900" indent="-342900">
              <a:buSzPct val="100000"/>
              <a:buChar char="•"/>
            </a:pPr>
            <a:r>
              <a:rPr lang="en-US" sz="1400" dirty="0">
                <a:solidFill>
                  <a:srgbClr val="FFFFFF"/>
                </a:solidFill>
              </a:rPr>
              <a:t>The doctor opens the consent: patient, consent ID and purpose, Treatment. The state is ACTIVE.</a:t>
            </a:r>
            <a:endParaRPr lang="en-US" sz="1400" dirty="0"/>
          </a:p>
          <a:p>
            <a:pPr marL="342900" indent="-342900">
              <a:buSzPct val="100000"/>
              <a:buChar char="•"/>
            </a:pPr>
            <a:r>
              <a:rPr lang="en-US" sz="1400" dirty="0">
                <a:solidFill>
                  <a:srgbClr val="FFFFFF"/>
                </a:solidFill>
              </a:rPr>
              <a:t>The decision matrix shows VI, VA, VP, VT, VL all PASS, so ALLOW.</a:t>
            </a:r>
            <a:endParaRPr lang="en-US" sz="1400" dirty="0"/>
          </a:p>
          <a:p>
            <a:pPr marL="342900" indent="-342900">
              <a:buSzPct val="100000"/>
              <a:buChar char="•"/>
            </a:pPr>
            <a:r>
              <a:rPr lang="en-US" sz="1400" dirty="0">
                <a:solidFill>
                  <a:srgbClr val="FFFFFF"/>
                </a:solidFill>
              </a:rPr>
              <a:t>VP is the policy check: the purpose is checked here, and the scope when the doctor asks for the data.</a:t>
            </a:r>
            <a:endParaRPr lang="en-US" sz="1400" dirty="0"/>
          </a:p>
        </p:txBody>
      </p:sp>
      <p:sp>
        <p:nvSpPr>
          <p:cNvPr id="8" name="F29m panel"/>
          <p:cNvSpPr/>
          <p:nvPr/>
        </p:nvSpPr>
        <p:spPr>
          <a:xfrm>
            <a:off x="655168" y="2514600"/>
            <a:ext cx="10881360" cy="2955976"/>
          </a:xfrm>
          <a:prstGeom prst="roundRect">
            <a:avLst>
              <a:gd name="adj" fmla="val 3712"/>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F29m" descr="/tmp/deck/img/F29m.png"/>
          <p:cNvPicPr>
            <a:picLocks noChangeAspect="1"/>
          </p:cNvPicPr>
          <p:nvPr/>
        </p:nvPicPr>
        <p:blipFill>
          <a:blip r:embed="rId3"/>
          <a:stretch>
            <a:fillRect/>
          </a:stretch>
        </p:blipFill>
        <p:spPr>
          <a:xfrm>
            <a:off x="764896" y="2624328"/>
            <a:ext cx="10661904" cy="2736520"/>
          </a:xfrm>
          <a:prstGeom prst="rect">
            <a:avLst/>
          </a:prstGeom>
        </p:spPr>
      </p:pic>
      <p:sp>
        <p:nvSpPr>
          <p:cNvPr id="10" name="caption"/>
          <p:cNvSpPr txBox="1"/>
          <p:nvPr/>
        </p:nvSpPr>
        <p:spPr>
          <a:xfrm>
            <a:off x="655168" y="5516296"/>
            <a:ext cx="10881360" cy="320040"/>
          </a:xfrm>
          <a:prstGeom prst="rect">
            <a:avLst/>
          </a:prstGeom>
          <a:noFill/>
          <a:ln/>
        </p:spPr>
        <p:txBody>
          <a:bodyPr wrap="square" rtlCol="0" anchor="ctr"/>
          <a:lstStyle/>
          <a:p>
            <a:pPr marL="0" indent="0" algn="ctr">
              <a:buNone/>
            </a:pPr>
            <a:r>
              <a:rPr lang="en-US" sz="1200" i="1" dirty="0">
                <a:solidFill>
                  <a:srgbClr val="FFFFFF"/>
                </a:solidFill>
              </a:rPr>
              <a:t>Doctor screen, consent 04da25f5 (shown in two parts)</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DEMO 5: ONLY THE AUTHORISED RECORDS</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txBody>
          <a:bodyPr/>
          <a:lstStyle/>
          <a:p>
            <a:endParaRPr lang="en-AU"/>
          </a:p>
        </p:txBody>
      </p:sp>
      <p:sp>
        <p:nvSpPr>
          <p:cNvPr id="5" name="status text"/>
          <p:cNvSpPr txBox="1"/>
          <p:nvPr/>
        </p:nvSpPr>
        <p:spPr>
          <a:xfrm>
            <a:off x="731520" y="1005840"/>
            <a:ext cx="2377440" cy="411480"/>
          </a:xfrm>
          <a:prstGeom prst="rect">
            <a:avLst/>
          </a:prstGeom>
          <a:noFill/>
          <a:ln/>
        </p:spPr>
        <p:txBody>
          <a:bodyPr wrap="square" rtlCol="0" anchor="ctr"/>
          <a:lstStyle/>
          <a:p>
            <a:pPr marL="0" indent="0" algn="ctr">
              <a:buNone/>
            </a:pPr>
            <a:r>
              <a:rPr lang="en-US" sz="1400" b="1" dirty="0">
                <a:solidFill>
                  <a:srgbClr val="FFFFFF"/>
                </a:solidFill>
              </a:rPr>
              <a:t>RO4</a:t>
            </a:r>
            <a:endParaRPr lang="en-US" sz="1400" dirty="0"/>
          </a:p>
        </p:txBody>
      </p:sp>
      <p:sp>
        <p:nvSpPr>
          <p:cNvPr id="7" name="bullets"/>
          <p:cNvSpPr txBox="1"/>
          <p:nvPr/>
        </p:nvSpPr>
        <p:spPr>
          <a:xfrm>
            <a:off x="731520" y="1463040"/>
            <a:ext cx="10789920" cy="868680"/>
          </a:xfrm>
          <a:prstGeom prst="rect">
            <a:avLst/>
          </a:prstGeom>
          <a:noFill/>
          <a:ln/>
        </p:spPr>
        <p:txBody>
          <a:bodyPr wrap="square" rtlCol="0" anchor="t"/>
          <a:lstStyle/>
          <a:p>
            <a:pPr marL="342900" indent="-342900">
              <a:buSzPct val="100000"/>
              <a:buChar char="•"/>
            </a:pPr>
            <a:r>
              <a:rPr lang="en-US" sz="1400" dirty="0">
                <a:solidFill>
                  <a:srgbClr val="FFFFFF"/>
                </a:solidFill>
              </a:rPr>
              <a:t>After ALLOW and the proof check, the screen shows the records, one table per module.</a:t>
            </a:r>
            <a:endParaRPr lang="en-US" sz="1400" dirty="0"/>
          </a:p>
          <a:p>
            <a:pPr marL="342900" indent="-342900">
              <a:buSzPct val="100000"/>
              <a:buChar char="•"/>
            </a:pPr>
            <a:r>
              <a:rPr lang="en-US" sz="1400" dirty="0">
                <a:solidFill>
                  <a:srgbClr val="FFFFFF"/>
                </a:solidFill>
              </a:rPr>
              <a:t>Only the four modules in the consent are shown. A request outside the scope is refused (attack test A4).</a:t>
            </a:r>
            <a:endParaRPr lang="en-US" sz="1400" dirty="0"/>
          </a:p>
          <a:p>
            <a:pPr marL="342900" indent="-342900">
              <a:buSzPct val="100000"/>
              <a:buChar char="•"/>
            </a:pPr>
            <a:r>
              <a:rPr lang="en-US" sz="1400" dirty="0">
                <a:solidFill>
                  <a:srgbClr val="FFFFFF"/>
                </a:solidFill>
              </a:rPr>
              <a:t>The data are synthetic Synthea records, not real patients.</a:t>
            </a:r>
            <a:endParaRPr lang="en-US" sz="1400" dirty="0"/>
          </a:p>
        </p:txBody>
      </p:sp>
      <p:sp>
        <p:nvSpPr>
          <p:cNvPr id="8" name="F29r panel"/>
          <p:cNvSpPr/>
          <p:nvPr/>
        </p:nvSpPr>
        <p:spPr>
          <a:xfrm>
            <a:off x="640080" y="2377440"/>
            <a:ext cx="5394960" cy="3657600"/>
          </a:xfrm>
          <a:prstGeom prst="roundRect">
            <a:avLst>
              <a:gd name="adj" fmla="val 300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F29r" descr="/tmp/deck/img/F29r.png"/>
          <p:cNvPicPr>
            <a:picLocks noChangeAspect="1"/>
          </p:cNvPicPr>
          <p:nvPr/>
        </p:nvPicPr>
        <p:blipFill>
          <a:blip r:embed="rId3"/>
          <a:stretch>
            <a:fillRect/>
          </a:stretch>
        </p:blipFill>
        <p:spPr>
          <a:xfrm>
            <a:off x="1216464" y="2487168"/>
            <a:ext cx="4242192" cy="3438144"/>
          </a:xfrm>
          <a:prstGeom prst="rect">
            <a:avLst/>
          </a:prstGeom>
        </p:spPr>
      </p:pic>
      <p:sp>
        <p:nvSpPr>
          <p:cNvPr id="10" name="caption"/>
          <p:cNvSpPr txBox="1"/>
          <p:nvPr/>
        </p:nvSpPr>
        <p:spPr>
          <a:xfrm>
            <a:off x="640080" y="6080760"/>
            <a:ext cx="5394960" cy="320040"/>
          </a:xfrm>
          <a:prstGeom prst="rect">
            <a:avLst/>
          </a:prstGeom>
          <a:noFill/>
          <a:ln/>
        </p:spPr>
        <p:txBody>
          <a:bodyPr wrap="square" rtlCol="0" anchor="ctr"/>
          <a:lstStyle/>
          <a:p>
            <a:pPr marL="0" indent="0" algn="ctr">
              <a:buNone/>
            </a:pPr>
            <a:r>
              <a:rPr lang="en-US" sz="1200" i="1" dirty="0">
                <a:solidFill>
                  <a:srgbClr val="FFFFFF"/>
                </a:solidFill>
              </a:rPr>
              <a:t>Authorised records: Observation and Medication</a:t>
            </a:r>
            <a:endParaRPr lang="en-US" sz="1200" dirty="0"/>
          </a:p>
        </p:txBody>
      </p:sp>
      <p:sp>
        <p:nvSpPr>
          <p:cNvPr id="11" name="F30 panel"/>
          <p:cNvSpPr/>
          <p:nvPr/>
        </p:nvSpPr>
        <p:spPr>
          <a:xfrm>
            <a:off x="6172200" y="2377440"/>
            <a:ext cx="5394960" cy="3657600"/>
          </a:xfrm>
          <a:prstGeom prst="roundRect">
            <a:avLst>
              <a:gd name="adj" fmla="val 300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12" name="F30" descr="/tmp/deck/img/F30.png"/>
          <p:cNvPicPr>
            <a:picLocks noChangeAspect="1"/>
          </p:cNvPicPr>
          <p:nvPr/>
        </p:nvPicPr>
        <p:blipFill>
          <a:blip r:embed="rId4"/>
          <a:stretch>
            <a:fillRect/>
          </a:stretch>
        </p:blipFill>
        <p:spPr>
          <a:xfrm>
            <a:off x="6784147" y="2487168"/>
            <a:ext cx="4171066" cy="3438144"/>
          </a:xfrm>
          <a:prstGeom prst="rect">
            <a:avLst/>
          </a:prstGeom>
        </p:spPr>
      </p:pic>
      <p:sp>
        <p:nvSpPr>
          <p:cNvPr id="13" name="caption"/>
          <p:cNvSpPr txBox="1"/>
          <p:nvPr/>
        </p:nvSpPr>
        <p:spPr>
          <a:xfrm>
            <a:off x="6172200" y="6080760"/>
            <a:ext cx="5394960" cy="320040"/>
          </a:xfrm>
          <a:prstGeom prst="rect">
            <a:avLst/>
          </a:prstGeom>
          <a:noFill/>
          <a:ln/>
        </p:spPr>
        <p:txBody>
          <a:bodyPr wrap="square" rtlCol="0" anchor="ctr"/>
          <a:lstStyle/>
          <a:p>
            <a:pPr marL="0" indent="0" algn="ctr">
              <a:buNone/>
            </a:pPr>
            <a:r>
              <a:rPr lang="en-US" sz="1200" i="1" dirty="0">
                <a:solidFill>
                  <a:srgbClr val="FFFFFF"/>
                </a:solidFill>
              </a:rPr>
              <a:t>Authorised records: Condition and Procedure</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VALIDATION</a:t>
            </a:r>
            <a:endParaRPr lang="en-US" sz="3000" dirty="0"/>
          </a:p>
        </p:txBody>
      </p:sp>
      <p:graphicFrame>
        <p:nvGraphicFramePr>
          <p:cNvPr id="26" name="table"/>
          <p:cNvGraphicFramePr>
            <a:graphicFrameLocks noGrp="1"/>
          </p:cNvGraphicFramePr>
          <p:nvPr>
            <p:extLst>
              <p:ext uri="{D42A27DB-BD31-4B8C-83A1-F6EECF244321}">
                <p14:modId xmlns:p14="http://schemas.microsoft.com/office/powerpoint/2010/main" val="186803823"/>
              </p:ext>
            </p:extLst>
          </p:nvPr>
        </p:nvGraphicFramePr>
        <p:xfrm>
          <a:off x="640080" y="1188720"/>
          <a:ext cx="10881360" cy="3977640"/>
        </p:xfrm>
        <a:graphic>
          <a:graphicData uri="http://schemas.openxmlformats.org/drawingml/2006/table">
            <a:tbl>
              <a:tblPr/>
              <a:tblGrid>
                <a:gridCol w="21031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502920">
                <a:tc>
                  <a:txBody>
                    <a:bodyPr/>
                    <a:lstStyle/>
                    <a:p>
                      <a:pPr marL="0" indent="0" algn="ctr">
                        <a:buNone/>
                      </a:pPr>
                      <a:r>
                        <a:rPr lang="en-US" sz="1600" b="1" dirty="0">
                          <a:solidFill>
                            <a:srgbClr val="FFFFFF"/>
                          </a:solidFill>
                        </a:rPr>
                        <a:t>Evidence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600" b="1" dirty="0">
                          <a:solidFill>
                            <a:srgbClr val="FFFFFF"/>
                          </a:solidFill>
                        </a:rPr>
                        <a:t>What it checks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600" b="1" dirty="0">
                          <a:solidFill>
                            <a:srgbClr val="FFFFFF"/>
                          </a:solidFill>
                        </a:rPr>
                        <a:t>Pass rule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600" b="1" dirty="0">
                          <a:solidFill>
                            <a:srgbClr val="FFFFFF"/>
                          </a:solidFill>
                        </a:rPr>
                        <a:t>Result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868680">
                <a:tc>
                  <a:txBody>
                    <a:bodyPr/>
                    <a:lstStyle/>
                    <a:p>
                      <a:pPr marL="0" indent="0" algn="ctr">
                        <a:buNone/>
                      </a:pPr>
                      <a:r>
                        <a:rPr lang="en-US" sz="1600" b="1" dirty="0">
                          <a:solidFill>
                            <a:srgbClr val="0B1F33"/>
                          </a:solidFill>
                        </a:rPr>
                        <a:t>Valid scenarios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Legitimate requests get access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Observed = expected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Scenarios 1 to 3: consent created, 2-of-2 approval, ALLOW</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ctr">
                        <a:buNone/>
                      </a:pPr>
                      <a:r>
                        <a:rPr lang="en-US" sz="1600" b="1" dirty="0">
                          <a:solidFill>
                            <a:srgbClr val="0B1F33"/>
                          </a:solidFill>
                        </a:rPr>
                        <a:t>Negative scenarios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Wrong requests are refused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Any failed check gives DENY</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Scenario 5: </a:t>
                      </a:r>
                      <a:r>
                        <a:rPr lang="en-US" sz="1600" dirty="0">
                          <a:solidFill>
                            <a:srgbClr val="0B1F33"/>
                          </a:solidFill>
                          <a:highlight>
                            <a:srgbClr val="FFFF00"/>
                          </a:highlight>
                        </a:rPr>
                        <a:t>revoked</a:t>
                      </a:r>
                      <a:r>
                        <a:rPr lang="en-US" sz="1600" dirty="0">
                          <a:solidFill>
                            <a:srgbClr val="0B1F33"/>
                          </a:solidFill>
                        </a:rPr>
                        <a:t> consent refused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marL="0" indent="0" algn="ctr">
                        <a:buNone/>
                      </a:pPr>
                      <a:r>
                        <a:rPr lang="en-US" sz="1600" b="1" dirty="0">
                          <a:solidFill>
                            <a:srgbClr val="0B1F33"/>
                          </a:solidFill>
                        </a:rPr>
                        <a:t>Attack scenarios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Deliberate attempts to bypass a check, A1 to A12</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Every attack is refused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12 of 12 refused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lgn="ctr">
                        <a:buNone/>
                      </a:pPr>
                      <a:r>
                        <a:rPr lang="en-US" sz="1600" b="1" dirty="0">
                          <a:solidFill>
                            <a:srgbClr val="0B1F33"/>
                          </a:solidFill>
                        </a:rPr>
                        <a:t>Automated tests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32 functional tests and 14 adversarial tests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All pass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46 of 46 pass</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VALIDATION: THE RECORDED DECISIONS</a:t>
            </a:r>
            <a:endParaRPr lang="en-US" sz="3000" dirty="0"/>
          </a:p>
        </p:txBody>
      </p:sp>
      <p:graphicFrame>
        <p:nvGraphicFramePr>
          <p:cNvPr id="27" name="ledger table"/>
          <p:cNvGraphicFramePr>
            <a:graphicFrameLocks noGrp="1"/>
          </p:cNvGraphicFramePr>
          <p:nvPr/>
        </p:nvGraphicFramePr>
        <p:xfrm>
          <a:off x="548640" y="1234440"/>
          <a:ext cx="11064240" cy="3017520"/>
        </p:xfrm>
        <a:graphic>
          <a:graphicData uri="http://schemas.openxmlformats.org/drawingml/2006/table">
            <a:tbl>
              <a:tblPr/>
              <a:tblGrid>
                <a:gridCol w="1427480">
                  <a:extLst>
                    <a:ext uri="{9D8B030D-6E8A-4147-A177-3AD203B41FA5}">
                      <a16:colId xmlns:a16="http://schemas.microsoft.com/office/drawing/2014/main" val="20000"/>
                    </a:ext>
                  </a:extLst>
                </a:gridCol>
                <a:gridCol w="2433320">
                  <a:extLst>
                    <a:ext uri="{9D8B030D-6E8A-4147-A177-3AD203B41FA5}">
                      <a16:colId xmlns:a16="http://schemas.microsoft.com/office/drawing/2014/main" val="20001"/>
                    </a:ext>
                  </a:extLst>
                </a:gridCol>
                <a:gridCol w="924560">
                  <a:extLst>
                    <a:ext uri="{9D8B030D-6E8A-4147-A177-3AD203B41FA5}">
                      <a16:colId xmlns:a16="http://schemas.microsoft.com/office/drawing/2014/main" val="20002"/>
                    </a:ext>
                  </a:extLst>
                </a:gridCol>
                <a:gridCol w="924560">
                  <a:extLst>
                    <a:ext uri="{9D8B030D-6E8A-4147-A177-3AD203B41FA5}">
                      <a16:colId xmlns:a16="http://schemas.microsoft.com/office/drawing/2014/main" val="20003"/>
                    </a:ext>
                  </a:extLst>
                </a:gridCol>
                <a:gridCol w="924560">
                  <a:extLst>
                    <a:ext uri="{9D8B030D-6E8A-4147-A177-3AD203B41FA5}">
                      <a16:colId xmlns:a16="http://schemas.microsoft.com/office/drawing/2014/main" val="20004"/>
                    </a:ext>
                  </a:extLst>
                </a:gridCol>
                <a:gridCol w="924560">
                  <a:extLst>
                    <a:ext uri="{9D8B030D-6E8A-4147-A177-3AD203B41FA5}">
                      <a16:colId xmlns:a16="http://schemas.microsoft.com/office/drawing/2014/main" val="20005"/>
                    </a:ext>
                  </a:extLst>
                </a:gridCol>
                <a:gridCol w="924560">
                  <a:extLst>
                    <a:ext uri="{9D8B030D-6E8A-4147-A177-3AD203B41FA5}">
                      <a16:colId xmlns:a16="http://schemas.microsoft.com/office/drawing/2014/main" val="20006"/>
                    </a:ext>
                  </a:extLst>
                </a:gridCol>
                <a:gridCol w="1244600">
                  <a:extLst>
                    <a:ext uri="{9D8B030D-6E8A-4147-A177-3AD203B41FA5}">
                      <a16:colId xmlns:a16="http://schemas.microsoft.com/office/drawing/2014/main" val="20007"/>
                    </a:ext>
                  </a:extLst>
                </a:gridCol>
                <a:gridCol w="1336040">
                  <a:extLst>
                    <a:ext uri="{9D8B030D-6E8A-4147-A177-3AD203B41FA5}">
                      <a16:colId xmlns:a16="http://schemas.microsoft.com/office/drawing/2014/main" val="20008"/>
                    </a:ext>
                  </a:extLst>
                </a:gridCol>
              </a:tblGrid>
              <a:tr h="502920">
                <a:tc>
                  <a:txBody>
                    <a:bodyPr/>
                    <a:lstStyle/>
                    <a:p>
                      <a:pPr marL="0" indent="0" algn="ctr">
                        <a:buNone/>
                      </a:pPr>
                      <a:r>
                        <a:rPr lang="en-US" sz="1400" b="1" dirty="0">
                          <a:solidFill>
                            <a:srgbClr val="FFFFFF"/>
                          </a:solidFill>
                        </a:rPr>
                        <a:t>Time (24 Sep)</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Consent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VI</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VP</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Decision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Access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502920">
                <a:tc>
                  <a:txBody>
                    <a:bodyPr/>
                    <a:lstStyle/>
                    <a:p>
                      <a:pPr marL="0" indent="0" algn="ctr">
                        <a:buNone/>
                      </a:pPr>
                      <a:r>
                        <a:rPr lang="en-US" sz="1400" b="1" dirty="0">
                          <a:solidFill>
                            <a:srgbClr val="0B1F33"/>
                          </a:solidFill>
                        </a:rPr>
                        <a:t>09:51:36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f050c29a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lang="en-US" sz="1400" b="1" dirty="0">
                          <a:solidFill>
                            <a:srgbClr val="0B1F33"/>
                          </a:solidFill>
                        </a:rPr>
                        <a:t>09:51:39</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f050c29a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ctr">
                        <a:buNone/>
                      </a:pPr>
                      <a:r>
                        <a:rPr lang="en-US" sz="1400" b="1" dirty="0">
                          <a:solidFill>
                            <a:srgbClr val="0B1F33"/>
                          </a:solidFill>
                        </a:rPr>
                        <a:t>11:02:52</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04da25f5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ctr">
                        <a:buNone/>
                      </a:pPr>
                      <a:r>
                        <a:rPr lang="en-US" sz="1400" b="1" dirty="0">
                          <a:solidFill>
                            <a:srgbClr val="0B1F33"/>
                          </a:solidFill>
                        </a:rPr>
                        <a:t>11:04:16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04da25f5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lgn="ctr">
                        <a:buNone/>
                      </a:pPr>
                      <a:r>
                        <a:rPr lang="en-US" sz="1400" b="1" dirty="0">
                          <a:solidFill>
                            <a:srgbClr val="0B1F33"/>
                          </a:solidFill>
                        </a:rPr>
                        <a:t>11:04:26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04da25f5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bullets"/>
          <p:cNvSpPr txBox="1"/>
          <p:nvPr/>
        </p:nvSpPr>
        <p:spPr>
          <a:xfrm>
            <a:off x="640080" y="4892040"/>
            <a:ext cx="10881360" cy="1554480"/>
          </a:xfrm>
          <a:prstGeom prst="rect">
            <a:avLst/>
          </a:prstGeom>
          <a:noFill/>
          <a:ln/>
        </p:spPr>
        <p:txBody>
          <a:bodyPr wrap="square" rtlCol="0" anchor="t"/>
          <a:lstStyle/>
          <a:p>
            <a:pPr marL="342900" indent="-342900">
              <a:spcAft>
                <a:spcPts val="1000"/>
              </a:spcAft>
              <a:buSzPct val="100000"/>
              <a:buChar char="•"/>
            </a:pPr>
            <a:r>
              <a:rPr lang="en-US" sz="1400" dirty="0">
                <a:solidFill>
                  <a:srgbClr val="FFFFFF"/>
                </a:solidFill>
              </a:rPr>
              <a:t>Allowed requests: all five checks PASS, decision ALLOW, access GRANTED (Scenario 3).</a:t>
            </a:r>
            <a:endParaRPr lang="en-US" sz="1400" dirty="0"/>
          </a:p>
          <a:p>
            <a:pPr marL="342900" indent="-342900">
              <a:spcAft>
                <a:spcPts val="1000"/>
              </a:spcAft>
              <a:buSzPct val="100000"/>
              <a:buChar char="•"/>
            </a:pPr>
            <a:r>
              <a:rPr lang="en-US" sz="1400" dirty="0">
                <a:solidFill>
                  <a:srgbClr val="FFFFFF"/>
                </a:solidFill>
              </a:rPr>
              <a:t>After revocation (Scenario 5) the request was refused before any decision was logged; the prototype now logs these refusals too. </a:t>
            </a:r>
            <a:endParaRPr lang="en-US" sz="1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VALIDATION: THE RECORDED DECISIONS</a:t>
            </a:r>
            <a:endParaRPr lang="en-US" sz="3000" dirty="0"/>
          </a:p>
        </p:txBody>
      </p:sp>
      <p:graphicFrame>
        <p:nvGraphicFramePr>
          <p:cNvPr id="27" name="ledger table"/>
          <p:cNvGraphicFramePr>
            <a:graphicFrameLocks noGrp="1"/>
          </p:cNvGraphicFramePr>
          <p:nvPr/>
        </p:nvGraphicFramePr>
        <p:xfrm>
          <a:off x="548640" y="1234440"/>
          <a:ext cx="11064240" cy="3657600"/>
        </p:xfrm>
        <a:graphic>
          <a:graphicData uri="http://schemas.openxmlformats.org/drawingml/2006/table">
            <a:tbl>
              <a:tblPr/>
              <a:tblGrid>
                <a:gridCol w="1987480">
                  <a:extLst>
                    <a:ext uri="{9D8B030D-6E8A-4147-A177-3AD203B41FA5}">
                      <a16:colId xmlns:a16="http://schemas.microsoft.com/office/drawing/2014/main" val="20000"/>
                    </a:ext>
                  </a:extLst>
                </a:gridCol>
                <a:gridCol w="1873320">
                  <a:extLst>
                    <a:ext uri="{9D8B030D-6E8A-4147-A177-3AD203B41FA5}">
                      <a16:colId xmlns:a16="http://schemas.microsoft.com/office/drawing/2014/main" val="20001"/>
                    </a:ext>
                  </a:extLst>
                </a:gridCol>
                <a:gridCol w="924560">
                  <a:extLst>
                    <a:ext uri="{9D8B030D-6E8A-4147-A177-3AD203B41FA5}">
                      <a16:colId xmlns:a16="http://schemas.microsoft.com/office/drawing/2014/main" val="20002"/>
                    </a:ext>
                  </a:extLst>
                </a:gridCol>
                <a:gridCol w="924560">
                  <a:extLst>
                    <a:ext uri="{9D8B030D-6E8A-4147-A177-3AD203B41FA5}">
                      <a16:colId xmlns:a16="http://schemas.microsoft.com/office/drawing/2014/main" val="20003"/>
                    </a:ext>
                  </a:extLst>
                </a:gridCol>
                <a:gridCol w="924560">
                  <a:extLst>
                    <a:ext uri="{9D8B030D-6E8A-4147-A177-3AD203B41FA5}">
                      <a16:colId xmlns:a16="http://schemas.microsoft.com/office/drawing/2014/main" val="20004"/>
                    </a:ext>
                  </a:extLst>
                </a:gridCol>
                <a:gridCol w="924560">
                  <a:extLst>
                    <a:ext uri="{9D8B030D-6E8A-4147-A177-3AD203B41FA5}">
                      <a16:colId xmlns:a16="http://schemas.microsoft.com/office/drawing/2014/main" val="20005"/>
                    </a:ext>
                  </a:extLst>
                </a:gridCol>
                <a:gridCol w="924560">
                  <a:extLst>
                    <a:ext uri="{9D8B030D-6E8A-4147-A177-3AD203B41FA5}">
                      <a16:colId xmlns:a16="http://schemas.microsoft.com/office/drawing/2014/main" val="20006"/>
                    </a:ext>
                  </a:extLst>
                </a:gridCol>
                <a:gridCol w="1244600">
                  <a:extLst>
                    <a:ext uri="{9D8B030D-6E8A-4147-A177-3AD203B41FA5}">
                      <a16:colId xmlns:a16="http://schemas.microsoft.com/office/drawing/2014/main" val="20007"/>
                    </a:ext>
                  </a:extLst>
                </a:gridCol>
                <a:gridCol w="1336040">
                  <a:extLst>
                    <a:ext uri="{9D8B030D-6E8A-4147-A177-3AD203B41FA5}">
                      <a16:colId xmlns:a16="http://schemas.microsoft.com/office/drawing/2014/main" val="20008"/>
                    </a:ext>
                  </a:extLst>
                </a:gridCol>
              </a:tblGrid>
              <a:tr h="457200">
                <a:tc>
                  <a:txBody>
                    <a:bodyPr/>
                    <a:lstStyle/>
                    <a:p>
                      <a:pPr marL="0" indent="0" algn="ctr">
                        <a:buNone/>
                      </a:pPr>
                      <a:r>
                        <a:rPr lang="en-US" sz="1400" b="1" dirty="0">
                          <a:solidFill>
                            <a:srgbClr val="FFFFFF"/>
                          </a:solidFill>
                        </a:rPr>
                        <a:t>Date and time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Consent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VI</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VP</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Decision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Access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457200">
                <a:tc>
                  <a:txBody>
                    <a:bodyPr/>
                    <a:lstStyle/>
                    <a:p>
                      <a:pPr marL="0" indent="0" algn="ctr">
                        <a:buNone/>
                      </a:pPr>
                      <a:r>
                        <a:rPr lang="en-US" sz="1400" b="1" dirty="0">
                          <a:solidFill>
                            <a:srgbClr val="0B1F33"/>
                          </a:solidFill>
                        </a:rPr>
                        <a:t>24 Sep 09:51:36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f050c29a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400" b="1" dirty="0">
                          <a:solidFill>
                            <a:srgbClr val="0B1F33"/>
                          </a:solidFill>
                        </a:rPr>
                        <a:t>24 Sep 09:51:39</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f050c29a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ctr">
                        <a:buNone/>
                      </a:pPr>
                      <a:r>
                        <a:rPr lang="en-US" sz="1400" b="1" dirty="0">
                          <a:solidFill>
                            <a:srgbClr val="0B1F33"/>
                          </a:solidFill>
                        </a:rPr>
                        <a:t>24 Sep 11:02:52</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04da25f5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ctr">
                        <a:buNone/>
                      </a:pPr>
                      <a:r>
                        <a:rPr lang="en-US" sz="1400" b="1" dirty="0">
                          <a:solidFill>
                            <a:srgbClr val="0B1F33"/>
                          </a:solidFill>
                        </a:rPr>
                        <a:t>24 Sep 11:04:16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04da25f5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ctr">
                        <a:buNone/>
                      </a:pPr>
                      <a:r>
                        <a:rPr lang="en-US" sz="1400" b="1" dirty="0">
                          <a:solidFill>
                            <a:srgbClr val="0B1F33"/>
                          </a:solidFill>
                        </a:rPr>
                        <a:t>24 Sep 11:04:26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04da25f5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ctr">
                        <a:buNone/>
                      </a:pPr>
                      <a:r>
                        <a:rPr lang="en-US" sz="1400" b="1" dirty="0">
                          <a:solidFill>
                            <a:srgbClr val="0B1F33"/>
                          </a:solidFill>
                        </a:rPr>
                        <a:t>11 Oct 17:42:04</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18ab9b62</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FAIL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DENY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DENIED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961586747"/>
                  </a:ext>
                </a:extLst>
              </a:tr>
              <a:tr h="457200">
                <a:tc>
                  <a:txBody>
                    <a:bodyPr/>
                    <a:lstStyle/>
                    <a:p>
                      <a:pPr marL="0" indent="0" algn="ctr">
                        <a:buNone/>
                      </a:pPr>
                      <a:r>
                        <a:rPr lang="en-US" sz="1400" b="1" dirty="0">
                          <a:solidFill>
                            <a:srgbClr val="0B1F33"/>
                          </a:solidFill>
                        </a:rPr>
                        <a:t>11 Oct 17:42:39</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18ab9b62</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FAIL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FAIL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DENY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DENIED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341028704"/>
                  </a:ext>
                </a:extLst>
              </a:tr>
            </a:tbl>
          </a:graphicData>
        </a:graphic>
      </p:graphicFrame>
      <p:sp>
        <p:nvSpPr>
          <p:cNvPr id="5" name="bullets"/>
          <p:cNvSpPr txBox="1"/>
          <p:nvPr/>
        </p:nvSpPr>
        <p:spPr>
          <a:xfrm>
            <a:off x="640080" y="5042040"/>
            <a:ext cx="10881360" cy="1554480"/>
          </a:xfrm>
          <a:prstGeom prst="rect">
            <a:avLst/>
          </a:prstGeom>
          <a:noFill/>
          <a:ln/>
        </p:spPr>
        <p:txBody>
          <a:bodyPr wrap="square" rtlCol="0" anchor="t"/>
          <a:lstStyle/>
          <a:p>
            <a:pPr marL="342900" indent="-342900">
              <a:spcAft>
                <a:spcPts val="1000"/>
              </a:spcAft>
              <a:buSzPct val="100000"/>
              <a:buChar char="•"/>
            </a:pPr>
            <a:r>
              <a:rPr lang="en-US" sz="1400" dirty="0">
                <a:solidFill>
                  <a:srgbClr val="FFFFFF"/>
                </a:solidFill>
              </a:rPr>
              <a:t>Allowed requests (24 September): all five checks PASS, decision ALLOW, access GRANTED (Scenario 3).</a:t>
            </a:r>
            <a:endParaRPr lang="en-US" sz="1400" dirty="0"/>
          </a:p>
          <a:p>
            <a:pPr marL="342900" indent="-342900">
              <a:spcAft>
                <a:spcPts val="1000"/>
              </a:spcAft>
              <a:buSzPct val="100000"/>
              <a:buChar char="•"/>
            </a:pPr>
            <a:r>
              <a:rPr lang="en-US" sz="1400" dirty="0">
                <a:solidFill>
                  <a:schemeClr val="bg1"/>
                </a:solidFill>
              </a:rPr>
              <a:t>After revocation (Scenario 5) the request was refused before any decision was logged.</a:t>
            </a:r>
          </a:p>
          <a:p>
            <a:pPr marL="342900" indent="-342900">
              <a:spcAft>
                <a:spcPts val="1000"/>
              </a:spcAft>
              <a:buSzPct val="100000"/>
              <a:buChar char="•"/>
            </a:pPr>
            <a:r>
              <a:rPr lang="en-US" sz="1400" dirty="0">
                <a:solidFill>
                  <a:srgbClr val="FFFFFF"/>
                </a:solidFill>
              </a:rPr>
              <a:t>The prototype now logs every refusal. Local test run, 11 October 2026: a doctor not named in the consent fails VI, and the request after revocation fails VA and VL. Both are DENY.</a:t>
            </a:r>
            <a:endParaRPr lang="en-US" sz="1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VALIDATION: ATTACK SCENARIOS</a:t>
            </a:r>
            <a:endParaRPr lang="en-US" sz="3000" dirty="0"/>
          </a:p>
        </p:txBody>
      </p:sp>
      <p:graphicFrame>
        <p:nvGraphicFramePr>
          <p:cNvPr id="28" name="attack table"/>
          <p:cNvGraphicFramePr>
            <a:graphicFrameLocks noGrp="1"/>
          </p:cNvGraphicFramePr>
          <p:nvPr>
            <p:extLst>
              <p:ext uri="{D42A27DB-BD31-4B8C-83A1-F6EECF244321}">
                <p14:modId xmlns:p14="http://schemas.microsoft.com/office/powerpoint/2010/main" val="896698329"/>
              </p:ext>
            </p:extLst>
          </p:nvPr>
        </p:nvGraphicFramePr>
        <p:xfrm>
          <a:off x="822960" y="1258644"/>
          <a:ext cx="10515600" cy="4884132"/>
        </p:xfrm>
        <a:graphic>
          <a:graphicData uri="http://schemas.openxmlformats.org/drawingml/2006/table">
            <a:tbl>
              <a:tblPr/>
              <a:tblGrid>
                <a:gridCol w="662912">
                  <a:extLst>
                    <a:ext uri="{9D8B030D-6E8A-4147-A177-3AD203B41FA5}">
                      <a16:colId xmlns:a16="http://schemas.microsoft.com/office/drawing/2014/main" val="20000"/>
                    </a:ext>
                  </a:extLst>
                </a:gridCol>
                <a:gridCol w="4750868">
                  <a:extLst>
                    <a:ext uri="{9D8B030D-6E8A-4147-A177-3AD203B41FA5}">
                      <a16:colId xmlns:a16="http://schemas.microsoft.com/office/drawing/2014/main" val="20001"/>
                    </a:ext>
                  </a:extLst>
                </a:gridCol>
                <a:gridCol w="994367">
                  <a:extLst>
                    <a:ext uri="{9D8B030D-6E8A-4147-A177-3AD203B41FA5}">
                      <a16:colId xmlns:a16="http://schemas.microsoft.com/office/drawing/2014/main" val="20002"/>
                    </a:ext>
                  </a:extLst>
                </a:gridCol>
                <a:gridCol w="1215338">
                  <a:extLst>
                    <a:ext uri="{9D8B030D-6E8A-4147-A177-3AD203B41FA5}">
                      <a16:colId xmlns:a16="http://schemas.microsoft.com/office/drawing/2014/main" val="20003"/>
                    </a:ext>
                  </a:extLst>
                </a:gridCol>
                <a:gridCol w="2892115">
                  <a:extLst>
                    <a:ext uri="{9D8B030D-6E8A-4147-A177-3AD203B41FA5}">
                      <a16:colId xmlns:a16="http://schemas.microsoft.com/office/drawing/2014/main" val="20004"/>
                    </a:ext>
                  </a:extLst>
                </a:gridCol>
              </a:tblGrid>
              <a:tr h="463136">
                <a:tc>
                  <a:txBody>
                    <a:bodyPr/>
                    <a:lstStyle/>
                    <a:p>
                      <a:pPr marL="0" indent="0" algn="ctr">
                        <a:buNone/>
                      </a:pPr>
                      <a:r>
                        <a:rPr lang="en-US" sz="1400" b="1" dirty="0">
                          <a:solidFill>
                            <a:srgbClr val="FFFFFF"/>
                          </a:solidFill>
                        </a:rPr>
                        <a:t>ID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Attack</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Target</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Before hardening</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After hardening</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368403">
                <a:tc>
                  <a:txBody>
                    <a:bodyPr/>
                    <a:lstStyle/>
                    <a:p>
                      <a:pPr marL="0" indent="0" algn="ctr">
                        <a:buNone/>
                      </a:pPr>
                      <a:r>
                        <a:rPr lang="en-US" sz="1400" b="1" dirty="0">
                          <a:solidFill>
                            <a:srgbClr val="0B1F33"/>
                          </a:solidFill>
                        </a:rPr>
                        <a:t>A1</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Approval signed by a signer outside G</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A</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Accepted*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8403">
                <a:tc>
                  <a:txBody>
                    <a:bodyPr/>
                    <a:lstStyle/>
                    <a:p>
                      <a:pPr marL="0" indent="0" algn="ctr">
                        <a:buNone/>
                      </a:pPr>
                      <a:r>
                        <a:rPr lang="en-US" sz="1400" b="1" dirty="0">
                          <a:solidFill>
                            <a:srgbClr val="0B1F33"/>
                          </a:solidFill>
                        </a:rPr>
                        <a:t>A2</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Guardian signature replayed from another consent</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I</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8403">
                <a:tc>
                  <a:txBody>
                    <a:bodyPr/>
                    <a:lstStyle/>
                    <a:p>
                      <a:pPr marL="0" indent="0" algn="ctr">
                        <a:buNone/>
                      </a:pPr>
                      <a:r>
                        <a:rPr lang="en-US" sz="1400" b="1" dirty="0">
                          <a:solidFill>
                            <a:srgbClr val="0B1F33"/>
                          </a:solidFill>
                        </a:rPr>
                        <a:t>A3</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Same guardian approves twice to reach N</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A</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Accepted*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8403">
                <a:tc>
                  <a:txBody>
                    <a:bodyPr/>
                    <a:lstStyle/>
                    <a:p>
                      <a:pPr marL="0" indent="0" algn="ctr">
                        <a:buNone/>
                      </a:pPr>
                      <a:r>
                        <a:rPr lang="en-US" sz="1400" b="1" dirty="0">
                          <a:solidFill>
                            <a:srgbClr val="0B1F33"/>
                          </a:solidFill>
                        </a:rPr>
                        <a:t>A4</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Requested scope exceeds the authorised scope</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8403">
                <a:tc>
                  <a:txBody>
                    <a:bodyPr/>
                    <a:lstStyle/>
                    <a:p>
                      <a:pPr marL="0" indent="0" algn="ctr">
                        <a:buNone/>
                      </a:pPr>
                      <a:r>
                        <a:rPr lang="en-US" sz="1400" b="1" dirty="0">
                          <a:solidFill>
                            <a:srgbClr val="0B1F33"/>
                          </a:solidFill>
                        </a:rPr>
                        <a:t>A5</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Request with an empty scope</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Accepted*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8403">
                <a:tc>
                  <a:txBody>
                    <a:bodyPr/>
                    <a:lstStyle/>
                    <a:p>
                      <a:pPr marL="0" indent="0" algn="ctr">
                        <a:buNone/>
                      </a:pPr>
                      <a:r>
                        <a:rPr lang="en-US" sz="1400" b="1" dirty="0">
                          <a:solidFill>
                            <a:srgbClr val="0B1F33"/>
                          </a:solidFill>
                        </a:rPr>
                        <a:t>A6</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Request before notBefore or after expiry</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T</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8403">
                <a:tc>
                  <a:txBody>
                    <a:bodyPr/>
                    <a:lstStyle/>
                    <a:p>
                      <a:pPr marL="0" indent="0" algn="ctr">
                        <a:buNone/>
                      </a:pPr>
                      <a:r>
                        <a:rPr lang="en-US" sz="1400" b="1" dirty="0">
                          <a:solidFill>
                            <a:srgbClr val="0B1F33"/>
                          </a:solidFill>
                        </a:rPr>
                        <a:t>A7</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Requester declares a different jurisdiction</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8403">
                <a:tc>
                  <a:txBody>
                    <a:bodyPr/>
                    <a:lstStyle/>
                    <a:p>
                      <a:pPr marL="0" indent="0" algn="ctr">
                        <a:buNone/>
                      </a:pPr>
                      <a:r>
                        <a:rPr lang="en-US" sz="1400" b="1" dirty="0">
                          <a:solidFill>
                            <a:srgbClr val="0B1F33"/>
                          </a:solidFill>
                        </a:rPr>
                        <a:t>A8</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Access after revocation</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L</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68403">
                <a:tc>
                  <a:txBody>
                    <a:bodyPr/>
                    <a:lstStyle/>
                    <a:p>
                      <a:pPr marL="0" indent="0" algn="ctr">
                        <a:buNone/>
                      </a:pPr>
                      <a:r>
                        <a:rPr lang="en-US" sz="1400" b="1" dirty="0">
                          <a:solidFill>
                            <a:srgbClr val="0B1F33"/>
                          </a:solidFill>
                        </a:rPr>
                        <a:t>A9</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Tampered Groth16 proof or public signal</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E</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68403">
                <a:tc>
                  <a:txBody>
                    <a:bodyPr/>
                    <a:lstStyle/>
                    <a:p>
                      <a:pPr marL="0" indent="0" algn="ctr">
                        <a:buNone/>
                      </a:pPr>
                      <a:r>
                        <a:rPr lang="en-US" sz="1400" b="1" dirty="0">
                          <a:solidFill>
                            <a:srgbClr val="0B1F33"/>
                          </a:solidFill>
                        </a:rPr>
                        <a:t>A10</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Honest proof for an expired consent</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T</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68403">
                <a:tc>
                  <a:txBody>
                    <a:bodyPr/>
                    <a:lstStyle/>
                    <a:p>
                      <a:pPr marL="0" indent="0" algn="ctr">
                        <a:buNone/>
                      </a:pPr>
                      <a:r>
                        <a:rPr lang="en-US" sz="1400" b="1" dirty="0">
                          <a:solidFill>
                            <a:srgbClr val="0B1F33"/>
                          </a:solidFill>
                        </a:rPr>
                        <a:t>A11</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Mint or </a:t>
                      </a:r>
                      <a:r>
                        <a:rPr lang="en-US" sz="1400" dirty="0">
                          <a:solidFill>
                            <a:srgbClr val="0B1F33"/>
                          </a:solidFill>
                          <a:highlight>
                            <a:srgbClr val="FFFF00"/>
                          </a:highlight>
                        </a:rPr>
                        <a:t>revoke</a:t>
                      </a:r>
                      <a:r>
                        <a:rPr lang="en-US" sz="1400" dirty="0">
                          <a:solidFill>
                            <a:srgbClr val="0B1F33"/>
                          </a:solidFill>
                        </a:rPr>
                        <a:t> by a non-owner, or token transfer</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Contract</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368403">
                <a:tc>
                  <a:txBody>
                    <a:bodyPr/>
                    <a:lstStyle/>
                    <a:p>
                      <a:pPr marL="0" indent="0" algn="ctr">
                        <a:buNone/>
                      </a:pPr>
                      <a:r>
                        <a:rPr lang="en-US" sz="1400" b="1" dirty="0">
                          <a:solidFill>
                            <a:srgbClr val="0B1F33"/>
                          </a:solidFill>
                        </a:rPr>
                        <a:t>A12</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Invalid or forged credential</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I</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Accepted‡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Refused</a:t>
                      </a:r>
                      <a:endParaRPr lang="en-US" sz="14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dirty="0"/>
              <a:t>Traditional EHR vs. HALAH Framework</a:t>
            </a:r>
            <a:endParaRPr lang="en-US" sz="3000" dirty="0"/>
          </a:p>
        </p:txBody>
      </p:sp>
      <p:graphicFrame>
        <p:nvGraphicFramePr>
          <p:cNvPr id="30" name="table"/>
          <p:cNvGraphicFramePr>
            <a:graphicFrameLocks noGrp="1"/>
          </p:cNvGraphicFramePr>
          <p:nvPr>
            <p:extLst>
              <p:ext uri="{D42A27DB-BD31-4B8C-83A1-F6EECF244321}">
                <p14:modId xmlns:p14="http://schemas.microsoft.com/office/powerpoint/2010/main" val="4184034353"/>
              </p:ext>
            </p:extLst>
          </p:nvPr>
        </p:nvGraphicFramePr>
        <p:xfrm>
          <a:off x="640080" y="1280160"/>
          <a:ext cx="10881360" cy="5120640"/>
        </p:xfrm>
        <a:graphic>
          <a:graphicData uri="http://schemas.openxmlformats.org/drawingml/2006/table">
            <a:tbl>
              <a:tblPr/>
              <a:tblGrid>
                <a:gridCol w="18288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731520">
                <a:tc>
                  <a:txBody>
                    <a:bodyPr/>
                    <a:lstStyle/>
                    <a:p>
                      <a:pPr marL="0" indent="0" algn="ctr">
                        <a:buNone/>
                      </a:pPr>
                      <a:r>
                        <a:rPr lang="en-US" sz="1600" b="1" dirty="0">
                          <a:solidFill>
                            <a:srgbClr val="FFFFFF"/>
                          </a:solidFill>
                        </a:rPr>
                        <a:t>Aspect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600" b="1" dirty="0">
                          <a:solidFill>
                            <a:srgbClr val="FFFFFF"/>
                          </a:solidFill>
                        </a:rPr>
                        <a:t>Traditional EHR access control</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600" b="1" dirty="0">
                          <a:solidFill>
                            <a:srgbClr val="FFFFFF"/>
                          </a:solidFill>
                        </a:rPr>
                        <a:t>HALAH framework</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731520">
                <a:tc>
                  <a:txBody>
                    <a:bodyPr/>
                    <a:lstStyle/>
                    <a:p>
                      <a:pPr marL="0" indent="0" algn="ctr">
                        <a:buNone/>
                      </a:pPr>
                      <a:r>
                        <a:rPr lang="en-US" sz="1600" b="1" dirty="0">
                          <a:solidFill>
                            <a:srgbClr val="0B1F33"/>
                          </a:solidFill>
                        </a:rPr>
                        <a:t>Identity</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Central identity provider; institution login</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A DID for every participant; identity kept separate from authority</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lgn="ctr">
                        <a:buNone/>
                      </a:pPr>
                      <a:r>
                        <a:rPr lang="en-US" sz="1600" b="1" dirty="0">
                          <a:solidFill>
                            <a:srgbClr val="0B1F33"/>
                          </a:solidFill>
                        </a:rPr>
                        <a:t>Consent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A stored record that permission was given</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An object C = (I, A, P, T, L, E), checked at every request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lgn="ctr">
                        <a:buNone/>
                      </a:pPr>
                      <a:r>
                        <a:rPr lang="en-US" sz="1600" b="1" dirty="0">
                          <a:solidFill>
                            <a:srgbClr val="0B1F33"/>
                          </a:solidFill>
                        </a:rPr>
                        <a:t>Approval</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A static permission set by one party</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AU" sz="1600" dirty="0"/>
                        <a:t>All listed guardians sign a digital approval; no single party can approve alone</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lgn="ctr">
                        <a:buNone/>
                      </a:pPr>
                      <a:r>
                        <a:rPr lang="en-US" sz="1600" b="1" dirty="0">
                          <a:solidFill>
                            <a:srgbClr val="0B1F33"/>
                          </a:solidFill>
                        </a:rPr>
                        <a:t>Access check</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Log in, then check a static permission</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rtl="0"/>
                      <a:r>
                        <a:rPr lang="en-AU" sz="1600" dirty="0">
                          <a:effectLst/>
                        </a:rPr>
                        <a:t>VI ∧ VA ∧ VP ∧ VT ∧ VL checked at every request; one failed check gives DENY</a:t>
                      </a:r>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31520">
                <a:tc>
                  <a:txBody>
                    <a:bodyPr/>
                    <a:lstStyle/>
                    <a:p>
                      <a:pPr marL="0" indent="0" algn="ctr">
                        <a:buNone/>
                      </a:pPr>
                      <a:r>
                        <a:rPr lang="en-US" sz="1600" b="1" dirty="0">
                          <a:solidFill>
                            <a:srgbClr val="0B1F33"/>
                          </a:solidFill>
                        </a:rPr>
                        <a:t>Time and revocation</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Hard to verify once the permission is stored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AU" sz="1600" dirty="0"/>
                        <a:t>Validity window and revocation checked at every request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31520">
                <a:tc>
                  <a:txBody>
                    <a:bodyPr/>
                    <a:lstStyle/>
                    <a:p>
                      <a:pPr marL="0" indent="0" algn="ctr">
                        <a:buNone/>
                      </a:pPr>
                      <a:r>
                        <a:rPr lang="en-US" sz="1600" b="1" dirty="0">
                          <a:solidFill>
                            <a:srgbClr val="0B1F33"/>
                          </a:solidFill>
                        </a:rPr>
                        <a:t>Audit</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B1F33"/>
                          </a:solidFill>
                        </a:rPr>
                        <a:t>A record that consent occurred</a:t>
                      </a:r>
                      <a:endParaRPr lang="en-US" sz="16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rtl="0"/>
                      <a:r>
                        <a:rPr lang="en-AU" sz="1600" kern="1200" dirty="0">
                          <a:solidFill>
                            <a:schemeClr val="tx1"/>
                          </a:solidFill>
                          <a:latin typeface="+mn-lt"/>
                          <a:ea typeface="+mn-ea"/>
                          <a:cs typeface="+mn-cs"/>
                        </a:rPr>
                        <a:t>Every access decision, allowed or denied, logged with its decision matrix</a:t>
                      </a:r>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DATASET OVERVIEW</a:t>
            </a:r>
            <a:endParaRPr lang="en-US" sz="3000" dirty="0"/>
          </a:p>
        </p:txBody>
      </p:sp>
      <p:graphicFrame>
        <p:nvGraphicFramePr>
          <p:cNvPr id="31" name="table"/>
          <p:cNvGraphicFramePr>
            <a:graphicFrameLocks noGrp="1"/>
          </p:cNvGraphicFramePr>
          <p:nvPr/>
        </p:nvGraphicFramePr>
        <p:xfrm>
          <a:off x="640080" y="1325880"/>
          <a:ext cx="11247120" cy="4754880"/>
        </p:xfrm>
        <a:graphic>
          <a:graphicData uri="http://schemas.openxmlformats.org/drawingml/2006/table">
            <a:tbl>
              <a:tblPr/>
              <a:tblGrid>
                <a:gridCol w="256032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640080">
                <a:tc>
                  <a:txBody>
                    <a:bodyPr/>
                    <a:lstStyle/>
                    <a:p>
                      <a:pPr marL="0" indent="0" algn="ctr">
                        <a:buNone/>
                      </a:pPr>
                      <a:r>
                        <a:rPr lang="en-US" sz="1800" b="1" dirty="0">
                          <a:solidFill>
                            <a:srgbClr val="FFFFFF"/>
                          </a:solidFill>
                        </a:rPr>
                        <a:t>Aspect</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800" b="1" dirty="0">
                          <a:solidFill>
                            <a:srgbClr val="FFFFFF"/>
                          </a:solidFill>
                        </a:rPr>
                        <a:t>Description</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822960">
                <a:tc>
                  <a:txBody>
                    <a:bodyPr/>
                    <a:lstStyle/>
                    <a:p>
                      <a:pPr marL="0" indent="0" algn="ctr">
                        <a:buNone/>
                      </a:pPr>
                      <a:r>
                        <a:rPr lang="en-US" sz="1800" b="1" dirty="0">
                          <a:solidFill>
                            <a:srgbClr val="0B1F33"/>
                          </a:solidFill>
                        </a:rPr>
                        <a:t>Dataset</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800" b="0" dirty="0">
                          <a:solidFill>
                            <a:srgbClr val="0B1F33"/>
                          </a:solidFill>
                        </a:rPr>
                        <a:t>Synthea 1K, a public synthetic healthcare dataset containing 1,000 simulated patient records.</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marL="0" indent="0" algn="ctr">
                        <a:buNone/>
                      </a:pPr>
                      <a:r>
                        <a:rPr lang="en-US" sz="1800" b="1" dirty="0">
                          <a:solidFill>
                            <a:srgbClr val="0B1F33"/>
                          </a:solidFill>
                        </a:rPr>
                        <a:t>Data Type</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800" b="0" dirty="0">
                          <a:solidFill>
                            <a:srgbClr val="0B1F33"/>
                          </a:solidFill>
                        </a:rPr>
                        <a:t>Synthetic patient demographics, medical conditions, medications, and procedures</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22960">
                <a:tc>
                  <a:txBody>
                    <a:bodyPr/>
                    <a:lstStyle/>
                    <a:p>
                      <a:pPr marL="0" indent="0" algn="ctr">
                        <a:buNone/>
                      </a:pPr>
                      <a:r>
                        <a:rPr lang="en-US" sz="1800" b="1" dirty="0">
                          <a:solidFill>
                            <a:srgbClr val="0B1F33"/>
                          </a:solidFill>
                        </a:rPr>
                        <a:t>Data Format</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800" b="0" dirty="0">
                          <a:solidFill>
                            <a:srgbClr val="0B1F33"/>
                          </a:solidFill>
                        </a:rPr>
                        <a:t>CSV files</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22960">
                <a:tc>
                  <a:txBody>
                    <a:bodyPr/>
                    <a:lstStyle/>
                    <a:p>
                      <a:pPr marL="0" indent="0" algn="ctr">
                        <a:buNone/>
                      </a:pPr>
                      <a:r>
                        <a:rPr lang="en-US" sz="1800" b="1" dirty="0">
                          <a:solidFill>
                            <a:srgbClr val="0B1F33"/>
                          </a:solidFill>
                        </a:rPr>
                        <a:t>Data Usage</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800" b="0" dirty="0">
                          <a:solidFill>
                            <a:srgbClr val="0B1F33"/>
                          </a:solidFill>
                        </a:rPr>
                        <a:t>Healthcare data-access scenarios for prototype testing</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22960">
                <a:tc>
                  <a:txBody>
                    <a:bodyPr/>
                    <a:lstStyle/>
                    <a:p>
                      <a:pPr marL="0" indent="0" algn="ctr">
                        <a:buNone/>
                      </a:pPr>
                      <a:r>
                        <a:rPr lang="en-US" sz="1800" b="1" dirty="0">
                          <a:solidFill>
                            <a:srgbClr val="0B1F33"/>
                          </a:solidFill>
                        </a:rPr>
                        <a:t>Data Privacy</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800" b="0" dirty="0">
                          <a:solidFill>
                            <a:srgbClr val="0B1F33"/>
                          </a:solidFill>
                        </a:rPr>
                        <a:t>No real patient data is used</a:t>
                      </a:r>
                      <a:endParaRPr lang="en-US" sz="1600" dirty="0"/>
                    </a:p>
                  </a:txBody>
                  <a:tcPr marL="137160" marR="137160"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dirty="0"/>
              <a:t>RESEARCH CONTRIBUTIONS</a:t>
            </a:r>
            <a:r>
              <a:rPr lang="ar-SA" dirty="0"/>
              <a:t> </a:t>
            </a:r>
            <a:endParaRPr lang="en-US" dirty="0"/>
          </a:p>
        </p:txBody>
      </p:sp>
      <p:sp>
        <p:nvSpPr>
          <p:cNvPr id="4" name="sci heading"/>
          <p:cNvSpPr txBox="1"/>
          <p:nvPr/>
        </p:nvSpPr>
        <p:spPr>
          <a:xfrm>
            <a:off x="822960" y="1051560"/>
            <a:ext cx="10515600" cy="457200"/>
          </a:xfrm>
          <a:prstGeom prst="rect">
            <a:avLst/>
          </a:prstGeom>
          <a:noFill/>
          <a:ln/>
        </p:spPr>
        <p:txBody>
          <a:bodyPr wrap="square" rtlCol="0" anchor="ctr"/>
          <a:lstStyle/>
          <a:p>
            <a:r>
              <a:rPr lang="en-US" sz="2200" b="1" i="1" dirty="0">
                <a:solidFill>
                  <a:srgbClr val="1FB5D6"/>
                </a:solidFill>
              </a:rPr>
              <a:t>Scientific Contributions</a:t>
            </a:r>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41</a:t>
            </a:fld>
            <a:endParaRPr lang="en-US"/>
          </a:p>
        </p:txBody>
      </p:sp>
      <p:grpSp>
        <p:nvGrpSpPr>
          <p:cNvPr id="3" name="Scientific contribution 1: Integrated authorisation framework"/>
          <p:cNvGrpSpPr/>
          <p:nvPr/>
        </p:nvGrpSpPr>
        <p:grpSpPr>
          <a:xfrm>
            <a:off x="699389" y="1700784"/>
            <a:ext cx="10515599" cy="849478"/>
            <a:chOff x="822960" y="1700784"/>
            <a:chExt cx="10556748" cy="781812"/>
          </a:xfrm>
        </p:grpSpPr>
        <p:sp>
          <p:nvSpPr>
            <p:cNvPr id="26" name="Contribution 1 card"/>
            <p:cNvSpPr/>
            <p:nvPr/>
          </p:nvSpPr>
          <p:spPr>
            <a:xfrm>
              <a:off x="822960" y="1700784"/>
              <a:ext cx="10515600" cy="781812"/>
            </a:xfrm>
            <a:prstGeom prst="roundRect">
              <a:avLst>
                <a:gd name="adj" fmla="val 8000"/>
              </a:avLst>
            </a:prstGeom>
            <a:solidFill>
              <a:srgbClr val="E3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cxnSp>
          <p:nvCxnSpPr>
            <p:cNvPr id="28" name="Connector 27"/>
            <p:cNvCxnSpPr/>
            <p:nvPr/>
          </p:nvCxnSpPr>
          <p:spPr>
            <a:xfrm flipH="1" flipV="1">
              <a:off x="1101852" y="1968246"/>
              <a:ext cx="123444" cy="123444"/>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1060704" y="1927098"/>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flipV="1">
              <a:off x="1225296" y="1968246"/>
              <a:ext cx="114300" cy="123444"/>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298448" y="1927098"/>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2" name="Connector 31"/>
            <p:cNvCxnSpPr/>
            <p:nvPr/>
          </p:nvCxnSpPr>
          <p:spPr>
            <a:xfrm flipH="1">
              <a:off x="1101852" y="2091690"/>
              <a:ext cx="123444" cy="114300"/>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060704" y="2164842"/>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Connector 33"/>
            <p:cNvCxnSpPr/>
            <p:nvPr/>
          </p:nvCxnSpPr>
          <p:spPr>
            <a:xfrm>
              <a:off x="1225296" y="2091690"/>
              <a:ext cx="114300" cy="114300"/>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298448" y="2164842"/>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1167688" y="2034082"/>
              <a:ext cx="115214" cy="115214"/>
            </a:xfrm>
            <a:prstGeom prst="roundRect">
              <a:avLst>
                <a:gd name="adj" fmla="val 12000"/>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Contribution 1 text"/>
            <p:cNvSpPr txBox="1"/>
            <p:nvPr/>
          </p:nvSpPr>
          <p:spPr>
            <a:xfrm>
              <a:off x="1627632" y="1769364"/>
              <a:ext cx="9752076" cy="644652"/>
            </a:xfrm>
            <a:prstGeom prst="rect">
              <a:avLst/>
            </a:prstGeom>
            <a:noFill/>
          </p:spPr>
          <p:txBody>
            <a:bodyPr wrap="none" lIns="0" tIns="0" rIns="0" bIns="0" anchor="ctr">
              <a:noAutofit/>
            </a:bodyPr>
            <a:lstStyle/>
            <a:p>
              <a:pPr>
                <a:lnSpc>
                  <a:spcPts val="2360"/>
                </a:lnSpc>
              </a:pPr>
              <a:r>
                <a:rPr lang="en-US" sz="1900" dirty="0">
                  <a:solidFill>
                    <a:srgbClr val="103646"/>
                  </a:solidFill>
                </a:rPr>
                <a:t>This research proposes a trust-centric consent model that integrates identity, authority, </a:t>
              </a:r>
              <a:endParaRPr lang="ar-SA" sz="1900" dirty="0">
                <a:solidFill>
                  <a:srgbClr val="103646"/>
                </a:solidFill>
              </a:endParaRPr>
            </a:p>
            <a:p>
              <a:pPr>
                <a:lnSpc>
                  <a:spcPts val="2360"/>
                </a:lnSpc>
              </a:pPr>
              <a:r>
                <a:rPr lang="en-US" sz="1900" dirty="0">
                  <a:solidFill>
                    <a:srgbClr val="103646"/>
                  </a:solidFill>
                </a:rPr>
                <a:t>multi-party approval, and policy constraints into a unified healthcare </a:t>
              </a:r>
              <a:r>
                <a:rPr lang="en-US" sz="1900" dirty="0" err="1">
                  <a:solidFill>
                    <a:srgbClr val="103646"/>
                  </a:solidFill>
                </a:rPr>
                <a:t>authorisation</a:t>
              </a:r>
              <a:r>
                <a:rPr lang="en-US" sz="1900" dirty="0">
                  <a:solidFill>
                    <a:srgbClr val="103646"/>
                  </a:solidFill>
                </a:rPr>
                <a:t> framework</a:t>
              </a:r>
              <a:r>
                <a:rPr lang="ar-SA" sz="1900" dirty="0">
                  <a:solidFill>
                    <a:srgbClr val="103646"/>
                  </a:solidFill>
                </a:rPr>
                <a:t>.</a:t>
              </a:r>
              <a:endParaRPr lang="en-AU" sz="1900" b="0" dirty="0">
                <a:solidFill>
                  <a:srgbClr val="103646"/>
                </a:solidFill>
                <a:latin typeface="Calibri"/>
              </a:endParaRPr>
            </a:p>
          </p:txBody>
        </p:sp>
      </p:grpSp>
      <p:grpSp>
        <p:nvGrpSpPr>
          <p:cNvPr id="5" name="Scientific contribution 2: Evaluable consent model"/>
          <p:cNvGrpSpPr/>
          <p:nvPr/>
        </p:nvGrpSpPr>
        <p:grpSpPr>
          <a:xfrm>
            <a:off x="704885" y="2720340"/>
            <a:ext cx="11306355" cy="781812"/>
            <a:chOff x="781970" y="2720340"/>
            <a:chExt cx="10515600" cy="781812"/>
          </a:xfrm>
        </p:grpSpPr>
        <p:sp>
          <p:nvSpPr>
            <p:cNvPr id="38" name="Contribution 2 card"/>
            <p:cNvSpPr/>
            <p:nvPr/>
          </p:nvSpPr>
          <p:spPr>
            <a:xfrm>
              <a:off x="781970" y="2720340"/>
              <a:ext cx="10515600" cy="781812"/>
            </a:xfrm>
            <a:prstGeom prst="roundRect">
              <a:avLst>
                <a:gd name="adj" fmla="val 8000"/>
              </a:avLst>
            </a:prstGeom>
            <a:solidFill>
              <a:srgbClr val="E3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982980" y="2759202"/>
              <a:ext cx="484632" cy="484632"/>
            </a:xfrm>
            <a:prstGeom prst="roundRect">
              <a:avLst>
                <a:gd name="adj" fmla="val 9000"/>
              </a:avLst>
            </a:prstGeom>
            <a:solidFill>
              <a:srgbClr val="CC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1115568" y="2846070"/>
              <a:ext cx="233172" cy="310896"/>
            </a:xfrm>
            <a:prstGeom prst="roundRect">
              <a:avLst>
                <a:gd name="adj" fmla="val 12000"/>
              </a:avLst>
            </a:prstGeom>
            <a:noFill/>
            <a:ln w="17780">
              <a:solidFill>
                <a:srgbClr val="138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40"/>
            <p:cNvCxnSpPr/>
            <p:nvPr/>
          </p:nvCxnSpPr>
          <p:spPr>
            <a:xfrm>
              <a:off x="1161288" y="2923794"/>
              <a:ext cx="137160" cy="0"/>
            </a:xfrm>
            <a:prstGeom prst="line">
              <a:avLst/>
            </a:prstGeom>
            <a:ln w="15875">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161288" y="2978658"/>
              <a:ext cx="137160" cy="0"/>
            </a:xfrm>
            <a:prstGeom prst="line">
              <a:avLst/>
            </a:prstGeom>
            <a:ln w="15875">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161288" y="3033522"/>
              <a:ext cx="86868" cy="0"/>
            </a:xfrm>
            <a:prstGeom prst="line">
              <a:avLst/>
            </a:prstGeom>
            <a:ln w="15875">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225296" y="3111246"/>
              <a:ext cx="32004" cy="29260"/>
            </a:xfrm>
            <a:prstGeom prst="line">
              <a:avLst/>
            </a:prstGeom>
            <a:ln w="21590">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257300" y="3059125"/>
              <a:ext cx="91440" cy="81381"/>
            </a:xfrm>
            <a:prstGeom prst="line">
              <a:avLst/>
            </a:prstGeom>
            <a:ln w="21590">
              <a:solidFill>
                <a:srgbClr val="1386AA"/>
              </a:solidFill>
            </a:ln>
          </p:spPr>
          <p:style>
            <a:lnRef idx="2">
              <a:schemeClr val="accent1"/>
            </a:lnRef>
            <a:fillRef idx="0">
              <a:schemeClr val="accent1"/>
            </a:fillRef>
            <a:effectRef idx="1">
              <a:schemeClr val="accent1"/>
            </a:effectRef>
            <a:fontRef idx="minor">
              <a:schemeClr val="tx1"/>
            </a:fontRef>
          </p:style>
        </p:cxnSp>
        <p:sp>
          <p:nvSpPr>
            <p:cNvPr id="46" name="Contribution 2 text"/>
            <p:cNvSpPr txBox="1"/>
            <p:nvPr/>
          </p:nvSpPr>
          <p:spPr>
            <a:xfrm>
              <a:off x="1499616" y="2759532"/>
              <a:ext cx="9473184" cy="644652"/>
            </a:xfrm>
            <a:prstGeom prst="rect">
              <a:avLst/>
            </a:prstGeom>
            <a:noFill/>
          </p:spPr>
          <p:txBody>
            <a:bodyPr wrap="none" lIns="0" tIns="0" rIns="0" bIns="0" anchor="ctr">
              <a:noAutofit/>
            </a:bodyPr>
            <a:lstStyle/>
            <a:p>
              <a:pPr>
                <a:lnSpc>
                  <a:spcPts val="2360"/>
                </a:lnSpc>
              </a:pPr>
              <a:r>
                <a:rPr lang="en-US" sz="1900" dirty="0">
                  <a:solidFill>
                    <a:srgbClr val="103646"/>
                  </a:solidFill>
                </a:rPr>
                <a:t>This research proposes a multi-party </a:t>
              </a:r>
              <a:r>
                <a:rPr lang="en-US" sz="1900" dirty="0" err="1">
                  <a:solidFill>
                    <a:srgbClr val="103646"/>
                  </a:solidFill>
                </a:rPr>
                <a:t>authorisation</a:t>
              </a:r>
              <a:r>
                <a:rPr lang="en-US" sz="1900" dirty="0">
                  <a:solidFill>
                    <a:srgbClr val="103646"/>
                  </a:solidFill>
                </a:rPr>
                <a:t> mechanism that requires approval from </a:t>
              </a:r>
              <a:endParaRPr lang="ar-SA" sz="1900" dirty="0">
                <a:solidFill>
                  <a:srgbClr val="103646"/>
                </a:solidFill>
              </a:endParaRPr>
            </a:p>
            <a:p>
              <a:pPr>
                <a:lnSpc>
                  <a:spcPts val="2360"/>
                </a:lnSpc>
              </a:pPr>
              <a:r>
                <a:rPr lang="en-US" sz="1900" dirty="0">
                  <a:solidFill>
                    <a:srgbClr val="103646"/>
                  </a:solidFill>
                </a:rPr>
                <a:t>multiple verified participants before granting healthcare data access, where collective consent is required</a:t>
              </a:r>
              <a:r>
                <a:rPr lang="en-AU" sz="1900" b="0" dirty="0">
                  <a:solidFill>
                    <a:srgbClr val="103646"/>
                  </a:solidFill>
                  <a:latin typeface="Calibri"/>
                </a:rPr>
                <a:t>.</a:t>
              </a:r>
            </a:p>
          </p:txBody>
        </p:sp>
      </p:grpSp>
      <p:grpSp>
        <p:nvGrpSpPr>
          <p:cNvPr id="6" name="Scientific contribution 3: Identity and authority verification"/>
          <p:cNvGrpSpPr/>
          <p:nvPr/>
        </p:nvGrpSpPr>
        <p:grpSpPr>
          <a:xfrm>
            <a:off x="691251" y="3669030"/>
            <a:ext cx="10515600" cy="781812"/>
            <a:chOff x="802464" y="3669030"/>
            <a:chExt cx="10515600" cy="781812"/>
          </a:xfrm>
        </p:grpSpPr>
        <p:sp>
          <p:nvSpPr>
            <p:cNvPr id="47" name="Contribution 3 card"/>
            <p:cNvSpPr/>
            <p:nvPr/>
          </p:nvSpPr>
          <p:spPr>
            <a:xfrm>
              <a:off x="802464" y="3669030"/>
              <a:ext cx="10515600" cy="781812"/>
            </a:xfrm>
            <a:prstGeom prst="roundRect">
              <a:avLst>
                <a:gd name="adj" fmla="val 8000"/>
              </a:avLst>
            </a:prstGeom>
            <a:solidFill>
              <a:srgbClr val="E3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978408" y="3722022"/>
              <a:ext cx="484632" cy="484632"/>
            </a:xfrm>
            <a:prstGeom prst="roundRect">
              <a:avLst>
                <a:gd name="adj" fmla="val 9000"/>
              </a:avLst>
            </a:prstGeom>
            <a:solidFill>
              <a:srgbClr val="CC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1056132" y="3787902"/>
              <a:ext cx="338328" cy="251460"/>
            </a:xfrm>
            <a:prstGeom prst="roundRect">
              <a:avLst>
                <a:gd name="adj" fmla="val 12000"/>
              </a:avLst>
            </a:prstGeom>
            <a:noFill/>
            <a:ln w="17780">
              <a:solidFill>
                <a:srgbClr val="138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101852" y="3842765"/>
              <a:ext cx="59436" cy="5943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1081637" y="3995209"/>
              <a:ext cx="77724" cy="59436"/>
            </a:xfrm>
            <a:prstGeom prst="roundRect">
              <a:avLst>
                <a:gd name="adj" fmla="val 12000"/>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2" name="Connector 51"/>
            <p:cNvCxnSpPr/>
            <p:nvPr/>
          </p:nvCxnSpPr>
          <p:spPr>
            <a:xfrm>
              <a:off x="1220724" y="3866540"/>
              <a:ext cx="126187" cy="0"/>
            </a:xfrm>
            <a:prstGeom prst="line">
              <a:avLst/>
            </a:prstGeom>
            <a:ln w="16510">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220724" y="3926890"/>
              <a:ext cx="126187" cy="0"/>
            </a:xfrm>
            <a:prstGeom prst="line">
              <a:avLst/>
            </a:prstGeom>
            <a:ln w="16510">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220724" y="3987241"/>
              <a:ext cx="86868" cy="0"/>
            </a:xfrm>
            <a:prstGeom prst="line">
              <a:avLst/>
            </a:prstGeom>
            <a:ln w="16510">
              <a:solidFill>
                <a:srgbClr val="1386AA"/>
              </a:solidFill>
            </a:ln>
          </p:spPr>
          <p:style>
            <a:lnRef idx="2">
              <a:schemeClr val="accent1"/>
            </a:lnRef>
            <a:fillRef idx="0">
              <a:schemeClr val="accent1"/>
            </a:fillRef>
            <a:effectRef idx="1">
              <a:schemeClr val="accent1"/>
            </a:effectRef>
            <a:fontRef idx="minor">
              <a:schemeClr val="tx1"/>
            </a:fontRef>
          </p:style>
        </p:cxnSp>
        <p:sp>
          <p:nvSpPr>
            <p:cNvPr id="55" name="Contribution 3 text"/>
            <p:cNvSpPr txBox="1"/>
            <p:nvPr/>
          </p:nvSpPr>
          <p:spPr>
            <a:xfrm>
              <a:off x="1559052" y="3717036"/>
              <a:ext cx="9473184" cy="644652"/>
            </a:xfrm>
            <a:prstGeom prst="rect">
              <a:avLst/>
            </a:prstGeom>
            <a:noFill/>
          </p:spPr>
          <p:txBody>
            <a:bodyPr wrap="none" lIns="0" tIns="0" rIns="0" bIns="0" anchor="ctr">
              <a:noAutofit/>
            </a:bodyPr>
            <a:lstStyle/>
            <a:p>
              <a:pPr>
                <a:lnSpc>
                  <a:spcPts val="2360"/>
                </a:lnSpc>
              </a:pPr>
              <a:r>
                <a:rPr lang="en-US" sz="1900" dirty="0">
                  <a:solidFill>
                    <a:srgbClr val="103646"/>
                  </a:solidFill>
                </a:rPr>
                <a:t> This research proposes a trust-aware </a:t>
              </a:r>
              <a:r>
                <a:rPr lang="en-US" sz="1900" dirty="0" err="1">
                  <a:solidFill>
                    <a:srgbClr val="103646"/>
                  </a:solidFill>
                </a:rPr>
                <a:t>authorisation</a:t>
              </a:r>
              <a:r>
                <a:rPr lang="en-US" sz="1900" dirty="0">
                  <a:solidFill>
                    <a:srgbClr val="103646"/>
                  </a:solidFill>
                </a:rPr>
                <a:t> approach that evaluates identity, authority,</a:t>
              </a:r>
              <a:endParaRPr lang="ar-SA" sz="1900" dirty="0">
                <a:solidFill>
                  <a:srgbClr val="103646"/>
                </a:solidFill>
              </a:endParaRPr>
            </a:p>
            <a:p>
              <a:pPr>
                <a:lnSpc>
                  <a:spcPts val="2360"/>
                </a:lnSpc>
              </a:pPr>
              <a:r>
                <a:rPr lang="en-US" sz="1900" dirty="0">
                  <a:solidFill>
                    <a:srgbClr val="103646"/>
                  </a:solidFill>
                </a:rPr>
                <a:t> collective approval, and policy compliance when determining healthcare data-access permissions</a:t>
              </a:r>
              <a:r>
                <a:rPr lang="en-AU" sz="1900" b="0" dirty="0">
                  <a:solidFill>
                    <a:srgbClr val="103646"/>
                  </a:solidFill>
                  <a:latin typeface="Calibri"/>
                </a:rPr>
                <a:t>.</a:t>
              </a: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dirty="0"/>
              <a:t>RESEARCH CONTRIBUTIONS</a:t>
            </a:r>
            <a:r>
              <a:rPr lang="ar-SA" dirty="0"/>
              <a:t> </a:t>
            </a:r>
            <a:endParaRPr lang="en-US" dirty="0"/>
          </a:p>
        </p:txBody>
      </p:sp>
      <p:sp>
        <p:nvSpPr>
          <p:cNvPr id="4" name="soc heading"/>
          <p:cNvSpPr txBox="1"/>
          <p:nvPr/>
        </p:nvSpPr>
        <p:spPr>
          <a:xfrm>
            <a:off x="822960" y="1051560"/>
            <a:ext cx="10515600" cy="457200"/>
          </a:xfrm>
          <a:prstGeom prst="rect">
            <a:avLst/>
          </a:prstGeom>
          <a:noFill/>
          <a:ln/>
        </p:spPr>
        <p:txBody>
          <a:bodyPr wrap="square" rtlCol="0" anchor="ctr"/>
          <a:lstStyle/>
          <a:p>
            <a:pPr marL="0" indent="0">
              <a:buNone/>
            </a:pPr>
            <a:r>
              <a:rPr lang="en-US" sz="2200" b="1" i="1" dirty="0">
                <a:solidFill>
                  <a:srgbClr val="1FB5D6"/>
                </a:solidFill>
              </a:rPr>
              <a:t>Social Contributions</a:t>
            </a:r>
            <a:endParaRPr lang="en-US" sz="2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42</a:t>
            </a:fld>
            <a:endParaRPr lang="en-US"/>
          </a:p>
        </p:txBody>
      </p:sp>
      <p:grpSp>
        <p:nvGrpSpPr>
          <p:cNvPr id="3" name="Scientific contribution 1: Integrated authorisation framework"/>
          <p:cNvGrpSpPr/>
          <p:nvPr/>
        </p:nvGrpSpPr>
        <p:grpSpPr>
          <a:xfrm>
            <a:off x="822960" y="1737360"/>
            <a:ext cx="10515600" cy="932688"/>
            <a:chOff x="822960" y="1700784"/>
            <a:chExt cx="10515600" cy="781812"/>
          </a:xfrm>
        </p:grpSpPr>
        <p:sp>
          <p:nvSpPr>
            <p:cNvPr id="26" name="Contribution 1 card"/>
            <p:cNvSpPr/>
            <p:nvPr/>
          </p:nvSpPr>
          <p:spPr>
            <a:xfrm>
              <a:off x="822960" y="1700784"/>
              <a:ext cx="10515600" cy="781812"/>
            </a:xfrm>
            <a:prstGeom prst="roundRect">
              <a:avLst>
                <a:gd name="adj" fmla="val 8000"/>
              </a:avLst>
            </a:prstGeom>
            <a:solidFill>
              <a:srgbClr val="E3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82980" y="1849374"/>
              <a:ext cx="484632" cy="484632"/>
            </a:xfrm>
            <a:prstGeom prst="roundRect">
              <a:avLst>
                <a:gd name="adj" fmla="val 9000"/>
              </a:avLst>
            </a:prstGeom>
            <a:solidFill>
              <a:srgbClr val="CC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8" name="Connector 27"/>
            <p:cNvCxnSpPr/>
            <p:nvPr/>
          </p:nvCxnSpPr>
          <p:spPr>
            <a:xfrm flipH="1" flipV="1">
              <a:off x="1101852" y="1968246"/>
              <a:ext cx="123444" cy="123444"/>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1060704" y="1927098"/>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flipV="1">
              <a:off x="1225296" y="1968246"/>
              <a:ext cx="114300" cy="123444"/>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298448" y="1927098"/>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2" name="Connector 31"/>
            <p:cNvCxnSpPr/>
            <p:nvPr/>
          </p:nvCxnSpPr>
          <p:spPr>
            <a:xfrm flipH="1">
              <a:off x="1101852" y="2091690"/>
              <a:ext cx="123444" cy="114300"/>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060704" y="2164842"/>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Connector 33"/>
            <p:cNvCxnSpPr/>
            <p:nvPr/>
          </p:nvCxnSpPr>
          <p:spPr>
            <a:xfrm>
              <a:off x="1225296" y="2091690"/>
              <a:ext cx="114300" cy="114300"/>
            </a:xfrm>
            <a:prstGeom prst="line">
              <a:avLst/>
            </a:prstGeom>
            <a:ln w="15240">
              <a:solidFill>
                <a:srgbClr val="1386AA"/>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298448" y="2164842"/>
              <a:ext cx="82296" cy="8229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1167688" y="2034082"/>
              <a:ext cx="115214" cy="115214"/>
            </a:xfrm>
            <a:prstGeom prst="roundRect">
              <a:avLst>
                <a:gd name="adj" fmla="val 12000"/>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Contribution 1 text"/>
            <p:cNvSpPr txBox="1"/>
            <p:nvPr/>
          </p:nvSpPr>
          <p:spPr>
            <a:xfrm>
              <a:off x="1627632" y="1769364"/>
              <a:ext cx="9473184" cy="658368"/>
            </a:xfrm>
            <a:prstGeom prst="rect">
              <a:avLst/>
            </a:prstGeom>
            <a:noFill/>
          </p:spPr>
          <p:txBody>
            <a:bodyPr wrap="square" lIns="0" tIns="0" rIns="0" bIns="0" anchor="ctr">
              <a:noAutofit/>
            </a:bodyPr>
            <a:lstStyle/>
            <a:p>
              <a:pPr>
                <a:lnSpc>
                  <a:spcPts val="2360"/>
                </a:lnSpc>
                <a:defRPr sz="1600">
                  <a:solidFill>
                    <a:srgbClr val="161E2B"/>
                  </a:solidFill>
                  <a:latin typeface="Arial"/>
                </a:defRPr>
              </a:pPr>
              <a:r>
                <a:rPr lang="en-US" dirty="0"/>
                <a:t>This research aims to help patients and their guardians manage consent for sharing sensitive healthcare information, supporting greater control over healthcare data access</a:t>
              </a:r>
              <a:r>
                <a:rPr dirty="0"/>
                <a:t>.</a:t>
              </a:r>
            </a:p>
          </p:txBody>
        </p:sp>
      </p:grpSp>
      <p:grpSp>
        <p:nvGrpSpPr>
          <p:cNvPr id="5" name="Scientific contribution 2: Evaluable consent model"/>
          <p:cNvGrpSpPr/>
          <p:nvPr/>
        </p:nvGrpSpPr>
        <p:grpSpPr>
          <a:xfrm>
            <a:off x="822960" y="2852928"/>
            <a:ext cx="10515600" cy="932688"/>
            <a:chOff x="822960" y="2610612"/>
            <a:chExt cx="10515600" cy="781812"/>
          </a:xfrm>
        </p:grpSpPr>
        <p:sp>
          <p:nvSpPr>
            <p:cNvPr id="38" name="Contribution 2 card"/>
            <p:cNvSpPr/>
            <p:nvPr/>
          </p:nvSpPr>
          <p:spPr>
            <a:xfrm>
              <a:off x="822960" y="2610612"/>
              <a:ext cx="10515600" cy="781812"/>
            </a:xfrm>
            <a:prstGeom prst="roundRect">
              <a:avLst>
                <a:gd name="adj" fmla="val 8000"/>
              </a:avLst>
            </a:prstGeom>
            <a:solidFill>
              <a:srgbClr val="E3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982980" y="2759202"/>
              <a:ext cx="484632" cy="484632"/>
            </a:xfrm>
            <a:prstGeom prst="roundRect">
              <a:avLst>
                <a:gd name="adj" fmla="val 9000"/>
              </a:avLst>
            </a:prstGeom>
            <a:solidFill>
              <a:srgbClr val="CC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1115568" y="2846070"/>
              <a:ext cx="233172" cy="310896"/>
            </a:xfrm>
            <a:prstGeom prst="roundRect">
              <a:avLst>
                <a:gd name="adj" fmla="val 12000"/>
              </a:avLst>
            </a:prstGeom>
            <a:noFill/>
            <a:ln w="17780">
              <a:solidFill>
                <a:srgbClr val="138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40"/>
            <p:cNvCxnSpPr/>
            <p:nvPr/>
          </p:nvCxnSpPr>
          <p:spPr>
            <a:xfrm>
              <a:off x="1161288" y="2923794"/>
              <a:ext cx="137160" cy="0"/>
            </a:xfrm>
            <a:prstGeom prst="line">
              <a:avLst/>
            </a:prstGeom>
            <a:ln w="15875">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161288" y="2978658"/>
              <a:ext cx="137160" cy="0"/>
            </a:xfrm>
            <a:prstGeom prst="line">
              <a:avLst/>
            </a:prstGeom>
            <a:ln w="15875">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161288" y="3033522"/>
              <a:ext cx="86868" cy="0"/>
            </a:xfrm>
            <a:prstGeom prst="line">
              <a:avLst/>
            </a:prstGeom>
            <a:ln w="15875">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225296" y="3111246"/>
              <a:ext cx="32004" cy="29260"/>
            </a:xfrm>
            <a:prstGeom prst="line">
              <a:avLst/>
            </a:prstGeom>
            <a:ln w="21590">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257300" y="3059125"/>
              <a:ext cx="91440" cy="81381"/>
            </a:xfrm>
            <a:prstGeom prst="line">
              <a:avLst/>
            </a:prstGeom>
            <a:ln w="21590">
              <a:solidFill>
                <a:srgbClr val="1386AA"/>
              </a:solidFill>
            </a:ln>
          </p:spPr>
          <p:style>
            <a:lnRef idx="2">
              <a:schemeClr val="accent1"/>
            </a:lnRef>
            <a:fillRef idx="0">
              <a:schemeClr val="accent1"/>
            </a:fillRef>
            <a:effectRef idx="1">
              <a:schemeClr val="accent1"/>
            </a:effectRef>
            <a:fontRef idx="minor">
              <a:schemeClr val="tx1"/>
            </a:fontRef>
          </p:style>
        </p:cxnSp>
        <p:sp>
          <p:nvSpPr>
            <p:cNvPr id="46" name="Contribution 2 text"/>
            <p:cNvSpPr txBox="1"/>
            <p:nvPr/>
          </p:nvSpPr>
          <p:spPr>
            <a:xfrm>
              <a:off x="1627632" y="2679192"/>
              <a:ext cx="9473184" cy="658368"/>
            </a:xfrm>
            <a:prstGeom prst="rect">
              <a:avLst/>
            </a:prstGeom>
            <a:noFill/>
          </p:spPr>
          <p:txBody>
            <a:bodyPr wrap="square" lIns="0" tIns="0" rIns="0" bIns="0" anchor="ctr">
              <a:noAutofit/>
            </a:bodyPr>
            <a:lstStyle/>
            <a:p>
              <a:pPr>
                <a:lnSpc>
                  <a:spcPts val="2360"/>
                </a:lnSpc>
                <a:defRPr sz="1600">
                  <a:solidFill>
                    <a:srgbClr val="161E2B"/>
                  </a:solidFill>
                  <a:latin typeface="Arial"/>
                </a:defRPr>
              </a:pPr>
              <a:r>
                <a:rPr lang="en-US" dirty="0"/>
                <a:t>This research aims to support patient privacy by restricting healthcare data access according to </a:t>
              </a:r>
              <a:r>
                <a:rPr lang="en-US" dirty="0" err="1"/>
                <a:t>authorised</a:t>
              </a:r>
              <a:r>
                <a:rPr lang="en-US" dirty="0"/>
                <a:t> purposes and data scopes</a:t>
              </a:r>
              <a:r>
                <a:rPr dirty="0"/>
                <a:t>.</a:t>
              </a:r>
            </a:p>
          </p:txBody>
        </p:sp>
      </p:grpSp>
      <p:grpSp>
        <p:nvGrpSpPr>
          <p:cNvPr id="6" name="Scientific contribution 3: Identity and authority verification"/>
          <p:cNvGrpSpPr/>
          <p:nvPr/>
        </p:nvGrpSpPr>
        <p:grpSpPr>
          <a:xfrm>
            <a:off x="822960" y="3968496"/>
            <a:ext cx="10515600" cy="932688"/>
            <a:chOff x="822960" y="3520440"/>
            <a:chExt cx="10515600" cy="781812"/>
          </a:xfrm>
        </p:grpSpPr>
        <p:sp>
          <p:nvSpPr>
            <p:cNvPr id="47" name="Contribution 3 card"/>
            <p:cNvSpPr/>
            <p:nvPr/>
          </p:nvSpPr>
          <p:spPr>
            <a:xfrm>
              <a:off x="822960" y="3520440"/>
              <a:ext cx="10515600" cy="781812"/>
            </a:xfrm>
            <a:prstGeom prst="roundRect">
              <a:avLst>
                <a:gd name="adj" fmla="val 8000"/>
              </a:avLst>
            </a:prstGeom>
            <a:solidFill>
              <a:srgbClr val="E3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982980" y="3669030"/>
              <a:ext cx="484632" cy="484632"/>
            </a:xfrm>
            <a:prstGeom prst="roundRect">
              <a:avLst>
                <a:gd name="adj" fmla="val 9000"/>
              </a:avLst>
            </a:prstGeom>
            <a:solidFill>
              <a:srgbClr val="CC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1056132" y="3787902"/>
              <a:ext cx="338328" cy="251460"/>
            </a:xfrm>
            <a:prstGeom prst="roundRect">
              <a:avLst>
                <a:gd name="adj" fmla="val 12000"/>
              </a:avLst>
            </a:prstGeom>
            <a:noFill/>
            <a:ln w="17780">
              <a:solidFill>
                <a:srgbClr val="138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101852" y="3842765"/>
              <a:ext cx="59436" cy="59436"/>
            </a:xfrm>
            <a:prstGeom prst="ellipse">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1092708" y="3920489"/>
              <a:ext cx="77724" cy="59436"/>
            </a:xfrm>
            <a:prstGeom prst="roundRect">
              <a:avLst>
                <a:gd name="adj" fmla="val 12000"/>
              </a:avLst>
            </a:prstGeom>
            <a:solidFill>
              <a:srgbClr val="138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2" name="Connector 51"/>
            <p:cNvCxnSpPr/>
            <p:nvPr/>
          </p:nvCxnSpPr>
          <p:spPr>
            <a:xfrm>
              <a:off x="1220724" y="3866540"/>
              <a:ext cx="126187" cy="0"/>
            </a:xfrm>
            <a:prstGeom prst="line">
              <a:avLst/>
            </a:prstGeom>
            <a:ln w="16510">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220724" y="3926890"/>
              <a:ext cx="126187" cy="0"/>
            </a:xfrm>
            <a:prstGeom prst="line">
              <a:avLst/>
            </a:prstGeom>
            <a:ln w="16510">
              <a:solidFill>
                <a:srgbClr val="1386A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220724" y="3987241"/>
              <a:ext cx="86868" cy="0"/>
            </a:xfrm>
            <a:prstGeom prst="line">
              <a:avLst/>
            </a:prstGeom>
            <a:ln w="16510">
              <a:solidFill>
                <a:srgbClr val="1386AA"/>
              </a:solidFill>
            </a:ln>
          </p:spPr>
          <p:style>
            <a:lnRef idx="2">
              <a:schemeClr val="accent1"/>
            </a:lnRef>
            <a:fillRef idx="0">
              <a:schemeClr val="accent1"/>
            </a:fillRef>
            <a:effectRef idx="1">
              <a:schemeClr val="accent1"/>
            </a:effectRef>
            <a:fontRef idx="minor">
              <a:schemeClr val="tx1"/>
            </a:fontRef>
          </p:style>
        </p:cxnSp>
        <p:sp>
          <p:nvSpPr>
            <p:cNvPr id="55" name="Contribution 3 text"/>
            <p:cNvSpPr txBox="1"/>
            <p:nvPr/>
          </p:nvSpPr>
          <p:spPr>
            <a:xfrm>
              <a:off x="1627632" y="3589020"/>
              <a:ext cx="9473184" cy="658368"/>
            </a:xfrm>
            <a:prstGeom prst="rect">
              <a:avLst/>
            </a:prstGeom>
            <a:noFill/>
          </p:spPr>
          <p:txBody>
            <a:bodyPr wrap="square" lIns="0" tIns="0" rIns="0" bIns="0" anchor="ctr">
              <a:noAutofit/>
            </a:bodyPr>
            <a:lstStyle/>
            <a:p>
              <a:pPr>
                <a:lnSpc>
                  <a:spcPts val="2360"/>
                </a:lnSpc>
                <a:defRPr sz="1600">
                  <a:solidFill>
                    <a:srgbClr val="161E2B"/>
                  </a:solidFill>
                  <a:latin typeface="Arial"/>
                </a:defRPr>
              </a:pPr>
              <a:r>
                <a:rPr lang="en-US" dirty="0"/>
                <a:t> This research aims to support transparency and accountability in healthcare data sharing by providing verifiable records of consent activities and access decisions</a:t>
              </a:r>
              <a:r>
                <a:rPr dirty="0"/>
                <a:t>.</a:t>
              </a: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RESEARCH PLAN</a:t>
            </a:r>
            <a:endParaRPr lang="en-US" sz="3000" dirty="0"/>
          </a:p>
        </p:txBody>
      </p:sp>
      <p:graphicFrame>
        <p:nvGraphicFramePr>
          <p:cNvPr id="36" name="table"/>
          <p:cNvGraphicFramePr>
            <a:graphicFrameLocks noGrp="1"/>
          </p:cNvGraphicFramePr>
          <p:nvPr>
            <p:extLst>
              <p:ext uri="{D42A27DB-BD31-4B8C-83A1-F6EECF244321}">
                <p14:modId xmlns:p14="http://schemas.microsoft.com/office/powerpoint/2010/main" val="455243537"/>
              </p:ext>
            </p:extLst>
          </p:nvPr>
        </p:nvGraphicFramePr>
        <p:xfrm>
          <a:off x="731521" y="957649"/>
          <a:ext cx="10846759" cy="5772912"/>
        </p:xfrm>
        <a:graphic>
          <a:graphicData uri="http://schemas.openxmlformats.org/drawingml/2006/table">
            <a:tbl>
              <a:tblPr/>
              <a:tblGrid>
                <a:gridCol w="1761439">
                  <a:extLst>
                    <a:ext uri="{9D8B030D-6E8A-4147-A177-3AD203B41FA5}">
                      <a16:colId xmlns:a16="http://schemas.microsoft.com/office/drawing/2014/main" val="20000"/>
                    </a:ext>
                  </a:extLst>
                </a:gridCol>
                <a:gridCol w="6118684">
                  <a:extLst>
                    <a:ext uri="{9D8B030D-6E8A-4147-A177-3AD203B41FA5}">
                      <a16:colId xmlns:a16="http://schemas.microsoft.com/office/drawing/2014/main" val="20001"/>
                    </a:ext>
                  </a:extLst>
                </a:gridCol>
                <a:gridCol w="1247188">
                  <a:extLst>
                    <a:ext uri="{9D8B030D-6E8A-4147-A177-3AD203B41FA5}">
                      <a16:colId xmlns:a16="http://schemas.microsoft.com/office/drawing/2014/main" val="20002"/>
                    </a:ext>
                  </a:extLst>
                </a:gridCol>
                <a:gridCol w="1719448">
                  <a:extLst>
                    <a:ext uri="{9D8B030D-6E8A-4147-A177-3AD203B41FA5}">
                      <a16:colId xmlns:a16="http://schemas.microsoft.com/office/drawing/2014/main" val="20003"/>
                    </a:ext>
                  </a:extLst>
                </a:gridCol>
              </a:tblGrid>
              <a:tr h="457200">
                <a:tc>
                  <a:txBody>
                    <a:bodyPr/>
                    <a:lstStyle/>
                    <a:p>
                      <a:pPr marL="0" indent="0" algn="ctr">
                        <a:buNone/>
                      </a:pPr>
                      <a:r>
                        <a:rPr lang="en-US" sz="1400" b="1" dirty="0">
                          <a:solidFill>
                            <a:srgbClr val="FFFFFF"/>
                          </a:solidFill>
                        </a:rPr>
                        <a:t>Task</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Description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Target date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Status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457200">
                <a:tc>
                  <a:txBody>
                    <a:bodyPr/>
                    <a:lstStyle/>
                    <a:p>
                      <a:pPr marL="0" indent="0" algn="ctr">
                        <a:buNone/>
                      </a:pPr>
                      <a:r>
                        <a:rPr lang="en-US" sz="1400" b="1" dirty="0">
                          <a:solidFill>
                            <a:srgbClr val="0B1F33"/>
                          </a:solidFill>
                        </a:rPr>
                        <a:t>Chapters 1–4</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Introduction, SLR, Research Questions and Objectives, Research Methodology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Completed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Done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400" b="1" dirty="0">
                          <a:solidFill>
                            <a:srgbClr val="0B1F33"/>
                          </a:solidFill>
                        </a:rPr>
                        <a:t>Chapter 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Research Architecture (MVC) and framework design</a:t>
                      </a:r>
                      <a:r>
                        <a:rPr lang="ar-SA" sz="1400" dirty="0">
                          <a:solidFill>
                            <a:srgbClr val="0B1F33"/>
                          </a:solidFill>
                        </a:rPr>
                        <a:t> </a:t>
                      </a:r>
                      <a:r>
                        <a:rPr lang="en-US" sz="1400" dirty="0">
                          <a:solidFill>
                            <a:srgbClr val="0B1F33"/>
                          </a:solidFill>
                        </a:rPr>
                        <a:t>and Proposed solution for RO2</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May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Done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ctr">
                        <a:buNone/>
                      </a:pPr>
                      <a:r>
                        <a:rPr lang="en-US" sz="1400" b="1" dirty="0">
                          <a:solidFill>
                            <a:srgbClr val="0B1F33"/>
                          </a:solidFill>
                        </a:rPr>
                        <a:t>Chapter 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Proposed solution for RO3</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Jul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Done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ctr">
                        <a:buNone/>
                      </a:pPr>
                      <a:r>
                        <a:rPr lang="en-US" sz="1400" b="1" dirty="0">
                          <a:solidFill>
                            <a:srgbClr val="0B1F33"/>
                          </a:solidFill>
                        </a:rPr>
                        <a:t>Publication 1</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Conference paper submission, BWCCA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Sep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Done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B1F33"/>
                          </a:solidFill>
                        </a:rPr>
                        <a:t>Chapter 7</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B1F33"/>
                          </a:solidFill>
                        </a:rPr>
                        <a:t>Proposed solution for RO4</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Sep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Done </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B1F33"/>
                          </a:solidFill>
                        </a:rPr>
                        <a:t>Publication 2</a:t>
                      </a:r>
                      <a:endParaRPr lang="en-US" sz="1400" dirty="0"/>
                    </a:p>
                    <a:p>
                      <a:pPr marL="0" indent="0" algn="ctr">
                        <a:buNone/>
                      </a:pP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SLR paper journal submission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Oct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t>Ready for </a:t>
                      </a:r>
                      <a:r>
                        <a:rPr lang="en-US" sz="1400" dirty="0">
                          <a:solidFill>
                            <a:srgbClr val="0B1F33"/>
                          </a:solidFill>
                        </a:rPr>
                        <a:t>submission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B1F33"/>
                          </a:solidFill>
                        </a:rPr>
                        <a:t>Chapter 8</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Proposed solution for RO5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Nov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In progress </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B1F33"/>
                          </a:solidFill>
                        </a:rPr>
                        <a:t>Chapter 9</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t>Conclusion and Future work</a:t>
                      </a:r>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Dec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Planned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B1F33"/>
                          </a:solidFill>
                        </a:rPr>
                        <a:t>Publication 3</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B1F33"/>
                          </a:solidFill>
                        </a:rPr>
                        <a:t>Journal paper on formal security assurance, lifecycle trust and the evaluation of HALAH</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B1F33"/>
                          </a:solidFill>
                        </a:rPr>
                        <a:t>Jan 2027</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Planned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4141386650"/>
                  </a:ext>
                </a:extLst>
              </a:tr>
              <a:tr h="457200">
                <a:tc>
                  <a:txBody>
                    <a:bodyPr/>
                    <a:lstStyle/>
                    <a:p>
                      <a:pPr marL="0" indent="0" algn="ctr">
                        <a:buNone/>
                      </a:pPr>
                      <a:r>
                        <a:rPr lang="en-US" sz="1400" b="1" dirty="0">
                          <a:solidFill>
                            <a:srgbClr val="0B1F33"/>
                          </a:solidFill>
                        </a:rPr>
                        <a:t>Final assessment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Candidature Assessment 3</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Feb 2027</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Planned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57200">
                <a:tc>
                  <a:txBody>
                    <a:bodyPr/>
                    <a:lstStyle/>
                    <a:p>
                      <a:pPr marL="0" indent="0" algn="ctr">
                        <a:buNone/>
                      </a:pPr>
                      <a:r>
                        <a:rPr lang="en-US" sz="1400" b="1" dirty="0">
                          <a:solidFill>
                            <a:srgbClr val="0B1F33"/>
                          </a:solidFill>
                        </a:rPr>
                        <a:t>Thesis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Complete thesis submission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May 2027</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Planned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RESEARCH TIMELINE</a:t>
            </a:r>
            <a:endParaRPr lang="en-US" sz="3000" dirty="0"/>
          </a:p>
        </p:txBody>
      </p:sp>
      <p:sp>
        <p:nvSpPr>
          <p:cNvPr id="4" name="Fplan panel"/>
          <p:cNvSpPr/>
          <p:nvPr/>
        </p:nvSpPr>
        <p:spPr>
          <a:xfrm>
            <a:off x="731520" y="1280160"/>
            <a:ext cx="10698480" cy="4937760"/>
          </a:xfrm>
          <a:prstGeom prst="roundRect">
            <a:avLst>
              <a:gd name="adj" fmla="val 2222"/>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5" name="Fplan" descr="/tmp/deck/img/Fplan.png"/>
          <p:cNvPicPr>
            <a:picLocks noChangeAspect="1"/>
          </p:cNvPicPr>
          <p:nvPr/>
        </p:nvPicPr>
        <p:blipFill>
          <a:blip r:embed="rId3"/>
          <a:stretch>
            <a:fillRect/>
          </a:stretch>
        </p:blipFill>
        <p:spPr>
          <a:xfrm>
            <a:off x="841248" y="1440972"/>
            <a:ext cx="10479024" cy="4616136"/>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RESEARCH PUBLICATIONS</a:t>
            </a:r>
            <a:endParaRPr lang="en-US" sz="3000" dirty="0"/>
          </a:p>
        </p:txBody>
      </p:sp>
      <p:graphicFrame>
        <p:nvGraphicFramePr>
          <p:cNvPr id="35" name="publications table"/>
          <p:cNvGraphicFramePr>
            <a:graphicFrameLocks noGrp="1"/>
          </p:cNvGraphicFramePr>
          <p:nvPr>
            <p:extLst>
              <p:ext uri="{D42A27DB-BD31-4B8C-83A1-F6EECF244321}">
                <p14:modId xmlns:p14="http://schemas.microsoft.com/office/powerpoint/2010/main" val="3553027848"/>
              </p:ext>
            </p:extLst>
          </p:nvPr>
        </p:nvGraphicFramePr>
        <p:xfrm>
          <a:off x="548640" y="1234440"/>
          <a:ext cx="11064240" cy="4663440"/>
        </p:xfrm>
        <a:graphic>
          <a:graphicData uri="http://schemas.openxmlformats.org/drawingml/2006/table">
            <a:tbl>
              <a:tblPr/>
              <a:tblGrid>
                <a:gridCol w="457200">
                  <a:extLst>
                    <a:ext uri="{9D8B030D-6E8A-4147-A177-3AD203B41FA5}">
                      <a16:colId xmlns:a16="http://schemas.microsoft.com/office/drawing/2014/main" val="20000"/>
                    </a:ext>
                  </a:extLst>
                </a:gridCol>
                <a:gridCol w="5394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777240">
                <a:tc>
                  <a:txBody>
                    <a:bodyPr/>
                    <a:lstStyle/>
                    <a:p>
                      <a:pPr marL="0" indent="0" algn="ctr">
                        <a:buNone/>
                      </a:pPr>
                      <a:r>
                        <a:rPr lang="en-US" sz="1400" b="1" dirty="0">
                          <a:solidFill>
                            <a:srgbClr val="FFFFFF"/>
                          </a:solidFill>
                        </a:rPr>
                        <a:t>#</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Title</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Venue</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Year</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Status</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777240">
                <a:tc>
                  <a:txBody>
                    <a:bodyPr/>
                    <a:lstStyle/>
                    <a:p>
                      <a:pPr marL="0" indent="0" algn="ctr">
                        <a:buNone/>
                      </a:pPr>
                      <a:r>
                        <a:rPr lang="en-US" sz="1400" b="1" dirty="0">
                          <a:solidFill>
                            <a:srgbClr val="0B1F33"/>
                          </a:solidFill>
                        </a:rPr>
                        <a:t>1</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A </a:t>
                      </a:r>
                      <a:r>
                        <a:rPr lang="en-US" sz="1400" dirty="0">
                          <a:solidFill>
                            <a:srgbClr val="0B1F33"/>
                          </a:solidFill>
                          <a:highlight>
                            <a:srgbClr val="FFFF00"/>
                          </a:highlight>
                        </a:rPr>
                        <a:t>Blockchain</a:t>
                      </a:r>
                      <a:r>
                        <a:rPr lang="en-US" sz="1400" dirty="0">
                          <a:solidFill>
                            <a:srgbClr val="0B1F33"/>
                          </a:solidFill>
                        </a:rPr>
                        <a:t>-Based Framework for Evaluating User Identity Trustworthiness in Real Estate</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2025 IEEE International Conference on E-Business Engineering (ICEBE)</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2025</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Published</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lgn="ctr">
                        <a:buNone/>
                      </a:pPr>
                      <a:r>
                        <a:rPr lang="en-US" sz="1400" b="1" dirty="0">
                          <a:solidFill>
                            <a:srgbClr val="0B1F33"/>
                          </a:solidFill>
                        </a:rPr>
                        <a:t>2</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highlight>
                            <a:srgbClr val="FFFF00"/>
                          </a:highlight>
                        </a:rPr>
                        <a:t>Blockchain</a:t>
                      </a:r>
                      <a:r>
                        <a:rPr lang="en-US" sz="1400" dirty="0">
                          <a:solidFill>
                            <a:srgbClr val="0B1F33"/>
                          </a:solidFill>
                        </a:rPr>
                        <a:t>-Based Reputation Borrowing Model to Address the Cold Start Problem for New Users in Real Estate</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2025 IEEE International Conference on E-Business Engineering (ICEBE)</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2025</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Published</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lgn="ctr">
                        <a:buNone/>
                      </a:pPr>
                      <a:r>
                        <a:rPr lang="en-US" sz="1400" b="1" dirty="0">
                          <a:solidFill>
                            <a:srgbClr val="0B1F33"/>
                          </a:solidFill>
                        </a:rPr>
                        <a:t>3</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A Smart Contract-Governed Lifecycle Protocol for Reputation Borrowing in </a:t>
                      </a:r>
                      <a:r>
                        <a:rPr lang="en-US" sz="1400" dirty="0">
                          <a:solidFill>
                            <a:srgbClr val="0B1F33"/>
                          </a:solidFill>
                          <a:highlight>
                            <a:srgbClr val="FFFF00"/>
                          </a:highlight>
                        </a:rPr>
                        <a:t>Blockchain</a:t>
                      </a:r>
                      <a:r>
                        <a:rPr lang="en-US" sz="1400" dirty="0">
                          <a:solidFill>
                            <a:srgbClr val="0B1F33"/>
                          </a:solidFill>
                        </a:rPr>
                        <a:t>-Based Real Estate Platforms</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ICEBE 2026</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2026</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F6FB0"/>
                          </a:solidFill>
                        </a:rPr>
                        <a:t>Accepted</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lgn="ctr">
                        <a:buNone/>
                      </a:pPr>
                      <a:r>
                        <a:rPr lang="en-US" sz="1400" b="1" dirty="0">
                          <a:solidFill>
                            <a:srgbClr val="0B1F33"/>
                          </a:solidFill>
                        </a:rPr>
                        <a:t>4</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A Trusted Multi-Party Consent Governance Framework for Decentralized Multi-Stakeholder Data Sharing</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BWCCA 2026</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2026</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F6FB0"/>
                          </a:solidFill>
                        </a:rPr>
                        <a:t>Accepted</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77240">
                <a:tc>
                  <a:txBody>
                    <a:bodyPr/>
                    <a:lstStyle/>
                    <a:p>
                      <a:pPr marL="0" indent="0" algn="ctr">
                        <a:buNone/>
                      </a:pPr>
                      <a:r>
                        <a:rPr lang="en-US" sz="1400" b="1" dirty="0">
                          <a:solidFill>
                            <a:srgbClr val="0B1F33"/>
                          </a:solidFill>
                        </a:rPr>
                        <a:t>5</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highlight>
                            <a:srgbClr val="FFFF00"/>
                          </a:highlight>
                        </a:rPr>
                        <a:t>Blockchain</a:t>
                      </a:r>
                      <a:r>
                        <a:rPr lang="en-US" sz="1400" dirty="0">
                          <a:solidFill>
                            <a:srgbClr val="0B1F33"/>
                          </a:solidFill>
                        </a:rPr>
                        <a:t>-Based Reputation Provenance Tracing for Newcomer Bootstrapping in Real Estate</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BWCCA 2026</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2026</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F6FB0"/>
                          </a:solidFill>
                        </a:rPr>
                        <a:t>Accepted</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REFERENCES</a:t>
            </a:r>
            <a:endParaRPr lang="en-US" sz="3000" dirty="0"/>
          </a:p>
        </p:txBody>
      </p:sp>
      <p:sp>
        <p:nvSpPr>
          <p:cNvPr id="4" name="references panel"/>
          <p:cNvSpPr/>
          <p:nvPr/>
        </p:nvSpPr>
        <p:spPr>
          <a:xfrm>
            <a:off x="640080" y="1051560"/>
            <a:ext cx="10881360" cy="5577840"/>
          </a:xfrm>
          <a:prstGeom prst="roundRect">
            <a:avLst>
              <a:gd name="adj" fmla="val 2087"/>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sp>
        <p:nvSpPr>
          <p:cNvPr id="5" name="reference list"/>
          <p:cNvSpPr txBox="1"/>
          <p:nvPr/>
        </p:nvSpPr>
        <p:spPr>
          <a:xfrm>
            <a:off x="822960" y="1142999"/>
            <a:ext cx="10515600" cy="5408407"/>
          </a:xfrm>
          <a:prstGeom prst="rect">
            <a:avLst/>
          </a:prstGeom>
          <a:noFill/>
          <a:ln/>
        </p:spPr>
        <p:txBody>
          <a:bodyPr wrap="square" rtlCol="0" anchor="t"/>
          <a:lstStyle/>
          <a:p>
            <a:pPr>
              <a:spcAft>
                <a:spcPts val="1200"/>
              </a:spcAft>
            </a:pPr>
            <a:r>
              <a:rPr lang="en-US" sz="1400" dirty="0">
                <a:solidFill>
                  <a:srgbClr val="0B1F33"/>
                </a:solidFill>
              </a:rPr>
              <a:t>Bloemen, R., </a:t>
            </a:r>
            <a:r>
              <a:rPr lang="en-US" sz="1400" dirty="0" err="1">
                <a:solidFill>
                  <a:srgbClr val="0B1F33"/>
                </a:solidFill>
              </a:rPr>
              <a:t>Logvinov</a:t>
            </a:r>
            <a:r>
              <a:rPr lang="en-US" sz="1400" dirty="0">
                <a:solidFill>
                  <a:srgbClr val="0B1F33"/>
                </a:solidFill>
              </a:rPr>
              <a:t>, L. &amp; Evans, J. 2017, </a:t>
            </a:r>
            <a:r>
              <a:rPr lang="en-US" sz="1400" i="1" dirty="0">
                <a:solidFill>
                  <a:srgbClr val="0B1F33"/>
                </a:solidFill>
              </a:rPr>
              <a:t>EIP-712: Typed structured data hashing and signing</a:t>
            </a:r>
            <a:r>
              <a:rPr lang="en-US" sz="1400" dirty="0">
                <a:solidFill>
                  <a:srgbClr val="0B1F33"/>
                </a:solidFill>
              </a:rPr>
              <a:t>, </a:t>
            </a:r>
            <a:r>
              <a:rPr lang="en-US" sz="1400" dirty="0">
                <a:solidFill>
                  <a:srgbClr val="0B1F33"/>
                </a:solidFill>
                <a:highlight>
                  <a:srgbClr val="FFFF00"/>
                </a:highlight>
              </a:rPr>
              <a:t>Ethereum</a:t>
            </a:r>
            <a:r>
              <a:rPr lang="en-US" sz="1400" dirty="0">
                <a:solidFill>
                  <a:srgbClr val="0B1F33"/>
                </a:solidFill>
              </a:rPr>
              <a:t> Improvement Proposals, no. 712, viewed 6 October 2026, https://eips.</a:t>
            </a:r>
            <a:r>
              <a:rPr lang="en-US" sz="1400" dirty="0">
                <a:solidFill>
                  <a:srgbClr val="0B1F33"/>
                </a:solidFill>
                <a:highlight>
                  <a:srgbClr val="FFFF00"/>
                </a:highlight>
              </a:rPr>
              <a:t>ethereum</a:t>
            </a:r>
            <a:r>
              <a:rPr lang="en-US" sz="1400" dirty="0">
                <a:solidFill>
                  <a:srgbClr val="0B1F33"/>
                </a:solidFill>
              </a:rPr>
              <a:t>.org/EIPS/eip-712.</a:t>
            </a:r>
            <a:endParaRPr lang="en-US" sz="1400" dirty="0"/>
          </a:p>
          <a:p>
            <a:pPr>
              <a:spcAft>
                <a:spcPts val="1200"/>
              </a:spcAft>
            </a:pPr>
            <a:r>
              <a:rPr lang="en-US" sz="1400" dirty="0">
                <a:solidFill>
                  <a:srgbClr val="0B1F33"/>
                </a:solidFill>
              </a:rPr>
              <a:t>Cai, B. 2022, </a:t>
            </a:r>
            <a:r>
              <a:rPr lang="en-US" sz="1400" i="1" dirty="0">
                <a:solidFill>
                  <a:srgbClr val="0B1F33"/>
                </a:solidFill>
              </a:rPr>
              <a:t>ERC-5484: Consensual </a:t>
            </a:r>
            <a:r>
              <a:rPr lang="en-US" sz="1400" i="1" dirty="0" err="1">
                <a:solidFill>
                  <a:srgbClr val="0B1F33"/>
                </a:solidFill>
              </a:rPr>
              <a:t>soulbound</a:t>
            </a:r>
            <a:r>
              <a:rPr lang="en-US" sz="1400" i="1" dirty="0">
                <a:solidFill>
                  <a:srgbClr val="0B1F33"/>
                </a:solidFill>
              </a:rPr>
              <a:t> tokens</a:t>
            </a:r>
            <a:r>
              <a:rPr lang="en-US" sz="1400" dirty="0">
                <a:solidFill>
                  <a:srgbClr val="0B1F33"/>
                </a:solidFill>
              </a:rPr>
              <a:t>, </a:t>
            </a:r>
            <a:r>
              <a:rPr lang="en-US" sz="1400" dirty="0">
                <a:solidFill>
                  <a:srgbClr val="0B1F33"/>
                </a:solidFill>
                <a:highlight>
                  <a:srgbClr val="FFFF00"/>
                </a:highlight>
              </a:rPr>
              <a:t>Ethereum</a:t>
            </a:r>
            <a:r>
              <a:rPr lang="en-US" sz="1400" dirty="0">
                <a:solidFill>
                  <a:srgbClr val="0B1F33"/>
                </a:solidFill>
              </a:rPr>
              <a:t> Improvement Proposals, no. 5484, viewed 6 October 2026,  https://eips.</a:t>
            </a:r>
            <a:r>
              <a:rPr lang="en-US" sz="1400" dirty="0">
                <a:solidFill>
                  <a:srgbClr val="0B1F33"/>
                </a:solidFill>
                <a:highlight>
                  <a:srgbClr val="FFFF00"/>
                </a:highlight>
              </a:rPr>
              <a:t>ethereum</a:t>
            </a:r>
            <a:r>
              <a:rPr lang="en-US" sz="1400" dirty="0">
                <a:solidFill>
                  <a:srgbClr val="0B1F33"/>
                </a:solidFill>
              </a:rPr>
              <a:t>.org/EIPS/eip-5484.</a:t>
            </a:r>
            <a:endParaRPr lang="en-US" sz="1400" dirty="0"/>
          </a:p>
          <a:p>
            <a:pPr>
              <a:spcAft>
                <a:spcPts val="1200"/>
              </a:spcAft>
            </a:pPr>
            <a:r>
              <a:rPr lang="en-US" sz="1400" dirty="0">
                <a:solidFill>
                  <a:srgbClr val="0B1F33"/>
                </a:solidFill>
              </a:rPr>
              <a:t>Entriken, W., Shirley, D., Evans, J. &amp; Sachs, N. 2018, </a:t>
            </a:r>
            <a:r>
              <a:rPr lang="en-US" sz="1400" i="1" dirty="0">
                <a:solidFill>
                  <a:srgbClr val="0B1F33"/>
                </a:solidFill>
              </a:rPr>
              <a:t>ERC-721: Non-fungible token standard</a:t>
            </a:r>
            <a:r>
              <a:rPr lang="en-US" sz="1400" dirty="0">
                <a:solidFill>
                  <a:srgbClr val="0B1F33"/>
                </a:solidFill>
              </a:rPr>
              <a:t>, </a:t>
            </a:r>
            <a:r>
              <a:rPr lang="en-US" sz="1400" dirty="0">
                <a:solidFill>
                  <a:srgbClr val="0B1F33"/>
                </a:solidFill>
                <a:highlight>
                  <a:srgbClr val="FFFF00"/>
                </a:highlight>
              </a:rPr>
              <a:t>Ethereum</a:t>
            </a:r>
            <a:r>
              <a:rPr lang="en-US" sz="1400" dirty="0">
                <a:solidFill>
                  <a:srgbClr val="0B1F33"/>
                </a:solidFill>
              </a:rPr>
              <a:t> Improvement Proposals, no. 721, viewed 6 October 2026, https://eips.</a:t>
            </a:r>
            <a:r>
              <a:rPr lang="en-US" sz="1400" dirty="0">
                <a:solidFill>
                  <a:srgbClr val="0B1F33"/>
                </a:solidFill>
                <a:highlight>
                  <a:srgbClr val="FFFF00"/>
                </a:highlight>
              </a:rPr>
              <a:t>ethereum</a:t>
            </a:r>
            <a:r>
              <a:rPr lang="en-US" sz="1400" dirty="0">
                <a:solidFill>
                  <a:srgbClr val="0B1F33"/>
                </a:solidFill>
              </a:rPr>
              <a:t>.org/EIPS/eip-721.</a:t>
            </a:r>
            <a:endParaRPr lang="en-US" sz="1400" dirty="0"/>
          </a:p>
          <a:p>
            <a:pPr>
              <a:spcAft>
                <a:spcPts val="1200"/>
              </a:spcAft>
            </a:pPr>
            <a:r>
              <a:rPr lang="en-US" sz="1400" dirty="0">
                <a:solidFill>
                  <a:srgbClr val="0B1F33"/>
                </a:solidFill>
                <a:highlight>
                  <a:srgbClr val="FFFF00"/>
                </a:highlight>
              </a:rPr>
              <a:t>Ethereum</a:t>
            </a:r>
            <a:r>
              <a:rPr lang="en-US" sz="1400" dirty="0">
                <a:solidFill>
                  <a:srgbClr val="0B1F33"/>
                </a:solidFill>
              </a:rPr>
              <a:t> Foundation 2026b, </a:t>
            </a:r>
            <a:r>
              <a:rPr lang="en-US" sz="1400" i="1" dirty="0">
                <a:solidFill>
                  <a:srgbClr val="0B1F33"/>
                </a:solidFill>
              </a:rPr>
              <a:t>Networks</a:t>
            </a:r>
            <a:r>
              <a:rPr lang="en-US" sz="1400" dirty="0">
                <a:solidFill>
                  <a:srgbClr val="0B1F33"/>
                </a:solidFill>
              </a:rPr>
              <a:t>, </a:t>
            </a:r>
            <a:r>
              <a:rPr lang="en-US" sz="1400" dirty="0">
                <a:solidFill>
                  <a:srgbClr val="0B1F33"/>
                </a:solidFill>
                <a:highlight>
                  <a:srgbClr val="FFFF00"/>
                </a:highlight>
              </a:rPr>
              <a:t>ethereum</a:t>
            </a:r>
            <a:r>
              <a:rPr lang="en-US" sz="1400" dirty="0">
                <a:solidFill>
                  <a:srgbClr val="0B1F33"/>
                </a:solidFill>
              </a:rPr>
              <a:t>.org developer documentation, viewed 7 October 2026, https://</a:t>
            </a:r>
            <a:r>
              <a:rPr lang="en-US" sz="1400" dirty="0">
                <a:solidFill>
                  <a:srgbClr val="0B1F33"/>
                </a:solidFill>
                <a:highlight>
                  <a:srgbClr val="FFFF00"/>
                </a:highlight>
              </a:rPr>
              <a:t>ethereum</a:t>
            </a:r>
            <a:r>
              <a:rPr lang="en-US" sz="1400" dirty="0">
                <a:solidFill>
                  <a:srgbClr val="0B1F33"/>
                </a:solidFill>
              </a:rPr>
              <a:t>.org/en/developers/docs/networks/.</a:t>
            </a:r>
            <a:endParaRPr lang="en-US" sz="1400" dirty="0"/>
          </a:p>
          <a:p>
            <a:pPr>
              <a:spcAft>
                <a:spcPts val="1200"/>
              </a:spcAft>
            </a:pPr>
            <a:r>
              <a:rPr lang="en-US" sz="1400" dirty="0" err="1">
                <a:solidFill>
                  <a:srgbClr val="0B1F33"/>
                </a:solidFill>
              </a:rPr>
              <a:t>Groth</a:t>
            </a:r>
            <a:r>
              <a:rPr lang="en-US" sz="1400" dirty="0">
                <a:solidFill>
                  <a:srgbClr val="0B1F33"/>
                </a:solidFill>
              </a:rPr>
              <a:t>, J. 2016, 'On the size of pairing-based non-interactive arguments', </a:t>
            </a:r>
            <a:r>
              <a:rPr lang="en-US" sz="1400" i="1" dirty="0">
                <a:solidFill>
                  <a:srgbClr val="0B1F33"/>
                </a:solidFill>
              </a:rPr>
              <a:t>Advances in Cryptology – EUROCRYPT 2016, LNCS</a:t>
            </a:r>
            <a:r>
              <a:rPr lang="en-US" sz="1400" dirty="0">
                <a:solidFill>
                  <a:srgbClr val="0B1F33"/>
                </a:solidFill>
              </a:rPr>
              <a:t>, vol. 9666, pp. 305–326, Springer, https://doi.org/10.1007/978-3-662-49896-5_11.</a:t>
            </a:r>
            <a:endParaRPr lang="en-US" sz="1400" dirty="0"/>
          </a:p>
          <a:p>
            <a:pPr>
              <a:spcAft>
                <a:spcPts val="1200"/>
              </a:spcAft>
            </a:pPr>
            <a:r>
              <a:rPr lang="en-US" sz="1400" dirty="0">
                <a:solidFill>
                  <a:srgbClr val="0B1F33"/>
                </a:solidFill>
              </a:rPr>
              <a:t>Page, M.J., McKenzie, J.E., Bossuyt, P.M., </a:t>
            </a:r>
            <a:r>
              <a:rPr lang="en-US" sz="1400" dirty="0" err="1">
                <a:solidFill>
                  <a:srgbClr val="0B1F33"/>
                </a:solidFill>
              </a:rPr>
              <a:t>Boutron</a:t>
            </a:r>
            <a:r>
              <a:rPr lang="en-US" sz="1400" dirty="0">
                <a:solidFill>
                  <a:srgbClr val="0B1F33"/>
                </a:solidFill>
              </a:rPr>
              <a:t>, I., Hoffmann, T.C., Mulrow, C.D. et al. 2021, 'The PRISMA 2020 statement: An updated guideline for reporting systematic reviews', </a:t>
            </a:r>
            <a:r>
              <a:rPr lang="en-US" sz="1400" i="1" dirty="0">
                <a:solidFill>
                  <a:srgbClr val="0B1F33"/>
                </a:solidFill>
              </a:rPr>
              <a:t>BMJ</a:t>
            </a:r>
            <a:r>
              <a:rPr lang="en-US" sz="1400" dirty="0">
                <a:solidFill>
                  <a:srgbClr val="0B1F33"/>
                </a:solidFill>
              </a:rPr>
              <a:t>, vol. 372, p. n71, https://doi.org/10.1136/bmj.n71.</a:t>
            </a:r>
            <a:endParaRPr lang="en-US" sz="1400" dirty="0"/>
          </a:p>
          <a:p>
            <a:pPr>
              <a:spcAft>
                <a:spcPts val="1200"/>
              </a:spcAft>
            </a:pPr>
            <a:r>
              <a:rPr lang="en-US" sz="1400" dirty="0" err="1">
                <a:solidFill>
                  <a:srgbClr val="0B1F33"/>
                </a:solidFill>
              </a:rPr>
              <a:t>Walonoski</a:t>
            </a:r>
            <a:r>
              <a:rPr lang="en-US" sz="1400" dirty="0">
                <a:solidFill>
                  <a:srgbClr val="0B1F33"/>
                </a:solidFill>
              </a:rPr>
              <a:t>, J., Kramer, M., Nichols, J., Quina, A., </a:t>
            </a:r>
            <a:r>
              <a:rPr lang="en-US" sz="1400" dirty="0" err="1">
                <a:solidFill>
                  <a:srgbClr val="0B1F33"/>
                </a:solidFill>
              </a:rPr>
              <a:t>Moesel</a:t>
            </a:r>
            <a:r>
              <a:rPr lang="en-US" sz="1400" dirty="0">
                <a:solidFill>
                  <a:srgbClr val="0B1F33"/>
                </a:solidFill>
              </a:rPr>
              <a:t>, C., Hall, D. et al. 2018, 'Synthea: An approach, method, and software mechanism for generating synthetic patients and the synthetic electronic health care record', </a:t>
            </a:r>
            <a:r>
              <a:rPr lang="en-US" sz="1400" i="1" dirty="0">
                <a:solidFill>
                  <a:srgbClr val="0B1F33"/>
                </a:solidFill>
              </a:rPr>
              <a:t>Journal of the American Medical Informatics Association</a:t>
            </a:r>
            <a:r>
              <a:rPr lang="en-US" sz="1400" dirty="0">
                <a:solidFill>
                  <a:srgbClr val="0B1F33"/>
                </a:solidFill>
              </a:rPr>
              <a:t>, vol. 25, no. 3, pp. 230–238, https://doi.org/10.1093/jamia/ocx079.</a:t>
            </a:r>
            <a:endParaRPr lang="en-US" sz="1400" dirty="0"/>
          </a:p>
          <a:p>
            <a:pPr>
              <a:spcAft>
                <a:spcPts val="1200"/>
              </a:spcAft>
            </a:pPr>
            <a:r>
              <a:rPr lang="en-AU" sz="1400" dirty="0"/>
              <a:t>Peffers, K., </a:t>
            </a:r>
            <a:r>
              <a:rPr lang="en-AU" sz="1400" dirty="0" err="1"/>
              <a:t>Tuunanen</a:t>
            </a:r>
            <a:r>
              <a:rPr lang="en-AU" sz="1400" dirty="0"/>
              <a:t>, T., Rothenberger, M.A. &amp; Chatterjee, S. 2007, ‘A design science research methodology for information systems research’, </a:t>
            </a:r>
            <a:r>
              <a:rPr lang="en-AU" sz="1400" i="1" dirty="0"/>
              <a:t>Journal of Management Information Systems</a:t>
            </a:r>
            <a:r>
              <a:rPr lang="en-AU" sz="1400" dirty="0"/>
              <a:t>, vol. 24, no. 3, pp. 45–77, </a:t>
            </a:r>
            <a:r>
              <a:rPr lang="en-AU" sz="1400" dirty="0">
                <a:hlinkClick r:id="rId3">
                  <a:extLst>
                    <a:ext uri="{A12FA001-AC4F-418D-AE19-62706E023703}">
                      <ahyp:hlinkClr xmlns:ahyp="http://schemas.microsoft.com/office/drawing/2018/hyperlinkcolor" val="tx"/>
                    </a:ext>
                  </a:extLst>
                </a:hlinkClick>
              </a:rPr>
              <a:t>https://doi.org/10.2753/MIS0742-1222240302</a:t>
            </a:r>
            <a:r>
              <a:rPr lang="en-AU" sz="1400" dirty="0"/>
              <a:t>.</a:t>
            </a:r>
            <a:endParaRPr lang="en-US" sz="1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hanks"/>
          <p:cNvSpPr txBox="1"/>
          <p:nvPr/>
        </p:nvSpPr>
        <p:spPr>
          <a:xfrm>
            <a:off x="2286000" y="2377440"/>
            <a:ext cx="7589520" cy="1280160"/>
          </a:xfrm>
          <a:prstGeom prst="rect">
            <a:avLst/>
          </a:prstGeom>
          <a:noFill/>
          <a:ln/>
        </p:spPr>
        <p:txBody>
          <a:bodyPr wrap="square"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Thank You</a:t>
            </a:r>
            <a:endParaRPr lang="en-US" sz="5400" dirty="0"/>
          </a:p>
        </p:txBody>
      </p:sp>
    </p:spTree>
  </p:cSld>
  <p:clrMapOvr>
    <a:masterClrMapping/>
  </p:clrMapOvr>
</p:sld>
</file>

<file path=ppt/theme/theme1.xml><?xml version="1.0" encoding="utf-8"?>
<a:theme xmlns:a="http://schemas.openxmlformats.org/drawingml/2006/main" name="Trust Consent">
  <a:themeElements>
    <a:clrScheme name="Trust Consent">
      <a:dk1>
        <a:srgbClr val="0B1F33"/>
      </a:dk1>
      <a:lt1>
        <a:srgbClr val="FFFFFF"/>
      </a:lt1>
      <a:dk2>
        <a:srgbClr val="0B2A4A"/>
      </a:dk2>
      <a:lt2>
        <a:srgbClr val="E8F4F8"/>
      </a:lt2>
      <a:accent1>
        <a:srgbClr val="1FB5D6"/>
      </a:accent1>
      <a:accent2>
        <a:srgbClr val="0B2A4A"/>
      </a:accent2>
      <a:accent3>
        <a:srgbClr val="2E7D32"/>
      </a:accent3>
      <a:accent4>
        <a:srgbClr val="F2A900"/>
      </a:accent4>
      <a:accent5>
        <a:srgbClr val="C62828"/>
      </a:accent5>
      <a:accent6>
        <a:srgbClr val="5B6B7A"/>
      </a:accent6>
      <a:hlink>
        <a:srgbClr val="1FB5D6"/>
      </a:hlink>
      <a:folHlink>
        <a:srgbClr val="5B6B7A"/>
      </a:folHlink>
    </a:clrScheme>
    <a:fontScheme name="Trust Conse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3484</TotalTime>
  <Words>13012</Words>
  <Application>Microsoft Office PowerPoint</Application>
  <PresentationFormat>Widescreen</PresentationFormat>
  <Paragraphs>1313</Paragraphs>
  <Slides>47</Slides>
  <Notes>47</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Aptos</vt:lpstr>
      <vt:lpstr>Arial</vt:lpstr>
      <vt:lpstr>Calibri</vt:lpstr>
      <vt:lpstr>Cambria</vt:lpstr>
      <vt:lpstr>Trust Consent</vt:lpstr>
      <vt:lpstr>PowerPoint Presentation</vt:lpstr>
      <vt:lpstr>OUTLINE</vt:lpstr>
      <vt:lpstr>THE RESEARCH PROBLEM</vt:lpstr>
      <vt:lpstr>THE KEY IDEA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RESEARCH GAP</vt:lpstr>
      <vt:lpstr>MAIN RESEARCH QUESTION</vt:lpstr>
      <vt:lpstr>SUB-RESEARCH QUESTIONS</vt:lpstr>
      <vt:lpstr>RESEARCH OBJECTIVES</vt:lpstr>
      <vt:lpstr>Research Methodology </vt:lpstr>
      <vt:lpstr>FRAMEWORK ARCHITECTURE</vt:lpstr>
      <vt:lpstr>THE DECISION RULE</vt:lpstr>
      <vt:lpstr>Proposed solution for objective 1</vt:lpstr>
      <vt:lpstr>RO1: Trust-Centric Consent Model</vt:lpstr>
      <vt:lpstr>Proposed solution for objective 2</vt:lpstr>
      <vt:lpstr>RO2: Decentralised Identity and Authority Trust</vt:lpstr>
      <vt:lpstr>Proposed solution for objective 3</vt:lpstr>
      <vt:lpstr>RO3: Trustworthy Multi-Party Authorisation</vt:lpstr>
      <vt:lpstr>Proposed solution for objective 4</vt:lpstr>
      <vt:lpstr>RO4: Policy- and Context-Aware Access Control</vt:lpstr>
      <vt:lpstr>Proposed solution for objective 5</vt:lpstr>
      <vt:lpstr>Proposed solution for objective 6</vt:lpstr>
      <vt:lpstr>THE HALAH PROTOTYPE</vt:lpstr>
      <vt:lpstr>DEMO 1: THE PATIENT CREATES THE CONSENT</vt:lpstr>
      <vt:lpstr>DEMO 2: THE FIRST GUARDIAN APPROVES</vt:lpstr>
      <vt:lpstr> DEMO 3: SECOND APPROVAL, CONSENT ACTIVE</vt:lpstr>
      <vt:lpstr>DEMO 4: THE DOCTOR IS ALLOWED</vt:lpstr>
      <vt:lpstr>DEMO 5: ONLY THE AUTHORISED RECORDS</vt:lpstr>
      <vt:lpstr>VALIDATION</vt:lpstr>
      <vt:lpstr>VALIDATION: THE RECORDED DECISIONS</vt:lpstr>
      <vt:lpstr>VALIDATION: THE RECORDED DECISIONS</vt:lpstr>
      <vt:lpstr>VALIDATION: ATTACK SCENARIOS</vt:lpstr>
      <vt:lpstr>Traditional EHR vs. HALAH Framework</vt:lpstr>
      <vt:lpstr>DATASET OVERVIEW</vt:lpstr>
      <vt:lpstr>RESEARCH CONTRIBUTIONS </vt:lpstr>
      <vt:lpstr>RESEARCH CONTRIBUTIONS </vt:lpstr>
      <vt:lpstr>RESEARCH PLAN</vt:lpstr>
      <vt:lpstr>RESEARCH TIMELINE</vt:lpstr>
      <vt:lpstr>RESEARCH PUBLICATIONS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Trusted Authorisation Framework for Multi-Party Patient Consent in Healthcare Data Sharing</dc:title>
  <dc:subject>Candidature Reassessment</dc:subject>
  <dc:creator>Yasir Dhaifallah O Alyoubi</dc:creator>
  <cp:lastModifiedBy>Yasir Dhaifallah O Alyoubi</cp:lastModifiedBy>
  <cp:revision>44</cp:revision>
  <dcterms:created xsi:type="dcterms:W3CDTF">2026-10-12T13:53:28Z</dcterms:created>
  <dcterms:modified xsi:type="dcterms:W3CDTF">2026-10-16T00:09:14Z</dcterms:modified>
</cp:coreProperties>
</file>
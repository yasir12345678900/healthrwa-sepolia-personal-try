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fab61ce-98eb-047c-1ade-fbca3ed4cc0f}">
          <p14:sldIdLst>
            <p14:sldId id="256"/>
          </p14:sldIdLst>
        </p14:section>
        <p14:section name="Outline" id="{4a9dc052-43b5-8539-0515-c1b24dd953d9}">
          <p14:sldIdLst>
            <p14:sldId id="257"/>
          </p14:sldIdLst>
        </p14:section>
        <p14:section name="Introduction" id="{0821e5df-0496-1950-3d88-7ccdeb5ef73e}">
          <p14:sldIdLst>
            <p14:sldId id="258"/>
            <p14:sldId id="259"/>
          </p14:sldIdLst>
        </p14:section>
        <p14:section name="Systematic Literature Review" id="{ab2dd514-bf70-69a4-4f80-7914e106a6e5}">
          <p14:sldIdLst>
            <p14:sldId id="260"/>
            <p14:sldId id="261"/>
            <p14:sldId id="262"/>
            <p14:sldId id="263"/>
            <p14:sldId id="264"/>
            <p14:sldId id="265"/>
            <p14:sldId id="266"/>
            <p14:sldId id="267"/>
          </p14:sldIdLst>
        </p14:section>
        <p14:section name="Research Gap" id="{e6a99871-bebc-5154-25b6-da3ddb82d22e}">
          <p14:sldIdLst>
            <p14:sldId id="268"/>
          </p14:sldIdLst>
        </p14:section>
        <p14:section name="Research Questions" id="{6b589fce-e5c4-c917-9014-a802fdeadc08}">
          <p14:sldIdLst>
            <p14:sldId id="269"/>
            <p14:sldId id="270"/>
          </p14:sldIdLst>
        </p14:section>
        <p14:section name="Research Objectives" id="{32269591-4474-a97a-fc46-0e49bedfc075}">
          <p14:sldIdLst>
            <p14:sldId id="271"/>
          </p14:sldIdLst>
        </p14:section>
        <p14:section name="Research Methodology" id="{059780eb-564a-674c-d02f-519bfa6bfdfa}">
          <p14:sldIdLst>
            <p14:sldId id="272"/>
          </p14:sldIdLst>
        </p14:section>
        <p14:section name="Research Architecture" id="{c6b84a0b-a1fa-507a-8e5c-d05b20ee20c2}">
          <p14:sldIdLst>
            <p14:sldId id="273"/>
          </p14:sldIdLst>
        </p14:section>
        <p14:section name="The Proposed Solutions" id="{e5fb57bd-be94-5d54-851e-fb34cfe1cc15}">
          <p14:sldIdLst>
            <p14:sldId id="274"/>
            <p14:sldId id="275"/>
            <p14:sldId id="276"/>
            <p14:sldId id="277"/>
            <p14:sldId id="278"/>
            <p14:sldId id="279"/>
            <p14:sldId id="280"/>
          </p14:sldIdLst>
        </p14:section>
        <p14:section name="Implementation and Evaluation" id="{ae56eaf5-04ed-4434-6541-ad485c435120}">
          <p14:sldIdLst>
            <p14:sldId id="281"/>
            <p14:sldId id="282"/>
            <p14:sldId id="283"/>
            <p14:sldId id="284"/>
            <p14:sldId id="285"/>
            <p14:sldId id="286"/>
            <p14:sldId id="287"/>
          </p14:sldIdLst>
        </p14:section>
        <p14:section name="Significance of the Research" id="{4f488da2-e988-1c1a-146e-2ac590714614}">
          <p14:sldIdLst>
            <p14:sldId id="288"/>
            <p14:sldId id="289"/>
            <p14:sldId id="290"/>
            <p14:sldId id="291"/>
          </p14:sldIdLst>
        </p14:section>
        <p14:section name="Research Plan" id="{34726644-09ce-0ce1-4c92-5dee2c1157e1}">
          <p14:sldIdLst>
            <p14:sldId id="292"/>
            <p14:sldId id="293"/>
          </p14:sldIdLst>
        </p14:section>
        <p14:section name="References" id="{b8034400-ff6e-1ab5-8c5d-42b50b93b93a}">
          <p14:sldIdLst>
            <p14:sldId id="294"/>
            <p14:sldId id="295"/>
            <p14:sldId id="296"/>
          </p14:sldIdLst>
        </p14:section>
        <p14:section name="Thank You" id="{fa7ccf94-8bc2-2d0b-ba95-a30bc9e1b1f8}">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a:t>
            </a:r>
            <a:r>
              <a:rPr lang="en-US" dirty="0">
                <a:highlight>
                  <a:srgbClr val="FFFF00"/>
                </a:highlight>
              </a:rPr>
              <a:t>My research title is A Trusted Authorisation Framework for Multi-Party Patient Consent in Healthcare Data Sharing.</a:t>
            </a:r>
            <a:r>
              <a:rPr lang="en-US" dirty="0"/>
              <a:t>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a:t>
            </a:r>
            <a:r>
              <a:rPr lang="en-US" dirty="0">
                <a:highlight>
                  <a:srgbClr val="FFFF00"/>
                </a:highlight>
              </a:rPr>
              <a:t>gap</a:t>
            </a:r>
            <a:r>
              <a:rPr lang="en-US" dirty="0"/>
              <a:t>,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t>
            </a:r>
            <a:r>
              <a:rPr lang="en-US" dirty="0">
                <a:highlight>
                  <a:srgbClr val="FFFF00"/>
                </a:highlight>
              </a:rPr>
              <a:t>and</a:t>
            </a:r>
            <a:r>
              <a:rPr lang="en-US" dirty="0"/>
              <a:t> data scope. Time and lifecycle asks if the consent is still valid, and not expired or revoked.
The dark box brings it together. Consent becomes an object the system can evaluate: C equals I, A, P, T, L, E. That is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a:t>
            </a:r>
            <a:r>
              <a:rPr lang="en-US" dirty="0">
                <a:highlight>
                  <a:srgbClr val="FFFF00"/>
                </a:highlight>
              </a:rPr>
              <a:t>Authorisation</a:t>
            </a:r>
            <a:r>
              <a:rPr lang="en-US" dirty="0"/>
              <a:t>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a:t>
            </a:r>
            <a:r>
              <a:rPr lang="en-US" dirty="0">
                <a:highlight>
                  <a:srgbClr val="FFFF00"/>
                </a:highlight>
              </a:rPr>
              <a:t>17 were excluded. One full text could not be retrieved, and the other 1,735 are not assessed yet. That work continues.</a:t>
            </a:r>
            <a:r>
              <a:rPr lang="en-US" dirty="0"/>
              <a:t>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t>
            </a:r>
            <a:r>
              <a:rPr lang="en-US" dirty="0">
                <a:highlight>
                  <a:srgbClr val="FFFF00"/>
                </a:highlight>
              </a:rPr>
              <a:t>and</a:t>
            </a:r>
            <a:r>
              <a:rPr lang="en-US" dirty="0"/>
              <a:t>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a:t>
            </a:r>
            <a:r>
              <a:rPr lang="en-US" dirty="0">
                <a:highlight>
                  <a:srgbClr val="FFFF00"/>
                </a:highlight>
              </a:rPr>
              <a:t>For each study you see the code, the authors, the year, the title and the category.</a:t>
            </a:r>
            <a:r>
              <a:rPr lang="en-US" dirty="0"/>
              <a:t>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a:t>
            </a:r>
            <a:r>
              <a:rPr lang="en-US" dirty="0">
                <a:highlight>
                  <a:srgbClr val="FFFF00"/>
                </a:highlight>
              </a:rPr>
              <a:t>Each row gives the study number, the authors, the year, the title and the category.</a:t>
            </a:r>
            <a:r>
              <a:rPr lang="en-US" dirty="0"/>
              <a:t>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a:t>
            </a:r>
            <a:r>
              <a:rPr lang="en-US" dirty="0">
                <a:highlight>
                  <a:srgbClr val="FFFF00"/>
                </a:highlight>
              </a:rPr>
              <a:t>lifecycle</a:t>
            </a:r>
            <a:r>
              <a:rPr lang="en-US" dirty="0"/>
              <a:t>.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gap leads</a:t>
            </a:r>
            <a:r>
              <a:rPr lang="en-US" dirty="0"/>
              <a:t>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a:t>
            </a:r>
            <a:r>
              <a:rPr lang="en-US" dirty="0">
                <a:highlight>
                  <a:srgbClr val="FFFF00"/>
                </a:highlight>
              </a:rPr>
              <a:t>Next I will add the suspended state and the lifecycle transition check, and extend them to consent changes, delegation and guardian-set changes.</a:t>
            </a:r>
            <a:r>
              <a:rPr lang="en-US" dirty="0"/>
              <a:t>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a:t>
            </a:r>
            <a:r>
              <a:rPr lang="en-US" dirty="0">
                <a:highlight>
                  <a:srgbClr val="FFFF00"/>
                </a:highlight>
              </a:rPr>
              <a:t>research gap</a:t>
            </a:r>
            <a:r>
              <a:rPr lang="en-US" dirty="0"/>
              <a:t>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a:t>
            </a:r>
            <a:r>
              <a:rPr lang="en-US" dirty="0">
                <a:highlight>
                  <a:srgbClr val="FFFF00"/>
                </a:highlight>
              </a:rPr>
              <a:t>I used live scenarios, measurements and thirteen attack scenarios.</a:t>
            </a:r>
            <a:r>
              <a:rPr lang="en-US" dirty="0"/>
              <a:t>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a:t>
            </a:r>
            <a:r>
              <a:rPr lang="en-US" dirty="0">
                <a:highlight>
                  <a:srgbClr val="FFFF00"/>
                </a:highlight>
              </a:rPr>
              <a:t>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a:t>
            </a:r>
            <a:r>
              <a:rPr lang="en-US" dirty="0">
                <a:highlight>
                  <a:srgbClr val="FFFF00"/>
                </a:highlight>
              </a:rPr>
              <a:t>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a:t>
            </a:r>
            <a:r>
              <a:rPr lang="en-US" dirty="0"/>
              <a:t>
The points below are simple. If any one check fails, the answer is DENY. In the prototype, a Groth16 zero-knowledge proof must also verify before any data is released. This kind of proof shows something is true without showing the secret behind it. </a:t>
            </a:r>
            <a:r>
              <a:rPr lang="en-US" dirty="0">
                <a:highlight>
                  <a:srgbClr val="FFFF00"/>
                </a:highlight>
              </a:rPr>
              <a:t>Every access decision, allowed or denied, is written to the off-chain audit ledger with its decision matrix.</a:t>
            </a:r>
            <a:r>
              <a:rPr lang="en-US" dirty="0"/>
              <a:t>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t>
            </a:r>
            <a:r>
              <a:rPr lang="en-US" dirty="0">
                <a:highlight>
                  <a:srgbClr val="FFFF00"/>
                </a:highlight>
              </a:rPr>
              <a:t>and</a:t>
            </a:r>
            <a:r>
              <a:rPr lang="en-US" dirty="0"/>
              <a:t> the validity time. In the current interface the purpose is fixed to Treatment. The system then checks the input. For example, an empty data scope or a badly formed guardian DID is rejected.
</a:t>
            </a:r>
            <a:r>
              <a:rPr lang="en-US" dirty="0">
                <a:highlight>
                  <a:srgbClr val="FFFF00"/>
                </a:highlight>
              </a:rPr>
              <a:t>If the input is valid, the system builds the consent object C and assigns a consent identifier.</a:t>
            </a:r>
            <a:r>
              <a:rPr lang="en-US" dirty="0"/>
              <a:t> C has six parts: identity, </a:t>
            </a:r>
            <a:r>
              <a:rPr lang="en-US" dirty="0">
                <a:highlight>
                  <a:srgbClr val="FFFF00"/>
                </a:highlight>
              </a:rPr>
              <a:t>authorisation</a:t>
            </a:r>
            <a:r>
              <a:rPr lang="en-US" dirty="0"/>
              <a:t>, policy and data scope, time, </a:t>
            </a:r>
            <a:r>
              <a:rPr lang="en-US" dirty="0">
                <a:highlight>
                  <a:srgbClr val="FFFF00"/>
                </a:highlight>
              </a:rPr>
              <a:t>lifecycle</a:t>
            </a:r>
            <a:r>
              <a:rPr lang="en-US" dirty="0"/>
              <a:t>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
Algorithm 1: Trust-Aware Consent Creation
The box in the middle of the slide is Algorithm 1 from my report. The flowchart on the right shows its main steps in a simpler form: it collects all the inputs, runs one combined validity check with a Yes and a No branch, and then creates and stores the consent and records an audit entry.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Next, we verify that the doctor is authorised.
Line 6: Validate guardian set G
We verify the guardians involved in the consent process.
Line 7: Validate purpose P_u
We check whether the purpose of accessing the patient’s data is valid.
Line 8: Validate data scope S_C
We verify which patient data can be accessed.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E)
We build the consent object from its four main parts. These are identity I, authorisation requirements A, policy constraints P such as purpose and data scope,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a:t>
            </a:r>
            <a:r>
              <a:rPr lang="en-US" dirty="0">
                <a:highlight>
                  <a:srgbClr val="FFFF00"/>
                </a:highlight>
              </a:rPr>
              <a:t>In the HALAH implementation, the guardian workflow uses a selected guardian DID and invokes VC verification before adding the guardian's signature to the consent. Each guardian's EIP-712 signature is also recovered.</a:t>
            </a:r>
            <a:r>
              <a:rPr lang="en-US" dirty="0"/>
              <a:t> EIP-712 is a typed signature format on Ethereum, so we can see who signed. Full DID resolution </a:t>
            </a:r>
            <a:r>
              <a:rPr lang="en-US" dirty="0">
                <a:highlight>
                  <a:srgbClr val="FFFF00"/>
                </a:highlight>
              </a:rPr>
              <a:t>is</a:t>
            </a:r>
            <a:r>
              <a:rPr lang="en-US" dirty="0"/>
              <a:t> planned for the next stage.
Algorithm 2: DID and VC Identity and Authority Verification
The box in the middle of the slide is Algorithm 2 from my report. The flowchart on the right follows the same order, but it joins the two DID checks into one “DID Valid?” decision and the two credential checks into one “VC Valid?” decision, and every “No” leads to Reject Participant, which is the INVALID result here.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t>
            </a:r>
            <a:r>
              <a:rPr lang="en-US" dirty="0">
                <a:highlight>
                  <a:srgbClr val="FFFF00"/>
                </a:highlight>
              </a:rPr>
              <a:t>An approval from someone outside G is not counted, and a duplicate approval is not counted either. A signature replayed from another consent fails the identity check, so the answer is DENY.</a:t>
            </a:r>
            <a:r>
              <a:rPr lang="en-US" dirty="0"/>
              <a:t>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
Algorithm 3: Threshold-Based Multi-Party Authorisation
The box in the middle of the slide is Algorithm 3 from my report. The flowchart on the right shows the same three checks in the same order, with the identity check drawn as the prototype runs it, but it joins the three rejections into one box and shows activation last, after the token and the evidence.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a:t>
            </a:r>
            <a:r>
              <a:rPr lang="en-US" dirty="0">
                <a:highlight>
                  <a:srgbClr val="FFFF00"/>
                </a:highlight>
              </a:rPr>
              <a:t>the lifecycle state</a:t>
            </a:r>
            <a:r>
              <a:rPr lang="en-US" dirty="0"/>
              <a:t>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a:t>
            </a:r>
            <a:r>
              <a:rPr lang="en-US" dirty="0">
                <a:highlight>
                  <a:srgbClr val="FFFF00"/>
                </a:highlight>
              </a:rPr>
              <a:t>The flowchart follows the doctor's request from the top. A consent that is not ACTIVE, a failed identity check, failed policy or time checks, or a failed proof all lead to Deny Access, and the denied access is recorded.</a:t>
            </a:r>
            <a:r>
              <a:rPr lang="en-US" dirty="0"/>
              <a:t>
Algorithm 4: Policy-Aware Access Decision
The box in the middle of the slide is Algorithm 4 from my report. The flowchart on the right shows the same checks, but it checks the consent state before the identity, and it shows the validity interval check and the Groth16 zero-knowledge proof as separate steps before access is granted.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a:t>
            </a:r>
            <a:r>
              <a:rPr lang="en-US" dirty="0">
                <a:highlight>
                  <a:srgbClr val="FFFF00"/>
                </a:highlight>
              </a:rPr>
              <a:t>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a:t>
            </a:r>
            <a:r>
              <a:rPr lang="en-US" dirty="0"/>
              <a:t>
</a:t>
            </a:r>
            <a:r>
              <a:rPr lang="en-US" dirty="0">
                <a:highlight>
                  <a:srgbClr val="FFFF00"/>
                </a:highlight>
              </a:rPr>
              <a:t>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a:t>
            </a:r>
            <a:r>
              <a:rPr lang="en-US" dirty="0"/>
              <a:t>
The next stage adds </a:t>
            </a:r>
            <a:r>
              <a:rPr lang="en-US" dirty="0">
                <a:highlight>
                  <a:srgbClr val="FFFF00"/>
                </a:highlight>
              </a:rPr>
              <a:t>the SUSPENDED state,</a:t>
            </a:r>
            <a:r>
              <a:rPr lang="en-US" dirty="0"/>
              <a:t> a lifecycle transition check, consent modification, delegation, guardian-set changes and a formal lifecycle model.
Algorithm 5: Temporal and Lifecycle Validation
The box in the middle of the slide is Algorithm 5 from my report. The flowchart on the right shows the same four checks in the same order, with the transition check drawn in dashed lines because it is planned for the next stage; INVALID leads to Deny Access and VALID leads to Continue Authorisation Evaluation.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a:t>
            </a:r>
            <a:r>
              <a:rPr lang="en-US" dirty="0">
                <a:highlight>
                  <a:srgbClr val="FFFF00"/>
                </a:highlight>
              </a:rPr>
              <a:t>First, I have 46 automated tests. They include thirteen attack scenarios, A1 to A13.</a:t>
            </a:r>
            <a:r>
              <a:rPr lang="en-US" dirty="0"/>
              <a:t>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a:t>
            </a:r>
            <a:r>
              <a:rPr lang="en-US" dirty="0">
                <a:highlight>
                  <a:srgbClr val="FFFF00"/>
                </a:highlight>
              </a:rPr>
              <a:t>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a:t>
            </a:r>
            <a:r>
              <a:rPr lang="en-US" dirty="0"/>
              <a:t>
Algorithm 6: Formal and Empirical Authorisation Validation
The box on the left of the slide is Algorithm 6 from my report. The flowchart on the right shows the same main steps, but it also adds a practical performance check and a loop that refines the framework and tests again when a property fails, which the pseudocode does not include.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a:t>
            </a:r>
            <a:r>
              <a:rPr lang="en-US" dirty="0">
                <a:highlight>
                  <a:srgbClr val="FFFF00"/>
                </a:highlight>
              </a:rPr>
              <a:t>Last, the off-chain audit ledger keeps evidence of every access decision, allowed or denied, and no medical content goes on-chain.</a:t>
            </a:r>
            <a:r>
              <a:rPr lang="en-US" dirty="0"/>
              <a:t>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a:t>
            </a:r>
            <a:r>
              <a:rPr lang="en-US" dirty="0">
                <a:highlight>
                  <a:srgbClr val="FFFF00"/>
                </a:highlight>
              </a:rPr>
              <a:t>First,</a:t>
            </a:r>
            <a:r>
              <a:rPr lang="en-US" dirty="0"/>
              <a: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a:t>
            </a:r>
            <a:r>
              <a:rPr lang="en-US" dirty="0">
                <a:highlight>
                  <a:srgbClr val="FFFF00"/>
                </a:highlight>
              </a:rPr>
              <a:t>Second,</a:t>
            </a:r>
            <a:r>
              <a:rPr lang="en-US" dirty="0"/>
              <a:t> on the right is the gas used by the five anchored transactions. Gas is the unit of computing work on Ethereum. The first two bars are </a:t>
            </a:r>
            <a:r>
              <a:rPr lang="en-US" dirty="0">
                <a:highlight>
                  <a:srgbClr val="FFFF00"/>
                </a:highlight>
              </a:rPr>
              <a:t>for</a:t>
            </a:r>
            <a:r>
              <a:rPr lang="en-US" dirty="0"/>
              <a:t> token 8</a:t>
            </a:r>
            <a:r>
              <a:rPr lang="en-US" dirty="0">
                <a:highlight>
                  <a:srgbClr val="FFFF00"/>
                </a:highlight>
              </a:rPr>
              <a:t>,</a:t>
            </a:r>
            <a:r>
              <a:rPr lang="en-US" dirty="0"/>
              <a:t> from the earlier deployment. The other three are on the current contract, ConsentSBTv3.
</a:t>
            </a:r>
            <a:r>
              <a:rPr lang="en-US" dirty="0">
                <a:highlight>
                  <a:srgbClr val="FFFF00"/>
                </a:highlight>
              </a:rPr>
              <a:t>Third, compare the bars.</a:t>
            </a:r>
            <a:r>
              <a:rPr lang="en-US" dirty="0"/>
              <a:t>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a:t>
            </a:r>
            <a:r>
              <a:rPr lang="en-US" dirty="0">
                <a:highlight>
                  <a:srgbClr val="FFFF00"/>
                </a:highlight>
              </a:rPr>
              <a:t>In scenario 5, the consent was revoked, so the request was refused.</a:t>
            </a:r>
            <a:r>
              <a:rPr lang="en-US" dirty="0"/>
              <a:t>
</a:t>
            </a:r>
            <a:r>
              <a:rPr lang="en-US" dirty="0">
                <a:highlight>
                  <a:srgbClr val="FFFF00"/>
                </a:highlight>
              </a:rPr>
              <a:t>The third row is the thirteen attack scenarios, A1 to A13. Twelve of them are refused.</a:t>
            </a:r>
            <a:r>
              <a:rPr lang="en-US" dirty="0"/>
              <a:t> A11 is different. A rewritten audit event changes its digest, but nothing in the prototype compares the digest yet.
</a:t>
            </a:r>
            <a:r>
              <a:rPr lang="en-US" dirty="0">
                <a:highlight>
                  <a:srgbClr val="FFFF00"/>
                </a:highlight>
              </a:rPr>
              <a:t>The next slide shows these thirteen attacks in detail.</a:t>
            </a:r>
            <a:r>
              <a:rPr lang="en-US" dirty="0"/>
              <a:t>
The fourth row is the automated tests. </a:t>
            </a:r>
            <a:r>
              <a:rPr lang="en-US" dirty="0">
                <a:highlight>
                  <a:srgbClr val="FFFF00"/>
                </a:highlight>
              </a:rPr>
              <a:t>There are 32 functional and regression tests and 14 adversarial tests. All 46 pass.</a:t>
            </a:r>
            <a:r>
              <a:rPr lang="en-US" dirty="0"/>
              <a:t>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a:t>
            </a:r>
            <a:r>
              <a:rPr lang="en-US" dirty="0">
                <a:highlight>
                  <a:srgbClr val="FFFF00"/>
                </a:highlight>
              </a:rPr>
              <a:t>The table lists thirteen attack scenarios, A1 to A13.</a:t>
            </a:r>
            <a:r>
              <a:rPr lang="en-US" dirty="0"/>
              <a:t> The dots show which part each attack targets. I is identity, A is </a:t>
            </a:r>
            <a:r>
              <a:rPr lang="en-US" dirty="0">
                <a:highlight>
                  <a:srgbClr val="FFFF00"/>
                </a:highlight>
              </a:rPr>
              <a:t>authorisation</a:t>
            </a:r>
            <a:r>
              <a:rPr lang="en-US" dirty="0"/>
              <a:t>, P is policy and scope, T is time, L is </a:t>
            </a:r>
            <a:r>
              <a:rPr lang="en-US" dirty="0">
                <a:highlight>
                  <a:srgbClr val="FFFF00"/>
                </a:highlight>
              </a:rPr>
              <a:t>lifecycle</a:t>
            </a:r>
            <a:r>
              <a:rPr lang="en-US" dirty="0"/>
              <a:t>,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t>
            </a:r>
            <a:r>
              <a:rPr lang="en-US" dirty="0">
                <a:highlight>
                  <a:srgbClr val="FFFF00"/>
                </a:highlight>
              </a:rPr>
              <a:t>After the hardening, eleven of the first twelve are refused, and all 46 automated tests pass. A13, an invalid or forged credential, came with the credential check on 11 October 2026 and is refused too; before that change, a requester without a valid credential was accepted.</a:t>
            </a:r>
            <a:r>
              <a:rPr lang="en-US" dirty="0"/>
              <a:t>
A11 is different. A rewritten audit event changes its digest, but no part of the prototype compares the digest yet. </a:t>
            </a:r>
            <a:r>
              <a:rPr lang="en-US" dirty="0">
                <a:highlight>
                  <a:srgbClr val="FFFF00"/>
                </a:highlight>
              </a:rPr>
              <a:t>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a:t>
            </a:r>
            <a:r>
              <a:rPr lang="en-US" dirty="0">
                <a:highlight>
                  <a:srgbClr val="FFFF00"/>
                </a:highlight>
              </a:rPr>
              <a:t>The mint runs in the background, so the guardians and the doctor do not wait for it; a revoke makes the patient wait for the block.</a:t>
            </a:r>
            <a:r>
              <a:rPr lang="en-US" dirty="0"/>
              <a:t>
Processing time is the time of each part of a decision. </a:t>
            </a:r>
            <a:r>
              <a:rPr lang="en-US" dirty="0">
                <a:highlight>
                  <a:srgbClr val="FFFF00"/>
                </a:highlight>
              </a:rPr>
              <a:t>The five checks of the decision rule take about 6 microseconds, and checking one credential about 6 milliseconds.</a:t>
            </a:r>
            <a:r>
              <a:rPr lang="en-US" dirty="0"/>
              <a:t> </a:t>
            </a:r>
            <a:r>
              <a:rPr lang="en-US" dirty="0">
                <a:highlight>
                  <a:srgbClr val="FFFF00"/>
                </a:highlight>
              </a:rPr>
              <a:t>Checking one guardian signature takes about 11 milliseconds.</a:t>
            </a:r>
            <a:r>
              <a:rPr lang="en-US" dirty="0"/>
              <a:t> The Groth16 proof is the slow part, about 1.4 seconds to generate and 0.47 seconds to verify.
The last row is the on-chain read. Reading the contract on Sepolia takes a little over half a second.
</a:t>
            </a:r>
            <a:r>
              <a:rPr lang="en-US" dirty="0">
                <a:highlight>
                  <a:srgbClr val="FFFF00"/>
                </a:highlight>
              </a:rPr>
              <a:t>I measured the timings on 1 October 2026, in one container, and the decision rule and the credential check again on 11 October 2026. The gas, the fees and the latency come from the five Sepolia transactions of September 2026. The results are indicative only.</a:t>
            </a:r>
            <a:r>
              <a:rPr lang="en-US" dirty="0"/>
              <a:t>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a:t>
            </a:r>
            <a:r>
              <a:rPr lang="en-US" dirty="0">
                <a:highlight>
                  <a:srgbClr val="FFFF00"/>
                </a:highlight>
              </a:rPr>
              <a:t>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a:t>
            </a:r>
            <a:r>
              <a:rPr lang="en-US" dirty="0"/>
              <a:t>
In the table, the median is the middle value. The column n is how many times I measured each step. The symbol µs means microseconds, and ms means milliseconds.
</a:t>
            </a:r>
            <a:r>
              <a:rPr lang="en-US" dirty="0">
                <a:highlight>
                  <a:srgbClr val="FFFF00"/>
                </a:highlight>
              </a:rPr>
              <a:t>The decision rule with its five checks takes about 6 microseconds, so the checks themselves cost almost nothing. Checking one credential takes about 6 milliseconds.</a:t>
            </a:r>
            <a:r>
              <a:rPr lang="en-US" dirty="0"/>
              <a:t>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a:t>
            </a:r>
            <a:r>
              <a:rPr lang="en-US" dirty="0">
                <a:highlight>
                  <a:srgbClr val="FFFF00"/>
                </a:highlight>
              </a:rPr>
              <a:t>But the mint runs in the background, so the guardians and the doctor do not wait for it; a revoke makes the patient wait for the block.</a:t>
            </a:r>
            <a:r>
              <a:rPr lang="en-US" dirty="0"/>
              <a:t>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a:t>
            </a:r>
            <a:r>
              <a:rPr lang="en-US" dirty="0">
                <a:highlight>
                  <a:srgbClr val="FFFF00"/>
                </a:highlight>
              </a:rPr>
              <a:t>every access decision, allowed or denied, is logged off-chain</a:t>
            </a:r>
            <a:r>
              <a:rPr lang="en-US" dirty="0"/>
              <a:t>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a:t>
            </a:r>
            <a:r>
              <a:rPr lang="en-US" dirty="0">
                <a:highlight>
                  <a:srgbClr val="FFFF00"/>
                </a:highlight>
              </a:rPr>
              <a:t>On-chain record: the ConsentSBTv3 token stores pseudonymous patient and requester addresses, a hash of the purpose, the validity window and a revocation flag.</a:t>
            </a:r>
            <a:r>
              <a:rPr lang="en-US" dirty="0"/>
              <a:t> Pseudonymous means the address does not show a real name.
Access to data: records are released only when the decision is ALLOW, and only inside the authorised scope.
Audit: </a:t>
            </a:r>
            <a:r>
              <a:rPr lang="en-US" dirty="0">
                <a:highlight>
                  <a:srgbClr val="FFFF00"/>
                </a:highlight>
              </a:rPr>
              <a:t>every access decision, allowed or denied, is saved in the off-chain audit ledger</a:t>
            </a:r>
            <a:r>
              <a:rPr lang="en-US" dirty="0"/>
              <a:t>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t>
            </a:r>
            <a:r>
              <a:rPr lang="en-US" dirty="0">
                <a:highlight>
                  <a:srgbClr val="FFFF00"/>
                </a:highlight>
              </a:rPr>
              <a:t>authorisation</a:t>
            </a:r>
            <a:r>
              <a:rPr lang="en-US" dirty="0"/>
              <a:t>, policy, time, </a:t>
            </a:r>
            <a:r>
              <a:rPr lang="en-US" dirty="0">
                <a:highlight>
                  <a:srgbClr val="FFFF00"/>
                </a:highlight>
              </a:rPr>
              <a:t>lifecycle</a:t>
            </a:r>
            <a:r>
              <a:rPr lang="en-US" dirty="0"/>
              <a:t>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a:t>
            </a:r>
            <a:r>
              <a:rPr lang="en-US" dirty="0">
                <a:highlight>
                  <a:srgbClr val="FFFF00"/>
                </a:highlight>
              </a:rPr>
              <a:t>lifecycle</a:t>
            </a:r>
            <a:r>
              <a:rPr lang="en-US" dirty="0"/>
              <a:t>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t>
            </a:r>
            <a:r>
              <a:rPr lang="en-US" dirty="0">
                <a:highlight>
                  <a:srgbClr val="FFFF00"/>
                </a:highlight>
              </a:rPr>
              <a:t>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a:t>
            </a:r>
            <a:r>
              <a:rPr lang="en-US" dirty="0">
                <a:highlight>
                  <a:srgbClr val="FFFF00"/>
                </a:highlight>
              </a:rPr>
              <a:t>Chapter 6, the solution for RQ1 to RQ4 and the HALAH prototype, ran from July to October 2026 and is done.</a:t>
            </a:r>
            <a:r>
              <a:rPr lang="en-US" dirty="0"/>
              <a:t>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a:t>
            </a:r>
            <a:r>
              <a:rPr lang="en-US" dirty="0">
                <a:highlight>
                  <a:srgbClr val="FFFF00"/>
                </a:highlight>
              </a:rPr>
              <a:t>Chapter 6, the proposed solution for RQ1 to RQ4 and the HALAH prototype, ran from July to October 2026 and is done.</a:t>
            </a:r>
            <a:r>
              <a:rPr lang="en-US" dirty="0"/>
              <a:t>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highlight>
                  <a:srgbClr val="FFFF00"/>
                </a:highlight>
              </a:rPr>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a:t>
            </a:r>
            <a:r>
              <a:rPr lang="en-US" dirty="0">
                <a:highlight>
                  <a:srgbClr val="FFFF00"/>
                </a:highlight>
              </a:rPr>
              <a:t>The token stores pseudonymous addresses, a hash of the purpose, the validity window and a revocation flag, and no medical content.</a:t>
            </a:r>
            <a:r>
              <a:rPr lang="en-US" dirty="0"/>
              <a:t>
Possible question: What is new in this work? Multi-party approval is a standing condition of every access decision, and the patient defines who must approve. </a:t>
            </a:r>
            <a:r>
              <a:rPr lang="en-US" dirty="0">
                <a:highlight>
                  <a:srgbClr val="FFFF00"/>
                </a:highlight>
              </a:rPr>
              <a:t>I tested the prototype against thirteen attack scenarios. Twelve of them are refused.</a:t>
            </a:r>
            <a:r>
              <a:rPr lang="en-US" dirty="0"/>
              <a:t>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a:t>
            </a:r>
            <a:r>
              <a:rPr lang="en-US" sz="1800" b="1" dirty="0">
                <a:solidFill>
                  <a:srgbClr val="0B1F33"/>
                </a:solidFill>
                <a:highlight>
                  <a:srgbClr val="FFFF00"/>
                </a:highlight>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highlight>
                  <a:srgbClr val="FFFF00"/>
                </a:highlight>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0B1F33"/>
                </a:solidFill>
                <a:highlight>
                  <a:srgbClr val="FFFF00"/>
                </a:highlight>
              </a:rPr>
              <a:t>Authorisation</a:t>
            </a:r>
            <a:r>
              <a:rPr lang="en-US" sz="1500" dirty="0">
                <a:solidFill>
                  <a:srgbClr val="FFFFFF"/>
                </a:solidFill>
              </a:rPr>
              <a:t> (A: guardian set G, threshold N) · Policy (P: purpose, scope) · Time (T) · </a:t>
            </a:r>
            <a:r>
              <a:rPr lang="en-US" sz="1500" dirty="0">
                <a:solidFill>
                  <a:srgbClr val="0B1F33"/>
                </a:solidFill>
                <a:highlight>
                  <a:srgbClr val="FFFF00"/>
                </a:highlight>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a:t>
            </a:r>
            <a:r>
              <a:rPr lang="en-US" sz="2400" i="1" dirty="0">
                <a:solidFill>
                  <a:srgbClr val="0B1F33"/>
                </a:solidFill>
                <a:highlight>
                  <a:srgbClr val="FFFF00"/>
                </a:highlight>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a:t>
            </a:r>
            <a:r>
              <a:rPr lang="en-US" sz="1250" dirty="0">
                <a:solidFill>
                  <a:srgbClr val="0B1F33"/>
                </a:solidFill>
                <a:highlight>
                  <a:srgbClr val="FFFF00"/>
                </a:highlight>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a:t>
                      </a:r>
                      <a:r>
                        <a:rPr lang="en-US" sz="1300" b="1" dirty="0">
                          <a:solidFill>
                            <a:srgbClr val="0B1F33"/>
                          </a:solidFill>
                          <a:highlight>
                            <a:srgbClr val="FFFF00"/>
                          </a:highlight>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a:t>
            </a:r>
            <a:r>
              <a:rPr lang="en-US" sz="1400" b="1" dirty="0">
                <a:solidFill>
                  <a:srgbClr val="0B1F33"/>
                </a:solidFill>
                <a:highlight>
                  <a:srgbClr val="FFFF00"/>
                </a:highlight>
              </a:rPr>
              <a:t>Gap and questions</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a:t>
            </a:r>
            <a:r>
              <a:rPr lang="en-US" sz="1300" dirty="0">
                <a:solidFill>
                  <a:srgbClr val="0B1F33"/>
                </a:solidFill>
                <a:highlight>
                  <a:srgbClr val="FFFF00"/>
                </a:highlight>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0B1F33"/>
                </a:solidFill>
                <a:highlight>
                  <a:srgbClr val="FFFF00"/>
                </a:highlight>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a:t>
            </a:r>
            <a:r>
              <a:rPr lang="en-US" sz="1800" dirty="0">
                <a:solidFill>
                  <a:srgbClr val="0B1F33"/>
                </a:solidFill>
                <a:highlight>
                  <a:srgbClr val="FFFF00"/>
                </a:highlight>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Trust-Centric Consent Model</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The patient selects the patient DID, doctor, guardians, data scope </a:t>
            </a:r>
            <a:r>
              <a:rPr lang="en-US" sz="1200" dirty="0">
                <a:solidFill>
                  <a:srgbClr val="0B1F33"/>
                </a:solidFill>
                <a:highlight>
                  <a:srgbClr val="FFFF00"/>
                </a:highlight>
              </a:rPr>
              <a:t>and</a:t>
            </a:r>
            <a:r>
              <a:rPr lang="en-US" sz="1200" dirty="0">
                <a:solidFill>
                  <a:srgbClr val="FFFFFF"/>
                </a:solidFill>
              </a:rPr>
              <a:t> validity time; the purpose is fixed to Treatment.</a:t>
            </a:r>
            <a:endParaRPr lang="en-US" sz="1200" dirty="0"/>
          </a:p>
          <a:p>
            <a:pPr marL="342900" indent="-342900">
              <a:spcAft>
                <a:spcPts val="1000"/>
              </a:spcAft>
              <a:buSzPct val="100000"/>
              <a:buChar char="•"/>
            </a:pPr>
            <a:r>
              <a:rPr lang="en-US" sz="1200" dirty="0">
                <a:solidFill>
                  <a:srgbClr val="FFFFFF"/>
                </a:solidFill>
              </a:rPr>
              <a:t>The input is validated; an empty scope or a malformed guardian DID is rejected.</a:t>
            </a:r>
            <a:endParaRPr lang="en-US" sz="1200" dirty="0"/>
          </a:p>
          <a:p>
            <a:pPr marL="342900" indent="-342900">
              <a:spcAft>
                <a:spcPts val="1000"/>
              </a:spcAft>
              <a:buSzPct val="100000"/>
              <a:buChar char="•"/>
            </a:pPr>
            <a:r>
              <a:rPr lang="en-US" sz="1200" dirty="0">
                <a:solidFill>
                  <a:srgbClr val="FFFFFF"/>
                </a:solidFill>
              </a:rPr>
              <a:t>​</a:t>
            </a:r>
            <a:r>
              <a:rPr lang="en-US" sz="1200" dirty="0">
                <a:solidFill>
                  <a:srgbClr val="0B1F33"/>
                </a:solidFill>
                <a:highlight>
                  <a:srgbClr val="FFFF00"/>
                </a:highlight>
              </a:rPr>
              <a:t>The consent object C = (I, A, P, T, L, E) is built and a consent identifier is assigned.</a:t>
            </a:r>
            <a:endParaRPr lang="en-US" sz="1200" dirty="0"/>
          </a:p>
          <a:p>
            <a:pPr marL="342900" indent="-342900">
              <a:spcAft>
                <a:spcPts val="1000"/>
              </a:spcAft>
              <a:buSzPct val="100000"/>
              <a:buChar char="•"/>
            </a:pPr>
            <a:r>
              <a:rPr lang="en-US" sz="1200" dirty="0">
                <a:solidFill>
                  <a:srgbClr val="FFFFFF"/>
                </a:solidFill>
              </a:rPr>
              <a:t>The consent is stored in the state PENDING_SIGNATURE; nothing is on-chain until all guardians approve.</a:t>
            </a:r>
            <a:endParaRPr lang="en-US" sz="1200" dirty="0"/>
          </a:p>
          <a:p>
            <a:pPr marL="342900" indent="-342900">
              <a:spcAft>
                <a:spcPts val="1000"/>
              </a:spcAft>
              <a:buSzPct val="100000"/>
              <a:buChar char="•"/>
            </a:pPr>
            <a:r>
              <a:rPr lang="en-US" sz="1200" dirty="0">
                <a:solidFill>
                  <a:srgbClr val="FFFFFF"/>
                </a:solidFill>
              </a:rPr>
              <a:t>Creation evidence is recorded in the audit ledger.</a:t>
            </a:r>
            <a:endParaRPr lang="en-US" sz="1200" dirty="0"/>
          </a:p>
        </p:txBody>
      </p:sp>
      <p:sp>
        <p:nvSpPr>
          <p:cNvPr id="8" name="F10 panel"/>
          <p:cNvSpPr/>
          <p:nvPr/>
        </p:nvSpPr>
        <p:spPr>
          <a:xfrm>
            <a:off x="9089048" y="1005840"/>
            <a:ext cx="2660992" cy="5440680"/>
          </a:xfrm>
          <a:prstGeom prst="roundRect">
            <a:avLst>
              <a:gd name="adj" fmla="val 412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yellow/F10.png">    </p:cNvPr>
          <p:cNvPicPr>
            <a:picLocks noChangeAspect="1"/>
          </p:cNvPicPr>
          <p:nvPr/>
        </p:nvPicPr>
        <p:blipFill>
          <a:blip r:embed="rId1"/>
          <a:stretch>
            <a:fillRect/>
          </a:stretch>
        </p:blipFill>
        <p:spPr>
          <a:xfrm>
            <a:off x="9198776" y="1115568"/>
            <a:ext cx="2441536" cy="5221224"/>
          </a:xfrm>
          <a:prstGeom prst="rect">
            <a:avLst/>
          </a:prstGeom>
        </p:spPr>
      </p:pic>
      <p:sp>
        <p:nvSpPr>
          <p:cNvPr id="10" name="ALG1 panel"/>
          <p:cNvSpPr/>
          <p:nvPr/>
        </p:nvSpPr>
        <p:spPr>
          <a:xfrm>
            <a:off x="4069080" y="2028780"/>
            <a:ext cx="4882808" cy="3394800"/>
          </a:xfrm>
          <a:prstGeom prst="roundRect">
            <a:avLst>
              <a:gd name="adj" fmla="val 323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1" descr="/tmp/deck/img/yellow/ALG1.png">    </p:cNvPr>
          <p:cNvPicPr>
            <a:picLocks noChangeAspect="1"/>
          </p:cNvPicPr>
          <p:nvPr/>
        </p:nvPicPr>
        <p:blipFill>
          <a:blip r:embed="rId2"/>
          <a:stretch>
            <a:fillRect/>
          </a:stretch>
        </p:blipFill>
        <p:spPr>
          <a:xfrm>
            <a:off x="4195790" y="2138508"/>
            <a:ext cx="4629389" cy="31753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Decentralised Identity and Authority Trust</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Identity is checked through the participant's DID; authority through a verifiable credential.</a:t>
            </a:r>
            <a:endParaRPr lang="en-US" sz="1200" dirty="0"/>
          </a:p>
          <a:p>
            <a:pPr marL="342900" indent="-342900">
              <a:spcAft>
                <a:spcPts val="1000"/>
              </a:spcAft>
              <a:buSzPct val="100000"/>
              <a:buChar char="•"/>
            </a:pPr>
            <a:r>
              <a:rPr lang="en-US" sz="1200" dirty="0">
                <a:solidFill>
                  <a:srgbClr val="FFFFFF"/>
                </a:solidFill>
              </a:rPr>
              <a:t>Identity is not authority: a valid DID alone never gives access.</a:t>
            </a:r>
            <a:endParaRPr lang="en-US" sz="1200" dirty="0"/>
          </a:p>
          <a:p>
            <a:pPr marL="342900" indent="-342900">
              <a:spcAft>
                <a:spcPts val="1000"/>
              </a:spcAft>
              <a:buSzPct val="100000"/>
              <a:buChar char="•"/>
            </a:pPr>
            <a:r>
              <a:rPr lang="en-US" sz="1200" dirty="0">
                <a:solidFill>
                  <a:srgbClr val="FFFFFF"/>
                </a:solidFill>
              </a:rPr>
              <a:t>VI(u) = VerifyDID(u) ∧ VerifyVC(u) ∧ Authority(u, C).</a:t>
            </a:r>
            <a:endParaRPr lang="en-US" sz="1200" dirty="0"/>
          </a:p>
          <a:p>
            <a:pPr marL="342900" indent="-342900">
              <a:spcAft>
                <a:spcPts val="1000"/>
              </a:spcAft>
              <a:buSzPct val="100000"/>
              <a:buChar char="•"/>
            </a:pPr>
            <a:r>
              <a:rPr lang="en-US" sz="1200" dirty="0">
                <a:solidFill>
                  <a:srgbClr val="FFFFFF"/>
                </a:solidFill>
              </a:rPr>
              <a:t>​</a:t>
            </a:r>
            <a:r>
              <a:rPr lang="en-US" sz="1200" dirty="0">
                <a:solidFill>
                  <a:srgbClr val="0B1F33"/>
                </a:solidFill>
                <a:highlight>
                  <a:srgbClr val="FFFF00"/>
                </a:highlight>
              </a:rPr>
              <a:t>In the HALAH implementation, the Guardian workflow uses a selected guardian DID and invokes VC verification before adding the guardian's signature to the consent.</a:t>
            </a:r>
            <a:endParaRPr lang="en-US" sz="1200" dirty="0"/>
          </a:p>
          <a:p>
            <a:pPr marL="342900" indent="-342900">
              <a:spcAft>
                <a:spcPts val="1000"/>
              </a:spcAft>
              <a:buSzPct val="100000"/>
              <a:buChar char="•"/>
            </a:pPr>
            <a:r>
              <a:rPr lang="en-US" sz="1200" dirty="0">
                <a:solidFill>
                  <a:srgbClr val="FFFFFF"/>
                </a:solidFill>
              </a:rPr>
              <a:t>Full DID resolution </a:t>
            </a:r>
            <a:r>
              <a:rPr lang="en-US" sz="1200" dirty="0">
                <a:solidFill>
                  <a:srgbClr val="0B1F33"/>
                </a:solidFill>
                <a:highlight>
                  <a:srgbClr val="FFFF00"/>
                </a:highlight>
              </a:rPr>
              <a:t>is</a:t>
            </a:r>
            <a:r>
              <a:rPr lang="en-US" sz="1200" dirty="0">
                <a:solidFill>
                  <a:srgbClr val="FFFFFF"/>
                </a:solidFill>
              </a:rPr>
              <a:t> planned for the next stage.</a:t>
            </a:r>
            <a:endParaRPr lang="en-US" sz="1200" dirty="0"/>
          </a:p>
        </p:txBody>
      </p:sp>
      <p:sp>
        <p:nvSpPr>
          <p:cNvPr id="8" name="F12 panel"/>
          <p:cNvSpPr/>
          <p:nvPr/>
        </p:nvSpPr>
        <p:spPr>
          <a:xfrm>
            <a:off x="8686800" y="1498166"/>
            <a:ext cx="3063240" cy="4456029"/>
          </a:xfrm>
          <a:prstGeom prst="roundRect">
            <a:avLst>
              <a:gd name="adj" fmla="val 358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8796528" y="1607894"/>
            <a:ext cx="2843784" cy="4236573"/>
          </a:xfrm>
          <a:prstGeom prst="rect">
            <a:avLst/>
          </a:prstGeom>
        </p:spPr>
      </p:pic>
      <p:sp>
        <p:nvSpPr>
          <p:cNvPr id="10" name="ALG2 panel"/>
          <p:cNvSpPr/>
          <p:nvPr/>
        </p:nvSpPr>
        <p:spPr>
          <a:xfrm>
            <a:off x="4069080" y="1340635"/>
            <a:ext cx="4480560" cy="477109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2" descr="/tmp/deck/img/yellow/ALG2.png">    </p:cNvPr>
          <p:cNvPicPr>
            <a:picLocks noChangeAspect="1"/>
          </p:cNvPicPr>
          <p:nvPr/>
        </p:nvPicPr>
        <p:blipFill>
          <a:blip r:embed="rId2"/>
          <a:stretch>
            <a:fillRect/>
          </a:stretch>
        </p:blipFill>
        <p:spPr>
          <a:xfrm>
            <a:off x="4178808" y="1453495"/>
            <a:ext cx="4261104" cy="4545369"/>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Trustworthy Multi-Party Authorisation</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150" dirty="0">
                <a:solidFill>
                  <a:srgbClr val="FFFFFF"/>
                </a:solidFill>
              </a:rPr>
              <a:t>The guardian set G is fixed when the consent is created.</a:t>
            </a:r>
            <a:endParaRPr lang="en-US" sz="1150" dirty="0"/>
          </a:p>
          <a:p>
            <a:pPr marL="342900" indent="-342900">
              <a:spcAft>
                <a:spcPts val="1000"/>
              </a:spcAft>
              <a:buSzPct val="100000"/>
              <a:buChar char="•"/>
            </a:pPr>
            <a:r>
              <a:rPr lang="en-US" sz="1150" dirty="0">
                <a:solidFill>
                  <a:srgbClr val="FFFFFF"/>
                </a:solidFill>
              </a:rPr>
              <a:t>Each guardian signs an EIP-712 approval, verified by signature recovery.</a:t>
            </a:r>
            <a:endParaRPr lang="en-US" sz="1150" dirty="0"/>
          </a:p>
          <a:p>
            <a:pPr marL="342900" indent="-342900">
              <a:spcAft>
                <a:spcPts val="1000"/>
              </a:spcAft>
              <a:buSzPct val="100000"/>
              <a:buChar char="•"/>
            </a:pPr>
            <a:r>
              <a:rPr lang="en-US" sz="1150" dirty="0">
                <a:solidFill>
                  <a:srgbClr val="FFFFFF"/>
                </a:solidFill>
              </a:rPr>
              <a:t>​</a:t>
            </a:r>
            <a:r>
              <a:rPr lang="en-US" sz="1150" dirty="0">
                <a:solidFill>
                  <a:srgbClr val="0B1F33"/>
                </a:solidFill>
                <a:highlight>
                  <a:srgbClr val="FFFF00"/>
                </a:highlight>
              </a:rPr>
              <a:t>Approvals from outside G and duplicate approvals are not counted; a replayed signature fails the identity check (VI).</a:t>
            </a:r>
            <a:endParaRPr lang="en-US" sz="1150" dirty="0"/>
          </a:p>
          <a:p>
            <a:pPr marL="342900" indent="-342900">
              <a:spcAft>
                <a:spcPts val="1000"/>
              </a:spcAft>
              <a:buSzPct val="100000"/>
              <a:buChar char="•"/>
            </a:pPr>
            <a:r>
              <a:rPr lang="en-US" sz="1150" dirty="0">
                <a:solidFill>
                  <a:srgbClr val="FFFFFF"/>
                </a:solidFill>
              </a:rPr>
              <a:t>N-of-N rule: a valid signature from every listed guardian (2-of-2 in the demo).</a:t>
            </a:r>
            <a:endParaRPr lang="en-US" sz="1150" dirty="0"/>
          </a:p>
          <a:p>
            <a:pPr marL="342900" indent="-342900">
              <a:spcAft>
                <a:spcPts val="1000"/>
              </a:spcAft>
              <a:buSzPct val="100000"/>
              <a:buChar char="•"/>
            </a:pPr>
            <a:r>
              <a:rPr lang="en-US" sz="1150" dirty="0">
                <a:solidFill>
                  <a:srgbClr val="FFFFFF"/>
                </a:solidFill>
              </a:rPr>
              <a:t>When the threshold is met, a local token is recorded and the mint is anchored on Sepolia in the background.</a:t>
            </a:r>
            <a:endParaRPr lang="en-US" sz="1150" dirty="0"/>
          </a:p>
        </p:txBody>
      </p:sp>
      <p:sp>
        <p:nvSpPr>
          <p:cNvPr id="8" name="F13 panel"/>
          <p:cNvSpPr/>
          <p:nvPr/>
        </p:nvSpPr>
        <p:spPr>
          <a:xfrm>
            <a:off x="8686800" y="1420345"/>
            <a:ext cx="3063240" cy="4611670"/>
          </a:xfrm>
          <a:prstGeom prst="roundRect">
            <a:avLst>
              <a:gd name="adj" fmla="val 358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yellow/F13.png">    </p:cNvPr>
          <p:cNvPicPr>
            <a:picLocks noChangeAspect="1"/>
          </p:cNvPicPr>
          <p:nvPr/>
        </p:nvPicPr>
        <p:blipFill>
          <a:blip r:embed="rId1"/>
          <a:stretch>
            <a:fillRect/>
          </a:stretch>
        </p:blipFill>
        <p:spPr>
          <a:xfrm>
            <a:off x="8796528" y="1530073"/>
            <a:ext cx="2843784" cy="4392214"/>
          </a:xfrm>
          <a:prstGeom prst="rect">
            <a:avLst/>
          </a:prstGeom>
        </p:spPr>
      </p:pic>
      <p:sp>
        <p:nvSpPr>
          <p:cNvPr id="10" name="ALG3 panel"/>
          <p:cNvSpPr/>
          <p:nvPr/>
        </p:nvSpPr>
        <p:spPr>
          <a:xfrm>
            <a:off x="4086071" y="1005840"/>
            <a:ext cx="4446578" cy="5440680"/>
          </a:xfrm>
          <a:prstGeom prst="roundRect">
            <a:avLst>
              <a:gd name="adj" fmla="val 246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3" descr="/tmp/deck/img/yellow/ALG3.png">    </p:cNvPr>
          <p:cNvPicPr>
            <a:picLocks noChangeAspect="1"/>
          </p:cNvPicPr>
          <p:nvPr/>
        </p:nvPicPr>
        <p:blipFill>
          <a:blip r:embed="rId2"/>
          <a:stretch>
            <a:fillRect/>
          </a:stretch>
        </p:blipFill>
        <p:spPr>
          <a:xfrm>
            <a:off x="4195799" y="1126301"/>
            <a:ext cx="4227122" cy="5199759"/>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Policy- and Context-Aware Access Control</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The request scope SR must be a non-empty subset of the authorised scope SC.</a:t>
            </a:r>
            <a:endParaRPr lang="en-US" sz="1200" dirty="0"/>
          </a:p>
          <a:p>
            <a:pPr marL="342900" indent="-342900">
              <a:spcAft>
                <a:spcPts val="1000"/>
              </a:spcAft>
              <a:buSzPct val="100000"/>
              <a:buChar char="•"/>
            </a:pPr>
            <a:r>
              <a:rPr lang="en-US" sz="1200" dirty="0">
                <a:solidFill>
                  <a:srgbClr val="FFFFFF"/>
                </a:solidFill>
              </a:rPr>
              <a:t>The purpose must be a supported healthcare purpose of the consent.</a:t>
            </a:r>
            <a:endParaRPr lang="en-US" sz="1200" dirty="0"/>
          </a:p>
          <a:p>
            <a:pPr marL="342900" indent="-342900">
              <a:spcAft>
                <a:spcPts val="1000"/>
              </a:spcAft>
              <a:buSzPct val="100000"/>
              <a:buChar char="•"/>
            </a:pPr>
            <a:r>
              <a:rPr lang="en-US" sz="1200" dirty="0">
                <a:solidFill>
                  <a:srgbClr val="FFFFFF"/>
                </a:solidFill>
              </a:rPr>
              <a:t>Time and </a:t>
            </a:r>
            <a:r>
              <a:rPr lang="en-US" sz="1200" dirty="0">
                <a:solidFill>
                  <a:srgbClr val="0B1F33"/>
                </a:solidFill>
                <a:highlight>
                  <a:srgbClr val="FFFF00"/>
                </a:highlight>
              </a:rPr>
              <a:t>the lifecycle state</a:t>
            </a:r>
            <a:r>
              <a:rPr lang="en-US" sz="1200" dirty="0">
                <a:solidFill>
                  <a:srgbClr val="FFFFFF"/>
                </a:solidFill>
              </a:rPr>
              <a:t> are checked in the same decision.</a:t>
            </a:r>
            <a:endParaRPr lang="en-US" sz="1200" dirty="0"/>
          </a:p>
          <a:p>
            <a:pPr marL="342900" indent="-342900">
              <a:spcAft>
                <a:spcPts val="1000"/>
              </a:spcAft>
              <a:buSzPct val="100000"/>
              <a:buChar char="•"/>
            </a:pPr>
            <a:r>
              <a:rPr lang="en-US" sz="1200" dirty="0">
                <a:solidFill>
                  <a:srgbClr val="FFFFFF"/>
                </a:solidFill>
              </a:rPr>
              <a:t>A Groth16 proof must verify before any data is retrieved; otherwise DENY.</a:t>
            </a:r>
            <a:endParaRPr lang="en-US" sz="1200" dirty="0"/>
          </a:p>
          <a:p>
            <a:pPr marL="342900" indent="-342900">
              <a:spcAft>
                <a:spcPts val="1000"/>
              </a:spcAft>
              <a:buSzPct val="100000"/>
              <a:buChar char="•"/>
            </a:pPr>
            <a:r>
              <a:rPr lang="en-US" sz="1200" dirty="0">
                <a:solidFill>
                  <a:srgbClr val="FFFFFF"/>
                </a:solidFill>
              </a:rPr>
              <a:t>Example: requesting Procedure when only Observation and Medication are allowed gives DENY.</a:t>
            </a:r>
            <a:endParaRPr lang="en-US" sz="1200" dirty="0"/>
          </a:p>
        </p:txBody>
      </p:sp>
      <p:sp>
        <p:nvSpPr>
          <p:cNvPr id="8" name="F14 panel"/>
          <p:cNvSpPr/>
          <p:nvPr/>
        </p:nvSpPr>
        <p:spPr>
          <a:xfrm>
            <a:off x="9403534" y="1005840"/>
            <a:ext cx="2346506" cy="5440680"/>
          </a:xfrm>
          <a:prstGeom prst="roundRect">
            <a:avLst>
              <a:gd name="adj" fmla="val 4676"/>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yellow/F14.png">    </p:cNvPr>
          <p:cNvPicPr>
            <a:picLocks noChangeAspect="1"/>
          </p:cNvPicPr>
          <p:nvPr/>
        </p:nvPicPr>
        <p:blipFill>
          <a:blip r:embed="rId1"/>
          <a:stretch>
            <a:fillRect/>
          </a:stretch>
        </p:blipFill>
        <p:spPr>
          <a:xfrm>
            <a:off x="9513262" y="1115568"/>
            <a:ext cx="2127050" cy="5221224"/>
          </a:xfrm>
          <a:prstGeom prst="rect">
            <a:avLst/>
          </a:prstGeom>
        </p:spPr>
      </p:pic>
      <p:sp>
        <p:nvSpPr>
          <p:cNvPr id="10" name="ALG4 panel"/>
          <p:cNvSpPr/>
          <p:nvPr/>
        </p:nvSpPr>
        <p:spPr>
          <a:xfrm>
            <a:off x="4463684" y="1005840"/>
            <a:ext cx="4408085" cy="5440680"/>
          </a:xfrm>
          <a:prstGeom prst="roundRect">
            <a:avLst>
              <a:gd name="adj" fmla="val 248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4" descr="/tmp/deck/img/yellow/ALG4.png">    </p:cNvPr>
          <p:cNvPicPr>
            <a:picLocks noChangeAspect="1"/>
          </p:cNvPicPr>
          <p:nvPr/>
        </p:nvPicPr>
        <p:blipFill>
          <a:blip r:embed="rId2"/>
          <a:stretch>
            <a:fillRect/>
          </a:stretch>
        </p:blipFill>
        <p:spPr>
          <a:xfrm>
            <a:off x="4573412" y="1125804"/>
            <a:ext cx="4188629" cy="52007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Temporal and Lifecycle Trust</a:t>
            </a:r>
            <a:endParaRPr lang="en-US" sz="1500" dirty="0"/>
          </a:p>
        </p:txBody>
      </p:sp>
      <p:sp>
        <p:nvSpPr>
          <p:cNvPr id="5" name="status chip"/>
          <p:cNvSpPr/>
          <p:nvPr/>
        </p:nvSpPr>
        <p:spPr>
          <a:xfrm>
            <a:off x="548640" y="16916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100" dirty="0">
                <a:solidFill>
                  <a:srgbClr val="FFFFFF"/>
                </a:solidFill>
              </a:rPr>
              <a:t>The validity window (notBefore, expiry) is stored on-chain and checked at every request through VT.</a:t>
            </a:r>
            <a:endParaRPr lang="en-US" sz="1100" dirty="0"/>
          </a:p>
          <a:p>
            <a:pPr marL="342900" indent="-342900">
              <a:spcAft>
                <a:spcPts val="1000"/>
              </a:spcAft>
              <a:buSzPct val="100000"/>
              <a:buChar char="•"/>
            </a:pPr>
            <a:r>
              <a:rPr lang="en-US" sz="1100" dirty="0">
                <a:solidFill>
                  <a:srgbClr val="FFFFFF"/>
                </a:solidFill>
              </a:rPr>
              <a:t>Revocation is end to end, including an on-chain revoke transaction.</a:t>
            </a:r>
            <a:endParaRPr lang="en-US" sz="1100" dirty="0"/>
          </a:p>
          <a:p>
            <a:pPr marL="342900" indent="-342900">
              <a:spcAft>
                <a:spcPts val="1000"/>
              </a:spcAft>
              <a:buSzPct val="100000"/>
              <a:buChar char="•"/>
            </a:pPr>
            <a:r>
              <a:rPr lang="en-US" sz="1100" dirty="0">
                <a:solidFill>
                  <a:srgbClr val="FFFFFF"/>
                </a:solidFill>
              </a:rPr>
              <a:t>​</a:t>
            </a:r>
            <a:r>
              <a:rPr lang="en-US" sz="1100" dirty="0">
                <a:solidFill>
                  <a:srgbClr val="0B1F33"/>
                </a:solidFill>
                <a:highlight>
                  <a:srgbClr val="FFFF00"/>
                </a:highlight>
              </a:rPr>
              <a:t>Design: L is the lifecycle state (CREATED, PENDING, ACTIVE, SUSPENDED, REVOKED, EXPIRED), checked by VL(C) = ValidState(C) ∧ ValidTransition(C).</a:t>
            </a:r>
            <a:endParaRPr lang="en-US" sz="1100" dirty="0"/>
          </a:p>
          <a:p>
            <a:pPr marL="342900" indent="-342900">
              <a:spcAft>
                <a:spcPts val="1000"/>
              </a:spcAft>
              <a:buSzPct val="100000"/>
              <a:buChar char="•"/>
            </a:pPr>
            <a:r>
              <a:rPr lang="en-US" sz="1100" dirty="0">
                <a:solidFill>
                  <a:srgbClr val="FFFFFF"/>
                </a:solidFill>
              </a:rPr>
              <a:t>​</a:t>
            </a:r>
            <a:r>
              <a:rPr lang="en-US" sz="1100" dirty="0">
                <a:solidFill>
                  <a:srgbClr val="0B1F33"/>
                </a:solidFill>
                <a:highlight>
                  <a:srgbClr val="FFFF00"/>
                </a:highlight>
              </a:rPr>
              <a:t>Working now: an</a:t>
            </a:r>
            <a:r>
              <a:rPr lang="en-US" sz="1100" dirty="0">
                <a:solidFill>
                  <a:srgbClr val="FFFFFF"/>
                </a:solidFill>
              </a:rPr>
              <a:t> explicit lifecycle state machine: PENDING_SIGNATURE, PENDING_TOKEN, NOT_STARTED, ACTIVE, EXPIRED, REVOKED.</a:t>
            </a:r>
            <a:endParaRPr lang="en-US" sz="1100" dirty="0"/>
          </a:p>
          <a:p>
            <a:pPr marL="342900" indent="-342900">
              <a:spcAft>
                <a:spcPts val="1000"/>
              </a:spcAft>
              <a:buSzPct val="100000"/>
              <a:buChar char="•"/>
            </a:pPr>
            <a:r>
              <a:rPr lang="en-US" sz="1100" dirty="0">
                <a:solidFill>
                  <a:srgbClr val="FFFFFF"/>
                </a:solidFill>
              </a:rPr>
              <a:t>Next stage: </a:t>
            </a:r>
            <a:r>
              <a:rPr lang="en-US" sz="1100" dirty="0">
                <a:solidFill>
                  <a:srgbClr val="0B1F33"/>
                </a:solidFill>
                <a:highlight>
                  <a:srgbClr val="FFFF00"/>
                </a:highlight>
              </a:rPr>
              <a:t>the SUSPENDED state,</a:t>
            </a:r>
            <a:r>
              <a:rPr lang="en-US" sz="1100" dirty="0">
                <a:solidFill>
                  <a:srgbClr val="FFFFFF"/>
                </a:solidFill>
              </a:rPr>
              <a:t> lifecycle transition check, consent modification, delegation, guardian-set changes and a formal lifecycle model.</a:t>
            </a:r>
            <a:endParaRPr lang="en-US" sz="1100" dirty="0"/>
          </a:p>
        </p:txBody>
      </p:sp>
      <p:sp>
        <p:nvSpPr>
          <p:cNvPr id="8" name="F35 panel"/>
          <p:cNvSpPr/>
          <p:nvPr/>
        </p:nvSpPr>
        <p:spPr>
          <a:xfrm>
            <a:off x="8700914" y="1005840"/>
            <a:ext cx="3049126" cy="5440680"/>
          </a:xfrm>
          <a:prstGeom prst="roundRect">
            <a:avLst>
              <a:gd name="adj" fmla="val 35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yellow/F35.png">    </p:cNvPr>
          <p:cNvPicPr>
            <a:picLocks noChangeAspect="1"/>
          </p:cNvPicPr>
          <p:nvPr/>
        </p:nvPicPr>
        <p:blipFill>
          <a:blip r:embed="rId1"/>
          <a:stretch>
            <a:fillRect/>
          </a:stretch>
        </p:blipFill>
        <p:spPr>
          <a:xfrm>
            <a:off x="8810642" y="1115568"/>
            <a:ext cx="2829670" cy="5221224"/>
          </a:xfrm>
          <a:prstGeom prst="rect">
            <a:avLst/>
          </a:prstGeom>
        </p:spPr>
      </p:pic>
      <p:sp>
        <p:nvSpPr>
          <p:cNvPr id="10" name="ALG5 panel"/>
          <p:cNvSpPr/>
          <p:nvPr/>
        </p:nvSpPr>
        <p:spPr>
          <a:xfrm>
            <a:off x="4069080" y="1376296"/>
            <a:ext cx="4494674" cy="4699769"/>
          </a:xfrm>
          <a:prstGeom prst="roundRect">
            <a:avLst>
              <a:gd name="adj" fmla="val 24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5" descr="/tmp/deck/img/yellow/ALG5.png">    </p:cNvPr>
          <p:cNvPicPr>
            <a:picLocks noChangeAspect="1"/>
          </p:cNvPicPr>
          <p:nvPr/>
        </p:nvPicPr>
        <p:blipFill>
          <a:blip r:embed="rId2"/>
          <a:stretch>
            <a:fillRect/>
          </a:stretch>
        </p:blipFill>
        <p:spPr>
          <a:xfrm>
            <a:off x="4178808" y="1488194"/>
            <a:ext cx="4275218" cy="4475972"/>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a:t>
            </a:r>
            <a:r>
              <a:rPr lang="en-US" sz="1500" b="1" i="1" dirty="0">
                <a:solidFill>
                  <a:srgbClr val="0B1F33"/>
                </a:solidFill>
                <a:highlight>
                  <a:srgbClr val="FFFF00"/>
                </a:highlight>
              </a:rPr>
              <a:t>Formal Security Assurance and Empirical Validation</a:t>
            </a:r>
            <a:endParaRPr lang="en-US" sz="1500" dirty="0"/>
          </a:p>
        </p:txBody>
      </p:sp>
      <p:sp>
        <p:nvSpPr>
          <p:cNvPr id="5" name="status chip"/>
          <p:cNvSpPr/>
          <p:nvPr/>
        </p:nvSpPr>
        <p:spPr>
          <a:xfrm>
            <a:off x="548640" y="16916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6916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4206240" y="960120"/>
            <a:ext cx="7498080" cy="160020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a:t>
            </a:r>
            <a:r>
              <a:rPr lang="en-US" sz="1300" dirty="0">
                <a:solidFill>
                  <a:srgbClr val="0B1F33"/>
                </a:solidFill>
                <a:highlight>
                  <a:srgbClr val="FFFF00"/>
                </a:highlight>
              </a:rPr>
              <a:t>Done: 46 automated tests, including thirteen attack scenarios A1 to A13.</a:t>
            </a:r>
            <a:endParaRPr lang="en-US" sz="1300" dirty="0"/>
          </a:p>
          <a:p>
            <a:pPr marL="342900" indent="-342900">
              <a:spcAft>
                <a:spcPts val="1000"/>
              </a:spcAft>
              <a:buSzPct val="100000"/>
              <a:buChar char="•"/>
            </a:pPr>
            <a:r>
              <a:rPr lang="en-US" sz="1300" dirty="0">
                <a:solidFill>
                  <a:srgbClr val="FFFFFF"/>
                </a:solidFill>
              </a:rPr>
              <a:t>Done: on-chain cost, confirmation latency and processing time measured.</a:t>
            </a:r>
            <a:endParaRPr lang="en-US" sz="1300" dirty="0"/>
          </a:p>
          <a:p>
            <a:pPr marL="342900" indent="-342900">
              <a:spcAft>
                <a:spcPts val="1000"/>
              </a:spcAft>
              <a:buSzPct val="100000"/>
              <a:buChar char="•"/>
            </a:pPr>
            <a:r>
              <a:rPr lang="en-US" sz="1300" dirty="0">
                <a:solidFill>
                  <a:srgbClr val="FFFFFF"/>
                </a:solidFill>
              </a:rPr>
              <a:t>Next stage: formal proofs or model checking of the security properties, and a larger evaluation under load.</a:t>
            </a:r>
            <a:endParaRPr lang="en-US" sz="1300" dirty="0"/>
          </a:p>
        </p:txBody>
      </p:sp>
      <p:sp>
        <p:nvSpPr>
          <p:cNvPr id="8" name="ALG6 panel"/>
          <p:cNvSpPr/>
          <p:nvPr/>
        </p:nvSpPr>
        <p:spPr>
          <a:xfrm>
            <a:off x="900247" y="2697480"/>
            <a:ext cx="5331825" cy="374904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yellow/ALG6.png">    </p:cNvPr>
          <p:cNvPicPr>
            <a:picLocks noChangeAspect="1"/>
          </p:cNvPicPr>
          <p:nvPr/>
        </p:nvPicPr>
        <p:blipFill>
          <a:blip r:embed="rId1"/>
          <a:stretch>
            <a:fillRect/>
          </a:stretch>
        </p:blipFill>
        <p:spPr>
          <a:xfrm>
            <a:off x="1028860" y="2807208"/>
            <a:ext cx="5074600" cy="3529584"/>
          </a:xfrm>
          <a:prstGeom prst="rect">
            <a:avLst/>
          </a:prstGeom>
        </p:spPr>
      </p:pic>
      <p:sp>
        <p:nvSpPr>
          <p:cNvPr id="10" name="F16 panel"/>
          <p:cNvSpPr/>
          <p:nvPr/>
        </p:nvSpPr>
        <p:spPr>
          <a:xfrm>
            <a:off x="7267708" y="2697480"/>
            <a:ext cx="3844023" cy="374904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16" descr="/tmp/deck/img/yellow/F16.png">    </p:cNvPr>
          <p:cNvPicPr>
            <a:picLocks noChangeAspect="1"/>
          </p:cNvPicPr>
          <p:nvPr/>
        </p:nvPicPr>
        <p:blipFill>
          <a:blip r:embed="rId2"/>
          <a:stretch>
            <a:fillRect/>
          </a:stretch>
        </p:blipFill>
        <p:spPr>
          <a:xfrm>
            <a:off x="7377436" y="2807208"/>
            <a:ext cx="3624567" cy="35295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a:t>
            </a:r>
            <a:r>
              <a:rPr lang="en-US" sz="3000" b="1" dirty="0">
                <a:solidFill>
                  <a:srgbClr val="0B1F33"/>
                </a:solidFill>
                <a:highlight>
                  <a:srgbClr val="FFFF00"/>
                </a:highlight>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yellow/F27x.png">    </p:cNvPr>
          <p:cNvPicPr>
            <a:picLocks noChangeAspect="1"/>
          </p:cNvPicPr>
          <p:nvPr/>
        </p:nvPicPr>
        <p:blipFill>
          <a:blip r:embed="rId1"/>
          <a:stretch>
            <a:fillRect/>
          </a:stretch>
        </p:blipFill>
        <p:spPr>
          <a:xfrm>
            <a:off x="3008376" y="1354535"/>
            <a:ext cx="6181344" cy="4148929"/>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yellow/F43.png">    </p:cNvPr>
          <p:cNvPicPr>
            <a:picLocks noChangeAspect="1"/>
          </p:cNvPicPr>
          <p:nvPr/>
        </p:nvPicPr>
        <p:blipFill>
          <a:blip r:embed="rId1"/>
          <a:stretch>
            <a:fillRect/>
          </a:stretch>
        </p:blipFill>
        <p:spPr>
          <a:xfrm>
            <a:off x="759592" y="1207008"/>
            <a:ext cx="6344655" cy="5193792"/>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
            </a:r>
            <a:r>
              <a:rPr lang="en-US" sz="1800" dirty="0">
                <a:solidFill>
                  <a:srgbClr val="0B1F33"/>
                </a:solidFill>
                <a:highlight>
                  <a:srgbClr val="FFFF00"/>
                </a:highlight>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a:t>
            </a:r>
            <a:r>
              <a:rPr lang="en-US" sz="4800" b="1" dirty="0">
                <a:solidFill>
                  <a:srgbClr val="0B1F33"/>
                </a:solidFill>
                <a:highlight>
                  <a:srgbClr val="FFFF00"/>
                </a:highlight>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a:t>
                      </a:r>
                      <a:r>
                        <a:rPr lang="en-US" sz="1300" dirty="0">
                          <a:solidFill>
                            <a:srgbClr val="0B1F33"/>
                          </a:solidFill>
                          <a:highlight>
                            <a:srgbClr val="FFFF00"/>
                          </a:highlight>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t>
                      </a:r>
                      <a:r>
                        <a:rPr lang="en-US" sz="1100" b="1" dirty="0">
                          <a:solidFill>
                            <a:srgbClr val="0B1F33"/>
                          </a:solidFill>
                          <a:highlight>
                            <a:srgbClr val="FFFF00"/>
                          </a:highlight>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a:t>
                      </a:r>
                      <a:r>
                        <a:rPr lang="en-US" sz="1100" dirty="0">
                          <a:solidFill>
                            <a:srgbClr val="0B1F33"/>
                          </a:solidFill>
                          <a:highlight>
                            <a:srgbClr val="FFFF00"/>
                          </a:highlight>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yellow/F42.png">    </p:cNvPr>
          <p:cNvPicPr>
            <a:picLocks noChangeAspect="1"/>
          </p:cNvPicPr>
          <p:nvPr/>
        </p:nvPicPr>
        <p:blipFill>
          <a:blip r:embed="rId1"/>
          <a:stretch>
            <a:fillRect/>
          </a:stretch>
        </p:blipFill>
        <p:spPr>
          <a:xfrm>
            <a:off x="6944730" y="1389888"/>
            <a:ext cx="4444261" cy="2532888"/>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a:t>
            </a:r>
            <a:r>
              <a:rPr lang="en-US" sz="1200" i="1" dirty="0">
                <a:solidFill>
                  <a:srgbClr val="0B1F33"/>
                </a:solidFill>
                <a:highlight>
                  <a:srgbClr val="FFFF00"/>
                </a:highlight>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t>
                      </a:r>
                      <a:r>
                        <a:rPr lang="en-US" sz="1400" dirty="0">
                          <a:solidFill>
                            <a:srgbClr val="0B1F33"/>
                          </a:solidFill>
                          <a:highlight>
                            <a:srgbClr val="FFFF00"/>
                          </a:highlight>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highlight>
                            <a:srgbClr val="FFFF00"/>
                          </a:highlight>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r>
                        <a:rPr lang="en-US" sz="1500" dirty="0">
                          <a:solidFill>
                            <a:srgbClr val="0B1F33"/>
                          </a:solidFill>
                          <a:highlight>
                            <a:srgbClr val="FFFF00"/>
                          </a:highlight>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highlight>
                  <a:srgbClr val="FFFF00"/>
                </a:highlight>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a:t>
            </a:r>
            <a:r>
              <a:rPr lang="en-US" sz="1600" dirty="0">
                <a:solidFill>
                  <a:srgbClr val="0B1F33"/>
                </a:solidFill>
                <a:highlight>
                  <a:srgbClr val="FFFF00"/>
                </a:highlight>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0B1F33"/>
                </a:solidFill>
                <a:highlight>
                  <a:srgbClr val="FFFF00"/>
                </a:highlight>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2026-10-12T09:40:16Z</dcterms:created>
  <dcterms:modified xsi:type="dcterms:W3CDTF">2026-10-12T09:40:16Z</dcterms:modified>
</cp:coreProperties>
</file>
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35d5337-f9e6-79dd-05bf-248f9a8911b0}">
          <p14:sldIdLst>
            <p14:sldId id="256"/>
            <p14:sldId id="257"/>
          </p14:sldIdLst>
        </p14:section>
        <p14:section name="The Problem" id="{1a1e099c-5bb4-a912-21cf-8f3c2620c5af}">
          <p14:sldIdLst>
            <p14:sldId id="258"/>
            <p14:sldId id="259"/>
          </p14:sldIdLst>
        </p14:section>
        <p14:section name="Literature Review" id="{002b53a9-1c91-f940-80eb-3c3ed7de9a08}">
          <p14:sldIdLst>
            <p14:sldId id="260"/>
            <p14:sldId id="261"/>
          </p14:sldIdLst>
        </p14:section>
        <p14:section name="Gaps, Questions and Objectives" id="{71465313-0b08-8ddf-0ba5-9428cd168f40}">
          <p14:sldIdLst>
            <p14:sldId id="262"/>
            <p14:sldId id="263"/>
            <p14:sldId id="264"/>
            <p14:sldId id="265"/>
          </p14:sldIdLst>
        </p14:section>
        <p14:section name="The Framework" id="{38be1ffc-5e30-75c2-6296-beca4ebad94b}">
          <p14:sldIdLst>
            <p14:sldId id="266"/>
            <p14:sldId id="267"/>
            <p14:sldId id="268"/>
            <p14:sldId id="269"/>
            <p14:sldId id="270"/>
            <p14:sldId id="271"/>
            <p14:sldId id="272"/>
            <p14:sldId id="273"/>
          </p14:sldIdLst>
        </p14:section>
        <p14:section name="Validation and Evaluation" id="{417b73e8-9dfd-a4d1-b429-fbe9a4366aa8}">
          <p14:sldIdLst>
            <p14:sldId id="274"/>
            <p14:sldId id="275"/>
            <p14:sldId id="276"/>
          </p14:sldIdLst>
        </p14:section>
        <p14:section name="Contribution" id="{dc28e49f-4e28-6e2b-2193-d14a098d1e06}">
          <p14:sldIdLst>
            <p14:sldId id="277"/>
            <p14:sldId id="278"/>
            <p14:sldId id="279"/>
          </p14:sldIdLst>
        </p14:section>
        <p14:section name="What is Still Open" id="{7898541d-5c8a-1892-d13e-842669bea911}">
          <p14:sldIdLst>
            <p14:sldId id="280"/>
          </p14:sldIdLst>
        </p14:section>
        <p14:section name="Research Plan" id="{9888c6f8-65dc-577d-946e-8f57b9b8bb08}">
          <p14:sldIdLst>
            <p14:sldId id="281"/>
            <p14:sldId id="282"/>
          </p14:sldIdLst>
        </p14:section>
        <p14:section name="Demo: The HALAH Prototype" id="{c921ca2c-2516-13ff-fd4d-2ac2c1616177}">
          <p14:sldIdLst>
            <p14:sldId id="283"/>
            <p14:sldId id="284"/>
            <p14:sldId id="285"/>
            <p14:sldId id="286"/>
            <p14:sldId id="287"/>
            <p14:sldId id="288"/>
            <p14:sldId id="289"/>
            <p14:sldId id="290"/>
            <p14:sldId id="291"/>
            <p14:sldId id="292"/>
            <p14:sldId id="293"/>
          </p14:sldIdLst>
        </p14:section>
        <p14:section name="References" id="{9ab9dee5-7d1e-38ca-4233-694c1499da62}">
          <p14:sldIdLst>
            <p14:sldId id="294"/>
            <p14:sldId id="295"/>
            <p14:sldId id="296"/>
            <p14:sldId id="297"/>
            <p14:sldId id="298"/>
            <p14:sldId id="299"/>
          </p14:sldIdLst>
        </p14:section>
        <p14:section name="Thank You" id="{c0f7904e-e957-cf65-2930-e81c6b34f36e}">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six pages and holds every source cited in my report. It is numbered from 1 to 72, and the numbers match the citations in the report.
This first page, references 1 to 12, gives the background on trust, privacy and data sharing. For example, Nguyen and colleagues, reference 3, give a survey of blockchain-based trustworthy data sharing. Welzel and colleagues, reference 5, look at secure, self-determined health data sharing and consent management. Other sources here deal with informed consent, privacy in healthcare and access control.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of references, numbers 13 to 24.
These sources are mostly about blockchain for health records, decentralised identity and consent management. Mazzocca and colleagues, reference 16, give a survey of decentralised identifiers and verifiable credentials. My framework uses these ideas to check identity and authority.
References 22 and 23 are close to my own problem, where consent needs more than one party. Wu and Zhang, reference 22, present HealthDID, a multi-party record sharing system. Madine and colleagues, reference 23, propose fully decentralised multi-party consent management for patient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references 25 to 36.
Here you can see work on blockchain access control in healthcare, electronic informed consent, and trust and consent in FHIR systems.
Two sources play a special role in my report. Ménétrey and colleagues, reference 33, explain attestation for trusted execution environments. I mention this as background and as a direction for future work. Walonoski and colleagues, reference 35, describe Synthea, a tool that generates synthetic patients and health records. I use synthetic records from Synthea to build the consent workflows in my prototype, so no real patient data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references 37 to 48.
It includes two large surveys of blockchain in healthcare. It also has several papers on decentralised identity, such as DP-DID and FutureDID.
The key source for my review method is reference 46. This is the PRISMA 2020 statement by Page and colleagues. It is the guideline I followed to report the systematic literature review.
References 47 and 48 are consent models for blockchain-based health data sharing. Reference 48 is ConsentChain, a dynamic consent design for genomic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references 49 to 60.
All of these are recent studies, from 2023 to 2026. They cover fine-grained access control for medical records, threshold cryptography, and delegated authorisation in healthcare.
Some deal with special cases. Reference 52 looks at minors and guardians using a national patient portal. Reference 54 looks at data for unconscious patients. These cases matter for my work, because sometimes other people, such as guardians, must approve access for a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of references, numbers 61 to 72.
The last items are the technical standards and methods I use in the HALAH prototype. Reference 66 is EIP-712, the standard for signing typed data. Guardians use it to sign their approvals. Reference 69 is Groth's paper behind the Groth16 zero-knowledge proof. Reference 70 is the Poseidon hash function, which the proof uses.
References 71 and 72 are ERC-721 and ERC-5484. My consent token is an ERC-721 token that follows ERC-5484. It is soulbound, which means it cannot be moved from one account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attack scenarios, A1 to A12"/>
          <p:cNvSpPr txBox="1"/>
          <p:nvPr/>
        </p:nvSpPr>
        <p:spPr>
          <a:xfrm>
            <a:off x="7589520" y="123444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7589520" y="210312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p:cNvSpPr txBox="1"/>
          <p:nvPr/>
        </p:nvSpPr>
        <p:spPr>
          <a:xfrm>
            <a:off x="7589520" y="297180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p:cNvSpPr txBox="1"/>
          <p:nvPr/>
        </p:nvSpPr>
        <p:spPr>
          <a:xfrm>
            <a:off x="7589520" y="3840480"/>
            <a:ext cx="393192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a:t>
            </a:r>
            <a:endParaRPr lang="en-US" sz="1600" dirty="0"/>
          </a:p>
        </p:txBody>
      </p:sp>
      <p:sp>
        <p:nvSpPr>
          <p:cNvPr id="10" name="stat automated tests pass"/>
          <p:cNvSpPr txBox="1"/>
          <p:nvPr/>
        </p:nvSpPr>
        <p:spPr>
          <a:xfrm>
            <a:off x="7589520" y="470916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7589520" y="557784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Synthetic records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pages 1–2,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9(1):491,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2026-10-06T12:40:22Z</dcterms:created>
  <dcterms:modified xsi:type="dcterms:W3CDTF">2026-10-06T12:40:22Z</dcterms:modified>
</cp:coreProperties>
</file>
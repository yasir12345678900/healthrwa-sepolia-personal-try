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8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415"/>
            <p14:sldId id="305"/>
            <p14:sldId id="306"/>
            <p14:sldId id="309"/>
            <p14:sldId id="414"/>
            <p14:sldId id="312"/>
            <p14:sldId id="313"/>
          </p14:sldIdLst>
        </p14:section>
        <p14:section name="Gap, Questions and Objectives" id="{ACB741F8-7344-E54E-3520-6B498F895C17}">
          <p14:sldIdLst>
            <p14:sldId id="262"/>
            <p14:sldId id="302"/>
            <p14:sldId id="263"/>
            <p14:sldId id="26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8"/>
          </p14:sldIdLst>
        </p14:section>
        <p14:section name="Demo: The HALAH Prototype" id="{611104C4-4282-3E95-1D48-D00FE3F4F3EA}">
          <p14:sldIdLst>
            <p14:sldId id="413"/>
            <p14:sldId id="293"/>
            <p14:sldId id="294"/>
            <p14:sldId id="295"/>
            <p14:sldId id="296"/>
            <p14:sldId id="297"/>
          </p14:sldIdLst>
        </p14:section>
        <p14:section name="Validation and Evaluation" id="{38214D88-01AF-845D-D65A-C9A4BC2C85DF}">
          <p14:sldIdLst>
            <p14:sldId id="280"/>
            <p14:sldId id="281"/>
            <p14:sldId id="282"/>
          </p14:sldIdLst>
        </p14:section>
        <p14:section name="Contribution" id="{EB11EB97-8735-E73D-577A-B2BB861A5EB4}">
          <p14:sldIdLst>
            <p14:sldId id="284"/>
            <p14:sldId id="416"/>
            <p14:sldId id="412"/>
            <p14:sldId id="411"/>
          </p14:sldIdLst>
        </p14:section>
        <p14:section name="Research Plan" id="{1F39EFB8-3D03-66B5-86E7-768BA670C7C2}">
          <p14:sldIdLst>
            <p14:sldId id="289"/>
            <p14:sldId id="290"/>
            <p14:sldId id="291"/>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8954" autoAdjust="0"/>
  </p:normalViewPr>
  <p:slideViewPr>
    <p:cSldViewPr snapToGrid="0" snapToObjects="1">
      <p:cViewPr varScale="1">
        <p:scale>
          <a:sx n="65" d="100"/>
          <a:sy n="65" d="100"/>
        </p:scale>
        <p:origin x="1128" y="48"/>
      </p:cViewPr>
      <p:guideLst/>
    </p:cSldViewPr>
  </p:slideViewPr>
  <p:notesTextViewPr>
    <p:cViewPr>
      <p:scale>
        <a:sx n="125" d="100"/>
        <a:sy n="125" d="100"/>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7" Type="http://schemas.openxmlformats.org/officeDocument/2006/relationships/slide" Target="slides/slide1.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comes directly from the audit ledger. The first five rows are real requests from 24 September. All five passed every check, so access was granted.</a:t>
            </a:r>
          </a:p>
          <a:p>
            <a:r>
              <a:t>After the revocation of 24 September, the request was refused, but at that time the refusal was not logged. The revocation is public on Sepolia.</a:t>
            </a:r>
          </a:p>
          <a:p>
            <a:r>
              <a:t>The prototype now logs these refusals too. The last two rows are from a local test run on 11 October. In the first, a doctor who is not named in the consent asked for the data, so VI failed. In the second, the patient revoked the consent, so VA and VL failed. Both decisions were DENY, and both refusals were recorded.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15/10/2026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extLst>
              <p:ext uri="{D42A27DB-BD31-4B8C-83A1-F6EECF244321}">
                <p14:modId xmlns:p14="http://schemas.microsoft.com/office/powerpoint/2010/main" val="678560686"/>
              </p:ext>
            </p:extLst>
          </p:nvPr>
        </p:nvGraphicFramePr>
        <p:xfrm>
          <a:off x="548640" y="1234440"/>
          <a:ext cx="11064240" cy="3657600"/>
        </p:xfrm>
        <a:graphic>
          <a:graphicData uri="http://schemas.openxmlformats.org/drawingml/2006/table">
            <a:tbl>
              <a:tblPr/>
              <a:tblGrid>
                <a:gridCol w="1987480">
                  <a:extLst>
                    <a:ext uri="{9D8B030D-6E8A-4147-A177-3AD203B41FA5}">
                      <a16:colId xmlns:a16="http://schemas.microsoft.com/office/drawing/2014/main" val="20000"/>
                    </a:ext>
                  </a:extLst>
                </a:gridCol>
                <a:gridCol w="1873320">
                  <a:extLst>
                    <a:ext uri="{9D8B030D-6E8A-4147-A177-3AD203B41FA5}">
                      <a16:colId xmlns:a16="http://schemas.microsoft.com/office/drawing/2014/main" val="20001"/>
                    </a:ext>
                  </a:extLst>
                </a:gridCol>
                <a:gridCol w="924560">
                  <a:extLst>
                    <a:ext uri="{9D8B030D-6E8A-4147-A177-3AD203B41FA5}">
                      <a16:colId xmlns:a16="http://schemas.microsoft.com/office/drawing/2014/main" val="20002"/>
                    </a:ext>
                  </a:extLst>
                </a:gridCol>
                <a:gridCol w="924560">
                  <a:extLst>
                    <a:ext uri="{9D8B030D-6E8A-4147-A177-3AD203B41FA5}">
                      <a16:colId xmlns:a16="http://schemas.microsoft.com/office/drawing/2014/main" val="20003"/>
                    </a:ext>
                  </a:extLst>
                </a:gridCol>
                <a:gridCol w="924560">
                  <a:extLst>
                    <a:ext uri="{9D8B030D-6E8A-4147-A177-3AD203B41FA5}">
                      <a16:colId xmlns:a16="http://schemas.microsoft.com/office/drawing/2014/main" val="20004"/>
                    </a:ext>
                  </a:extLst>
                </a:gridCol>
                <a:gridCol w="924560">
                  <a:extLst>
                    <a:ext uri="{9D8B030D-6E8A-4147-A177-3AD203B41FA5}">
                      <a16:colId xmlns:a16="http://schemas.microsoft.com/office/drawing/2014/main" val="20005"/>
                    </a:ext>
                  </a:extLst>
                </a:gridCol>
                <a:gridCol w="92456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gridCol w="1336040">
                  <a:extLst>
                    <a:ext uri="{9D8B030D-6E8A-4147-A177-3AD203B41FA5}">
                      <a16:colId xmlns:a16="http://schemas.microsoft.com/office/drawing/2014/main" val="20008"/>
                    </a:ext>
                  </a:extLst>
                </a:gridCol>
              </a:tblGrid>
              <a:tr h="457200">
                <a:tc>
                  <a:txBody>
                    <a:bodyPr/>
                    <a:lstStyle/>
                    <a:p>
                      <a:pPr marL="0" indent="0" algn="ctr">
                        <a:buNone/>
                      </a:pPr>
                      <a:r>
                        <a:rPr lang="en-US" sz="1400" b="1" dirty="0">
                          <a:solidFill>
                            <a:srgbClr val="FFFFFF"/>
                          </a:solidFill>
                        </a:rPr>
                        <a:t>Date and time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VI</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VL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Decision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rgbClr val="0B1F33"/>
                          </a:solidFill>
                        </a:rPr>
                        <a:t>24 Sep 09:51:36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rgbClr val="0B1F33"/>
                          </a:solidFill>
                        </a:rPr>
                        <a:t>24 Sep 09:51:39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f050c29a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rgbClr val="0B1F33"/>
                          </a:solidFill>
                        </a:rPr>
                        <a:t>24 Sep 11:02:52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rgbClr val="0B1F33"/>
                          </a:solidFill>
                        </a:rPr>
                        <a:t>24 Sep 11:04:16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400" b="1" dirty="0">
                          <a:solidFill>
                            <a:srgbClr val="0B1F33"/>
                          </a:solidFill>
                        </a:rPr>
                        <a:t>24 Sep 11:04:26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04da25f5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400" b="1" dirty="0">
                          <a:solidFill>
                            <a:srgbClr val="0B1F33"/>
                          </a:solidFill>
                        </a:rPr>
                        <a:t>11 Oct 17:42:04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400" b="1" dirty="0">
                          <a:solidFill>
                            <a:srgbClr val="0B1F33"/>
                          </a:solidFill>
                        </a:rPr>
                        <a:t>11 Oct 17:42:39</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B1F33"/>
                          </a:solidFill>
                        </a:rPr>
                        <a:t>18ab9b62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2E7D32"/>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FAIL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C62828"/>
                          </a:solidFill>
                        </a:rPr>
                        <a:t>DENIED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504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(24 September): all five checks PASS, decision ALLOW, access GRANTED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revocation is public on Sepolia, block 11,771,307.</a:t>
            </a:r>
            <a:endParaRPr lang="en-US" sz="1400" dirty="0"/>
          </a:p>
          <a:p>
            <a:pPr marL="342900" indent="-342900">
              <a:spcAft>
                <a:spcPts val="1000"/>
              </a:spcAft>
              <a:buSzPct val="100000"/>
              <a:buChar char="•"/>
            </a:pPr>
            <a:r>
              <a:rPr lang="en-US" sz="1400" dirty="0">
                <a:solidFill>
                  <a:srgbClr val="FFFFFF"/>
                </a:solidFill>
              </a:rPr>
              <a:t>The prototype now logs every refusal. Local test run, 11 October 2026: a doctor not named in the consent fails VI, and the request after revocation fails VA and VL. Both are DENY.</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FFFFFF"/>
                </a:solidFill>
              </a:defRPr>
            </a:lvl1pPr>
          </a:lstStyle>
          <a:p>
            <a:pPr algn="r"/>
            <a:fld id="{F7021451-1387-4CA6-816F-3879F97B5CBC}" type="slidenum">
              <a:rPr lang="en-US" b="0"/>
              <a:t>36</a:t>
            </a:fld>
            <a:endParaRPr lang="en-US"/>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2446</TotalTime>
  <Words>11265</Words>
  <Application>Microsoft Office PowerPoint</Application>
  <PresentationFormat>Widescreen</PresentationFormat>
  <Paragraphs>1049</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Arial</vt:lpstr>
      <vt:lpstr>Calibri</vt:lpstr>
      <vt:lpstr>Cambria</vt:lpstr>
      <vt:lpstr>Trust Consent</vt:lpstr>
      <vt:lpstr>PowerPoint Presentation</vt:lpstr>
      <vt:lpstr>OUTLINE</vt:lpstr>
      <vt:lpstr>THE RESEARCH PROBLEM</vt:lpstr>
      <vt:lpstr>THE KEY IDEA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vt:lpstr>
      <vt:lpstr>MAIN RESEARCH QUESTION</vt:lpstr>
      <vt:lpstr>SUB-RESEARCH QUESTIONS</vt:lpstr>
      <vt:lpstr>RESEARCH OBJECTIVES</vt:lpstr>
      <vt:lpstr>Research Methodology </vt:lpstr>
      <vt:lpstr>FRAMEWORK ARCHITECTURE</vt:lpstr>
      <vt:lpstr>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vt:lpstr>
      <vt:lpstr>Proposed solution for objective 6</vt:lpstr>
      <vt:lpstr>THE HALAH PROTOTYPE</vt:lpstr>
      <vt:lpstr>DEMO 1: THE PATIENT CREATES THE CONSENT</vt:lpstr>
      <vt:lpstr>DEMO 2: THE FIRST GUARDIAN APPROVES</vt:lpstr>
      <vt:lpstr>DEMO 3: SECOND APPROVAL, TOKEN MINTED</vt:lpstr>
      <vt:lpstr>DEMO 4: THE DOCTOR IS ALLOWED</vt:lpstr>
      <vt:lpstr>DEMO 5: ONLY THE AUTHORISED RECORDS</vt:lpstr>
      <vt:lpstr>VALIDATION</vt:lpstr>
      <vt:lpstr>VALIDATION: THE RECORDED DECISIONS</vt:lpstr>
      <vt:lpstr>VALIDATION: ATTACK SCENARIOS</vt:lpstr>
      <vt:lpstr>Traditional EHR vs. HALAH Framework</vt:lpstr>
      <vt:lpstr>DATASET OVERVIEW</vt:lpstr>
      <vt:lpstr>RESEARCH CONTRIBUTIONS </vt:lpstr>
      <vt:lpstr>RESEARCH CONTRIBUTIONS </vt:lpstr>
      <vt:lpstr>RESEARCH PUBLICATIONS</vt:lpstr>
      <vt:lpstr>RESEARCH PLAN</vt:lpstr>
      <vt:lpstr>RESEARCH TIMELINE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30</cp:revision>
  <dcterms:created xsi:type="dcterms:W3CDTF">2026-10-12T13:53:28Z</dcterms:created>
  <dcterms:modified xsi:type="dcterms:W3CDTF">2026-10-15T06:50:59Z</dcterms:modified>
</cp:coreProperties>
</file>
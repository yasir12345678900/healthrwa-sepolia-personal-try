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127d0bf1-cb08-974e-a58c-e86d5309e57d}">
          <p14:sldIdLst>
            <p14:sldId id="256"/>
            <p14:sldId id="257"/>
          </p14:sldIdLst>
        </p14:section>
        <p14:section name="The Problem" id="{82620929-fe33-cc7f-c8f3-876edd3dd98c}">
          <p14:sldIdLst>
            <p14:sldId id="258"/>
            <p14:sldId id="259"/>
          </p14:sldIdLst>
        </p14:section>
        <p14:section name="Literature Review" id="{6cdb1fd7-f8bd-0908-0df8-27f01d40ac88}">
          <p14:sldIdLst>
            <p14:sldId id="260"/>
            <p14:sldId id="261"/>
          </p14:sldIdLst>
        </p14:section>
        <p14:section name="Gaps, Questions and Objectives" id="{bf9dbce5-78e8-9974-7289-bff089e78221}">
          <p14:sldIdLst>
            <p14:sldId id="262"/>
            <p14:sldId id="263"/>
            <p14:sldId id="264"/>
            <p14:sldId id="265"/>
          </p14:sldIdLst>
        </p14:section>
        <p14:section name="The Framework" id="{01231e18-26c1-1cf0-8c48-57e00d72d520}">
          <p14:sldIdLst>
            <p14:sldId id="266"/>
            <p14:sldId id="267"/>
            <p14:sldId id="268"/>
            <p14:sldId id="269"/>
            <p14:sldId id="270"/>
            <p14:sldId id="271"/>
            <p14:sldId id="272"/>
            <p14:sldId id="273"/>
          </p14:sldIdLst>
        </p14:section>
        <p14:section name="Validation and Evaluation" id="{cb1a92bb-3a73-3d21-79ad-18523fdaccc4}">
          <p14:sldIdLst>
            <p14:sldId id="274"/>
            <p14:sldId id="275"/>
            <p14:sldId id="276"/>
            <p14:sldId id="277"/>
          </p14:sldIdLst>
        </p14:section>
        <p14:section name="Contribution" id="{0c632849-83c2-c1b9-7344-4a42de47eae3}">
          <p14:sldIdLst>
            <p14:sldId id="278"/>
            <p14:sldId id="279"/>
            <p14:sldId id="280"/>
          </p14:sldIdLst>
        </p14:section>
        <p14:section name="What is Still Open" id="{070f2c6f-1e9b-0fab-7017-60f03431e3d4}">
          <p14:sldIdLst>
            <p14:sldId id="281"/>
          </p14:sldIdLst>
        </p14:section>
        <p14:section name="Research Plan" id="{58772ed8-66fa-90aa-a28d-3b2b9005a2a7}">
          <p14:sldIdLst>
            <p14:sldId id="282"/>
            <p14:sldId id="283"/>
          </p14:sldIdLst>
        </p14:section>
        <p14:section name="Demo: The HALAH Prototype" id="{f4a3e18a-b312-ce01-a0b8-215101d3d19e}">
          <p14:sldIdLst>
            <p14:sldId id="284"/>
            <p14:sldId id="285"/>
            <p14:sldId id="286"/>
            <p14:sldId id="287"/>
            <p14:sldId id="288"/>
            <p14:sldId id="289"/>
            <p14:sldId id="290"/>
            <p14:sldId id="291"/>
            <p14:sldId id="292"/>
            <p14:sldId id="293"/>
            <p14:sldId id="294"/>
          </p14:sldIdLst>
        </p14:section>
        <p14:section name="References" id="{a9b83043-e558-531b-7df2-066516e070e8}">
          <p14:sldIdLst>
            <p14:sldId id="295"/>
            <p14:sldId id="296"/>
            <p14:sldId id="297"/>
            <p14:sldId id="298"/>
            <p14:sldId id="299"/>
            <p14:sldId id="300"/>
            <p14:sldId id="301"/>
          </p14:sldIdLst>
        </p14:section>
        <p14:section name="Thank You" id="{5649d682-f9e1-700e-b5c5-59931336d542}">
          <p14:sldIdLst>
            <p14:sldId id="30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everyone. My name is Yasir Alyoubi. My principal supervisor is Professor Farookh Hussain, and my co-supervisor is Dr Firas Al-Doghman. This is my candidature reassessment. My research asks one simple question. When a doctor asks for a patient's data, how can the system be sure that this request is really allowed? Not just who is asking. Also, did the patient and the guardians agree? Is the request inside the agreed data? And is the consent still valid today? I will show you the problem, what the literature says, my framework, the working prototype, and the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for my talk. First, the problem. Then the literature review. Then the gaps, the questions and the objectives. After that, the framework and its six steps. Then the validation and the evaluation results. Then I talk about what is still open and the research plan. At the end, I show a demonstration of the prototype through the slides: one real consent, from the day it is created to the day it is revoked.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start with the problem. Health data is very sensitive. One decision to share it can involve many people: the patient, one or more guardians, the doctor, and the hospital. Today, consent is usually just a record that is saved somewhere. That record says permission was given. But it does not check anything when someone asks for the data. A valid login does not mean you have the right to see this patient's data. And even with approval, a request can ask for more data than the patient allowed, or it can come after the consent has expired or was cancelled. So the real problem is this: there is no single trusted decision that checks all of these things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my answer in simple words. Consent should not be a record that we store. It should be an object that the system checks every time. I call this object C, and it has six parts. I is identity: who is involved. A is authority: which guardians must approve, and how many. P is policy: the purpose and the data that was agreed. T is time: when the consent starts and when it ends. L is jurisdiction: where the request may come from. And E is evidence: the signatures, the token, and whether the consent was cancelled. At every request, the system checks all six parts. If one part fails, the answer is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I did the literature review. I followed the PRISMA 2020 method. Before I started screening, I wrote a protocol that fixed the questions, the databases, one search query, the criteria and the quality items. I searched seven databases. They gave me 9,256 records. After I removed duplicates, 6,039 were screened by title, 3,129 by abstract, and 1,800 full texts were put in order of priority. At the reporting checkpoint, 64 full texts were assessed and 47 met the criteria. From these, I analysed 25 primary studies in depth: 23 core studies and 2 supporting studies.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sums up the review. The good news: every requirement is covered by some study. The problem: no study puts all the conditions together in one access decision. I call this the conjunction gap. And no study proves or tests the whole decision. Formal proofs exist in only 4 of the 25 studies, and they cover only a small part. I call this the assurance gap. These two gaps are what my research fills.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25 studies, I found six gaps. One gap for each requirement. Gap one: consent is only a record. Gap two: identity does not prove authority. Gap three: multi-party approval is not a condition of every access. Gap four: purpose and scope are rarely checked together with identity and approval. Gap five: time and revocation are often checked only once, at registration, not at each request. Gap six: nobody proves or tests the whole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this is my main research question. How can a trust-oriented computing framework establish and enforce trustworthy multi-party consent for decentralised healthcare data sharing, under identity, authority and policy constraints? It has six sub-questions, one for each gap. How to model consent. How to check identity and authority. How several guardians can approve together. How purpose and scope are checked. How time and lifecycle are checked. And how to prove and test the security.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question has one objective. RO1 to RO4 are done, and they are validated with the prototype. RO5 is time and lifecycle. It is in progress. The validity window and the revocation already work. Consent changes, delegation and guardian changes are for the next stage. RO6 is partly completed. The automated tests, the attack tests and the measurements are done. The formal proofs are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steps I followed. Step one, I identified the problem. Step two, I did the systematic review. Step three, from the review I found the gaps and wrote the questions. Step four, I set the objectives. Step five, I designed the framework: the architecture, the consent object, and four algorithms. Step six, I built the prototype on the Sepolia test network. Step seven, I evaluated it with live scenarios, measurements and attack tests. The formal proofs are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framework uses the Model, View, Controller pattern. The View is the four screens: patient, guardian, doctor and auditor. The View never decides who gets access. Every security decision is made in the Controller. It checks identity and authority, collects the approvals, enforces the policy, and records the evidence. The Model keeps the consent, the approvals and the evidence. Health data is released only when the Controller says ALLOW.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heart of the framework. Access is allowed only when five checks are all true. VI: the identity and the authority are valid. VA: all the required guardians approved, the token exists, and the consent is not cancelled. VP: the purpose and the requested data are inside what was agreed. VT: the request is inside the validity time. VL: the jurisdiction matches. If any one check fails, the answer is DENY. In the prototype, a Groth16 zero-knowledge proof must also pass before any data is released. And every decision on an active consent is written to the audit ledger.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one. The patient creates the consent. The patient chooses the doctor, the guardians, the data modules, the start and end time, and the jurisdiction. The system checks every field. For example, an empty data scope or a bad guardian DID is rejected. Then the consent object C is built and saved as pending. Nothing goes to the blockchain yet. This is RO1, and it is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two. I separate two questions: who are you, and what may you do? The DID answers the first question. The credential answers the second. A valid identity alone never gives access. To be clear about the current state: today the prototype checks the DID format and recovers each guardian's signature. Full DID resolution and credential validation are planned for the next stage. So RO2 is done at the design level and in the prototype.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three. No single person can approve alone. Each guardian signs with an EIP-712 signature. The system recovers the signer and checks that this person is one of the listed guardians. Outsiders, replays and duplicates are not counted. In the demo, two of two guardians must sign. When both have signed, a soulbound token is minted on the Sepolia test network in the background. One honest note: in the prototype, the guardian keys are derived from the guardian DIDs. Wallet-held keys are for the next stage. RO3 is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four. A valid identity and all the approvals are still not enough. The requested data must be inside the agreed data scope. For example, if the consent allows Observation and Medication, a request that also asks for Procedure is denied. The purpose, the time and the jurisdiction are checked in the same decision. And a Groth16 proof must pass before any data is released. RO4 is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five. Time and lifecycle. What works now: the validity window is stored on-chain and checked at every request. Revocation works end to end, with an on-chain transaction. And the consent moves through a clear lifecycle. What is still open: the lifecycle transition check, consent modification, delegation, changes to the guardian set, and a formal lifecycle model. That is why RO5 is in progress.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six. Prove it and test it. The testing part is done. 36 automated tests pass, including twelve attack scenarios. I also measured the cost and the timing. The proof part is the next stage: formal proofs or model checking of the security properties, and a bigger evaluation under load. That is why RO6 is partly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Validation asks one question: does the system do what it should? I used five kinds of evidence. Valid scenarios: the correct requests were allowed. Negative scenarios: the wrong jurisdiction and the cancelled consent were refused. Attack scenarios: eleven of twelve attacks are refused after the hardening. Automated tests: all 36 pass. And an independent check: the state on the chain matches the local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taken directly from the audit ledger of 24 September. Each row is one real request, with the five checks and the decision. The first two rows and the last three rows are allowed requests: all five checks PASS, the decision is ALLOW, access is GRANTED, and the proof mode is Groth16. The row in the middle is the request from the wrong jurisdiction: VI, VA, VP and VT pass, VL fails, so the decision is DENY. One failed check is enough. The request after revocation is not in this table, because a consent that is no longer active is refused before any decision is logged; its revocation is public on Sepolia in block 11,771,307.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also attacked my own system twelve times, A1 to A12. This table shows each attack, the part of the consent it targets, and the outcome before and after the hardening on the first of October. Before the hardening, three attacks got through when the service functions were called directly: A1, a signer outside the guardian set; A3, the same guardian signing twice; and A5, an empty data scope. The interface already refused them, but the service layer did not. The hardening moved these checks into the service layer, so now they are refused on every path. After the hardening, eleven of twelve are refused. The last one, A11, changes a stored digest. The prototype does not compare that digest yet, so it is marked as differs, which is neutral, not passed. It is on the list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Evaluation asks: how fast is it, and what does it cost? The decision rule itself takes about 2 microseconds. One guardian signature takes about 11 milliseconds. The Groth16 proof is the slowest part: about 1.4 seconds to generate and about half a second to verify. Anchoring on Sepolia takes about 11.5 seconds, but it runs in the background, so nobody waits for it. A revoke uses about one sixth of the gas of a mint. The timings were measured on the first of October 2026. The gas and the anchoring times come from the five Sepolia transactions in September. These numbers are indicative.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difference in plain words. Today, a central identity provider logs you in, and a fixed permission decides. Consent is a saved record. In HALAH, every person has a DID, and identity is separate from authority. Consent is an object that is checked at every request. All the guardians must approve. Five checks and a proof run before any data is released. Time and revocation are checked every time. And every decision on an active consent is logged with the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few important points about the data. I use synthetic patient records from the Synthea 1K sample, in its CSV export. The prototype loads a subset of patients with their observations, conditions, medications and procedures. No real patient data is involved. The medical records stay off-chain. The token on Sepolia stores only pseudonymous addresses, a hash of the purpose, the validity window, a jurisdiction code and a revocation flag. Data is released only on ALLOW, and only inside the agreed scope. One known limitation: the plain-text purpose is visible in the mint transaction. I will fix this in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does this matter? On the scientific side: consent becomes an object that is checked, not stored. Multi-party approval is a condition of every access. Identity is separated from authority. And the whole decision is checked in one place and tested. On the social side: patients and guardians decide together who sees the data. No single person can approve alone. Every decision can be explained to an auditor. And medical records never go on the blockchain.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be clear about what is not done yet, because this is what the next stage is for. First, the formal proofs. The properties are tested, but not yet proved with a formal model. Second, the rest of the lifecycle: consent modification, delegation and guardian changes. Third, full DID resolution, credential validation and wallet-held guardian keys. Today it is a format check, a signature, and keys derived from the guardian DIDs. Fourth, the one open attack, A11. Fifth, a bigger evaluation under load. Sixth, the plain-text purpose in the mint transaction.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plan. Chapters one to six are done. The conference paper was submitted to BWCCA 2026 in September. The SLR journal paper is in progress. Next comes the complete evaluation, the paper on formal assurance and lifecycle trust, and the conclusion. The final assessment is planned for January 2027, and the thesis submission for March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plan as a timeline. What is completed, what is in progress, and the planned steps up to the thesis submission in March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demonstration, through the slides. HALAH means History Access Link for Authorised Healthcare. These are its parts: four screens, a soulbound token contract on the Sepolia test network, EIP-712 guardian signatures, a Groth16 proof at access time, synthetic data, and an audit ledger. In the next slides, I walk you through one real consent, from creation to revocation. What you will see covers RO1 to RO4 in full, and the parts of RO5 and RO6 that already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one. The patient creates the consent. On this screen you can see the four data modules, the two guardians, the jurisdiction AU, and the state PENDING_SIGNATURE. The system checked every field before saving. Nothing has gone to the blockchain yet. This is RO1: consent as an object the system can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two. The first guardian signs. The system takes the EIP-712 signature, finds who signed it, and confirms that this address is one of the two listed guardians. The counter shows one of two. The consent is still pending, because one approval is never enough. This is RO3.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three. The second guardian signs. Now the threshold, two of two, is reached. The system records the token locally and starts the mint on Sepolia in the background. The guardian does not wait for the blockchain. On the right, the same screen a bit later: already anchored on Sepolia, with the token number. RO3 is complete.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four. The doctor asks for the patient's data. First the proof is generated and verified. Then the five checks run. Identity and authority, VI. Approvals and token, VA. Purpose and scope, VP. Time, VT. Jurisdiction, VL. All five pass, so the answer is ALLOW. This is RO2 and RO4 together, in one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five. After ALLOW, the records are shown per module. Only the modules inside the consent scope are returned. If the doctor asked for a module that was not agreed, the request would be refused. That case is covered by attack test A4. The decision and its matrix are written to the audit ledger.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six. The same doctor repeats the request, but this time declares the jurisdiction as SA. The consent was issued for AU. Everything else passes, but VL fails. One failed check is enough: access is denied. The message tells the auditor exactly which check failed. This is the rule of RO4 in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seven. The patient cancels the consent. On the left, the system is sending the revoke transaction to Sepolia and waiting for the block confirmation. On the right, the consent is now REVOKED, with its token number. This is the working part of RO5.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eight. The doctor tries again. Now VA fails, because the consent is not active any more: its state is REVOKED. Access is refused. An expired consent is refused in the same way, through the time check VT. So a consent that was valid yesterday does not stay usable forever.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nine. Both the mint and the revoke are public transactions on Sepolia. On the left, the anchoring transaction of the consent, in block 11,771,243. On the right, the revocation, in block 11,771,307, with the decoded function revoke and token id 1. Anyone can check them. No medical data is on the 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ten, the last one. The auditor can rebuild the full life of the consent: thirteen events in order, from creation to revocation, each with its decision matrix. The dashboard shows the exported ledger: 60 events, 9 access requests and 5 on-chain anchors. And a separate tool re-checked Sepolia and found every anchored transaction in its recorded block. All checks passed. This is the working part of RO6: evidence that can be audited.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I used in the report and in this talk. They follow the UTS Harvard style, so they are listed by author name, not by number, and the names match the citations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listening. I am happy to take your questions.
Likely questions and short answers:
1. Why blockchain, if the data stays off-chain? Because it gives a shared record that cannot be changed quietly: the consent state and the revocation. No medical data is on the chain.
2. What is new? The consent object carries all the conditions. Multi-party approval is a condition of every access. And the whole decision is tested against attacks.
3. Why is RO6 only partly done? The testing is done. The formal proofs are the next stage.
4. Why Groth16? The doctor proves that they know the secret and the expiry behind the commitment stored in the consent, and that the consent has not expired, without showing them. It is the slowest part, about 1.4 seconds, and that is fine for a consent decision.
5. Why did three attacks pass before the hardening? They passed only when the service functions were called directly, not through the screens. The hardening moved the checks into the service layer, so now they are refused on every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VER-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lstStyle>
            <a:lvl1pPr algn="ctr" indent="0" marL="0">
              <a:buNone/>
              <a:defRPr lang="en-US" sz="3000" b="1" dirty="0">
                <a:solidFill>
                  <a:srgbClr val="FFFFFF"/>
                </a:solidFill>
                <a:latin typeface="Arial" pitchFamily="34" charset="0"/>
                <a:ea typeface="Arial" pitchFamily="34" charset="-122"/>
                <a:cs typeface="Arial" pitchFamily="34" charset="-120"/>
              </a:defRPr>
            </a:lvl1pPr>
          </a:lstStyle>
          <a:p>
            <a:pPr algn="ctr" indent="0" marL="0">
              <a:buNone/>
            </a:pPr>
            <a:endParaRPr lang="en-US" sz="3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2.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2.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slideLayout" Target="../slideLayouts/slideLayout2.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2.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2.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ogo card"/>
          <p:cNvSpPr/>
          <p:nvPr/>
        </p:nvSpPr>
        <p:spPr>
          <a:xfrm>
            <a:off x="9692640" y="274320"/>
            <a:ext cx="2103120" cy="1143000"/>
          </a:xfrm>
          <a:prstGeom prst="roundRect">
            <a:avLst>
              <a:gd name="adj" fmla="val 8000"/>
            </a:avLst>
          </a:prstGeom>
          <a:solidFill>
            <a:srgbClr val="FFFFFF"/>
          </a:solidFill>
          <a:ln w="12700">
            <a:solidFill>
              <a:srgbClr val="FFFFFF"/>
            </a:solidFill>
            <a:prstDash val="solid"/>
          </a:ln>
        </p:spPr>
      </p:sp>
      <p:pic>
        <p:nvPicPr>
          <p:cNvPr id="3" name="UTS logo" descr="/tmp/deck/img/uts.png">    </p:cNvPr>
          <p:cNvPicPr>
            <a:picLocks noChangeAspect="1"/>
          </p:cNvPicPr>
          <p:nvPr/>
        </p:nvPicPr>
        <p:blipFill>
          <a:blip r:embed="rId1"/>
          <a:stretch>
            <a:fillRect/>
          </a:stretch>
        </p:blipFill>
        <p:spPr>
          <a:xfrm>
            <a:off x="9829800" y="301752"/>
            <a:ext cx="1828800" cy="1170432"/>
          </a:xfrm>
          <a:prstGeom prst="rect">
            <a:avLst/>
          </a:prstGeom>
        </p:spPr>
      </p:pic>
      <p:sp>
        <p:nvSpPr>
          <p:cNvPr id="4" name="deck title"/>
          <p:cNvSpPr txBox="1"/>
          <p:nvPr/>
        </p:nvSpPr>
        <p:spPr>
          <a:xfrm>
            <a:off x="1280160" y="1554480"/>
            <a:ext cx="9601200" cy="1463040"/>
          </a:xfrm>
          <a:prstGeom prst="rect">
            <a:avLst/>
          </a:prstGeom>
          <a:noFill/>
          <a:ln/>
        </p:spPr>
        <p:txBody>
          <a:bodyPr wrap="square" rtlCol="0" anchor="ctr"/>
          <a:lstStyle/>
          <a:p>
            <a:pPr algn="ctr" indent="0" marL="0">
              <a:buNone/>
            </a:pPr>
            <a:r>
              <a:rPr lang="en-US" sz="3200" b="1" i="1" dirty="0">
                <a:solidFill>
                  <a:srgbClr val="FFFFFF"/>
                </a:solidFill>
                <a:latin typeface="Arial" pitchFamily="34" charset="0"/>
                <a:ea typeface="Arial" pitchFamily="34" charset="-122"/>
                <a:cs typeface="Arial" pitchFamily="34" charset="-120"/>
              </a:rPr>
              <a:t>A Trusted Authorisation Framework for Multi-Party Patient Consent in Healthcare Data Sharing</a:t>
            </a:r>
            <a:endParaRPr lang="en-US" sz="3200" dirty="0"/>
          </a:p>
        </p:txBody>
      </p:sp>
      <p:sp>
        <p:nvSpPr>
          <p:cNvPr id="5" name="subtitle"/>
          <p:cNvSpPr txBox="1"/>
          <p:nvPr/>
        </p:nvSpPr>
        <p:spPr>
          <a:xfrm>
            <a:off x="4023360" y="3063240"/>
            <a:ext cx="4114800" cy="457200"/>
          </a:xfrm>
          <a:prstGeom prst="rect">
            <a:avLst/>
          </a:prstGeom>
          <a:noFill/>
          <a:ln/>
        </p:spPr>
        <p:txBody>
          <a:bodyPr wrap="square" rtlCol="0" anchor="ctr"/>
          <a:lstStyle/>
          <a:p>
            <a:pPr algn="ctr" indent="0" marL="0">
              <a:buNone/>
            </a:pPr>
            <a:r>
              <a:rPr lang="en-US" sz="2000" b="1" dirty="0">
                <a:solidFill>
                  <a:srgbClr val="1FB5D6"/>
                </a:solidFill>
              </a:rPr>
              <a:t>Candidature Reassessment</a:t>
            </a:r>
            <a:endParaRPr lang="en-US" sz="2000" dirty="0"/>
          </a:p>
        </p:txBody>
      </p:sp>
      <p:sp>
        <p:nvSpPr>
          <p:cNvPr id="6" name="people"/>
          <p:cNvSpPr txBox="1"/>
          <p:nvPr/>
        </p:nvSpPr>
        <p:spPr>
          <a:xfrm>
            <a:off x="2194560" y="3840480"/>
            <a:ext cx="7772400" cy="1737360"/>
          </a:xfrm>
          <a:prstGeom prst="rect">
            <a:avLst/>
          </a:prstGeom>
          <a:noFill/>
          <a:ln/>
        </p:spPr>
        <p:txBody>
          <a:bodyPr wrap="square" rtlCol="0" anchor="ctr"/>
          <a:lstStyle/>
          <a:p>
            <a:pPr algn="ctr" indent="0" marL="0">
              <a:spcAft>
                <a:spcPts val="400"/>
              </a:spcAft>
              <a:buNone/>
            </a:pPr>
            <a:r>
              <a:rPr lang="en-US" sz="1800" b="1" i="1" dirty="0">
                <a:solidFill>
                  <a:srgbClr val="FFFFFF"/>
                </a:solidFill>
              </a:rPr>
              <a:t>Principal Supervisor: Professor Farookh Hussain</a:t>
            </a:r>
            <a:endParaRPr lang="en-US" sz="1800" dirty="0"/>
          </a:p>
          <a:p>
            <a:pPr algn="ctr" indent="0" marL="0">
              <a:spcAft>
                <a:spcPts val="400"/>
              </a:spcAft>
              <a:buNone/>
            </a:pPr>
            <a:r>
              <a:rPr lang="en-US" sz="1800" b="1" i="1" dirty="0">
                <a:solidFill>
                  <a:srgbClr val="FFFFFF"/>
                </a:solidFill>
              </a:rPr>
              <a:t>Co-Supervisor: Dr. Firas Al-Doghman</a:t>
            </a:r>
            <a:endParaRPr lang="en-US" sz="1800" dirty="0"/>
          </a:p>
          <a:p>
            <a:pPr algn="ctr" indent="0" marL="0">
              <a:spcAft>
                <a:spcPts val="400"/>
              </a:spcAft>
              <a:buNone/>
            </a:pPr>
            <a:r>
              <a:rPr lang="en-US" sz="1800" b="1" i="1" dirty="0">
                <a:solidFill>
                  <a:srgbClr val="FFFFFF"/>
                </a:solidFill>
              </a:rPr>
              <a:t>Presenter: Yasir Dhaifallah O Alyoubi</a:t>
            </a:r>
            <a:endParaRPr lang="en-US" sz="1800" dirty="0"/>
          </a:p>
          <a:p>
            <a:pPr algn="ctr" indent="0" marL="0">
              <a:spcAft>
                <a:spcPts val="400"/>
              </a:spcAft>
              <a:buNone/>
            </a:pPr>
            <a:r>
              <a:rPr lang="en-US" sz="1800" b="1" i="1" dirty="0">
                <a:solidFill>
                  <a:srgbClr val="FFFFFF"/>
                </a:solidFill>
              </a:rPr>
              <a:t>STUDENT ID #: 24724078</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OUTLINE</a:t>
            </a:r>
            <a:endParaRPr lang="en-US" sz="3000" dirty="0"/>
          </a:p>
        </p:txBody>
      </p:sp>
      <p:sp>
        <p:nvSpPr>
          <p:cNvPr id="4" name="number 01"/>
          <p:cNvSpPr/>
          <p:nvPr/>
        </p:nvSpPr>
        <p:spPr>
          <a:xfrm>
            <a:off x="1463040" y="1234440"/>
            <a:ext cx="731520" cy="640080"/>
          </a:xfrm>
          <a:prstGeom prst="roundRect">
            <a:avLst>
              <a:gd name="adj" fmla="val 11429"/>
            </a:avLst>
          </a:prstGeom>
          <a:solidFill>
            <a:srgbClr val="2F6FB0"/>
          </a:solidFill>
          <a:ln w="12700">
            <a:solidFill>
              <a:srgbClr val="FFFFFF"/>
            </a:solidFill>
            <a:prstDash val="solid"/>
          </a:ln>
        </p:spPr>
      </p:sp>
      <p:sp>
        <p:nvSpPr>
          <p:cNvPr id="5" name="number text 01"/>
          <p:cNvSpPr txBox="1"/>
          <p:nvPr/>
        </p:nvSpPr>
        <p:spPr>
          <a:xfrm>
            <a:off x="1463040" y="1234440"/>
            <a:ext cx="731520" cy="640080"/>
          </a:xfrm>
          <a:prstGeom prst="rect">
            <a:avLst/>
          </a:prstGeom>
          <a:noFill/>
          <a:ln/>
        </p:spPr>
        <p:txBody>
          <a:bodyPr wrap="square" rtlCol="0" anchor="ctr"/>
          <a:lstStyle/>
          <a:p>
            <a:pPr algn="ctr" indent="0" marL="0">
              <a:buNone/>
            </a:pPr>
            <a:r>
              <a:rPr lang="en-US" sz="2000" b="1" dirty="0">
                <a:solidFill>
                  <a:srgbClr val="FFFFFF"/>
                </a:solidFill>
              </a:rPr>
              <a:t>01</a:t>
            </a:r>
            <a:endParaRPr lang="en-US" sz="2000" dirty="0"/>
          </a:p>
        </p:txBody>
      </p:sp>
      <p:sp>
        <p:nvSpPr>
          <p:cNvPr id="6" name="item 01"/>
          <p:cNvSpPr txBox="1"/>
          <p:nvPr/>
        </p:nvSpPr>
        <p:spPr>
          <a:xfrm>
            <a:off x="2377440" y="1234440"/>
            <a:ext cx="4206240" cy="640080"/>
          </a:xfrm>
          <a:prstGeom prst="rect">
            <a:avLst/>
          </a:prstGeom>
          <a:noFill/>
          <a:ln/>
        </p:spPr>
        <p:txBody>
          <a:bodyPr wrap="square" rtlCol="0" anchor="ctr"/>
          <a:lstStyle/>
          <a:p>
            <a:pPr indent="0" marL="0">
              <a:buNone/>
            </a:pPr>
            <a:r>
              <a:rPr lang="en-US" sz="1800" b="1" dirty="0">
                <a:solidFill>
                  <a:srgbClr val="FFFFFF"/>
                </a:solidFill>
              </a:rPr>
              <a:t>THE PROBLEM</a:t>
            </a:r>
            <a:endParaRPr lang="en-US" sz="1800" dirty="0"/>
          </a:p>
        </p:txBody>
      </p:sp>
      <p:sp>
        <p:nvSpPr>
          <p:cNvPr id="7" name="number 02"/>
          <p:cNvSpPr/>
          <p:nvPr/>
        </p:nvSpPr>
        <p:spPr>
          <a:xfrm>
            <a:off x="1463040" y="2103120"/>
            <a:ext cx="731520" cy="640080"/>
          </a:xfrm>
          <a:prstGeom prst="roundRect">
            <a:avLst>
              <a:gd name="adj" fmla="val 11429"/>
            </a:avLst>
          </a:prstGeom>
          <a:solidFill>
            <a:srgbClr val="2F6FB0"/>
          </a:solidFill>
          <a:ln w="12700">
            <a:solidFill>
              <a:srgbClr val="FFFFFF"/>
            </a:solidFill>
            <a:prstDash val="solid"/>
          </a:ln>
        </p:spPr>
      </p:sp>
      <p:sp>
        <p:nvSpPr>
          <p:cNvPr id="8" name="number text 02"/>
          <p:cNvSpPr txBox="1"/>
          <p:nvPr/>
        </p:nvSpPr>
        <p:spPr>
          <a:xfrm>
            <a:off x="1463040" y="2103120"/>
            <a:ext cx="731520" cy="640080"/>
          </a:xfrm>
          <a:prstGeom prst="rect">
            <a:avLst/>
          </a:prstGeom>
          <a:noFill/>
          <a:ln/>
        </p:spPr>
        <p:txBody>
          <a:bodyPr wrap="square" rtlCol="0" anchor="ctr"/>
          <a:lstStyle/>
          <a:p>
            <a:pPr algn="ctr" indent="0" marL="0">
              <a:buNone/>
            </a:pPr>
            <a:r>
              <a:rPr lang="en-US" sz="2000" b="1" dirty="0">
                <a:solidFill>
                  <a:srgbClr val="FFFFFF"/>
                </a:solidFill>
              </a:rPr>
              <a:t>02</a:t>
            </a:r>
            <a:endParaRPr lang="en-US" sz="2000" dirty="0"/>
          </a:p>
        </p:txBody>
      </p:sp>
      <p:sp>
        <p:nvSpPr>
          <p:cNvPr id="9" name="item 02"/>
          <p:cNvSpPr txBox="1"/>
          <p:nvPr/>
        </p:nvSpPr>
        <p:spPr>
          <a:xfrm>
            <a:off x="2377440" y="2103120"/>
            <a:ext cx="4206240" cy="640080"/>
          </a:xfrm>
          <a:prstGeom prst="rect">
            <a:avLst/>
          </a:prstGeom>
          <a:noFill/>
          <a:ln/>
        </p:spPr>
        <p:txBody>
          <a:bodyPr wrap="square" rtlCol="0" anchor="ctr"/>
          <a:lstStyle/>
          <a:p>
            <a:pPr indent="0" marL="0">
              <a:buNone/>
            </a:pPr>
            <a:r>
              <a:rPr lang="en-US" sz="1800" b="1" dirty="0">
                <a:solidFill>
                  <a:srgbClr val="FFFFFF"/>
                </a:solidFill>
              </a:rPr>
              <a:t>LITERATURE REVIEW</a:t>
            </a:r>
            <a:endParaRPr lang="en-US" sz="1800" dirty="0"/>
          </a:p>
        </p:txBody>
      </p:sp>
      <p:sp>
        <p:nvSpPr>
          <p:cNvPr id="10" name="number 03"/>
          <p:cNvSpPr/>
          <p:nvPr/>
        </p:nvSpPr>
        <p:spPr>
          <a:xfrm>
            <a:off x="1463040" y="2971800"/>
            <a:ext cx="731520" cy="640080"/>
          </a:xfrm>
          <a:prstGeom prst="roundRect">
            <a:avLst>
              <a:gd name="adj" fmla="val 11429"/>
            </a:avLst>
          </a:prstGeom>
          <a:solidFill>
            <a:srgbClr val="2F6FB0"/>
          </a:solidFill>
          <a:ln w="12700">
            <a:solidFill>
              <a:srgbClr val="FFFFFF"/>
            </a:solidFill>
            <a:prstDash val="solid"/>
          </a:ln>
        </p:spPr>
      </p:sp>
      <p:sp>
        <p:nvSpPr>
          <p:cNvPr id="11" name="number text 03"/>
          <p:cNvSpPr txBox="1"/>
          <p:nvPr/>
        </p:nvSpPr>
        <p:spPr>
          <a:xfrm>
            <a:off x="1463040" y="2971800"/>
            <a:ext cx="731520" cy="640080"/>
          </a:xfrm>
          <a:prstGeom prst="rect">
            <a:avLst/>
          </a:prstGeom>
          <a:noFill/>
          <a:ln/>
        </p:spPr>
        <p:txBody>
          <a:bodyPr wrap="square" rtlCol="0" anchor="ctr"/>
          <a:lstStyle/>
          <a:p>
            <a:pPr algn="ctr" indent="0" marL="0">
              <a:buNone/>
            </a:pPr>
            <a:r>
              <a:rPr lang="en-US" sz="2000" b="1" dirty="0">
                <a:solidFill>
                  <a:srgbClr val="FFFFFF"/>
                </a:solidFill>
              </a:rPr>
              <a:t>03</a:t>
            </a:r>
            <a:endParaRPr lang="en-US" sz="2000" dirty="0"/>
          </a:p>
        </p:txBody>
      </p:sp>
      <p:sp>
        <p:nvSpPr>
          <p:cNvPr id="12" name="item 03"/>
          <p:cNvSpPr txBox="1"/>
          <p:nvPr/>
        </p:nvSpPr>
        <p:spPr>
          <a:xfrm>
            <a:off x="2377440" y="2971800"/>
            <a:ext cx="4206240" cy="640080"/>
          </a:xfrm>
          <a:prstGeom prst="rect">
            <a:avLst/>
          </a:prstGeom>
          <a:noFill/>
          <a:ln/>
        </p:spPr>
        <p:txBody>
          <a:bodyPr wrap="square" rtlCol="0" anchor="ctr"/>
          <a:lstStyle/>
          <a:p>
            <a:pPr indent="0" marL="0">
              <a:buNone/>
            </a:pPr>
            <a:r>
              <a:rPr lang="en-US" sz="1800" b="1" dirty="0">
                <a:solidFill>
                  <a:srgbClr val="FFFFFF"/>
                </a:solidFill>
              </a:rPr>
              <a:t>GAPS, QUESTIONS AND OBJECTIVES</a:t>
            </a:r>
            <a:endParaRPr lang="en-US" sz="1800" dirty="0"/>
          </a:p>
        </p:txBody>
      </p:sp>
      <p:sp>
        <p:nvSpPr>
          <p:cNvPr id="13" name="number 04"/>
          <p:cNvSpPr/>
          <p:nvPr/>
        </p:nvSpPr>
        <p:spPr>
          <a:xfrm>
            <a:off x="1463040" y="3840480"/>
            <a:ext cx="731520" cy="640080"/>
          </a:xfrm>
          <a:prstGeom prst="roundRect">
            <a:avLst>
              <a:gd name="adj" fmla="val 11429"/>
            </a:avLst>
          </a:prstGeom>
          <a:solidFill>
            <a:srgbClr val="2F6FB0"/>
          </a:solidFill>
          <a:ln w="12700">
            <a:solidFill>
              <a:srgbClr val="FFFFFF"/>
            </a:solidFill>
            <a:prstDash val="solid"/>
          </a:ln>
        </p:spPr>
      </p:sp>
      <p:sp>
        <p:nvSpPr>
          <p:cNvPr id="14" name="number text 04"/>
          <p:cNvSpPr txBox="1"/>
          <p:nvPr/>
        </p:nvSpPr>
        <p:spPr>
          <a:xfrm>
            <a:off x="1463040" y="3840480"/>
            <a:ext cx="731520" cy="640080"/>
          </a:xfrm>
          <a:prstGeom prst="rect">
            <a:avLst/>
          </a:prstGeom>
          <a:noFill/>
          <a:ln/>
        </p:spPr>
        <p:txBody>
          <a:bodyPr wrap="square" rtlCol="0" anchor="ctr"/>
          <a:lstStyle/>
          <a:p>
            <a:pPr algn="ctr" indent="0" marL="0">
              <a:buNone/>
            </a:pPr>
            <a:r>
              <a:rPr lang="en-US" sz="2000" b="1" dirty="0">
                <a:solidFill>
                  <a:srgbClr val="FFFFFF"/>
                </a:solidFill>
              </a:rPr>
              <a:t>04</a:t>
            </a:r>
            <a:endParaRPr lang="en-US" sz="2000" dirty="0"/>
          </a:p>
        </p:txBody>
      </p:sp>
      <p:sp>
        <p:nvSpPr>
          <p:cNvPr id="15" name="item 04"/>
          <p:cNvSpPr txBox="1"/>
          <p:nvPr/>
        </p:nvSpPr>
        <p:spPr>
          <a:xfrm>
            <a:off x="2377440" y="3840480"/>
            <a:ext cx="4206240" cy="640080"/>
          </a:xfrm>
          <a:prstGeom prst="rect">
            <a:avLst/>
          </a:prstGeom>
          <a:noFill/>
          <a:ln/>
        </p:spPr>
        <p:txBody>
          <a:bodyPr wrap="square" rtlCol="0" anchor="ctr"/>
          <a:lstStyle/>
          <a:p>
            <a:pPr indent="0" marL="0">
              <a:buNone/>
            </a:pPr>
            <a:r>
              <a:rPr lang="en-US" sz="1800" b="1" dirty="0">
                <a:solidFill>
                  <a:srgbClr val="FFFFFF"/>
                </a:solidFill>
              </a:rPr>
              <a:t>THE FRAMEWORK</a:t>
            </a:r>
            <a:endParaRPr lang="en-US" sz="1800" dirty="0"/>
          </a:p>
        </p:txBody>
      </p:sp>
      <p:sp>
        <p:nvSpPr>
          <p:cNvPr id="16" name="number 05"/>
          <p:cNvSpPr/>
          <p:nvPr/>
        </p:nvSpPr>
        <p:spPr>
          <a:xfrm>
            <a:off x="1463040" y="4709160"/>
            <a:ext cx="731520" cy="640080"/>
          </a:xfrm>
          <a:prstGeom prst="roundRect">
            <a:avLst>
              <a:gd name="adj" fmla="val 11429"/>
            </a:avLst>
          </a:prstGeom>
          <a:solidFill>
            <a:srgbClr val="2F6FB0"/>
          </a:solidFill>
          <a:ln w="12700">
            <a:solidFill>
              <a:srgbClr val="FFFFFF"/>
            </a:solidFill>
            <a:prstDash val="solid"/>
          </a:ln>
        </p:spPr>
      </p:sp>
      <p:sp>
        <p:nvSpPr>
          <p:cNvPr id="17" name="number text 05"/>
          <p:cNvSpPr txBox="1"/>
          <p:nvPr/>
        </p:nvSpPr>
        <p:spPr>
          <a:xfrm>
            <a:off x="1463040" y="4709160"/>
            <a:ext cx="731520" cy="640080"/>
          </a:xfrm>
          <a:prstGeom prst="rect">
            <a:avLst/>
          </a:prstGeom>
          <a:noFill/>
          <a:ln/>
        </p:spPr>
        <p:txBody>
          <a:bodyPr wrap="square" rtlCol="0" anchor="ctr"/>
          <a:lstStyle/>
          <a:p>
            <a:pPr algn="ctr" indent="0" marL="0">
              <a:buNone/>
            </a:pPr>
            <a:r>
              <a:rPr lang="en-US" sz="2000" b="1" dirty="0">
                <a:solidFill>
                  <a:srgbClr val="FFFFFF"/>
                </a:solidFill>
              </a:rPr>
              <a:t>05</a:t>
            </a:r>
            <a:endParaRPr lang="en-US" sz="2000" dirty="0"/>
          </a:p>
        </p:txBody>
      </p:sp>
      <p:sp>
        <p:nvSpPr>
          <p:cNvPr id="18" name="item 05"/>
          <p:cNvSpPr txBox="1"/>
          <p:nvPr/>
        </p:nvSpPr>
        <p:spPr>
          <a:xfrm>
            <a:off x="2377440" y="4709160"/>
            <a:ext cx="4206240" cy="640080"/>
          </a:xfrm>
          <a:prstGeom prst="rect">
            <a:avLst/>
          </a:prstGeom>
          <a:noFill/>
          <a:ln/>
        </p:spPr>
        <p:txBody>
          <a:bodyPr wrap="square" rtlCol="0" anchor="ctr"/>
          <a:lstStyle/>
          <a:p>
            <a:pPr indent="0" marL="0">
              <a:buNone/>
            </a:pPr>
            <a:r>
              <a:rPr lang="en-US" sz="1800" b="1" dirty="0">
                <a:solidFill>
                  <a:srgbClr val="FFFFFF"/>
                </a:solidFill>
              </a:rPr>
              <a:t>VALIDATION AND EVALUATION</a:t>
            </a:r>
            <a:endParaRPr lang="en-US" sz="1800" dirty="0"/>
          </a:p>
        </p:txBody>
      </p:sp>
      <p:sp>
        <p:nvSpPr>
          <p:cNvPr id="19" name="number 06"/>
          <p:cNvSpPr/>
          <p:nvPr/>
        </p:nvSpPr>
        <p:spPr>
          <a:xfrm>
            <a:off x="1463040" y="5577840"/>
            <a:ext cx="731520" cy="640080"/>
          </a:xfrm>
          <a:prstGeom prst="roundRect">
            <a:avLst>
              <a:gd name="adj" fmla="val 11429"/>
            </a:avLst>
          </a:prstGeom>
          <a:solidFill>
            <a:srgbClr val="2F6FB0"/>
          </a:solidFill>
          <a:ln w="12700">
            <a:solidFill>
              <a:srgbClr val="FFFFFF"/>
            </a:solidFill>
            <a:prstDash val="solid"/>
          </a:ln>
        </p:spPr>
      </p:sp>
      <p:sp>
        <p:nvSpPr>
          <p:cNvPr id="20" name="number text 06"/>
          <p:cNvSpPr txBox="1"/>
          <p:nvPr/>
        </p:nvSpPr>
        <p:spPr>
          <a:xfrm>
            <a:off x="1463040" y="5577840"/>
            <a:ext cx="731520" cy="640080"/>
          </a:xfrm>
          <a:prstGeom prst="rect">
            <a:avLst/>
          </a:prstGeom>
          <a:noFill/>
          <a:ln/>
        </p:spPr>
        <p:txBody>
          <a:bodyPr wrap="square" rtlCol="0" anchor="ctr"/>
          <a:lstStyle/>
          <a:p>
            <a:pPr algn="ctr" indent="0" marL="0">
              <a:buNone/>
            </a:pPr>
            <a:r>
              <a:rPr lang="en-US" sz="2000" b="1" dirty="0">
                <a:solidFill>
                  <a:srgbClr val="FFFFFF"/>
                </a:solidFill>
              </a:rPr>
              <a:t>06</a:t>
            </a:r>
            <a:endParaRPr lang="en-US" sz="2000" dirty="0"/>
          </a:p>
        </p:txBody>
      </p:sp>
      <p:sp>
        <p:nvSpPr>
          <p:cNvPr id="21" name="item 06"/>
          <p:cNvSpPr txBox="1"/>
          <p:nvPr/>
        </p:nvSpPr>
        <p:spPr>
          <a:xfrm>
            <a:off x="2377440" y="5577840"/>
            <a:ext cx="4206240" cy="640080"/>
          </a:xfrm>
          <a:prstGeom prst="rect">
            <a:avLst/>
          </a:prstGeom>
          <a:noFill/>
          <a:ln/>
        </p:spPr>
        <p:txBody>
          <a:bodyPr wrap="square" rtlCol="0" anchor="ctr"/>
          <a:lstStyle/>
          <a:p>
            <a:pPr indent="0" marL="0">
              <a:buNone/>
            </a:pPr>
            <a:r>
              <a:rPr lang="en-US" sz="1800" b="1" dirty="0">
                <a:solidFill>
                  <a:srgbClr val="FFFFFF"/>
                </a:solidFill>
              </a:rPr>
              <a:t>WHY THIS MATTERS</a:t>
            </a:r>
            <a:endParaRPr lang="en-US" sz="1800" dirty="0"/>
          </a:p>
        </p:txBody>
      </p:sp>
      <p:sp>
        <p:nvSpPr>
          <p:cNvPr id="22" name="number 07"/>
          <p:cNvSpPr/>
          <p:nvPr/>
        </p:nvSpPr>
        <p:spPr>
          <a:xfrm>
            <a:off x="6492240" y="1234440"/>
            <a:ext cx="731520" cy="640080"/>
          </a:xfrm>
          <a:prstGeom prst="roundRect">
            <a:avLst>
              <a:gd name="adj" fmla="val 11429"/>
            </a:avLst>
          </a:prstGeom>
          <a:solidFill>
            <a:srgbClr val="1FB5D6"/>
          </a:solidFill>
          <a:ln w="12700">
            <a:solidFill>
              <a:srgbClr val="FFFFFF"/>
            </a:solidFill>
            <a:prstDash val="solid"/>
          </a:ln>
        </p:spPr>
      </p:sp>
      <p:sp>
        <p:nvSpPr>
          <p:cNvPr id="23" name="number text 07"/>
          <p:cNvSpPr txBox="1"/>
          <p:nvPr/>
        </p:nvSpPr>
        <p:spPr>
          <a:xfrm>
            <a:off x="6492240" y="1234440"/>
            <a:ext cx="731520" cy="640080"/>
          </a:xfrm>
          <a:prstGeom prst="rect">
            <a:avLst/>
          </a:prstGeom>
          <a:noFill/>
          <a:ln/>
        </p:spPr>
        <p:txBody>
          <a:bodyPr wrap="square" rtlCol="0" anchor="ctr"/>
          <a:lstStyle/>
          <a:p>
            <a:pPr algn="ctr" indent="0" marL="0">
              <a:buNone/>
            </a:pPr>
            <a:r>
              <a:rPr lang="en-US" sz="2000" b="1" dirty="0">
                <a:solidFill>
                  <a:srgbClr val="FFFFFF"/>
                </a:solidFill>
              </a:rPr>
              <a:t>07</a:t>
            </a:r>
            <a:endParaRPr lang="en-US" sz="2000" dirty="0"/>
          </a:p>
        </p:txBody>
      </p:sp>
      <p:sp>
        <p:nvSpPr>
          <p:cNvPr id="24" name="item 07"/>
          <p:cNvSpPr txBox="1"/>
          <p:nvPr/>
        </p:nvSpPr>
        <p:spPr>
          <a:xfrm>
            <a:off x="7406640" y="1234440"/>
            <a:ext cx="4206240" cy="640080"/>
          </a:xfrm>
          <a:prstGeom prst="rect">
            <a:avLst/>
          </a:prstGeom>
          <a:noFill/>
          <a:ln/>
        </p:spPr>
        <p:txBody>
          <a:bodyPr wrap="square" rtlCol="0" anchor="ctr"/>
          <a:lstStyle/>
          <a:p>
            <a:pPr indent="0" marL="0">
              <a:buNone/>
            </a:pPr>
            <a:r>
              <a:rPr lang="en-US" sz="1800" b="1" dirty="0">
                <a:solidFill>
                  <a:srgbClr val="FFFFFF"/>
                </a:solidFill>
              </a:rPr>
              <a:t>WHAT IS STILL OPEN</a:t>
            </a:r>
            <a:endParaRPr lang="en-US" sz="1800" dirty="0"/>
          </a:p>
        </p:txBody>
      </p:sp>
      <p:sp>
        <p:nvSpPr>
          <p:cNvPr id="25" name="number 08"/>
          <p:cNvSpPr/>
          <p:nvPr/>
        </p:nvSpPr>
        <p:spPr>
          <a:xfrm>
            <a:off x="6492240" y="2103120"/>
            <a:ext cx="731520" cy="640080"/>
          </a:xfrm>
          <a:prstGeom prst="roundRect">
            <a:avLst>
              <a:gd name="adj" fmla="val 11429"/>
            </a:avLst>
          </a:prstGeom>
          <a:solidFill>
            <a:srgbClr val="1FB5D6"/>
          </a:solidFill>
          <a:ln w="12700">
            <a:solidFill>
              <a:srgbClr val="FFFFFF"/>
            </a:solidFill>
            <a:prstDash val="solid"/>
          </a:ln>
        </p:spPr>
      </p:sp>
      <p:sp>
        <p:nvSpPr>
          <p:cNvPr id="26" name="number text 08"/>
          <p:cNvSpPr txBox="1"/>
          <p:nvPr/>
        </p:nvSpPr>
        <p:spPr>
          <a:xfrm>
            <a:off x="6492240" y="2103120"/>
            <a:ext cx="731520" cy="640080"/>
          </a:xfrm>
          <a:prstGeom prst="rect">
            <a:avLst/>
          </a:prstGeom>
          <a:noFill/>
          <a:ln/>
        </p:spPr>
        <p:txBody>
          <a:bodyPr wrap="square" rtlCol="0" anchor="ctr"/>
          <a:lstStyle/>
          <a:p>
            <a:pPr algn="ctr" indent="0" marL="0">
              <a:buNone/>
            </a:pPr>
            <a:r>
              <a:rPr lang="en-US" sz="2000" b="1" dirty="0">
                <a:solidFill>
                  <a:srgbClr val="FFFFFF"/>
                </a:solidFill>
              </a:rPr>
              <a:t>08</a:t>
            </a:r>
            <a:endParaRPr lang="en-US" sz="2000" dirty="0"/>
          </a:p>
        </p:txBody>
      </p:sp>
      <p:sp>
        <p:nvSpPr>
          <p:cNvPr id="27" name="item 08"/>
          <p:cNvSpPr txBox="1"/>
          <p:nvPr/>
        </p:nvSpPr>
        <p:spPr>
          <a:xfrm>
            <a:off x="7406640" y="2103120"/>
            <a:ext cx="4206240" cy="640080"/>
          </a:xfrm>
          <a:prstGeom prst="rect">
            <a:avLst/>
          </a:prstGeom>
          <a:noFill/>
          <a:ln/>
        </p:spPr>
        <p:txBody>
          <a:bodyPr wrap="square" rtlCol="0" anchor="ctr"/>
          <a:lstStyle/>
          <a:p>
            <a:pPr indent="0" marL="0">
              <a:buNone/>
            </a:pPr>
            <a:r>
              <a:rPr lang="en-US" sz="1800" b="1" dirty="0">
                <a:solidFill>
                  <a:srgbClr val="FFFFFF"/>
                </a:solidFill>
              </a:rPr>
              <a:t>RESEARCH PLAN</a:t>
            </a:r>
            <a:endParaRPr lang="en-US" sz="1800" dirty="0"/>
          </a:p>
        </p:txBody>
      </p:sp>
      <p:sp>
        <p:nvSpPr>
          <p:cNvPr id="28" name="number 09"/>
          <p:cNvSpPr/>
          <p:nvPr/>
        </p:nvSpPr>
        <p:spPr>
          <a:xfrm>
            <a:off x="6492240" y="2971800"/>
            <a:ext cx="731520" cy="640080"/>
          </a:xfrm>
          <a:prstGeom prst="roundRect">
            <a:avLst>
              <a:gd name="adj" fmla="val 11429"/>
            </a:avLst>
          </a:prstGeom>
          <a:solidFill>
            <a:srgbClr val="1FB5D6"/>
          </a:solidFill>
          <a:ln w="12700">
            <a:solidFill>
              <a:srgbClr val="FFFFFF"/>
            </a:solidFill>
            <a:prstDash val="solid"/>
          </a:ln>
        </p:spPr>
      </p:sp>
      <p:sp>
        <p:nvSpPr>
          <p:cNvPr id="29" name="number text 09"/>
          <p:cNvSpPr txBox="1"/>
          <p:nvPr/>
        </p:nvSpPr>
        <p:spPr>
          <a:xfrm>
            <a:off x="6492240" y="2971800"/>
            <a:ext cx="731520" cy="640080"/>
          </a:xfrm>
          <a:prstGeom prst="rect">
            <a:avLst/>
          </a:prstGeom>
          <a:noFill/>
          <a:ln/>
        </p:spPr>
        <p:txBody>
          <a:bodyPr wrap="square" rtlCol="0" anchor="ctr"/>
          <a:lstStyle/>
          <a:p>
            <a:pPr algn="ctr" indent="0" marL="0">
              <a:buNone/>
            </a:pPr>
            <a:r>
              <a:rPr lang="en-US" sz="2000" b="1" dirty="0">
                <a:solidFill>
                  <a:srgbClr val="FFFFFF"/>
                </a:solidFill>
              </a:rPr>
              <a:t>09</a:t>
            </a:r>
            <a:endParaRPr lang="en-US" sz="2000" dirty="0"/>
          </a:p>
        </p:txBody>
      </p:sp>
      <p:sp>
        <p:nvSpPr>
          <p:cNvPr id="30" name="item 09"/>
          <p:cNvSpPr txBox="1"/>
          <p:nvPr/>
        </p:nvSpPr>
        <p:spPr>
          <a:xfrm>
            <a:off x="7406640" y="2971800"/>
            <a:ext cx="4206240" cy="640080"/>
          </a:xfrm>
          <a:prstGeom prst="rect">
            <a:avLst/>
          </a:prstGeom>
          <a:noFill/>
          <a:ln/>
        </p:spPr>
        <p:txBody>
          <a:bodyPr wrap="square" rtlCol="0" anchor="ctr"/>
          <a:lstStyle/>
          <a:p>
            <a:pPr indent="0" marL="0">
              <a:buNone/>
            </a:pPr>
            <a:r>
              <a:rPr lang="en-US" sz="1800" b="1" dirty="0">
                <a:solidFill>
                  <a:srgbClr val="FFFFFF"/>
                </a:solidFill>
              </a:rPr>
              <a:t>DEMO: THE HALAH PROTOTYPE</a:t>
            </a:r>
            <a:endParaRPr lang="en-US" sz="1800" dirty="0"/>
          </a:p>
        </p:txBody>
      </p:sp>
      <p:sp>
        <p:nvSpPr>
          <p:cNvPr id="31" name="number 10"/>
          <p:cNvSpPr/>
          <p:nvPr/>
        </p:nvSpPr>
        <p:spPr>
          <a:xfrm>
            <a:off x="6492240" y="3840480"/>
            <a:ext cx="731520" cy="640080"/>
          </a:xfrm>
          <a:prstGeom prst="roundRect">
            <a:avLst>
              <a:gd name="adj" fmla="val 11429"/>
            </a:avLst>
          </a:prstGeom>
          <a:solidFill>
            <a:srgbClr val="1FB5D6"/>
          </a:solidFill>
          <a:ln w="12700">
            <a:solidFill>
              <a:srgbClr val="FFFFFF"/>
            </a:solidFill>
            <a:prstDash val="solid"/>
          </a:ln>
        </p:spPr>
      </p:sp>
      <p:sp>
        <p:nvSpPr>
          <p:cNvPr id="32" name="number text 10"/>
          <p:cNvSpPr txBox="1"/>
          <p:nvPr/>
        </p:nvSpPr>
        <p:spPr>
          <a:xfrm>
            <a:off x="6492240" y="3840480"/>
            <a:ext cx="731520" cy="640080"/>
          </a:xfrm>
          <a:prstGeom prst="rect">
            <a:avLst/>
          </a:prstGeom>
          <a:noFill/>
          <a:ln/>
        </p:spPr>
        <p:txBody>
          <a:bodyPr wrap="square" rtlCol="0" anchor="ctr"/>
          <a:lstStyle/>
          <a:p>
            <a:pPr algn="ctr" indent="0" marL="0">
              <a:buNone/>
            </a:pPr>
            <a:r>
              <a:rPr lang="en-US" sz="2000" b="1" dirty="0">
                <a:solidFill>
                  <a:srgbClr val="FFFFFF"/>
                </a:solidFill>
              </a:rPr>
              <a:t>10</a:t>
            </a:r>
            <a:endParaRPr lang="en-US" sz="2000" dirty="0"/>
          </a:p>
        </p:txBody>
      </p:sp>
      <p:sp>
        <p:nvSpPr>
          <p:cNvPr id="33" name="item 10"/>
          <p:cNvSpPr txBox="1"/>
          <p:nvPr/>
        </p:nvSpPr>
        <p:spPr>
          <a:xfrm>
            <a:off x="7406640" y="3840480"/>
            <a:ext cx="4206240" cy="640080"/>
          </a:xfrm>
          <a:prstGeom prst="rect">
            <a:avLst/>
          </a:prstGeom>
          <a:noFill/>
          <a:ln/>
        </p:spPr>
        <p:txBody>
          <a:bodyPr wrap="square" rtlCol="0" anchor="ctr"/>
          <a:lstStyle/>
          <a:p>
            <a:pPr indent="0" marL="0">
              <a:buNone/>
            </a:pPr>
            <a:r>
              <a:rPr lang="en-US" sz="1800" b="1" dirty="0">
                <a:solidFill>
                  <a:srgbClr val="FFFFFF"/>
                </a:solidFill>
              </a:rPr>
              <a:t>REFERENCES</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PROBLEM</a:t>
            </a:r>
            <a:endParaRPr lang="en-US" sz="3000" dirty="0"/>
          </a:p>
        </p:txBody>
      </p:sp>
      <p:sp>
        <p:nvSpPr>
          <p:cNvPr id="4" name="bullets"/>
          <p:cNvSpPr txBox="1"/>
          <p:nvPr/>
        </p:nvSpPr>
        <p:spPr>
          <a:xfrm>
            <a:off x="822960" y="1280160"/>
            <a:ext cx="6217920" cy="4937760"/>
          </a:xfrm>
          <a:prstGeom prst="rect">
            <a:avLst/>
          </a:prstGeom>
          <a:noFill/>
          <a:ln/>
        </p:spPr>
        <p:txBody>
          <a:bodyPr wrap="square" rtlCol="0" anchor="t"/>
          <a:lstStyle/>
          <a:p>
            <a:pPr marL="342900" indent="-342900">
              <a:spcAft>
                <a:spcPts val="1000"/>
              </a:spcAft>
              <a:buSzPct val="100000"/>
              <a:buChar char="•"/>
            </a:pPr>
            <a:r>
              <a:rPr lang="en-US" sz="1900" dirty="0">
                <a:solidFill>
                  <a:srgbClr val="FFFFFF"/>
                </a:solidFill>
              </a:rPr>
              <a:t>Healthcare data is shared between many independent parties: patient, guardians, doctor, hospital.</a:t>
            </a:r>
            <a:endParaRPr lang="en-US" sz="1900" dirty="0"/>
          </a:p>
          <a:p>
            <a:pPr marL="342900" indent="-342900">
              <a:spcAft>
                <a:spcPts val="1000"/>
              </a:spcAft>
              <a:buSzPct val="100000"/>
              <a:buChar char="•"/>
            </a:pPr>
            <a:r>
              <a:rPr lang="en-US" sz="1900" dirty="0">
                <a:solidFill>
                  <a:srgbClr val="FFFFFF"/>
                </a:solidFill>
              </a:rPr>
              <a:t>Today, consent is a stored record. It shows that permission was given, but it checks nothing at access time.</a:t>
            </a:r>
            <a:endParaRPr lang="en-US" sz="1900" dirty="0"/>
          </a:p>
          <a:p>
            <a:pPr marL="342900" indent="-342900">
              <a:spcAft>
                <a:spcPts val="1000"/>
              </a:spcAft>
              <a:buSzPct val="100000"/>
              <a:buChar char="•"/>
            </a:pPr>
            <a:r>
              <a:rPr lang="en-US" sz="1900" dirty="0">
                <a:solidFill>
                  <a:srgbClr val="FFFFFF"/>
                </a:solidFill>
              </a:rPr>
              <a:t>A valid identity does not prove the right to see this patient's data.</a:t>
            </a:r>
            <a:endParaRPr lang="en-US" sz="1900" dirty="0"/>
          </a:p>
          <a:p>
            <a:pPr marL="342900" indent="-342900">
              <a:spcAft>
                <a:spcPts val="1000"/>
              </a:spcAft>
              <a:buSzPct val="100000"/>
              <a:buChar char="•"/>
            </a:pPr>
            <a:r>
              <a:rPr lang="en-US" sz="1900" dirty="0">
                <a:solidFill>
                  <a:srgbClr val="FFFFFF"/>
                </a:solidFill>
              </a:rPr>
              <a:t>A request can ask for more data than allowed, or arrive after the consent expired or was revoked.</a:t>
            </a:r>
            <a:endParaRPr lang="en-US" sz="1900" dirty="0"/>
          </a:p>
          <a:p>
            <a:pPr marL="342900" indent="-342900">
              <a:spcAft>
                <a:spcPts val="1000"/>
              </a:spcAft>
              <a:buSzPct val="100000"/>
              <a:buChar char="•"/>
            </a:pPr>
            <a:r>
              <a:rPr lang="en-US" sz="1900" dirty="0">
                <a:solidFill>
                  <a:srgbClr val="FFFFFF"/>
                </a:solidFill>
              </a:rPr>
              <a:t>None of the reviewed studies proves or tests the whole decision.</a:t>
            </a:r>
            <a:endParaRPr lang="en-US" sz="1900" dirty="0"/>
          </a:p>
        </p:txBody>
      </p:sp>
      <p:sp>
        <p:nvSpPr>
          <p:cNvPr id="5" name="card In one sentence"/>
          <p:cNvSpPr/>
          <p:nvPr/>
        </p:nvSpPr>
        <p:spPr>
          <a:xfrm>
            <a:off x="7406640" y="1463040"/>
            <a:ext cx="3931920" cy="4114800"/>
          </a:xfrm>
          <a:prstGeom prst="roundRect">
            <a:avLst>
              <a:gd name="adj" fmla="val 2326"/>
            </a:avLst>
          </a:prstGeom>
          <a:solidFill>
            <a:srgbClr val="FFFFFF">
              <a:alpha val="92000"/>
            </a:srgbClr>
          </a:solidFill>
          <a:ln w="19050">
            <a:solidFill>
              <a:srgbClr val="1FB5D6"/>
            </a:solidFill>
            <a:prstDash val="solid"/>
          </a:ln>
        </p:spPr>
      </p:sp>
      <p:sp>
        <p:nvSpPr>
          <p:cNvPr id="6" name="card text In one sentence"/>
          <p:cNvSpPr txBox="1"/>
          <p:nvPr/>
        </p:nvSpPr>
        <p:spPr>
          <a:xfrm>
            <a:off x="7543800" y="1554480"/>
            <a:ext cx="3657600" cy="3931920"/>
          </a:xfrm>
          <a:prstGeom prst="rect">
            <a:avLst/>
          </a:prstGeom>
          <a:noFill/>
          <a:ln/>
        </p:spPr>
        <p:txBody>
          <a:bodyPr wrap="square" rtlCol="0" anchor="t"/>
          <a:lstStyle/>
          <a:p>
            <a:pPr indent="0" marL="0">
              <a:spcAft>
                <a:spcPts val="400"/>
              </a:spcAft>
              <a:buNone/>
            </a:pPr>
            <a:r>
              <a:rPr lang="en-US" sz="1900" b="1" dirty="0">
                <a:solidFill>
                  <a:srgbClr val="0B2A4A"/>
                </a:solidFill>
              </a:rPr>
              <a:t>In one sentence</a:t>
            </a:r>
            <a:endParaRPr lang="en-US" sz="1900" dirty="0"/>
          </a:p>
          <a:p>
            <a:pPr indent="0" marL="0">
              <a:spcAft>
                <a:spcPts val="400"/>
              </a:spcAft>
              <a:buNone/>
            </a:pPr>
            <a:r>
              <a:rPr lang="en-US" sz="1600" dirty="0">
                <a:solidFill>
                  <a:srgbClr val="0B1F33"/>
                </a:solidFill>
              </a:rPr>
              <a:t>There is no trusted mechanism that checks identity, authority, multi-party approval, policy, time and lifecycle together in one access decision, with evidence that it is secure.</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KEY IDEA</a:t>
            </a:r>
            <a:endParaRPr lang="en-US" sz="3000" dirty="0"/>
          </a:p>
        </p:txBody>
      </p:sp>
      <p:sp>
        <p:nvSpPr>
          <p:cNvPr id="4" name="idea box"/>
          <p:cNvSpPr/>
          <p:nvPr/>
        </p:nvSpPr>
        <p:spPr>
          <a:xfrm>
            <a:off x="822960" y="1188720"/>
            <a:ext cx="10424160" cy="1371600"/>
          </a:xfrm>
          <a:prstGeom prst="roundRect">
            <a:avLst>
              <a:gd name="adj" fmla="val 6667"/>
            </a:avLst>
          </a:prstGeom>
          <a:solidFill>
            <a:srgbClr val="0B2A4A">
              <a:alpha val="85000"/>
            </a:srgbClr>
          </a:solidFill>
          <a:ln w="19050">
            <a:solidFill>
              <a:srgbClr val="1FB5D6"/>
            </a:solidFill>
            <a:prstDash val="solid"/>
          </a:ln>
        </p:spPr>
      </p:sp>
      <p:sp>
        <p:nvSpPr>
          <p:cNvPr id="5" name="idea text"/>
          <p:cNvSpPr txBox="1"/>
          <p:nvPr/>
        </p:nvSpPr>
        <p:spPr>
          <a:xfrm>
            <a:off x="1005840" y="1234440"/>
            <a:ext cx="10058400" cy="1280160"/>
          </a:xfrm>
          <a:prstGeom prst="rect">
            <a:avLst/>
          </a:prstGeom>
          <a:noFill/>
          <a:ln/>
        </p:spPr>
        <p:txBody>
          <a:bodyPr wrap="square" rtlCol="0" anchor="ctr"/>
          <a:lstStyle/>
          <a:p>
            <a:pPr algn="ctr" indent="0" marL="0">
              <a:buNone/>
            </a:pPr>
            <a:r>
              <a:rPr lang="en-US" sz="2000" b="1" dirty="0">
                <a:solidFill>
                  <a:srgbClr val="FFFFFF"/>
                </a:solidFill>
              </a:rPr>
              <a:t>Consent is not a stored record. It is an object checked at every request.</a:t>
            </a:r>
            <a:endParaRPr lang="en-US" sz="2000" dirty="0"/>
          </a:p>
          <a:p>
            <a:pPr algn="ctr" indent="0" marL="0">
              <a:buNone/>
            </a:pPr>
            <a:r>
              <a:rPr lang="en-US" sz="2800" b="1" dirty="0">
                <a:solidFill>
                  <a:srgbClr val="1FB5D6"/>
                </a:solidFill>
              </a:rPr>
              <a:t>C = (I, A, P, T, L, E)</a:t>
            </a:r>
            <a:endParaRPr lang="en-US" sz="2000" dirty="0"/>
          </a:p>
        </p:txBody>
      </p:sp>
      <p:sp>
        <p:nvSpPr>
          <p:cNvPr id="6" name="card I  Identity"/>
          <p:cNvSpPr/>
          <p:nvPr/>
        </p:nvSpPr>
        <p:spPr>
          <a:xfrm>
            <a:off x="822960" y="2788920"/>
            <a:ext cx="3291840" cy="1554480"/>
          </a:xfrm>
          <a:prstGeom prst="roundRect">
            <a:avLst>
              <a:gd name="adj" fmla="val 5882"/>
            </a:avLst>
          </a:prstGeom>
          <a:solidFill>
            <a:srgbClr val="FFFFFF">
              <a:alpha val="92000"/>
            </a:srgbClr>
          </a:solidFill>
          <a:ln w="19050">
            <a:solidFill>
              <a:srgbClr val="1FB5D6"/>
            </a:solidFill>
            <a:prstDash val="solid"/>
          </a:ln>
        </p:spPr>
      </p:sp>
      <p:sp>
        <p:nvSpPr>
          <p:cNvPr id="7" name="card text I  Identity"/>
          <p:cNvSpPr txBox="1"/>
          <p:nvPr/>
        </p:nvSpPr>
        <p:spPr>
          <a:xfrm>
            <a:off x="960120" y="288036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I  Identity</a:t>
            </a:r>
            <a:endParaRPr lang="en-US" sz="1900" dirty="0"/>
          </a:p>
          <a:p>
            <a:pPr indent="0" marL="0">
              <a:spcAft>
                <a:spcPts val="400"/>
              </a:spcAft>
              <a:buNone/>
            </a:pPr>
            <a:r>
              <a:rPr lang="en-US" sz="1600" dirty="0">
                <a:solidFill>
                  <a:srgbClr val="0B1F33"/>
                </a:solidFill>
              </a:rPr>
              <a:t>Who is the patient, the doctor and each guardian (DID).</a:t>
            </a:r>
            <a:endParaRPr lang="en-US" sz="1900" dirty="0"/>
          </a:p>
        </p:txBody>
      </p:sp>
      <p:sp>
        <p:nvSpPr>
          <p:cNvPr id="8" name="card A  Authority"/>
          <p:cNvSpPr/>
          <p:nvPr/>
        </p:nvSpPr>
        <p:spPr>
          <a:xfrm>
            <a:off x="4389120" y="2788920"/>
            <a:ext cx="3291840" cy="1554480"/>
          </a:xfrm>
          <a:prstGeom prst="roundRect">
            <a:avLst>
              <a:gd name="adj" fmla="val 5882"/>
            </a:avLst>
          </a:prstGeom>
          <a:solidFill>
            <a:srgbClr val="FFFFFF">
              <a:alpha val="92000"/>
            </a:srgbClr>
          </a:solidFill>
          <a:ln w="19050">
            <a:solidFill>
              <a:srgbClr val="1FB5D6"/>
            </a:solidFill>
            <a:prstDash val="solid"/>
          </a:ln>
        </p:spPr>
      </p:sp>
      <p:sp>
        <p:nvSpPr>
          <p:cNvPr id="9" name="card text A  Authority"/>
          <p:cNvSpPr txBox="1"/>
          <p:nvPr/>
        </p:nvSpPr>
        <p:spPr>
          <a:xfrm>
            <a:off x="4526280" y="288036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A  Authority</a:t>
            </a:r>
            <a:endParaRPr lang="en-US" sz="1900" dirty="0"/>
          </a:p>
          <a:p>
            <a:pPr indent="0" marL="0">
              <a:spcAft>
                <a:spcPts val="400"/>
              </a:spcAft>
              <a:buNone/>
            </a:pPr>
            <a:r>
              <a:rPr lang="en-US" sz="1600" dirty="0">
                <a:solidFill>
                  <a:srgbClr val="0B1F33"/>
                </a:solidFill>
              </a:rPr>
              <a:t>The guardian set G and how many approvals are needed (N).</a:t>
            </a:r>
            <a:endParaRPr lang="en-US" sz="1900" dirty="0"/>
          </a:p>
        </p:txBody>
      </p:sp>
      <p:sp>
        <p:nvSpPr>
          <p:cNvPr id="10" name="card P  Policy"/>
          <p:cNvSpPr/>
          <p:nvPr/>
        </p:nvSpPr>
        <p:spPr>
          <a:xfrm>
            <a:off x="7955280" y="2788920"/>
            <a:ext cx="3291840" cy="1554480"/>
          </a:xfrm>
          <a:prstGeom prst="roundRect">
            <a:avLst>
              <a:gd name="adj" fmla="val 5882"/>
            </a:avLst>
          </a:prstGeom>
          <a:solidFill>
            <a:srgbClr val="FFFFFF">
              <a:alpha val="92000"/>
            </a:srgbClr>
          </a:solidFill>
          <a:ln w="19050">
            <a:solidFill>
              <a:srgbClr val="1FB5D6"/>
            </a:solidFill>
            <a:prstDash val="solid"/>
          </a:ln>
        </p:spPr>
      </p:sp>
      <p:sp>
        <p:nvSpPr>
          <p:cNvPr id="11" name="card text P  Policy"/>
          <p:cNvSpPr txBox="1"/>
          <p:nvPr/>
        </p:nvSpPr>
        <p:spPr>
          <a:xfrm>
            <a:off x="8092440" y="288036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P  Policy</a:t>
            </a:r>
            <a:endParaRPr lang="en-US" sz="1900" dirty="0"/>
          </a:p>
          <a:p>
            <a:pPr indent="0" marL="0">
              <a:spcAft>
                <a:spcPts val="400"/>
              </a:spcAft>
              <a:buNone/>
            </a:pPr>
            <a:r>
              <a:rPr lang="en-US" sz="1600" dirty="0">
                <a:solidFill>
                  <a:srgbClr val="0B1F33"/>
                </a:solidFill>
              </a:rPr>
              <a:t>The purpose and the data scope that were agreed.</a:t>
            </a:r>
            <a:endParaRPr lang="en-US" sz="1900" dirty="0"/>
          </a:p>
        </p:txBody>
      </p:sp>
      <p:sp>
        <p:nvSpPr>
          <p:cNvPr id="12" name="card T  Time"/>
          <p:cNvSpPr/>
          <p:nvPr/>
        </p:nvSpPr>
        <p:spPr>
          <a:xfrm>
            <a:off x="822960" y="4572000"/>
            <a:ext cx="3291840" cy="1554480"/>
          </a:xfrm>
          <a:prstGeom prst="roundRect">
            <a:avLst>
              <a:gd name="adj" fmla="val 5882"/>
            </a:avLst>
          </a:prstGeom>
          <a:solidFill>
            <a:srgbClr val="FFFFFF">
              <a:alpha val="92000"/>
            </a:srgbClr>
          </a:solidFill>
          <a:ln w="19050">
            <a:solidFill>
              <a:srgbClr val="1FB5D6"/>
            </a:solidFill>
            <a:prstDash val="solid"/>
          </a:ln>
        </p:spPr>
      </p:sp>
      <p:sp>
        <p:nvSpPr>
          <p:cNvPr id="13" name="card text T  Time"/>
          <p:cNvSpPr txBox="1"/>
          <p:nvPr/>
        </p:nvSpPr>
        <p:spPr>
          <a:xfrm>
            <a:off x="960120" y="466344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T  Time</a:t>
            </a:r>
            <a:endParaRPr lang="en-US" sz="1900" dirty="0"/>
          </a:p>
          <a:p>
            <a:pPr indent="0" marL="0">
              <a:spcAft>
                <a:spcPts val="400"/>
              </a:spcAft>
              <a:buNone/>
            </a:pPr>
            <a:r>
              <a:rPr lang="en-US" sz="1600" dirty="0">
                <a:solidFill>
                  <a:srgbClr val="0B1F33"/>
                </a:solidFill>
              </a:rPr>
              <a:t>When the consent starts and when it expires.</a:t>
            </a:r>
            <a:endParaRPr lang="en-US" sz="1900" dirty="0"/>
          </a:p>
        </p:txBody>
      </p:sp>
      <p:sp>
        <p:nvSpPr>
          <p:cNvPr id="14" name="card L  Jurisdiction"/>
          <p:cNvSpPr/>
          <p:nvPr/>
        </p:nvSpPr>
        <p:spPr>
          <a:xfrm>
            <a:off x="4389120" y="4572000"/>
            <a:ext cx="3291840" cy="1554480"/>
          </a:xfrm>
          <a:prstGeom prst="roundRect">
            <a:avLst>
              <a:gd name="adj" fmla="val 5882"/>
            </a:avLst>
          </a:prstGeom>
          <a:solidFill>
            <a:srgbClr val="FFFFFF">
              <a:alpha val="92000"/>
            </a:srgbClr>
          </a:solidFill>
          <a:ln w="19050">
            <a:solidFill>
              <a:srgbClr val="1FB5D6"/>
            </a:solidFill>
            <a:prstDash val="solid"/>
          </a:ln>
        </p:spPr>
      </p:sp>
      <p:sp>
        <p:nvSpPr>
          <p:cNvPr id="15" name="card text L  Jurisdiction"/>
          <p:cNvSpPr txBox="1"/>
          <p:nvPr/>
        </p:nvSpPr>
        <p:spPr>
          <a:xfrm>
            <a:off x="4526280" y="466344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L  Jurisdiction</a:t>
            </a:r>
            <a:endParaRPr lang="en-US" sz="1900" dirty="0"/>
          </a:p>
          <a:p>
            <a:pPr indent="0" marL="0">
              <a:spcAft>
                <a:spcPts val="400"/>
              </a:spcAft>
              <a:buNone/>
            </a:pPr>
            <a:r>
              <a:rPr lang="en-US" sz="1600" dirty="0">
                <a:solidFill>
                  <a:srgbClr val="0B1F33"/>
                </a:solidFill>
              </a:rPr>
              <a:t>Where the request may come from.</a:t>
            </a:r>
            <a:endParaRPr lang="en-US" sz="1900" dirty="0"/>
          </a:p>
        </p:txBody>
      </p:sp>
      <p:sp>
        <p:nvSpPr>
          <p:cNvPr id="16" name="card E  Evidence"/>
          <p:cNvSpPr/>
          <p:nvPr/>
        </p:nvSpPr>
        <p:spPr>
          <a:xfrm>
            <a:off x="7955280" y="4572000"/>
            <a:ext cx="3291840" cy="1554480"/>
          </a:xfrm>
          <a:prstGeom prst="roundRect">
            <a:avLst>
              <a:gd name="adj" fmla="val 5882"/>
            </a:avLst>
          </a:prstGeom>
          <a:solidFill>
            <a:srgbClr val="FFFFFF">
              <a:alpha val="92000"/>
            </a:srgbClr>
          </a:solidFill>
          <a:ln w="19050">
            <a:solidFill>
              <a:srgbClr val="1FB5D6"/>
            </a:solidFill>
            <a:prstDash val="solid"/>
          </a:ln>
        </p:spPr>
      </p:sp>
      <p:sp>
        <p:nvSpPr>
          <p:cNvPr id="17" name="card text E  Evidence"/>
          <p:cNvSpPr txBox="1"/>
          <p:nvPr/>
        </p:nvSpPr>
        <p:spPr>
          <a:xfrm>
            <a:off x="8092440" y="466344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E  Evidence</a:t>
            </a:r>
            <a:endParaRPr lang="en-US" sz="1900" dirty="0"/>
          </a:p>
          <a:p>
            <a:pPr indent="0" marL="0">
              <a:spcAft>
                <a:spcPts val="400"/>
              </a:spcAft>
              <a:buNone/>
            </a:pPr>
            <a:r>
              <a:rPr lang="en-US" sz="1600" dirty="0">
                <a:solidFill>
                  <a:srgbClr val="0B1F33"/>
                </a:solidFill>
              </a:rPr>
              <a:t>Signatures, the token, and whether it is revoked.</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LITERATURE REVIEW: HOW I DID IT</a:t>
            </a:r>
            <a:endParaRPr lang="en-US" sz="3000" dirty="0"/>
          </a:p>
        </p:txBody>
      </p:sp>
      <p:sp>
        <p:nvSpPr>
          <p:cNvPr id="4" name="F2 panel"/>
          <p:cNvSpPr/>
          <p:nvPr/>
        </p:nvSpPr>
        <p:spPr>
          <a:xfrm>
            <a:off x="640080" y="1097280"/>
            <a:ext cx="576072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2" descr="/tmp/deck/img/F2.png">    </p:cNvPr>
          <p:cNvPicPr>
            <a:picLocks noChangeAspect="1"/>
          </p:cNvPicPr>
          <p:nvPr/>
        </p:nvPicPr>
        <p:blipFill>
          <a:blip r:embed="rId1"/>
          <a:stretch>
            <a:fillRect/>
          </a:stretch>
        </p:blipFill>
        <p:spPr>
          <a:xfrm>
            <a:off x="749808" y="1288146"/>
            <a:ext cx="5541264" cy="5058949"/>
          </a:xfrm>
          <a:prstGeom prst="rect">
            <a:avLst/>
          </a:prstGeom>
        </p:spPr>
      </p:pic>
      <p:sp>
        <p:nvSpPr>
          <p:cNvPr id="6" name="stat records from seven databases"/>
          <p:cNvSpPr txBox="1"/>
          <p:nvPr/>
        </p:nvSpPr>
        <p:spPr>
          <a:xfrm>
            <a:off x="6949440" y="1280160"/>
            <a:ext cx="3291840" cy="868680"/>
          </a:xfrm>
          <a:prstGeom prst="rect">
            <a:avLst/>
          </a:prstGeom>
          <a:noFill/>
          <a:ln/>
        </p:spPr>
        <p:txBody>
          <a:bodyPr wrap="square" lIns="0" tIns="0" rIns="0" bIns="0" rtlCol="0" anchor="ctr"/>
          <a:lstStyle/>
          <a:p>
            <a:pPr indent="0" marL="0">
              <a:buNone/>
            </a:pPr>
            <a:r>
              <a:rPr lang="en-US" sz="4400" b="1" dirty="0">
                <a:solidFill>
                  <a:srgbClr val="1FB5D6"/>
                </a:solidFill>
              </a:rPr>
              <a:t>9,256</a:t>
            </a:r>
            <a:endParaRPr lang="en-US" sz="4400" dirty="0"/>
          </a:p>
        </p:txBody>
      </p:sp>
      <p:sp>
        <p:nvSpPr>
          <p:cNvPr id="7" name="stat label records from seven databases"/>
          <p:cNvSpPr txBox="1"/>
          <p:nvPr/>
        </p:nvSpPr>
        <p:spPr>
          <a:xfrm>
            <a:off x="6949440" y="2148840"/>
            <a:ext cx="3291840" cy="640080"/>
          </a:xfrm>
          <a:prstGeom prst="rect">
            <a:avLst/>
          </a:prstGeom>
          <a:noFill/>
          <a:ln/>
        </p:spPr>
        <p:txBody>
          <a:bodyPr wrap="square" lIns="0" tIns="0" rIns="0" bIns="0" rtlCol="0" anchor="ctr"/>
          <a:lstStyle/>
          <a:p>
            <a:pPr indent="0" marL="0">
              <a:buNone/>
            </a:pPr>
            <a:r>
              <a:rPr lang="en-US" sz="1600" dirty="0">
                <a:solidFill>
                  <a:srgbClr val="FFFFFF"/>
                </a:solidFill>
              </a:rPr>
              <a:t>records from seven databases</a:t>
            </a:r>
            <a:endParaRPr lang="en-US" sz="1600" dirty="0"/>
          </a:p>
        </p:txBody>
      </p:sp>
      <p:sp>
        <p:nvSpPr>
          <p:cNvPr id="8" name="stat studies met the criteria at the checkpoint"/>
          <p:cNvSpPr txBox="1"/>
          <p:nvPr/>
        </p:nvSpPr>
        <p:spPr>
          <a:xfrm>
            <a:off x="6949440" y="2926080"/>
            <a:ext cx="3291840" cy="868680"/>
          </a:xfrm>
          <a:prstGeom prst="rect">
            <a:avLst/>
          </a:prstGeom>
          <a:noFill/>
          <a:ln/>
        </p:spPr>
        <p:txBody>
          <a:bodyPr wrap="square" lIns="0" tIns="0" rIns="0" bIns="0" rtlCol="0" anchor="ctr"/>
          <a:lstStyle/>
          <a:p>
            <a:pPr indent="0" marL="0">
              <a:buNone/>
            </a:pPr>
            <a:r>
              <a:rPr lang="en-US" sz="4400" b="1" dirty="0">
                <a:solidFill>
                  <a:srgbClr val="1FB5D6"/>
                </a:solidFill>
              </a:rPr>
              <a:t>47</a:t>
            </a:r>
            <a:endParaRPr lang="en-US" sz="4400" dirty="0"/>
          </a:p>
        </p:txBody>
      </p:sp>
      <p:sp>
        <p:nvSpPr>
          <p:cNvPr id="9" name="stat label studies met the criteria at the checkpoint"/>
          <p:cNvSpPr txBox="1"/>
          <p:nvPr/>
        </p:nvSpPr>
        <p:spPr>
          <a:xfrm>
            <a:off x="6949440" y="3794760"/>
            <a:ext cx="3291840" cy="640080"/>
          </a:xfrm>
          <a:prstGeom prst="rect">
            <a:avLst/>
          </a:prstGeom>
          <a:noFill/>
          <a:ln/>
        </p:spPr>
        <p:txBody>
          <a:bodyPr wrap="square" lIns="0" tIns="0" rIns="0" bIns="0" rtlCol="0" anchor="ctr"/>
          <a:lstStyle/>
          <a:p>
            <a:pPr indent="0" marL="0">
              <a:buNone/>
            </a:pPr>
            <a:r>
              <a:rPr lang="en-US" sz="1600" dirty="0">
                <a:solidFill>
                  <a:srgbClr val="FFFFFF"/>
                </a:solidFill>
              </a:rPr>
              <a:t>studies met the criteria at the checkpoint</a:t>
            </a:r>
            <a:endParaRPr lang="en-US" sz="1600" dirty="0"/>
          </a:p>
        </p:txBody>
      </p:sp>
      <p:sp>
        <p:nvSpPr>
          <p:cNvPr id="10" name="stat primary studies analysed (23 core + 2)"/>
          <p:cNvSpPr txBox="1"/>
          <p:nvPr/>
        </p:nvSpPr>
        <p:spPr>
          <a:xfrm>
            <a:off x="6949440" y="4572000"/>
            <a:ext cx="3291840" cy="868680"/>
          </a:xfrm>
          <a:prstGeom prst="rect">
            <a:avLst/>
          </a:prstGeom>
          <a:noFill/>
          <a:ln/>
        </p:spPr>
        <p:txBody>
          <a:bodyPr wrap="square" lIns="0" tIns="0" rIns="0" bIns="0" rtlCol="0" anchor="ctr"/>
          <a:lstStyle/>
          <a:p>
            <a:pPr indent="0" marL="0">
              <a:buNone/>
            </a:pPr>
            <a:r>
              <a:rPr lang="en-US" sz="4400" b="1" dirty="0">
                <a:solidFill>
                  <a:srgbClr val="1FB5D6"/>
                </a:solidFill>
              </a:rPr>
              <a:t>25</a:t>
            </a:r>
            <a:endParaRPr lang="en-US" sz="4400" dirty="0"/>
          </a:p>
        </p:txBody>
      </p:sp>
      <p:sp>
        <p:nvSpPr>
          <p:cNvPr id="11" name="stat label primary studies analysed (23 core + 2)"/>
          <p:cNvSpPr txBox="1"/>
          <p:nvPr/>
        </p:nvSpPr>
        <p:spPr>
          <a:xfrm>
            <a:off x="6949440" y="5440680"/>
            <a:ext cx="3291840" cy="640080"/>
          </a:xfrm>
          <a:prstGeom prst="rect">
            <a:avLst/>
          </a:prstGeom>
          <a:noFill/>
          <a:ln/>
        </p:spPr>
        <p:txBody>
          <a:bodyPr wrap="square" lIns="0" tIns="0" rIns="0" bIns="0" rtlCol="0" anchor="ctr"/>
          <a:lstStyle/>
          <a:p>
            <a:pPr indent="0" marL="0">
              <a:buNone/>
            </a:pPr>
            <a:r>
              <a:rPr lang="en-US" sz="1600" dirty="0">
                <a:solidFill>
                  <a:srgbClr val="FFFFFF"/>
                </a:solidFill>
              </a:rPr>
              <a:t>primary studies analysed (23 core + 2)</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LITERATURE REVIEW: WHAT I FOUND</a:t>
            </a:r>
            <a:endParaRPr lang="en-US" sz="3000" dirty="0"/>
          </a:p>
        </p:txBody>
      </p:sp>
      <p:sp>
        <p:nvSpPr>
          <p:cNvPr id="4" name="F5 panel"/>
          <p:cNvSpPr/>
          <p:nvPr/>
        </p:nvSpPr>
        <p:spPr>
          <a:xfrm>
            <a:off x="640080" y="1097280"/>
            <a:ext cx="694944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5" descr="/tmp/deck/img/F5.png">    </p:cNvPr>
          <p:cNvPicPr>
            <a:picLocks noChangeAspect="1"/>
          </p:cNvPicPr>
          <p:nvPr/>
        </p:nvPicPr>
        <p:blipFill>
          <a:blip r:embed="rId1"/>
          <a:stretch>
            <a:fillRect/>
          </a:stretch>
        </p:blipFill>
        <p:spPr>
          <a:xfrm>
            <a:off x="749808" y="2129189"/>
            <a:ext cx="6729984" cy="3376861"/>
          </a:xfrm>
          <a:prstGeom prst="rect">
            <a:avLst/>
          </a:prstGeom>
        </p:spPr>
      </p:pic>
      <p:sp>
        <p:nvSpPr>
          <p:cNvPr id="6" name="card Conjunction gap"/>
          <p:cNvSpPr/>
          <p:nvPr/>
        </p:nvSpPr>
        <p:spPr>
          <a:xfrm>
            <a:off x="7863840" y="1280160"/>
            <a:ext cx="3657600" cy="2377440"/>
          </a:xfrm>
          <a:prstGeom prst="roundRect">
            <a:avLst>
              <a:gd name="adj" fmla="val 3846"/>
            </a:avLst>
          </a:prstGeom>
          <a:solidFill>
            <a:srgbClr val="FFFFFF">
              <a:alpha val="92000"/>
            </a:srgbClr>
          </a:solidFill>
          <a:ln w="19050">
            <a:solidFill>
              <a:srgbClr val="1FB5D6"/>
            </a:solidFill>
            <a:prstDash val="solid"/>
          </a:ln>
        </p:spPr>
      </p:sp>
      <p:sp>
        <p:nvSpPr>
          <p:cNvPr id="7" name="card text Conjunction gap"/>
          <p:cNvSpPr txBox="1"/>
          <p:nvPr/>
        </p:nvSpPr>
        <p:spPr>
          <a:xfrm>
            <a:off x="8001000" y="1371600"/>
            <a:ext cx="3383280" cy="2194560"/>
          </a:xfrm>
          <a:prstGeom prst="rect">
            <a:avLst/>
          </a:prstGeom>
          <a:noFill/>
          <a:ln/>
        </p:spPr>
        <p:txBody>
          <a:bodyPr wrap="square" rtlCol="0" anchor="t"/>
          <a:lstStyle/>
          <a:p>
            <a:pPr indent="0" marL="0">
              <a:spcAft>
                <a:spcPts val="400"/>
              </a:spcAft>
              <a:buNone/>
            </a:pPr>
            <a:r>
              <a:rPr lang="en-US" sz="1900" b="1" dirty="0">
                <a:solidFill>
                  <a:srgbClr val="1FB5D6"/>
                </a:solidFill>
              </a:rPr>
              <a:t>Conjunction gap</a:t>
            </a:r>
            <a:endParaRPr lang="en-US" sz="1900" dirty="0"/>
          </a:p>
          <a:p>
            <a:pPr indent="0" marL="0">
              <a:spcAft>
                <a:spcPts val="400"/>
              </a:spcAft>
              <a:buNone/>
            </a:pPr>
            <a:r>
              <a:rPr lang="en-US" sz="1600" dirty="0">
                <a:solidFill>
                  <a:srgbClr val="0B1F33"/>
                </a:solidFill>
              </a:rPr>
              <a:t>Each condition exists somewhere, but no study joins identity, authority, approval, policy and time in one decision.</a:t>
            </a:r>
            <a:endParaRPr lang="en-US" sz="1900" dirty="0"/>
          </a:p>
        </p:txBody>
      </p:sp>
      <p:sp>
        <p:nvSpPr>
          <p:cNvPr id="8" name="card Assurance gap"/>
          <p:cNvSpPr/>
          <p:nvPr/>
        </p:nvSpPr>
        <p:spPr>
          <a:xfrm>
            <a:off x="7863840" y="3931920"/>
            <a:ext cx="3657600" cy="2377440"/>
          </a:xfrm>
          <a:prstGeom prst="roundRect">
            <a:avLst>
              <a:gd name="adj" fmla="val 3846"/>
            </a:avLst>
          </a:prstGeom>
          <a:solidFill>
            <a:srgbClr val="FFFFFF">
              <a:alpha val="92000"/>
            </a:srgbClr>
          </a:solidFill>
          <a:ln w="19050">
            <a:solidFill>
              <a:srgbClr val="F2A900"/>
            </a:solidFill>
            <a:prstDash val="solid"/>
          </a:ln>
        </p:spPr>
      </p:sp>
      <p:sp>
        <p:nvSpPr>
          <p:cNvPr id="9" name="card text Assurance gap"/>
          <p:cNvSpPr txBox="1"/>
          <p:nvPr/>
        </p:nvSpPr>
        <p:spPr>
          <a:xfrm>
            <a:off x="8001000" y="4023360"/>
            <a:ext cx="3383280" cy="2194560"/>
          </a:xfrm>
          <a:prstGeom prst="rect">
            <a:avLst/>
          </a:prstGeom>
          <a:noFill/>
          <a:ln/>
        </p:spPr>
        <p:txBody>
          <a:bodyPr wrap="square" rtlCol="0" anchor="t"/>
          <a:lstStyle/>
          <a:p>
            <a:pPr indent="0" marL="0">
              <a:spcAft>
                <a:spcPts val="400"/>
              </a:spcAft>
              <a:buNone/>
            </a:pPr>
            <a:r>
              <a:rPr lang="en-US" sz="1900" b="1" dirty="0">
                <a:solidFill>
                  <a:srgbClr val="F2A900"/>
                </a:solidFill>
              </a:rPr>
              <a:t>Assurance gap</a:t>
            </a:r>
            <a:endParaRPr lang="en-US" sz="1900" dirty="0"/>
          </a:p>
          <a:p>
            <a:pPr indent="0" marL="0">
              <a:spcAft>
                <a:spcPts val="400"/>
              </a:spcAft>
              <a:buNone/>
            </a:pPr>
            <a:r>
              <a:rPr lang="en-US" sz="1600" dirty="0">
                <a:solidFill>
                  <a:srgbClr val="0B1F33"/>
                </a:solidFill>
              </a:rPr>
              <a:t>The whole decision is neither formally proved nor systematically tested. Proofs exist in only 4 of 25 studies.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SIX RESEARCH GAPS</a:t>
            </a:r>
            <a:endParaRPr lang="en-US" sz="3000" dirty="0"/>
          </a:p>
        </p:txBody>
      </p:sp>
      <p:sp>
        <p:nvSpPr>
          <p:cNvPr id="4" name="card Gap 1"/>
          <p:cNvSpPr/>
          <p:nvPr/>
        </p:nvSpPr>
        <p:spPr>
          <a:xfrm>
            <a:off x="640080" y="1188720"/>
            <a:ext cx="5349240" cy="1508760"/>
          </a:xfrm>
          <a:prstGeom prst="roundRect">
            <a:avLst>
              <a:gd name="adj" fmla="val 6061"/>
            </a:avLst>
          </a:prstGeom>
          <a:solidFill>
            <a:srgbClr val="FFFFFF">
              <a:alpha val="92000"/>
            </a:srgbClr>
          </a:solidFill>
          <a:ln w="19050">
            <a:solidFill>
              <a:srgbClr val="1FB5D6"/>
            </a:solidFill>
            <a:prstDash val="solid"/>
          </a:ln>
        </p:spPr>
      </p:sp>
      <p:sp>
        <p:nvSpPr>
          <p:cNvPr id="5" name="card text Gap 1"/>
          <p:cNvSpPr txBox="1"/>
          <p:nvPr/>
        </p:nvSpPr>
        <p:spPr>
          <a:xfrm>
            <a:off x="777240" y="128016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1</a:t>
            </a:r>
            <a:endParaRPr lang="en-US" sz="1900" dirty="0"/>
          </a:p>
          <a:p>
            <a:pPr indent="0" marL="0">
              <a:spcAft>
                <a:spcPts val="400"/>
              </a:spcAft>
              <a:buNone/>
            </a:pPr>
            <a:r>
              <a:rPr lang="en-US" sz="1600" dirty="0">
                <a:solidFill>
                  <a:srgbClr val="0B1F33"/>
                </a:solidFill>
              </a:rPr>
              <a:t>Consent is treated as a record of permission, not as something the system evaluates.</a:t>
            </a:r>
            <a:endParaRPr lang="en-US" sz="1900" dirty="0"/>
          </a:p>
        </p:txBody>
      </p:sp>
      <p:sp>
        <p:nvSpPr>
          <p:cNvPr id="6" name="card Gap 2"/>
          <p:cNvSpPr/>
          <p:nvPr/>
        </p:nvSpPr>
        <p:spPr>
          <a:xfrm>
            <a:off x="6172200" y="1188720"/>
            <a:ext cx="5349240" cy="1508760"/>
          </a:xfrm>
          <a:prstGeom prst="roundRect">
            <a:avLst>
              <a:gd name="adj" fmla="val 6061"/>
            </a:avLst>
          </a:prstGeom>
          <a:solidFill>
            <a:srgbClr val="FFFFFF">
              <a:alpha val="92000"/>
            </a:srgbClr>
          </a:solidFill>
          <a:ln w="19050">
            <a:solidFill>
              <a:srgbClr val="1FB5D6"/>
            </a:solidFill>
            <a:prstDash val="solid"/>
          </a:ln>
        </p:spPr>
      </p:sp>
      <p:sp>
        <p:nvSpPr>
          <p:cNvPr id="7" name="card text Gap 2"/>
          <p:cNvSpPr txBox="1"/>
          <p:nvPr/>
        </p:nvSpPr>
        <p:spPr>
          <a:xfrm>
            <a:off x="6309360" y="128016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2</a:t>
            </a:r>
            <a:endParaRPr lang="en-US" sz="1900" dirty="0"/>
          </a:p>
          <a:p>
            <a:pPr indent="0" marL="0">
              <a:spcAft>
                <a:spcPts val="400"/>
              </a:spcAft>
              <a:buNone/>
            </a:pPr>
            <a:r>
              <a:rPr lang="en-US" sz="1600" dirty="0">
                <a:solidFill>
                  <a:srgbClr val="0B1F33"/>
                </a:solidFill>
              </a:rPr>
              <a:t>Identity shows who a person is, not what they may do. Only 10 of 25 studies check authority separately.</a:t>
            </a:r>
            <a:endParaRPr lang="en-US" sz="1900" dirty="0"/>
          </a:p>
        </p:txBody>
      </p:sp>
      <p:sp>
        <p:nvSpPr>
          <p:cNvPr id="8" name="card Gap 3"/>
          <p:cNvSpPr/>
          <p:nvPr/>
        </p:nvSpPr>
        <p:spPr>
          <a:xfrm>
            <a:off x="640080" y="2880360"/>
            <a:ext cx="5349240" cy="1508760"/>
          </a:xfrm>
          <a:prstGeom prst="roundRect">
            <a:avLst>
              <a:gd name="adj" fmla="val 6061"/>
            </a:avLst>
          </a:prstGeom>
          <a:solidFill>
            <a:srgbClr val="FFFFFF">
              <a:alpha val="92000"/>
            </a:srgbClr>
          </a:solidFill>
          <a:ln w="19050">
            <a:solidFill>
              <a:srgbClr val="1FB5D6"/>
            </a:solidFill>
            <a:prstDash val="solid"/>
          </a:ln>
        </p:spPr>
      </p:sp>
      <p:sp>
        <p:nvSpPr>
          <p:cNvPr id="9" name="card text Gap 3"/>
          <p:cNvSpPr txBox="1"/>
          <p:nvPr/>
        </p:nvSpPr>
        <p:spPr>
          <a:xfrm>
            <a:off x="777240" y="297180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3</a:t>
            </a:r>
            <a:endParaRPr lang="en-US" sz="1900" dirty="0"/>
          </a:p>
          <a:p>
            <a:pPr indent="0" marL="0">
              <a:spcAft>
                <a:spcPts val="400"/>
              </a:spcAft>
              <a:buNone/>
            </a:pPr>
            <a:r>
              <a:rPr lang="en-US" sz="1600" dirty="0">
                <a:solidFill>
                  <a:srgbClr val="0B1F33"/>
                </a:solidFill>
              </a:rPr>
              <a:t>Multi-party approval is a backup path or a one-time step, not a condition of every access.</a:t>
            </a:r>
            <a:endParaRPr lang="en-US" sz="1900" dirty="0"/>
          </a:p>
        </p:txBody>
      </p:sp>
      <p:sp>
        <p:nvSpPr>
          <p:cNvPr id="10" name="card Gap 4"/>
          <p:cNvSpPr/>
          <p:nvPr/>
        </p:nvSpPr>
        <p:spPr>
          <a:xfrm>
            <a:off x="6172200" y="2880360"/>
            <a:ext cx="5349240" cy="1508760"/>
          </a:xfrm>
          <a:prstGeom prst="roundRect">
            <a:avLst>
              <a:gd name="adj" fmla="val 6061"/>
            </a:avLst>
          </a:prstGeom>
          <a:solidFill>
            <a:srgbClr val="FFFFFF">
              <a:alpha val="92000"/>
            </a:srgbClr>
          </a:solidFill>
          <a:ln w="19050">
            <a:solidFill>
              <a:srgbClr val="1FB5D6"/>
            </a:solidFill>
            <a:prstDash val="solid"/>
          </a:ln>
        </p:spPr>
      </p:sp>
      <p:sp>
        <p:nvSpPr>
          <p:cNvPr id="11" name="card text Gap 4"/>
          <p:cNvSpPr txBox="1"/>
          <p:nvPr/>
        </p:nvSpPr>
        <p:spPr>
          <a:xfrm>
            <a:off x="6309360" y="297180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4</a:t>
            </a:r>
            <a:endParaRPr lang="en-US" sz="1900" dirty="0"/>
          </a:p>
          <a:p>
            <a:pPr indent="0" marL="0">
              <a:spcAft>
                <a:spcPts val="400"/>
              </a:spcAft>
              <a:buNone/>
            </a:pPr>
            <a:r>
              <a:rPr lang="en-US" sz="1600" dirty="0">
                <a:solidFill>
                  <a:srgbClr val="0B1F33"/>
                </a:solidFill>
              </a:rPr>
              <a:t>Purpose, data scope and jurisdiction are rarely checked in the same decision as identity and approval.</a:t>
            </a:r>
            <a:endParaRPr lang="en-US" sz="1900" dirty="0"/>
          </a:p>
        </p:txBody>
      </p:sp>
      <p:sp>
        <p:nvSpPr>
          <p:cNvPr id="12" name="card Gap 5"/>
          <p:cNvSpPr/>
          <p:nvPr/>
        </p:nvSpPr>
        <p:spPr>
          <a:xfrm>
            <a:off x="640080" y="4572000"/>
            <a:ext cx="5349240" cy="1508760"/>
          </a:xfrm>
          <a:prstGeom prst="roundRect">
            <a:avLst>
              <a:gd name="adj" fmla="val 6061"/>
            </a:avLst>
          </a:prstGeom>
          <a:solidFill>
            <a:srgbClr val="FFFFFF">
              <a:alpha val="92000"/>
            </a:srgbClr>
          </a:solidFill>
          <a:ln w="19050">
            <a:solidFill>
              <a:srgbClr val="1FB5D6"/>
            </a:solidFill>
            <a:prstDash val="solid"/>
          </a:ln>
        </p:spPr>
      </p:sp>
      <p:sp>
        <p:nvSpPr>
          <p:cNvPr id="13" name="card text Gap 5"/>
          <p:cNvSpPr txBox="1"/>
          <p:nvPr/>
        </p:nvSpPr>
        <p:spPr>
          <a:xfrm>
            <a:off x="777240" y="466344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5</a:t>
            </a:r>
            <a:endParaRPr lang="en-US" sz="1900" dirty="0"/>
          </a:p>
          <a:p>
            <a:pPr indent="0" marL="0">
              <a:spcAft>
                <a:spcPts val="400"/>
              </a:spcAft>
              <a:buNone/>
            </a:pPr>
            <a:r>
              <a:rPr lang="en-US" sz="1600" dirty="0">
                <a:solidFill>
                  <a:srgbClr val="0B1F33"/>
                </a:solidFill>
              </a:rPr>
              <a:t>Time, lifecycle and revocation are often checked once, at registration, not at each request.</a:t>
            </a:r>
            <a:endParaRPr lang="en-US" sz="1900" dirty="0"/>
          </a:p>
        </p:txBody>
      </p:sp>
      <p:sp>
        <p:nvSpPr>
          <p:cNvPr id="14" name="card Gap 6"/>
          <p:cNvSpPr/>
          <p:nvPr/>
        </p:nvSpPr>
        <p:spPr>
          <a:xfrm>
            <a:off x="6172200" y="4572000"/>
            <a:ext cx="5349240" cy="1508760"/>
          </a:xfrm>
          <a:prstGeom prst="roundRect">
            <a:avLst>
              <a:gd name="adj" fmla="val 6061"/>
            </a:avLst>
          </a:prstGeom>
          <a:solidFill>
            <a:srgbClr val="FFFFFF">
              <a:alpha val="92000"/>
            </a:srgbClr>
          </a:solidFill>
          <a:ln w="19050">
            <a:solidFill>
              <a:srgbClr val="1FB5D6"/>
            </a:solidFill>
            <a:prstDash val="solid"/>
          </a:ln>
        </p:spPr>
      </p:sp>
      <p:sp>
        <p:nvSpPr>
          <p:cNvPr id="15" name="card text Gap 6"/>
          <p:cNvSpPr txBox="1"/>
          <p:nvPr/>
        </p:nvSpPr>
        <p:spPr>
          <a:xfrm>
            <a:off x="6309360" y="466344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6</a:t>
            </a:r>
            <a:endParaRPr lang="en-US" sz="1900" dirty="0"/>
          </a:p>
          <a:p>
            <a:pPr indent="0" marL="0">
              <a:spcAft>
                <a:spcPts val="400"/>
              </a:spcAft>
              <a:buNone/>
            </a:pPr>
            <a:r>
              <a:rPr lang="en-US" sz="1600" dirty="0">
                <a:solidFill>
                  <a:srgbClr val="0B1F33"/>
                </a:solidFill>
              </a:rPr>
              <a:t>The decision as a whole is neither formally proved nor systematically tested.</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QUESTIONS</a:t>
            </a:r>
            <a:endParaRPr lang="en-US" sz="3000" dirty="0"/>
          </a:p>
        </p:txBody>
      </p:sp>
      <p:sp>
        <p:nvSpPr>
          <p:cNvPr id="4" name="rq box"/>
          <p:cNvSpPr/>
          <p:nvPr/>
        </p:nvSpPr>
        <p:spPr>
          <a:xfrm>
            <a:off x="731520" y="1143000"/>
            <a:ext cx="10698480" cy="1325880"/>
          </a:xfrm>
          <a:prstGeom prst="roundRect">
            <a:avLst>
              <a:gd name="adj" fmla="val 8276"/>
            </a:avLst>
          </a:prstGeom>
          <a:solidFill>
            <a:srgbClr val="0B2A4A">
              <a:alpha val="85000"/>
            </a:srgbClr>
          </a:solidFill>
          <a:ln w="25400">
            <a:solidFill>
              <a:srgbClr val="1FB5D6"/>
            </a:solidFill>
            <a:prstDash val="solid"/>
          </a:ln>
        </p:spPr>
      </p:sp>
      <p:sp>
        <p:nvSpPr>
          <p:cNvPr id="5" name="rq text"/>
          <p:cNvSpPr txBox="1"/>
          <p:nvPr/>
        </p:nvSpPr>
        <p:spPr>
          <a:xfrm>
            <a:off x="914400" y="1188720"/>
            <a:ext cx="10332720" cy="1234440"/>
          </a:xfrm>
          <a:prstGeom prst="rect">
            <a:avLst/>
          </a:prstGeom>
          <a:noFill/>
          <a:ln/>
        </p:spPr>
        <p:txBody>
          <a:bodyPr wrap="square" rtlCol="0" anchor="ctr"/>
          <a:lstStyle/>
          <a:p>
            <a:pPr algn="ctr" indent="0" marL="0">
              <a:buNone/>
            </a:pPr>
            <a:r>
              <a:rPr lang="en-US" sz="1800" i="1" dirty="0">
                <a:solidFill>
                  <a:srgbClr val="FFFFFF"/>
                </a:solidFill>
              </a:rPr>
              <a:t>How can a trust-oriented computing framework establish and enforce trustworthy multi-party consent for decentralised healthcare data sharing under identity, authority, and policy constraints?</a:t>
            </a:r>
            <a:endParaRPr lang="en-US" sz="1800" dirty="0"/>
          </a:p>
        </p:txBody>
      </p:sp>
      <p:sp>
        <p:nvSpPr>
          <p:cNvPr id="6" name="card RQ1"/>
          <p:cNvSpPr/>
          <p:nvPr/>
        </p:nvSpPr>
        <p:spPr>
          <a:xfrm>
            <a:off x="731520" y="2697480"/>
            <a:ext cx="3429000" cy="1691640"/>
          </a:xfrm>
          <a:prstGeom prst="roundRect">
            <a:avLst>
              <a:gd name="adj" fmla="val 5405"/>
            </a:avLst>
          </a:prstGeom>
          <a:solidFill>
            <a:srgbClr val="FFFFFF">
              <a:alpha val="92000"/>
            </a:srgbClr>
          </a:solidFill>
          <a:ln w="19050">
            <a:solidFill>
              <a:srgbClr val="1FB5D6"/>
            </a:solidFill>
            <a:prstDash val="solid"/>
          </a:ln>
        </p:spPr>
      </p:sp>
      <p:sp>
        <p:nvSpPr>
          <p:cNvPr id="7" name="card text RQ1"/>
          <p:cNvSpPr txBox="1"/>
          <p:nvPr/>
        </p:nvSpPr>
        <p:spPr>
          <a:xfrm>
            <a:off x="868680" y="2788920"/>
            <a:ext cx="3154680" cy="1508760"/>
          </a:xfrm>
          <a:prstGeom prst="rect">
            <a:avLst/>
          </a:prstGeom>
          <a:noFill/>
          <a:ln/>
        </p:spPr>
        <p:txBody>
          <a:bodyPr wrap="square" rtlCol="0" anchor="t"/>
          <a:lstStyle/>
          <a:p>
            <a:pPr indent="0" marL="0">
              <a:spcAft>
                <a:spcPts val="400"/>
              </a:spcAft>
              <a:buNone/>
            </a:pPr>
            <a:r>
              <a:rPr lang="en-US" sz="1900" b="1" dirty="0">
                <a:solidFill>
                  <a:srgbClr val="0B2A4A"/>
                </a:solidFill>
              </a:rPr>
              <a:t>RQ1</a:t>
            </a:r>
            <a:endParaRPr lang="en-US" sz="1900" dirty="0"/>
          </a:p>
          <a:p>
            <a:pPr indent="0" marL="0">
              <a:spcAft>
                <a:spcPts val="400"/>
              </a:spcAft>
              <a:buNone/>
            </a:pPr>
            <a:r>
              <a:rPr lang="en-US" sz="1600" dirty="0">
                <a:solidFill>
                  <a:srgbClr val="0B1F33"/>
                </a:solidFill>
              </a:rPr>
              <a:t>How can consent be modelled as an object that carries identity, authority, policy and evidence?</a:t>
            </a:r>
            <a:endParaRPr lang="en-US" sz="1900" dirty="0"/>
          </a:p>
        </p:txBody>
      </p:sp>
      <p:sp>
        <p:nvSpPr>
          <p:cNvPr id="8" name="card RQ2"/>
          <p:cNvSpPr/>
          <p:nvPr/>
        </p:nvSpPr>
        <p:spPr>
          <a:xfrm>
            <a:off x="4343400" y="2697480"/>
            <a:ext cx="3429000" cy="1691640"/>
          </a:xfrm>
          <a:prstGeom prst="roundRect">
            <a:avLst>
              <a:gd name="adj" fmla="val 5405"/>
            </a:avLst>
          </a:prstGeom>
          <a:solidFill>
            <a:srgbClr val="FFFFFF">
              <a:alpha val="92000"/>
            </a:srgbClr>
          </a:solidFill>
          <a:ln w="19050">
            <a:solidFill>
              <a:srgbClr val="1FB5D6"/>
            </a:solidFill>
            <a:prstDash val="solid"/>
          </a:ln>
        </p:spPr>
      </p:sp>
      <p:sp>
        <p:nvSpPr>
          <p:cNvPr id="9" name="card text RQ2"/>
          <p:cNvSpPr txBox="1"/>
          <p:nvPr/>
        </p:nvSpPr>
        <p:spPr>
          <a:xfrm>
            <a:off x="4480560" y="2788920"/>
            <a:ext cx="3154680" cy="1508760"/>
          </a:xfrm>
          <a:prstGeom prst="rect">
            <a:avLst/>
          </a:prstGeom>
          <a:noFill/>
          <a:ln/>
        </p:spPr>
        <p:txBody>
          <a:bodyPr wrap="square" rtlCol="0" anchor="t"/>
          <a:lstStyle/>
          <a:p>
            <a:pPr indent="0" marL="0">
              <a:spcAft>
                <a:spcPts val="400"/>
              </a:spcAft>
              <a:buNone/>
            </a:pPr>
            <a:r>
              <a:rPr lang="en-US" sz="1900" b="1" dirty="0">
                <a:solidFill>
                  <a:srgbClr val="0B2A4A"/>
                </a:solidFill>
              </a:rPr>
              <a:t>RQ2</a:t>
            </a:r>
            <a:endParaRPr lang="en-US" sz="1900" dirty="0"/>
          </a:p>
          <a:p>
            <a:pPr indent="0" marL="0">
              <a:spcAft>
                <a:spcPts val="400"/>
              </a:spcAft>
              <a:buNone/>
            </a:pPr>
            <a:r>
              <a:rPr lang="en-US" sz="1600" dirty="0">
                <a:solidFill>
                  <a:srgbClr val="0B1F33"/>
                </a:solidFill>
              </a:rPr>
              <a:t>How can DIDs and credentials prove who a person is and, separately, what they may do?</a:t>
            </a:r>
            <a:endParaRPr lang="en-US" sz="1900" dirty="0"/>
          </a:p>
        </p:txBody>
      </p:sp>
      <p:sp>
        <p:nvSpPr>
          <p:cNvPr id="10" name="card RQ3"/>
          <p:cNvSpPr/>
          <p:nvPr/>
        </p:nvSpPr>
        <p:spPr>
          <a:xfrm>
            <a:off x="7955280" y="2697480"/>
            <a:ext cx="3429000" cy="1691640"/>
          </a:xfrm>
          <a:prstGeom prst="roundRect">
            <a:avLst>
              <a:gd name="adj" fmla="val 5405"/>
            </a:avLst>
          </a:prstGeom>
          <a:solidFill>
            <a:srgbClr val="FFFFFF">
              <a:alpha val="92000"/>
            </a:srgbClr>
          </a:solidFill>
          <a:ln w="19050">
            <a:solidFill>
              <a:srgbClr val="1FB5D6"/>
            </a:solidFill>
            <a:prstDash val="solid"/>
          </a:ln>
        </p:spPr>
      </p:sp>
      <p:sp>
        <p:nvSpPr>
          <p:cNvPr id="11" name="card text RQ3"/>
          <p:cNvSpPr txBox="1"/>
          <p:nvPr/>
        </p:nvSpPr>
        <p:spPr>
          <a:xfrm>
            <a:off x="8092440" y="2788920"/>
            <a:ext cx="3154680" cy="1508760"/>
          </a:xfrm>
          <a:prstGeom prst="rect">
            <a:avLst/>
          </a:prstGeom>
          <a:noFill/>
          <a:ln/>
        </p:spPr>
        <p:txBody>
          <a:bodyPr wrap="square" rtlCol="0" anchor="t"/>
          <a:lstStyle/>
          <a:p>
            <a:pPr indent="0" marL="0">
              <a:spcAft>
                <a:spcPts val="400"/>
              </a:spcAft>
              <a:buNone/>
            </a:pPr>
            <a:r>
              <a:rPr lang="en-US" sz="1900" b="1" dirty="0">
                <a:solidFill>
                  <a:srgbClr val="0B2A4A"/>
                </a:solidFill>
              </a:rPr>
              <a:t>RQ3</a:t>
            </a:r>
            <a:endParaRPr lang="en-US" sz="1900" dirty="0"/>
          </a:p>
          <a:p>
            <a:pPr indent="0" marL="0">
              <a:spcAft>
                <a:spcPts val="400"/>
              </a:spcAft>
              <a:buNone/>
            </a:pPr>
            <a:r>
              <a:rPr lang="en-US" sz="1600" dirty="0">
                <a:solidFill>
                  <a:srgbClr val="0B1F33"/>
                </a:solidFill>
              </a:rPr>
              <a:t>How can several guardians approve together, so that no single person can approve alone?</a:t>
            </a:r>
            <a:endParaRPr lang="en-US" sz="1900" dirty="0"/>
          </a:p>
        </p:txBody>
      </p:sp>
      <p:sp>
        <p:nvSpPr>
          <p:cNvPr id="12" name="card RQ4"/>
          <p:cNvSpPr/>
          <p:nvPr/>
        </p:nvSpPr>
        <p:spPr>
          <a:xfrm>
            <a:off x="731520" y="4572000"/>
            <a:ext cx="3429000" cy="1691640"/>
          </a:xfrm>
          <a:prstGeom prst="roundRect">
            <a:avLst>
              <a:gd name="adj" fmla="val 5405"/>
            </a:avLst>
          </a:prstGeom>
          <a:solidFill>
            <a:srgbClr val="FFFFFF">
              <a:alpha val="92000"/>
            </a:srgbClr>
          </a:solidFill>
          <a:ln w="19050">
            <a:solidFill>
              <a:srgbClr val="1FB5D6"/>
            </a:solidFill>
            <a:prstDash val="solid"/>
          </a:ln>
        </p:spPr>
      </p:sp>
      <p:sp>
        <p:nvSpPr>
          <p:cNvPr id="13" name="card text RQ4"/>
          <p:cNvSpPr txBox="1"/>
          <p:nvPr/>
        </p:nvSpPr>
        <p:spPr>
          <a:xfrm>
            <a:off x="868680" y="4663440"/>
            <a:ext cx="3154680" cy="1508760"/>
          </a:xfrm>
          <a:prstGeom prst="rect">
            <a:avLst/>
          </a:prstGeom>
          <a:noFill/>
          <a:ln/>
        </p:spPr>
        <p:txBody>
          <a:bodyPr wrap="square" rtlCol="0" anchor="t"/>
          <a:lstStyle/>
          <a:p>
            <a:pPr indent="0" marL="0">
              <a:spcAft>
                <a:spcPts val="400"/>
              </a:spcAft>
              <a:buNone/>
            </a:pPr>
            <a:r>
              <a:rPr lang="en-US" sz="1900" b="1" dirty="0">
                <a:solidFill>
                  <a:srgbClr val="0B2A4A"/>
                </a:solidFill>
              </a:rPr>
              <a:t>RQ4</a:t>
            </a:r>
            <a:endParaRPr lang="en-US" sz="1900" dirty="0"/>
          </a:p>
          <a:p>
            <a:pPr indent="0" marL="0">
              <a:spcAft>
                <a:spcPts val="400"/>
              </a:spcAft>
              <a:buNone/>
            </a:pPr>
            <a:r>
              <a:rPr lang="en-US" sz="1600" dirty="0">
                <a:solidFill>
                  <a:srgbClr val="0B1F33"/>
                </a:solidFill>
              </a:rPr>
              <a:t>How can purpose and data scope stop valid identities from reaching data they were not given?</a:t>
            </a:r>
            <a:endParaRPr lang="en-US" sz="1900" dirty="0"/>
          </a:p>
        </p:txBody>
      </p:sp>
      <p:sp>
        <p:nvSpPr>
          <p:cNvPr id="14" name="card RQ5"/>
          <p:cNvSpPr/>
          <p:nvPr/>
        </p:nvSpPr>
        <p:spPr>
          <a:xfrm>
            <a:off x="4343400" y="4572000"/>
            <a:ext cx="3429000" cy="1691640"/>
          </a:xfrm>
          <a:prstGeom prst="roundRect">
            <a:avLst>
              <a:gd name="adj" fmla="val 5405"/>
            </a:avLst>
          </a:prstGeom>
          <a:solidFill>
            <a:srgbClr val="FFFFFF">
              <a:alpha val="92000"/>
            </a:srgbClr>
          </a:solidFill>
          <a:ln w="19050">
            <a:solidFill>
              <a:srgbClr val="1FB5D6"/>
            </a:solidFill>
            <a:prstDash val="solid"/>
          </a:ln>
        </p:spPr>
      </p:sp>
      <p:sp>
        <p:nvSpPr>
          <p:cNvPr id="15" name="card text RQ5"/>
          <p:cNvSpPr txBox="1"/>
          <p:nvPr/>
        </p:nvSpPr>
        <p:spPr>
          <a:xfrm>
            <a:off x="4480560" y="4663440"/>
            <a:ext cx="3154680" cy="1508760"/>
          </a:xfrm>
          <a:prstGeom prst="rect">
            <a:avLst/>
          </a:prstGeom>
          <a:noFill/>
          <a:ln/>
        </p:spPr>
        <p:txBody>
          <a:bodyPr wrap="square" rtlCol="0" anchor="t"/>
          <a:lstStyle/>
          <a:p>
            <a:pPr indent="0" marL="0">
              <a:spcAft>
                <a:spcPts val="400"/>
              </a:spcAft>
              <a:buNone/>
            </a:pPr>
            <a:r>
              <a:rPr lang="en-US" sz="1900" b="1" dirty="0">
                <a:solidFill>
                  <a:srgbClr val="0B2A4A"/>
                </a:solidFill>
              </a:rPr>
              <a:t>RQ5</a:t>
            </a:r>
            <a:endParaRPr lang="en-US" sz="1900" dirty="0"/>
          </a:p>
          <a:p>
            <a:pPr indent="0" marL="0">
              <a:spcAft>
                <a:spcPts val="400"/>
              </a:spcAft>
              <a:buNone/>
            </a:pPr>
            <a:r>
              <a:rPr lang="en-US" sz="1600" dirty="0">
                <a:solidFill>
                  <a:srgbClr val="0B1F33"/>
                </a:solidFill>
              </a:rPr>
              <a:t>How can time and lifecycle controls reject access after expiry or revocation?</a:t>
            </a:r>
            <a:endParaRPr lang="en-US" sz="1900" dirty="0"/>
          </a:p>
        </p:txBody>
      </p:sp>
      <p:sp>
        <p:nvSpPr>
          <p:cNvPr id="16" name="card RQ6"/>
          <p:cNvSpPr/>
          <p:nvPr/>
        </p:nvSpPr>
        <p:spPr>
          <a:xfrm>
            <a:off x="7955280" y="4572000"/>
            <a:ext cx="3429000" cy="1691640"/>
          </a:xfrm>
          <a:prstGeom prst="roundRect">
            <a:avLst>
              <a:gd name="adj" fmla="val 5405"/>
            </a:avLst>
          </a:prstGeom>
          <a:solidFill>
            <a:srgbClr val="FFFFFF">
              <a:alpha val="92000"/>
            </a:srgbClr>
          </a:solidFill>
          <a:ln w="19050">
            <a:solidFill>
              <a:srgbClr val="1FB5D6"/>
            </a:solidFill>
            <a:prstDash val="solid"/>
          </a:ln>
        </p:spPr>
      </p:sp>
      <p:sp>
        <p:nvSpPr>
          <p:cNvPr id="17" name="card text RQ6"/>
          <p:cNvSpPr txBox="1"/>
          <p:nvPr/>
        </p:nvSpPr>
        <p:spPr>
          <a:xfrm>
            <a:off x="8092440" y="4663440"/>
            <a:ext cx="3154680" cy="1508760"/>
          </a:xfrm>
          <a:prstGeom prst="rect">
            <a:avLst/>
          </a:prstGeom>
          <a:noFill/>
          <a:ln/>
        </p:spPr>
        <p:txBody>
          <a:bodyPr wrap="square" rtlCol="0" anchor="t"/>
          <a:lstStyle/>
          <a:p>
            <a:pPr indent="0" marL="0">
              <a:spcAft>
                <a:spcPts val="400"/>
              </a:spcAft>
              <a:buNone/>
            </a:pPr>
            <a:r>
              <a:rPr lang="en-US" sz="1900" b="1" dirty="0">
                <a:solidFill>
                  <a:srgbClr val="0B2A4A"/>
                </a:solidFill>
              </a:rPr>
              <a:t>RQ6</a:t>
            </a:r>
            <a:endParaRPr lang="en-US" sz="1900" dirty="0"/>
          </a:p>
          <a:p>
            <a:pPr indent="0" marL="0">
              <a:spcAft>
                <a:spcPts val="400"/>
              </a:spcAft>
              <a:buNone/>
            </a:pPr>
            <a:r>
              <a:rPr lang="en-US" sz="1600" dirty="0">
                <a:solidFill>
                  <a:srgbClr val="0B1F33"/>
                </a:solidFill>
              </a:rPr>
              <a:t>How can the security properties be formally defined and empirically tested?</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OBJECTIVES AND STATUS</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10698480" cy="914400"/>
        </p:xfrm>
        <a:graphic>
          <a:graphicData uri="http://schemas.openxmlformats.org/drawingml/2006/table">
            <a:tbl>
              <a:tblPr/>
              <a:tblGrid>
                <a:gridCol w="1371600"/>
                <a:gridCol w="6949440"/>
                <a:gridCol w="2377440"/>
              </a:tblGrid>
              <a:tr h="749808">
                <a:tc>
                  <a:txBody>
                    <a:bodyPr/>
                    <a:lstStyle/>
                    <a:p>
                      <a:pPr indent="0" marL="0">
                        <a:buNone/>
                      </a:pPr>
                      <a:r>
                        <a:rPr lang="en-US" sz="1600" b="1" dirty="0">
                          <a:solidFill>
                            <a:srgbClr val="FFFFFF"/>
                          </a:solidFill>
                        </a:rPr>
                        <a:t>Objective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600" b="1" dirty="0">
                          <a:solidFill>
                            <a:srgbClr val="FFFFFF"/>
                          </a:solidFill>
                        </a:rPr>
                        <a:t>In simple words</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600" b="1" dirty="0">
                          <a:solidFill>
                            <a:srgbClr val="FFFFFF"/>
                          </a:solidFill>
                        </a:rPr>
                        <a:t>Status</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49808">
                <a:tc>
                  <a:txBody>
                    <a:bodyPr/>
                    <a:lstStyle/>
                    <a:p>
                      <a:pPr indent="0" marL="0">
                        <a:buNone/>
                      </a:pPr>
                      <a:r>
                        <a:rPr lang="en-US" sz="1600" b="1" dirty="0">
                          <a:solidFill>
                            <a:srgbClr val="0B1F33"/>
                          </a:solidFill>
                        </a:rPr>
                        <a:t>RO1</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Make consent an object the system can check: C = (I, A, P, T, L, 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Done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49808">
                <a:tc>
                  <a:txBody>
                    <a:bodyPr/>
                    <a:lstStyle/>
                    <a:p>
                      <a:pPr indent="0" marL="0">
                        <a:buNone/>
                      </a:pPr>
                      <a:r>
                        <a:rPr lang="en-US" sz="1600" b="1" dirty="0">
                          <a:solidFill>
                            <a:srgbClr val="0B1F33"/>
                          </a:solidFill>
                        </a:rPr>
                        <a:t>RO2</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Check who a person is (DID) separately from what they may do (credential)</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Done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49808">
                <a:tc>
                  <a:txBody>
                    <a:bodyPr/>
                    <a:lstStyle/>
                    <a:p>
                      <a:pPr indent="0" marL="0">
                        <a:buNone/>
                      </a:pPr>
                      <a:r>
                        <a:rPr lang="en-US" sz="1600" b="1" dirty="0">
                          <a:solidFill>
                            <a:srgbClr val="0B1F33"/>
                          </a:solidFill>
                        </a:rPr>
                        <a:t>RO3</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Require approval from all listed guardians, each with a verified signature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Done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49808">
                <a:tc>
                  <a:txBody>
                    <a:bodyPr/>
                    <a:lstStyle/>
                    <a:p>
                      <a:pPr indent="0" marL="0">
                        <a:buNone/>
                      </a:pPr>
                      <a:r>
                        <a:rPr lang="en-US" sz="1600" b="1" dirty="0">
                          <a:solidFill>
                            <a:srgbClr val="0B1F33"/>
                          </a:solidFill>
                        </a:rPr>
                        <a:t>RO4</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Allow only requests inside the agreed purpose, data scope and jurisdiction</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Done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49808">
                <a:tc>
                  <a:txBody>
                    <a:bodyPr/>
                    <a:lstStyle/>
                    <a:p>
                      <a:pPr indent="0" marL="0">
                        <a:buNone/>
                      </a:pPr>
                      <a:r>
                        <a:rPr lang="en-US" sz="1600" b="1" dirty="0">
                          <a:solidFill>
                            <a:srgbClr val="0B1F33"/>
                          </a:solidFill>
                        </a:rPr>
                        <a:t>RO5</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Reject access after expiry or revocation, and control the consent lifecycle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In Progress</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49808">
                <a:tc>
                  <a:txBody>
                    <a:bodyPr/>
                    <a:lstStyle/>
                    <a:p>
                      <a:pPr indent="0" marL="0">
                        <a:buNone/>
                      </a:pPr>
                      <a:r>
                        <a:rPr lang="en-US" sz="1600" b="1" dirty="0">
                          <a:solidFill>
                            <a:srgbClr val="0B1F33"/>
                          </a:solidFill>
                        </a:rPr>
                        <a:t>RO6</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Define the security properties, prove them formally and test them empirically</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Partially completed</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METHODOLOGY</a:t>
            </a:r>
            <a:endParaRPr lang="en-US" sz="3000" dirty="0"/>
          </a:p>
        </p:txBody>
      </p:sp>
      <p:sp>
        <p:nvSpPr>
          <p:cNvPr id="4" name="step number 1"/>
          <p:cNvSpPr/>
          <p:nvPr/>
        </p:nvSpPr>
        <p:spPr>
          <a:xfrm>
            <a:off x="987552" y="1554480"/>
            <a:ext cx="548640" cy="548640"/>
          </a:xfrm>
          <a:prstGeom prst="ellipse">
            <a:avLst/>
          </a:prstGeom>
          <a:solidFill>
            <a:srgbClr val="1FB5D6"/>
          </a:solidFill>
          <a:ln w="19050">
            <a:solidFill>
              <a:srgbClr val="FFFFFF"/>
            </a:solidFill>
            <a:prstDash val="solid"/>
          </a:ln>
        </p:spPr>
      </p:sp>
      <p:sp>
        <p:nvSpPr>
          <p:cNvPr id="5" name="step num text 1"/>
          <p:cNvSpPr txBox="1"/>
          <p:nvPr/>
        </p:nvSpPr>
        <p:spPr>
          <a:xfrm>
            <a:off x="987552" y="1554480"/>
            <a:ext cx="548640" cy="548640"/>
          </a:xfrm>
          <a:prstGeom prst="rect">
            <a:avLst/>
          </a:prstGeom>
          <a:noFill/>
          <a:ln/>
        </p:spPr>
        <p:txBody>
          <a:bodyPr wrap="square" rtlCol="0" anchor="ctr"/>
          <a:lstStyle/>
          <a:p>
            <a:pPr algn="ctr" indent="0" marL="0">
              <a:buNone/>
            </a:pPr>
            <a:r>
              <a:rPr lang="en-US" sz="2000" b="1" dirty="0">
                <a:solidFill>
                  <a:srgbClr val="FFFFFF"/>
                </a:solidFill>
              </a:rPr>
              <a:t>1</a:t>
            </a:r>
            <a:endParaRPr lang="en-US" sz="2000" dirty="0"/>
          </a:p>
        </p:txBody>
      </p:sp>
      <p:sp>
        <p:nvSpPr>
          <p:cNvPr id="6" name="step box 1"/>
          <p:cNvSpPr/>
          <p:nvPr/>
        </p:nvSpPr>
        <p:spPr>
          <a:xfrm>
            <a:off x="502920" y="2286000"/>
            <a:ext cx="1517904" cy="2926080"/>
          </a:xfrm>
          <a:prstGeom prst="roundRect">
            <a:avLst>
              <a:gd name="adj" fmla="val 6024"/>
            </a:avLst>
          </a:prstGeom>
          <a:solidFill>
            <a:srgbClr val="FFFFFF"/>
          </a:solidFill>
          <a:ln w="19050">
            <a:solidFill>
              <a:srgbClr val="1FB5D6"/>
            </a:solidFill>
            <a:prstDash val="solid"/>
          </a:ln>
        </p:spPr>
      </p:sp>
      <p:sp>
        <p:nvSpPr>
          <p:cNvPr id="7" name="step text 1"/>
          <p:cNvSpPr txBox="1"/>
          <p:nvPr/>
        </p:nvSpPr>
        <p:spPr>
          <a:xfrm>
            <a:off x="54864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Problem</a:t>
            </a:r>
            <a:endParaRPr lang="en-US" sz="1400" dirty="0"/>
          </a:p>
          <a:p>
            <a:pPr algn="ctr" indent="0" marL="0">
              <a:spcAft>
                <a:spcPts val="800"/>
              </a:spcAft>
              <a:buNone/>
            </a:pPr>
            <a:r>
              <a:rPr lang="en-US" sz="1300" dirty="0">
                <a:solidFill>
                  <a:srgbClr val="0B1F33"/>
                </a:solidFill>
              </a:rPr>
              <a:t>Consent is a passive record; no single trusted decision</a:t>
            </a:r>
            <a:endParaRPr lang="en-US" sz="1400" dirty="0"/>
          </a:p>
        </p:txBody>
      </p:sp>
      <p:sp>
        <p:nvSpPr>
          <p:cNvPr id="8" name="step number 2"/>
          <p:cNvSpPr/>
          <p:nvPr/>
        </p:nvSpPr>
        <p:spPr>
          <a:xfrm>
            <a:off x="2615184" y="1554480"/>
            <a:ext cx="548640" cy="548640"/>
          </a:xfrm>
          <a:prstGeom prst="ellipse">
            <a:avLst/>
          </a:prstGeom>
          <a:solidFill>
            <a:srgbClr val="1FB5D6"/>
          </a:solidFill>
          <a:ln w="19050">
            <a:solidFill>
              <a:srgbClr val="FFFFFF"/>
            </a:solidFill>
            <a:prstDash val="solid"/>
          </a:ln>
        </p:spPr>
      </p:sp>
      <p:sp>
        <p:nvSpPr>
          <p:cNvPr id="9" name="step num text 2"/>
          <p:cNvSpPr txBox="1"/>
          <p:nvPr/>
        </p:nvSpPr>
        <p:spPr>
          <a:xfrm>
            <a:off x="2615184" y="1554480"/>
            <a:ext cx="548640" cy="548640"/>
          </a:xfrm>
          <a:prstGeom prst="rect">
            <a:avLst/>
          </a:prstGeom>
          <a:noFill/>
          <a:ln/>
        </p:spPr>
        <p:txBody>
          <a:bodyPr wrap="square" rtlCol="0" anchor="ctr"/>
          <a:lstStyle/>
          <a:p>
            <a:pPr algn="ctr" indent="0" marL="0">
              <a:buNone/>
            </a:pPr>
            <a:r>
              <a:rPr lang="en-US" sz="2000" b="1" dirty="0">
                <a:solidFill>
                  <a:srgbClr val="FFFFFF"/>
                </a:solidFill>
              </a:rPr>
              <a:t>2</a:t>
            </a:r>
            <a:endParaRPr lang="en-US" sz="2000" dirty="0"/>
          </a:p>
        </p:txBody>
      </p:sp>
      <p:sp>
        <p:nvSpPr>
          <p:cNvPr id="10" name="step box 2"/>
          <p:cNvSpPr/>
          <p:nvPr/>
        </p:nvSpPr>
        <p:spPr>
          <a:xfrm>
            <a:off x="2130552" y="2286000"/>
            <a:ext cx="1517904" cy="2926080"/>
          </a:xfrm>
          <a:prstGeom prst="roundRect">
            <a:avLst>
              <a:gd name="adj" fmla="val 6024"/>
            </a:avLst>
          </a:prstGeom>
          <a:solidFill>
            <a:srgbClr val="FFFFFF"/>
          </a:solidFill>
          <a:ln w="19050">
            <a:solidFill>
              <a:srgbClr val="1FB5D6"/>
            </a:solidFill>
            <a:prstDash val="solid"/>
          </a:ln>
        </p:spPr>
      </p:sp>
      <p:sp>
        <p:nvSpPr>
          <p:cNvPr id="11" name="step text 2"/>
          <p:cNvSpPr txBox="1"/>
          <p:nvPr/>
        </p:nvSpPr>
        <p:spPr>
          <a:xfrm>
            <a:off x="217627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Literature review</a:t>
            </a:r>
            <a:endParaRPr lang="en-US" sz="1400" dirty="0"/>
          </a:p>
          <a:p>
            <a:pPr algn="ctr" indent="0" marL="0">
              <a:spcAft>
                <a:spcPts val="800"/>
              </a:spcAft>
              <a:buNone/>
            </a:pPr>
            <a:r>
              <a:rPr lang="en-US" sz="1300" dirty="0">
                <a:solidFill>
                  <a:srgbClr val="0B1F33"/>
                </a:solidFill>
              </a:rPr>
              <a:t>PRISMA 2020; 25 primary studies</a:t>
            </a:r>
            <a:endParaRPr lang="en-US" sz="1400" dirty="0"/>
          </a:p>
        </p:txBody>
      </p:sp>
      <p:sp>
        <p:nvSpPr>
          <p:cNvPr id="12" name="step number 3"/>
          <p:cNvSpPr/>
          <p:nvPr/>
        </p:nvSpPr>
        <p:spPr>
          <a:xfrm>
            <a:off x="4242816" y="1554480"/>
            <a:ext cx="548640" cy="548640"/>
          </a:xfrm>
          <a:prstGeom prst="ellipse">
            <a:avLst/>
          </a:prstGeom>
          <a:solidFill>
            <a:srgbClr val="1FB5D6"/>
          </a:solidFill>
          <a:ln w="19050">
            <a:solidFill>
              <a:srgbClr val="FFFFFF"/>
            </a:solidFill>
            <a:prstDash val="solid"/>
          </a:ln>
        </p:spPr>
      </p:sp>
      <p:sp>
        <p:nvSpPr>
          <p:cNvPr id="13" name="step num text 3"/>
          <p:cNvSpPr txBox="1"/>
          <p:nvPr/>
        </p:nvSpPr>
        <p:spPr>
          <a:xfrm>
            <a:off x="4242816" y="1554480"/>
            <a:ext cx="548640" cy="548640"/>
          </a:xfrm>
          <a:prstGeom prst="rect">
            <a:avLst/>
          </a:prstGeom>
          <a:noFill/>
          <a:ln/>
        </p:spPr>
        <p:txBody>
          <a:bodyPr wrap="square" rtlCol="0" anchor="ctr"/>
          <a:lstStyle/>
          <a:p>
            <a:pPr algn="ctr" indent="0" marL="0">
              <a:buNone/>
            </a:pPr>
            <a:r>
              <a:rPr lang="en-US" sz="2000" b="1" dirty="0">
                <a:solidFill>
                  <a:srgbClr val="FFFFFF"/>
                </a:solidFill>
              </a:rPr>
              <a:t>3</a:t>
            </a:r>
            <a:endParaRPr lang="en-US" sz="2000" dirty="0"/>
          </a:p>
        </p:txBody>
      </p:sp>
      <p:sp>
        <p:nvSpPr>
          <p:cNvPr id="14" name="step box 3"/>
          <p:cNvSpPr/>
          <p:nvPr/>
        </p:nvSpPr>
        <p:spPr>
          <a:xfrm>
            <a:off x="3758184" y="2286000"/>
            <a:ext cx="1517904" cy="2926080"/>
          </a:xfrm>
          <a:prstGeom prst="roundRect">
            <a:avLst>
              <a:gd name="adj" fmla="val 6024"/>
            </a:avLst>
          </a:prstGeom>
          <a:solidFill>
            <a:srgbClr val="FFFFFF"/>
          </a:solidFill>
          <a:ln w="19050">
            <a:solidFill>
              <a:srgbClr val="1FB5D6"/>
            </a:solidFill>
            <a:prstDash val="solid"/>
          </a:ln>
        </p:spPr>
      </p:sp>
      <p:sp>
        <p:nvSpPr>
          <p:cNvPr id="15" name="step text 3"/>
          <p:cNvSpPr txBox="1"/>
          <p:nvPr/>
        </p:nvSpPr>
        <p:spPr>
          <a:xfrm>
            <a:off x="3803904"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Gaps and questions</a:t>
            </a:r>
            <a:endParaRPr lang="en-US" sz="1400" dirty="0"/>
          </a:p>
          <a:p>
            <a:pPr algn="ctr" indent="0" marL="0">
              <a:spcAft>
                <a:spcPts val="800"/>
              </a:spcAft>
              <a:buNone/>
            </a:pPr>
            <a:r>
              <a:rPr lang="en-US" sz="1300" dirty="0">
                <a:solidFill>
                  <a:srgbClr val="0B1F33"/>
                </a:solidFill>
              </a:rPr>
              <a:t>Gap 1 to Gap 6; RQ1 to RQ6</a:t>
            </a:r>
            <a:endParaRPr lang="en-US" sz="1400" dirty="0"/>
          </a:p>
        </p:txBody>
      </p:sp>
      <p:sp>
        <p:nvSpPr>
          <p:cNvPr id="16" name="step number 4"/>
          <p:cNvSpPr/>
          <p:nvPr/>
        </p:nvSpPr>
        <p:spPr>
          <a:xfrm>
            <a:off x="5870448" y="1554480"/>
            <a:ext cx="548640" cy="548640"/>
          </a:xfrm>
          <a:prstGeom prst="ellipse">
            <a:avLst/>
          </a:prstGeom>
          <a:solidFill>
            <a:srgbClr val="1FB5D6"/>
          </a:solidFill>
          <a:ln w="19050">
            <a:solidFill>
              <a:srgbClr val="FFFFFF"/>
            </a:solidFill>
            <a:prstDash val="solid"/>
          </a:ln>
        </p:spPr>
      </p:sp>
      <p:sp>
        <p:nvSpPr>
          <p:cNvPr id="17" name="step num text 4"/>
          <p:cNvSpPr txBox="1"/>
          <p:nvPr/>
        </p:nvSpPr>
        <p:spPr>
          <a:xfrm>
            <a:off x="5870448" y="1554480"/>
            <a:ext cx="548640" cy="548640"/>
          </a:xfrm>
          <a:prstGeom prst="rect">
            <a:avLst/>
          </a:prstGeom>
          <a:noFill/>
          <a:ln/>
        </p:spPr>
        <p:txBody>
          <a:bodyPr wrap="square" rtlCol="0" anchor="ctr"/>
          <a:lstStyle/>
          <a:p>
            <a:pPr algn="ctr" indent="0" marL="0">
              <a:buNone/>
            </a:pPr>
            <a:r>
              <a:rPr lang="en-US" sz="2000" b="1" dirty="0">
                <a:solidFill>
                  <a:srgbClr val="FFFFFF"/>
                </a:solidFill>
              </a:rPr>
              <a:t>4</a:t>
            </a:r>
            <a:endParaRPr lang="en-US" sz="2000" dirty="0"/>
          </a:p>
        </p:txBody>
      </p:sp>
      <p:sp>
        <p:nvSpPr>
          <p:cNvPr id="18" name="step box 4"/>
          <p:cNvSpPr/>
          <p:nvPr/>
        </p:nvSpPr>
        <p:spPr>
          <a:xfrm>
            <a:off x="5385816" y="2286000"/>
            <a:ext cx="1517904" cy="2926080"/>
          </a:xfrm>
          <a:prstGeom prst="roundRect">
            <a:avLst>
              <a:gd name="adj" fmla="val 6024"/>
            </a:avLst>
          </a:prstGeom>
          <a:solidFill>
            <a:srgbClr val="FFFFFF"/>
          </a:solidFill>
          <a:ln w="19050">
            <a:solidFill>
              <a:srgbClr val="1FB5D6"/>
            </a:solidFill>
            <a:prstDash val="solid"/>
          </a:ln>
        </p:spPr>
      </p:sp>
      <p:sp>
        <p:nvSpPr>
          <p:cNvPr id="19" name="step text 4"/>
          <p:cNvSpPr txBox="1"/>
          <p:nvPr/>
        </p:nvSpPr>
        <p:spPr>
          <a:xfrm>
            <a:off x="5431536"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Objectives</a:t>
            </a:r>
            <a:endParaRPr lang="en-US" sz="1400" dirty="0"/>
          </a:p>
          <a:p>
            <a:pPr algn="ctr" indent="0" marL="0">
              <a:spcAft>
                <a:spcPts val="800"/>
              </a:spcAft>
              <a:buNone/>
            </a:pPr>
            <a:r>
              <a:rPr lang="en-US" sz="1300" dirty="0">
                <a:solidFill>
                  <a:srgbClr val="0B1F33"/>
                </a:solidFill>
              </a:rPr>
              <a:t>RO1 to RO6</a:t>
            </a:r>
            <a:endParaRPr lang="en-US" sz="1400" dirty="0"/>
          </a:p>
        </p:txBody>
      </p:sp>
      <p:sp>
        <p:nvSpPr>
          <p:cNvPr id="20" name="step number 5"/>
          <p:cNvSpPr/>
          <p:nvPr/>
        </p:nvSpPr>
        <p:spPr>
          <a:xfrm>
            <a:off x="7498080" y="1554480"/>
            <a:ext cx="548640" cy="548640"/>
          </a:xfrm>
          <a:prstGeom prst="ellipse">
            <a:avLst/>
          </a:prstGeom>
          <a:solidFill>
            <a:srgbClr val="1FB5D6"/>
          </a:solidFill>
          <a:ln w="19050">
            <a:solidFill>
              <a:srgbClr val="FFFFFF"/>
            </a:solidFill>
            <a:prstDash val="solid"/>
          </a:ln>
        </p:spPr>
      </p:sp>
      <p:sp>
        <p:nvSpPr>
          <p:cNvPr id="21" name="step num text 5"/>
          <p:cNvSpPr txBox="1"/>
          <p:nvPr/>
        </p:nvSpPr>
        <p:spPr>
          <a:xfrm>
            <a:off x="7498080" y="1554480"/>
            <a:ext cx="548640" cy="548640"/>
          </a:xfrm>
          <a:prstGeom prst="rect">
            <a:avLst/>
          </a:prstGeom>
          <a:noFill/>
          <a:ln/>
        </p:spPr>
        <p:txBody>
          <a:bodyPr wrap="square" rtlCol="0" anchor="ctr"/>
          <a:lstStyle/>
          <a:p>
            <a:pPr algn="ctr" indent="0" marL="0">
              <a:buNone/>
            </a:pPr>
            <a:r>
              <a:rPr lang="en-US" sz="2000" b="1" dirty="0">
                <a:solidFill>
                  <a:srgbClr val="FFFFFF"/>
                </a:solidFill>
              </a:rPr>
              <a:t>5</a:t>
            </a:r>
            <a:endParaRPr lang="en-US" sz="2000" dirty="0"/>
          </a:p>
        </p:txBody>
      </p:sp>
      <p:sp>
        <p:nvSpPr>
          <p:cNvPr id="22" name="step box 5"/>
          <p:cNvSpPr/>
          <p:nvPr/>
        </p:nvSpPr>
        <p:spPr>
          <a:xfrm>
            <a:off x="7013448" y="2286000"/>
            <a:ext cx="1517904" cy="2926080"/>
          </a:xfrm>
          <a:prstGeom prst="roundRect">
            <a:avLst>
              <a:gd name="adj" fmla="val 6024"/>
            </a:avLst>
          </a:prstGeom>
          <a:solidFill>
            <a:srgbClr val="FFFFFF"/>
          </a:solidFill>
          <a:ln w="19050">
            <a:solidFill>
              <a:srgbClr val="1FB5D6"/>
            </a:solidFill>
            <a:prstDash val="solid"/>
          </a:ln>
        </p:spPr>
      </p:sp>
      <p:sp>
        <p:nvSpPr>
          <p:cNvPr id="23" name="step text 5"/>
          <p:cNvSpPr txBox="1"/>
          <p:nvPr/>
        </p:nvSpPr>
        <p:spPr>
          <a:xfrm>
            <a:off x="7059168"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Design</a:t>
            </a:r>
            <a:endParaRPr lang="en-US" sz="1400" dirty="0"/>
          </a:p>
          <a:p>
            <a:pPr algn="ctr" indent="0" marL="0">
              <a:spcAft>
                <a:spcPts val="800"/>
              </a:spcAft>
              <a:buNone/>
            </a:pPr>
            <a:r>
              <a:rPr lang="en-US" sz="1300" dirty="0">
                <a:solidFill>
                  <a:srgbClr val="0B1F33"/>
                </a:solidFill>
              </a:rPr>
              <a:t>MVC architecture, consent object C, Algorithms 1 to 4</a:t>
            </a:r>
            <a:endParaRPr lang="en-US" sz="1400" dirty="0"/>
          </a:p>
        </p:txBody>
      </p:sp>
      <p:sp>
        <p:nvSpPr>
          <p:cNvPr id="24" name="step number 6"/>
          <p:cNvSpPr/>
          <p:nvPr/>
        </p:nvSpPr>
        <p:spPr>
          <a:xfrm>
            <a:off x="9125712" y="1554480"/>
            <a:ext cx="548640" cy="548640"/>
          </a:xfrm>
          <a:prstGeom prst="ellipse">
            <a:avLst/>
          </a:prstGeom>
          <a:solidFill>
            <a:srgbClr val="1FB5D6"/>
          </a:solidFill>
          <a:ln w="19050">
            <a:solidFill>
              <a:srgbClr val="FFFFFF"/>
            </a:solidFill>
            <a:prstDash val="solid"/>
          </a:ln>
        </p:spPr>
      </p:sp>
      <p:sp>
        <p:nvSpPr>
          <p:cNvPr id="25" name="step num text 6"/>
          <p:cNvSpPr txBox="1"/>
          <p:nvPr/>
        </p:nvSpPr>
        <p:spPr>
          <a:xfrm>
            <a:off x="9125712" y="1554480"/>
            <a:ext cx="548640" cy="548640"/>
          </a:xfrm>
          <a:prstGeom prst="rect">
            <a:avLst/>
          </a:prstGeom>
          <a:noFill/>
          <a:ln/>
        </p:spPr>
        <p:txBody>
          <a:bodyPr wrap="square" rtlCol="0" anchor="ctr"/>
          <a:lstStyle/>
          <a:p>
            <a:pPr algn="ctr" indent="0" marL="0">
              <a:buNone/>
            </a:pPr>
            <a:r>
              <a:rPr lang="en-US" sz="2000" b="1" dirty="0">
                <a:solidFill>
                  <a:srgbClr val="FFFFFF"/>
                </a:solidFill>
              </a:rPr>
              <a:t>6</a:t>
            </a:r>
            <a:endParaRPr lang="en-US" sz="2000" dirty="0"/>
          </a:p>
        </p:txBody>
      </p:sp>
      <p:sp>
        <p:nvSpPr>
          <p:cNvPr id="26" name="step box 6"/>
          <p:cNvSpPr/>
          <p:nvPr/>
        </p:nvSpPr>
        <p:spPr>
          <a:xfrm>
            <a:off x="8641080" y="2286000"/>
            <a:ext cx="1517904" cy="2926080"/>
          </a:xfrm>
          <a:prstGeom prst="roundRect">
            <a:avLst>
              <a:gd name="adj" fmla="val 6024"/>
            </a:avLst>
          </a:prstGeom>
          <a:solidFill>
            <a:srgbClr val="FFFFFF"/>
          </a:solidFill>
          <a:ln w="19050">
            <a:solidFill>
              <a:srgbClr val="1FB5D6"/>
            </a:solidFill>
            <a:prstDash val="solid"/>
          </a:ln>
        </p:spPr>
      </p:sp>
      <p:sp>
        <p:nvSpPr>
          <p:cNvPr id="27" name="step text 6"/>
          <p:cNvSpPr txBox="1"/>
          <p:nvPr/>
        </p:nvSpPr>
        <p:spPr>
          <a:xfrm>
            <a:off x="868680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Prototype</a:t>
            </a:r>
            <a:endParaRPr lang="en-US" sz="1400" dirty="0"/>
          </a:p>
          <a:p>
            <a:pPr algn="ctr" indent="0" marL="0">
              <a:spcAft>
                <a:spcPts val="800"/>
              </a:spcAft>
              <a:buNone/>
            </a:pPr>
            <a:r>
              <a:rPr lang="en-US" sz="1300" dirty="0">
                <a:solidFill>
                  <a:srgbClr val="0B1F33"/>
                </a:solidFill>
              </a:rPr>
              <a:t>HALAH; ConsentSBTv3 on Sepolia</a:t>
            </a:r>
            <a:endParaRPr lang="en-US" sz="1400" dirty="0"/>
          </a:p>
        </p:txBody>
      </p:sp>
      <p:sp>
        <p:nvSpPr>
          <p:cNvPr id="28" name="step number 7"/>
          <p:cNvSpPr/>
          <p:nvPr/>
        </p:nvSpPr>
        <p:spPr>
          <a:xfrm>
            <a:off x="10753344" y="1554480"/>
            <a:ext cx="548640" cy="548640"/>
          </a:xfrm>
          <a:prstGeom prst="ellipse">
            <a:avLst/>
          </a:prstGeom>
          <a:solidFill>
            <a:srgbClr val="6D5BA8"/>
          </a:solidFill>
          <a:ln w="19050">
            <a:solidFill>
              <a:srgbClr val="FFFFFF"/>
            </a:solidFill>
            <a:prstDash val="solid"/>
          </a:ln>
        </p:spPr>
      </p:sp>
      <p:sp>
        <p:nvSpPr>
          <p:cNvPr id="29" name="step num text 7"/>
          <p:cNvSpPr txBox="1"/>
          <p:nvPr/>
        </p:nvSpPr>
        <p:spPr>
          <a:xfrm>
            <a:off x="10753344" y="1554480"/>
            <a:ext cx="548640" cy="548640"/>
          </a:xfrm>
          <a:prstGeom prst="rect">
            <a:avLst/>
          </a:prstGeom>
          <a:noFill/>
          <a:ln/>
        </p:spPr>
        <p:txBody>
          <a:bodyPr wrap="square" rtlCol="0" anchor="ctr"/>
          <a:lstStyle/>
          <a:p>
            <a:pPr algn="ctr" indent="0" marL="0">
              <a:buNone/>
            </a:pPr>
            <a:r>
              <a:rPr lang="en-US" sz="2000" b="1" dirty="0">
                <a:solidFill>
                  <a:srgbClr val="FFFFFF"/>
                </a:solidFill>
              </a:rPr>
              <a:t>7</a:t>
            </a:r>
            <a:endParaRPr lang="en-US" sz="2000" dirty="0"/>
          </a:p>
        </p:txBody>
      </p:sp>
      <p:sp>
        <p:nvSpPr>
          <p:cNvPr id="30" name="step box 7"/>
          <p:cNvSpPr/>
          <p:nvPr/>
        </p:nvSpPr>
        <p:spPr>
          <a:xfrm>
            <a:off x="10268712" y="2286000"/>
            <a:ext cx="1517904" cy="2926080"/>
          </a:xfrm>
          <a:prstGeom prst="roundRect">
            <a:avLst>
              <a:gd name="adj" fmla="val 6024"/>
            </a:avLst>
          </a:prstGeom>
          <a:solidFill>
            <a:srgbClr val="FFFFFF"/>
          </a:solidFill>
          <a:ln w="19050">
            <a:solidFill>
              <a:srgbClr val="1FB5D6"/>
            </a:solidFill>
            <a:prstDash val="solid"/>
          </a:ln>
        </p:spPr>
      </p:sp>
      <p:sp>
        <p:nvSpPr>
          <p:cNvPr id="31" name="step text 7"/>
          <p:cNvSpPr txBox="1"/>
          <p:nvPr/>
        </p:nvSpPr>
        <p:spPr>
          <a:xfrm>
            <a:off x="1031443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Evaluation</a:t>
            </a:r>
            <a:endParaRPr lang="en-US" sz="1400" dirty="0"/>
          </a:p>
          <a:p>
            <a:pPr algn="ctr" indent="0" marL="0">
              <a:spcAft>
                <a:spcPts val="800"/>
              </a:spcAft>
              <a:buNone/>
            </a:pPr>
            <a:r>
              <a:rPr lang="en-US" sz="1300" dirty="0">
                <a:solidFill>
                  <a:srgbClr val="0B1F33"/>
                </a:solidFill>
              </a:rPr>
              <a:t>Live scenarios, measurements and 12 attack tests; formal proofs next</a:t>
            </a:r>
            <a:endParaRPr lang="en-US" sz="1400" dirty="0"/>
          </a:p>
        </p:txBody>
      </p:sp>
      <p:sp>
        <p:nvSpPr>
          <p:cNvPr id="32" name="process arrow"/>
          <p:cNvSpPr/>
          <p:nvPr/>
        </p:nvSpPr>
        <p:spPr>
          <a:xfrm>
            <a:off x="502920" y="5486400"/>
            <a:ext cx="11247120" cy="411480"/>
          </a:xfrm>
          <a:prstGeom prst="rightArrow">
            <a:avLst/>
          </a:prstGeom>
          <a:solidFill>
            <a:srgbClr val="1FB5D6">
              <a:alpha val="75000"/>
            </a:srgbClr>
          </a:solidFill>
          <a:ln w="12700">
            <a:solidFill>
              <a:srgbClr val="1FB5D6"/>
            </a:solidFill>
            <a:prstDash val="solid"/>
          </a:ln>
        </p:spPr>
      </p:sp>
      <p:sp>
        <p:nvSpPr>
          <p:cNvPr id="33" name="arrow label"/>
          <p:cNvSpPr txBox="1"/>
          <p:nvPr/>
        </p:nvSpPr>
        <p:spPr>
          <a:xfrm>
            <a:off x="731520" y="5486400"/>
            <a:ext cx="10515600" cy="411480"/>
          </a:xfrm>
          <a:prstGeom prst="rect">
            <a:avLst/>
          </a:prstGeom>
          <a:noFill/>
          <a:ln/>
        </p:spPr>
        <p:txBody>
          <a:bodyPr wrap="square" rtlCol="0" anchor="ctr"/>
          <a:lstStyle/>
          <a:p>
            <a:pPr algn="ctr" indent="0" marL="0">
              <a:buNone/>
            </a:pPr>
            <a:r>
              <a:rPr lang="en-US" sz="1400" b="1" dirty="0">
                <a:solidFill>
                  <a:srgbClr val="FFFFFF"/>
                </a:solidFill>
              </a:rPr>
              <a:t>From the problem to the evaluated prototype</a:t>
            </a:r>
            <a:endParaRPr lang="en-US" sz="1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FRAMEWORK: ARCHITECTURE</a:t>
            </a:r>
            <a:endParaRPr lang="en-US" sz="3000" dirty="0"/>
          </a:p>
        </p:txBody>
      </p:sp>
      <p:sp>
        <p:nvSpPr>
          <p:cNvPr id="4" name="F6 panel"/>
          <p:cNvSpPr/>
          <p:nvPr/>
        </p:nvSpPr>
        <p:spPr>
          <a:xfrm>
            <a:off x="1097280" y="1097280"/>
            <a:ext cx="996696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6" descr="/tmp/deck/img/F6.png">    </p:cNvPr>
          <p:cNvPicPr>
            <a:picLocks noChangeAspect="1"/>
          </p:cNvPicPr>
          <p:nvPr/>
        </p:nvPicPr>
        <p:blipFill>
          <a:blip r:embed="rId1"/>
          <a:stretch>
            <a:fillRect/>
          </a:stretch>
        </p:blipFill>
        <p:spPr>
          <a:xfrm>
            <a:off x="1844799" y="1207008"/>
            <a:ext cx="8471922" cy="522122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FRAMEWORK: THE DECISION RULE</a:t>
            </a:r>
            <a:endParaRPr lang="en-US" sz="3000" dirty="0"/>
          </a:p>
        </p:txBody>
      </p:sp>
      <p:sp>
        <p:nvSpPr>
          <p:cNvPr id="4" name="decision box"/>
          <p:cNvSpPr/>
          <p:nvPr/>
        </p:nvSpPr>
        <p:spPr>
          <a:xfrm>
            <a:off x="731520" y="1188720"/>
            <a:ext cx="10698480" cy="1097280"/>
          </a:xfrm>
          <a:prstGeom prst="roundRect">
            <a:avLst>
              <a:gd name="adj" fmla="val 8333"/>
            </a:avLst>
          </a:prstGeom>
          <a:solidFill>
            <a:srgbClr val="0B2A4A">
              <a:alpha val="85000"/>
            </a:srgbClr>
          </a:solidFill>
          <a:ln w="19050">
            <a:solidFill>
              <a:srgbClr val="1FB5D6"/>
            </a:solidFill>
            <a:prstDash val="solid"/>
          </a:ln>
        </p:spPr>
      </p:sp>
      <p:sp>
        <p:nvSpPr>
          <p:cNvPr id="5" name="decision text"/>
          <p:cNvSpPr txBox="1"/>
          <p:nvPr/>
        </p:nvSpPr>
        <p:spPr>
          <a:xfrm>
            <a:off x="822960" y="1234440"/>
            <a:ext cx="10515600" cy="1005840"/>
          </a:xfrm>
          <a:prstGeom prst="rect">
            <a:avLst/>
          </a:prstGeom>
          <a:noFill/>
          <a:ln/>
        </p:spPr>
        <p:txBody>
          <a:bodyPr wrap="square"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Decision(C, R, t) = ALLOW  ⟺  VI(u) ∧ VA(C) ∧ VP(C, R) ∧ VT(C, t) ∧ VL(C, R)</a:t>
            </a:r>
            <a:endParaRPr lang="en-US" sz="2400" dirty="0"/>
          </a:p>
        </p:txBody>
      </p:sp>
      <p:sp>
        <p:nvSpPr>
          <p:cNvPr id="6" name="card VI"/>
          <p:cNvSpPr/>
          <p:nvPr/>
        </p:nvSpPr>
        <p:spPr>
          <a:xfrm>
            <a:off x="731520"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7" name="card text VI"/>
          <p:cNvSpPr txBox="1"/>
          <p:nvPr/>
        </p:nvSpPr>
        <p:spPr>
          <a:xfrm>
            <a:off x="868680"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VI</a:t>
            </a:r>
            <a:endParaRPr lang="en-US" sz="1900" dirty="0"/>
          </a:p>
          <a:p>
            <a:pPr indent="0" marL="0">
              <a:spcAft>
                <a:spcPts val="400"/>
              </a:spcAft>
              <a:buNone/>
            </a:pPr>
            <a:r>
              <a:rPr lang="en-US" sz="1600" dirty="0">
                <a:solidFill>
                  <a:srgbClr val="0B1F33"/>
                </a:solidFill>
              </a:rPr>
              <a:t>Identity and authority are valid</a:t>
            </a:r>
            <a:endParaRPr lang="en-US" sz="1900" dirty="0"/>
          </a:p>
        </p:txBody>
      </p:sp>
      <p:sp>
        <p:nvSpPr>
          <p:cNvPr id="8" name="card VA"/>
          <p:cNvSpPr/>
          <p:nvPr/>
        </p:nvSpPr>
        <p:spPr>
          <a:xfrm>
            <a:off x="2898648"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9" name="card text VA"/>
          <p:cNvSpPr txBox="1"/>
          <p:nvPr/>
        </p:nvSpPr>
        <p:spPr>
          <a:xfrm>
            <a:off x="3035808"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VA</a:t>
            </a:r>
            <a:endParaRPr lang="en-US" sz="1900" dirty="0"/>
          </a:p>
          <a:p>
            <a:pPr indent="0" marL="0">
              <a:spcAft>
                <a:spcPts val="400"/>
              </a:spcAft>
              <a:buNone/>
            </a:pPr>
            <a:r>
              <a:rPr lang="en-US" sz="1600" dirty="0">
                <a:solidFill>
                  <a:srgbClr val="0B1F33"/>
                </a:solidFill>
              </a:rPr>
              <a:t>All guardians approved; token exists; not revoked</a:t>
            </a:r>
            <a:endParaRPr lang="en-US" sz="1900" dirty="0"/>
          </a:p>
        </p:txBody>
      </p:sp>
      <p:sp>
        <p:nvSpPr>
          <p:cNvPr id="10" name="card VP"/>
          <p:cNvSpPr/>
          <p:nvPr/>
        </p:nvSpPr>
        <p:spPr>
          <a:xfrm>
            <a:off x="5065776"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11" name="card text VP"/>
          <p:cNvSpPr txBox="1"/>
          <p:nvPr/>
        </p:nvSpPr>
        <p:spPr>
          <a:xfrm>
            <a:off x="5202936"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VP</a:t>
            </a:r>
            <a:endParaRPr lang="en-US" sz="1900" dirty="0"/>
          </a:p>
          <a:p>
            <a:pPr indent="0" marL="0">
              <a:spcAft>
                <a:spcPts val="400"/>
              </a:spcAft>
              <a:buNone/>
            </a:pPr>
            <a:r>
              <a:rPr lang="en-US" sz="1600" dirty="0">
                <a:solidFill>
                  <a:srgbClr val="0B1F33"/>
                </a:solidFill>
              </a:rPr>
              <a:t>Purpose and data scope are inside the consent</a:t>
            </a:r>
            <a:endParaRPr lang="en-US" sz="1900" dirty="0"/>
          </a:p>
        </p:txBody>
      </p:sp>
      <p:sp>
        <p:nvSpPr>
          <p:cNvPr id="12" name="card VT"/>
          <p:cNvSpPr/>
          <p:nvPr/>
        </p:nvSpPr>
        <p:spPr>
          <a:xfrm>
            <a:off x="7232904"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13" name="card text VT"/>
          <p:cNvSpPr txBox="1"/>
          <p:nvPr/>
        </p:nvSpPr>
        <p:spPr>
          <a:xfrm>
            <a:off x="7370064"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VT</a:t>
            </a:r>
            <a:endParaRPr lang="en-US" sz="1900" dirty="0"/>
          </a:p>
          <a:p>
            <a:pPr indent="0" marL="0">
              <a:spcAft>
                <a:spcPts val="400"/>
              </a:spcAft>
              <a:buNone/>
            </a:pPr>
            <a:r>
              <a:rPr lang="en-US" sz="1600" dirty="0">
                <a:solidFill>
                  <a:srgbClr val="0B1F33"/>
                </a:solidFill>
              </a:rPr>
              <a:t>Inside the validity window</a:t>
            </a:r>
            <a:endParaRPr lang="en-US" sz="1900" dirty="0"/>
          </a:p>
        </p:txBody>
      </p:sp>
      <p:sp>
        <p:nvSpPr>
          <p:cNvPr id="14" name="card VL"/>
          <p:cNvSpPr/>
          <p:nvPr/>
        </p:nvSpPr>
        <p:spPr>
          <a:xfrm>
            <a:off x="9400032"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15" name="card text VL"/>
          <p:cNvSpPr txBox="1"/>
          <p:nvPr/>
        </p:nvSpPr>
        <p:spPr>
          <a:xfrm>
            <a:off x="9537192"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VL</a:t>
            </a:r>
            <a:endParaRPr lang="en-US" sz="1900" dirty="0"/>
          </a:p>
          <a:p>
            <a:pPr indent="0" marL="0">
              <a:spcAft>
                <a:spcPts val="400"/>
              </a:spcAft>
              <a:buNone/>
            </a:pPr>
            <a:r>
              <a:rPr lang="en-US" sz="1600" dirty="0">
                <a:solidFill>
                  <a:srgbClr val="0B1F33"/>
                </a:solidFill>
              </a:rPr>
              <a:t>Jurisdiction matches</a:t>
            </a:r>
            <a:endParaRPr lang="en-US" sz="1900" dirty="0"/>
          </a:p>
        </p:txBody>
      </p:sp>
      <p:sp>
        <p:nvSpPr>
          <p:cNvPr id="16" name="bullets"/>
          <p:cNvSpPr txBox="1"/>
          <p:nvPr/>
        </p:nvSpPr>
        <p:spPr>
          <a:xfrm>
            <a:off x="822960" y="4480560"/>
            <a:ext cx="10515600" cy="1828800"/>
          </a:xfrm>
          <a:prstGeom prst="rect">
            <a:avLst/>
          </a:prstGeom>
          <a:noFill/>
          <a:ln/>
        </p:spPr>
        <p:txBody>
          <a:bodyPr wrap="square" rtlCol="0" anchor="t"/>
          <a:lstStyle/>
          <a:p>
            <a:pPr marL="342900" indent="-342900">
              <a:spcAft>
                <a:spcPts val="1000"/>
              </a:spcAft>
              <a:buSzPct val="100000"/>
              <a:buChar char="•"/>
            </a:pPr>
            <a:r>
              <a:rPr lang="en-US" sz="1800" dirty="0">
                <a:solidFill>
                  <a:srgbClr val="FFFFFF"/>
                </a:solidFill>
              </a:rPr>
              <a:t>One failed check is enough to say DENY.</a:t>
            </a:r>
            <a:endParaRPr lang="en-US" sz="1800" dirty="0"/>
          </a:p>
          <a:p>
            <a:pPr marL="342900" indent="-342900">
              <a:spcAft>
                <a:spcPts val="1000"/>
              </a:spcAft>
              <a:buSzPct val="100000"/>
              <a:buChar char="•"/>
            </a:pPr>
            <a:r>
              <a:rPr lang="en-US" sz="1800" dirty="0">
                <a:solidFill>
                  <a:srgbClr val="FFFFFF"/>
                </a:solidFill>
              </a:rPr>
              <a:t>A Groth16 zero-knowledge proof must also verify before any data is released.</a:t>
            </a:r>
            <a:endParaRPr lang="en-US" sz="1800" dirty="0"/>
          </a:p>
          <a:p>
            <a:pPr marL="342900" indent="-342900">
              <a:spcAft>
                <a:spcPts val="1000"/>
              </a:spcAft>
              <a:buSzPct val="100000"/>
              <a:buChar char="•"/>
            </a:pPr>
            <a:r>
              <a:rPr lang="en-US" sz="1800" dirty="0">
                <a:solidFill>
                  <a:srgbClr val="FFFFFF"/>
                </a:solidFill>
              </a:rPr>
              <a:t>Every decision on an ACTIVE consent is written to the audit ledger with its decision matrix.</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1: THE PATIENT CREATES THE CONSENT</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RO1: Trust-centric consent model</a:t>
            </a:r>
            <a:endParaRPr lang="en-US" sz="20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patient chooses the doctor, the guardians, the data modules, the start and expiry time, and the jurisdiction.</a:t>
            </a:r>
            <a:endParaRPr lang="en-US" sz="1600" dirty="0"/>
          </a:p>
          <a:p>
            <a:pPr marL="342900" indent="-342900">
              <a:spcAft>
                <a:spcPts val="1000"/>
              </a:spcAft>
              <a:buSzPct val="100000"/>
              <a:buChar char="•"/>
            </a:pPr>
            <a:r>
              <a:rPr lang="en-US" sz="1600" dirty="0">
                <a:solidFill>
                  <a:srgbClr val="FFFFFF"/>
                </a:solidFill>
              </a:rPr>
              <a:t>In this prototype the purpose is fixed to Treatment.</a:t>
            </a:r>
            <a:endParaRPr lang="en-US" sz="1600" dirty="0"/>
          </a:p>
          <a:p>
            <a:pPr marL="342900" indent="-342900">
              <a:spcAft>
                <a:spcPts val="1000"/>
              </a:spcAft>
              <a:buSzPct val="100000"/>
              <a:buChar char="•"/>
            </a:pPr>
            <a:r>
              <a:rPr lang="en-US" sz="1600" dirty="0">
                <a:solidFill>
                  <a:srgbClr val="FFFFFF"/>
                </a:solidFill>
              </a:rPr>
              <a:t>Bad input is rejected, for example an empty data scope or a malformed guardian DID.</a:t>
            </a:r>
            <a:endParaRPr lang="en-US" sz="1600" dirty="0"/>
          </a:p>
          <a:p>
            <a:pPr marL="342900" indent="-342900">
              <a:spcAft>
                <a:spcPts val="1000"/>
              </a:spcAft>
              <a:buSzPct val="100000"/>
              <a:buChar char="•"/>
            </a:pPr>
            <a:r>
              <a:rPr lang="en-US" sz="1600" dirty="0">
                <a:solidFill>
                  <a:srgbClr val="FFFFFF"/>
                </a:solidFill>
              </a:rPr>
              <a:t>The consent object C is built and stored as PENDING_SIGNATURE.</a:t>
            </a:r>
            <a:endParaRPr lang="en-US" sz="1600" dirty="0"/>
          </a:p>
          <a:p>
            <a:pPr marL="342900" indent="-342900">
              <a:spcAft>
                <a:spcPts val="1000"/>
              </a:spcAft>
              <a:buSzPct val="100000"/>
              <a:buChar char="•"/>
            </a:pPr>
            <a:r>
              <a:rPr lang="en-US" sz="1600" dirty="0">
                <a:solidFill>
                  <a:srgbClr val="FFFFFF"/>
                </a:solidFill>
              </a:rPr>
              <a:t>Nothing goes on the blockchain until all guardians approve.</a:t>
            </a:r>
            <a:endParaRPr lang="en-US" sz="1600" dirty="0"/>
          </a:p>
        </p:txBody>
      </p:sp>
      <p:sp>
        <p:nvSpPr>
          <p:cNvPr id="8" name="F10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0" descr="/tmp/deck/img/F10.png">    </p:cNvPr>
          <p:cNvPicPr>
            <a:picLocks noChangeAspect="1"/>
          </p:cNvPicPr>
          <p:nvPr/>
        </p:nvPicPr>
        <p:blipFill>
          <a:blip r:embed="rId1"/>
          <a:stretch>
            <a:fillRect/>
          </a:stretch>
        </p:blipFill>
        <p:spPr>
          <a:xfrm>
            <a:off x="8135722" y="1115568"/>
            <a:ext cx="2748077"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2: WHO ARE YOU, AND WHAT MAY YOU DO?</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RO2: Decentralised identity and authority</a:t>
            </a:r>
            <a:endParaRPr lang="en-US" sz="20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Identity is checked through the DID; authority through a verifiable credential.</a:t>
            </a:r>
            <a:endParaRPr lang="en-US" sz="1600" dirty="0"/>
          </a:p>
          <a:p>
            <a:pPr marL="342900" indent="-342900">
              <a:spcAft>
                <a:spcPts val="1000"/>
              </a:spcAft>
              <a:buSzPct val="100000"/>
              <a:buChar char="•"/>
            </a:pPr>
            <a:r>
              <a:rPr lang="en-US" sz="1600" dirty="0">
                <a:solidFill>
                  <a:srgbClr val="FFFFFF"/>
                </a:solidFill>
              </a:rPr>
              <a:t>Identity is not authority: a valid DID alone never gives access.</a:t>
            </a:r>
            <a:endParaRPr lang="en-US" sz="1600" dirty="0"/>
          </a:p>
          <a:p>
            <a:pPr marL="342900" indent="-342900">
              <a:spcAft>
                <a:spcPts val="1000"/>
              </a:spcAft>
              <a:buSzPct val="100000"/>
              <a:buChar char="•"/>
            </a:pPr>
            <a:r>
              <a:rPr lang="en-US" sz="1600" dirty="0">
                <a:solidFill>
                  <a:srgbClr val="FFFFFF"/>
                </a:solidFill>
              </a:rPr>
              <a:t>In the prototype: a DID-format check and EIP-712 signature recovery for each guardian.</a:t>
            </a:r>
            <a:endParaRPr lang="en-US" sz="1600" dirty="0"/>
          </a:p>
          <a:p>
            <a:pPr marL="342900" indent="-342900">
              <a:spcAft>
                <a:spcPts val="1000"/>
              </a:spcAft>
              <a:buSzPct val="100000"/>
              <a:buChar char="•"/>
            </a:pPr>
            <a:r>
              <a:rPr lang="en-US" sz="1600" dirty="0">
                <a:solidFill>
                  <a:srgbClr val="FFFFFF"/>
                </a:solidFill>
              </a:rPr>
              <a:t>Full DID resolution and credential validation are planned for the next stage.</a:t>
            </a:r>
            <a:endParaRPr lang="en-US" sz="1600" dirty="0"/>
          </a:p>
        </p:txBody>
      </p:sp>
      <p:sp>
        <p:nvSpPr>
          <p:cNvPr id="8" name="F12 panel"/>
          <p:cNvSpPr/>
          <p:nvPr/>
        </p:nvSpPr>
        <p:spPr>
          <a:xfrm>
            <a:off x="7498080" y="1005840"/>
            <a:ext cx="4023360" cy="493776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2" descr="/tmp/deck/img/F12.png">    </p:cNvPr>
          <p:cNvPicPr>
            <a:picLocks noChangeAspect="1"/>
          </p:cNvPicPr>
          <p:nvPr/>
        </p:nvPicPr>
        <p:blipFill>
          <a:blip r:embed="rId1"/>
          <a:stretch>
            <a:fillRect/>
          </a:stretch>
        </p:blipFill>
        <p:spPr>
          <a:xfrm>
            <a:off x="7926188" y="1115568"/>
            <a:ext cx="3167144" cy="4718304"/>
          </a:xfrm>
          <a:prstGeom prst="rect">
            <a:avLst/>
          </a:prstGeom>
        </p:spPr>
      </p:pic>
      <p:sp>
        <p:nvSpPr>
          <p:cNvPr id="10" name="caption"/>
          <p:cNvSpPr txBox="1"/>
          <p:nvPr/>
        </p:nvSpPr>
        <p:spPr>
          <a:xfrm>
            <a:off x="7498080" y="6035040"/>
            <a:ext cx="4023360" cy="548640"/>
          </a:xfrm>
          <a:prstGeom prst="rect">
            <a:avLst/>
          </a:prstGeom>
          <a:noFill/>
          <a:ln/>
        </p:spPr>
        <p:txBody>
          <a:bodyPr wrap="square" rtlCol="0" anchor="t"/>
          <a:lstStyle/>
          <a:p>
            <a:pPr algn="ctr" indent="0" marL="0">
              <a:buNone/>
            </a:pPr>
            <a:r>
              <a:rPr lang="en-US" sz="1200" i="1" dirty="0">
                <a:solidFill>
                  <a:srgbClr val="FFFFFF"/>
                </a:solidFill>
              </a:rPr>
              <a:t>Target design. The prototype now performs a DID-format check and EIP-712 signature recovery.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3: THE GUARDIANS APPROVE TOGETHER</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RO3: Multi-party authorisation</a:t>
            </a:r>
            <a:endParaRPr lang="en-US" sz="20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guardian set G is fixed when the consent is created.</a:t>
            </a:r>
            <a:endParaRPr lang="en-US" sz="1600" dirty="0"/>
          </a:p>
          <a:p>
            <a:pPr marL="342900" indent="-342900">
              <a:spcAft>
                <a:spcPts val="1000"/>
              </a:spcAft>
              <a:buSzPct val="100000"/>
              <a:buChar char="•"/>
            </a:pPr>
            <a:r>
              <a:rPr lang="en-US" sz="1600" dirty="0">
                <a:solidFill>
                  <a:srgbClr val="FFFFFF"/>
                </a:solidFill>
              </a:rPr>
              <a:t>Each guardian signs an EIP-712 approval; the system recovers the signer and checks it is in G.</a:t>
            </a:r>
            <a:endParaRPr lang="en-US" sz="1600" dirty="0"/>
          </a:p>
          <a:p>
            <a:pPr marL="342900" indent="-342900">
              <a:spcAft>
                <a:spcPts val="1000"/>
              </a:spcAft>
              <a:buSzPct val="100000"/>
              <a:buChar char="•"/>
            </a:pPr>
            <a:r>
              <a:rPr lang="en-US" sz="1600" dirty="0">
                <a:solidFill>
                  <a:srgbClr val="FFFFFF"/>
                </a:solidFill>
              </a:rPr>
              <a:t>Approvals from outsiders, replays and duplicates are not counted.</a:t>
            </a:r>
            <a:endParaRPr lang="en-US" sz="1600" dirty="0"/>
          </a:p>
          <a:p>
            <a:pPr marL="342900" indent="-342900">
              <a:spcAft>
                <a:spcPts val="1000"/>
              </a:spcAft>
              <a:buSzPct val="100000"/>
              <a:buChar char="•"/>
            </a:pPr>
            <a:r>
              <a:rPr lang="en-US" sz="1600" dirty="0">
                <a:solidFill>
                  <a:srgbClr val="FFFFFF"/>
                </a:solidFill>
              </a:rPr>
              <a:t>N-of-N rule: every listed guardian must sign (2-of-2 in the demo).</a:t>
            </a:r>
            <a:endParaRPr lang="en-US" sz="1600" dirty="0"/>
          </a:p>
          <a:p>
            <a:pPr marL="342900" indent="-342900">
              <a:spcAft>
                <a:spcPts val="1000"/>
              </a:spcAft>
              <a:buSzPct val="100000"/>
              <a:buChar char="•"/>
            </a:pPr>
            <a:r>
              <a:rPr lang="en-US" sz="1600" dirty="0">
                <a:solidFill>
                  <a:srgbClr val="FFFFFF"/>
                </a:solidFill>
              </a:rPr>
              <a:t>When all have signed, a soulbound token is minted on Sepolia in the background.</a:t>
            </a:r>
            <a:endParaRPr lang="en-US" sz="1600" dirty="0"/>
          </a:p>
          <a:p>
            <a:pPr marL="342900" indent="-342900">
              <a:spcAft>
                <a:spcPts val="1000"/>
              </a:spcAft>
              <a:buSzPct val="100000"/>
              <a:buChar char="•"/>
            </a:pPr>
            <a:r>
              <a:rPr lang="en-US" sz="1600" dirty="0">
                <a:solidFill>
                  <a:srgbClr val="FFFFFF"/>
                </a:solidFill>
              </a:rPr>
              <a:t>In the prototype the guardian keys are derived from the guardian DIDs; wallet-held keys are for the next stage.</a:t>
            </a:r>
            <a:endParaRPr lang="en-US" sz="1600" dirty="0"/>
          </a:p>
        </p:txBody>
      </p:sp>
      <p:sp>
        <p:nvSpPr>
          <p:cNvPr id="8" name="F13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3" descr="/tmp/deck/img/F13.png">    </p:cNvPr>
          <p:cNvPicPr>
            <a:picLocks noChangeAspect="1"/>
          </p:cNvPicPr>
          <p:nvPr/>
        </p:nvPicPr>
        <p:blipFill>
          <a:blip r:embed="rId1"/>
          <a:stretch>
            <a:fillRect/>
          </a:stretch>
        </p:blipFill>
        <p:spPr>
          <a:xfrm>
            <a:off x="7778618" y="1115568"/>
            <a:ext cx="3462285"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4: ONLY THE AGREED DATA AND PURPOSE</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RO4: Policy- and context-aware access</a:t>
            </a:r>
            <a:endParaRPr lang="en-US" sz="20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requested data must be a non-empty subset of the agreed data scope.</a:t>
            </a:r>
            <a:endParaRPr lang="en-US" sz="1600" dirty="0"/>
          </a:p>
          <a:p>
            <a:pPr marL="342900" indent="-342900">
              <a:spcAft>
                <a:spcPts val="1000"/>
              </a:spcAft>
              <a:buSzPct val="100000"/>
              <a:buChar char="•"/>
            </a:pPr>
            <a:r>
              <a:rPr lang="en-US" sz="1600" dirty="0">
                <a:solidFill>
                  <a:srgbClr val="FFFFFF"/>
                </a:solidFill>
              </a:rPr>
              <a:t>The purpose must be a supported purpose of the consent.</a:t>
            </a:r>
            <a:endParaRPr lang="en-US" sz="1600" dirty="0"/>
          </a:p>
          <a:p>
            <a:pPr marL="342900" indent="-342900">
              <a:spcAft>
                <a:spcPts val="1000"/>
              </a:spcAft>
              <a:buSzPct val="100000"/>
              <a:buChar char="•"/>
            </a:pPr>
            <a:r>
              <a:rPr lang="en-US" sz="1600" dirty="0">
                <a:solidFill>
                  <a:srgbClr val="FFFFFF"/>
                </a:solidFill>
              </a:rPr>
              <a:t>Time and jurisdiction are checked in the same decision.</a:t>
            </a:r>
            <a:endParaRPr lang="en-US" sz="1600" dirty="0"/>
          </a:p>
          <a:p>
            <a:pPr marL="342900" indent="-342900">
              <a:spcAft>
                <a:spcPts val="1000"/>
              </a:spcAft>
              <a:buSzPct val="100000"/>
              <a:buChar char="•"/>
            </a:pPr>
            <a:r>
              <a:rPr lang="en-US" sz="1600" dirty="0">
                <a:solidFill>
                  <a:srgbClr val="FFFFFF"/>
                </a:solidFill>
              </a:rPr>
              <a:t>A Groth16 proof must verify before any data is retrieved.</a:t>
            </a:r>
            <a:endParaRPr lang="en-US" sz="1600" dirty="0"/>
          </a:p>
          <a:p>
            <a:pPr marL="342900" indent="-342900">
              <a:spcAft>
                <a:spcPts val="1000"/>
              </a:spcAft>
              <a:buSzPct val="100000"/>
              <a:buChar char="•"/>
            </a:pPr>
            <a:r>
              <a:rPr lang="en-US" sz="1600" dirty="0">
                <a:solidFill>
                  <a:srgbClr val="FFFFFF"/>
                </a:solidFill>
              </a:rPr>
              <a:t>Example: asking for Procedure when only Observation and Medication were agreed gives DENY.</a:t>
            </a:r>
            <a:endParaRPr lang="en-US" sz="1600" dirty="0"/>
          </a:p>
        </p:txBody>
      </p:sp>
      <p:sp>
        <p:nvSpPr>
          <p:cNvPr id="8" name="F14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4" descr="/tmp/deck/img/F14.png">    </p:cNvPr>
          <p:cNvPicPr>
            <a:picLocks noChangeAspect="1"/>
          </p:cNvPicPr>
          <p:nvPr/>
        </p:nvPicPr>
        <p:blipFill>
          <a:blip r:embed="rId1"/>
          <a:stretch>
            <a:fillRect/>
          </a:stretch>
        </p:blipFill>
        <p:spPr>
          <a:xfrm>
            <a:off x="8016428" y="1115568"/>
            <a:ext cx="2986663"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5: TIME AND LIFECYCLE</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RO5: Time and lifecycle control</a:t>
            </a:r>
            <a:endParaRPr lang="en-US" sz="2000" dirty="0"/>
          </a:p>
        </p:txBody>
      </p:sp>
      <p:sp>
        <p:nvSpPr>
          <p:cNvPr id="5" name="status chip"/>
          <p:cNvSpPr/>
          <p:nvPr/>
        </p:nvSpPr>
        <p:spPr>
          <a:xfrm>
            <a:off x="731520" y="1463040"/>
            <a:ext cx="2377440" cy="411480"/>
          </a:xfrm>
          <a:prstGeom prst="roundRect">
            <a:avLst>
              <a:gd name="adj" fmla="val 44444"/>
            </a:avLst>
          </a:prstGeom>
          <a:solidFill>
            <a:srgbClr val="B7791F"/>
          </a:solidFill>
          <a:ln w="12700">
            <a:solidFill>
              <a:srgbClr val="B7791F"/>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In Progress</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Working now: the validity window is stored on-chain and checked at every request.</a:t>
            </a:r>
            <a:endParaRPr lang="en-US" sz="1600" dirty="0"/>
          </a:p>
          <a:p>
            <a:pPr marL="342900" indent="-342900">
              <a:spcAft>
                <a:spcPts val="1000"/>
              </a:spcAft>
              <a:buSzPct val="100000"/>
              <a:buChar char="•"/>
            </a:pPr>
            <a:r>
              <a:rPr lang="en-US" sz="1600" dirty="0">
                <a:solidFill>
                  <a:srgbClr val="FFFFFF"/>
                </a:solidFill>
              </a:rPr>
              <a:t>Working now: revocation end to end, including an on-chain revoke transaction.</a:t>
            </a:r>
            <a:endParaRPr lang="en-US" sz="1600" dirty="0"/>
          </a:p>
          <a:p>
            <a:pPr marL="342900" indent="-342900">
              <a:spcAft>
                <a:spcPts val="1000"/>
              </a:spcAft>
              <a:buSzPct val="100000"/>
              <a:buChar char="•"/>
            </a:pPr>
            <a:r>
              <a:rPr lang="en-US" sz="1600" dirty="0">
                <a:solidFill>
                  <a:srgbClr val="FFFFFF"/>
                </a:solidFill>
              </a:rPr>
              <a:t>Working now: a clear lifecycle: PENDING_SIGNATURE, PENDING_TOKEN, NOT_STARTED, ACTIVE, EXPIRED, REVOKED.</a:t>
            </a:r>
            <a:endParaRPr lang="en-US" sz="1600" dirty="0"/>
          </a:p>
          <a:p>
            <a:pPr marL="342900" indent="-342900">
              <a:spcAft>
                <a:spcPts val="1000"/>
              </a:spcAft>
              <a:buSzPct val="100000"/>
              <a:buChar char="•"/>
            </a:pPr>
            <a:r>
              <a:rPr lang="en-US" sz="1600" dirty="0">
                <a:solidFill>
                  <a:srgbClr val="FFFFFF"/>
                </a:solidFill>
              </a:rPr>
              <a:t>Next stage: the lifecycle transition check, consent modification, delegation, guardian-set changes and a formal lifecycle model.</a:t>
            </a:r>
            <a:endParaRPr lang="en-US" sz="1600" dirty="0"/>
          </a:p>
        </p:txBody>
      </p:sp>
      <p:sp>
        <p:nvSpPr>
          <p:cNvPr id="8" name="F35 panel"/>
          <p:cNvSpPr/>
          <p:nvPr/>
        </p:nvSpPr>
        <p:spPr>
          <a:xfrm>
            <a:off x="7132320" y="1828800"/>
            <a:ext cx="4663440" cy="3291840"/>
          </a:xfrm>
          <a:prstGeom prst="roundRect">
            <a:avLst>
              <a:gd name="adj" fmla="val 333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35" descr="/tmp/deck/img/F35.png">    </p:cNvPr>
          <p:cNvPicPr>
            <a:picLocks noChangeAspect="1"/>
          </p:cNvPicPr>
          <p:nvPr/>
        </p:nvPicPr>
        <p:blipFill>
          <a:blip r:embed="rId1"/>
          <a:stretch>
            <a:fillRect/>
          </a:stretch>
        </p:blipFill>
        <p:spPr>
          <a:xfrm>
            <a:off x="7242048" y="2601795"/>
            <a:ext cx="4443984" cy="1745851"/>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6: PROVE IT AND TEST IT</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RO6: Formal assurance and validation</a:t>
            </a:r>
            <a:endParaRPr lang="en-US" sz="2000" dirty="0"/>
          </a:p>
        </p:txBody>
      </p:sp>
      <p:sp>
        <p:nvSpPr>
          <p:cNvPr id="5" name="status chip"/>
          <p:cNvSpPr/>
          <p:nvPr/>
        </p:nvSpPr>
        <p:spPr>
          <a:xfrm>
            <a:off x="731520" y="1463040"/>
            <a:ext cx="3200400" cy="411480"/>
          </a:xfrm>
          <a:prstGeom prst="roundRect">
            <a:avLst>
              <a:gd name="adj" fmla="val 44444"/>
            </a:avLst>
          </a:prstGeom>
          <a:solidFill>
            <a:srgbClr val="6D5BA8"/>
          </a:solidFill>
          <a:ln w="12700">
            <a:solidFill>
              <a:srgbClr val="6D5BA8"/>
            </a:solidFill>
            <a:prstDash val="solid"/>
          </a:ln>
        </p:spPr>
      </p:sp>
      <p:sp>
        <p:nvSpPr>
          <p:cNvPr id="6" name="status text"/>
          <p:cNvSpPr txBox="1"/>
          <p:nvPr/>
        </p:nvSpPr>
        <p:spPr>
          <a:xfrm>
            <a:off x="731520" y="1463040"/>
            <a:ext cx="3200400" cy="411480"/>
          </a:xfrm>
          <a:prstGeom prst="rect">
            <a:avLst/>
          </a:prstGeom>
          <a:noFill/>
          <a:ln/>
        </p:spPr>
        <p:txBody>
          <a:bodyPr wrap="square" rtlCol="0" anchor="ctr"/>
          <a:lstStyle/>
          <a:p>
            <a:pPr algn="ctr" indent="0" marL="0">
              <a:buNone/>
            </a:pPr>
            <a:r>
              <a:rPr lang="en-US" sz="1400" b="1" dirty="0">
                <a:solidFill>
                  <a:srgbClr val="FFFFFF"/>
                </a:solidFill>
              </a:rPr>
              <a:t>Status: Partially completed</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Done: 36 automated tests pass, including 12 attack scenarios A1 to A12.</a:t>
            </a:r>
            <a:endParaRPr lang="en-US" sz="1600" dirty="0"/>
          </a:p>
          <a:p>
            <a:pPr marL="342900" indent="-342900">
              <a:spcAft>
                <a:spcPts val="1000"/>
              </a:spcAft>
              <a:buSzPct val="100000"/>
              <a:buChar char="•"/>
            </a:pPr>
            <a:r>
              <a:rPr lang="en-US" sz="1600" dirty="0">
                <a:solidFill>
                  <a:srgbClr val="FFFFFF"/>
                </a:solidFill>
              </a:rPr>
              <a:t>Done: gas, confirmation latency and processing time measured.</a:t>
            </a:r>
            <a:endParaRPr lang="en-US" sz="1600" dirty="0"/>
          </a:p>
          <a:p>
            <a:pPr marL="342900" indent="-342900">
              <a:spcAft>
                <a:spcPts val="1000"/>
              </a:spcAft>
              <a:buSzPct val="100000"/>
              <a:buChar char="•"/>
            </a:pPr>
            <a:r>
              <a:rPr lang="en-US" sz="1600" dirty="0">
                <a:solidFill>
                  <a:srgbClr val="FFFFFF"/>
                </a:solidFill>
              </a:rPr>
              <a:t>Done: a live request from the wrong jurisdiction was refused against a Sepolia-anchored consent.</a:t>
            </a:r>
            <a:endParaRPr lang="en-US" sz="1600" dirty="0"/>
          </a:p>
          <a:p>
            <a:pPr marL="342900" indent="-342900">
              <a:spcAft>
                <a:spcPts val="1000"/>
              </a:spcAft>
              <a:buSzPct val="100000"/>
              <a:buChar char="•"/>
            </a:pPr>
            <a:r>
              <a:rPr lang="en-US" sz="1600" dirty="0">
                <a:solidFill>
                  <a:srgbClr val="FFFFFF"/>
                </a:solidFill>
              </a:rPr>
              <a:t>Next stage: formal proofs or model checking of the security properties, and a larger evaluation under load.</a:t>
            </a:r>
            <a:endParaRPr lang="en-US" sz="1600" dirty="0"/>
          </a:p>
        </p:txBody>
      </p:sp>
      <p:sp>
        <p:nvSpPr>
          <p:cNvPr id="8" name="F16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6" descr="/tmp/deck/img/F16.png">    </p:cNvPr>
          <p:cNvPicPr>
            <a:picLocks noChangeAspect="1"/>
          </p:cNvPicPr>
          <p:nvPr/>
        </p:nvPicPr>
        <p:blipFill>
          <a:blip r:embed="rId1"/>
          <a:stretch>
            <a:fillRect/>
          </a:stretch>
        </p:blipFill>
        <p:spPr>
          <a:xfrm>
            <a:off x="7607808" y="1638248"/>
            <a:ext cx="3803904" cy="4267303"/>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DOES IT DO WHAT IT SHOULD?</a:t>
            </a:r>
            <a:endParaRPr lang="en-US" sz="3000" dirty="0"/>
          </a:p>
        </p:txBody>
      </p:sp>
      <p:graphicFrame>
        <p:nvGraphicFramePr>
          <p:cNvPr id="20"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881360" cy="914400"/>
        </p:xfrm>
        <a:graphic>
          <a:graphicData uri="http://schemas.openxmlformats.org/drawingml/2006/table">
            <a:tbl>
              <a:tblPr/>
              <a:tblGrid>
                <a:gridCol w="2103120"/>
                <a:gridCol w="3108960"/>
                <a:gridCol w="2560320"/>
                <a:gridCol w="3108960"/>
              </a:tblGrid>
              <a:tr h="502920">
                <a:tc>
                  <a:txBody>
                    <a:bodyPr/>
                    <a:lstStyle/>
                    <a:p>
                      <a:pPr indent="0" marL="0">
                        <a:buNone/>
                      </a:pPr>
                      <a:r>
                        <a:rPr lang="en-US" sz="1400" b="1" dirty="0">
                          <a:solidFill>
                            <a:srgbClr val="FFFFFF"/>
                          </a:solidFill>
                        </a:rPr>
                        <a:t>Evidence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What it checks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Pass rule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Result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868680">
                <a:tc>
                  <a:txBody>
                    <a:bodyPr/>
                    <a:lstStyle/>
                    <a:p>
                      <a:pPr indent="0" marL="0">
                        <a:buNone/>
                      </a:pPr>
                      <a:r>
                        <a:rPr lang="en-US" sz="1400" b="1" dirty="0">
                          <a:solidFill>
                            <a:srgbClr val="0B1F33"/>
                          </a:solidFill>
                        </a:rPr>
                        <a:t>Valid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Legitimate requests get access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Observed = expected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Scenarios 1 to 3: consent created, 2-of-2 approval, ALLOW</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Negative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Wrong requests are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Any failed check gives DENY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4: wrong jurisdiction refused. Scenario 5: revoked consent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Attack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Deliberate attempts to bypass a check, A1 to A12</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Every attack is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11 of 12 refused after the hardening (A11: the changed digest is not yet compared)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Automated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23 functional tests and 13 adversarial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All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36 of 36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Independent check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On-chain receipts against the local consent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Local state = on-chain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6: all checks passed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THE RECORDED DECISIONS</a:t>
            </a:r>
            <a:endParaRPr lang="en-US" sz="3000" dirty="0"/>
          </a:p>
        </p:txBody>
      </p:sp>
      <p:graphicFrame>
        <p:nvGraphicFramePr>
          <p:cNvPr id="21" name="ledger table"/>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1280160"/>
                <a:gridCol w="2286000"/>
                <a:gridCol w="777240"/>
                <a:gridCol w="777240"/>
                <a:gridCol w="777240"/>
                <a:gridCol w="777240"/>
                <a:gridCol w="777240"/>
                <a:gridCol w="1097280"/>
                <a:gridCol w="1188720"/>
                <a:gridCol w="1325880"/>
              </a:tblGrid>
              <a:tr h="502920">
                <a:tc>
                  <a:txBody>
                    <a:bodyPr/>
                    <a:lstStyle/>
                    <a:p>
                      <a:pPr algn="ctr" indent="0" marL="0">
                        <a:buNone/>
                      </a:pPr>
                      <a:r>
                        <a:rPr lang="en-US" sz="1300" b="1" dirty="0">
                          <a:solidFill>
                            <a:srgbClr val="FFFFFF"/>
                          </a:solidFill>
                        </a:rPr>
                        <a:t>Time (24 Sep)</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Consent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VI</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VP</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Decision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Access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Proof</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502920">
                <a:tc>
                  <a:txBody>
                    <a:bodyPr/>
                    <a:lstStyle/>
                    <a:p>
                      <a:pPr indent="0" marL="0">
                        <a:buNone/>
                      </a:pPr>
                      <a:r>
                        <a:rPr lang="en-US" sz="1300" b="1" dirty="0">
                          <a:solidFill>
                            <a:srgbClr val="0B1F33"/>
                          </a:solidFill>
                        </a:rPr>
                        <a:t>09:51:36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f050c29a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09:51:39</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f050c29a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10:02:50</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f050c29a (jurisdiction SA)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C62828"/>
                          </a:solidFill>
                        </a:rPr>
                        <a:t>FAIL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C62828"/>
                          </a:solidFill>
                        </a:rPr>
                        <a:t>DENY</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C62828"/>
                          </a:solidFill>
                        </a:rPr>
                        <a:t>DENIED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n/l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11:02:52</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04da25f5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11:04:16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04da25f5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11:04:26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04da25f5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bullets"/>
          <p:cNvSpPr txBox="1"/>
          <p:nvPr/>
        </p:nvSpPr>
        <p:spPr>
          <a:xfrm>
            <a:off x="640080" y="4892040"/>
            <a:ext cx="10881360" cy="1554480"/>
          </a:xfrm>
          <a:prstGeom prst="rect">
            <a:avLst/>
          </a:prstGeom>
          <a:noFill/>
          <a:ln/>
        </p:spPr>
        <p:txBody>
          <a:bodyPr wrap="square" rtlCol="0" anchor="t"/>
          <a:lstStyle/>
          <a:p>
            <a:pPr marL="342900" indent="-342900">
              <a:spcAft>
                <a:spcPts val="1000"/>
              </a:spcAft>
              <a:buSzPct val="100000"/>
              <a:buChar char="•"/>
            </a:pPr>
            <a:r>
              <a:rPr lang="en-US" sz="1400" dirty="0">
                <a:solidFill>
                  <a:srgbClr val="FFFFFF"/>
                </a:solidFill>
              </a:rPr>
              <a:t>Allowed requests: all five checks PASS, decision ALLOW, access GRANTED, proof mode Groth16 (Scenario 3).</a:t>
            </a:r>
            <a:endParaRPr lang="en-US" sz="1400" dirty="0"/>
          </a:p>
          <a:p>
            <a:pPr marL="342900" indent="-342900">
              <a:spcAft>
                <a:spcPts val="1000"/>
              </a:spcAft>
              <a:buSzPct val="100000"/>
              <a:buChar char="•"/>
            </a:pPr>
            <a:r>
              <a:rPr lang="en-US" sz="1400" dirty="0">
                <a:solidFill>
                  <a:srgbClr val="FFFFFF"/>
                </a:solidFill>
              </a:rPr>
              <a:t>Wrong jurisdiction: only VL fails, decision DENY, access DENIED (Scenario 4). One failed check is enough.</a:t>
            </a:r>
            <a:endParaRPr lang="en-US" sz="1400" dirty="0"/>
          </a:p>
          <a:p>
            <a:pPr marL="342900" indent="-342900">
              <a:spcAft>
                <a:spcPts val="1000"/>
              </a:spcAft>
              <a:buSzPct val="100000"/>
              <a:buChar char="•"/>
            </a:pPr>
            <a:r>
              <a:rPr lang="en-US" sz="1400" dirty="0">
                <a:solidFill>
                  <a:srgbClr val="FFFFFF"/>
                </a:solidFill>
              </a:rPr>
              <a:t>After revocation (Scenario 5) the request is refused before any decision is logged (n/l = not logged); the revocation is public on Sepolia, block 11,771,307.</a:t>
            </a:r>
            <a:endParaRPr lang="en-US" sz="1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TWELVE ATTACK SCENARIOS</a:t>
            </a:r>
            <a:endParaRPr lang="en-US" sz="3000" dirty="0"/>
          </a:p>
        </p:txBody>
      </p:sp>
      <p:graphicFrame>
        <p:nvGraphicFramePr>
          <p:cNvPr id="22" name="attack table"/>
          <p:cNvGraphicFramePr>
            <a:graphicFrameLocks noGrp="1"/>
          </p:cNvGraphicFramePr>
          <p:nvPr>
            <p:extLst>
              <p:ext uri="{D42A27DB-BD31-4B8C-83A1-F6EECF244321}">
                <p14:modId xmlns:p14="http://schemas.microsoft.com/office/powerpoint/2010/main" val="1579011935"/>
              </p:ext>
            </p:extLst>
          </p:nvPr>
        </p:nvGraphicFramePr>
        <p:xfrm>
          <a:off x="548640" y="1097280"/>
          <a:ext cx="7315200" cy="914400"/>
        </p:xfrm>
        <a:graphic>
          <a:graphicData uri="http://schemas.openxmlformats.org/drawingml/2006/table">
            <a:tbl>
              <a:tblPr/>
              <a:tblGrid>
                <a:gridCol w="548640"/>
                <a:gridCol w="3931920"/>
                <a:gridCol w="822960"/>
                <a:gridCol w="1005840"/>
                <a:gridCol w="1005840"/>
              </a:tblGrid>
              <a:tr h="365760">
                <a:tc>
                  <a:txBody>
                    <a:bodyPr/>
                    <a:lstStyle/>
                    <a:p>
                      <a:pPr indent="0" marL="0">
                        <a:buNone/>
                      </a:pPr>
                      <a:r>
                        <a:rPr lang="en-US" sz="1200" b="1" dirty="0">
                          <a:solidFill>
                            <a:srgbClr val="FFFFFF"/>
                          </a:solidFill>
                        </a:rPr>
                        <a:t>ID</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Attack</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Target</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Before hardening</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After hardening</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365760">
                <a:tc>
                  <a:txBody>
                    <a:bodyPr/>
                    <a:lstStyle/>
                    <a:p>
                      <a:pPr algn="l" indent="0" marL="0">
                        <a:buNone/>
                      </a:pPr>
                      <a:r>
                        <a:rPr lang="en-US" sz="1150" b="1" dirty="0">
                          <a:solidFill>
                            <a:srgbClr val="0B1F33"/>
                          </a:solidFill>
                        </a:rPr>
                        <a:t>A1</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Approval signed by a signer outside G</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A</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62828"/>
                          </a:solidFill>
                        </a:rPr>
                        <a:t>Accepted*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A2</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Guardian signature replayed from another consent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I</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A3</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Same guardian approves twice to reach N</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A</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62828"/>
                          </a:solidFill>
                        </a:rPr>
                        <a:t>Accepted*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A4</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Requested scope exceeds the authorised scope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P</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A5</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Request with an empty scope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P</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62828"/>
                          </a:solidFill>
                        </a:rPr>
                        <a:t>Accepted*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A6</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Request before notBefore or after expiry</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A7</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Requester declares a different jurisdiction</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L</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A8</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Access after revocation</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A9</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Tampered Groth16 proof or public signal</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A10</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Honest proof for an expired consent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A11</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Result of a recorded audit event rewritten</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8A6D00"/>
                          </a:solidFill>
                        </a:rPr>
                        <a:t>Differs†</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8A6D00"/>
                          </a:solidFill>
                        </a:rPr>
                        <a:t>Differs†</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A12</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Mint or revoke by a non-owner, or token transfer</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Contract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attack notes"/>
          <p:cNvSpPr txBox="1"/>
          <p:nvPr/>
        </p:nvSpPr>
        <p:spPr>
          <a:xfrm>
            <a:off x="548640" y="5897880"/>
            <a:ext cx="7315200" cy="731520"/>
          </a:xfrm>
          <a:prstGeom prst="rect">
            <a:avLst/>
          </a:prstGeom>
          <a:noFill/>
          <a:ln/>
        </p:spPr>
        <p:txBody>
          <a:bodyPr wrap="square" rtlCol="0" anchor="t"/>
          <a:lstStyle/>
          <a:p>
            <a:pPr indent="0" marL="0">
              <a:buNone/>
            </a:pPr>
            <a:r>
              <a:rPr lang="en-US" sz="950" i="1" dirty="0">
                <a:solidFill>
                  <a:srgbClr val="FFFFFF"/>
                </a:solidFill>
              </a:rPr>
              <a:t>* Accepted at unit level only, when the service function was called directly; the interface already refused it.</a:t>
            </a:r>
            <a:endParaRPr lang="en-US" sz="950" dirty="0"/>
          </a:p>
          <a:p>
            <a:pPr indent="0" marL="0">
              <a:buNone/>
            </a:pPr>
            <a:r>
              <a:rPr lang="en-US" sz="950" i="1" dirty="0">
                <a:solidFill>
                  <a:srgbClr val="FFFFFF"/>
                </a:solidFill>
              </a:rPr>
              <a:t>† The rewritten event's digest differs from the stored digest, but no component compares the two yet, so the result is neutral.</a:t>
            </a:r>
            <a:endParaRPr lang="en-US" sz="950" dirty="0"/>
          </a:p>
          <a:p>
            <a:pPr indent="0" marL="0">
              <a:buNone/>
            </a:pPr>
            <a:r>
              <a:rPr lang="en-US" sz="950" i="1" dirty="0">
                <a:solidFill>
                  <a:srgbClr val="FFFFFF"/>
                </a:solidFill>
              </a:rPr>
              <a:t>Target: I identity, A authority, P policy and scope, T time, L jurisdiction, E evidence, Contract = ConsentSBTv3 on an in-memory EVM.</a:t>
            </a:r>
            <a:endParaRPr lang="en-US" sz="950" dirty="0"/>
          </a:p>
        </p:txBody>
      </p:sp>
      <p:sp>
        <p:nvSpPr>
          <p:cNvPr id="6" name="stat attack scenarios, A1 to A12"/>
          <p:cNvSpPr txBox="1"/>
          <p:nvPr/>
        </p:nvSpPr>
        <p:spPr>
          <a:xfrm>
            <a:off x="8229600" y="1188720"/>
            <a:ext cx="3383280" cy="868680"/>
          </a:xfrm>
          <a:prstGeom prst="rect">
            <a:avLst/>
          </a:prstGeom>
          <a:noFill/>
          <a:ln/>
        </p:spPr>
        <p:txBody>
          <a:bodyPr wrap="square" lIns="0" tIns="0" rIns="0" bIns="0" rtlCol="0" anchor="ctr"/>
          <a:lstStyle/>
          <a:p>
            <a:pPr indent="0" marL="0">
              <a:buNone/>
            </a:pPr>
            <a:r>
              <a:rPr lang="en-US" sz="4400" b="1" dirty="0">
                <a:solidFill>
                  <a:srgbClr val="1FB5D6"/>
                </a:solidFill>
              </a:rPr>
              <a:t>12</a:t>
            </a:r>
            <a:endParaRPr lang="en-US" sz="4400" dirty="0"/>
          </a:p>
        </p:txBody>
      </p:sp>
      <p:sp>
        <p:nvSpPr>
          <p:cNvPr id="7" name="stat label attack scenarios, A1 to A12"/>
          <p:cNvSpPr txBox="1"/>
          <p:nvPr/>
        </p:nvSpPr>
        <p:spPr>
          <a:xfrm>
            <a:off x="8229600" y="2057400"/>
            <a:ext cx="3383280" cy="640080"/>
          </a:xfrm>
          <a:prstGeom prst="rect">
            <a:avLst/>
          </a:prstGeom>
          <a:noFill/>
          <a:ln/>
        </p:spPr>
        <p:txBody>
          <a:bodyPr wrap="square" lIns="0" tIns="0" rIns="0" bIns="0" rtlCol="0" anchor="ctr"/>
          <a:lstStyle/>
          <a:p>
            <a:pPr indent="0" marL="0">
              <a:buNone/>
            </a:pPr>
            <a:r>
              <a:rPr lang="en-US" sz="1600" dirty="0">
                <a:solidFill>
                  <a:srgbClr val="FFFFFF"/>
                </a:solidFill>
              </a:rPr>
              <a:t>attack scenarios, A1 to A12</a:t>
            </a:r>
            <a:endParaRPr lang="en-US" sz="1600" dirty="0"/>
          </a:p>
        </p:txBody>
      </p:sp>
      <p:sp>
        <p:nvSpPr>
          <p:cNvPr id="8" name="stat refused after the hardening (A11 neutral)"/>
          <p:cNvSpPr txBox="1"/>
          <p:nvPr/>
        </p:nvSpPr>
        <p:spPr>
          <a:xfrm>
            <a:off x="8229600" y="2926080"/>
            <a:ext cx="3383280" cy="868680"/>
          </a:xfrm>
          <a:prstGeom prst="rect">
            <a:avLst/>
          </a:prstGeom>
          <a:noFill/>
          <a:ln/>
        </p:spPr>
        <p:txBody>
          <a:bodyPr wrap="square" lIns="0" tIns="0" rIns="0" bIns="0" rtlCol="0" anchor="ctr"/>
          <a:lstStyle/>
          <a:p>
            <a:pPr indent="0" marL="0">
              <a:buNone/>
            </a:pPr>
            <a:r>
              <a:rPr lang="en-US" sz="4400" b="1" dirty="0">
                <a:solidFill>
                  <a:srgbClr val="1FB5D6"/>
                </a:solidFill>
              </a:rPr>
              <a:t>11 / 12</a:t>
            </a:r>
            <a:endParaRPr lang="en-US" sz="4400" dirty="0"/>
          </a:p>
        </p:txBody>
      </p:sp>
      <p:sp>
        <p:nvSpPr>
          <p:cNvPr id="9" name="stat label refused after the hardening (A11 neutral)"/>
          <p:cNvSpPr txBox="1"/>
          <p:nvPr/>
        </p:nvSpPr>
        <p:spPr>
          <a:xfrm>
            <a:off x="8229600" y="3794760"/>
            <a:ext cx="3383280" cy="640080"/>
          </a:xfrm>
          <a:prstGeom prst="rect">
            <a:avLst/>
          </a:prstGeom>
          <a:noFill/>
          <a:ln/>
        </p:spPr>
        <p:txBody>
          <a:bodyPr wrap="square" lIns="0" tIns="0" rIns="0" bIns="0" rtlCol="0" anchor="ctr"/>
          <a:lstStyle/>
          <a:p>
            <a:pPr indent="0" marL="0">
              <a:buNone/>
            </a:pPr>
            <a:r>
              <a:rPr lang="en-US" sz="1600" dirty="0">
                <a:solidFill>
                  <a:srgbClr val="FFFFFF"/>
                </a:solidFill>
              </a:rPr>
              <a:t>refused after the hardening (A11 neutral)</a:t>
            </a:r>
            <a:endParaRPr lang="en-US" sz="1600" dirty="0"/>
          </a:p>
        </p:txBody>
      </p:sp>
      <p:sp>
        <p:nvSpPr>
          <p:cNvPr id="10" name="stat automated tests pass"/>
          <p:cNvSpPr txBox="1"/>
          <p:nvPr/>
        </p:nvSpPr>
        <p:spPr>
          <a:xfrm>
            <a:off x="8229600" y="4663440"/>
            <a:ext cx="3383280" cy="868680"/>
          </a:xfrm>
          <a:prstGeom prst="rect">
            <a:avLst/>
          </a:prstGeom>
          <a:noFill/>
          <a:ln/>
        </p:spPr>
        <p:txBody>
          <a:bodyPr wrap="square" lIns="0" tIns="0" rIns="0" bIns="0" rtlCol="0" anchor="ctr"/>
          <a:lstStyle/>
          <a:p>
            <a:pPr indent="0" marL="0">
              <a:buNone/>
            </a:pPr>
            <a:r>
              <a:rPr lang="en-US" sz="4400" b="1" dirty="0">
                <a:solidFill>
                  <a:srgbClr val="1FB5D6"/>
                </a:solidFill>
              </a:rPr>
              <a:t>36</a:t>
            </a:r>
            <a:endParaRPr lang="en-US" sz="4400" dirty="0"/>
          </a:p>
        </p:txBody>
      </p:sp>
      <p:sp>
        <p:nvSpPr>
          <p:cNvPr id="11" name="stat label automated tests pass"/>
          <p:cNvSpPr txBox="1"/>
          <p:nvPr/>
        </p:nvSpPr>
        <p:spPr>
          <a:xfrm>
            <a:off x="8229600" y="5532120"/>
            <a:ext cx="3383280" cy="640080"/>
          </a:xfrm>
          <a:prstGeom prst="rect">
            <a:avLst/>
          </a:prstGeom>
          <a:noFill/>
          <a:ln/>
        </p:spPr>
        <p:txBody>
          <a:bodyPr wrap="square" lIns="0" tIns="0" rIns="0" bIns="0" rtlCol="0" anchor="ctr"/>
          <a:lstStyle/>
          <a:p>
            <a:pPr indent="0" marL="0">
              <a:buNone/>
            </a:pPr>
            <a:r>
              <a:rPr lang="en-US" sz="1600" dirty="0">
                <a:solidFill>
                  <a:srgbClr val="FFFFFF"/>
                </a:solidFill>
              </a:rPr>
              <a:t>automated tests pass</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EVALUATION: HOW FAST AND HOW MUCH?</a:t>
            </a:r>
            <a:endParaRPr lang="en-US" sz="3000" dirty="0"/>
          </a:p>
        </p:txBody>
      </p:sp>
      <p:graphicFrame>
        <p:nvGraphicFramePr>
          <p:cNvPr id="23"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5852160" cy="914400"/>
        </p:xfrm>
        <a:graphic>
          <a:graphicData uri="http://schemas.openxmlformats.org/drawingml/2006/table">
            <a:tbl>
              <a:tblPr/>
              <a:tblGrid>
                <a:gridCol w="2103120"/>
                <a:gridCol w="1188720"/>
                <a:gridCol w="914400"/>
                <a:gridCol w="1005840"/>
                <a:gridCol w="640080"/>
              </a:tblGrid>
              <a:tr h="548640">
                <a:tc>
                  <a:txBody>
                    <a:bodyPr/>
                    <a:lstStyle/>
                    <a:p>
                      <a:pPr indent="0" marL="0">
                        <a:buNone/>
                      </a:pPr>
                      <a:r>
                        <a:rPr lang="en-US" sz="1200" b="1" dirty="0">
                          <a:solidFill>
                            <a:srgbClr val="FFFFFF"/>
                          </a:solidFill>
                        </a:rPr>
                        <a:t>Component</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Median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Min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Max</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548640">
                <a:tc>
                  <a:txBody>
                    <a:bodyPr/>
                    <a:lstStyle/>
                    <a:p>
                      <a:pPr indent="0" marL="0">
                        <a:buNone/>
                      </a:pPr>
                      <a:r>
                        <a:rPr lang="en-US" sz="1200" b="1" dirty="0">
                          <a:solidFill>
                            <a:srgbClr val="0B1F33"/>
                          </a:solidFill>
                        </a:rPr>
                        <a:t>Decision rule, five checks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2.37 µs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2.32 µs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31.59 µs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1,000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One EIP-712 signature</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10.93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10.55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15.64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Groth16 proof generation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1,401.1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1,342.8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5,349.6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Groth16 proof verification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465.3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441.0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525.1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On-chain checkValid read</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573.5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568.2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715.5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On-chain checkValidAt read</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574.6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568.2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745.6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Anchoring confirmation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11.5 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4.9 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22.1 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gas line"/>
          <p:cNvSpPr txBox="1"/>
          <p:nvPr/>
        </p:nvSpPr>
        <p:spPr>
          <a:xfrm>
            <a:off x="731520" y="5760720"/>
            <a:ext cx="5852160" cy="457200"/>
          </a:xfrm>
          <a:prstGeom prst="rect">
            <a:avLst/>
          </a:prstGeom>
          <a:noFill/>
          <a:ln/>
        </p:spPr>
        <p:txBody>
          <a:bodyPr wrap="square" rtlCol="0" anchor="ctr"/>
          <a:lstStyle/>
          <a:p>
            <a:pPr indent="0" marL="0">
              <a:buNone/>
            </a:pPr>
            <a:r>
              <a:rPr lang="en-US" sz="1400" b="1" dirty="0">
                <a:solidFill>
                  <a:srgbClr val="FFFFFF"/>
                </a:solidFill>
              </a:rPr>
              <a:t>Gas used: mint #1 196,406; revoke #1 32,980. No fee above 0.00021 ETH.</a:t>
            </a:r>
            <a:endParaRPr lang="en-US" sz="1400" dirty="0"/>
          </a:p>
        </p:txBody>
      </p:sp>
      <p:sp>
        <p:nvSpPr>
          <p:cNvPr id="6" name="F42 panel"/>
          <p:cNvSpPr/>
          <p:nvPr/>
        </p:nvSpPr>
        <p:spPr>
          <a:xfrm>
            <a:off x="6812280" y="1280160"/>
            <a:ext cx="4709160" cy="3931920"/>
          </a:xfrm>
          <a:prstGeom prst="roundRect">
            <a:avLst>
              <a:gd name="adj" fmla="val 2791"/>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42" descr="/tmp/deck/img/F42.png">    </p:cNvPr>
          <p:cNvPicPr>
            <a:picLocks noChangeAspect="1"/>
          </p:cNvPicPr>
          <p:nvPr/>
        </p:nvPicPr>
        <p:blipFill>
          <a:blip r:embed="rId1"/>
          <a:stretch>
            <a:fillRect/>
          </a:stretch>
        </p:blipFill>
        <p:spPr>
          <a:xfrm>
            <a:off x="6922008" y="2117143"/>
            <a:ext cx="4489704" cy="2257954"/>
          </a:xfrm>
          <a:prstGeom prst="rect">
            <a:avLst/>
          </a:prstGeom>
        </p:spPr>
      </p:pic>
      <p:sp>
        <p:nvSpPr>
          <p:cNvPr id="8" name="caption"/>
          <p:cNvSpPr txBox="1"/>
          <p:nvPr/>
        </p:nvSpPr>
        <p:spPr>
          <a:xfrm>
            <a:off x="6812280" y="5303520"/>
            <a:ext cx="4709160" cy="320040"/>
          </a:xfrm>
          <a:prstGeom prst="rect">
            <a:avLst/>
          </a:prstGeom>
          <a:noFill/>
          <a:ln/>
        </p:spPr>
        <p:txBody>
          <a:bodyPr wrap="square" rtlCol="0" anchor="ctr"/>
          <a:lstStyle/>
          <a:p>
            <a:pPr algn="ctr" indent="0" marL="0">
              <a:buNone/>
            </a:pPr>
            <a:r>
              <a:rPr lang="en-US" sz="1200" i="1" dirty="0">
                <a:solidFill>
                  <a:srgbClr val="FFFFFF"/>
                </a:solidFill>
              </a:rPr>
              <a:t>Timings measured on 1 October 2026; gas and anchoring from the five Sepolia transactions of September 2026; indicative only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WHAT IS DIFFERENT FROM TODAY'S SYSTEMS</a:t>
            </a:r>
            <a:endParaRPr lang="en-US" sz="3000" dirty="0"/>
          </a:p>
        </p:txBody>
      </p:sp>
      <p:graphicFrame>
        <p:nvGraphicFramePr>
          <p:cNvPr id="24"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881360" cy="914400"/>
        </p:xfrm>
        <a:graphic>
          <a:graphicData uri="http://schemas.openxmlformats.org/drawingml/2006/table">
            <a:tbl>
              <a:tblPr/>
              <a:tblGrid>
                <a:gridCol w="1828800"/>
                <a:gridCol w="4023360"/>
                <a:gridCol w="5029200"/>
              </a:tblGrid>
              <a:tr h="731520">
                <a:tc>
                  <a:txBody>
                    <a:bodyPr/>
                    <a:lstStyle/>
                    <a:p>
                      <a:pPr indent="0" marL="0">
                        <a:buNone/>
                      </a:pPr>
                      <a:r>
                        <a:rPr lang="en-US" sz="1400" b="1" dirty="0">
                          <a:solidFill>
                            <a:srgbClr val="FFFFFF"/>
                          </a:solidFill>
                        </a:rPr>
                        <a:t>Aspect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Traditional EHR access control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HALAH framework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400" b="1" dirty="0">
                          <a:solidFill>
                            <a:srgbClr val="0B1F33"/>
                          </a:solidFill>
                        </a:rPr>
                        <a:t>Identity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Central identity provider; institution login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DID for every participant; identity kept separate from authority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Consent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stored record that permission was given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 object C = (I, A, P, T, L, E), checked at every request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Approval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static permission set by one party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All listed guardians sign (EIP-712); no single party can approve alone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Access check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Log in, then check a static permission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VI ∧ VA ∧ VP ∧ VT ∧ VL, plus a Groth16 proof before data is released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Time and revocation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Hard to verify once the permission is stored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Validity window and revocation checked each time; on-chain revoke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Audit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record that consent occurred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Each decision on an active consent logged with its decision matrix; state anchored on Sepolia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DATA AND PRIVACY</a:t>
            </a:r>
            <a:endParaRPr lang="en-US" sz="3000" dirty="0"/>
          </a:p>
        </p:txBody>
      </p:sp>
      <p:graphicFrame>
        <p:nvGraphicFramePr>
          <p:cNvPr id="25" name="table"/>
          <p:cNvGraphicFramePr>
            <a:graphicFrameLocks noGrp="1"/>
          </p:cNvGraphicFramePr>
          <p:nvPr>
            <p:extLst>
              <p:ext uri="{D42A27DB-BD31-4B8C-83A1-F6EECF244321}">
                <p14:modId xmlns:p14="http://schemas.microsoft.com/office/powerpoint/2010/main" val="1579011935"/>
              </p:ext>
            </p:extLst>
          </p:nvPr>
        </p:nvGraphicFramePr>
        <p:xfrm>
          <a:off x="640080" y="1234440"/>
          <a:ext cx="10881360" cy="914400"/>
        </p:xfrm>
        <a:graphic>
          <a:graphicData uri="http://schemas.openxmlformats.org/drawingml/2006/table">
            <a:tbl>
              <a:tblPr/>
              <a:tblGrid>
                <a:gridCol w="2194560"/>
                <a:gridCol w="8686800"/>
              </a:tblGrid>
              <a:tr h="713232">
                <a:tc>
                  <a:txBody>
                    <a:bodyPr/>
                    <a:lstStyle/>
                    <a:p>
                      <a:pPr indent="0" marL="0">
                        <a:buNone/>
                      </a:pPr>
                      <a:r>
                        <a:rPr lang="en-US" sz="1500" b="1" dirty="0">
                          <a:solidFill>
                            <a:srgbClr val="FFFFFF"/>
                          </a:solidFill>
                        </a:rPr>
                        <a:t>Aspect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Key points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13232">
                <a:tc>
                  <a:txBody>
                    <a:bodyPr/>
                    <a:lstStyle/>
                    <a:p>
                      <a:pPr indent="0" marL="0">
                        <a:buNone/>
                      </a:pPr>
                      <a:r>
                        <a:rPr lang="en-US" sz="1500" b="1" dirty="0">
                          <a:solidFill>
                            <a:srgbClr val="0B1F33"/>
                          </a:solidFill>
                        </a:rPr>
                        <a:t>Data source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Synthea 1K sample of synthetic patient records (synthea.mitre.org), CSV export; a subset of patients with their observations, conditions, medications and procedures. No real patient data is involved.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Data storage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Medical records stay off-chain in the application. No medical content is written to the chain.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On-chain record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Pseudonymous patient and requester addresses, a hash of the purpose, the validity window, a jurisdiction code and a revocation flag.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Access to data</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Records are released only on ALLOW and only within the agreed data scope.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Audit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Each decision on an ACTIVE consent is recorded with its decision matrix.</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Known limitation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The plaintext purpose is passed in the mint transaction and is visible in the public transaction input.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WHY THIS MATTERS</a:t>
            </a:r>
            <a:endParaRPr lang="en-US" sz="3000" dirty="0"/>
          </a:p>
        </p:txBody>
      </p:sp>
      <p:sp>
        <p:nvSpPr>
          <p:cNvPr id="4" name="sci heading"/>
          <p:cNvSpPr txBox="1"/>
          <p:nvPr/>
        </p:nvSpPr>
        <p:spPr>
          <a:xfrm>
            <a:off x="731520" y="1051560"/>
            <a:ext cx="5120640" cy="411480"/>
          </a:xfrm>
          <a:prstGeom prst="rect">
            <a:avLst/>
          </a:prstGeom>
          <a:noFill/>
          <a:ln/>
        </p:spPr>
        <p:txBody>
          <a:bodyPr wrap="square" rtlCol="0" anchor="ctr"/>
          <a:lstStyle/>
          <a:p>
            <a:pPr indent="0" marL="0">
              <a:buNone/>
            </a:pPr>
            <a:r>
              <a:rPr lang="en-US" sz="2000" b="1" i="1" dirty="0">
                <a:solidFill>
                  <a:srgbClr val="1FB5D6"/>
                </a:solidFill>
              </a:rPr>
              <a:t>Scientific</a:t>
            </a:r>
            <a:endParaRPr lang="en-US" sz="2000" dirty="0"/>
          </a:p>
        </p:txBody>
      </p:sp>
      <p:sp>
        <p:nvSpPr>
          <p:cNvPr id="5" name="soc heading"/>
          <p:cNvSpPr txBox="1"/>
          <p:nvPr/>
        </p:nvSpPr>
        <p:spPr>
          <a:xfrm>
            <a:off x="6309360" y="1051560"/>
            <a:ext cx="5120640" cy="411480"/>
          </a:xfrm>
          <a:prstGeom prst="rect">
            <a:avLst/>
          </a:prstGeom>
          <a:noFill/>
          <a:ln/>
        </p:spPr>
        <p:txBody>
          <a:bodyPr wrap="square" rtlCol="0" anchor="ctr"/>
          <a:lstStyle/>
          <a:p>
            <a:pPr indent="0" marL="0">
              <a:buNone/>
            </a:pPr>
            <a:r>
              <a:rPr lang="en-US" sz="2000" b="1" i="1" dirty="0">
                <a:solidFill>
                  <a:srgbClr val="1FB5D6"/>
                </a:solidFill>
              </a:rPr>
              <a:t>Social</a:t>
            </a:r>
            <a:endParaRPr lang="en-US" sz="2000" dirty="0"/>
          </a:p>
        </p:txBody>
      </p:sp>
      <p:sp>
        <p:nvSpPr>
          <p:cNvPr id="6" name="bullets"/>
          <p:cNvSpPr txBox="1"/>
          <p:nvPr/>
        </p:nvSpPr>
        <p:spPr>
          <a:xfrm>
            <a:off x="731520" y="1554480"/>
            <a:ext cx="5212080" cy="484632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Consent is an evaluable object, C = (I, A, P, T, L, E), not a stored record.</a:t>
            </a:r>
            <a:endParaRPr lang="en-US" sz="1600" dirty="0"/>
          </a:p>
          <a:p>
            <a:pPr marL="342900" indent="-342900">
              <a:spcAft>
                <a:spcPts val="1000"/>
              </a:spcAft>
              <a:buSzPct val="100000"/>
              <a:buChar char="•"/>
            </a:pPr>
            <a:r>
              <a:rPr lang="en-US" sz="1600" dirty="0">
                <a:solidFill>
                  <a:srgbClr val="FFFFFF"/>
                </a:solidFill>
              </a:rPr>
              <a:t>Multi-party approval is a standing condition of every access decision, and the patient defines who must approve.</a:t>
            </a:r>
            <a:endParaRPr lang="en-US" sz="1600" dirty="0"/>
          </a:p>
          <a:p>
            <a:pPr marL="342900" indent="-342900">
              <a:spcAft>
                <a:spcPts val="1000"/>
              </a:spcAft>
              <a:buSzPct val="100000"/>
              <a:buChar char="•"/>
            </a:pPr>
            <a:r>
              <a:rPr lang="en-US" sz="1600" dirty="0">
                <a:solidFill>
                  <a:srgbClr val="FFFFFF"/>
                </a:solidFill>
              </a:rPr>
              <a:t>Identity is separated from authority, and all conditions are checked in one decision.</a:t>
            </a:r>
            <a:endParaRPr lang="en-US" sz="1600" dirty="0"/>
          </a:p>
          <a:p>
            <a:pPr marL="342900" indent="-342900">
              <a:spcAft>
                <a:spcPts val="1000"/>
              </a:spcAft>
              <a:buSzPct val="100000"/>
              <a:buChar char="•"/>
            </a:pPr>
            <a:r>
              <a:rPr lang="en-US" sz="1600" dirty="0">
                <a:solidFill>
                  <a:srgbClr val="FFFFFF"/>
                </a:solidFill>
              </a:rPr>
              <a:t>A PRISMA 2020 review of 25 studies names the conjunction gap and the assurance gap.</a:t>
            </a:r>
            <a:endParaRPr lang="en-US" sz="1600" dirty="0"/>
          </a:p>
          <a:p>
            <a:pPr marL="342900" indent="-342900">
              <a:spcAft>
                <a:spcPts val="1000"/>
              </a:spcAft>
              <a:buSzPct val="100000"/>
              <a:buChar char="•"/>
            </a:pPr>
            <a:r>
              <a:rPr lang="en-US" sz="1600" dirty="0">
                <a:solidFill>
                  <a:srgbClr val="FFFFFF"/>
                </a:solidFill>
              </a:rPr>
              <a:t>A working prototype on Sepolia, measured and attacked twelve times.</a:t>
            </a:r>
            <a:endParaRPr lang="en-US" sz="1600" dirty="0"/>
          </a:p>
        </p:txBody>
      </p:sp>
      <p:sp>
        <p:nvSpPr>
          <p:cNvPr id="7" name="bullets"/>
          <p:cNvSpPr txBox="1"/>
          <p:nvPr/>
        </p:nvSpPr>
        <p:spPr>
          <a:xfrm>
            <a:off x="6309360" y="1554480"/>
            <a:ext cx="5212080" cy="484632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Patients and their guardians decide together who may see the patient's data.</a:t>
            </a:r>
            <a:endParaRPr lang="en-US" sz="1600" dirty="0"/>
          </a:p>
          <a:p>
            <a:pPr marL="342900" indent="-342900">
              <a:spcAft>
                <a:spcPts val="1000"/>
              </a:spcAft>
              <a:buSzPct val="100000"/>
              <a:buChar char="•"/>
            </a:pPr>
            <a:r>
              <a:rPr lang="en-US" sz="1600" dirty="0">
                <a:solidFill>
                  <a:srgbClr val="FFFFFF"/>
                </a:solidFill>
              </a:rPr>
              <a:t>No single person can approve access to sensitive health data alone.</a:t>
            </a:r>
            <a:endParaRPr lang="en-US" sz="1600" dirty="0"/>
          </a:p>
          <a:p>
            <a:pPr marL="342900" indent="-342900">
              <a:spcAft>
                <a:spcPts val="1000"/>
              </a:spcAft>
              <a:buSzPct val="100000"/>
              <a:buChar char="•"/>
            </a:pPr>
            <a:r>
              <a:rPr lang="en-US" sz="1600" dirty="0">
                <a:solidFill>
                  <a:srgbClr val="FFFFFF"/>
                </a:solidFill>
              </a:rPr>
              <a:t>Every decision can be explained to an auditor: which check passed, which failed.</a:t>
            </a:r>
            <a:endParaRPr lang="en-US" sz="1600" dirty="0"/>
          </a:p>
          <a:p>
            <a:pPr marL="342900" indent="-342900">
              <a:spcAft>
                <a:spcPts val="1000"/>
              </a:spcAft>
              <a:buSzPct val="100000"/>
              <a:buChar char="•"/>
            </a:pPr>
            <a:r>
              <a:rPr lang="en-US" sz="1600" dirty="0">
                <a:solidFill>
                  <a:srgbClr val="FFFFFF"/>
                </a:solidFill>
              </a:rPr>
              <a:t>Medical records stay off-chain; only consent evidence is shared.</a:t>
            </a:r>
            <a:endParaRPr lang="en-US" sz="1600" dirty="0"/>
          </a:p>
          <a:p>
            <a:pPr marL="342900" indent="-342900">
              <a:spcAft>
                <a:spcPts val="1000"/>
              </a:spcAft>
              <a:buSzPct val="100000"/>
              <a:buChar char="•"/>
            </a:pPr>
            <a:r>
              <a:rPr lang="en-US" sz="1600" dirty="0">
                <a:solidFill>
                  <a:srgbClr val="FFFFFF"/>
                </a:solidFill>
              </a:rPr>
              <a:t>Supports trust when data move between hospitals and other independent parties.</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WHAT IS STILL OPEN</a:t>
            </a:r>
            <a:endParaRPr lang="en-US" sz="3000" dirty="0"/>
          </a:p>
        </p:txBody>
      </p:sp>
      <p:sp>
        <p:nvSpPr>
          <p:cNvPr id="4" name="card Formal proofs"/>
          <p:cNvSpPr/>
          <p:nvPr/>
        </p:nvSpPr>
        <p:spPr>
          <a:xfrm>
            <a:off x="640080" y="1280160"/>
            <a:ext cx="3520440" cy="2240280"/>
          </a:xfrm>
          <a:prstGeom prst="roundRect">
            <a:avLst>
              <a:gd name="adj" fmla="val 4082"/>
            </a:avLst>
          </a:prstGeom>
          <a:solidFill>
            <a:srgbClr val="FFFFFF">
              <a:alpha val="92000"/>
            </a:srgbClr>
          </a:solidFill>
          <a:ln w="19050">
            <a:solidFill>
              <a:srgbClr val="F2A900"/>
            </a:solidFill>
            <a:prstDash val="solid"/>
          </a:ln>
        </p:spPr>
      </p:sp>
      <p:sp>
        <p:nvSpPr>
          <p:cNvPr id="5" name="card text Formal proofs"/>
          <p:cNvSpPr txBox="1"/>
          <p:nvPr/>
        </p:nvSpPr>
        <p:spPr>
          <a:xfrm>
            <a:off x="777240" y="1371600"/>
            <a:ext cx="3246120" cy="2057400"/>
          </a:xfrm>
          <a:prstGeom prst="rect">
            <a:avLst/>
          </a:prstGeom>
          <a:noFill/>
          <a:ln/>
        </p:spPr>
        <p:txBody>
          <a:bodyPr wrap="square" rtlCol="0" anchor="t"/>
          <a:lstStyle/>
          <a:p>
            <a:pPr indent="0" marL="0">
              <a:spcAft>
                <a:spcPts val="400"/>
              </a:spcAft>
              <a:buNone/>
            </a:pPr>
            <a:r>
              <a:rPr lang="en-US" sz="1900" b="1" dirty="0">
                <a:solidFill>
                  <a:srgbClr val="F2A900"/>
                </a:solidFill>
              </a:rPr>
              <a:t>Formal proofs</a:t>
            </a:r>
            <a:endParaRPr lang="en-US" sz="1900" dirty="0"/>
          </a:p>
          <a:p>
            <a:pPr indent="0" marL="0">
              <a:spcAft>
                <a:spcPts val="400"/>
              </a:spcAft>
              <a:buNone/>
            </a:pPr>
            <a:r>
              <a:rPr lang="en-US" sz="1600" dirty="0">
                <a:solidFill>
                  <a:srgbClr val="0B1F33"/>
                </a:solidFill>
              </a:rPr>
              <a:t>The security properties are tested, not yet proved. Next: a formal model and model checking or proofs (RO6).</a:t>
            </a:r>
            <a:endParaRPr lang="en-US" sz="1900" dirty="0"/>
          </a:p>
        </p:txBody>
      </p:sp>
      <p:sp>
        <p:nvSpPr>
          <p:cNvPr id="6" name="card Lifecycle"/>
          <p:cNvSpPr/>
          <p:nvPr/>
        </p:nvSpPr>
        <p:spPr>
          <a:xfrm>
            <a:off x="4343400" y="1280160"/>
            <a:ext cx="3520440" cy="2240280"/>
          </a:xfrm>
          <a:prstGeom prst="roundRect">
            <a:avLst>
              <a:gd name="adj" fmla="val 4082"/>
            </a:avLst>
          </a:prstGeom>
          <a:solidFill>
            <a:srgbClr val="FFFFFF">
              <a:alpha val="92000"/>
            </a:srgbClr>
          </a:solidFill>
          <a:ln w="19050">
            <a:solidFill>
              <a:srgbClr val="F2A900"/>
            </a:solidFill>
            <a:prstDash val="solid"/>
          </a:ln>
        </p:spPr>
      </p:sp>
      <p:sp>
        <p:nvSpPr>
          <p:cNvPr id="7" name="card text Lifecycle"/>
          <p:cNvSpPr txBox="1"/>
          <p:nvPr/>
        </p:nvSpPr>
        <p:spPr>
          <a:xfrm>
            <a:off x="4480560" y="1371600"/>
            <a:ext cx="3246120" cy="2057400"/>
          </a:xfrm>
          <a:prstGeom prst="rect">
            <a:avLst/>
          </a:prstGeom>
          <a:noFill/>
          <a:ln/>
        </p:spPr>
        <p:txBody>
          <a:bodyPr wrap="square" rtlCol="0" anchor="t"/>
          <a:lstStyle/>
          <a:p>
            <a:pPr indent="0" marL="0">
              <a:spcAft>
                <a:spcPts val="400"/>
              </a:spcAft>
              <a:buNone/>
            </a:pPr>
            <a:r>
              <a:rPr lang="en-US" sz="1900" b="1" dirty="0">
                <a:solidFill>
                  <a:srgbClr val="F2A900"/>
                </a:solidFill>
              </a:rPr>
              <a:t>Lifecycle</a:t>
            </a:r>
            <a:endParaRPr lang="en-US" sz="1900" dirty="0"/>
          </a:p>
          <a:p>
            <a:pPr indent="0" marL="0">
              <a:spcAft>
                <a:spcPts val="400"/>
              </a:spcAft>
              <a:buNone/>
            </a:pPr>
            <a:r>
              <a:rPr lang="en-US" sz="1600" dirty="0">
                <a:solidFill>
                  <a:srgbClr val="0B1F33"/>
                </a:solidFill>
              </a:rPr>
              <a:t>Consent modification, delegation and guardian-set changes, with a formal lifecycle model (RO5).</a:t>
            </a:r>
            <a:endParaRPr lang="en-US" sz="1900" dirty="0"/>
          </a:p>
        </p:txBody>
      </p:sp>
      <p:sp>
        <p:nvSpPr>
          <p:cNvPr id="8" name="card Identity and keys"/>
          <p:cNvSpPr/>
          <p:nvPr/>
        </p:nvSpPr>
        <p:spPr>
          <a:xfrm>
            <a:off x="804672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9" name="card text Identity and keys"/>
          <p:cNvSpPr txBox="1"/>
          <p:nvPr/>
        </p:nvSpPr>
        <p:spPr>
          <a:xfrm>
            <a:off x="8183880" y="1371600"/>
            <a:ext cx="3246120" cy="2057400"/>
          </a:xfrm>
          <a:prstGeom prst="rect">
            <a:avLst/>
          </a:prstGeom>
          <a:noFill/>
          <a:ln/>
        </p:spPr>
        <p:txBody>
          <a:bodyPr wrap="square" rtlCol="0" anchor="t"/>
          <a:lstStyle/>
          <a:p>
            <a:pPr indent="0" marL="0">
              <a:spcAft>
                <a:spcPts val="400"/>
              </a:spcAft>
              <a:buNone/>
            </a:pPr>
            <a:r>
              <a:rPr lang="en-US" sz="1900" b="1" dirty="0">
                <a:solidFill>
                  <a:srgbClr val="1FB5D6"/>
                </a:solidFill>
              </a:rPr>
              <a:t>Identity and keys</a:t>
            </a:r>
            <a:endParaRPr lang="en-US" sz="1900" dirty="0"/>
          </a:p>
          <a:p>
            <a:pPr indent="0" marL="0">
              <a:spcAft>
                <a:spcPts val="400"/>
              </a:spcAft>
              <a:buNone/>
            </a:pPr>
            <a:r>
              <a:rPr lang="en-US" sz="1600" dirty="0">
                <a:solidFill>
                  <a:srgbClr val="0B1F33"/>
                </a:solidFill>
              </a:rPr>
              <a:t>Full DID resolution, credential validation and wallet-held guardian keys. Today: a DID-format check, signature recovery and keys derived from the guardian DIDs (RO2, RO3).</a:t>
            </a:r>
            <a:endParaRPr lang="en-US" sz="1900" dirty="0"/>
          </a:p>
        </p:txBody>
      </p:sp>
      <p:sp>
        <p:nvSpPr>
          <p:cNvPr id="10" name="card Attack A11"/>
          <p:cNvSpPr/>
          <p:nvPr/>
        </p:nvSpPr>
        <p:spPr>
          <a:xfrm>
            <a:off x="64008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1" name="card text Attack A11"/>
          <p:cNvSpPr txBox="1"/>
          <p:nvPr/>
        </p:nvSpPr>
        <p:spPr>
          <a:xfrm>
            <a:off x="777240" y="3886200"/>
            <a:ext cx="3246120" cy="2057400"/>
          </a:xfrm>
          <a:prstGeom prst="rect">
            <a:avLst/>
          </a:prstGeom>
          <a:noFill/>
          <a:ln/>
        </p:spPr>
        <p:txBody>
          <a:bodyPr wrap="square" rtlCol="0" anchor="t"/>
          <a:lstStyle/>
          <a:p>
            <a:pPr indent="0" marL="0">
              <a:spcAft>
                <a:spcPts val="400"/>
              </a:spcAft>
              <a:buNone/>
            </a:pPr>
            <a:r>
              <a:rPr lang="en-US" sz="1900" b="1" dirty="0">
                <a:solidFill>
                  <a:srgbClr val="1FB5D6"/>
                </a:solidFill>
              </a:rPr>
              <a:t>Attack A11</a:t>
            </a:r>
            <a:endParaRPr lang="en-US" sz="1900" dirty="0"/>
          </a:p>
          <a:p>
            <a:pPr indent="0" marL="0">
              <a:spcAft>
                <a:spcPts val="400"/>
              </a:spcAft>
              <a:buNone/>
            </a:pPr>
            <a:r>
              <a:rPr lang="en-US" sz="1600" dirty="0">
                <a:solidFill>
                  <a:srgbClr val="0B1F33"/>
                </a:solidFill>
              </a:rPr>
              <a:t>A changed audit digest is not yet compared by any component. It is marked neutral, not refused.</a:t>
            </a:r>
            <a:endParaRPr lang="en-US" sz="1900" dirty="0"/>
          </a:p>
        </p:txBody>
      </p:sp>
      <p:sp>
        <p:nvSpPr>
          <p:cNvPr id="12" name="card Scale"/>
          <p:cNvSpPr/>
          <p:nvPr/>
        </p:nvSpPr>
        <p:spPr>
          <a:xfrm>
            <a:off x="434340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3" name="card text Scale"/>
          <p:cNvSpPr txBox="1"/>
          <p:nvPr/>
        </p:nvSpPr>
        <p:spPr>
          <a:xfrm>
            <a:off x="4480560" y="3886200"/>
            <a:ext cx="3246120" cy="2057400"/>
          </a:xfrm>
          <a:prstGeom prst="rect">
            <a:avLst/>
          </a:prstGeom>
          <a:noFill/>
          <a:ln/>
        </p:spPr>
        <p:txBody>
          <a:bodyPr wrap="square" rtlCol="0" anchor="t"/>
          <a:lstStyle/>
          <a:p>
            <a:pPr indent="0" marL="0">
              <a:spcAft>
                <a:spcPts val="400"/>
              </a:spcAft>
              <a:buNone/>
            </a:pPr>
            <a:r>
              <a:rPr lang="en-US" sz="1900" b="1" dirty="0">
                <a:solidFill>
                  <a:srgbClr val="1FB5D6"/>
                </a:solidFill>
              </a:rPr>
              <a:t>Scale</a:t>
            </a:r>
            <a:endParaRPr lang="en-US" sz="1900" dirty="0"/>
          </a:p>
          <a:p>
            <a:pPr indent="0" marL="0">
              <a:spcAft>
                <a:spcPts val="400"/>
              </a:spcAft>
              <a:buNone/>
            </a:pPr>
            <a:r>
              <a:rPr lang="en-US" sz="1600" dirty="0">
                <a:solidFill>
                  <a:srgbClr val="0B1F33"/>
                </a:solidFill>
              </a:rPr>
              <a:t>A larger evaluation under load, with more users, consents and concurrent requests.</a:t>
            </a:r>
            <a:endParaRPr lang="en-US" sz="1900" dirty="0"/>
          </a:p>
        </p:txBody>
      </p:sp>
      <p:sp>
        <p:nvSpPr>
          <p:cNvPr id="14" name="card Purpose on-chain"/>
          <p:cNvSpPr/>
          <p:nvPr/>
        </p:nvSpPr>
        <p:spPr>
          <a:xfrm>
            <a:off x="804672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5" name="card text Purpose on-chain"/>
          <p:cNvSpPr txBox="1"/>
          <p:nvPr/>
        </p:nvSpPr>
        <p:spPr>
          <a:xfrm>
            <a:off x="8183880" y="3886200"/>
            <a:ext cx="3246120" cy="2057400"/>
          </a:xfrm>
          <a:prstGeom prst="rect">
            <a:avLst/>
          </a:prstGeom>
          <a:noFill/>
          <a:ln/>
        </p:spPr>
        <p:txBody>
          <a:bodyPr wrap="square" rtlCol="0" anchor="t"/>
          <a:lstStyle/>
          <a:p>
            <a:pPr indent="0" marL="0">
              <a:spcAft>
                <a:spcPts val="400"/>
              </a:spcAft>
              <a:buNone/>
            </a:pPr>
            <a:r>
              <a:rPr lang="en-US" sz="1900" b="1" dirty="0">
                <a:solidFill>
                  <a:srgbClr val="1FB5D6"/>
                </a:solidFill>
              </a:rPr>
              <a:t>Purpose on-chain</a:t>
            </a:r>
            <a:endParaRPr lang="en-US" sz="1900" dirty="0"/>
          </a:p>
          <a:p>
            <a:pPr indent="0" marL="0">
              <a:spcAft>
                <a:spcPts val="400"/>
              </a:spcAft>
              <a:buNone/>
            </a:pPr>
            <a:r>
              <a:rPr lang="en-US" sz="1600" dirty="0">
                <a:solidFill>
                  <a:srgbClr val="0B1F33"/>
                </a:solidFill>
              </a:rPr>
              <a:t>The plaintext purpose is visible in the mint transaction input.</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PLAN</a:t>
            </a:r>
            <a:endParaRPr lang="en-US" sz="3000" dirty="0"/>
          </a:p>
        </p:txBody>
      </p:sp>
      <p:graphicFrame>
        <p:nvGraphicFramePr>
          <p:cNvPr id="28" name="table"/>
          <p:cNvGraphicFramePr>
            <a:graphicFrameLocks noGrp="1"/>
          </p:cNvGraphicFramePr>
          <p:nvPr>
            <p:extLst>
              <p:ext uri="{D42A27DB-BD31-4B8C-83A1-F6EECF244321}">
                <p14:modId xmlns:p14="http://schemas.microsoft.com/office/powerpoint/2010/main" val="1579011935"/>
              </p:ext>
            </p:extLst>
          </p:nvPr>
        </p:nvGraphicFramePr>
        <p:xfrm>
          <a:off x="731520" y="1097280"/>
          <a:ext cx="10698480" cy="914400"/>
        </p:xfrm>
        <a:graphic>
          <a:graphicData uri="http://schemas.openxmlformats.org/drawingml/2006/table">
            <a:tbl>
              <a:tblPr/>
              <a:tblGrid>
                <a:gridCol w="1737360"/>
                <a:gridCol w="6035040"/>
                <a:gridCol w="1463040"/>
                <a:gridCol w="1463040"/>
              </a:tblGrid>
              <a:tr h="457200">
                <a:tc>
                  <a:txBody>
                    <a:bodyPr/>
                    <a:lstStyle/>
                    <a:p>
                      <a:pPr indent="0" marL="0">
                        <a:buNone/>
                      </a:pPr>
                      <a:r>
                        <a:rPr lang="en-US" sz="1300" b="1" dirty="0">
                          <a:solidFill>
                            <a:srgbClr val="FFFFFF"/>
                          </a:solidFill>
                        </a:rPr>
                        <a:t>Task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Description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Target date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Status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457200">
                <a:tc>
                  <a:txBody>
                    <a:bodyPr/>
                    <a:lstStyle/>
                    <a:p>
                      <a:pPr indent="0" marL="0">
                        <a:buNone/>
                      </a:pPr>
                      <a:r>
                        <a:rPr lang="en-US" sz="1300" b="1" dirty="0">
                          <a:solidFill>
                            <a:srgbClr val="0B1F33"/>
                          </a:solidFill>
                        </a:rPr>
                        <a:t>Chapters 1–4</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Introduction, SLR, Research Questions and Objectives, Research Methodology</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Research Architecture (MVC) and framework design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May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Proposed solution for RQ1 to RQ4 and the HALAH prototype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Jul–Oct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1</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Conference paper submission, BWCCA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Sep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2</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SLR paper journal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 Progress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prototype evaluation and integrated results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Nov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3</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Journal paper on formal security assurance, lifecycle trust and the evaluation of HALAH</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8</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Conclusion and future work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Final assessment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Final candidature assessment defence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Jan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Thesis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thesis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Mar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TIMELINE</a:t>
            </a:r>
            <a:endParaRPr lang="en-US" sz="3000" dirty="0"/>
          </a:p>
        </p:txBody>
      </p:sp>
      <p:sp>
        <p:nvSpPr>
          <p:cNvPr id="4" name="Fplan panel"/>
          <p:cNvSpPr/>
          <p:nvPr/>
        </p:nvSpPr>
        <p:spPr>
          <a:xfrm>
            <a:off x="731520" y="1280160"/>
            <a:ext cx="10698480" cy="4937760"/>
          </a:xfrm>
          <a:prstGeom prst="roundRect">
            <a:avLst>
              <a:gd name="adj" fmla="val 222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plan" descr="/tmp/deck/img/Fplan.png">    </p:cNvPr>
          <p:cNvPicPr>
            <a:picLocks noChangeAspect="1"/>
          </p:cNvPicPr>
          <p:nvPr/>
        </p:nvPicPr>
        <p:blipFill>
          <a:blip r:embed="rId1"/>
          <a:stretch>
            <a:fillRect/>
          </a:stretch>
        </p:blipFill>
        <p:spPr>
          <a:xfrm>
            <a:off x="841248" y="1440972"/>
            <a:ext cx="10479024" cy="4616136"/>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THE HALAH PROTOTYPE</a:t>
            </a:r>
            <a:endParaRPr lang="en-US" sz="3000" dirty="0"/>
          </a:p>
        </p:txBody>
      </p:sp>
      <p:sp>
        <p:nvSpPr>
          <p:cNvPr id="4" name="demo subtitle"/>
          <p:cNvSpPr txBox="1"/>
          <p:nvPr/>
        </p:nvSpPr>
        <p:spPr>
          <a:xfrm>
            <a:off x="731520" y="960120"/>
            <a:ext cx="10698480" cy="411480"/>
          </a:xfrm>
          <a:prstGeom prst="rect">
            <a:avLst/>
          </a:prstGeom>
          <a:noFill/>
          <a:ln/>
        </p:spPr>
        <p:txBody>
          <a:bodyPr wrap="square" rtlCol="0" anchor="ctr"/>
          <a:lstStyle/>
          <a:p>
            <a:pPr indent="0" marL="0">
              <a:buNone/>
            </a:pPr>
            <a:r>
              <a:rPr lang="en-US" sz="1700" i="1" dirty="0">
                <a:solidFill>
                  <a:srgbClr val="1FB5D6"/>
                </a:solidFill>
              </a:rPr>
              <a:t>One real consent, from creation to revocation: RO1 to RO4 in full, and the working parts of RO5 and RO6.</a:t>
            </a:r>
            <a:endParaRPr lang="en-US" sz="1700" dirty="0"/>
          </a:p>
        </p:txBody>
      </p:sp>
      <p:sp>
        <p:nvSpPr>
          <p:cNvPr id="5" name="card Four interfaces"/>
          <p:cNvSpPr/>
          <p:nvPr/>
        </p:nvSpPr>
        <p:spPr>
          <a:xfrm>
            <a:off x="640080" y="1554480"/>
            <a:ext cx="3520440" cy="2103120"/>
          </a:xfrm>
          <a:prstGeom prst="roundRect">
            <a:avLst>
              <a:gd name="adj" fmla="val 4348"/>
            </a:avLst>
          </a:prstGeom>
          <a:solidFill>
            <a:srgbClr val="FFFFFF">
              <a:alpha val="92000"/>
            </a:srgbClr>
          </a:solidFill>
          <a:ln w="19050">
            <a:solidFill>
              <a:srgbClr val="1FB5D6"/>
            </a:solidFill>
            <a:prstDash val="solid"/>
          </a:ln>
        </p:spPr>
      </p:sp>
      <p:sp>
        <p:nvSpPr>
          <p:cNvPr id="6" name="card text Four interfaces"/>
          <p:cNvSpPr txBox="1"/>
          <p:nvPr/>
        </p:nvSpPr>
        <p:spPr>
          <a:xfrm>
            <a:off x="777240" y="164592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Four interfaces</a:t>
            </a:r>
            <a:endParaRPr lang="en-US" sz="1900" dirty="0"/>
          </a:p>
          <a:p>
            <a:pPr indent="0" marL="0">
              <a:spcAft>
                <a:spcPts val="400"/>
              </a:spcAft>
              <a:buNone/>
            </a:pPr>
            <a:r>
              <a:rPr lang="en-US" sz="1600" dirty="0">
                <a:solidFill>
                  <a:srgbClr val="0B1F33"/>
                </a:solidFill>
              </a:rPr>
              <a:t>Patient, guardian, doctor and auditor</a:t>
            </a:r>
            <a:endParaRPr lang="en-US" sz="1900" dirty="0"/>
          </a:p>
        </p:txBody>
      </p:sp>
      <p:sp>
        <p:nvSpPr>
          <p:cNvPr id="7" name="card Smart contract"/>
          <p:cNvSpPr/>
          <p:nvPr/>
        </p:nvSpPr>
        <p:spPr>
          <a:xfrm>
            <a:off x="4343400" y="1554480"/>
            <a:ext cx="3520440" cy="2103120"/>
          </a:xfrm>
          <a:prstGeom prst="roundRect">
            <a:avLst>
              <a:gd name="adj" fmla="val 4348"/>
            </a:avLst>
          </a:prstGeom>
          <a:solidFill>
            <a:srgbClr val="FFFFFF">
              <a:alpha val="92000"/>
            </a:srgbClr>
          </a:solidFill>
          <a:ln w="19050">
            <a:solidFill>
              <a:srgbClr val="1FB5D6"/>
            </a:solidFill>
            <a:prstDash val="solid"/>
          </a:ln>
        </p:spPr>
      </p:sp>
      <p:sp>
        <p:nvSpPr>
          <p:cNvPr id="8" name="card text Smart contract"/>
          <p:cNvSpPr txBox="1"/>
          <p:nvPr/>
        </p:nvSpPr>
        <p:spPr>
          <a:xfrm>
            <a:off x="4480560" y="164592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Smart contract</a:t>
            </a:r>
            <a:endParaRPr lang="en-US" sz="1900" dirty="0"/>
          </a:p>
          <a:p>
            <a:pPr indent="0" marL="0">
              <a:spcAft>
                <a:spcPts val="400"/>
              </a:spcAft>
              <a:buNone/>
            </a:pPr>
            <a:r>
              <a:rPr lang="en-US" sz="1600" dirty="0">
                <a:solidFill>
                  <a:srgbClr val="0B1F33"/>
                </a:solidFill>
              </a:rPr>
              <a:t>ConsentSBTv3, a soulbound ERC-721 token (ERC-5484) on the Sepolia testnet</a:t>
            </a:r>
            <a:endParaRPr lang="en-US" sz="1900" dirty="0"/>
          </a:p>
        </p:txBody>
      </p:sp>
      <p:sp>
        <p:nvSpPr>
          <p:cNvPr id="9" name="card Guardian approval"/>
          <p:cNvSpPr/>
          <p:nvPr/>
        </p:nvSpPr>
        <p:spPr>
          <a:xfrm>
            <a:off x="8046720" y="1554480"/>
            <a:ext cx="3520440" cy="2103120"/>
          </a:xfrm>
          <a:prstGeom prst="roundRect">
            <a:avLst>
              <a:gd name="adj" fmla="val 4348"/>
            </a:avLst>
          </a:prstGeom>
          <a:solidFill>
            <a:srgbClr val="FFFFFF">
              <a:alpha val="92000"/>
            </a:srgbClr>
          </a:solidFill>
          <a:ln w="19050">
            <a:solidFill>
              <a:srgbClr val="1FB5D6"/>
            </a:solidFill>
            <a:prstDash val="solid"/>
          </a:ln>
        </p:spPr>
      </p:sp>
      <p:sp>
        <p:nvSpPr>
          <p:cNvPr id="10" name="card text Guardian approval"/>
          <p:cNvSpPr txBox="1"/>
          <p:nvPr/>
        </p:nvSpPr>
        <p:spPr>
          <a:xfrm>
            <a:off x="8183880" y="164592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Guardian approval</a:t>
            </a:r>
            <a:endParaRPr lang="en-US" sz="1900" dirty="0"/>
          </a:p>
          <a:p>
            <a:pPr indent="0" marL="0">
              <a:spcAft>
                <a:spcPts val="400"/>
              </a:spcAft>
              <a:buNone/>
            </a:pPr>
            <a:r>
              <a:rPr lang="en-US" sz="1600" dirty="0">
                <a:solidFill>
                  <a:srgbClr val="0B1F33"/>
                </a:solidFill>
              </a:rPr>
              <a:t>EIP-712 typed signatures, verified by signature recovery</a:t>
            </a:r>
            <a:endParaRPr lang="en-US" sz="1900" dirty="0"/>
          </a:p>
        </p:txBody>
      </p:sp>
      <p:sp>
        <p:nvSpPr>
          <p:cNvPr id="11" name="card Access proof"/>
          <p:cNvSpPr/>
          <p:nvPr/>
        </p:nvSpPr>
        <p:spPr>
          <a:xfrm>
            <a:off x="640080" y="3931920"/>
            <a:ext cx="3520440" cy="2103120"/>
          </a:xfrm>
          <a:prstGeom prst="roundRect">
            <a:avLst>
              <a:gd name="adj" fmla="val 4348"/>
            </a:avLst>
          </a:prstGeom>
          <a:solidFill>
            <a:srgbClr val="FFFFFF">
              <a:alpha val="92000"/>
            </a:srgbClr>
          </a:solidFill>
          <a:ln w="19050">
            <a:solidFill>
              <a:srgbClr val="1FB5D6"/>
            </a:solidFill>
            <a:prstDash val="solid"/>
          </a:ln>
        </p:spPr>
      </p:sp>
      <p:sp>
        <p:nvSpPr>
          <p:cNvPr id="12" name="card text Access proof"/>
          <p:cNvSpPr txBox="1"/>
          <p:nvPr/>
        </p:nvSpPr>
        <p:spPr>
          <a:xfrm>
            <a:off x="777240" y="402336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Access proof</a:t>
            </a:r>
            <a:endParaRPr lang="en-US" sz="1900" dirty="0"/>
          </a:p>
          <a:p>
            <a:pPr indent="0" marL="0">
              <a:spcAft>
                <a:spcPts val="400"/>
              </a:spcAft>
              <a:buNone/>
            </a:pPr>
            <a:r>
              <a:rPr lang="en-US" sz="1600" dirty="0">
                <a:solidFill>
                  <a:srgbClr val="0B1F33"/>
                </a:solidFill>
              </a:rPr>
              <a:t>Groth16 zero-knowledge proof over a Poseidon commitment</a:t>
            </a:r>
            <a:endParaRPr lang="en-US" sz="1900" dirty="0"/>
          </a:p>
        </p:txBody>
      </p:sp>
      <p:sp>
        <p:nvSpPr>
          <p:cNvPr id="13" name="card Data"/>
          <p:cNvSpPr/>
          <p:nvPr/>
        </p:nvSpPr>
        <p:spPr>
          <a:xfrm>
            <a:off x="4343400" y="3931920"/>
            <a:ext cx="3520440" cy="2103120"/>
          </a:xfrm>
          <a:prstGeom prst="roundRect">
            <a:avLst>
              <a:gd name="adj" fmla="val 4348"/>
            </a:avLst>
          </a:prstGeom>
          <a:solidFill>
            <a:srgbClr val="FFFFFF">
              <a:alpha val="92000"/>
            </a:srgbClr>
          </a:solidFill>
          <a:ln w="19050">
            <a:solidFill>
              <a:srgbClr val="1FB5D6"/>
            </a:solidFill>
            <a:prstDash val="solid"/>
          </a:ln>
        </p:spPr>
      </p:sp>
      <p:sp>
        <p:nvSpPr>
          <p:cNvPr id="14" name="card text Data"/>
          <p:cNvSpPr txBox="1"/>
          <p:nvPr/>
        </p:nvSpPr>
        <p:spPr>
          <a:xfrm>
            <a:off x="4480560" y="402336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Data</a:t>
            </a:r>
            <a:endParaRPr lang="en-US" sz="1900" dirty="0"/>
          </a:p>
          <a:p>
            <a:pPr indent="0" marL="0">
              <a:spcAft>
                <a:spcPts val="400"/>
              </a:spcAft>
              <a:buNone/>
            </a:pPr>
            <a:r>
              <a:rPr lang="en-US" sz="1600" dirty="0">
                <a:solidFill>
                  <a:srgbClr val="0B1F33"/>
                </a:solidFill>
              </a:rPr>
              <a:t>Synthetic Synthea records: Observation, Medication, Condition, Procedure</a:t>
            </a:r>
            <a:endParaRPr lang="en-US" sz="1900" dirty="0"/>
          </a:p>
        </p:txBody>
      </p:sp>
      <p:sp>
        <p:nvSpPr>
          <p:cNvPr id="15" name="card Evidence"/>
          <p:cNvSpPr/>
          <p:nvPr/>
        </p:nvSpPr>
        <p:spPr>
          <a:xfrm>
            <a:off x="8046720" y="3931920"/>
            <a:ext cx="3520440" cy="2103120"/>
          </a:xfrm>
          <a:prstGeom prst="roundRect">
            <a:avLst>
              <a:gd name="adj" fmla="val 4348"/>
            </a:avLst>
          </a:prstGeom>
          <a:solidFill>
            <a:srgbClr val="FFFFFF">
              <a:alpha val="92000"/>
            </a:srgbClr>
          </a:solidFill>
          <a:ln w="19050">
            <a:solidFill>
              <a:srgbClr val="1FB5D6"/>
            </a:solidFill>
            <a:prstDash val="solid"/>
          </a:ln>
        </p:spPr>
      </p:sp>
      <p:sp>
        <p:nvSpPr>
          <p:cNvPr id="16" name="card text Evidence"/>
          <p:cNvSpPr txBox="1"/>
          <p:nvPr/>
        </p:nvSpPr>
        <p:spPr>
          <a:xfrm>
            <a:off x="8183880" y="402336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Evidence</a:t>
            </a:r>
            <a:endParaRPr lang="en-US" sz="1900" dirty="0"/>
          </a:p>
          <a:p>
            <a:pPr indent="0" marL="0">
              <a:spcAft>
                <a:spcPts val="400"/>
              </a:spcAft>
              <a:buNone/>
            </a:pPr>
            <a:r>
              <a:rPr lang="en-US" sz="1600" dirty="0">
                <a:solidFill>
                  <a:srgbClr val="0B1F33"/>
                </a:solidFill>
              </a:rPr>
              <a:t>Audit ledger of every decision on an active consent; no medical content on-chain</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1: THE PATIENT CREATES THE CONSENT</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RO1</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Consent as an evaluable object</a:t>
            </a:r>
            <a:endParaRPr lang="en-US" sz="1600" dirty="0"/>
          </a:p>
        </p:txBody>
      </p:sp>
      <p:sp>
        <p:nvSpPr>
          <p:cNvPr id="7" name="F21 panel"/>
          <p:cNvSpPr/>
          <p:nvPr/>
        </p:nvSpPr>
        <p:spPr>
          <a:xfrm>
            <a:off x="640080" y="1600200"/>
            <a:ext cx="6949440" cy="4709160"/>
          </a:xfrm>
          <a:prstGeom prst="roundRect">
            <a:avLst>
              <a:gd name="adj" fmla="val 233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21" descr="/tmp/deck/img/F21.png">    </p:cNvPr>
          <p:cNvPicPr>
            <a:picLocks noChangeAspect="1"/>
          </p:cNvPicPr>
          <p:nvPr/>
        </p:nvPicPr>
        <p:blipFill>
          <a:blip r:embed="rId1"/>
          <a:stretch>
            <a:fillRect/>
          </a:stretch>
        </p:blipFill>
        <p:spPr>
          <a:xfrm>
            <a:off x="1079655" y="1709928"/>
            <a:ext cx="6070290" cy="4489704"/>
          </a:xfrm>
          <a:prstGeom prst="rect">
            <a:avLst/>
          </a:prstGeom>
        </p:spPr>
      </p:pic>
      <p:sp>
        <p:nvSpPr>
          <p:cNvPr id="9" name="caption"/>
          <p:cNvSpPr txBox="1"/>
          <p:nvPr/>
        </p:nvSpPr>
        <p:spPr>
          <a:xfrm>
            <a:off x="640080" y="6355080"/>
            <a:ext cx="6949440" cy="320040"/>
          </a:xfrm>
          <a:prstGeom prst="rect">
            <a:avLst/>
          </a:prstGeom>
          <a:noFill/>
          <a:ln/>
        </p:spPr>
        <p:txBody>
          <a:bodyPr wrap="square" rtlCol="0" anchor="ctr"/>
          <a:lstStyle/>
          <a:p>
            <a:pPr algn="ctr" indent="0" marL="0">
              <a:buNone/>
            </a:pPr>
            <a:r>
              <a:rPr lang="en-US" sz="1200" i="1" dirty="0">
                <a:solidFill>
                  <a:srgbClr val="FFFFFF"/>
                </a:solidFill>
              </a:rPr>
              <a:t>Patient subsystem after creation: four modules, two guardians, jurisdiction AU, state PENDING_SIGNATURE</a:t>
            </a:r>
            <a:endParaRPr lang="en-US" sz="1200" dirty="0"/>
          </a:p>
        </p:txBody>
      </p:sp>
      <p:sp>
        <p:nvSpPr>
          <p:cNvPr id="10" name="bullets"/>
          <p:cNvSpPr txBox="1"/>
          <p:nvPr/>
        </p:nvSpPr>
        <p:spPr>
          <a:xfrm>
            <a:off x="7863840" y="1600200"/>
            <a:ext cx="3749040" cy="47548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patient chooses the doctor, two guardians, the data modules, the validity time and the jurisdiction AU.</a:t>
            </a:r>
            <a:endParaRPr lang="en-US" sz="1600" dirty="0"/>
          </a:p>
          <a:p>
            <a:pPr marL="342900" indent="-342900">
              <a:spcAft>
                <a:spcPts val="1000"/>
              </a:spcAft>
              <a:buSzPct val="100000"/>
              <a:buChar char="•"/>
            </a:pPr>
            <a:r>
              <a:rPr lang="en-US" sz="1600" dirty="0">
                <a:solidFill>
                  <a:srgbClr val="FFFFFF"/>
                </a:solidFill>
              </a:rPr>
              <a:t>The purpose is fixed to Treatment in this prototype.</a:t>
            </a:r>
            <a:endParaRPr lang="en-US" sz="1600" dirty="0"/>
          </a:p>
          <a:p>
            <a:pPr marL="342900" indent="-342900">
              <a:spcAft>
                <a:spcPts val="1000"/>
              </a:spcAft>
              <a:buSzPct val="100000"/>
              <a:buChar char="•"/>
            </a:pPr>
            <a:r>
              <a:rPr lang="en-US" sz="1600" dirty="0">
                <a:solidFill>
                  <a:srgbClr val="FFFFFF"/>
                </a:solidFill>
              </a:rPr>
              <a:t>An empty data scope or a malformed guardian DID is rejected.</a:t>
            </a:r>
            <a:endParaRPr lang="en-US" sz="1600" dirty="0"/>
          </a:p>
          <a:p>
            <a:pPr marL="342900" indent="-342900">
              <a:spcAft>
                <a:spcPts val="1000"/>
              </a:spcAft>
              <a:buSzPct val="100000"/>
              <a:buChar char="•"/>
            </a:pPr>
            <a:r>
              <a:rPr lang="en-US" sz="1600" dirty="0">
                <a:solidFill>
                  <a:srgbClr val="FFFFFF"/>
                </a:solidFill>
              </a:rPr>
              <a:t>The consent is stored as PENDING_SIGNATURE. Nothing is on the blockchain yet.</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2: THE FIRST GUARDIAN APPROVES</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RO3</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Multi-party approval: one signature is not enough</a:t>
            </a:r>
            <a:endParaRPr lang="en-US" sz="1600" dirty="0"/>
          </a:p>
        </p:txBody>
      </p:sp>
      <p:sp>
        <p:nvSpPr>
          <p:cNvPr id="7" name="F22 panel"/>
          <p:cNvSpPr/>
          <p:nvPr/>
        </p:nvSpPr>
        <p:spPr>
          <a:xfrm>
            <a:off x="640080" y="1600200"/>
            <a:ext cx="6949440" cy="4709160"/>
          </a:xfrm>
          <a:prstGeom prst="roundRect">
            <a:avLst>
              <a:gd name="adj" fmla="val 233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22" descr="/tmp/deck/img/F22.png">    </p:cNvPr>
          <p:cNvPicPr>
            <a:picLocks noChangeAspect="1"/>
          </p:cNvPicPr>
          <p:nvPr/>
        </p:nvPicPr>
        <p:blipFill>
          <a:blip r:embed="rId1"/>
          <a:stretch>
            <a:fillRect/>
          </a:stretch>
        </p:blipFill>
        <p:spPr>
          <a:xfrm>
            <a:off x="749808" y="2746760"/>
            <a:ext cx="6729984" cy="2416041"/>
          </a:xfrm>
          <a:prstGeom prst="rect">
            <a:avLst/>
          </a:prstGeom>
        </p:spPr>
      </p:pic>
      <p:sp>
        <p:nvSpPr>
          <p:cNvPr id="9" name="caption"/>
          <p:cNvSpPr txBox="1"/>
          <p:nvPr/>
        </p:nvSpPr>
        <p:spPr>
          <a:xfrm>
            <a:off x="640080" y="6355080"/>
            <a:ext cx="6949440" cy="320040"/>
          </a:xfrm>
          <a:prstGeom prst="rect">
            <a:avLst/>
          </a:prstGeom>
          <a:noFill/>
          <a:ln/>
        </p:spPr>
        <p:txBody>
          <a:bodyPr wrap="square" rtlCol="0" anchor="ctr"/>
          <a:lstStyle/>
          <a:p>
            <a:pPr algn="ctr" indent="0" marL="0">
              <a:buNone/>
            </a:pPr>
            <a:r>
              <a:rPr lang="en-US" sz="1200" i="1" dirty="0">
                <a:solidFill>
                  <a:srgbClr val="FFFFFF"/>
                </a:solidFill>
              </a:rPr>
              <a:t>Guardian subsystem at the first approval: signature verified, multi-signature count 1/2</a:t>
            </a:r>
            <a:endParaRPr lang="en-US" sz="1200" dirty="0"/>
          </a:p>
        </p:txBody>
      </p:sp>
      <p:sp>
        <p:nvSpPr>
          <p:cNvPr id="10" name="bullets"/>
          <p:cNvSpPr txBox="1"/>
          <p:nvPr/>
        </p:nvSpPr>
        <p:spPr>
          <a:xfrm>
            <a:off x="7863840" y="1600200"/>
            <a:ext cx="3749040" cy="47548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first guardian signs an EIP-712 approval.</a:t>
            </a:r>
            <a:endParaRPr lang="en-US" sz="1600" dirty="0"/>
          </a:p>
          <a:p>
            <a:pPr marL="342900" indent="-342900">
              <a:spcAft>
                <a:spcPts val="1000"/>
              </a:spcAft>
              <a:buSzPct val="100000"/>
              <a:buChar char="•"/>
            </a:pPr>
            <a:r>
              <a:rPr lang="en-US" sz="1600" dirty="0">
                <a:solidFill>
                  <a:srgbClr val="FFFFFF"/>
                </a:solidFill>
              </a:rPr>
              <a:t>The system recovers the signer and confirms it is a listed guardian.</a:t>
            </a:r>
            <a:endParaRPr lang="en-US" sz="1600" dirty="0"/>
          </a:p>
          <a:p>
            <a:pPr marL="342900" indent="-342900">
              <a:spcAft>
                <a:spcPts val="1000"/>
              </a:spcAft>
              <a:buSzPct val="100000"/>
              <a:buChar char="•"/>
            </a:pPr>
            <a:r>
              <a:rPr lang="en-US" sz="1600" dirty="0">
                <a:solidFill>
                  <a:srgbClr val="FFFFFF"/>
                </a:solidFill>
              </a:rPr>
              <a:t>The counter shows 1 of 2. The consent stays pending.</a:t>
            </a:r>
            <a:endParaRPr lang="en-US" sz="1600" dirty="0"/>
          </a:p>
          <a:p>
            <a:pPr marL="342900" indent="-342900">
              <a:spcAft>
                <a:spcPts val="1000"/>
              </a:spcAft>
              <a:buSzPct val="100000"/>
              <a:buChar char="•"/>
            </a:pPr>
            <a:r>
              <a:rPr lang="en-US" sz="1600" dirty="0">
                <a:solidFill>
                  <a:srgbClr val="FFFFFF"/>
                </a:solidFill>
              </a:rPr>
              <a:t>Approvals from outsiders, replays and duplicates would not be counted.</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3: SECOND APPROVAL, TOKEN MINTED</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RO3</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Threshold reached: 2 of 2, then anchoring in the background</a:t>
            </a:r>
            <a:endParaRPr lang="en-US" sz="1600" dirty="0"/>
          </a:p>
        </p:txBody>
      </p:sp>
      <p:sp>
        <p:nvSpPr>
          <p:cNvPr id="7" name="bullets"/>
          <p:cNvSpPr txBox="1"/>
          <p:nvPr/>
        </p:nvSpPr>
        <p:spPr>
          <a:xfrm>
            <a:off x="731520" y="1463040"/>
            <a:ext cx="10789920" cy="868680"/>
          </a:xfrm>
          <a:prstGeom prst="rect">
            <a:avLst/>
          </a:prstGeom>
          <a:noFill/>
          <a:ln/>
        </p:spPr>
        <p:txBody>
          <a:bodyPr wrap="square" rtlCol="0" anchor="t"/>
          <a:lstStyle/>
          <a:p>
            <a:pPr marL="342900" indent="-342900">
              <a:buSzPct val="100000"/>
              <a:buChar char="•"/>
            </a:pPr>
            <a:r>
              <a:rPr lang="en-US" sz="1400" dirty="0">
                <a:solidFill>
                  <a:srgbClr val="FFFFFF"/>
                </a:solidFill>
              </a:rPr>
              <a:t>Second signature verified; threshold 2 of 2 reached</a:t>
            </a:r>
            <a:endParaRPr lang="en-US" sz="1400" dirty="0"/>
          </a:p>
          <a:p>
            <a:pPr marL="342900" indent="-342900">
              <a:buSzPct val="100000"/>
              <a:buChar char="•"/>
            </a:pPr>
            <a:r>
              <a:rPr lang="en-US" sz="1400" dirty="0">
                <a:solidFill>
                  <a:srgbClr val="FFFFFF"/>
                </a:solidFill>
              </a:rPr>
              <a:t>A soulbound token is minted on Sepolia in the background; the user does not wait</a:t>
            </a:r>
            <a:endParaRPr lang="en-US" sz="1400" dirty="0"/>
          </a:p>
          <a:p>
            <a:pPr marL="342900" indent="-342900">
              <a:buSzPct val="100000"/>
              <a:buChar char="•"/>
            </a:pPr>
            <a:r>
              <a:rPr lang="en-US" sz="1400" dirty="0">
                <a:solidFill>
                  <a:srgbClr val="FFFFFF"/>
                </a:solidFill>
              </a:rPr>
              <a:t>Later the same screen reads: already anchored on Sepolia</a:t>
            </a:r>
            <a:endParaRPr lang="en-US" sz="1400" dirty="0"/>
          </a:p>
        </p:txBody>
      </p:sp>
      <p:sp>
        <p:nvSpPr>
          <p:cNvPr id="8" name="F23 panel"/>
          <p:cNvSpPr/>
          <p:nvPr/>
        </p:nvSpPr>
        <p:spPr>
          <a:xfrm>
            <a:off x="640080" y="2377440"/>
            <a:ext cx="5394960" cy="2743200"/>
          </a:xfrm>
          <a:prstGeom prst="roundRect">
            <a:avLst>
              <a:gd name="adj" fmla="val 4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23" descr="/tmp/deck/img/F23.png">    </p:cNvPr>
          <p:cNvPicPr>
            <a:picLocks noChangeAspect="1"/>
          </p:cNvPicPr>
          <p:nvPr/>
        </p:nvPicPr>
        <p:blipFill>
          <a:blip r:embed="rId1"/>
          <a:stretch>
            <a:fillRect/>
          </a:stretch>
        </p:blipFill>
        <p:spPr>
          <a:xfrm>
            <a:off x="749808" y="2562614"/>
            <a:ext cx="5175504" cy="2372852"/>
          </a:xfrm>
          <a:prstGeom prst="rect">
            <a:avLst/>
          </a:prstGeom>
        </p:spPr>
      </p:pic>
      <p:sp>
        <p:nvSpPr>
          <p:cNvPr id="10" name="caption"/>
          <p:cNvSpPr txBox="1"/>
          <p:nvPr/>
        </p:nvSpPr>
        <p:spPr>
          <a:xfrm>
            <a:off x="640080" y="5166360"/>
            <a:ext cx="5394960" cy="320040"/>
          </a:xfrm>
          <a:prstGeom prst="rect">
            <a:avLst/>
          </a:prstGeom>
          <a:noFill/>
          <a:ln/>
        </p:spPr>
        <p:txBody>
          <a:bodyPr wrap="square" rtlCol="0" anchor="ctr"/>
          <a:lstStyle/>
          <a:p>
            <a:pPr algn="ctr" indent="0" marL="0">
              <a:buNone/>
            </a:pPr>
            <a:r>
              <a:rPr lang="en-US" sz="1200" i="1" dirty="0">
                <a:solidFill>
                  <a:srgbClr val="FFFFFF"/>
                </a:solidFill>
              </a:rPr>
              <a:t>Second approval: 2/2 reached, SBT minted in the background</a:t>
            </a:r>
            <a:endParaRPr lang="en-US" sz="1200" dirty="0"/>
          </a:p>
        </p:txBody>
      </p:sp>
      <p:sp>
        <p:nvSpPr>
          <p:cNvPr id="11" name="F25 panel"/>
          <p:cNvSpPr/>
          <p:nvPr/>
        </p:nvSpPr>
        <p:spPr>
          <a:xfrm>
            <a:off x="6172200" y="2377440"/>
            <a:ext cx="5394960" cy="2743200"/>
          </a:xfrm>
          <a:prstGeom prst="roundRect">
            <a:avLst>
              <a:gd name="adj" fmla="val 4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2" name="F25" descr="/tmp/deck/img/F25.png">    </p:cNvPr>
          <p:cNvPicPr>
            <a:picLocks noChangeAspect="1"/>
          </p:cNvPicPr>
          <p:nvPr/>
        </p:nvPicPr>
        <p:blipFill>
          <a:blip r:embed="rId2"/>
          <a:stretch>
            <a:fillRect/>
          </a:stretch>
        </p:blipFill>
        <p:spPr>
          <a:xfrm>
            <a:off x="6281928" y="2949468"/>
            <a:ext cx="5175504" cy="1599144"/>
          </a:xfrm>
          <a:prstGeom prst="rect">
            <a:avLst/>
          </a:prstGeom>
        </p:spPr>
      </p:pic>
      <p:sp>
        <p:nvSpPr>
          <p:cNvPr id="13" name="caption"/>
          <p:cNvSpPr txBox="1"/>
          <p:nvPr/>
        </p:nvSpPr>
        <p:spPr>
          <a:xfrm>
            <a:off x="6172200" y="5166360"/>
            <a:ext cx="5394960" cy="320040"/>
          </a:xfrm>
          <a:prstGeom prst="rect">
            <a:avLst/>
          </a:prstGeom>
          <a:noFill/>
          <a:ln/>
        </p:spPr>
        <p:txBody>
          <a:bodyPr wrap="square" rtlCol="0" anchor="ctr"/>
          <a:lstStyle/>
          <a:p>
            <a:pPr algn="ctr" indent="0" marL="0">
              <a:buNone/>
            </a:pPr>
            <a:r>
              <a:rPr lang="en-US" sz="1200" i="1" dirty="0">
                <a:solidFill>
                  <a:srgbClr val="FFFFFF"/>
                </a:solidFill>
              </a:rPr>
              <a:t>Revisited after the background job: already anchored on Sepolia</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4: THE DOCTOR IS ALLOWED</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RO2 + RO4</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Five checks and a proof before any data is released</a:t>
            </a:r>
            <a:endParaRPr lang="en-US" sz="1600" dirty="0"/>
          </a:p>
        </p:txBody>
      </p:sp>
      <p:sp>
        <p:nvSpPr>
          <p:cNvPr id="7" name="F27 panel"/>
          <p:cNvSpPr/>
          <p:nvPr/>
        </p:nvSpPr>
        <p:spPr>
          <a:xfrm>
            <a:off x="640080" y="1600200"/>
            <a:ext cx="6949440" cy="4709160"/>
          </a:xfrm>
          <a:prstGeom prst="roundRect">
            <a:avLst>
              <a:gd name="adj" fmla="val 233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27" descr="/tmp/deck/img/F27.png">    </p:cNvPr>
          <p:cNvPicPr>
            <a:picLocks noChangeAspect="1"/>
          </p:cNvPicPr>
          <p:nvPr/>
        </p:nvPicPr>
        <p:blipFill>
          <a:blip r:embed="rId1"/>
          <a:stretch>
            <a:fillRect/>
          </a:stretch>
        </p:blipFill>
        <p:spPr>
          <a:xfrm>
            <a:off x="1266853" y="1709928"/>
            <a:ext cx="5695893" cy="4489704"/>
          </a:xfrm>
          <a:prstGeom prst="rect">
            <a:avLst/>
          </a:prstGeom>
        </p:spPr>
      </p:pic>
      <p:sp>
        <p:nvSpPr>
          <p:cNvPr id="9" name="caption"/>
          <p:cNvSpPr txBox="1"/>
          <p:nvPr/>
        </p:nvSpPr>
        <p:spPr>
          <a:xfrm>
            <a:off x="640080" y="6355080"/>
            <a:ext cx="6949440" cy="320040"/>
          </a:xfrm>
          <a:prstGeom prst="rect">
            <a:avLst/>
          </a:prstGeom>
          <a:noFill/>
          <a:ln/>
        </p:spPr>
        <p:txBody>
          <a:bodyPr wrap="square" rtlCol="0" anchor="ctr"/>
          <a:lstStyle/>
          <a:p>
            <a:pPr algn="ctr" indent="0" marL="0">
              <a:buNone/>
            </a:pPr>
            <a:r>
              <a:rPr lang="en-US" sz="1200" i="1" dirty="0">
                <a:solidFill>
                  <a:srgbClr val="FFFFFF"/>
                </a:solidFill>
              </a:rPr>
              <a:t>Doctor subsystem, requester jurisdiction AU: all five checks PASS, ALLOW</a:t>
            </a:r>
            <a:endParaRPr lang="en-US" sz="1200" dirty="0"/>
          </a:p>
        </p:txBody>
      </p:sp>
      <p:sp>
        <p:nvSpPr>
          <p:cNvPr id="10" name="bullets"/>
          <p:cNvSpPr txBox="1"/>
          <p:nvPr/>
        </p:nvSpPr>
        <p:spPr>
          <a:xfrm>
            <a:off x="7863840" y="1600200"/>
            <a:ext cx="3749040" cy="47548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doctor selects the consent and a scope inside the agreed modules.</a:t>
            </a:r>
            <a:endParaRPr lang="en-US" sz="1600" dirty="0"/>
          </a:p>
          <a:p>
            <a:pPr marL="342900" indent="-342900">
              <a:spcAft>
                <a:spcPts val="1000"/>
              </a:spcAft>
              <a:buSzPct val="100000"/>
              <a:buChar char="•"/>
            </a:pPr>
            <a:r>
              <a:rPr lang="en-US" sz="1600" dirty="0">
                <a:solidFill>
                  <a:srgbClr val="FFFFFF"/>
                </a:solidFill>
              </a:rPr>
              <a:t>A Groth16 proof is generated and verified.</a:t>
            </a:r>
            <a:endParaRPr lang="en-US" sz="1600" dirty="0"/>
          </a:p>
          <a:p>
            <a:pPr marL="342900" indent="-342900">
              <a:spcAft>
                <a:spcPts val="1000"/>
              </a:spcAft>
              <a:buSzPct val="100000"/>
              <a:buChar char="•"/>
            </a:pPr>
            <a:r>
              <a:rPr lang="en-US" sz="1600" dirty="0">
                <a:solidFill>
                  <a:srgbClr val="FFFFFF"/>
                </a:solidFill>
              </a:rPr>
              <a:t>The decision matrix shows VI, VA, VP, VT, VL all PASS, so ALLOW.</a:t>
            </a:r>
            <a:endParaRPr lang="en-US" sz="1600" dirty="0"/>
          </a:p>
          <a:p>
            <a:pPr marL="342900" indent="-342900">
              <a:spcAft>
                <a:spcPts val="1000"/>
              </a:spcAft>
              <a:buSzPct val="100000"/>
              <a:buChar char="•"/>
            </a:pPr>
            <a:r>
              <a:rPr lang="en-US" sz="1600" dirty="0">
                <a:solidFill>
                  <a:srgbClr val="FFFFFF"/>
                </a:solidFill>
              </a:rPr>
              <a:t>Identity, authority, approvals, scope, time and jurisdiction are checked in one decision.</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5: ONLY THE AUTHORISED RECORDS</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RO4</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Data scope enforced: nothing outside the consent</a:t>
            </a:r>
            <a:endParaRPr lang="en-US" sz="1600" dirty="0"/>
          </a:p>
        </p:txBody>
      </p:sp>
      <p:sp>
        <p:nvSpPr>
          <p:cNvPr id="7" name="F29 panel"/>
          <p:cNvSpPr/>
          <p:nvPr/>
        </p:nvSpPr>
        <p:spPr>
          <a:xfrm>
            <a:off x="640080" y="1600200"/>
            <a:ext cx="6949440" cy="4709160"/>
          </a:xfrm>
          <a:prstGeom prst="roundRect">
            <a:avLst>
              <a:gd name="adj" fmla="val 233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29" descr="/tmp/deck/img/F29.png">    </p:cNvPr>
          <p:cNvPicPr>
            <a:picLocks noChangeAspect="1"/>
          </p:cNvPicPr>
          <p:nvPr/>
        </p:nvPicPr>
        <p:blipFill>
          <a:blip r:embed="rId1"/>
          <a:stretch>
            <a:fillRect/>
          </a:stretch>
        </p:blipFill>
        <p:spPr>
          <a:xfrm>
            <a:off x="2137378" y="1709928"/>
            <a:ext cx="3954844" cy="4489704"/>
          </a:xfrm>
          <a:prstGeom prst="rect">
            <a:avLst/>
          </a:prstGeom>
        </p:spPr>
      </p:pic>
      <p:sp>
        <p:nvSpPr>
          <p:cNvPr id="9" name="caption"/>
          <p:cNvSpPr txBox="1"/>
          <p:nvPr/>
        </p:nvSpPr>
        <p:spPr>
          <a:xfrm>
            <a:off x="640080" y="6355080"/>
            <a:ext cx="6949440" cy="320040"/>
          </a:xfrm>
          <a:prstGeom prst="rect">
            <a:avLst/>
          </a:prstGeom>
          <a:noFill/>
          <a:ln/>
        </p:spPr>
        <p:txBody>
          <a:bodyPr wrap="square" rtlCol="0" anchor="ctr"/>
          <a:lstStyle/>
          <a:p>
            <a:pPr algn="ctr" indent="0" marL="0">
              <a:buNone/>
            </a:pPr>
            <a:r>
              <a:rPr lang="en-US" sz="1200" i="1" dirty="0">
                <a:solidFill>
                  <a:srgbClr val="FFFFFF"/>
                </a:solidFill>
              </a:rPr>
              <a:t>Doctor subsystem after verification: access granted, records displayed per module</a:t>
            </a:r>
            <a:endParaRPr lang="en-US" sz="1200" dirty="0"/>
          </a:p>
        </p:txBody>
      </p:sp>
      <p:sp>
        <p:nvSpPr>
          <p:cNvPr id="10" name="bullets"/>
          <p:cNvSpPr txBox="1"/>
          <p:nvPr/>
        </p:nvSpPr>
        <p:spPr>
          <a:xfrm>
            <a:off x="7863840" y="1600200"/>
            <a:ext cx="3749040" cy="47548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Records are displayed per module: Observation, Medication, Condition, Procedure.</a:t>
            </a:r>
            <a:endParaRPr lang="en-US" sz="1600" dirty="0"/>
          </a:p>
          <a:p>
            <a:pPr marL="342900" indent="-342900">
              <a:spcAft>
                <a:spcPts val="1000"/>
              </a:spcAft>
              <a:buSzPct val="100000"/>
              <a:buChar char="•"/>
            </a:pPr>
            <a:r>
              <a:rPr lang="en-US" sz="1600" dirty="0">
                <a:solidFill>
                  <a:srgbClr val="FFFFFF"/>
                </a:solidFill>
              </a:rPr>
              <a:t>Only the modules inside the consent scope are returned.</a:t>
            </a:r>
            <a:endParaRPr lang="en-US" sz="1600" dirty="0"/>
          </a:p>
          <a:p>
            <a:pPr marL="342900" indent="-342900">
              <a:spcAft>
                <a:spcPts val="1000"/>
              </a:spcAft>
              <a:buSzPct val="100000"/>
              <a:buChar char="•"/>
            </a:pPr>
            <a:r>
              <a:rPr lang="en-US" sz="1600" dirty="0">
                <a:solidFill>
                  <a:srgbClr val="FFFFFF"/>
                </a:solidFill>
              </a:rPr>
              <a:t>A request for a module outside the scope is refused (attack test A4).</a:t>
            </a:r>
            <a:endParaRPr lang="en-US" sz="1600" dirty="0"/>
          </a:p>
          <a:p>
            <a:pPr marL="342900" indent="-342900">
              <a:spcAft>
                <a:spcPts val="1000"/>
              </a:spcAft>
              <a:buSzPct val="100000"/>
              <a:buChar char="•"/>
            </a:pPr>
            <a:r>
              <a:rPr lang="en-US" sz="1600" dirty="0">
                <a:solidFill>
                  <a:srgbClr val="FFFFFF"/>
                </a:solidFill>
              </a:rPr>
              <a:t>The decision is written to the audit ledger with its matrix.</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6: THE WRONG JURISDICTION</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RO4</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One failed check is enough to deny</a:t>
            </a:r>
            <a:endParaRPr lang="en-US" sz="1600" dirty="0"/>
          </a:p>
        </p:txBody>
      </p:sp>
      <p:sp>
        <p:nvSpPr>
          <p:cNvPr id="7" name="bullets"/>
          <p:cNvSpPr txBox="1"/>
          <p:nvPr/>
        </p:nvSpPr>
        <p:spPr>
          <a:xfrm>
            <a:off x="731520" y="1463040"/>
            <a:ext cx="10789920" cy="868680"/>
          </a:xfrm>
          <a:prstGeom prst="rect">
            <a:avLst/>
          </a:prstGeom>
          <a:noFill/>
          <a:ln/>
        </p:spPr>
        <p:txBody>
          <a:bodyPr wrap="square" rtlCol="0" anchor="t"/>
          <a:lstStyle/>
          <a:p>
            <a:pPr marL="342900" indent="-342900">
              <a:buSzPct val="100000"/>
              <a:buChar char="•"/>
            </a:pPr>
            <a:r>
              <a:rPr lang="en-US" sz="1400" dirty="0">
                <a:solidFill>
                  <a:srgbClr val="FFFFFF"/>
                </a:solidFill>
              </a:rPr>
              <a:t>Same doctor, same active consent, jurisdiction declared as SA instead of AU</a:t>
            </a:r>
            <a:endParaRPr lang="en-US" sz="1400" dirty="0"/>
          </a:p>
          <a:p>
            <a:pPr marL="342900" indent="-342900">
              <a:buSzPct val="100000"/>
              <a:buChar char="•"/>
            </a:pPr>
            <a:r>
              <a:rPr lang="en-US" sz="1400" dirty="0">
                <a:solidFill>
                  <a:srgbClr val="FFFFFF"/>
                </a:solidFill>
              </a:rPr>
              <a:t>VL = FAIL, so ALLOW = FAIL</a:t>
            </a:r>
            <a:endParaRPr lang="en-US" sz="1400" dirty="0"/>
          </a:p>
          <a:p>
            <a:pPr marL="342900" indent="-342900">
              <a:buSzPct val="100000"/>
              <a:buChar char="•"/>
            </a:pPr>
            <a:r>
              <a:rPr lang="en-US" sz="1400" dirty="0">
                <a:solidFill>
                  <a:srgbClr val="FFFFFF"/>
                </a:solidFill>
              </a:rPr>
              <a:t>The refusal names the failed check: Security Exception, failed checks: VL</a:t>
            </a:r>
            <a:endParaRPr lang="en-US" sz="1400" dirty="0"/>
          </a:p>
        </p:txBody>
      </p:sp>
      <p:sp>
        <p:nvSpPr>
          <p:cNvPr id="8" name="F31 panel"/>
          <p:cNvSpPr/>
          <p:nvPr/>
        </p:nvSpPr>
        <p:spPr>
          <a:xfrm>
            <a:off x="64008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31" descr="/tmp/deck/img/F31.png">    </p:cNvPr>
          <p:cNvPicPr>
            <a:picLocks noChangeAspect="1"/>
          </p:cNvPicPr>
          <p:nvPr/>
        </p:nvPicPr>
        <p:blipFill>
          <a:blip r:embed="rId1"/>
          <a:stretch>
            <a:fillRect/>
          </a:stretch>
        </p:blipFill>
        <p:spPr>
          <a:xfrm>
            <a:off x="1156648" y="2487168"/>
            <a:ext cx="4361824" cy="3438144"/>
          </a:xfrm>
          <a:prstGeom prst="rect">
            <a:avLst/>
          </a:prstGeom>
        </p:spPr>
      </p:pic>
      <p:sp>
        <p:nvSpPr>
          <p:cNvPr id="10" name="caption"/>
          <p:cNvSpPr txBox="1"/>
          <p:nvPr/>
        </p:nvSpPr>
        <p:spPr>
          <a:xfrm>
            <a:off x="640080" y="6080760"/>
            <a:ext cx="5394960" cy="320040"/>
          </a:xfrm>
          <a:prstGeom prst="rect">
            <a:avLst/>
          </a:prstGeom>
          <a:noFill/>
          <a:ln/>
        </p:spPr>
        <p:txBody>
          <a:bodyPr wrap="square" rtlCol="0" anchor="ctr"/>
          <a:lstStyle/>
          <a:p>
            <a:pPr algn="ctr" indent="0" marL="0">
              <a:buNone/>
            </a:pPr>
            <a:r>
              <a:rPr lang="en-US" sz="1200" i="1" dirty="0">
                <a:solidFill>
                  <a:srgbClr val="FFFFFF"/>
                </a:solidFill>
              </a:rPr>
              <a:t>Requester jurisdiction SA: VL reports FAIL, ALLOW = FAIL</a:t>
            </a:r>
            <a:endParaRPr lang="en-US" sz="1200" dirty="0"/>
          </a:p>
        </p:txBody>
      </p:sp>
      <p:sp>
        <p:nvSpPr>
          <p:cNvPr id="11" name="F32 panel"/>
          <p:cNvSpPr/>
          <p:nvPr/>
        </p:nvSpPr>
        <p:spPr>
          <a:xfrm>
            <a:off x="617220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2" name="F32" descr="/tmp/deck/img/F32.png">    </p:cNvPr>
          <p:cNvPicPr>
            <a:picLocks noChangeAspect="1"/>
          </p:cNvPicPr>
          <p:nvPr/>
        </p:nvPicPr>
        <p:blipFill>
          <a:blip r:embed="rId2"/>
          <a:stretch>
            <a:fillRect/>
          </a:stretch>
        </p:blipFill>
        <p:spPr>
          <a:xfrm>
            <a:off x="6281928" y="2927586"/>
            <a:ext cx="5175504" cy="2557308"/>
          </a:xfrm>
          <a:prstGeom prst="rect">
            <a:avLst/>
          </a:prstGeom>
        </p:spPr>
      </p:pic>
      <p:sp>
        <p:nvSpPr>
          <p:cNvPr id="13" name="caption"/>
          <p:cNvSpPr txBox="1"/>
          <p:nvPr/>
        </p:nvSpPr>
        <p:spPr>
          <a:xfrm>
            <a:off x="6172200" y="6080760"/>
            <a:ext cx="5394960" cy="320040"/>
          </a:xfrm>
          <a:prstGeom prst="rect">
            <a:avLst/>
          </a:prstGeom>
          <a:noFill/>
          <a:ln/>
        </p:spPr>
        <p:txBody>
          <a:bodyPr wrap="square" rtlCol="0" anchor="ctr"/>
          <a:lstStyle/>
          <a:p>
            <a:pPr algn="ctr" indent="0" marL="0">
              <a:buNone/>
            </a:pPr>
            <a:r>
              <a:rPr lang="en-US" sz="1200" i="1" dirty="0">
                <a:solidFill>
                  <a:srgbClr val="FFFFFF"/>
                </a:solidFill>
              </a:rPr>
              <a:t>The refused request names the failed check: VL</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7: THE PATIENT REVOKES THE CONSENT</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RO5</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Revocation end to end, with an on-chain transaction</a:t>
            </a:r>
            <a:endParaRPr lang="en-US" sz="1600" dirty="0"/>
          </a:p>
        </p:txBody>
      </p:sp>
      <p:sp>
        <p:nvSpPr>
          <p:cNvPr id="7" name="bullets"/>
          <p:cNvSpPr txBox="1"/>
          <p:nvPr/>
        </p:nvSpPr>
        <p:spPr>
          <a:xfrm>
            <a:off x="731520" y="1463040"/>
            <a:ext cx="10789920" cy="868680"/>
          </a:xfrm>
          <a:prstGeom prst="rect">
            <a:avLst/>
          </a:prstGeom>
          <a:noFill/>
          <a:ln/>
        </p:spPr>
        <p:txBody>
          <a:bodyPr wrap="square" rtlCol="0" anchor="t"/>
          <a:lstStyle/>
          <a:p>
            <a:pPr marL="342900" indent="-342900">
              <a:buSzPct val="100000"/>
              <a:buChar char="•"/>
            </a:pPr>
            <a:r>
              <a:rPr lang="en-US" sz="1400" dirty="0">
                <a:solidFill>
                  <a:srgbClr val="FFFFFF"/>
                </a:solidFill>
              </a:rPr>
              <a:t>The patient revokes the consent</a:t>
            </a:r>
            <a:endParaRPr lang="en-US" sz="1400" dirty="0"/>
          </a:p>
          <a:p>
            <a:pPr marL="342900" indent="-342900">
              <a:buSzPct val="100000"/>
              <a:buChar char="•"/>
            </a:pPr>
            <a:r>
              <a:rPr lang="en-US" sz="1400" dirty="0">
                <a:solidFill>
                  <a:srgbClr val="FFFFFF"/>
                </a:solidFill>
              </a:rPr>
              <a:t>The revoke transaction is sent to Sepolia and waits for block confirmation</a:t>
            </a:r>
            <a:endParaRPr lang="en-US" sz="1400" dirty="0"/>
          </a:p>
          <a:p>
            <a:pPr marL="342900" indent="-342900">
              <a:buSzPct val="100000"/>
              <a:buChar char="•"/>
            </a:pPr>
            <a:r>
              <a:rPr lang="en-US" sz="1400" dirty="0">
                <a:solidFill>
                  <a:srgbClr val="FFFFFF"/>
                </a:solidFill>
              </a:rPr>
              <a:t>The consent becomes REVOKED, token #1</a:t>
            </a:r>
            <a:endParaRPr lang="en-US" sz="1400" dirty="0"/>
          </a:p>
        </p:txBody>
      </p:sp>
      <p:sp>
        <p:nvSpPr>
          <p:cNvPr id="8" name="F33 panel"/>
          <p:cNvSpPr/>
          <p:nvPr/>
        </p:nvSpPr>
        <p:spPr>
          <a:xfrm>
            <a:off x="640080" y="2377440"/>
            <a:ext cx="5394960" cy="3566160"/>
          </a:xfrm>
          <a:prstGeom prst="roundRect">
            <a:avLst>
              <a:gd name="adj" fmla="val 307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33" descr="/tmp/deck/img/F33.png">    </p:cNvPr>
          <p:cNvPicPr>
            <a:picLocks noChangeAspect="1"/>
          </p:cNvPicPr>
          <p:nvPr/>
        </p:nvPicPr>
        <p:blipFill>
          <a:blip r:embed="rId1"/>
          <a:stretch>
            <a:fillRect/>
          </a:stretch>
        </p:blipFill>
        <p:spPr>
          <a:xfrm>
            <a:off x="1022756" y="2487168"/>
            <a:ext cx="4629607" cy="3346704"/>
          </a:xfrm>
          <a:prstGeom prst="rect">
            <a:avLst/>
          </a:prstGeom>
        </p:spPr>
      </p:pic>
      <p:sp>
        <p:nvSpPr>
          <p:cNvPr id="10" name="caption"/>
          <p:cNvSpPr txBox="1"/>
          <p:nvPr/>
        </p:nvSpPr>
        <p:spPr>
          <a:xfrm>
            <a:off x="640080" y="5989320"/>
            <a:ext cx="5394960" cy="320040"/>
          </a:xfrm>
          <a:prstGeom prst="rect">
            <a:avLst/>
          </a:prstGeom>
          <a:noFill/>
          <a:ln/>
        </p:spPr>
        <p:txBody>
          <a:bodyPr wrap="square" rtlCol="0" anchor="ctr"/>
          <a:lstStyle/>
          <a:p>
            <a:pPr algn="ctr" indent="0" marL="0">
              <a:buNone/>
            </a:pPr>
            <a:r>
              <a:rPr lang="en-US" sz="1200" i="1" dirty="0">
                <a:solidFill>
                  <a:srgbClr val="FFFFFF"/>
                </a:solidFill>
              </a:rPr>
              <a:t>During revocation: waiting for block confirmation</a:t>
            </a:r>
            <a:endParaRPr lang="en-US" sz="1200" dirty="0"/>
          </a:p>
        </p:txBody>
      </p:sp>
      <p:sp>
        <p:nvSpPr>
          <p:cNvPr id="11" name="F34 panel"/>
          <p:cNvSpPr/>
          <p:nvPr/>
        </p:nvSpPr>
        <p:spPr>
          <a:xfrm>
            <a:off x="6172200" y="2377440"/>
            <a:ext cx="5394960" cy="3566160"/>
          </a:xfrm>
          <a:prstGeom prst="roundRect">
            <a:avLst>
              <a:gd name="adj" fmla="val 307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2" name="F34" descr="/tmp/deck/img/F34.png">    </p:cNvPr>
          <p:cNvPicPr>
            <a:picLocks noChangeAspect="1"/>
          </p:cNvPicPr>
          <p:nvPr/>
        </p:nvPicPr>
        <p:blipFill>
          <a:blip r:embed="rId2"/>
          <a:stretch>
            <a:fillRect/>
          </a:stretch>
        </p:blipFill>
        <p:spPr>
          <a:xfrm>
            <a:off x="6344440" y="2487168"/>
            <a:ext cx="5050481" cy="3346704"/>
          </a:xfrm>
          <a:prstGeom prst="rect">
            <a:avLst/>
          </a:prstGeom>
        </p:spPr>
      </p:pic>
      <p:sp>
        <p:nvSpPr>
          <p:cNvPr id="13" name="caption"/>
          <p:cNvSpPr txBox="1"/>
          <p:nvPr/>
        </p:nvSpPr>
        <p:spPr>
          <a:xfrm>
            <a:off x="6172200" y="5989320"/>
            <a:ext cx="5394960" cy="320040"/>
          </a:xfrm>
          <a:prstGeom prst="rect">
            <a:avLst/>
          </a:prstGeom>
          <a:noFill/>
          <a:ln/>
        </p:spPr>
        <p:txBody>
          <a:bodyPr wrap="square" rtlCol="0" anchor="ctr"/>
          <a:lstStyle/>
          <a:p>
            <a:pPr algn="ctr" indent="0" marL="0">
              <a:buNone/>
            </a:pPr>
            <a:r>
              <a:rPr lang="en-US" sz="1200" i="1" dirty="0">
                <a:solidFill>
                  <a:srgbClr val="FFFFFF"/>
                </a:solidFill>
              </a:rPr>
              <a:t>After revocation: the consent is REVOKED, token #1</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8: AFTER REVOCATION, REFUSED</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RO5</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A revoked consent cannot be used</a:t>
            </a:r>
            <a:endParaRPr lang="en-US" sz="1600" dirty="0"/>
          </a:p>
        </p:txBody>
      </p:sp>
      <p:sp>
        <p:nvSpPr>
          <p:cNvPr id="7" name="F36 panel"/>
          <p:cNvSpPr/>
          <p:nvPr/>
        </p:nvSpPr>
        <p:spPr>
          <a:xfrm>
            <a:off x="640080" y="1600200"/>
            <a:ext cx="6949440" cy="4709160"/>
          </a:xfrm>
          <a:prstGeom prst="roundRect">
            <a:avLst>
              <a:gd name="adj" fmla="val 233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36" descr="/tmp/deck/img/F36.png">    </p:cNvPr>
          <p:cNvPicPr>
            <a:picLocks noChangeAspect="1"/>
          </p:cNvPicPr>
          <p:nvPr/>
        </p:nvPicPr>
        <p:blipFill>
          <a:blip r:embed="rId1"/>
          <a:stretch>
            <a:fillRect/>
          </a:stretch>
        </p:blipFill>
        <p:spPr>
          <a:xfrm>
            <a:off x="749808" y="2246920"/>
            <a:ext cx="6729984" cy="3415721"/>
          </a:xfrm>
          <a:prstGeom prst="rect">
            <a:avLst/>
          </a:prstGeom>
        </p:spPr>
      </p:pic>
      <p:sp>
        <p:nvSpPr>
          <p:cNvPr id="9" name="caption"/>
          <p:cNvSpPr txBox="1"/>
          <p:nvPr/>
        </p:nvSpPr>
        <p:spPr>
          <a:xfrm>
            <a:off x="640080" y="6355080"/>
            <a:ext cx="6949440" cy="320040"/>
          </a:xfrm>
          <a:prstGeom prst="rect">
            <a:avLst/>
          </a:prstGeom>
          <a:noFill/>
          <a:ln/>
        </p:spPr>
        <p:txBody>
          <a:bodyPr wrap="square" rtlCol="0" anchor="ctr"/>
          <a:lstStyle/>
          <a:p>
            <a:pPr algn="ctr" indent="0" marL="0">
              <a:buNone/>
            </a:pPr>
            <a:r>
              <a:rPr lang="en-US" sz="1200" i="1" dirty="0">
                <a:solidFill>
                  <a:srgbClr val="FFFFFF"/>
                </a:solidFill>
              </a:rPr>
              <a:t>Doctor subsystem after revocation: VA FAIL, state REVOKED</a:t>
            </a:r>
            <a:endParaRPr lang="en-US" sz="1200" dirty="0"/>
          </a:p>
        </p:txBody>
      </p:sp>
      <p:sp>
        <p:nvSpPr>
          <p:cNvPr id="10" name="bullets"/>
          <p:cNvSpPr txBox="1"/>
          <p:nvPr/>
        </p:nvSpPr>
        <p:spPr>
          <a:xfrm>
            <a:off x="7863840" y="1600200"/>
            <a:ext cx="3749040" cy="47548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same doctor repeats the request.</a:t>
            </a:r>
            <a:endParaRPr lang="en-US" sz="1600" dirty="0"/>
          </a:p>
          <a:p>
            <a:pPr marL="342900" indent="-342900">
              <a:spcAft>
                <a:spcPts val="1000"/>
              </a:spcAft>
              <a:buSzPct val="100000"/>
              <a:buChar char="•"/>
            </a:pPr>
            <a:r>
              <a:rPr lang="en-US" sz="1600" dirty="0">
                <a:solidFill>
                  <a:srgbClr val="FFFFFF"/>
                </a:solidFill>
              </a:rPr>
              <a:t>VA reports FAIL: the consent is not active, current state REVOKED.</a:t>
            </a:r>
            <a:endParaRPr lang="en-US" sz="1600" dirty="0"/>
          </a:p>
          <a:p>
            <a:pPr marL="342900" indent="-342900">
              <a:spcAft>
                <a:spcPts val="1000"/>
              </a:spcAft>
              <a:buSzPct val="100000"/>
              <a:buChar char="•"/>
            </a:pPr>
            <a:r>
              <a:rPr lang="en-US" sz="1600" dirty="0">
                <a:solidFill>
                  <a:srgbClr val="FFFFFF"/>
                </a:solidFill>
              </a:rPr>
              <a:t>Access is refused.</a:t>
            </a:r>
            <a:endParaRPr lang="en-US" sz="1600" dirty="0"/>
          </a:p>
          <a:p>
            <a:pPr marL="342900" indent="-342900">
              <a:spcAft>
                <a:spcPts val="1000"/>
              </a:spcAft>
              <a:buSzPct val="100000"/>
              <a:buChar char="•"/>
            </a:pPr>
            <a:r>
              <a:rPr lang="en-US" sz="1600" dirty="0">
                <a:solidFill>
                  <a:srgbClr val="FFFFFF"/>
                </a:solidFill>
              </a:rPr>
              <a:t>Expired consents are refused the same way through VT.</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9: PUBLIC EVIDENCE ON SEPOLIA</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RO5 + RO6</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The mint and the revoke are public, verifiable transactions</a:t>
            </a:r>
            <a:endParaRPr lang="en-US" sz="1600" dirty="0"/>
          </a:p>
        </p:txBody>
      </p:sp>
      <p:sp>
        <p:nvSpPr>
          <p:cNvPr id="7" name="bullets"/>
          <p:cNvSpPr txBox="1"/>
          <p:nvPr/>
        </p:nvSpPr>
        <p:spPr>
          <a:xfrm>
            <a:off x="731520" y="1463040"/>
            <a:ext cx="10789920" cy="868680"/>
          </a:xfrm>
          <a:prstGeom prst="rect">
            <a:avLst/>
          </a:prstGeom>
          <a:noFill/>
          <a:ln/>
        </p:spPr>
        <p:txBody>
          <a:bodyPr wrap="square" rtlCol="0" anchor="t"/>
          <a:lstStyle/>
          <a:p>
            <a:pPr marL="342900" indent="-342900">
              <a:buSzPct val="100000"/>
              <a:buChar char="•"/>
            </a:pPr>
            <a:r>
              <a:rPr lang="en-US" sz="1400" dirty="0">
                <a:solidFill>
                  <a:srgbClr val="FFFFFF"/>
                </a:solidFill>
              </a:rPr>
              <a:t>Mint of the evaluated consent: block 11,771,243</a:t>
            </a:r>
            <a:endParaRPr lang="en-US" sz="1400" dirty="0"/>
          </a:p>
          <a:p>
            <a:pPr marL="342900" indent="-342900">
              <a:buSzPct val="100000"/>
              <a:buChar char="•"/>
            </a:pPr>
            <a:r>
              <a:rPr lang="en-US" sz="1400" dirty="0">
                <a:solidFill>
                  <a:srgbClr val="FFFFFF"/>
                </a:solidFill>
              </a:rPr>
              <a:t>Revoke of token #1: block 11,771,307, decoded input revoke(uint256 tokenId)</a:t>
            </a:r>
            <a:endParaRPr lang="en-US" sz="1400" dirty="0"/>
          </a:p>
          <a:p>
            <a:pPr marL="342900" indent="-342900">
              <a:buSzPct val="100000"/>
              <a:buChar char="•"/>
            </a:pPr>
            <a:r>
              <a:rPr lang="en-US" sz="1400" dirty="0">
                <a:solidFill>
                  <a:srgbClr val="FFFFFF"/>
                </a:solidFill>
              </a:rPr>
              <a:t>No medical data is on the chain, only the consent state</a:t>
            </a:r>
            <a:endParaRPr lang="en-US" sz="1400" dirty="0"/>
          </a:p>
        </p:txBody>
      </p:sp>
      <p:sp>
        <p:nvSpPr>
          <p:cNvPr id="8" name="F26 panel"/>
          <p:cNvSpPr/>
          <p:nvPr/>
        </p:nvSpPr>
        <p:spPr>
          <a:xfrm>
            <a:off x="64008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26" descr="/tmp/deck/img/F26.png">    </p:cNvPr>
          <p:cNvPicPr>
            <a:picLocks noChangeAspect="1"/>
          </p:cNvPicPr>
          <p:nvPr/>
        </p:nvPicPr>
        <p:blipFill>
          <a:blip r:embed="rId1"/>
          <a:stretch>
            <a:fillRect/>
          </a:stretch>
        </p:blipFill>
        <p:spPr>
          <a:xfrm>
            <a:off x="749808" y="2705041"/>
            <a:ext cx="5175504" cy="3002398"/>
          </a:xfrm>
          <a:prstGeom prst="rect">
            <a:avLst/>
          </a:prstGeom>
        </p:spPr>
      </p:pic>
      <p:sp>
        <p:nvSpPr>
          <p:cNvPr id="10" name="caption"/>
          <p:cNvSpPr txBox="1"/>
          <p:nvPr/>
        </p:nvSpPr>
        <p:spPr>
          <a:xfrm>
            <a:off x="640080" y="6080760"/>
            <a:ext cx="5394960" cy="320040"/>
          </a:xfrm>
          <a:prstGeom prst="rect">
            <a:avLst/>
          </a:prstGeom>
          <a:noFill/>
          <a:ln/>
        </p:spPr>
        <p:txBody>
          <a:bodyPr wrap="square" rtlCol="0" anchor="ctr"/>
          <a:lstStyle/>
          <a:p>
            <a:pPr algn="ctr" indent="0" marL="0">
              <a:buNone/>
            </a:pPr>
            <a:r>
              <a:rPr lang="en-US" sz="1200" i="1" dirty="0">
                <a:solidFill>
                  <a:srgbClr val="FFFFFF"/>
                </a:solidFill>
              </a:rPr>
              <a:t>Anchoring transaction: status Success, block 11,771,243</a:t>
            </a:r>
            <a:endParaRPr lang="en-US" sz="1200" dirty="0"/>
          </a:p>
        </p:txBody>
      </p:sp>
      <p:sp>
        <p:nvSpPr>
          <p:cNvPr id="11" name="F37 panel"/>
          <p:cNvSpPr/>
          <p:nvPr/>
        </p:nvSpPr>
        <p:spPr>
          <a:xfrm>
            <a:off x="617220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2" name="F37" descr="/tmp/deck/img/F37.png">    </p:cNvPr>
          <p:cNvPicPr>
            <a:picLocks noChangeAspect="1"/>
          </p:cNvPicPr>
          <p:nvPr/>
        </p:nvPicPr>
        <p:blipFill>
          <a:blip r:embed="rId2"/>
          <a:stretch>
            <a:fillRect/>
          </a:stretch>
        </p:blipFill>
        <p:spPr>
          <a:xfrm>
            <a:off x="6964589" y="2487168"/>
            <a:ext cx="3810182" cy="3438144"/>
          </a:xfrm>
          <a:prstGeom prst="rect">
            <a:avLst/>
          </a:prstGeom>
        </p:spPr>
      </p:pic>
      <p:sp>
        <p:nvSpPr>
          <p:cNvPr id="13" name="caption"/>
          <p:cNvSpPr txBox="1"/>
          <p:nvPr/>
        </p:nvSpPr>
        <p:spPr>
          <a:xfrm>
            <a:off x="6172200" y="6080760"/>
            <a:ext cx="5394960" cy="320040"/>
          </a:xfrm>
          <a:prstGeom prst="rect">
            <a:avLst/>
          </a:prstGeom>
          <a:noFill/>
          <a:ln/>
        </p:spPr>
        <p:txBody>
          <a:bodyPr wrap="square" rtlCol="0" anchor="ctr"/>
          <a:lstStyle/>
          <a:p>
            <a:pPr algn="ctr" indent="0" marL="0">
              <a:buNone/>
            </a:pPr>
            <a:r>
              <a:rPr lang="en-US" sz="1200" i="1" dirty="0">
                <a:solidFill>
                  <a:srgbClr val="FFFFFF"/>
                </a:solidFill>
              </a:rPr>
              <a:t>Revocation transaction: status Success, block 11,771,307</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10: THE AUDITOR SEES EVERYTHING</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RO6</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Every event in order, and the chain agrees with the local records</a:t>
            </a:r>
            <a:endParaRPr lang="en-US" sz="1600" dirty="0"/>
          </a:p>
        </p:txBody>
      </p:sp>
      <p:sp>
        <p:nvSpPr>
          <p:cNvPr id="7" name="bullets"/>
          <p:cNvSpPr txBox="1"/>
          <p:nvPr/>
        </p:nvSpPr>
        <p:spPr>
          <a:xfrm>
            <a:off x="731520" y="1463040"/>
            <a:ext cx="10789920" cy="868680"/>
          </a:xfrm>
          <a:prstGeom prst="rect">
            <a:avLst/>
          </a:prstGeom>
          <a:noFill/>
          <a:ln/>
        </p:spPr>
        <p:txBody>
          <a:bodyPr wrap="square" rtlCol="0" anchor="t"/>
          <a:lstStyle/>
          <a:p>
            <a:pPr marL="342900" indent="-342900">
              <a:buSzPct val="100000"/>
              <a:buChar char="•"/>
            </a:pPr>
            <a:r>
              <a:rPr lang="en-US" sz="1400" dirty="0">
                <a:solidFill>
                  <a:srgbClr val="FFFFFF"/>
                </a:solidFill>
              </a:rPr>
              <a:t>The lifecycle of the consent: thirteen recorded events in order, from creation to revocation</a:t>
            </a:r>
            <a:endParaRPr lang="en-US" sz="1400" dirty="0"/>
          </a:p>
          <a:p>
            <a:pPr marL="342900" indent="-342900">
              <a:buSzPct val="100000"/>
              <a:buChar char="•"/>
            </a:pPr>
            <a:r>
              <a:rPr lang="en-US" sz="1400" dirty="0">
                <a:solidFill>
                  <a:srgbClr val="FFFFFF"/>
                </a:solidFill>
              </a:rPr>
              <a:t>Aggregate indicators of the exported ledger: 60 events, 9 access requests, 5 on-chain anchors</a:t>
            </a:r>
            <a:endParaRPr lang="en-US" sz="1400" dirty="0"/>
          </a:p>
          <a:p>
            <a:pPr marL="342900" indent="-342900">
              <a:buSzPct val="100000"/>
              <a:buChar char="•"/>
            </a:pPr>
            <a:r>
              <a:rPr lang="en-US" sz="1400" dirty="0">
                <a:solidFill>
                  <a:srgbClr val="FFFFFF"/>
                </a:solidFill>
              </a:rPr>
              <a:t>An independent tool re-checked Sepolia: all anchored transactions found in their recorded blocks</a:t>
            </a:r>
            <a:endParaRPr lang="en-US" sz="1400" dirty="0"/>
          </a:p>
        </p:txBody>
      </p:sp>
      <p:sp>
        <p:nvSpPr>
          <p:cNvPr id="8" name="F38 panel"/>
          <p:cNvSpPr/>
          <p:nvPr/>
        </p:nvSpPr>
        <p:spPr>
          <a:xfrm>
            <a:off x="64008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38" descr="/tmp/deck/img/F38.png">    </p:cNvPr>
          <p:cNvPicPr>
            <a:picLocks noChangeAspect="1"/>
          </p:cNvPicPr>
          <p:nvPr/>
        </p:nvPicPr>
        <p:blipFill>
          <a:blip r:embed="rId1"/>
          <a:stretch>
            <a:fillRect/>
          </a:stretch>
        </p:blipFill>
        <p:spPr>
          <a:xfrm>
            <a:off x="1959148" y="2487168"/>
            <a:ext cx="2756824" cy="3438144"/>
          </a:xfrm>
          <a:prstGeom prst="rect">
            <a:avLst/>
          </a:prstGeom>
        </p:spPr>
      </p:pic>
      <p:sp>
        <p:nvSpPr>
          <p:cNvPr id="10" name="caption"/>
          <p:cNvSpPr txBox="1"/>
          <p:nvPr/>
        </p:nvSpPr>
        <p:spPr>
          <a:xfrm>
            <a:off x="640080" y="6080760"/>
            <a:ext cx="5394960" cy="320040"/>
          </a:xfrm>
          <a:prstGeom prst="rect">
            <a:avLst/>
          </a:prstGeom>
          <a:noFill/>
          <a:ln/>
        </p:spPr>
        <p:txBody>
          <a:bodyPr wrap="square" rtlCol="0" anchor="ctr"/>
          <a:lstStyle/>
          <a:p>
            <a:pPr algn="ctr" indent="0" marL="0">
              <a:buNone/>
            </a:pPr>
            <a:r>
              <a:rPr lang="en-US" sz="1200" i="1" dirty="0">
                <a:solidFill>
                  <a:srgbClr val="FFFFFF"/>
                </a:solidFill>
              </a:rPr>
              <a:t>Auditor subsystem: lifecycle of the evaluated consent, thirteen events in order</a:t>
            </a:r>
            <a:endParaRPr lang="en-US" sz="1200" dirty="0"/>
          </a:p>
        </p:txBody>
      </p:sp>
      <p:sp>
        <p:nvSpPr>
          <p:cNvPr id="11" name="F39 panel"/>
          <p:cNvSpPr/>
          <p:nvPr/>
        </p:nvSpPr>
        <p:spPr>
          <a:xfrm>
            <a:off x="617220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2" name="F39" descr="/tmp/deck/img/F39.png">    </p:cNvPr>
          <p:cNvPicPr>
            <a:picLocks noChangeAspect="1"/>
          </p:cNvPicPr>
          <p:nvPr/>
        </p:nvPicPr>
        <p:blipFill>
          <a:blip r:embed="rId2"/>
          <a:stretch>
            <a:fillRect/>
          </a:stretch>
        </p:blipFill>
        <p:spPr>
          <a:xfrm>
            <a:off x="6281928" y="2819493"/>
            <a:ext cx="5175504" cy="2773493"/>
          </a:xfrm>
          <a:prstGeom prst="rect">
            <a:avLst/>
          </a:prstGeom>
        </p:spPr>
      </p:pic>
      <p:sp>
        <p:nvSpPr>
          <p:cNvPr id="13" name="caption"/>
          <p:cNvSpPr txBox="1"/>
          <p:nvPr/>
        </p:nvSpPr>
        <p:spPr>
          <a:xfrm>
            <a:off x="6172200" y="6080760"/>
            <a:ext cx="5394960" cy="320040"/>
          </a:xfrm>
          <a:prstGeom prst="rect">
            <a:avLst/>
          </a:prstGeom>
          <a:noFill/>
          <a:ln/>
        </p:spPr>
        <p:txBody>
          <a:bodyPr wrap="square" rtlCol="0" anchor="ctr"/>
          <a:lstStyle/>
          <a:p>
            <a:pPr algn="ctr" indent="0" marL="0">
              <a:buNone/>
            </a:pPr>
            <a:r>
              <a:rPr lang="en-US" sz="1200" i="1" dirty="0">
                <a:solidFill>
                  <a:srgbClr val="FFFFFF"/>
                </a:solidFill>
              </a:rPr>
              <a:t>Auditor dashboard: 60 events, 9 access requests, 5 on-chain anchors</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(1/7)</a:t>
            </a:r>
            <a:endParaRPr lang="en-US" sz="3000" dirty="0"/>
          </a:p>
        </p:txBody>
      </p:sp>
      <p:sp>
        <p:nvSpPr>
          <p:cNvPr id="4"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5"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Abbasi, A., Humeidi, M.N. &amp; Wang, Q. 2026, 'Nexa: Enabling secure, scalable, and decentralized management of electronic health records using threshold cryptography and public blockchains', IEEE Access, vol. 14, pp. 50791–50810, &lt;https://doi.org/10.1109/ACCESS.2026.3677499&gt;.</a:t>
            </a:r>
            <a:endParaRPr lang="en-US" sz="1000" dirty="0"/>
          </a:p>
          <a:p>
            <a:pPr indent="0" marL="0">
              <a:spcAft>
                <a:spcPts val="400"/>
              </a:spcAft>
              <a:buNone/>
            </a:pPr>
            <a:r>
              <a:rPr lang="en-US" sz="1000" dirty="0">
                <a:solidFill>
                  <a:srgbClr val="0B1F33"/>
                </a:solidFill>
              </a:rPr>
              <a:t>Akter, S. &amp; Sanam, T.F. 2025, 'A blockchain framework for secure healthcare data management using role-based access control and smart contracts', 2025 International Conference on Electrical, Computer and Communication Engineering (ECCE), pp. 1–6, &lt;https://doi.org/10.1109/ECCE64574.2025.11013162&gt;.</a:t>
            </a:r>
            <a:endParaRPr lang="en-US" sz="1000" dirty="0"/>
          </a:p>
          <a:p>
            <a:pPr indent="0" marL="0">
              <a:spcAft>
                <a:spcPts val="400"/>
              </a:spcAft>
              <a:buNone/>
            </a:pPr>
            <a:r>
              <a:rPr lang="en-US" sz="1000" dirty="0">
                <a:solidFill>
                  <a:srgbClr val="0B1F33"/>
                </a:solidFill>
              </a:rPr>
              <a:t>Al Amin, M., Altarawneh, A. &amp; Ray, I. 2023, 'Informed consent as patient driven policy for clinical diagnosis and treatment: A smart contract based approach', Proceedings of the 20th International Conference on Security and Cryptography (SECRYPT 2023), pp. 159–170, SciTePress, &lt;https://doi.org/10.5220/0012090600003555&gt;.</a:t>
            </a:r>
            <a:endParaRPr lang="en-US" sz="1000" dirty="0"/>
          </a:p>
          <a:p>
            <a:pPr indent="0" marL="0">
              <a:spcAft>
                <a:spcPts val="400"/>
              </a:spcAft>
              <a:buNone/>
            </a:pPr>
            <a:r>
              <a:rPr lang="en-US" sz="1000" dirty="0">
                <a:solidFill>
                  <a:srgbClr val="0B1F33"/>
                </a:solidFill>
              </a:rPr>
              <a:t>Al Mamun, A., Azam, S. &amp; Gritti, C. 2022, 'Blockchain-based electronic health records management: A comprehensive review and future research direction', IEEE Access, vol. 10, pp. 5768–5789, &lt;https://doi.org/10.1109/ACCESS.2022.3141079&gt;.</a:t>
            </a:r>
            <a:endParaRPr lang="en-US" sz="1000" dirty="0"/>
          </a:p>
          <a:p>
            <a:pPr indent="0" marL="0">
              <a:spcAft>
                <a:spcPts val="400"/>
              </a:spcAft>
              <a:buNone/>
            </a:pPr>
            <a:r>
              <a:rPr lang="en-US" sz="1000" dirty="0">
                <a:solidFill>
                  <a:srgbClr val="0B1F33"/>
                </a:solidFill>
              </a:rPr>
              <a:t>Albalwy, F., Brass, A. &amp; Davies, A. 2021, 'A blockchain-based dynamic consent architecture to support clinical genomic data sharing (ConsentChain): Proof-of-concept study', JMIR Medical Informatics, vol. 9, no. 11, p. e27816, &lt;https://doi.org/10.2196/27816&gt;.</a:t>
            </a:r>
            <a:endParaRPr lang="en-US" sz="1000" dirty="0"/>
          </a:p>
          <a:p>
            <a:pPr indent="0" marL="0">
              <a:spcAft>
                <a:spcPts val="400"/>
              </a:spcAft>
              <a:buNone/>
            </a:pPr>
            <a:r>
              <a:rPr lang="en-US" sz="1000" dirty="0">
                <a:solidFill>
                  <a:srgbClr val="0B1F33"/>
                </a:solidFill>
              </a:rPr>
              <a:t>Andrew, J., Isravel, D.P., Sagayam, K.M., Bhushan, B., Sei, Y. &amp; Eunice, J. 2023, 'Blockchain for healthcare systems: Architecture, security challenges, trends and future directions', Journal of Network and Computer Applications, vol. 215, p. 103633, &lt;https://doi.org/10.1016/j.jnca.2023.103633&gt;.</a:t>
            </a:r>
            <a:endParaRPr lang="en-US" sz="1000" dirty="0"/>
          </a:p>
          <a:p>
            <a:pPr indent="0" marL="0">
              <a:spcAft>
                <a:spcPts val="400"/>
              </a:spcAft>
              <a:buNone/>
            </a:pPr>
            <a:r>
              <a:rPr lang="en-US" sz="1000" dirty="0">
                <a:solidFill>
                  <a:srgbClr val="0B1F33"/>
                </a:solidFill>
              </a:rPr>
              <a:t>Arbabi, M.S., Lal, C., Veeraragavan, N.R., Marijan, D., Nygård, J.F. &amp; Vitenberg, R. 2023, 'A survey on blockchain for healthcare: Challenges, benefits, and future directions', IEEE Communications Surveys &amp; Tutorials, vol. 25, no. 1, pp. 386–424, &lt;https://doi.org/10.1109/COMST.2022.3224644&gt;.</a:t>
            </a:r>
            <a:endParaRPr lang="en-US" sz="1000" dirty="0"/>
          </a:p>
          <a:p>
            <a:pPr indent="0" marL="0">
              <a:spcAft>
                <a:spcPts val="400"/>
              </a:spcAft>
              <a:buNone/>
            </a:pPr>
            <a:r>
              <a:rPr lang="en-US" sz="1000" dirty="0">
                <a:solidFill>
                  <a:srgbClr val="0B1F33"/>
                </a:solidFill>
              </a:rPr>
              <a:t>Bloemen, R., Logvinov, L. &amp; Evans, J. 2017, EIP-712: Typed structured data hashing and signing, Ethereum Improvement Proposals, no. 712, viewed 6 October 2026, &lt;https://eips.ethereum.org/EIPS/eip-712&gt;.</a:t>
            </a:r>
            <a:endParaRPr lang="en-US" sz="1000" dirty="0"/>
          </a:p>
          <a:p>
            <a:pPr indent="0" marL="0">
              <a:spcAft>
                <a:spcPts val="400"/>
              </a:spcAft>
              <a:buNone/>
            </a:pPr>
            <a:r>
              <a:rPr lang="en-US" sz="1000" dirty="0">
                <a:solidFill>
                  <a:srgbClr val="0B1F33"/>
                </a:solidFill>
              </a:rPr>
              <a:t>Cai, B. 2022, ERC-5484: Consensual soulbound tokens, Ethereum Improvement Proposals, no. 5484, viewed 6 October 2026, &lt;https://eips.ethereum.org/EIPS/eip-5484&gt;.</a:t>
            </a:r>
            <a:endParaRPr lang="en-US" sz="1000" dirty="0"/>
          </a:p>
          <a:p>
            <a:pPr indent="0" marL="0">
              <a:spcAft>
                <a:spcPts val="400"/>
              </a:spcAft>
              <a:buNone/>
            </a:pPr>
            <a:r>
              <a:rPr lang="en-US" sz="1000" dirty="0">
                <a:solidFill>
                  <a:srgbClr val="0B1F33"/>
                </a:solidFill>
              </a:rPr>
              <a:t>Consensys 2026, MetaMask developer documentation, viewed 7 October 2026, &lt;https://docs.metamask.io/&gt;.</a:t>
            </a:r>
            <a:endParaRPr lang="en-US" sz="1000" dirty="0"/>
          </a:p>
          <a:p>
            <a:pPr indent="0" marL="0">
              <a:spcAft>
                <a:spcPts val="400"/>
              </a:spcAft>
              <a:buNone/>
            </a:pPr>
            <a:r>
              <a:rPr lang="en-US" sz="1000" dirty="0">
                <a:solidFill>
                  <a:srgbClr val="0B1F33"/>
                </a:solidFill>
              </a:rPr>
              <a:t>Deng, H., Liang, J., Zhang, C., Liu, X., Zhu, L. &amp; Guo, S. 2024, 'FutureDID: A fully decentralized identity system with multi-party verification', IEEE Transactions on Computers, vol. 73, no. 8, pp. 2051–2065, &lt;https://doi.org/10.1109/TC.2024.3398509&gt;.</a:t>
            </a:r>
            <a:endParaRPr lang="en-US" sz="1000" dirty="0"/>
          </a:p>
          <a:p>
            <a:pPr indent="0" marL="0">
              <a:spcAft>
                <a:spcPts val="400"/>
              </a:spcAft>
              <a:buNone/>
            </a:pPr>
            <a:r>
              <a:rPr lang="en-US" sz="1000" dirty="0">
                <a:solidFill>
                  <a:srgbClr val="0B1F33"/>
                </a:solidFill>
              </a:rPr>
              <a:t>Ekholm, K., Augustinsson, A., Sundström, J., Johansen, C., Storgärds, M., Ljöstad, L. et al. 2025, 'Implementing electronic informed consent in rare disease genomics', Scientific Reports, vol. 15, no. 1, p. 44419, &lt;https://doi.org/10.1038/s41598-025-32740-1&gt;.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(2/7)</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Eneh, A.U., Ahakonye, L.A.C., Lee, J.M. &amp; Kim, D.-S. 2026, 'Demo: EdgeConsent: On-chain attribute-based access control for data consent management', 2026 IEEE International Conference on Blockchain and Cryptocurrency (ICBC), pp. 1–2, &lt;https://doi.org/10.1109/ICBC67748.2026.11575534&gt;.</a:t>
            </a:r>
            <a:endParaRPr lang="en-US" sz="1000" dirty="0"/>
          </a:p>
          <a:p>
            <a:pPr indent="0" marL="0">
              <a:spcAft>
                <a:spcPts val="400"/>
              </a:spcAft>
              <a:buNone/>
            </a:pPr>
            <a:r>
              <a:rPr lang="en-US" sz="1000" dirty="0">
                <a:solidFill>
                  <a:srgbClr val="0B1F33"/>
                </a:solidFill>
              </a:rPr>
              <a:t>Entriken, W., Shirley, D., Evans, J. &amp; Sachs, N. 2018, ERC-721: Non-fungible token standard, Ethereum Improvement Proposals, no. 721, viewed 6 October 2026, &lt;https://eips.ethereum.org/EIPS/eip-721&gt;.</a:t>
            </a:r>
            <a:endParaRPr lang="en-US" sz="1000" dirty="0"/>
          </a:p>
          <a:p>
            <a:pPr indent="0" marL="0">
              <a:spcAft>
                <a:spcPts val="400"/>
              </a:spcAft>
              <a:buNone/>
            </a:pPr>
            <a:r>
              <a:rPr lang="en-US" sz="1000" dirty="0">
                <a:solidFill>
                  <a:srgbClr val="0B1F33"/>
                </a:solidFill>
              </a:rPr>
              <a:t>Ethereum Foundation 2026a, Solidity documentation, viewed 7 October 2026, &lt;https://docs.soliditylang.org/&gt;.</a:t>
            </a:r>
            <a:endParaRPr lang="en-US" sz="1000" dirty="0"/>
          </a:p>
          <a:p>
            <a:pPr indent="0" marL="0">
              <a:spcAft>
                <a:spcPts val="400"/>
              </a:spcAft>
              <a:buNone/>
            </a:pPr>
            <a:r>
              <a:rPr lang="en-US" sz="1000" dirty="0">
                <a:solidFill>
                  <a:srgbClr val="0B1F33"/>
                </a:solidFill>
              </a:rPr>
              <a:t>Ethereum Foundation 2026b, Networks, ethereum.org developer documentation, viewed 7 October 2026, &lt;https://ethereum.org/en/developers/docs/networks/&gt;.</a:t>
            </a:r>
            <a:endParaRPr lang="en-US" sz="1000" dirty="0"/>
          </a:p>
          <a:p>
            <a:pPr indent="0" marL="0">
              <a:spcAft>
                <a:spcPts val="400"/>
              </a:spcAft>
              <a:buNone/>
            </a:pPr>
            <a:r>
              <a:rPr lang="en-US" sz="1000" dirty="0">
                <a:solidFill>
                  <a:srgbClr val="0B1F33"/>
                </a:solidFill>
              </a:rPr>
              <a:t>Ethereum Foundation 2026c, Remix IDE documentation, viewed 7 October 2026, &lt;https://remix-ide.readthedocs.io/&gt;.</a:t>
            </a:r>
            <a:endParaRPr lang="en-US" sz="1000" dirty="0"/>
          </a:p>
          <a:p>
            <a:pPr indent="0" marL="0">
              <a:spcAft>
                <a:spcPts val="400"/>
              </a:spcAft>
              <a:buNone/>
            </a:pPr>
            <a:r>
              <a:rPr lang="en-US" sz="1000" dirty="0">
                <a:solidFill>
                  <a:srgbClr val="0B1F33"/>
                </a:solidFill>
              </a:rPr>
              <a:t>Ferreira, J.C., Correia, R., Rosário, L. &amp; Vila, A. 2025, 'Blockchain integration for trust and consent management in MCP-enabled FHIR systems', 2025 IEEE International Conference on Distributed Ledger Technologies (ICDLT), pp. 1–10, &lt;https://doi.org/10.1109/ICDLT66400.2025.11466653&gt;.</a:t>
            </a:r>
            <a:endParaRPr lang="en-US" sz="1000" dirty="0"/>
          </a:p>
          <a:p>
            <a:pPr indent="0" marL="0">
              <a:spcAft>
                <a:spcPts val="400"/>
              </a:spcAft>
              <a:buNone/>
            </a:pPr>
            <a:r>
              <a:rPr lang="en-US" sz="1000" dirty="0">
                <a:solidFill>
                  <a:srgbClr val="0B1F33"/>
                </a:solidFill>
              </a:rPr>
              <a:t>Flamini, A., Sciarretta, G., Scuro, M., Sharif, A., Tomasi, A. &amp; Ranise, S. 2024, 'On cryptographic mechanisms for the selective disclosure of verifiable credentials', Journal of Information Security and Applications, vol. 83, p. 103789, &lt;https://doi.org/10.1016/j.jisa.2024.103789&gt;.</a:t>
            </a:r>
            <a:endParaRPr lang="en-US" sz="1000" dirty="0"/>
          </a:p>
          <a:p>
            <a:pPr indent="0" marL="0">
              <a:spcAft>
                <a:spcPts val="400"/>
              </a:spcAft>
              <a:buNone/>
            </a:pPr>
            <a:r>
              <a:rPr lang="en-US" sz="1000" dirty="0">
                <a:solidFill>
                  <a:srgbClr val="0B1F33"/>
                </a:solidFill>
              </a:rPr>
              <a:t>Ghafoor, A., Symeonidis, I., Rydberg, A., Lindahl, C. &amp; Abbasi, A.Q. 2025, 'Towards empowering stakeholders through decentralized trust and secure livestock data sharing', Cryptography, vol. 9, no. 3, p. 52, &lt;https://doi.org/10.3390/cryptography9030052&gt;.</a:t>
            </a:r>
            <a:endParaRPr lang="en-US" sz="1000" dirty="0"/>
          </a:p>
          <a:p>
            <a:pPr indent="0" marL="0">
              <a:spcAft>
                <a:spcPts val="400"/>
              </a:spcAft>
              <a:buNone/>
            </a:pPr>
            <a:r>
              <a:rPr lang="en-US" sz="1000" dirty="0">
                <a:solidFill>
                  <a:srgbClr val="0B1F33"/>
                </a:solidFill>
              </a:rPr>
              <a:t>Ghosh, P.K., Chakraborty, A., Hasan, M., Rashid, K. &amp; Siddique, A.H. 2023, 'Blockchain application in healthcare systems: A review', Systems, vol. 11, no. 1, p. 38, &lt;https://doi.org/10.3390/systems11010038&gt;.</a:t>
            </a:r>
            <a:endParaRPr lang="en-US" sz="1000" dirty="0"/>
          </a:p>
          <a:p>
            <a:pPr indent="0" marL="0">
              <a:spcAft>
                <a:spcPts val="400"/>
              </a:spcAft>
              <a:buNone/>
            </a:pPr>
            <a:r>
              <a:rPr lang="en-US" sz="1000" dirty="0">
                <a:solidFill>
                  <a:srgbClr val="0B1F33"/>
                </a:solidFill>
              </a:rPr>
              <a:t>Grassi, L., Khovratovich, D., Rechberger, C., Roy, A. &amp; Schofnegger, M. 2021, 'Poseidon: A new hash function for zero-knowledge proof systems', Proceedings of the 30th USENIX Security Symposium, pp. 519–535.</a:t>
            </a:r>
            <a:endParaRPr lang="en-US" sz="1000" dirty="0"/>
          </a:p>
          <a:p>
            <a:pPr indent="0" marL="0">
              <a:spcAft>
                <a:spcPts val="400"/>
              </a:spcAft>
              <a:buNone/>
            </a:pPr>
            <a:r>
              <a:rPr lang="en-US" sz="1000" dirty="0">
                <a:solidFill>
                  <a:srgbClr val="0B1F33"/>
                </a:solidFill>
              </a:rPr>
              <a:t>Groth, J. 2016, 'On the size of pairing-based non-interactive arguments', Advances in Cryptology – EUROCRYPT 2016, LNCS, vol. 9666, pp. 305–326, Springer, &lt;https://doi.org/10.1007/978-3-662-49896-5_11&gt;.</a:t>
            </a:r>
            <a:endParaRPr lang="en-US" sz="1000" dirty="0"/>
          </a:p>
          <a:p>
            <a:pPr indent="0" marL="0">
              <a:spcAft>
                <a:spcPts val="400"/>
              </a:spcAft>
              <a:buNone/>
            </a:pPr>
            <a:r>
              <a:rPr lang="en-US" sz="1000" dirty="0">
                <a:solidFill>
                  <a:srgbClr val="0B1F33"/>
                </a:solidFill>
              </a:rPr>
              <a:t>Hagström, J., Hägglund, M., Holmroos, M., Lähteenmäki, P. &amp; Hörhammer, I. 2024, 'Minors’ and guardian access to and use of a national patient portal: A retrospective comparative case study of Sweden and Finland', International Journal of Medical Informatics, vol. 187, p. 105465, &lt;https://doi.org/10.1016/j.ijmedinf.2024.105465&gt;.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(3/7)</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Hellstern, R., Park, D.C., Lemieux, V. &amp; Salimjan, G. 2022, 'Leveraging blockchain-based archival solutions for sensitive documentation: A Xinjiang case study', Digital Society, vol. 1, no. 1, p. 4, &lt;https://doi.org/10.1007/s44206-022-00007-1&gt;.</a:t>
            </a:r>
            <a:endParaRPr lang="en-US" sz="1000" dirty="0"/>
          </a:p>
          <a:p>
            <a:pPr indent="0" marL="0">
              <a:spcAft>
                <a:spcPts val="400"/>
              </a:spcAft>
              <a:buNone/>
            </a:pPr>
            <a:r>
              <a:rPr lang="en-US" sz="1000" dirty="0">
                <a:solidFill>
                  <a:srgbClr val="0B1F33"/>
                </a:solidFill>
              </a:rPr>
              <a:t>Hema, S., Reddy, G.B.S. &amp; Shalini, R. 2026, 'Patient centric cryptographic protection of cloud electronic health records', 2026 6th International Conference on Expert Clouds and Applications (ICOECA), pp. 293–300, &lt;https://doi.org/10.1109/ICOECA68095.2026.11485301&gt;.</a:t>
            </a:r>
            <a:endParaRPr lang="en-US" sz="1000" dirty="0"/>
          </a:p>
          <a:p>
            <a:pPr indent="0" marL="0">
              <a:spcAft>
                <a:spcPts val="400"/>
              </a:spcAft>
              <a:buNone/>
            </a:pPr>
            <a:r>
              <a:rPr lang="en-US" sz="1000" dirty="0">
                <a:solidFill>
                  <a:srgbClr val="0B1F33"/>
                </a:solidFill>
              </a:rPr>
              <a:t>HL7 International 2019, HL7 FHIR Release 4 (R4), viewed 7 October 2026, &lt;https://hl7.org/fhir/R4/&gt;.</a:t>
            </a:r>
            <a:endParaRPr lang="en-US" sz="1000" dirty="0"/>
          </a:p>
          <a:p>
            <a:pPr indent="0" marL="0">
              <a:spcAft>
                <a:spcPts val="400"/>
              </a:spcAft>
              <a:buNone/>
            </a:pPr>
            <a:r>
              <a:rPr lang="en-US" sz="1000" dirty="0">
                <a:solidFill>
                  <a:srgbClr val="0B1F33"/>
                </a:solidFill>
              </a:rPr>
              <a:t>Ibrahim, A.M., Abdel-Aziz, H.R., Mohamed, H.A.H., Zaghamir, D.E.F., Wahba, N.M.I., Hassan, G.A. et al. 2024, 'Balancing confidentiality and care coordination: Challenges in patient privacy', BMC Nursing, vol. 23, no. 1, p. 564, &lt;https://doi.org/10.1186/s12912-024-02231-1&gt;.</a:t>
            </a:r>
            <a:endParaRPr lang="en-US" sz="1000" dirty="0"/>
          </a:p>
          <a:p>
            <a:pPr indent="0" marL="0">
              <a:spcAft>
                <a:spcPts val="400"/>
              </a:spcAft>
              <a:buNone/>
            </a:pPr>
            <a:r>
              <a:rPr lang="en-US" sz="1000" dirty="0">
                <a:solidFill>
                  <a:srgbClr val="0B1F33"/>
                </a:solidFill>
              </a:rPr>
              <a:t>iden3 2026a, snarkjs: zkSNARKs implementation in JavaScript, version 0.7, npm package, viewed 7 October 2026, &lt;https://www.npmjs.com/package/snarkjs&gt;.</a:t>
            </a:r>
            <a:endParaRPr lang="en-US" sz="1000" dirty="0"/>
          </a:p>
          <a:p>
            <a:pPr indent="0" marL="0">
              <a:spcAft>
                <a:spcPts val="400"/>
              </a:spcAft>
              <a:buNone/>
            </a:pPr>
            <a:r>
              <a:rPr lang="en-US" sz="1000" dirty="0">
                <a:solidFill>
                  <a:srgbClr val="0B1F33"/>
                </a:solidFill>
              </a:rPr>
              <a:t>iden3 2026b, circom: circuit compiler for zero-knowledge proofs, viewed 7 October 2026, &lt;https://docs.circom.io/&gt;.</a:t>
            </a:r>
            <a:endParaRPr lang="en-US" sz="1000" dirty="0"/>
          </a:p>
          <a:p>
            <a:pPr indent="0" marL="0">
              <a:spcAft>
                <a:spcPts val="400"/>
              </a:spcAft>
              <a:buNone/>
            </a:pPr>
            <a:r>
              <a:rPr lang="en-US" sz="1000" dirty="0">
                <a:solidFill>
                  <a:srgbClr val="0B1F33"/>
                </a:solidFill>
              </a:rPr>
              <a:t>Jaiman, V. &amp; Urovi, V. 2020, 'A consent model for blockchain-based health data sharing platforms', IEEE Access, vol. 8, pp. 143734–143745, &lt;https://doi.org/10.1109/ACCESS.2020.3014565&gt;.</a:t>
            </a:r>
            <a:endParaRPr lang="en-US" sz="1000" dirty="0"/>
          </a:p>
          <a:p>
            <a:pPr indent="0" marL="0">
              <a:spcAft>
                <a:spcPts val="400"/>
              </a:spcAft>
              <a:buNone/>
            </a:pPr>
            <a:r>
              <a:rPr lang="en-US" sz="1000" dirty="0">
                <a:solidFill>
                  <a:srgbClr val="0B1F33"/>
                </a:solidFill>
              </a:rPr>
              <a:t>Jesus, V. &amp; Pandit, H.J. 2022, 'Consent receipts for a usable and auditable web of personal data', IEEE Access, vol. 10, pp. 28545–28563, &lt;https://doi.org/10.1109/ACCESS.2022.3157850&gt;.</a:t>
            </a:r>
            <a:endParaRPr lang="en-US" sz="1000" dirty="0"/>
          </a:p>
          <a:p>
            <a:pPr indent="0" marL="0">
              <a:spcAft>
                <a:spcPts val="400"/>
              </a:spcAft>
              <a:buNone/>
            </a:pPr>
            <a:r>
              <a:rPr lang="en-US" sz="1000" dirty="0">
                <a:solidFill>
                  <a:srgbClr val="0B1F33"/>
                </a:solidFill>
              </a:rPr>
              <a:t>Jiang, R., Chen, X., Yu, Y., Zhang, Y. &amp; Ding, W. 2023, 'Risk and UCON-based access control model for healthcare big data', Journal of Big Data, vol. 10, no. 1, p. 104, &lt;https://doi.org/10.1186/s40537-023-00783-8&gt;.</a:t>
            </a:r>
            <a:endParaRPr lang="en-US" sz="1000" dirty="0"/>
          </a:p>
          <a:p>
            <a:pPr indent="0" marL="0">
              <a:spcAft>
                <a:spcPts val="400"/>
              </a:spcAft>
              <a:buNone/>
            </a:pPr>
            <a:r>
              <a:rPr lang="en-US" sz="1000" dirty="0">
                <a:solidFill>
                  <a:srgbClr val="0B1F33"/>
                </a:solidFill>
              </a:rPr>
              <a:t>Kaplow, K., Downey, M., Stewart, D., Massie, A.B., Motter, J.D., Taylor, L. et al. 2024, 'Data professionals’ attitudes on data privacy, sharing, and consent in healthcare and research', Digital Health, vol. 10, p. 20552076241290964, &lt;https://doi.org/10.1177/20552076241290964&gt;.</a:t>
            </a:r>
            <a:endParaRPr lang="en-US" sz="1000" dirty="0"/>
          </a:p>
          <a:p>
            <a:pPr indent="0" marL="0">
              <a:spcAft>
                <a:spcPts val="400"/>
              </a:spcAft>
              <a:buNone/>
            </a:pPr>
            <a:r>
              <a:rPr lang="en-US" sz="1000" dirty="0">
                <a:solidFill>
                  <a:srgbClr val="0B1F33"/>
                </a:solidFill>
              </a:rPr>
              <a:t>Khalid, M.I., Ahmed, M., Helfert, M. &amp; Kim, J. 2023, 'Privacy-first paradigm for dynamic consent management systems: Empowering data subjects through decentralized data controllers and privacy-preserving techniques', Electronics, vol. 12, no. 24, p. 4973, &lt;https://doi.org/10.3390/electronics12244973&gt;.</a:t>
            </a:r>
            <a:endParaRPr lang="en-US" sz="1000" dirty="0"/>
          </a:p>
          <a:p>
            <a:pPr indent="0" marL="0">
              <a:spcAft>
                <a:spcPts val="400"/>
              </a:spcAft>
              <a:buNone/>
            </a:pPr>
            <a:r>
              <a:rPr lang="en-US" sz="1000" dirty="0">
                <a:solidFill>
                  <a:srgbClr val="0B1F33"/>
                </a:solidFill>
              </a:rPr>
              <a:t>Kharlamov, A., Hohmann, R. &amp; Parry, G. 2023, 'Data sharing decisions: Perceptions and intentions in healthcare', Strategic Change, vol. 32, no. 6, pp. 223–237, &lt;https://doi.org/10.1002/jsc.2558&gt;.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(4/7)</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Khayer, B., Mirzaei, S., Alavizadeh, H. &amp; Salehi Shahraki, A. 2025, 'Blockchain for secure IoT: A review of identity management, access control, and trust mechanisms', IoT, vol. 6, no. 4, p. 65, &lt;https://doi.org/10.3390/iot6040065&gt;.</a:t>
            </a:r>
            <a:endParaRPr lang="en-US" sz="1000" dirty="0"/>
          </a:p>
          <a:p>
            <a:pPr indent="0" marL="0">
              <a:spcAft>
                <a:spcPts val="400"/>
              </a:spcAft>
              <a:buNone/>
            </a:pPr>
            <a:r>
              <a:rPr lang="en-US" sz="1000" dirty="0">
                <a:solidFill>
                  <a:srgbClr val="0B1F33"/>
                </a:solidFill>
              </a:rPr>
              <a:t>Li, L., Liu, C.Z. &amp; Shrestha, S. 2026, 'Analytical entropy approach for measuring blockchain immutability and tamper-resilient trust', Entropy, vol. 28, no. 6, p. 690, &lt;https://doi.org/10.3390/e28060690&gt;.</a:t>
            </a:r>
            <a:endParaRPr lang="en-US" sz="1000" dirty="0"/>
          </a:p>
          <a:p>
            <a:pPr indent="0" marL="0">
              <a:spcAft>
                <a:spcPts val="400"/>
              </a:spcAft>
              <a:buNone/>
            </a:pPr>
            <a:r>
              <a:rPr lang="en-US" sz="1000" dirty="0">
                <a:solidFill>
                  <a:srgbClr val="0B1F33"/>
                </a:solidFill>
              </a:rPr>
              <a:t>Li, H., Li, D., Lv, G., Crespi, N., Minerva, R., Shao, W. et al. 2026a, 'Privacy-preserving fine-grained EMR access control for IoMT: A hybrid RBAC-smart contract scheme with attribute-based authorization', IEEE Internet of Things Journal, vol. 13, no. 2, pp. 2970–2987, &lt;https://doi.org/10.1109/JIOT.2025.3633504&gt;.</a:t>
            </a:r>
            <a:endParaRPr lang="en-US" sz="1000" dirty="0"/>
          </a:p>
          <a:p>
            <a:pPr indent="0" marL="0">
              <a:spcAft>
                <a:spcPts val="400"/>
              </a:spcAft>
              <a:buNone/>
            </a:pPr>
            <a:r>
              <a:rPr lang="en-US" sz="1000" dirty="0">
                <a:solidFill>
                  <a:srgbClr val="0B1F33"/>
                </a:solidFill>
              </a:rPr>
              <a:t>Li, L., Liu, C.Z., Huang, K., Deng, R., Alrowaily, M.A., Alghamdi, M. et al. 2026b, 'Trust-aware environmental state consensus for smart agriculture with TEE-enabled sensing and Byzantine-resilient blockchain coordination', Sensors, vol. 26, no. 14, p. 4577, &lt;https://doi.org/10.3390/s26144577&gt;.</a:t>
            </a:r>
            <a:endParaRPr lang="en-US" sz="1000" dirty="0"/>
          </a:p>
          <a:p>
            <a:pPr indent="0" marL="0">
              <a:spcAft>
                <a:spcPts val="400"/>
              </a:spcAft>
              <a:buNone/>
            </a:pPr>
            <a:r>
              <a:rPr lang="en-US" sz="1000" dirty="0">
                <a:solidFill>
                  <a:srgbClr val="0B1F33"/>
                </a:solidFill>
              </a:rPr>
              <a:t>Lomotey, R.K., Kumi, S. &amp; Deters, R. 2022, 'Data trusts as a service: Providing a platform for multi-party data sharing', International Journal of Information Management Data Insights, vol. 2, no. 1, p. 100075, &lt;https://doi.org/10.1016/j.jjimei.2022.100075&gt;.</a:t>
            </a:r>
            <a:endParaRPr lang="en-US" sz="1000" dirty="0"/>
          </a:p>
          <a:p>
            <a:pPr indent="0" marL="0">
              <a:spcAft>
                <a:spcPts val="400"/>
              </a:spcAft>
              <a:buNone/>
            </a:pPr>
            <a:r>
              <a:rPr lang="en-US" sz="1000" dirty="0">
                <a:solidFill>
                  <a:srgbClr val="0B1F33"/>
                </a:solidFill>
              </a:rPr>
              <a:t>Madine, M.M., Salah, K., Jayaraman, R., Yaqoob, I., Al-Hammadi, Y., Ellahham, S. et al. 2020, 'Fully decentralized multi-party consent management for secure sharing of patient health records', IEEE Access, vol. 8, pp. 225777–225791, &lt;https://doi.org/10.1109/ACCESS.2020.3045048&gt;.</a:t>
            </a:r>
            <a:endParaRPr lang="en-US" sz="1000" dirty="0"/>
          </a:p>
          <a:p>
            <a:pPr indent="0" marL="0">
              <a:spcAft>
                <a:spcPts val="400"/>
              </a:spcAft>
              <a:buNone/>
            </a:pPr>
            <a:r>
              <a:rPr lang="en-US" sz="1000" dirty="0">
                <a:solidFill>
                  <a:srgbClr val="0B1F33"/>
                </a:solidFill>
              </a:rPr>
              <a:t>Maruthi, V. &amp; Singh, K. 2025, 'Enhancing security and privacy of IoMT data for unconscious patient with blockchain', IEEE Transactions on Network and Service Management, vol. 22, no. 6, pp. 5223–5238, &lt;https://doi.org/10.1109/TNSM.2025.3602117&gt;.</a:t>
            </a:r>
            <a:endParaRPr lang="en-US" sz="1000" dirty="0"/>
          </a:p>
          <a:p>
            <a:pPr indent="0" marL="0">
              <a:spcAft>
                <a:spcPts val="400"/>
              </a:spcAft>
              <a:buNone/>
            </a:pPr>
            <a:r>
              <a:rPr lang="en-US" sz="1000" dirty="0">
                <a:solidFill>
                  <a:srgbClr val="0B1F33"/>
                </a:solidFill>
              </a:rPr>
              <a:t>Mazzocca, C., Acar, A., Uluagac, A.S., Montanari, R., Bellavista, P. &amp; Conti, M. 2025, 'A survey on decentralized identifiers and verifiable credentials', IEEE Communications Surveys &amp; Tutorials, vol. 27, no. 6, pp. 3641–3671, &lt;https://doi.org/10.1109/COMST.2025.3543197&gt;.</a:t>
            </a:r>
            <a:endParaRPr lang="en-US" sz="1000" dirty="0"/>
          </a:p>
          <a:p>
            <a:pPr indent="0" marL="0">
              <a:spcAft>
                <a:spcPts val="400"/>
              </a:spcAft>
              <a:buNone/>
            </a:pPr>
            <a:r>
              <a:rPr lang="en-US" sz="1000" dirty="0">
                <a:solidFill>
                  <a:srgbClr val="0B1F33"/>
                </a:solidFill>
              </a:rPr>
              <a:t>McClelland, R. &amp; Harper, C.M. 2023, 'Information privacy in healthcare — the vital role of informed consent', European Journal of Health Law, vol. 30, no. 4, pp. 469–480, &lt;https://doi.org/10.1163/15718093-bja10097&gt;.</a:t>
            </a:r>
            <a:endParaRPr lang="en-US" sz="1000" dirty="0"/>
          </a:p>
          <a:p>
            <a:pPr indent="0" marL="0">
              <a:spcAft>
                <a:spcPts val="400"/>
              </a:spcAft>
              <a:buNone/>
            </a:pPr>
            <a:r>
              <a:rPr lang="en-US" sz="1000" dirty="0">
                <a:solidFill>
                  <a:srgbClr val="0B1F33"/>
                </a:solidFill>
              </a:rPr>
              <a:t>Mei, L., Huang, K., Li, X., Wang, H. &amp; Zhang, X. 2026, 'Efficient dual-revocation CP-ABE for secure and fine-grained data sharing in IoMT', IEEE Internet of Things Journal, vol. 13, no. 14, pp. 30933–30940, &lt;https://doi.org/10.1109/JIOT.2026.3685269&gt;.</a:t>
            </a:r>
            <a:endParaRPr lang="en-US" sz="1000" dirty="0"/>
          </a:p>
          <a:p>
            <a:pPr indent="0" marL="0">
              <a:spcAft>
                <a:spcPts val="400"/>
              </a:spcAft>
              <a:buNone/>
            </a:pPr>
            <a:r>
              <a:rPr lang="en-US" sz="1000" dirty="0">
                <a:solidFill>
                  <a:srgbClr val="0B1F33"/>
                </a:solidFill>
              </a:rPr>
              <a:t>Ménétrey, J., Göttel, C., Khurshid, A., Pasin, M., Felber, P., Schiavoni, V. et al. 2022, 'Attestation mechanisms for trusted execution environments demystified', IFIP International Conference on Distributed Applications and Interoperable Systems (DAIS 2022), LNCS, vol. 13272, pp. 95–113, Springer, &lt;https://doi.org/10.1007/978-3-031-16092-9_7&gt;.</a:t>
            </a:r>
            <a:endParaRPr lang="en-US" sz="1000" dirty="0"/>
          </a:p>
          <a:p>
            <a:pPr indent="0" marL="0">
              <a:spcAft>
                <a:spcPts val="400"/>
              </a:spcAft>
              <a:buNone/>
            </a:pPr>
            <a:r>
              <a:rPr lang="en-US" sz="1000" dirty="0">
                <a:solidFill>
                  <a:srgbClr val="0B1F33"/>
                </a:solidFill>
              </a:rPr>
              <a:t>Narkhede, M.R., Wankhede, N.I. &amp; Kamble, A.M. 2025, 'Enhancing patient autonomy in data ownership: Privacy models and consent frameworks for healthcare', Journal of Digital Health, vol. 4, no. 1, pp. 1–23, &lt;https://doi.org/10.55976/jdh.4202513361-23&gt;.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(5/7)</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Nassar Kyriakidou, C.D., Papathanasiou, A.M. &amp; Polyzos, G.C. 2023, 'Decentralized identity with applications to security and privacy for the internet of things', Computer Networks and Communications, vol. 1, no. 2, pp. 244–271, &lt;https://doi.org/10.37256/cnc.1220233048&gt;.</a:t>
            </a:r>
            <a:endParaRPr lang="en-US" sz="1000" dirty="0"/>
          </a:p>
          <a:p>
            <a:pPr indent="0" marL="0">
              <a:spcAft>
                <a:spcPts val="400"/>
              </a:spcAft>
              <a:buNone/>
            </a:pPr>
            <a:r>
              <a:rPr lang="en-US" sz="1000" dirty="0">
                <a:solidFill>
                  <a:srgbClr val="0B1F33"/>
                </a:solidFill>
              </a:rPr>
              <a:t>Nazir, A., Rehmani, M.H., Butler, B. &amp; O’Shea, D. 2026, 'Access control in healthcare IoT: A comprehensive survey', Engineering Reports, vol. 8, no. 4, p. e70766, &lt;https://doi.org/10.1002/eng2.70766&gt;.</a:t>
            </a:r>
            <a:endParaRPr lang="en-US" sz="1000" dirty="0"/>
          </a:p>
          <a:p>
            <a:pPr indent="0" marL="0">
              <a:spcAft>
                <a:spcPts val="400"/>
              </a:spcAft>
              <a:buNone/>
            </a:pPr>
            <a:r>
              <a:rPr lang="en-US" sz="1000" dirty="0">
                <a:solidFill>
                  <a:srgbClr val="0B1F33"/>
                </a:solidFill>
              </a:rPr>
              <a:t>Nguyen, T.L., Nguyen, L., Hoang, T., Bandara, D., Wang, Q., Lu, Q. et al. 2025, 'Blockchain-empowered trustworthy data sharing: Fundamentals, applications, and challenges', ACM Computing Surveys, vol. 57, no. 8, p. 195, &lt;https://doi.org/10.1145/3718082&gt;.</a:t>
            </a:r>
            <a:endParaRPr lang="en-US" sz="1000" dirty="0"/>
          </a:p>
          <a:p>
            <a:pPr indent="0" marL="0">
              <a:spcAft>
                <a:spcPts val="400"/>
              </a:spcAft>
              <a:buNone/>
            </a:pPr>
            <a:r>
              <a:rPr lang="en-US" sz="1000" dirty="0">
                <a:solidFill>
                  <a:srgbClr val="0B1F33"/>
                </a:solidFill>
              </a:rPr>
              <a:t>Page, M.J., McKenzie, J.E., Bossuyt, P.M., Boutron, I., Hoffmann, T.C., Mulrow, C.D. et al. 2021, 'The PRISMA 2020 statement: An updated guideline for reporting systematic reviews', BMJ, vol. 372, p. n71, &lt;https://doi.org/10.1136/bmj.n71&gt;.</a:t>
            </a:r>
            <a:endParaRPr lang="en-US" sz="1000" dirty="0"/>
          </a:p>
          <a:p>
            <a:pPr indent="0" marL="0">
              <a:spcAft>
                <a:spcPts val="400"/>
              </a:spcAft>
              <a:buNone/>
            </a:pPr>
            <a:r>
              <a:rPr lang="en-US" sz="1000" dirty="0">
                <a:solidFill>
                  <a:srgbClr val="0B1F33"/>
                </a:solidFill>
              </a:rPr>
              <a:t>Panagoulias, D.P., Damian, A.I., Stamate, C., Toderian, V., Butusina, P., De Franceschi, A. et al. 2026, 'Blockchain-enabled trust and compliance for clinical AI: Decentralized governance without decentralized data storage', Electronics, vol. 15, no. 14, p. 3046, &lt;https://doi.org/10.3390/electronics15143046&gt;.</a:t>
            </a:r>
            <a:endParaRPr lang="en-US" sz="1000" dirty="0"/>
          </a:p>
          <a:p>
            <a:pPr indent="0" marL="0">
              <a:spcAft>
                <a:spcPts val="400"/>
              </a:spcAft>
              <a:buNone/>
            </a:pPr>
            <a:r>
              <a:rPr lang="en-US" sz="1000" dirty="0">
                <a:solidFill>
                  <a:srgbClr val="0B1F33"/>
                </a:solidFill>
              </a:rPr>
              <a:t>Parameswarath, R.P., Gope, P. &amp; Sikdar, B. 2022, 'User-empowered privacy-preserving authentication protocol for electric vehicle charging based on decentralized identity and verifiable credential', ACM Transactions on Management Information Systems, vol. 13, no. 4, p. 44, &lt;https://doi.org/10.1145/3532869&gt;.</a:t>
            </a:r>
            <a:endParaRPr lang="en-US" sz="1000" dirty="0"/>
          </a:p>
          <a:p>
            <a:pPr indent="0" marL="0">
              <a:spcAft>
                <a:spcPts val="400"/>
              </a:spcAft>
              <a:buNone/>
            </a:pPr>
            <a:r>
              <a:rPr lang="en-US" sz="1000" dirty="0">
                <a:solidFill>
                  <a:srgbClr val="0B1F33"/>
                </a:solidFill>
              </a:rPr>
              <a:t>Phuyal, S., Bhandari, M., Bista, R. &amp; Ferreira, J.C. 2026a, 'A blockchain-based architecture for dynamic and auditable patient consent in secondary use of health data', Blockchain in Healthcare Today, vol. 9, no. 1, p. 491, &lt;https://doi.org/10.30953/bhty.v9.491&gt;.</a:t>
            </a:r>
            <a:endParaRPr lang="en-US" sz="1000" dirty="0"/>
          </a:p>
          <a:p>
            <a:pPr indent="0" marL="0">
              <a:spcAft>
                <a:spcPts val="400"/>
              </a:spcAft>
              <a:buNone/>
            </a:pPr>
            <a:r>
              <a:rPr lang="en-US" sz="1000" dirty="0">
                <a:solidFill>
                  <a:srgbClr val="0B1F33"/>
                </a:solidFill>
              </a:rPr>
              <a:t>Phuyal, S., Bhandari, M., Bista, R. &amp; Ferreira, J.C. 2026b, 'Enabling cross-institution health data sharing in Norway: EUDI wallets, on-chain consent, and openEHR↔FHIR translation', IEEE Access, vol. 14, pp. 20309–20327, &lt;https://doi.org/10.1109/ACCESS.2026.3661642&gt;.</a:t>
            </a:r>
            <a:endParaRPr lang="en-US" sz="1000" dirty="0"/>
          </a:p>
          <a:p>
            <a:pPr indent="0" marL="0">
              <a:spcAft>
                <a:spcPts val="400"/>
              </a:spcAft>
              <a:buNone/>
            </a:pPr>
            <a:r>
              <a:rPr lang="en-US" sz="1000" dirty="0">
                <a:solidFill>
                  <a:srgbClr val="0B1F33"/>
                </a:solidFill>
              </a:rPr>
              <a:t>Prashanth, M.S., Karnati, R., Velpuru, M.S. &amp; Venkateshwara Reddy, H. 2024, 'Enhancing health record security and privacy with blockchain-based access management', Pervasive Knowledge and Collective Intelligence on Web and Social Media (PerSOM 2023), LNICST, vol. 517, pp. 182–202, Springer, &lt;https://doi.org/10.1007/978-3-031-66044-3_13&gt;.</a:t>
            </a:r>
            <a:endParaRPr lang="en-US" sz="1000" dirty="0"/>
          </a:p>
          <a:p>
            <a:pPr indent="0" marL="0">
              <a:spcAft>
                <a:spcPts val="400"/>
              </a:spcAft>
              <a:buNone/>
            </a:pPr>
            <a:r>
              <a:rPr lang="en-US" sz="1000" dirty="0">
                <a:solidFill>
                  <a:srgbClr val="0B1F33"/>
                </a:solidFill>
              </a:rPr>
              <a:t>Punia, A., Gulia, P., Gill, N.S., Kaushik, D., Alduaiji, N., Shukla, P.K. et al. 2025, 'An access control system for cloud-based healthcare systems driven by blockchain', Journal of Cloud Computing, vol. 14, no. 1, p. 78, &lt;https://doi.org/10.1186/s13677-025-00831-z&gt;.</a:t>
            </a:r>
            <a:endParaRPr lang="en-US" sz="1000" dirty="0"/>
          </a:p>
          <a:p>
            <a:pPr indent="0" marL="0">
              <a:spcAft>
                <a:spcPts val="400"/>
              </a:spcAft>
              <a:buNone/>
            </a:pPr>
            <a:r>
              <a:rPr lang="en-US" sz="1000" dirty="0">
                <a:solidFill>
                  <a:srgbClr val="0B1F33"/>
                </a:solidFill>
              </a:rPr>
              <a:t>Román-Martínez, I., Calvillo-Arbizu, J., Mayor-Gallego, V.J., Madinabeitia-Luque, G., Estepa-Alonso, A.J. &amp; Estepa-Alonso, R.M. 2023, 'Blockchain-based service-oriented architecture for consent management, access control, and auditing', IEEE Access, vol. 11, pp. 12727–12741, &lt;https://doi.org/10.1109/ACCESS.2023.3242605&gt;.</a:t>
            </a:r>
            <a:endParaRPr lang="en-US" sz="1000" dirty="0"/>
          </a:p>
          <a:p>
            <a:pPr indent="0" marL="0">
              <a:spcAft>
                <a:spcPts val="400"/>
              </a:spcAft>
              <a:buNone/>
            </a:pPr>
            <a:r>
              <a:rPr lang="en-US" sz="1000" dirty="0">
                <a:solidFill>
                  <a:srgbClr val="0B1F33"/>
                </a:solidFill>
              </a:rPr>
              <a:t>Sawant, N.M. &amp; Gomes, J. 2026, 'A decentralized solution for smarter and safer healthcare systems with FabricMedChain', Iranian Journal of Science and Technology, Transactions of Electrical Engineering, vol. 50, pp. 2843–2869, &lt;https://doi.org/10.1007/s40998-025-00994-0&gt;.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(6/7)</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Shanmugham, M. &amp; Senthilkumar, C. 2026, 'Blockchain enabled self-sovereign identity and consent framework for secure healthcare data access', 2026 3rd International Conference on Emerging Trends in Engineering and Medical Sciences (ICETEMS), pp. 1–6, &lt;https://doi.org/10.1109/ICETEMS66917.2026.11469586&gt;.</a:t>
            </a:r>
            <a:endParaRPr lang="en-US" sz="1000" dirty="0"/>
          </a:p>
          <a:p>
            <a:pPr indent="0" marL="0">
              <a:spcAft>
                <a:spcPts val="400"/>
              </a:spcAft>
              <a:buNone/>
            </a:pPr>
            <a:r>
              <a:rPr lang="en-US" sz="1000" dirty="0">
                <a:solidFill>
                  <a:srgbClr val="0B1F33"/>
                </a:solidFill>
              </a:rPr>
              <a:t>SooHoo, S.L., Keller, M.S., Chen, Y., Hu, D., Huang, S.-C., Kuo, T.-T. et al. 2026, 'Development of the authentication and authorization processes for the iAgree portal, a platform for patient-controlled data sharing across health systems', JAMIA Open, vol. 9, no. 3, p. ooag111, &lt;https://doi.org/10.1093/jamiaopen/ooag111&gt;.</a:t>
            </a:r>
            <a:endParaRPr lang="en-US" sz="1000" dirty="0"/>
          </a:p>
          <a:p>
            <a:pPr indent="0" marL="0">
              <a:spcAft>
                <a:spcPts val="400"/>
              </a:spcAft>
              <a:buNone/>
            </a:pPr>
            <a:r>
              <a:rPr lang="en-US" sz="1000" dirty="0">
                <a:solidFill>
                  <a:srgbClr val="0B1F33"/>
                </a:solidFill>
              </a:rPr>
              <a:t>Tan, K.-L., Chi, C.-H. &amp; Lam, K.-Y. 2024, 'Secure and privacy-preserving sharing of personal health records with multi-party pre-authorization verification', Wireless Networks, vol. 30, no. 4, pp. 4773–4795, &lt;https://doi.org/10.1007/s11276-022-03114-6&gt;.</a:t>
            </a:r>
            <a:endParaRPr lang="en-US" sz="1000" dirty="0"/>
          </a:p>
          <a:p>
            <a:pPr indent="0" marL="0">
              <a:spcAft>
                <a:spcPts val="400"/>
              </a:spcAft>
              <a:buNone/>
            </a:pPr>
            <a:r>
              <a:rPr lang="en-US" sz="1000" dirty="0">
                <a:solidFill>
                  <a:srgbClr val="0B1F33"/>
                </a:solidFill>
              </a:rPr>
              <a:t>Tawfik, A.M., Al-Ahwal, A., Tag Eldien, A.S. &amp; Zayed, H.H. 2025, 'Blockchain-based access control and privacy preservation in healthcare: A comprehensive survey', Cluster Computing, vol. 28, p. 529, &lt;https://doi.org/10.1007/s10586-025-05308-x&gt;.</a:t>
            </a:r>
            <a:endParaRPr lang="en-US" sz="1000" dirty="0"/>
          </a:p>
          <a:p>
            <a:pPr indent="0" marL="0">
              <a:spcAft>
                <a:spcPts val="400"/>
              </a:spcAft>
              <a:buNone/>
            </a:pPr>
            <a:r>
              <a:rPr lang="en-US" sz="1000" dirty="0">
                <a:solidFill>
                  <a:srgbClr val="0B1F33"/>
                </a:solidFill>
              </a:rPr>
              <a:t>Teeda, A. &amp; Subba Rao, Y.V. 2026, 'A patient-centric blockchain based electronic health records for data privacy and confidentiality', International Conference on Smart Computing and Informatics, LNNS, vol. 1684, pp. 179–192, Springer, &lt;https://doi.org/10.1007/978-3-032-08246-6_15&gt;.</a:t>
            </a:r>
            <a:endParaRPr lang="en-US" sz="1000" dirty="0"/>
          </a:p>
          <a:p>
            <a:pPr indent="0" marL="0">
              <a:spcAft>
                <a:spcPts val="400"/>
              </a:spcAft>
              <a:buNone/>
            </a:pPr>
            <a:r>
              <a:rPr lang="en-US" sz="1000" dirty="0">
                <a:solidFill>
                  <a:srgbClr val="0B1F33"/>
                </a:solidFill>
              </a:rPr>
              <a:t>Theodorakopoulos, L., Theodoropoulou, A. &amp; Halkiopoulos, C. 2024, 'Enhancing decentralized decision-making with big data and blockchain technology: A comprehensive review', Applied Sciences, vol. 14, no. 16, p. 7007, &lt;https://doi.org/10.3390/app14167007&gt;.</a:t>
            </a:r>
            <a:endParaRPr lang="en-US" sz="1000" dirty="0"/>
          </a:p>
          <a:p>
            <a:pPr indent="0" marL="0">
              <a:spcAft>
                <a:spcPts val="400"/>
              </a:spcAft>
              <a:buNone/>
            </a:pPr>
            <a:r>
              <a:rPr lang="en-US" sz="1000" dirty="0">
                <a:solidFill>
                  <a:srgbClr val="0B1F33"/>
                </a:solidFill>
              </a:rPr>
              <a:t>Tith, D., Lee, J.-S., Suzuki, H., Wijesundara, W.M.A.B., Taira, N., Obi, T. et al. 2020, 'Patient consent management by a purpose-based consent model for electronic health record based on blockchain technology', Healthcare Informatics Research, vol. 26, no. 4, pp. 265–273, &lt;https://doi.org/10.4258/hir.2020.26.4.265&gt;.</a:t>
            </a:r>
            <a:endParaRPr lang="en-US" sz="1000" dirty="0"/>
          </a:p>
          <a:p>
            <a:pPr indent="0" marL="0">
              <a:spcAft>
                <a:spcPts val="400"/>
              </a:spcAft>
              <a:buNone/>
            </a:pPr>
            <a:r>
              <a:rPr lang="en-US" sz="1000" dirty="0">
                <a:solidFill>
                  <a:srgbClr val="0B1F33"/>
                </a:solidFill>
              </a:rPr>
              <a:t>Tremper, G., Brenner, T., Ben Amor, M., Kussel, T. &amp; Lablans, M. 2026, 'Mainzelliste: Ten years of pseudonymization, record linkage, and informed consent management', Patterns, vol. 7, no. 1, p. 101432, &lt;https://doi.org/10.1016/j.patter.2025.101432&gt;.</a:t>
            </a:r>
            <a:endParaRPr lang="en-US" sz="1000" dirty="0"/>
          </a:p>
          <a:p>
            <a:pPr indent="0" marL="0">
              <a:spcAft>
                <a:spcPts val="400"/>
              </a:spcAft>
              <a:buNone/>
            </a:pPr>
            <a:r>
              <a:rPr lang="en-US" sz="1000" dirty="0">
                <a:solidFill>
                  <a:srgbClr val="0B1F33"/>
                </a:solidFill>
              </a:rPr>
              <a:t>Tseng, C.-H., Hsieh, Y.-H., Lin, H.-Y. &amp; Yuan, S.-M. 2025, 'EMR-Chain: Decentralized electronic medical record exchange system', Technologies, vol. 13, no. 10, p. 446, &lt;https://doi.org/10.3390/technologies13100446&gt;.</a:t>
            </a:r>
            <a:endParaRPr lang="en-US" sz="1000" dirty="0"/>
          </a:p>
          <a:p>
            <a:pPr indent="0" marL="0">
              <a:spcAft>
                <a:spcPts val="400"/>
              </a:spcAft>
              <a:buNone/>
            </a:pPr>
            <a:r>
              <a:rPr lang="en-US" sz="1000" dirty="0">
                <a:solidFill>
                  <a:srgbClr val="0B1F33"/>
                </a:solidFill>
              </a:rPr>
              <a:t>Turan, M.N., Hashimzai, I.A. &amp; Qiam, M.Q. 2025, 'A blockchain-based framework for secure and transparent environmental data sharing in smart cities: Enhancing trust, integrity, and interoperability in urban sustainability systems', Nata Palemahan: Journal of Environmental Engineering Innovations, vol. 2, no. 2, pp. 70–79, &lt;https://doi.org/10.38043/natapalemahan.v2i2.6996&gt;.</a:t>
            </a:r>
            <a:endParaRPr lang="en-US" sz="1000" dirty="0"/>
          </a:p>
          <a:p>
            <a:pPr indent="0" marL="0">
              <a:spcAft>
                <a:spcPts val="400"/>
              </a:spcAft>
              <a:buNone/>
            </a:pPr>
            <a:r>
              <a:rPr lang="en-US" sz="1000" dirty="0">
                <a:solidFill>
                  <a:srgbClr val="0B1F33"/>
                </a:solidFill>
              </a:rPr>
              <a:t>Walonoski, J., Kramer, M., Nichols, J., Quina, A., Moesel, C., Hall, D. et al. 2018, 'Synthea: An approach, method, and software mechanism for generating synthetic patients and the synthetic electronic health care record', Journal of the American Medical Informatics Association, vol. 25, no. 3, pp. 230–238, &lt;https://doi.org/10.1093/jamia/ocx079&gt;.</a:t>
            </a:r>
            <a:endParaRPr lang="en-US" sz="1000" dirty="0"/>
          </a:p>
          <a:p>
            <a:pPr indent="0" marL="0">
              <a:spcAft>
                <a:spcPts val="400"/>
              </a:spcAft>
              <a:buNone/>
            </a:pPr>
            <a:r>
              <a:rPr lang="en-US" sz="1000" dirty="0">
                <a:solidFill>
                  <a:srgbClr val="0B1F33"/>
                </a:solidFill>
              </a:rPr>
              <a:t>Webber, E.C., Brick, D., Scibilia, J.P., Dehnel, P., Council on Clinical Information Technology et al. 2019, 'Electronic communication of the health record and information with pediatric patients and their guardians', Pediatrics, vol. 144, no. 1, p. e20191359, &lt;https://doi.org/10.1542/peds.2019-1359&gt;.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(7/7)</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Welzel, C., Ostermann, M., Smith, H.L., Minssen, T., Kirsten, T. &amp; Gilbert, S. 2025, 'Enabling secure and self determined health data sharing and consent management', npj Digital Medicine, vol. 8, no. 1, p. 560, &lt;https://doi.org/10.1038/s41746-025-01945-z&gt;.</a:t>
            </a:r>
            <a:endParaRPr lang="en-US" sz="1000" dirty="0"/>
          </a:p>
          <a:p>
            <a:pPr indent="0" marL="0">
              <a:spcAft>
                <a:spcPts val="400"/>
              </a:spcAft>
              <a:buNone/>
            </a:pPr>
            <a:r>
              <a:rPr lang="en-US" sz="1000" dirty="0">
                <a:solidFill>
                  <a:srgbClr val="0B1F33"/>
                </a:solidFill>
              </a:rPr>
              <a:t>Wood, G. 2014, Ethereum: A secure decentralised generalised transaction ledger, Ethereum Project Yellow Paper.</a:t>
            </a:r>
            <a:endParaRPr lang="en-US" sz="1000" dirty="0"/>
          </a:p>
          <a:p>
            <a:pPr indent="0" marL="0">
              <a:spcAft>
                <a:spcPts val="400"/>
              </a:spcAft>
              <a:buNone/>
            </a:pPr>
            <a:r>
              <a:rPr lang="en-US" sz="1000" dirty="0">
                <a:solidFill>
                  <a:srgbClr val="0B1F33"/>
                </a:solidFill>
              </a:rPr>
              <a:t>Wu, Y., Liu, C., Sebald, L., Nguyen, P. &amp; Yesha, Y. 2022, 'Apply trust computing and privacy preserving smart contracts to manage, share, and analyze multi-site clinical trial data', Proceedings of the International Conference on Deep Learning, Big Data and Blockchain (DBB 2022), LNNS, vol. 541, pp. 3–14, Springer, &lt;https://doi.org/10.1007/978-3-031-16035-6_1&gt;.</a:t>
            </a:r>
            <a:endParaRPr lang="en-US" sz="1000" dirty="0"/>
          </a:p>
          <a:p>
            <a:pPr indent="0" marL="0">
              <a:spcAft>
                <a:spcPts val="400"/>
              </a:spcAft>
              <a:buNone/>
            </a:pPr>
            <a:r>
              <a:rPr lang="en-US" sz="1000" dirty="0">
                <a:solidFill>
                  <a:srgbClr val="0B1F33"/>
                </a:solidFill>
              </a:rPr>
              <a:t>Wu, Z. &amp; Zhang, D. 2025, 'HealthDID: An efficient and authorizable multi-party privacy-preserving EMR sharing system based on DID', Computer Standards &amp; Interfaces, vol. 93, p. 103967, &lt;https://doi.org/10.1016/j.csi.2024.103967&gt;.</a:t>
            </a:r>
            <a:endParaRPr lang="en-US" sz="1000" dirty="0"/>
          </a:p>
          <a:p>
            <a:pPr indent="0" marL="0">
              <a:spcAft>
                <a:spcPts val="400"/>
              </a:spcAft>
              <a:buNone/>
            </a:pPr>
            <a:r>
              <a:rPr lang="en-US" sz="1000" dirty="0">
                <a:solidFill>
                  <a:srgbClr val="0B1F33"/>
                </a:solidFill>
              </a:rPr>
              <a:t>Yin, H., Zhao, Y., Zhang, L., Qiao, B., Chen, W. &amp; Wang, H. 2024, 'Attribute-based searchable encryption with decentralized key management for healthcare data sharing', Journal of Systems Architecture, vol. 148, p. 103081, &lt;https://doi.org/10.1016/j.sysarc.2024.103081&gt;.</a:t>
            </a:r>
            <a:endParaRPr lang="en-US" sz="1000" dirty="0"/>
          </a:p>
          <a:p>
            <a:pPr indent="0" marL="0">
              <a:spcAft>
                <a:spcPts val="400"/>
              </a:spcAft>
              <a:buNone/>
            </a:pPr>
            <a:r>
              <a:rPr lang="en-US" sz="1000" dirty="0">
                <a:solidFill>
                  <a:srgbClr val="0B1F33"/>
                </a:solidFill>
              </a:rPr>
              <a:t>Yin, J., Xiao, Y., Chen, Q., Lim, Y.Z., Liu, X., Pei, Q. et al. 2025, 'DP-DID: A dynamic and proactive decentralized identity system', IEEE Transactions on Information Forensics and Security, vol. 20, pp. 4999–5014, &lt;https://doi.org/10.1109/TIFS.2025.3561662&gt;.</a:t>
            </a:r>
            <a:endParaRPr lang="en-US" sz="1000" dirty="0"/>
          </a:p>
          <a:p>
            <a:pPr indent="0" marL="0">
              <a:spcAft>
                <a:spcPts val="400"/>
              </a:spcAft>
              <a:buNone/>
            </a:pPr>
            <a:r>
              <a:rPr lang="en-US" sz="1000" dirty="0">
                <a:solidFill>
                  <a:srgbClr val="0B1F33"/>
                </a:solidFill>
              </a:rPr>
              <a:t>Zhang, L., Kan, H. &amp; Huang, H. 2022, 'Patient-centered cross-enterprise document sharing and dynamic consent framework using consortium blockchain and ciphertext-policy attribute-based encryption', Proceedings of the 19th ACM International Conference on Computing Frontiers (CF ’22), pp. 58–66, &lt;https://doi.org/10.1145/3528416.3530228&gt;.</a:t>
            </a:r>
            <a:endParaRPr lang="en-US" sz="1000" dirty="0"/>
          </a:p>
          <a:p>
            <a:pPr indent="0" marL="0">
              <a:spcAft>
                <a:spcPts val="400"/>
              </a:spcAft>
              <a:buNone/>
            </a:pPr>
            <a:r>
              <a:rPr lang="en-US" sz="1000" dirty="0">
                <a:solidFill>
                  <a:srgbClr val="0B1F33"/>
                </a:solidFill>
              </a:rPr>
              <a:t>Zhao, J. &amp; Su, Q. 2024, 'A threshold traceable delegation authorization scheme for data sharing in healthcare', Computers &amp; Security, vol. 139, p. 103686, &lt;https://doi.org/10.1016/j.cose.2023.103686&gt;.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hanks"/>
          <p:cNvSpPr txBox="1"/>
          <p:nvPr/>
        </p:nvSpPr>
        <p:spPr>
          <a:xfrm>
            <a:off x="2286000" y="2377440"/>
            <a:ext cx="7589520" cy="1280160"/>
          </a:xfrm>
          <a:prstGeom prst="rect">
            <a:avLst/>
          </a:prstGeom>
          <a:noFill/>
          <a:ln/>
        </p:spPr>
        <p:txBody>
          <a:bodyPr wrap="square" rtlCol="0" anchor="ctr"/>
          <a:lstStyle/>
          <a:p>
            <a:pPr algn="ctr" indent="0" marL="0">
              <a:buNone/>
            </a:pPr>
            <a:r>
              <a:rPr lang="en-US" sz="5400" b="1" dirty="0">
                <a:solidFill>
                  <a:srgbClr val="FFFFFF"/>
                </a:solidFill>
              </a:rPr>
              <a:t>Thank You</a:t>
            </a:r>
            <a:endParaRPr lang="en-US" sz="5400" dirty="0"/>
          </a:p>
        </p:txBody>
      </p:sp>
      <p:sp>
        <p:nvSpPr>
          <p:cNvPr id="3" name="questions"/>
          <p:cNvSpPr txBox="1"/>
          <p:nvPr/>
        </p:nvSpPr>
        <p:spPr>
          <a:xfrm>
            <a:off x="2286000" y="3657600"/>
            <a:ext cx="7589520" cy="548640"/>
          </a:xfrm>
          <a:prstGeom prst="rect">
            <a:avLst/>
          </a:prstGeom>
          <a:noFill/>
          <a:ln/>
        </p:spPr>
        <p:txBody>
          <a:bodyPr wrap="square" rtlCol="0" anchor="ctr"/>
          <a:lstStyle/>
          <a:p>
            <a:pPr algn="ctr" indent="0" marL="0">
              <a:buNone/>
            </a:pPr>
            <a:r>
              <a:rPr lang="en-US" sz="2200" i="1" dirty="0">
                <a:solidFill>
                  <a:srgbClr val="1FB5D6"/>
                </a:solidFill>
              </a:rPr>
              <a:t>Questions and discussion</a:t>
            </a:r>
            <a:endParaRPr lang="en-US" sz="2200" dirty="0"/>
          </a:p>
        </p:txBody>
      </p:sp>
    </p:spTree>
  </p:cSld>
  <p:clrMapOvr>
    <a:masterClrMapping/>
  </p:clrMapOvr>
</p:sld>
</file>

<file path=ppt/theme/theme1.xml><?xml version="1.0" encoding="utf-8"?>
<a:theme xmlns:a="http://schemas.openxmlformats.org/drawingml/2006/main" name="Trust Consent">
  <a:themeElements>
    <a:clrScheme name="Trust Consent">
      <a:dk1>
        <a:srgbClr val="0B1F33"/>
      </a:dk1>
      <a:lt1>
        <a:srgbClr val="FFFFFF"/>
      </a:lt1>
      <a:dk2>
        <a:srgbClr val="0B2A4A"/>
      </a:dk2>
      <a:lt2>
        <a:srgbClr val="E8F4F8"/>
      </a:lt2>
      <a:accent1>
        <a:srgbClr val="1FB5D6"/>
      </a:accent1>
      <a:accent2>
        <a:srgbClr val="0B2A4A"/>
      </a:accent2>
      <a:accent3>
        <a:srgbClr val="2E7D32"/>
      </a:accent3>
      <a:accent4>
        <a:srgbClr val="F2A900"/>
      </a:accent4>
      <a:accent5>
        <a:srgbClr val="C62828"/>
      </a:accent5>
      <a:accent6>
        <a:srgbClr val="5B6B7A"/>
      </a:accent6>
      <a:hlink>
        <a:srgbClr val="1FB5D6"/>
      </a:hlink>
      <a:folHlink>
        <a:srgbClr val="5B6B7A"/>
      </a:folHlink>
    </a:clrScheme>
    <a:fontScheme name="Trust Consen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Trusted Authorisation Framework for Multi-Party Patient Consent in Healthcare Data Sharing</dc:title>
  <dc:subject>Candidature Reassessment</dc:subject>
  <dc:creator>Yasir Dhaifallah O Alyoubi</dc:creator>
  <cp:lastModifiedBy>Yasir Dhaifallah O Alyoubi</cp:lastModifiedBy>
  <cp:revision>1</cp:revision>
  <dcterms:created xsi:type="dcterms:W3CDTF">2026-10-07T13:45:30Z</dcterms:created>
  <dcterms:modified xsi:type="dcterms:W3CDTF">2026-10-07T13:45:30Z</dcterms:modified>
</cp:coreProperties>
</file>
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55722f3-6178-9a0d-5fe2-3a914f1b9f1d}">
          <p14:sldIdLst>
            <p14:sldId id="256"/>
          </p14:sldIdLst>
        </p14:section>
        <p14:section name="Outline" id="{ded86f08-0d0e-6efa-3c54-7de13ecd41f5}">
          <p14:sldIdLst>
            <p14:sldId id="257"/>
          </p14:sldIdLst>
        </p14:section>
        <p14:section name="Introduction" id="{7209c4ea-4a21-c3ad-ad10-a1d17d8efd87}">
          <p14:sldIdLst>
            <p14:sldId id="258"/>
            <p14:sldId id="259"/>
          </p14:sldIdLst>
        </p14:section>
        <p14:section name="Systematic Literature Review" id="{f0199977-bff6-2ee5-58db-4f045aa2573f}">
          <p14:sldIdLst>
            <p14:sldId id="260"/>
            <p14:sldId id="261"/>
            <p14:sldId id="262"/>
            <p14:sldId id="263"/>
            <p14:sldId id="264"/>
            <p14:sldId id="265"/>
            <p14:sldId id="266"/>
            <p14:sldId id="267"/>
          </p14:sldIdLst>
        </p14:section>
        <p14:section name="Research Gap" id="{eaa71fc5-f55f-09b1-4ca2-09bd2af5cdd7}">
          <p14:sldIdLst>
            <p14:sldId id="268"/>
          </p14:sldIdLst>
        </p14:section>
        <p14:section name="Research Questions" id="{ac714eda-4f02-bc11-547c-5a3fc188858c}">
          <p14:sldIdLst>
            <p14:sldId id="269"/>
            <p14:sldId id="270"/>
          </p14:sldIdLst>
        </p14:section>
        <p14:section name="Research Objectives" id="{5919743e-1f0d-4989-be62-3ba11a1b27f9}">
          <p14:sldIdLst>
            <p14:sldId id="271"/>
          </p14:sldIdLst>
        </p14:section>
        <p14:section name="Research Methodology" id="{6bd07b86-8000-f4de-6756-c9fe1708c936}">
          <p14:sldIdLst>
            <p14:sldId id="272"/>
          </p14:sldIdLst>
        </p14:section>
        <p14:section name="Research Architecture" id="{f8cb7b5e-13bf-90e9-a05e-111502454640}">
          <p14:sldIdLst>
            <p14:sldId id="273"/>
          </p14:sldIdLst>
        </p14:section>
        <p14:section name="The Proposed Solutions" id="{a273321e-7e88-91eb-26d0-6fdad0f9bd8f}">
          <p14:sldIdLst>
            <p14:sldId id="274"/>
            <p14:sldId id="275"/>
            <p14:sldId id="276"/>
            <p14:sldId id="277"/>
            <p14:sldId id="278"/>
            <p14:sldId id="279"/>
            <p14:sldId id="280"/>
          </p14:sldIdLst>
        </p14:section>
        <p14:section name="Implementation and Evaluation" id="{6388c930-61c7-73cf-e3e6-f8e75713e604}">
          <p14:sldIdLst>
            <p14:sldId id="281"/>
            <p14:sldId id="282"/>
            <p14:sldId id="283"/>
            <p14:sldId id="284"/>
            <p14:sldId id="285"/>
            <p14:sldId id="286"/>
            <p14:sldId id="287"/>
          </p14:sldIdLst>
        </p14:section>
        <p14:section name="Significance of the Research" id="{66f0f28e-2774-4c7e-fe55-3f1ef4b21f39}">
          <p14:sldIdLst>
            <p14:sldId id="288"/>
            <p14:sldId id="289"/>
            <p14:sldId id="290"/>
            <p14:sldId id="291"/>
          </p14:sldIdLst>
        </p14:section>
        <p14:section name="Research Plan" id="{0611da9b-3536-b9b1-65fd-31978d441871}">
          <p14:sldIdLst>
            <p14:sldId id="292"/>
            <p14:sldId id="293"/>
          </p14:sldIdLst>
        </p14:section>
        <p14:section name="References" id="{30a01461-3cc1-b05a-d7db-96175fe15751}">
          <p14:sldIdLst>
            <p14:sldId id="294"/>
            <p14:sldId id="295"/>
            <p14:sldId id="296"/>
          </p14:sldIdLst>
        </p14:section>
        <p14:section name="Thank You" id="{fb09a042-15e1-a515-6b0c-f8a26868e126}">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a:t>
            </a:r>
            <a:r>
              <a:rPr lang="en-US" dirty="0">
                <a:highlight>
                  <a:srgbClr val="FFFF00"/>
                </a:highlight>
              </a:rPr>
              <a:t>My research title is A Trusted Authorisation Framework for Multi-Party Patient Consent in Healthcare Data Sharing.</a:t>
            </a:r>
            <a:r>
              <a:rPr lang="en-US" dirty="0"/>
              <a:t>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a:t>
            </a:r>
            <a:r>
              <a:rPr lang="en-US" dirty="0">
                <a:highlight>
                  <a:srgbClr val="FFFF00"/>
                </a:highlight>
              </a:rPr>
              <a:t>17 were excluded. One full text could not be retrieved, and the other 1,735 are not assessed yet. That work continues.</a:t>
            </a:r>
            <a:r>
              <a:rPr lang="en-US" dirty="0"/>
              <a:t>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a:t>
            </a:r>
            <a:r>
              <a:rPr lang="en-US" dirty="0">
                <a:highlight>
                  <a:srgbClr val="FFFF00"/>
                </a:highlight>
              </a:rPr>
              <a:t>For each study you see the code, the authors, the year, the title and the category.</a:t>
            </a:r>
            <a:r>
              <a:rPr lang="en-US" dirty="0"/>
              <a:t>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a:t>
            </a:r>
            <a:r>
              <a:rPr lang="en-US" dirty="0">
                <a:highlight>
                  <a:srgbClr val="FFFF00"/>
                </a:highlight>
              </a:rPr>
              <a:t>Each row gives the study number, the authors, the year, the title and the category.</a:t>
            </a:r>
            <a:r>
              <a:rPr lang="en-US" dirty="0"/>
              <a:t>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a:t>
            </a:r>
            <a:r>
              <a:rPr lang="en-US" dirty="0">
                <a:highlight>
                  <a:srgbClr val="FFFF00"/>
                </a:highlight>
              </a:rPr>
              <a:t>Next I will add the suspended state and the lifecycle transition check, and extend them to consent changes, delegation and guardian-set changes.</a:t>
            </a:r>
            <a:r>
              <a:rPr lang="en-US" dirty="0"/>
              <a:t>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a:t>
            </a:r>
            <a:r>
              <a:rPr lang="en-US" dirty="0">
                <a:highlight>
                  <a:srgbClr val="FFFF00"/>
                </a:highlight>
              </a:rPr>
              <a:t>I used live scenarios, measurements and thirteen attack scenarios.</a:t>
            </a:r>
            <a:r>
              <a:rPr lang="en-US" dirty="0"/>
              <a:t>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a:t>
            </a:r>
            <a:r>
              <a:rPr lang="en-US" dirty="0">
                <a:highlight>
                  <a:srgbClr val="FFFF00"/>
                </a:highlight>
              </a:rPr>
              <a:t>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a:t>
            </a:r>
            <a:r>
              <a:rPr lang="en-US" dirty="0">
                <a:highlight>
                  <a:srgbClr val="FFFF00"/>
                </a:highlight>
              </a:rPr>
              <a:t>If the input is valid, the system builds the consent object C and assigns a consent identifier.</a:t>
            </a:r>
            <a:r>
              <a:rPr lang="en-US" dirty="0"/>
              <a:t>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t>
            </a:r>
            <a:r>
              <a:rPr lang="en-US" dirty="0">
                <a:highlight>
                  <a:srgbClr val="FFFF00"/>
                </a:highlight>
              </a:rPr>
              <a:t>An approval from someone outside G is not counted, and a duplicate approval is not counted either. A signature replayed from another consent fails the identity check, so the answer is DENY.</a:t>
            </a:r>
            <a:r>
              <a:rPr lang="en-US" dirty="0"/>
              <a:t>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The flowchart follows the doctor's request from the top. A consent that is not ACTIVE, a failed identity check, failed policy or time checks, or a failed proof all lead to Deny Access, and the denied access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a:t>
            </a:r>
            <a:r>
              <a:rPr lang="en-US" dirty="0">
                <a:highlight>
                  <a:srgbClr val="FFFF00"/>
                </a:highlight>
              </a:rPr>
              <a:t>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a:t>
            </a:r>
            <a:r>
              <a:rPr lang="en-US" dirty="0">
                <a:highlight>
                  <a:srgbClr val="FFFF00"/>
                </a:highlight>
              </a:rPr>
              <a:t>First, I have 46 automated tests. They include thirteen attack scenarios, A1 to A13.</a:t>
            </a:r>
            <a:r>
              <a:rPr lang="en-US" dirty="0"/>
              <a:t>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a:t>
            </a:r>
            <a:r>
              <a:rPr lang="en-US" dirty="0">
                <a:highlight>
                  <a:srgbClr val="FFFF00"/>
                </a:highlight>
              </a:rPr>
              <a:t>Last, the off-chain audit ledger keeps evidence of every access decision, allowed or denied, and no medical content goes on-chain.</a:t>
            </a:r>
            <a:r>
              <a:rPr lang="en-US" dirty="0"/>
              <a:t>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of the HALAH prototype, for the evaluated consent, f050c29a.</a:t>
            </a:r>
            <a:r>
              <a:rPr lang="en-US" dirty="0"/>
              <a:t>
</a:t>
            </a:r>
            <a:r>
              <a:rPr lang="en-US" dirty="0">
                <a:highlight>
                  <a:srgbClr val="FFFF00"/>
                </a:highlight>
              </a:rPr>
              <a:t>The doctor enters the consent ID.</a:t>
            </a:r>
            <a:r>
              <a:rPr lang="en-US" dirty="0"/>
              <a:t> Below that is the decision matrix. VI is identity and authority. VA is collective approval, and revocation is also checked inside VA. VP is policy and context. VT is time. All five </a:t>
            </a:r>
            <a:r>
              <a:rPr lang="en-US" dirty="0">
                <a:highlight>
                  <a:srgbClr val="FFFF00"/>
                </a:highlight>
              </a:rPr>
              <a:t>checks</a:t>
            </a:r>
            <a:r>
              <a:rPr lang="en-US" dirty="0"/>
              <a:t> show PASS, so the decision is ALLOW and the consent state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a:t>
            </a:r>
            <a:r>
              <a:rPr lang="en-US" dirty="0">
                <a:highlight>
                  <a:srgbClr val="FFFF00"/>
                </a:highlight>
              </a:rPr>
              <a:t>In scenario 5, the consent was revoked, so the request was refused.</a:t>
            </a:r>
            <a:r>
              <a:rPr lang="en-US" dirty="0"/>
              <a:t>
</a:t>
            </a:r>
            <a:r>
              <a:rPr lang="en-US" dirty="0">
                <a:highlight>
                  <a:srgbClr val="FFFF00"/>
                </a:highlight>
              </a:rPr>
              <a:t>The third row is the thirteen attack scenarios, A1 to A13. Twelve of them are refused.</a:t>
            </a:r>
            <a:r>
              <a:rPr lang="en-US" dirty="0"/>
              <a:t> A11 is different. A rewritten audit event changes its digest, but nothing in the prototype compares the digest yet.
</a:t>
            </a:r>
            <a:r>
              <a:rPr lang="en-US" dirty="0">
                <a:highlight>
                  <a:srgbClr val="FFFF00"/>
                </a:highlight>
              </a:rPr>
              <a:t>The next slide shows these thirteen attacks in detail.</a:t>
            </a:r>
            <a:r>
              <a:rPr lang="en-US" dirty="0"/>
              <a:t>
The fourth row is the automated tests. </a:t>
            </a:r>
            <a:r>
              <a:rPr lang="en-US" dirty="0">
                <a:highlight>
                  <a:srgbClr val="FFFF00"/>
                </a:highlight>
              </a:rPr>
              <a:t>There are 32 functional and regression tests and 14 adversarial tests. All 46 pass.</a:t>
            </a:r>
            <a:r>
              <a:rPr lang="en-US" dirty="0"/>
              <a:t>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a:t>
            </a:r>
            <a:r>
              <a:rPr lang="en-US" dirty="0">
                <a:highlight>
                  <a:srgbClr val="FFFF00"/>
                </a:highlight>
              </a:rPr>
              <a:t>The table lists thirteen attack scenarios, A1 to A13.</a:t>
            </a:r>
            <a:r>
              <a:rPr lang="en-US" dirty="0"/>
              <a:t>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t>
            </a:r>
            <a:r>
              <a:rPr lang="en-US" dirty="0">
                <a:highlight>
                  <a:srgbClr val="FFFF00"/>
                </a:highlight>
              </a:rPr>
              <a:t>After the hardening, eleven of the first twelve are refused, and all 46 automated tests pass. A13, an invalid or forged credential, came with the credential check on 11 October 2026 and is refused too; before that change, a requester without a valid credential was accepted.</a:t>
            </a:r>
            <a:r>
              <a:rPr lang="en-US" dirty="0"/>
              <a:t>
A11 is different. A rewritten audit event changes its digest, but no part of the prototype compares the digest yet. </a:t>
            </a:r>
            <a:r>
              <a:rPr lang="en-US" dirty="0">
                <a:highlight>
                  <a:srgbClr val="FFFF00"/>
                </a:highlight>
              </a:rPr>
              <a:t>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a:t>
            </a:r>
            <a:r>
              <a:rPr lang="en-US" dirty="0">
                <a:highlight>
                  <a:srgbClr val="FFFF00"/>
                </a:highlight>
              </a:rPr>
              <a:t>The mint runs in the background, so the guardians and the doctor do not wait for it; a revoke makes the patient wait for the block.</a:t>
            </a:r>
            <a:r>
              <a:rPr lang="en-US" dirty="0"/>
              <a:t>
Processing time is the time of each part of a decision.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a:t>
            </a:r>
            <a:r>
              <a:rPr lang="en-US" dirty="0"/>
              <a:t> The Groth16 proof is the slow part, about 1.4 seconds to generate and 0.47 seconds to verify.
The last row is the on-chain read. Reading the contract on Sepolia takes a little over half a second.
</a:t>
            </a:r>
            <a:r>
              <a:rPr lang="en-US" dirty="0">
                <a:highlight>
                  <a:srgbClr val="FFFF00"/>
                </a:highlight>
              </a:rPr>
              <a:t>I measured the timings on 1 October 2026, in one container, and the decision rule and the credential check again on 11 October 2026.</a:t>
            </a:r>
            <a:r>
              <a:rPr lang="en-US" dirty="0"/>
              <a:t>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a:t>
            </a:r>
            <a:r>
              <a:rPr lang="en-US" dirty="0">
                <a:highlight>
                  <a:srgbClr val="FFFF00"/>
                </a:highlight>
              </a:rPr>
              <a:t>I measured the timings on 1 October 2026, in the development container I used for the demonstration, and the decision rule and the credential check again on 11 October 2026, after the credential check was added.</a:t>
            </a:r>
            <a:r>
              <a:rPr lang="en-US" dirty="0"/>
              <a:t> The anchoring times come from the five Sepolia transactions of September 2026. The results are indicative only.
In the table, the median is the middle value. The column n is how many times I measured each step. The symbol µs means microseconds, and ms means milliseconds.
</a:t>
            </a:r>
            <a:r>
              <a:rPr lang="en-US" dirty="0">
                <a:highlight>
                  <a:srgbClr val="FFFF00"/>
                </a:highlight>
              </a:rPr>
              <a:t>The decision rule with its five checks takes about 6 microseconds, so the checks themselves cost almost nothing. Checking one credential takes about 6 milliseconds.</a:t>
            </a:r>
            <a:r>
              <a:rPr lang="en-US" dirty="0"/>
              <a:t>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a:t>
            </a:r>
            <a:r>
              <a:rPr lang="en-US" dirty="0">
                <a:highlight>
                  <a:srgbClr val="FFFF00"/>
                </a:highlight>
              </a:rPr>
              <a:t>But the mint runs in the background, so the guardians and the doctor do not wait for it; a revoke makes the patient wait for the block.</a:t>
            </a:r>
            <a:r>
              <a:rPr lang="en-US" dirty="0"/>
              <a: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a:t>
            </a:r>
            <a:r>
              <a:rPr lang="en-US" dirty="0">
                <a:highlight>
                  <a:srgbClr val="FFFF00"/>
                </a:highlight>
              </a:rPr>
              <a:t>On-chain record: the ConsentSBTv3 token stores pseudonymous patient and requester addresses, a hash of the purpose, the validity window and a revocation flag.</a:t>
            </a:r>
            <a:r>
              <a:rPr lang="en-US" dirty="0"/>
              <a:t>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t>
            </a:r>
            <a:r>
              <a:rPr lang="en-US" dirty="0">
                <a:highlight>
                  <a:srgbClr val="FFFF00"/>
                </a:highlight>
              </a:rPr>
              <a:t>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a:t>
            </a:r>
            <a:r>
              <a:rPr lang="en-US" dirty="0">
                <a:highlight>
                  <a:srgbClr val="FFFF00"/>
                </a:highlight>
              </a:rPr>
              <a:t>Chapter 6, the solution for RQ1 to RQ4 and the HALAH prototype, ran from July to October 2026 and is done.</a:t>
            </a:r>
            <a:r>
              <a:rPr lang="en-US" dirty="0"/>
              <a:t>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a:t>
            </a:r>
            <a:r>
              <a:rPr lang="en-US" dirty="0">
                <a:highlight>
                  <a:srgbClr val="FFFF00"/>
                </a:highlight>
              </a:rPr>
              <a:t>Chapter 6, the proposed solution for RQ1 to RQ4 and the HALAH prototype, ran from July to October 2026 and is done.</a:t>
            </a:r>
            <a:r>
              <a:rPr lang="en-US" dirty="0"/>
              <a:t>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review and the prototype.</a:t>
            </a:r>
            <a:r>
              <a:rPr lang="en-US" dirty="0"/>
              <a:t>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a:t>
            </a:r>
            <a:r>
              <a:rPr lang="en-US" dirty="0">
                <a:highlight>
                  <a:srgbClr val="FFFF00"/>
                </a:highlight>
              </a:rPr>
              <a:t>The token stores pseudonymous addresses, a hash of the purpose, the validity window and a revocation flag, and no medical content.</a:t>
            </a:r>
            <a:r>
              <a:rPr lang="en-US" dirty="0"/>
              <a:t>
Possible question: What is new in this work? Multi-party approval is a standing condition of every access decision, and the patient defines who must approve. </a:t>
            </a:r>
            <a:r>
              <a:rPr lang="en-US" dirty="0">
                <a:highlight>
                  <a:srgbClr val="FFFF00"/>
                </a:highlight>
              </a:rPr>
              <a:t>I tested the prototype against thirteen attack scenarios. Twelve of them are refused.</a:t>
            </a:r>
            <a:r>
              <a:rPr lang="en-US" dirty="0"/>
              <a:t>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Trust-Centric Consent Model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a:t>
            </a:r>
            <a:r>
              <a:rPr lang="en-US" sz="1600" dirty="0">
                <a:solidFill>
                  <a:srgbClr val="0B1F33"/>
                </a:solidFill>
                <a:highlight>
                  <a:srgbClr val="FFFF00"/>
                </a:highlight>
              </a:rPr>
              <a:t>and</a:t>
            </a:r>
            <a:r>
              <a:rPr lang="en-US" sz="1600" dirty="0">
                <a:solidFill>
                  <a:srgbClr val="FFFFFF"/>
                </a:solidFill>
              </a:rPr>
              <a:t> validity time;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consent object C = (I, A, P, T, L, E) is built and a consent identifier is assigned.</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Decentralised Identity and Authority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Trustworthy Multi-Party Authorisation</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Approvals from outside G and duplicate approvals are not counted; a replayed signature fails the identity check (VI).</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Policy- and Context-Aware Access Control</a:t>
            </a:r>
            <a:endParaRPr lang="en-US" sz="18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Temporal and Lifecycle Trust</a:t>
            </a:r>
            <a:endParaRPr lang="en-US" sz="18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Working now: an</a:t>
            </a:r>
            <a:r>
              <a:rPr lang="en-US" sz="1600" dirty="0">
                <a:solidFill>
                  <a:srgbClr val="FFFFFF"/>
                </a:solidFill>
              </a:rPr>
              <a:t>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800" b="1" i="1" dirty="0">
                <a:solidFill>
                  <a:srgbClr val="1FB5D6"/>
                </a:solidFill>
              </a:rPr>
              <a:t>​</a:t>
            </a:r>
            <a:r>
              <a:rPr lang="en-US" sz="1800" b="1" i="1" dirty="0">
                <a:solidFill>
                  <a:srgbClr val="0B1F33"/>
                </a:solidFill>
                <a:highlight>
                  <a:srgbClr val="FFFF00"/>
                </a:highlight>
              </a:rPr>
              <a:t>Formal Security Assurance and Empirical Validation</a:t>
            </a:r>
            <a:endParaRPr lang="en-US" sz="18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Done: 46 automated tests, including thirteen attack scenarios A1 to A13.</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3355848"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3465576" y="1353204"/>
            <a:ext cx="5266944" cy="4151591"/>
          </a:xfrm>
          <a:prstGeom prst="rect">
            <a:avLst/>
          </a:prstGeom>
        </p:spPr>
      </p:pic>
      <p:sp>
        <p:nvSpPr>
          <p:cNvPr id="6" name="caption"/>
          <p:cNvSpPr txBox="1"/>
          <p:nvPr/>
        </p:nvSpPr>
        <p:spPr>
          <a:xfrm>
            <a:off x="3355848"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Decision rule 5.92 µs and credential check 6.42 ms (11 Oct); EIP‑712 signature recovery 10.93 ms;</a:t>
                      </a:r>
                      <a:r>
                        <a:rPr lang="en-US" sz="1300" dirty="0">
                          <a:solidFill>
                            <a:srgbClr val="0B1F33"/>
                          </a:solidFill>
                        </a:rPr>
                        <a:t>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yellow/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2026-10-11T18:20:54Z</dcterms:created>
  <dcterms:modified xsi:type="dcterms:W3CDTF">2026-10-11T18:20:54Z</dcterms:modified>
</cp:coreProperties>
</file>
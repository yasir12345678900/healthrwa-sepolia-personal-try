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982cc04-300d-ec95-c056-99c97227cede}">
          <p14:sldIdLst>
            <p14:sldId id="256"/>
          </p14:sldIdLst>
        </p14:section>
        <p14:section name="Outline" id="{02895d8f-679a-fbaa-2a44-7831313af4a8}">
          <p14:sldIdLst>
            <p14:sldId id="257"/>
          </p14:sldIdLst>
        </p14:section>
        <p14:section name="Introduction" id="{63461054-7b47-0c5f-1f18-b21c29280152}">
          <p14:sldIdLst>
            <p14:sldId id="258"/>
            <p14:sldId id="259"/>
          </p14:sldIdLst>
        </p14:section>
        <p14:section name="Systematic Literature Review" id="{67b493d0-246e-dc2c-f102-2df60f1fa6a9}">
          <p14:sldIdLst>
            <p14:sldId id="260"/>
            <p14:sldId id="261"/>
            <p14:sldId id="262"/>
            <p14:sldId id="263"/>
            <p14:sldId id="264"/>
            <p14:sldId id="265"/>
            <p14:sldId id="266"/>
            <p14:sldId id="267"/>
          </p14:sldIdLst>
        </p14:section>
        <p14:section name="Research Gaps" id="{4f7f7b48-23e9-a44d-cf75-f0e6dab6fb7f}">
          <p14:sldIdLst>
            <p14:sldId id="268"/>
          </p14:sldIdLst>
        </p14:section>
        <p14:section name="Research Questions" id="{a2e3b5a9-2e07-908b-14dc-086f568ac8ea}">
          <p14:sldIdLst>
            <p14:sldId id="269"/>
            <p14:sldId id="270"/>
          </p14:sldIdLst>
        </p14:section>
        <p14:section name="Research Objectives" id="{2f56b44c-7eac-cd3f-13bb-e7421b8d6cc1}">
          <p14:sldIdLst>
            <p14:sldId id="271"/>
          </p14:sldIdLst>
        </p14:section>
        <p14:section name="Research Methodology" id="{39d74b70-3e70-2114-73a6-b45333b63816}">
          <p14:sldIdLst>
            <p14:sldId id="272"/>
          </p14:sldIdLst>
        </p14:section>
        <p14:section name="Research Architecture" id="{08266523-f4fa-4c10-a6d3-c2a11422aad6}">
          <p14:sldIdLst>
            <p14:sldId id="273"/>
          </p14:sldIdLst>
        </p14:section>
        <p14:section name="The Proposed Solutions" id="{53e3b5ec-e42b-8d73-38b7-1b7cd980baa2}">
          <p14:sldIdLst>
            <p14:sldId id="274"/>
            <p14:sldId id="275"/>
            <p14:sldId id="276"/>
            <p14:sldId id="277"/>
            <p14:sldId id="278"/>
            <p14:sldId id="279"/>
            <p14:sldId id="280"/>
          </p14:sldIdLst>
        </p14:section>
        <p14:section name="Implementation and Evaluation" id="{999b832e-ebc8-10b7-5d53-74a108268f84}">
          <p14:sldIdLst>
            <p14:sldId id="281"/>
            <p14:sldId id="282"/>
            <p14:sldId id="283"/>
            <p14:sldId id="284"/>
            <p14:sldId id="285"/>
            <p14:sldId id="286"/>
            <p14:sldId id="287"/>
          </p14:sldIdLst>
        </p14:section>
        <p14:section name="Significance of the Research" id="{8fb04d61-3207-e683-77eb-8c813c8738b1}">
          <p14:sldIdLst>
            <p14:sldId id="288"/>
            <p14:sldId id="289"/>
            <p14:sldId id="290"/>
            <p14:sldId id="291"/>
          </p14:sldIdLst>
        </p14:section>
        <p14:section name="Research Plan" id="{0753746e-c12c-e6f8-3ad3-326d8884f2c3}">
          <p14:sldIdLst>
            <p14:sldId id="292"/>
            <p14:sldId id="293"/>
          </p14:sldIdLst>
        </p14:section>
        <p14:section name="References" id="{58685f51-0340-1195-b75f-25c36c278a39}">
          <p14:sldIdLst>
            <p14:sldId id="294"/>
            <p14:sldId id="295"/>
            <p14:sldId id="296"/>
            <p14:sldId id="297"/>
            <p14:sldId id="298"/>
            <p14:sldId id="299"/>
            <p14:sldId id="300"/>
          </p14:sldIdLst>
        </p14:section>
        <p14:section name="Thank You" id="{ce5cc7d4-7619-daf2-5bb2-51964db60006}">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next slide shows these twelve attacks in detail.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twelve attack scenarios, A1 to A12. The dots show which part each attack targets. I is identity, A is authority, P is policy and scope, T is time, L is jurisdiction,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twelve are refused, and all 36 automated tests pass.
A11 is different. A rewritten audit event changes its digest, but no part of the prototype compares the digest yet. So I mark it as neutral, not as a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it on 1 October 2026, in the development container I used for the demonstration. The results come from one container and five transactions, so they are indicative only.
In the table, the median is the middle value. The column n is how many times I measured each step. The symbol µs means microseconds, and ms means milliseconds.
The decision rule with its five checks takes about 2 microseconds, so it costs almost nothing.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it runs in the background, so the guardians and the doctor do not wait for it.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seven pages and holds every source cited in my report. It follows the UTS Harvard style, so the sources are listed by author name and year, and the names match the citations in the text. This first page runs from Abbasi to Ekholm. It includes the primary studies on threshold cryptography for health records, dynamic consent and informed consent, together with the technical standards for typed-data signing and soulbound tokens.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from Eneh to Hagström. It holds sources on on-chain consent management, blockchain-based health record systems, decentralised identifiers and verifiable credentials, and the documentation of the Ethereum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from Hellstern to Kharlamov. It covers consent models for health data platforms, access control for healthcare big data, attitudes to data sharing and consent, and the zero-knowledge proof tools used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from Khayer to Narkhede. It covers identity management and trust mechanisms, fine-grained access control for medical records, decentralised multi-party consent, and patient autonomy in data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from Nassar Kyriakidou to Sawant. It covers decentralised identity, access control surveys, the PRISMA reporting guideline for the review, the Poseidon hash function used in the proof, and several blockchain architectures for consent and auditing.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sixth page, from Shanmugham to Webber. It covers self-sovereign identity frameworks, multi-party pre-authorisation, purpose-based consent models, consent management services, the Synthea synthetic patient generator, and the guardian access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from Welzel to Zhao. It covers self-determined health data sharing, the Ethereum yellow paper, trust computing for clinical trial data, multi-party EMR sharing with decentralised identifiers, searchable encryption, and threshold delegation.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(1/7)</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Akter, S. &amp; Sanam, T.F. 2025, 'A blockchain framework for secure healthcare data management using role-based access control and smart contracts', 2025 International Conference on Electrical, Computer and Communication Engineering (ECCE), pp. 1–6, &lt;https://doi.org/10.1109/ECCE64574.2025.11013162&gt;.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 Mamun, A., Azam, S. &amp; Gritti, C. 2022, 'Blockchain-based electronic health records management: A comprehensive review and future research direction', IEEE Access, vol. 10, pp. 5768–5789, &lt;https://doi.org/10.1109/ACCESS.2022.3141079&gt;.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Andrew, J., Isravel, D.P., Sagayam, K.M., Bhushan, B., Sei, Y. &amp; Eunice, J. 2023, 'Blockchain for healthcare systems: Architecture, security challenges, trends and future directions', Journal of Network and Computer Applications, vol. 215, p. 103633, &lt;https://doi.org/10.1016/j.jnca.2023.103633&gt;.</a:t>
            </a:r>
            <a:endParaRPr lang="en-US" sz="1000" dirty="0"/>
          </a:p>
          <a:p>
            <a:pPr indent="0" marL="0">
              <a:spcAft>
                <a:spcPts val="400"/>
              </a:spcAft>
              <a:buNone/>
            </a:pPr>
            <a:r>
              <a:rPr lang="en-US" sz="1000" dirty="0">
                <a:solidFill>
                  <a:srgbClr val="0B1F33"/>
                </a:solidFill>
              </a:rPr>
              <a:t>Arbabi, M.S., Lal, C., Veeraragavan, N.R., Marijan, D., Nygård, J.F. &amp; Vitenberg, R. 2023, 'A survey on blockchain for healthcare: Challenges, benefits, and future directions', IEEE Communications Surveys &amp; Tutorials, vol. 25, no. 1, pp. 386–424, &lt;https://doi.org/10.1109/COMST.2022.3224644&gt;.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Consensys 2026, MetaMask developer documentation, viewed 7 October 2026, &lt;https://docs.metamask.io/&gt;.</a:t>
            </a:r>
            <a:endParaRPr lang="en-US" sz="1000" dirty="0"/>
          </a:p>
          <a:p>
            <a:pPr indent="0" marL="0">
              <a:spcAft>
                <a:spcPts val="400"/>
              </a:spcAft>
              <a:buNone/>
            </a:pPr>
            <a:r>
              <a:rPr lang="en-US" sz="1000" dirty="0">
                <a:solidFill>
                  <a:srgbClr val="0B1F33"/>
                </a:solidFill>
              </a:rPr>
              <a:t>Deng, H., Liang, J., Zhang, C., Liu, X., Zhu, L. &amp; Guo, S. 2024, 'FutureDID: A fully decentralized identity system with multi-party verification', IEEE Transactions on Computers, vol. 73, no. 8, pp. 2051–2065, &lt;https://doi.org/10.1109/TC.2024.3398509&gt;.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2026a, Solidity documentation, viewed 7 October 2026, &lt;https://docs.soliditylang.org/&gt;.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Ethereum Foundation 2026c, Remix IDE documentation, viewed 7 October 2026, &lt;https://remix-ide.readthedocs.io/&gt;.</a:t>
            </a:r>
            <a:endParaRPr lang="en-US" sz="1000" dirty="0"/>
          </a:p>
          <a:p>
            <a:pPr indent="0" marL="0">
              <a:spcAft>
                <a:spcPts val="400"/>
              </a:spcAft>
              <a:buNone/>
            </a:pPr>
            <a:r>
              <a:rPr lang="en-US" sz="1000" dirty="0">
                <a:solidFill>
                  <a:srgbClr val="0B1F33"/>
                </a:solidFill>
              </a:rPr>
              <a:t>Ferreira, J.C., Correia, R., Rosário, L. &amp; Vila, A. 2025, 'Blockchain integration for trust and consent management in MCP-enabled FHIR systems', 2025 IEEE International Conference on Distributed Ledger Technologies (ICDLT), pp. 1–10, &lt;https://doi.org/10.1109/ICDLT66400.2025.11466653&gt;.</a:t>
            </a:r>
            <a:endParaRPr lang="en-US" sz="1000" dirty="0"/>
          </a:p>
          <a:p>
            <a:pPr indent="0" marL="0">
              <a:spcAft>
                <a:spcPts val="400"/>
              </a:spcAft>
              <a:buNone/>
            </a:pPr>
            <a:r>
              <a:rPr lang="en-US" sz="1000" dirty="0">
                <a:solidFill>
                  <a:srgbClr val="0B1F33"/>
                </a:solidFill>
              </a:rPr>
              <a:t>Flamini, A., Sciarretta, G., Scuro, M., Sharif, A., Tomasi, A. &amp; Ranise, S. 2024, 'On cryptographic mechanisms for the selective disclosure of verifiable credentials', Journal of Information Security and Applications, vol. 83, p. 103789, &lt;https://doi.org/10.1016/j.jisa.2024.103789&gt;.</a:t>
            </a:r>
            <a:endParaRPr lang="en-US" sz="1000" dirty="0"/>
          </a:p>
          <a:p>
            <a:pPr indent="0" marL="0">
              <a:spcAft>
                <a:spcPts val="400"/>
              </a:spcAft>
              <a:buNone/>
            </a:pPr>
            <a:r>
              <a:rPr lang="en-US" sz="1000" dirty="0">
                <a:solidFill>
                  <a:srgbClr val="0B1F33"/>
                </a:solidFill>
              </a:rPr>
              <a:t>Ghafoor, A., Symeonidis, I., Rydberg, A., Lindahl, C. &amp; Abbasi, A.Q. 2025, 'Towards empowering stakeholders through decentralized trust and secure livestock data sharing', Cryptography, vol. 9, no. 3, p. 52, &lt;https://doi.org/10.3390/cryptography9030052&gt;.</a:t>
            </a:r>
            <a:endParaRPr lang="en-US" sz="1000" dirty="0"/>
          </a:p>
          <a:p>
            <a:pPr indent="0" marL="0">
              <a:spcAft>
                <a:spcPts val="400"/>
              </a:spcAft>
              <a:buNone/>
            </a:pPr>
            <a:r>
              <a:rPr lang="en-US" sz="1000" dirty="0">
                <a:solidFill>
                  <a:srgbClr val="0B1F33"/>
                </a:solidFill>
              </a:rPr>
              <a:t>Ghosh, P.K., Chakraborty, A., Hasan, M., Rashid, K. &amp; Siddique, A.H. 2023, 'Blockchain application in healthcare systems: A review', Systems, vol. 11, no. 1, p. 38, &lt;https://doi.org/10.3390/systems11010038&gt;.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Hellstern, R., Park, D.C., Lemieux, V. &amp; Salimjan, G. 2022, 'Leveraging blockchain-based archival solutions for sensitive documentation: A Xinjiang case study', Digital Society, vol. 1, no. 1, p. 4, &lt;https://doi.org/10.1007/s44206-022-00007-1&gt;.</a:t>
            </a:r>
            <a:endParaRPr lang="en-US" sz="1000" dirty="0"/>
          </a:p>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Ibrahim, A.M., Abdel-Aziz, H.R., Mohamed, H.A.H., Zaghamir, D.E.F., Wahba, N.M.I., Hassan, G.A. et al. 2024, 'Balancing confidentiality and care coordination: Challenges in patient privacy', BMC Nursing, vol. 23, no. 1, p. 564, &lt;https://doi.org/10.1186/s12912-024-02231-1&gt;.</a:t>
            </a:r>
            <a:endParaRPr lang="en-US" sz="1000" dirty="0"/>
          </a:p>
          <a:p>
            <a:pPr indent="0" marL="0">
              <a:spcAft>
                <a:spcPts val="400"/>
              </a:spcAft>
              <a:buNone/>
            </a:pPr>
            <a:r>
              <a:rPr lang="en-US" sz="1000" dirty="0">
                <a:solidFill>
                  <a:srgbClr val="0B1F33"/>
                </a:solidFill>
              </a:rPr>
              <a:t>iden3 2026a, snarkjs: zkSNARKs implementation in JavaScript, version 0.7, npm package, viewed 7 October 2026, &lt;https://www.npmjs.com/package/snarkjs&gt;.</a:t>
            </a:r>
            <a:endParaRPr lang="en-US" sz="1000" dirty="0"/>
          </a:p>
          <a:p>
            <a:pPr indent="0" marL="0">
              <a:spcAft>
                <a:spcPts val="400"/>
              </a:spcAft>
              <a:buNone/>
            </a:pPr>
            <a:r>
              <a:rPr lang="en-US" sz="1000" dirty="0">
                <a:solidFill>
                  <a:srgbClr val="0B1F33"/>
                </a:solidFill>
              </a:rPr>
              <a:t>iden3 2026b, circom: circuit compiler for zero-knowledge proofs, viewed 7 October 2026, &lt;https://docs.circom.io/&gt;.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Jesus, V. &amp; Pandit, H.J. 2022, 'Consent receipts for a usable and auditable web of personal data', IEEE Access, vol. 10, pp. 28545–28563, &lt;https://doi.org/10.1109/ACCESS.2022.3157850&gt;.</a:t>
            </a:r>
            <a:endParaRPr lang="en-US" sz="1000" dirty="0"/>
          </a:p>
          <a:p>
            <a:pPr indent="0" marL="0">
              <a:spcAft>
                <a:spcPts val="400"/>
              </a:spcAft>
              <a:buNone/>
            </a:pPr>
            <a:r>
              <a:rPr lang="en-US" sz="1000" dirty="0">
                <a:solidFill>
                  <a:srgbClr val="0B1F33"/>
                </a:solidFill>
              </a:rPr>
              <a:t>Jiang, R., Chen, X., Yu, Y., Zhang, Y. &amp; Ding, W. 2023, 'Risk and UCON-based access control model for healthcare big data', Journal of Big Data, vol. 10, no. 1, p. 104, &lt;https://doi.org/10.1186/s40537-023-00783-8&gt;.</a:t>
            </a:r>
            <a:endParaRPr lang="en-US" sz="1000" dirty="0"/>
          </a:p>
          <a:p>
            <a:pPr indent="0" marL="0">
              <a:spcAft>
                <a:spcPts val="400"/>
              </a:spcAft>
              <a:buNone/>
            </a:pPr>
            <a:r>
              <a:rPr lang="en-US" sz="1000" dirty="0">
                <a:solidFill>
                  <a:srgbClr val="0B1F33"/>
                </a:solidFill>
              </a:rPr>
              <a:t>Kaplow, K., Downey, M., Stewart, D., Massie, A.B., Motter, J.D., Taylor, L. et al. 2024, 'Data professionals’ attitudes on data privacy, sharing, and consent in healthcare and research', Digital Health, vol. 10, p. 20552076241290964, &lt;https://doi.org/10.1177/20552076241290964&gt;.</a:t>
            </a:r>
            <a:endParaRPr lang="en-US" sz="1000" dirty="0"/>
          </a:p>
          <a:p>
            <a:pPr indent="0" marL="0">
              <a:spcAft>
                <a:spcPts val="400"/>
              </a:spcAft>
              <a:buNone/>
            </a:pPr>
            <a:r>
              <a:rPr lang="en-US" sz="1000" dirty="0">
                <a:solidFill>
                  <a:srgbClr val="0B1F33"/>
                </a:solidFill>
              </a:rPr>
              <a:t>Khalid, M.I., Ahmed, M., Helfert, M. &amp; Kim, J. 2023, 'Privacy-first paradigm for dynamic consent management systems: Empowering data subjects through decentralized data controllers and privacy-preserving techniques', Electronics, vol. 12, no. 24, p. 4973, &lt;https://doi.org/10.3390/electronics12244973&gt;.</a:t>
            </a:r>
            <a:endParaRPr lang="en-US" sz="1000" dirty="0"/>
          </a:p>
          <a:p>
            <a:pPr indent="0" marL="0">
              <a:spcAft>
                <a:spcPts val="400"/>
              </a:spcAft>
              <a:buNone/>
            </a:pPr>
            <a:r>
              <a:rPr lang="en-US" sz="1000" dirty="0">
                <a:solidFill>
                  <a:srgbClr val="0B1F33"/>
                </a:solidFill>
              </a:rPr>
              <a:t>Kharlamov, A., Hohmann, R. &amp; Parry, G. 2023, 'Data sharing decisions: Perceptions and intentions in healthcare', Strategic Change, vol. 32, no. 6, pp. 223–237, &lt;https://doi.org/10.1002/jsc.2558&gt;.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Khayer, B., Mirzaei, S., Alavizadeh, H. &amp; Salehi Shahraki, A. 2025, 'Blockchain for secure IoT: A review of identity management, access control, and trust mechanisms', IoT, vol. 6, no. 4, p. 65, &lt;https://doi.org/10.3390/iot6040065&gt;.</a:t>
            </a:r>
            <a:endParaRPr lang="en-US" sz="1000" dirty="0"/>
          </a:p>
          <a:p>
            <a:pPr indent="0" marL="0">
              <a:spcAft>
                <a:spcPts val="400"/>
              </a:spcAft>
              <a:buNone/>
            </a:pPr>
            <a:r>
              <a:rPr lang="en-US" sz="1000" dirty="0">
                <a:solidFill>
                  <a:srgbClr val="0B1F33"/>
                </a:solidFill>
              </a:rPr>
              <a:t>Li, L., Liu, C.Z. &amp; Shrestha, S. 2026, 'Analytical entropy approach for measuring blockchain immutability and tamper-resilient trust', Entropy, vol. 28, no. 6, p. 690, &lt;https://doi.org/10.3390/e28060690&gt;.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Li, L., Liu, C.Z., Huang, K., Deng, R., Alrowaily, M.A., Alghamdi, M. et al. 2026b, 'Trust-aware environmental state consensus for smart agriculture with TEE-enabled sensing and Byzantine-resilient blockchain coordination', Sensors, vol. 26, no. 14, p. 4577, &lt;https://doi.org/10.3390/s26144577&gt;.</a:t>
            </a:r>
            <a:endParaRPr lang="en-US" sz="1000" dirty="0"/>
          </a:p>
          <a:p>
            <a:pPr indent="0" marL="0">
              <a:spcAft>
                <a:spcPts val="400"/>
              </a:spcAft>
              <a:buNone/>
            </a:pPr>
            <a:r>
              <a:rPr lang="en-US" sz="1000" dirty="0">
                <a:solidFill>
                  <a:srgbClr val="0B1F33"/>
                </a:solidFill>
              </a:rPr>
              <a:t>Lomotey, R.K., Kumi, S. &amp; Deters, R. 2022, 'Data trusts as a service: Providing a platform for multi-party data sharing', International Journal of Information Management Data Insights, vol. 2, no. 1, p. 100075, &lt;https://doi.org/10.1016/j.jjimei.2022.100075&gt;.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Mazzocca, C., Acar, A., Uluagac, A.S., Montanari, R., Bellavista, P. &amp; Conti, M. 2025, 'A survey on decentralized identifiers and verifiable credentials', IEEE Communications Surveys &amp; Tutorials, vol. 27, no. 6, pp. 3641–3671, &lt;https://doi.org/10.1109/COMST.2025.3543197&gt;.</a:t>
            </a:r>
            <a:endParaRPr lang="en-US" sz="1000" dirty="0"/>
          </a:p>
          <a:p>
            <a:pPr indent="0" marL="0">
              <a:spcAft>
                <a:spcPts val="400"/>
              </a:spcAft>
              <a:buNone/>
            </a:pPr>
            <a:r>
              <a:rPr lang="en-US" sz="1000" dirty="0">
                <a:solidFill>
                  <a:srgbClr val="0B1F33"/>
                </a:solidFill>
              </a:rPr>
              <a:t>McClelland, R. &amp; Harper, C.M. 2023, 'Information privacy in healthcare — the vital role of informed consent', European Journal of Health Law, vol. 30, no. 4, pp. 469–480, &lt;https://doi.org/10.1163/15718093-bja10097&gt;.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Ménétrey, J., Göttel, C., Khurshid, A., Pasin, M., Felber, P., Schiavoni, V. et al. 2022, 'Attestation mechanisms for trusted execution environments demystified', IFIP International Conference on Distributed Applications and Interoperable Systems (DAIS 2022), LNCS, vol. 13272, pp. 95–113, Springer, &lt;https://doi.org/10.1007/978-3-031-16092-9_7&gt;.</a:t>
            </a:r>
            <a:endParaRPr lang="en-US" sz="1000" dirty="0"/>
          </a:p>
          <a:p>
            <a:pPr indent="0" marL="0">
              <a:spcAft>
                <a:spcPts val="400"/>
              </a:spcAft>
              <a:buNone/>
            </a:pPr>
            <a:r>
              <a:rPr lang="en-US" sz="1000" dirty="0">
                <a:solidFill>
                  <a:srgbClr val="0B1F33"/>
                </a:solidFill>
              </a:rPr>
              <a:t>Narkhede, M.R., Wankhede, N.I. &amp; Kamble, A.M. 2025, 'Enhancing patient autonomy in data ownership: Privacy models and consent frameworks for healthcare', Journal of Digital Health, vol. 4, no. 1, pp. 1–23, &lt;https://doi.org/10.55976/jdh.4202513361-23&gt;.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Nassar Kyriakidou, C.D., Papathanasiou, A.M. &amp; Polyzos, G.C. 2023, 'Decentralized identity with applications to security and privacy for the internet of things', Computer Networks and Communications, vol. 1, no. 2, pp. 244–271, &lt;https://doi.org/10.37256/cnc.1220233048&gt;.</a:t>
            </a:r>
            <a:endParaRPr lang="en-US" sz="1000" dirty="0"/>
          </a:p>
          <a:p>
            <a:pPr indent="0" marL="0">
              <a:spcAft>
                <a:spcPts val="400"/>
              </a:spcAft>
              <a:buNone/>
            </a:pPr>
            <a:r>
              <a:rPr lang="en-US" sz="1000" dirty="0">
                <a:solidFill>
                  <a:srgbClr val="0B1F33"/>
                </a:solidFill>
              </a:rPr>
              <a:t>Nazir, A., Rehmani, M.H., Butler, B. &amp; O’Shea, D. 2026, 'Access control in healthcare IoT: A comprehensive survey', Engineering Reports, vol. 8, no. 4, p. e70766, &lt;https://doi.org/10.1002/eng2.70766&gt;.</a:t>
            </a:r>
            <a:endParaRPr lang="en-US" sz="1000" dirty="0"/>
          </a:p>
          <a:p>
            <a:pPr indent="0" marL="0">
              <a:spcAft>
                <a:spcPts val="400"/>
              </a:spcAft>
              <a:buNone/>
            </a:pPr>
            <a:r>
              <a:rPr lang="en-US" sz="1000" dirty="0">
                <a:solidFill>
                  <a:srgbClr val="0B1F33"/>
                </a:solidFill>
              </a:rPr>
              <a:t>Nguyen, T.L., Nguyen, L., Hoang, T., Bandara, D., Wang, Q., Lu, Q. et al. 2025, 'Blockchain-empowered trustworthy data sharing: Fundamentals, applications, and challenges', ACM Computing Surveys, vol. 57, no. 8, p. 195, &lt;https://doi.org/10.1145/3718082&gt;.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Parameswarath, R.P., Gope, P. &amp; Sikdar, B. 2022, 'User-empowered privacy-preserving authentication protocol for electric vehicle charging based on decentralized identity and verifiable credential', ACM Transactions on Management Information Systems, vol. 13, no. 4, p. 44, &lt;https://doi.org/10.1145/3532869&gt;.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Prashanth, M.S., Karnati, R., Velpuru, M.S. &amp; Venkateshwara Reddy, H. 2024, 'Enhancing health record security and privacy with blockchain-based access management', Pervasive Knowledge and Collective Intelligence on Web and Social Media (PerSOM 2023), LNICST, vol. 517, pp. 182–202, Springer, &lt;https://doi.org/10.1007/978-3-031-66044-3_13&gt;.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Sawant, N.M. &amp; Gomes, J. 2026, 'A decentralized solution for smarter and safer healthcare systems with FabricMedChain', Iranian Journal of Science and Technology, Transactions of Electrical Engineering, vol. 50, pp. 2843–2869, &lt;https://doi.org/10.1007/s40998-025-00994-0&gt;.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Shanmugham, M. &amp; Senthilkumar, C. 2026, 'Blockchain enabled self-sovereign identity and consent framework for secure healthcare data access', 2026 3rd International Conference on Emerging Trends in Engineering and Medical Sciences (ICETEMS), pp. 1–6, &lt;https://doi.org/10.1109/ICETEMS66917.2026.11469586&gt;.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Tawfik, A.M., Al-Ahwal, A., Tag Eldien, A.S. &amp; Zayed, H.H. 2025, 'Blockchain-based access control and privacy preservation in healthcare: A comprehensive survey', Cluster Computing, vol. 28, p. 529, &lt;https://doi.org/10.1007/s10586-025-05308-x&gt;.</a:t>
            </a:r>
            <a:endParaRPr lang="en-US" sz="1000" dirty="0"/>
          </a:p>
          <a:p>
            <a:pPr indent="0" marL="0">
              <a:spcAft>
                <a:spcPts val="400"/>
              </a:spcAft>
              <a:buNone/>
            </a:pPr>
            <a:r>
              <a:rPr lang="en-US" sz="1000" dirty="0">
                <a:solidFill>
                  <a:srgbClr val="0B1F33"/>
                </a:solidFill>
              </a:rPr>
              <a:t>Teeda, A. &amp; Subba Rao, Y.V. 2026, 'A patient-centric blockchain based electronic health records for data privacy and confidentiality', International Conference on Smart Computing and Informatics, LNNS, vol. 1684, pp. 179–192, Springer, &lt;https://doi.org/10.1007/978-3-032-08246-6_15&gt;.</a:t>
            </a:r>
            <a:endParaRPr lang="en-US" sz="1000" dirty="0"/>
          </a:p>
          <a:p>
            <a:pPr indent="0" marL="0">
              <a:spcAft>
                <a:spcPts val="400"/>
              </a:spcAft>
              <a:buNone/>
            </a:pPr>
            <a:r>
              <a:rPr lang="en-US" sz="1000" dirty="0">
                <a:solidFill>
                  <a:srgbClr val="0B1F33"/>
                </a:solidFill>
              </a:rPr>
              <a:t>Theodorakopoulos, L., Theodoropoulou, A. &amp; Halkiopoulos, C. 2024, 'Enhancing decentralized decision-making with big data and blockchain technology: A comprehensive review', Applied Sciences, vol. 14, no. 16, p. 7007, &lt;https://doi.org/10.3390/app14167007&gt;.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Turan, M.N., Hashimzai, I.A. &amp; Qiam, M.Q. 2025, 'A blockchain-based framework for secure and transparent environmental data sharing in smart cities: Enhancing trust, integrity, and interoperability in urban sustainability systems', Nata Palemahan: Journal of Environmental Engineering Innovations, vol. 2, no. 2, pp. 70–79, &lt;https://doi.org/10.38043/natapalemahan.v2i2.6996&gt;.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Webber, E.C., Brick, D., Scibilia, J.P., Dehnel, P., Council on Clinical Information Technology et al. 2019, 'Electronic communication of the health record and information with pediatric patients and their guardians', Pediatrics, vol. 144, no. 1, p. e20191359, &lt;https://doi.org/10.1542/peds.2019-1359&gt;.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(7/7)</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Welzel, C., Ostermann, M., Smith, H.L., Minssen, T., Kirsten, T. &amp; Gilbert, S. 2025, 'Enabling secure and self determined health data sharing and consent management', npj Digital Medicine, vol. 8, no. 1, p. 560, &lt;https://doi.org/10.1038/s41746-025-01945-z&gt;.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Yin, H., Zhao, Y., Zhang, L., Qiao, B., Chen, W. &amp; Wang, H. 2024, 'Attribute-based searchable encryption with decentralized key management for healthcare data sharing', Journal of Systems Architecture, vol. 148, p. 103081, &lt;https://doi.org/10.1016/j.sysarc.2024.103081&gt;.</a:t>
            </a:r>
            <a:endParaRPr lang="en-US" sz="1000" dirty="0"/>
          </a:p>
          <a:p>
            <a:pPr indent="0" marL="0">
              <a:spcAft>
                <a:spcPts val="400"/>
              </a:spcAft>
              <a:buNone/>
            </a:pPr>
            <a:r>
              <a:rPr lang="en-US" sz="1000" dirty="0">
                <a:solidFill>
                  <a:srgbClr val="0B1F33"/>
                </a:solidFill>
              </a:rPr>
              <a:t>Yin, J., Xiao, Y., Chen, Q., Lim, Y.Z., Liu, X., Pei, Q. et al. 2025, 'DP-DID: A dynamic and proactive decentralized identity system', IEEE Transactions on Information Forensics and Security, vol. 20, pp. 4999–5014, &lt;https://doi.org/10.1109/TIFS.2025.3561662&gt;.</a:t>
            </a:r>
            <a:endParaRPr lang="en-US" sz="1000" dirty="0"/>
          </a:p>
          <a:p>
            <a:pPr indent="0" marL="0">
              <a:spcAft>
                <a:spcPts val="400"/>
              </a:spcAft>
              <a:buNone/>
            </a:pPr>
            <a:r>
              <a:rPr lang="en-US" sz="1000" dirty="0">
                <a:solidFill>
                  <a:srgbClr val="0B1F33"/>
                </a:solidFill>
              </a:rPr>
              <a:t>Zhang, L., Kan, H. &amp; Huang, H. 2022, 'Patient-centered cross-enterprise document sharing and dynamic consent framework using consortium blockchain and ciphertext-policy attribute-based encryption', Proceedings of the 19th ACM International Conference on Computing Frontiers (CF ’22), pp. 58–66, &lt;https://doi.org/10.1145/3528416.3530228&gt;.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2026-10-07T13:45:32Z</dcterms:created>
  <dcterms:modified xsi:type="dcterms:W3CDTF">2026-10-07T13:45:32Z</dcterms:modified>
</cp:coreProperties>
</file>
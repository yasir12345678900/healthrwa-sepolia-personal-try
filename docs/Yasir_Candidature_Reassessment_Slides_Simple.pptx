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5648a2e8-dd26-8bfa-65f3-c0075ca799a8}">
          <p14:sldIdLst>
            <p14:sldId id="256"/>
            <p14:sldId id="257"/>
          </p14:sldIdLst>
        </p14:section>
        <p14:section name="The Problem" id="{bd7d522c-4025-f625-f817-b35d53897628}">
          <p14:sldIdLst>
            <p14:sldId id="258"/>
            <p14:sldId id="259"/>
          </p14:sldIdLst>
        </p14:section>
        <p14:section name="Literature Review" id="{bf2d2abc-0b2b-e4f6-dd91-984128f9eb86}">
          <p14:sldIdLst>
            <p14:sldId id="260"/>
            <p14:sldId id="261"/>
          </p14:sldIdLst>
        </p14:section>
        <p14:section name="Gap, Questions and Objectives" id="{f6dd1283-de09-2d50-f3d2-d772cc194363}">
          <p14:sldIdLst>
            <p14:sldId id="262"/>
            <p14:sldId id="263"/>
            <p14:sldId id="264"/>
            <p14:sldId id="265"/>
          </p14:sldIdLst>
        </p14:section>
        <p14:section name="The Framework" id="{0ca8255e-c106-0dae-d338-8178ad448c55}">
          <p14:sldIdLst>
            <p14:sldId id="266"/>
            <p14:sldId id="267"/>
            <p14:sldId id="268"/>
            <p14:sldId id="269"/>
            <p14:sldId id="270"/>
            <p14:sldId id="271"/>
            <p14:sldId id="272"/>
            <p14:sldId id="273"/>
          </p14:sldIdLst>
        </p14:section>
        <p14:section name="Validation and Evaluation" id="{e07cf536-bda1-5f32-efda-6b61aa11c4de}">
          <p14:sldIdLst>
            <p14:sldId id="274"/>
            <p14:sldId id="275"/>
            <p14:sldId id="276"/>
            <p14:sldId id="277"/>
          </p14:sldIdLst>
        </p14:section>
        <p14:section name="Contribution" id="{cfda07a1-cd0f-c9cc-4c9c-2df586271869}">
          <p14:sldIdLst>
            <p14:sldId id="278"/>
            <p14:sldId id="279"/>
            <p14:sldId id="280"/>
            <p14:sldId id="281"/>
          </p14:sldIdLst>
        </p14:section>
        <p14:section name="What is Still Open" id="{f2795033-ee11-fa52-fc57-34b76de29f78}">
          <p14:sldIdLst>
            <p14:sldId id="282"/>
          </p14:sldIdLst>
        </p14:section>
        <p14:section name="Research Plan" id="{7283ec09-923f-aaaf-d592-d41c7435436d}">
          <p14:sldIdLst>
            <p14:sldId id="283"/>
            <p14:sldId id="284"/>
          </p14:sldIdLst>
        </p14:section>
        <p14:section name="Demo: The HALAH Prototype" id="{c9b047fa-dc53-2b73-9d80-155275498b04}">
          <p14:sldIdLst>
            <p14:sldId id="285"/>
            <p14:sldId id="286"/>
            <p14:sldId id="287"/>
            <p14:sldId id="288"/>
            <p14:sldId id="289"/>
            <p14:sldId id="290"/>
            <p14:sldId id="291"/>
            <p14:sldId id="292"/>
          </p14:sldIdLst>
        </p14:section>
        <p14:section name="References" id="{ec50c2c3-9729-2252-44ba-f940ffdb02d0}">
          <p14:sldIdLst>
            <p14:sldId id="293"/>
            <p14:sldId id="294"/>
            <p14:sldId id="295"/>
          </p14:sldIdLst>
        </p14:section>
        <p14:section name="Thank You" id="{c98aa7dd-1806-ce4d-3497-88dc946e888b}">
          <p14:sldIdLst>
            <p14:sldId id="2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asks one simple question. When a doctor asks for a patient's data, how can the system be sure that this request is really allowed? Not just who is asking. Also, did the patient and the guardians agree? Is the request inside the agreed data? And is the consent still valid today? I will show you the problem, what the literature says,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for my talk. First, the problem. Then the literature review. Then the gap, the questions and the objectives. After that, the framework and its six steps. Then the validation and the evaluation results, and the significance of the research. Then I talk about what is still open and the research plan. At the end, I show a short demonstration of the prototype through the slides, with real prototype screens from 24 September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Health data is very sensitive. One decision to share it can involve many people: the patient, one or more guardians, the doctor, and the hospital. Today, consent is usually just a record that is saved somewhere. That record says permission was given. But it does not check anything when someone asks for the data. A valid login does not mean you have the right to see this patient's data. And even with approval, a request can ask for more data than the patient allowed, or it can come after the consent has expired or has been cancelled. So the real problem is this: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my answer in simple words. Consent should not be a record that we store. It should be an object that the system checks every time. I call this object C, and it has six parts. I is identity: who is involved. A is authorisation: which guardians must approve, and how many. P is policy: the purpose and the data that was agreed. T is time: when the consent starts and when it ends. L is lifecycle: the state of the consent, from creation to expiry or revocation. And E is evidence: the signatures, the token, and whether the consent was cancelled. At every request, the system checks all six parts. If one part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I did the literature review. I followed the PRISMA 2020 method. Before I started screening, I wrote a protocol that fixed the questions, the databases, one search query, the criteria and the quality items. I searched seven databases. They gave me 9,256 records. After I removed duplicates, 6,039 were screened by title. 3,129 went on to the abstract stage, and 2,541 of them were screened. Then 1,800 full texts were put in order of priority.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review. The good news: every requirement is covered by some study. The problem: no study puts all the conditions together in one access decision. I call this the conjunction gap. And no study proves or tests the whole decision. Formal proofs exist in only 4 of the 25 studies, and they cover only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this is my main research question. How can a trust-oriented computing framework establish and enforce trustworthy multi-party consent for decentralised healthcare data sharing, under identity, authority and policy constraints? It has six sub-questions. How to model consent. How to check identity and authority. How several guardians can approve together. How purpose and scope are checked. How time and lifecycle are checked. And how to prove and test the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they are validated with the prototype. RO5 is time and lifecycle. It is in progress. The validity window and the revocation already work. The suspended state, the transition check, consent changes, delegation and guardian changes are for the next stage. RO6 is partly completed. The automated tests, the attack tests and the measurements are done.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Step one, I identified the problem. Step two, I did the systematic review. Step three, from the review I found the research gap and wrote the questions. Step four, I set the objectives. Step five, I designed the framework: the architecture, the consent object, and four algorithms. Step six, I built the prototype on the Sepolia test network. Step seven, I evaluated it with live scenarios, measurements and attack tests. The formal proofs are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screens: patient, guardian, doctor and auditor. The View never decides who gets access. Every security decision is made in the Controller. It checks identity and authority, collects the approvals, enforces the policy, and records the evidence. The Model keeps the consent, the approvals and the evidence. Health data is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is identity and authority validity. VA is collective authorisation validity: all the required guardians approved. VP is policy and contextual compliance: the purpose and the requested data are inside what was agreed. VT is temporal validity: the request is inside the validity time. VL is consent lifecycle validity: the consent is in a valid state, for example active and not revoked. If any one check fails, the answer is DENY. In the prototype, a Groth16 zero-knowledge proof must also pass before any data is released. And every access decision, allowed or denied, is written to the off-chain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and the start and end time. The system checks every field. For example, an empty data scope or a bad guardian DID is rejected. Then the system creates the consent object, assigns a consent identifier, persists the record, and records the creation event in the audit layer. Nothing goes to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question. The credential answers the second. A valid identity alone never gives access. In the HALAH implementation, the guardian workflow uses a selected guardian DID and invokes VC verification before adding the guardian's signature to the consent. Full DID resolution is planned for the next stage. So RO2 is done at the design level and in the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that this person is one of the listed guardians. Outsiders and duplicates are not counted, and a signature replayed from another consent fails the identity check. In the demo, two of two guardians must sign. When both have signed, a soulbound token is minted on the Sepolia test network in the background. One honest note: in the prototype, the guardian keys are derived from the guardian DIDs. Wallet-held keys are for the next stage.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the approvals are still not enough. The requested data must be inside the agreed data scope. For example, if the consent allows Observation and Medication, a request that also asks for Procedure is denied. The purpose, the time and the lifecycle state are checked in the same decision. And a Groth16 proof must pass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In the design, L is the lifecycle state: created, pending, active, suspended, revoked or expired, and VL checks a valid state and a valid transition. What is still open: the suspended state,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46 automated tests pass, including thirteen attack scenarios. I also measured the cost and the timing. The proof part is the next stage: formal proofs or model checking of the security properties, and a bigger evaluation under load. That is why RO6 is partly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one question: does the system do what it should? I used five kinds of evidence. Valid scenarios: the correct requests were allowed. Negative scenarios: the cancelled consent was refused. Attack scenarios: twelve of thirteen attacks are refused. Automated tests: all 46 pass. And an independent check: the state on the chain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taken directly from the audit ledger of 24 September. Each row is one real request, with the five checks and the decision. All five rows are allowed requests: all five checks PASS, the decision is ALLOW, access is GRANTED, and the proof mode is Groth16. The request after revocation is not in this table, because on 24 September a consent that was no longer active was refused before any decision was logged. The prototype now logs these refusals too. The revocation is public on Sepolia in block 11,771,307.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thirteen times, A1 to A13. This table shows each attack, the part of the consent it targets, and the outcome before and after the hardening on the first of October. Before the hardening, three attacks got through when the service functions were called directly: A1, a signer outside the guardian set; A3, the same guardian signing twice; and A5, an empty data scope. The interface already refused them, but the service layer did not. The hardening moved these checks into the service layer, so now they are refused on every path. After the hardening, eleven of the first twelve are refused. A13, an invalid or forged credential, came with the credential check on 11 October 2026 and is refused too; before that change, a requester without a valid credential was accepted. A11 rewrites the result of a recorded audit event, so the event's digest changes. Nothing in the prototype checks that digest yet, so it is marked as differs: neutral, not refused. It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five checks of the decision rule take about 6 microseconds, and checking one credential about 6 milliseconds. Checking one guardian signature takes about 11 milliseconds. The Groth16 proof is the slowest part of an access request: about 1.4 seconds to generate and about half a second to verify. Anchoring on Sepolia takes about 11.5 seconds. The mint runs in the background, so the guardians and the doctor do not wait for it; only a revoke makes the patient wait for the block. For token 1, the revoke used about one sixth of the gas of its mint. The timings were measured on the first of October 2026; the decision rule and the credential check on the eleventh of October, after the credential check was added. The gas and the anchoring times come from the five Sepolia transactions in September. These numbers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words. Today, a central identity provider logs you in, and a fixed permission decides. Consent is a saved record. In HALAH, every person has a DID, and identity is separate from authority. Consent is an object that is checked at every request. All the guardians must approve. Five checks and a proof run before any data is released. Time and revocation are checked every time. And every access decision, allowed or denied, is logged off-chain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the data. I use synthetic patient records from the Synthea 1K sample, in its CSV export. The prototype loads a subset of patients with their observations, conditions, medications and procedures. No real patient data is involved. The medical records stay off-chain. The token on Sepolia stores pseudonymous addresses, a hash of the purpose, the validity window and a revocation flag. Data is released only on ALLOW, and only inside the agreed scope. One known limitation: the plain-text purpose is visible in the mint transaction. I will fix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research matter? On the scientific side, it shifts the focus from whether consent has merely been recorded to whether a data-access decision was made under sufficient and independently verifiable trust conditions. It brings identity, authority, multi-party approval, policy, time and lifecycle together in one decision at every request. Every listed guardian must sign, so no single party can authorise alone. And the work rests on a PRISMA 2020 review of 25 studies and a working prototype on Sepolia, measured and tested with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social side, patients and their guardians decide together who can see the patient's data. No single person can approve access alone. Every access decision can be explained to an auditor: which check passed and which failed. Medical records never go on the blockchain; only consent evidence is shared. And this can support trust between hospitals and other independent parties.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full DID resolution, proof that the person controls the DID they enter, and wallet-held guardian keys. Today the credentials come from one demo issuer, and the guardian keys are derived from the guardian DIDs. Second, the plain-text purpose in the mint transaction. Third, the rest of the lifecycle: the suspended state, the lifecycle transition check, consent modification, delegation and guardian changes. Fourth, the formal proofs. The properties are tested, but not yet proved with a formal model. Fifth, the one open attack, A11: nothing checks the audit digest yet. Sixth, a bigger evaluation under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one to six are done. The conference paper was submitted to BWCCA 2026 in September. The SLR journal paper is in progress. Next comes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plan as a timeline. What is completed, what is in progress, and the planned steps up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demo. I show it through real screens from the prototype. All the prototype screens were taken on 24 September 2026.
HALAH means History Access Link for Authorised Healthcare. The boxes show its parts: four screens, a smart contract on the Sepolia test network, guardian signatures, an access proof, synthetic data, and an audit ledger.
The demo follows the steps of a consent.
First, the patient creates the consent. This is RO1.
Second, the two guardians sign it, and the consent goes on Sepolia. This is RO2 and RO3.
Third, the doctor asks for the data. The system runs five checks, and then it shows only the agreed records. This is RO2 and RO4.
Fourth, the auditor follows the recorded steps in the ledger. This is part of RO6.
The last demo slide is about revocation, RO5. It is optional. I show it if there 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patient screen. The picture is shown in two parts.
First, the patient chooses a patient DID from the list. Then the patient types the doctor's DID, did:hospital:001.
Second, the patient adds two guardians: parent A and parent B.
Third, the patient chooses the data that the doctor may see. Here there are four modules: Observation, Medication, Condition and Procedure. The patient also sets the end date, 31 October 2026.
Fourth, the patient presses the Initial Consent button. The system saves the consent off-chain and gives it an ID, 04da25f5.
At the bottom, you can see the state: PENDING_SIGNATURE, with zero of two signatures. Nothing is on the blockchain yet. The consent goes on the chain only after both guardians sign.
This is RO1: the consent is an object that the system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guardian screen.
First, the guardian types the consent ID, 04da25f5. The system finds the consent and shows the patient's DID.
Second, the guardian chooses a guardian DID from the list, did:parent:A.
Third, the guardian presses the Sign button and signs with an EIP-712 signature. The system checks the signature and finds the address that signed it. You can see the start of that address in the green box.
Fourth, the counter shows one of two. One signature is not enough, so the consent is still waiting for the second guardian.
This is RO2, because the system checks which guardian key signed, and RO3, because more than one guardian must agree.
Possible question: The button says via VC. Was a credential checked? Not in this September version. It checked only the form of the DID. The credential check was added on 11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guardian screen two times.
First, on the left, the second guardian, did:parent:B, signs. The system checks the signature. Now the counter shows two of two, so both guardians have agreed.
Second, the system records the soulbound token for this consent. Then it mints the token on the Sepolia test network in the background, so the guardian does not have to wait.
Third, on the right is the same screen, a little later. It says: already anchored on Sepolia, token number 2.
Now the consent is approved by both guardians, and it is on the blockchain. This completes RO3.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for the same consent, 04da25f5. The picture is shown in two parts.
First, the doctor opens the consent. At the top, you can see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doctor may ask only for data inside the agreed scope. On this screen, the purpose is checked. The scope is checked when the doctor asks for the data, on the next slide. VT checks the dates.
Third, all five checks show PASS, so ALLOW is also PASS. The consent state is ACTIVE.
The Groth16 proof is not on this screen. It is checked when the doctor asks for the data, and the ledger records that it was verified.
This is RO2 and RO4 together, in one decision.
Possible question: Is this the same code as today? No. These screens are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doctor screen after the decision.
First, after ALLOW, the doctor asks for the four modules. The system checks the Groth16 proof and the requested scope. You cannot see this on the screen, but the ledger rows for these requests say: proof verified, scope valid. Then the screen shows Authorised Medical Records. There is one table for each data module.
Second, on the left, you can see Observation and Medication. On the right, you can see Condition and Procedure. All the rows belong to the same patient.
Third, these are exactly the four modules in the consent. The doctor gets nothing outside them. If the doctor asked for a module outside the consent, the request would be refused. Attack test A4 checks this.
The records are synthetic Synthea data, so no real patient is shown. This is RO4.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auditor screen. It shows the audit ledger as a table. Each row is one event, with its time.
This table is for another consent from the same day, f050c29a. It has token number 1. It went through the same steps as the consent you just saw. I use it here because this is the consent that the patient later revoked. The optional next slide shows that.
First, row 36: the patient creates the consent.
Second, rows 37 and 38: guardian A and guardian B sign.
Third, rows 39 and 40: the token is recorded, and then it is anchored on Sepolia. You can see the start of the transaction hash and the block number, 11,771,243.
Fourth, rows 41 to 44: the system checks the consent. It is ACTIVE and all five checks pass, so the doctor gets access. This happens two times.
Rows 45 and 46 are not in this picture. They record one more request from the doctor, and the system refused it.
So the auditor can follow the recorded steps, in order. This is the working part of RO6: evidence that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optional. I show it if there is time. It is about RO5: revocation. It is the same consent as on the previous slide, f050c29a.
First, at the top is the audit ledger. In row 47, the patient revokes the consent. In row 48, the revoke transaction is sent to Sepolia. It is in block 11,771,307.
Second, at the bottom left is the same transaction on Sepolia Etherscan. This is a public page. I opened it some days later, so it says 9 days ago. The action is Revoke, the status is Success, and the block is 11,771,307, on 24 September 2026.
Third, at the bottom right, the doctor opens the consent again. The screen says: Consent is not active. Current state: REVOKED. The doctor cannot see the data. On 24 September, this refusal was not yet written to the ledger. Now, when the doctor presses Request Data Access, the prototype writes this refusal to the ledger.
So after the patient revokes, the consent cannot be used any more, and anyone can check the revoke transaction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I used in this talk. They follow the UTS Harvard style, so they are listed by author name, not by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stays off-chain? Because it gives a shared record that cannot be changed quietly: the consent state and the revocation. No medical data is on the chain.
2. What is new? The consent object carries all the conditions. Multi-party approval is a condition of every access. And the whole decision is tested against attacks.
3. Why is RO6 only partly done? The testing is done. The formal proofs are the next stage.
4. Why Groth16? The prototype proves that it knows the secret and the expiry behind a Poseidon commitment, and that the consent has not expired, without showing them. Today the prover and the verifier run on the same server, so this shows that the zero-knowledge step works; it is not yet an extra privacy guarantee. It is the slowest part of an access request, about 1.4 seconds, and that is fine for a consent decision.
5. Why did three attacks pass before the hardening? They passed only when the service functions were called directly, not through the screens. The hardening moved the checks into the service layer, so now they are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slideLayout" Target="../slideLayouts/slideLayout2.xml"/><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DEMO: 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sation"/>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sation"/>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Authorisation</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Lifecycle"/>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Lifecycle"/>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Lifecycle</a:t>
            </a:r>
            <a:endParaRPr lang="en-US" sz="1900" dirty="0"/>
          </a:p>
          <a:p>
            <a:pPr indent="0" marL="0">
              <a:spcAft>
                <a:spcPts val="400"/>
              </a:spcAft>
              <a:buNone/>
            </a:pPr>
            <a:r>
              <a:rPr lang="en-US" sz="1600" dirty="0">
                <a:solidFill>
                  <a:srgbClr val="0B1F33"/>
                </a:solidFill>
              </a:rPr>
              <a:t>The state of the consent, from creation to expiry or revocation.</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0B2A4A"/>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7" name="card text RQ1"/>
          <p:cNvSpPr txBox="1"/>
          <p:nvPr/>
        </p:nvSpPr>
        <p:spPr>
          <a:xfrm>
            <a:off x="86868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10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8" name="card RQ2"/>
          <p:cNvSpPr/>
          <p:nvPr/>
        </p:nvSpPr>
        <p:spPr>
          <a:xfrm>
            <a:off x="434340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9" name="card text RQ2"/>
          <p:cNvSpPr txBox="1"/>
          <p:nvPr/>
        </p:nvSpPr>
        <p:spPr>
          <a:xfrm>
            <a:off x="448056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10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10" name="card RQ3"/>
          <p:cNvSpPr/>
          <p:nvPr/>
        </p:nvSpPr>
        <p:spPr>
          <a:xfrm>
            <a:off x="7955280" y="2606040"/>
            <a:ext cx="3429000" cy="1828800"/>
          </a:xfrm>
          <a:prstGeom prst="roundRect">
            <a:avLst>
              <a:gd name="adj" fmla="val 5000"/>
            </a:avLst>
          </a:prstGeom>
          <a:solidFill>
            <a:srgbClr val="FFFFFF">
              <a:alpha val="92000"/>
            </a:srgbClr>
          </a:solidFill>
          <a:ln w="19050">
            <a:solidFill>
              <a:srgbClr val="1FB5D6"/>
            </a:solidFill>
            <a:prstDash val="solid"/>
          </a:ln>
        </p:spPr>
      </p:sp>
      <p:sp>
        <p:nvSpPr>
          <p:cNvPr id="11" name="card text RQ3"/>
          <p:cNvSpPr txBox="1"/>
          <p:nvPr/>
        </p:nvSpPr>
        <p:spPr>
          <a:xfrm>
            <a:off x="8092440" y="269748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10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2" name="card RQ4"/>
          <p:cNvSpPr/>
          <p:nvPr/>
        </p:nvSpPr>
        <p:spPr>
          <a:xfrm>
            <a:off x="73152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3" name="card text RQ4"/>
          <p:cNvSpPr txBox="1"/>
          <p:nvPr/>
        </p:nvSpPr>
        <p:spPr>
          <a:xfrm>
            <a:off x="86868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10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4" name="card RQ5"/>
          <p:cNvSpPr/>
          <p:nvPr/>
        </p:nvSpPr>
        <p:spPr>
          <a:xfrm>
            <a:off x="434340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5" name="card text RQ5"/>
          <p:cNvSpPr txBox="1"/>
          <p:nvPr/>
        </p:nvSpPr>
        <p:spPr>
          <a:xfrm>
            <a:off x="448056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10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6" name="card RQ6"/>
          <p:cNvSpPr/>
          <p:nvPr/>
        </p:nvSpPr>
        <p:spPr>
          <a:xfrm>
            <a:off x="7955280" y="4526280"/>
            <a:ext cx="3429000" cy="1828800"/>
          </a:xfrm>
          <a:prstGeom prst="roundRect">
            <a:avLst>
              <a:gd name="adj" fmla="val 5000"/>
            </a:avLst>
          </a:prstGeom>
          <a:solidFill>
            <a:srgbClr val="FFFFFF">
              <a:alpha val="92000"/>
            </a:srgbClr>
          </a:solidFill>
          <a:ln w="19050">
            <a:solidFill>
              <a:srgbClr val="1FB5D6"/>
            </a:solidFill>
            <a:prstDash val="solid"/>
          </a:ln>
        </p:spPr>
      </p:sp>
      <p:sp>
        <p:nvSpPr>
          <p:cNvPr id="17" name="card text RQ6"/>
          <p:cNvSpPr txBox="1"/>
          <p:nvPr/>
        </p:nvSpPr>
        <p:spPr>
          <a:xfrm>
            <a:off x="8092440" y="4617720"/>
            <a:ext cx="3154680" cy="164592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10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RO1: </a:t>
            </a:r>
            <a:r>
              <a:rPr lang="en-US" sz="1700" b="1" i="1" dirty="0">
                <a:solidFill>
                  <a:srgbClr val="1FB5D6"/>
                </a:solidFill>
              </a:rPr>
              <a:t>Trust-Centric Consent Model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a:t>
            </a:r>
            <a:r>
              <a:rPr lang="en-US" sz="1600" dirty="0">
                <a:solidFill>
                  <a:srgbClr val="FFFFFF"/>
                </a:solidFill>
              </a:rPr>
              <a:t>and</a:t>
            </a:r>
            <a:r>
              <a:rPr lang="en-US" sz="1600" dirty="0">
                <a:solidFill>
                  <a:srgbClr val="FFFFFF"/>
                </a:solidFill>
              </a:rPr>
              <a:t> the start and expiry time.</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system creates the consent object, assigns a consent identifier, persists the record, and records the creation event in the audit layer.</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8156448" y="1005840"/>
            <a:ext cx="2706624" cy="5532120"/>
          </a:xfrm>
          <a:prstGeom prst="roundRect">
            <a:avLst>
              <a:gd name="adj" fmla="val 405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267612" y="1115568"/>
            <a:ext cx="248429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RO2: </a:t>
            </a:r>
            <a:r>
              <a:rPr lang="en-US" sz="1700" b="1" i="1" dirty="0">
                <a:solidFill>
                  <a:srgbClr val="1FB5D6"/>
                </a:solidFill>
              </a:rPr>
              <a:t>Decentralised Identity and Authority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HALAH implementation, the Guardian workflow uses a selected guardian DID and invokes VC verification before adding the guardian's signature to the consent.</a:t>
            </a:r>
            <a:endParaRPr lang="en-US" sz="1600" dirty="0"/>
          </a:p>
          <a:p>
            <a:pPr marL="342900" indent="-342900">
              <a:spcAft>
                <a:spcPts val="1000"/>
              </a:spcAft>
              <a:buSzPct val="100000"/>
              <a:buChar char="•"/>
            </a:pPr>
            <a:r>
              <a:rPr lang="en-US" sz="1600" dirty="0">
                <a:solidFill>
                  <a:srgbClr val="FFFFFF"/>
                </a:solidFill>
              </a:rPr>
              <a:t>Full DID resolution </a:t>
            </a:r>
            <a:r>
              <a:rPr lang="en-US" sz="1600" dirty="0">
                <a:solidFill>
                  <a:srgbClr val="FFFFFF"/>
                </a:solidFill>
              </a:rPr>
              <a:t>is</a:t>
            </a:r>
            <a:r>
              <a:rPr lang="en-US" sz="1600" dirty="0">
                <a:solidFill>
                  <a:srgbClr val="FFFFFF"/>
                </a:solidFill>
              </a:rPr>
              <a:t> planned for the next stage.</a:t>
            </a:r>
            <a:endParaRPr lang="en-US" sz="1600" dirty="0"/>
          </a:p>
        </p:txBody>
      </p:sp>
      <p:sp>
        <p:nvSpPr>
          <p:cNvPr id="8" name="F12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726707" y="1115568"/>
            <a:ext cx="3566106"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RO3: </a:t>
            </a:r>
            <a:r>
              <a:rPr lang="en-US" sz="1700" b="1" i="1" dirty="0">
                <a:solidFill>
                  <a:srgbClr val="1FB5D6"/>
                </a:solidFill>
              </a:rPr>
              <a:t>Trustworthy Multi-Party Authorisation</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and duplicates are not counted; a signature replayed from another consent fails the identity check.</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89891" y="1115568"/>
            <a:ext cx="3439738"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RO4: </a:t>
            </a:r>
            <a:r>
              <a:rPr lang="en-US" sz="1700" b="1" i="1" dirty="0">
                <a:solidFill>
                  <a:srgbClr val="1FB5D6"/>
                </a:solidFill>
              </a:rPr>
              <a:t>Policy- and Context-Aware Access Control</a:t>
            </a:r>
            <a:endParaRPr lang="en-US" sz="17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a:t>
            </a:r>
            <a:r>
              <a:rPr lang="en-US" sz="1600" dirty="0">
                <a:solidFill>
                  <a:srgbClr val="FFFFFF"/>
                </a:solidFill>
              </a:rPr>
              <a:t>the lifecycle state</a:t>
            </a:r>
            <a:r>
              <a:rPr lang="en-US" sz="1600" dirty="0">
                <a:solidFill>
                  <a:srgbClr val="FFFFFF"/>
                </a:solidFill>
              </a:rPr>
              <a:t>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8321040" y="1005840"/>
            <a:ext cx="2386584" cy="5532120"/>
          </a:xfrm>
          <a:prstGeom prst="roundRect">
            <a:avLst>
              <a:gd name="adj" fmla="val 459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432181" y="1115568"/>
            <a:ext cx="2164301"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RO5: </a:t>
            </a:r>
            <a:r>
              <a:rPr lang="en-US" sz="1700" b="1" i="1" dirty="0">
                <a:solidFill>
                  <a:srgbClr val="1FB5D6"/>
                </a:solidFill>
              </a:rPr>
              <a:t>Temporal and Lifecycle Trust</a:t>
            </a:r>
            <a:endParaRPr lang="en-US" sz="17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Design: L is the lifecycle state (CREATED, PENDING, ACTIVE, SUSPENDED, REVOKED, EXPIRED), checked by VL(C) = ValidState(C) ∧ ValidTransition(C).</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a:t>
            </a:r>
            <a:r>
              <a:rPr lang="en-US" sz="1600" dirty="0">
                <a:solidFill>
                  <a:srgbClr val="FFFFFF"/>
                </a:solidFill>
              </a:rPr>
              <a:t>the SUSPENDED state,</a:t>
            </a:r>
            <a:r>
              <a:rPr lang="en-US" sz="1600" dirty="0">
                <a:solidFill>
                  <a:srgbClr val="FFFFFF"/>
                </a:solidFill>
              </a:rPr>
              <a:t> the lifecycle transition check, consent modification, delegation, guardian-set changes and a formal lifecycle model.</a:t>
            </a:r>
            <a:endParaRPr lang="en-US" sz="1600" dirty="0"/>
          </a:p>
        </p:txBody>
      </p:sp>
      <p:sp>
        <p:nvSpPr>
          <p:cNvPr id="8" name="F35 panel"/>
          <p:cNvSpPr/>
          <p:nvPr/>
        </p:nvSpPr>
        <p:spPr>
          <a:xfrm>
            <a:off x="7964424" y="1005840"/>
            <a:ext cx="3099816" cy="5532120"/>
          </a:xfrm>
          <a:prstGeom prst="roundRect">
            <a:avLst>
              <a:gd name="adj" fmla="val 354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074719" y="1115568"/>
            <a:ext cx="287922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1700" b="1" i="1" dirty="0">
                <a:solidFill>
                  <a:srgbClr val="1FB5D6"/>
                </a:solidFill>
              </a:rPr>
              <a:t>RO6: </a:t>
            </a:r>
            <a:r>
              <a:rPr lang="en-US" sz="1700" b="1" i="1" dirty="0">
                <a:solidFill>
                  <a:srgbClr val="1FB5D6"/>
                </a:solidFill>
              </a:rPr>
              <a:t>Formal Security Assurance and Empirical Validation</a:t>
            </a:r>
            <a:endParaRPr lang="en-US" sz="17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46 automated tests pass, including 13 attack scenarios A1 to A13.</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810512"/>
            <a:ext cx="4023360" cy="3922776"/>
          </a:xfrm>
          <a:prstGeom prst="roundRect">
            <a:avLst>
              <a:gd name="adj" fmla="val 279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8271" y="1920240"/>
            <a:ext cx="3802979" cy="3703320"/>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THE RECORDED DECISIONS</a:t>
            </a:r>
            <a:endParaRPr lang="en-US" sz="3000" dirty="0"/>
          </a:p>
        </p:txBody>
      </p:sp>
      <p:graphicFrame>
        <p:nvGraphicFramePr>
          <p:cNvPr id="21" name="ledger table"/>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1280160"/>
                <a:gridCol w="2286000"/>
                <a:gridCol w="777240"/>
                <a:gridCol w="777240"/>
                <a:gridCol w="777240"/>
                <a:gridCol w="777240"/>
                <a:gridCol w="777240"/>
                <a:gridCol w="1097280"/>
                <a:gridCol w="1188720"/>
                <a:gridCol w="1325880"/>
              </a:tblGrid>
              <a:tr h="502920">
                <a:tc>
                  <a:txBody>
                    <a:bodyPr/>
                    <a:lstStyle/>
                    <a:p>
                      <a:pPr algn="ctr" indent="0" marL="0">
                        <a:buNone/>
                      </a:pPr>
                      <a:r>
                        <a:rPr lang="en-US" sz="1300" b="1" dirty="0">
                          <a:solidFill>
                            <a:srgbClr val="FFFFFF"/>
                          </a:solidFill>
                        </a:rPr>
                        <a:t>Time (24 Sep)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VI</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VP</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VL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Access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300" b="1" dirty="0">
                          <a:solidFill>
                            <a:srgbClr val="FFFFFF"/>
                          </a:solidFill>
                        </a:rPr>
                        <a:t>Proof</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02920">
                <a:tc>
                  <a:txBody>
                    <a:bodyPr/>
                    <a:lstStyle/>
                    <a:p>
                      <a:pPr indent="0" marL="0">
                        <a:buNone/>
                      </a:pPr>
                      <a:r>
                        <a:rPr lang="en-US" sz="1300" b="1" dirty="0">
                          <a:solidFill>
                            <a:srgbClr val="0B1F33"/>
                          </a:solidFill>
                        </a:rPr>
                        <a:t>09:51:36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09:51:39</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f050c29a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11:02:52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0B1F33"/>
                          </a:solidFill>
                        </a:rPr>
                        <a:t>11:04:26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04da25f5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PASS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ALLOW</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32"/>
                          </a:solidFill>
                        </a:rPr>
                        <a:t>GRANTED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groth16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bullets"/>
          <p:cNvSpPr txBox="1"/>
          <p:nvPr/>
        </p:nvSpPr>
        <p:spPr>
          <a:xfrm>
            <a:off x="640080" y="4892040"/>
            <a:ext cx="10881360" cy="1554480"/>
          </a:xfrm>
          <a:prstGeom prst="rect">
            <a:avLst/>
          </a:prstGeom>
          <a:noFill/>
          <a:ln/>
        </p:spPr>
        <p:txBody>
          <a:bodyPr wrap="square" rtlCol="0" anchor="t"/>
          <a:lstStyle/>
          <a:p>
            <a:pPr marL="342900" indent="-342900">
              <a:spcAft>
                <a:spcPts val="1000"/>
              </a:spcAft>
              <a:buSzPct val="100000"/>
              <a:buChar char="•"/>
            </a:pPr>
            <a:r>
              <a:rPr lang="en-US" sz="1400" dirty="0">
                <a:solidFill>
                  <a:srgbClr val="FFFFFF"/>
                </a:solidFill>
              </a:rPr>
              <a:t>Allowed requests: all five checks PASS, decision ALLOW, access GRANTED, proof mode Groth16 (Scenario 3).</a:t>
            </a:r>
            <a:endParaRPr lang="en-US" sz="1400" dirty="0"/>
          </a:p>
          <a:p>
            <a:pPr marL="342900" indent="-342900">
              <a:spcAft>
                <a:spcPts val="1000"/>
              </a:spcAft>
              <a:buSzPct val="100000"/>
              <a:buChar char="•"/>
            </a:pPr>
            <a:r>
              <a:rPr lang="en-US" sz="1400" dirty="0">
                <a:solidFill>
                  <a:srgbClr val="FFFFFF"/>
                </a:solidFill>
              </a:rPr>
              <a:t>After revocation (Scenario 5) the request was refused before any decision was logged; the prototype now logs these refusals too. The revocation is public on Sepolia, block 11,771,307.</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THIRTEEN ATTACK SCENARIOS</a:t>
            </a:r>
            <a:endParaRPr lang="en-US" sz="3000" dirty="0"/>
          </a:p>
        </p:txBody>
      </p:sp>
      <p:graphicFrame>
        <p:nvGraphicFramePr>
          <p:cNvPr id="22" name="attack table"/>
          <p:cNvGraphicFramePr>
            <a:graphicFrameLocks noGrp="1"/>
          </p:cNvGraphicFramePr>
          <p:nvPr>
            <p:extLst>
              <p:ext uri="{D42A27DB-BD31-4B8C-83A1-F6EECF244321}">
                <p14:modId xmlns:p14="http://schemas.microsoft.com/office/powerpoint/2010/main" val="1579011935"/>
              </p:ext>
            </p:extLst>
          </p:nvPr>
        </p:nvGraphicFramePr>
        <p:xfrm>
          <a:off x="548640" y="1097280"/>
          <a:ext cx="7315200" cy="914400"/>
        </p:xfrm>
        <a:graphic>
          <a:graphicData uri="http://schemas.openxmlformats.org/drawingml/2006/table">
            <a:tbl>
              <a:tblPr/>
              <a:tblGrid>
                <a:gridCol w="548640"/>
                <a:gridCol w="3931920"/>
                <a:gridCol w="822960"/>
                <a:gridCol w="1005840"/>
                <a:gridCol w="1005840"/>
              </a:tblGrid>
              <a:tr h="338328">
                <a:tc>
                  <a:txBody>
                    <a:bodyPr/>
                    <a:lstStyle/>
                    <a:p>
                      <a:pPr algn="l" indent="0" marL="0">
                        <a:buNone/>
                      </a:pPr>
                      <a:r>
                        <a:rPr lang="en-US" sz="1200" b="1" dirty="0">
                          <a:solidFill>
                            <a:srgbClr val="FFFFFF"/>
                          </a:solidFill>
                        </a:rPr>
                        <a:t>ID</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l" indent="0" marL="0">
                        <a:buNone/>
                      </a:pPr>
                      <a:r>
                        <a:rPr lang="en-US" sz="1200" b="1" dirty="0">
                          <a:solidFill>
                            <a:srgbClr val="FFFFFF"/>
                          </a:solidFill>
                        </a:rPr>
                        <a:t>Attack</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Target</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Before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algn="ctr" indent="0" marL="0">
                        <a:buNone/>
                      </a:pPr>
                      <a:r>
                        <a:rPr lang="en-US" sz="1200" b="1" dirty="0">
                          <a:solidFill>
                            <a:srgbClr val="FFFFFF"/>
                          </a:solidFill>
                        </a:rPr>
                        <a:t>After hardening</a:t>
                      </a:r>
                      <a:endParaRPr lang="en-US" sz="120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338328">
                <a:tc>
                  <a:txBody>
                    <a:bodyPr/>
                    <a:lstStyle/>
                    <a:p>
                      <a:pPr algn="l" indent="0" marL="0">
                        <a:buNone/>
                      </a:pPr>
                      <a:r>
                        <a:rPr lang="en-US" sz="1150" b="1" dirty="0">
                          <a:solidFill>
                            <a:srgbClr val="0B1F33"/>
                          </a:solidFill>
                        </a:rPr>
                        <a:t>A1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Approval signed by a signer outside G</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Guardian signature replayed from another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Same guardian approves twice to reach 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A</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A4</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Requested scope exceeds the authorised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A5</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with an empty scope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A6</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 before notBefore or after expiry</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A7</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Requester declares a different jurisdiction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P</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A8</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Access after revocation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A9</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Tampered Groth16 proof or public signal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A10</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Honest proof for an expired consent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A11</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Result of a recorded audit event rewritten</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E</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8A6D00"/>
                          </a:solidFill>
                        </a:rPr>
                        <a:t>Differs†</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A12</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Mint or revoke by a non-owner, or token transfer</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Contract</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338328">
                <a:tc>
                  <a:txBody>
                    <a:bodyPr/>
                    <a:lstStyle/>
                    <a:p>
                      <a:pPr algn="l" indent="0" marL="0">
                        <a:buNone/>
                      </a:pPr>
                      <a:r>
                        <a:rPr lang="en-US" sz="1150" b="1" dirty="0">
                          <a:solidFill>
                            <a:srgbClr val="0B1F33"/>
                          </a:solidFill>
                        </a:rPr>
                        <a:t>A13</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0B1F33"/>
                          </a:solidFill>
                        </a:rPr>
                        <a:t>Invalid or forged credential</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0B1F33"/>
                          </a:solidFill>
                        </a:rPr>
                        <a:t>I</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C62828"/>
                          </a:solidFill>
                        </a:rPr>
                        <a:t>Accepted‡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E7D32"/>
                          </a:solidFill>
                        </a:rPr>
                        <a:t>Refused</a:t>
                      </a:r>
                      <a:endParaRPr lang="en-US" sz="1150" dirty="0"/>
                    </a:p>
                  </a:txBody>
                  <a:tcPr marL="54864" marR="54864" marT="18288" marB="18288"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attack notes"/>
          <p:cNvSpPr txBox="1"/>
          <p:nvPr/>
        </p:nvSpPr>
        <p:spPr>
          <a:xfrm>
            <a:off x="548640" y="5897880"/>
            <a:ext cx="7315200" cy="868680"/>
          </a:xfrm>
          <a:prstGeom prst="rect">
            <a:avLst/>
          </a:prstGeom>
          <a:noFill/>
          <a:ln/>
        </p:spPr>
        <p:txBody>
          <a:bodyPr wrap="square" rtlCol="0" anchor="t"/>
          <a:lstStyle/>
          <a:p>
            <a:pPr indent="0" marL="0">
              <a:buNone/>
            </a:pPr>
            <a:r>
              <a:rPr lang="en-US" sz="950" i="1" dirty="0">
                <a:solidFill>
                  <a:srgbClr val="FFFFFF"/>
                </a:solidFill>
              </a:rPr>
              <a:t>* Accepted at unit level only, when the service function was called directly; the interface already refused it.</a:t>
            </a:r>
            <a:endParaRPr lang="en-US" sz="950" dirty="0"/>
          </a:p>
          <a:p>
            <a:pPr indent="0" marL="0">
              <a:buNone/>
            </a:pPr>
            <a:r>
              <a:rPr lang="en-US" sz="950" i="1" dirty="0">
                <a:solidFill>
                  <a:srgbClr val="FFFFFF"/>
                </a:solidFill>
              </a:rPr>
              <a:t>† The rewritten event's digest differs from the stored digest, but no component compares the two yet, so the result is neutral.</a:t>
            </a:r>
            <a:endParaRPr lang="en-US" sz="950" dirty="0"/>
          </a:p>
          <a:p>
            <a:pPr indent="0" marL="0">
              <a:buNone/>
            </a:pPr>
            <a:pPr indent="0" marL="0">
              <a:buNone/>
            </a:pPr>
            <a:r>
              <a:rPr lang="en-US" sz="950" i="1" dirty="0">
                <a:solidFill>
                  <a:srgbClr val="FFFFFF"/>
                </a:solidFill>
              </a:rPr>
              <a:t>‡ Before the credential check was added on 11 October 2026, a requester without a valid credential was accepted.</a:t>
            </a:r>
            <a:endParaRPr lang="en-US" sz="950" dirty="0"/>
          </a:p>
          <a:p>
            <a:pPr indent="0" marL="0">
              <a:buNone/>
            </a:pPr>
            <a:r>
              <a:rPr lang="en-US" sz="950" i="1" dirty="0">
                <a:solidFill>
                  <a:srgbClr val="FFFFFF"/>
                </a:solidFill>
              </a:rPr>
              <a:t>Target: I identity, </a:t>
            </a:r>
            <a:r>
              <a:rPr lang="en-US" sz="950" i="1" dirty="0">
                <a:solidFill>
                  <a:srgbClr val="FFFFFF"/>
                </a:solidFill>
              </a:rPr>
              <a:t>A authorisation</a:t>
            </a:r>
            <a:r>
              <a:rPr lang="en-US" sz="950" i="1" dirty="0">
                <a:solidFill>
                  <a:srgbClr val="FFFFFF"/>
                </a:solidFill>
              </a:rPr>
              <a:t>, P policy and scope, T time, </a:t>
            </a:r>
            <a:r>
              <a:rPr lang="en-US" sz="950" i="1" dirty="0">
                <a:solidFill>
                  <a:srgbClr val="FFFFFF"/>
                </a:solidFill>
              </a:rPr>
              <a:t>L lifecycle</a:t>
            </a:r>
            <a:r>
              <a:rPr lang="en-US" sz="950" i="1" dirty="0">
                <a:solidFill>
                  <a:srgbClr val="FFFFFF"/>
                </a:solidFill>
              </a:rPr>
              <a:t>, E evidence, Contract = ConsentSBTv3 on an in-memory EVM.</a:t>
            </a:r>
            <a:endParaRPr lang="en-US" sz="950" dirty="0"/>
          </a:p>
        </p:txBody>
      </p:sp>
      <p:sp>
        <p:nvSpPr>
          <p:cNvPr id="6" name="stat attack scenarios, A1 to A13"/>
          <p:cNvSpPr txBox="1"/>
          <p:nvPr/>
        </p:nvSpPr>
        <p:spPr>
          <a:xfrm>
            <a:off x="8229600" y="118872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13</a:t>
            </a:r>
            <a:endParaRPr lang="en-US" sz="4400" dirty="0"/>
          </a:p>
        </p:txBody>
      </p:sp>
      <p:sp>
        <p:nvSpPr>
          <p:cNvPr id="7" name="stat label attack scenarios, A1 to A13"/>
          <p:cNvSpPr txBox="1"/>
          <p:nvPr/>
        </p:nvSpPr>
        <p:spPr>
          <a:xfrm>
            <a:off x="8229600" y="205740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A13</a:t>
            </a:r>
            <a:endParaRPr lang="en-US" sz="1600" dirty="0"/>
          </a:p>
        </p:txBody>
      </p:sp>
      <p:sp>
        <p:nvSpPr>
          <p:cNvPr id="8" name="stat refused today (A11 neutral)"/>
          <p:cNvSpPr txBox="1"/>
          <p:nvPr/>
        </p:nvSpPr>
        <p:spPr>
          <a:xfrm>
            <a:off x="8229600" y="292608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12 / 13</a:t>
            </a:r>
            <a:endParaRPr lang="en-US" sz="4400" dirty="0"/>
          </a:p>
        </p:txBody>
      </p:sp>
      <p:sp>
        <p:nvSpPr>
          <p:cNvPr id="9" name="stat label refused today (A11 neutral)"/>
          <p:cNvSpPr txBox="1"/>
          <p:nvPr/>
        </p:nvSpPr>
        <p:spPr>
          <a:xfrm>
            <a:off x="8229600" y="3794760"/>
            <a:ext cx="3383280" cy="640080"/>
          </a:xfrm>
          <a:prstGeom prst="rect">
            <a:avLst/>
          </a:prstGeom>
          <a:noFill/>
          <a:ln/>
        </p:spPr>
        <p:txBody>
          <a:bodyPr wrap="square" lIns="0" tIns="0" rIns="0" bIns="0" rtlCol="0" anchor="ctr"/>
          <a:lstStyle/>
          <a:p>
            <a:pPr indent="0" marL="0">
              <a:buNone/>
            </a:pPr>
            <a:r>
              <a:rPr lang="en-US" sz="1600" dirty="0">
                <a:solidFill>
                  <a:srgbClr val="FFFFFF"/>
                </a:solidFill>
              </a:rPr>
              <a:t>refused today (A11 neutral)</a:t>
            </a:r>
            <a:endParaRPr lang="en-US" sz="1600" dirty="0"/>
          </a:p>
        </p:txBody>
      </p:sp>
      <p:sp>
        <p:nvSpPr>
          <p:cNvPr id="10" name="stat automated tests pass"/>
          <p:cNvSpPr txBox="1"/>
          <p:nvPr/>
        </p:nvSpPr>
        <p:spPr>
          <a:xfrm>
            <a:off x="8229600" y="4663440"/>
            <a:ext cx="3383280" cy="868680"/>
          </a:xfrm>
          <a:prstGeom prst="rect">
            <a:avLst/>
          </a:prstGeom>
          <a:noFill/>
          <a:ln/>
        </p:spPr>
        <p:txBody>
          <a:bodyPr wrap="square" lIns="0" tIns="0" rIns="0" bIns="0" rtlCol="0" anchor="ctr"/>
          <a:lstStyle/>
          <a:p>
            <a:pPr indent="0" marL="0">
              <a:buNone/>
            </a:pPr>
            <a:r>
              <a:rPr lang="en-US" sz="4400" b="1" dirty="0">
                <a:solidFill>
                  <a:srgbClr val="1FB5D6"/>
                </a:solidFill>
              </a:rPr>
              <a:t>46</a:t>
            </a:r>
            <a:endParaRPr lang="en-US" sz="4400" dirty="0"/>
          </a:p>
        </p:txBody>
      </p:sp>
      <p:sp>
        <p:nvSpPr>
          <p:cNvPr id="11" name="stat label automated tests pass"/>
          <p:cNvSpPr txBox="1"/>
          <p:nvPr/>
        </p:nvSpPr>
        <p:spPr>
          <a:xfrm>
            <a:off x="8229600" y="5532120"/>
            <a:ext cx="338328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011680"/>
                <a:gridCol w="1188720"/>
                <a:gridCol w="1005840"/>
                <a:gridCol w="1005840"/>
                <a:gridCol w="64008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8"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 consent state</a:t>
                      </a:r>
                      <a:r>
                        <a:rPr lang="en-US" sz="1400" dirty="0">
                          <a:solidFill>
                            <a:srgbClr val="0B1F33"/>
                          </a:solidFill>
                        </a:rPr>
                        <a:t>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Synthea 1K sample of synthetic patient records (synthea.mitre.org), CSV export; a subset of patients with their observations, conditions, medications and procedures. No real patient data is involved.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ci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a:t>
            </a:r>
            <a:r>
              <a:rPr lang="en-US" sz="2000" b="1" dirty="0">
                <a:solidFill>
                  <a:srgbClr val="FFFFFF"/>
                </a:solidFill>
              </a:rPr>
              <a:t>shifts the focus</a:t>
            </a:r>
            <a:r>
              <a:rPr lang="en-US" sz="2000" dirty="0">
                <a:solidFill>
                  <a:srgbClr val="FFFFFF"/>
                </a:solidFill>
              </a:rPr>
              <a:t> from determining </a:t>
            </a:r>
            <a:r>
              <a:rPr lang="en-US" sz="2000" b="1" dirty="0">
                <a:solidFill>
                  <a:srgbClr val="FFFFFF"/>
                </a:solidFill>
              </a:rPr>
              <a:t>whether consent has merely been recorded</a:t>
            </a:r>
            <a:r>
              <a:rPr lang="en-US" sz="2000" dirty="0">
                <a:solidFill>
                  <a:srgbClr val="FFFFFF"/>
                </a:solidFill>
              </a:rPr>
              <a:t> towards determining whether a data-access decision has been generated under </a:t>
            </a:r>
            <a:r>
              <a:rPr lang="en-US" sz="2000" b="1" dirty="0">
                <a:solidFill>
                  <a:srgbClr val="FFFFFF"/>
                </a:solidFill>
              </a:rPr>
              <a:t>sufficient and independently verifiable trust conditions</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brings </a:t>
            </a:r>
            <a:r>
              <a:rPr lang="en-US" sz="2000" b="1" dirty="0">
                <a:solidFill>
                  <a:srgbClr val="FFFFFF"/>
                </a:solidFill>
              </a:rPr>
              <a:t>identity, authority, multi-party approval, policy, time and lifecycle</a:t>
            </a:r>
            <a:r>
              <a:rPr lang="en-US" sz="2000" dirty="0">
                <a:solidFill>
                  <a:srgbClr val="FFFFFF"/>
                </a:solidFill>
              </a:rPr>
              <a:t> together in </a:t>
            </a:r>
            <a:r>
              <a:rPr lang="en-US" sz="2000" b="1" dirty="0">
                <a:solidFill>
                  <a:srgbClr val="FFFFFF"/>
                </a:solidFill>
              </a:rPr>
              <a:t>one access decision</a:t>
            </a:r>
            <a:r>
              <a:rPr lang="en-US" sz="2000" dirty="0">
                <a:solidFill>
                  <a:srgbClr val="FFFFFF"/>
                </a:solidFill>
              </a:rPr>
              <a:t> that is checked at </a:t>
            </a:r>
            <a:r>
              <a:rPr lang="en-US" sz="2000" b="1" dirty="0">
                <a:solidFill>
                  <a:srgbClr val="FFFFFF"/>
                </a:solidFill>
              </a:rPr>
              <a:t>every request</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a:t>
            </a:r>
            <a:r>
              <a:rPr lang="en-US" sz="2000" b="1" dirty="0">
                <a:solidFill>
                  <a:srgbClr val="FFFFFF"/>
                </a:solidFill>
              </a:rPr>
              <a:t>multi-party approval</a:t>
            </a:r>
            <a:r>
              <a:rPr lang="en-US" sz="2000" dirty="0">
                <a:solidFill>
                  <a:srgbClr val="FFFFFF"/>
                </a:solidFill>
              </a:rPr>
              <a:t> a standing condition of access: </a:t>
            </a:r>
            <a:r>
              <a:rPr lang="en-US" sz="2000" b="1" dirty="0">
                <a:solidFill>
                  <a:srgbClr val="FFFFFF"/>
                </a:solidFill>
              </a:rPr>
              <a:t>every listed guardian</a:t>
            </a:r>
            <a:r>
              <a:rPr lang="en-US" sz="2000" dirty="0">
                <a:solidFill>
                  <a:srgbClr val="FFFFFF"/>
                </a:solidFill>
              </a:rPr>
              <a:t> must sign with </a:t>
            </a:r>
            <a:r>
              <a:rPr lang="en-US" sz="2000" b="1" dirty="0">
                <a:solidFill>
                  <a:srgbClr val="FFFFFF"/>
                </a:solidFill>
              </a:rPr>
              <a:t>EIP-712</a:t>
            </a:r>
            <a:r>
              <a:rPr lang="en-US" sz="2000" dirty="0">
                <a:solidFill>
                  <a:srgbClr val="FFFFFF"/>
                </a:solidFill>
              </a:rPr>
              <a:t>, and </a:t>
            </a:r>
            <a:r>
              <a:rPr lang="en-US" sz="2000" b="1" dirty="0">
                <a:solidFill>
                  <a:srgbClr val="FFFFFF"/>
                </a:solidFill>
              </a:rPr>
              <a:t>no single party</a:t>
            </a:r>
            <a:r>
              <a:rPr lang="en-US" sz="2000" dirty="0">
                <a:solidFill>
                  <a:srgbClr val="FFFFFF"/>
                </a:solidFill>
              </a:rPr>
              <a:t> can authorise alone.</a:t>
            </a:r>
            <a:endParaRPr lang="en-US" sz="2000" dirty="0"/>
          </a:p>
          <a:p>
            <a:pPr marL="342900" indent="-342900">
              <a:spcAft>
                <a:spcPts val="2000"/>
              </a:spcAft>
              <a:buSzPct val="100000"/>
              <a:buFont typeface="+mj-lt"/>
              <a:buAutoNum type="arabicPeriod" startAt="1"/>
            </a:pPr>
            <a:r>
              <a:rPr lang="en-US" sz="2000" dirty="0">
                <a:solidFill>
                  <a:srgbClr val="FFFFFF"/>
                </a:solidFill>
              </a:rPr>
              <a:t>It is built on a </a:t>
            </a:r>
            <a:r>
              <a:rPr lang="en-US" sz="2000" b="1" dirty="0">
                <a:solidFill>
                  <a:srgbClr val="FFFFFF"/>
                </a:solidFill>
              </a:rPr>
              <a:t>PRISMA 2020 review of 25 studies</a:t>
            </a:r>
            <a:r>
              <a:rPr lang="en-US" sz="2000" dirty="0">
                <a:solidFill>
                  <a:srgbClr val="FFFFFF"/>
                </a:solidFill>
              </a:rPr>
              <a:t> and tested in a </a:t>
            </a:r>
            <a:r>
              <a:rPr lang="en-US" sz="2000" b="1" dirty="0">
                <a:solidFill>
                  <a:srgbClr val="FFFFFF"/>
                </a:solidFill>
              </a:rPr>
              <a:t>working prototype on Sepolia</a:t>
            </a:r>
            <a:r>
              <a:rPr lang="en-US" sz="2000" dirty="0">
                <a:solidFill>
                  <a:srgbClr val="FFFFFF"/>
                </a:solidFill>
              </a:rPr>
              <a:t>, with </a:t>
            </a:r>
            <a:r>
              <a:rPr lang="en-US" sz="2000" b="1" dirty="0">
                <a:solidFill>
                  <a:srgbClr val="FFFFFF"/>
                </a:solidFill>
              </a:rPr>
              <a:t>measurements</a:t>
            </a:r>
            <a:r>
              <a:rPr lang="en-US" sz="2000" dirty="0">
                <a:solidFill>
                  <a:srgbClr val="FFFFFF"/>
                </a:solidFill>
              </a:rPr>
              <a:t> and </a:t>
            </a:r>
            <a:r>
              <a:rPr lang="en-US" sz="2000" b="1" dirty="0">
                <a:solidFill>
                  <a:srgbClr val="FFFFFF"/>
                </a:solidFill>
              </a:rPr>
              <a:t>thirteen attack scenarios</a:t>
            </a:r>
            <a:r>
              <a:rPr lang="en-US" sz="2000" dirty="0">
                <a:solidFill>
                  <a:srgbClr val="FFFFFF"/>
                </a:solidFill>
              </a:rPr>
              <a:t>.</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822960" y="1051560"/>
            <a:ext cx="105156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numbered points"/>
          <p:cNvSpPr txBox="1"/>
          <p:nvPr/>
        </p:nvSpPr>
        <p:spPr>
          <a:xfrm>
            <a:off x="822960" y="1691640"/>
            <a:ext cx="10515600" cy="4754880"/>
          </a:xfrm>
          <a:prstGeom prst="rect">
            <a:avLst/>
          </a:prstGeom>
          <a:noFill/>
          <a:ln/>
        </p:spPr>
        <p:txBody>
          <a:bodyPr wrap="square" rtlCol="0" anchor="t"/>
          <a:lstStyle/>
          <a:p>
            <a:pPr marL="342900" indent="-342900">
              <a:spcAft>
                <a:spcPts val="2000"/>
              </a:spcAft>
              <a:buSzPct val="100000"/>
              <a:buFont typeface="+mj-lt"/>
              <a:buAutoNum type="arabicPeriod" startAt="1"/>
            </a:pPr>
            <a:r>
              <a:rPr lang="en-US" sz="2000" dirty="0">
                <a:solidFill>
                  <a:srgbClr val="FFFFFF"/>
                </a:solidFill>
              </a:rPr>
              <a:t>This research gives </a:t>
            </a:r>
            <a:r>
              <a:rPr lang="en-US" sz="2000" b="1" dirty="0">
                <a:solidFill>
                  <a:srgbClr val="FFFFFF"/>
                </a:solidFill>
              </a:rPr>
              <a:t>patients and their guardians</a:t>
            </a:r>
            <a:r>
              <a:rPr lang="en-US" sz="2000" dirty="0">
                <a:solidFill>
                  <a:srgbClr val="FFFFFF"/>
                </a:solidFill>
              </a:rPr>
              <a:t> a direct role in deciding </a:t>
            </a:r>
            <a:r>
              <a:rPr lang="en-US" sz="2000" b="1" dirty="0">
                <a:solidFill>
                  <a:srgbClr val="FFFFFF"/>
                </a:solidFill>
              </a:rPr>
              <a:t>who can see the patient's data</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prevents </a:t>
            </a:r>
            <a:r>
              <a:rPr lang="en-US" sz="2000" b="1" dirty="0">
                <a:solidFill>
                  <a:srgbClr val="FFFFFF"/>
                </a:solidFill>
              </a:rPr>
              <a:t>a single person</a:t>
            </a:r>
            <a:r>
              <a:rPr lang="en-US" sz="2000" dirty="0">
                <a:solidFill>
                  <a:srgbClr val="FFFFFF"/>
                </a:solidFill>
              </a:rPr>
              <a:t> from authorising access to </a:t>
            </a:r>
            <a:r>
              <a:rPr lang="en-US" sz="2000" b="1" dirty="0">
                <a:solidFill>
                  <a:srgbClr val="FFFFFF"/>
                </a:solidFill>
              </a:rPr>
              <a:t>sensitive health data alone</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makes every access decision </a:t>
            </a:r>
            <a:r>
              <a:rPr lang="en-US" sz="2000" b="1" dirty="0">
                <a:solidFill>
                  <a:srgbClr val="FFFFFF"/>
                </a:solidFill>
              </a:rPr>
              <a:t>explainable to auditors</a:t>
            </a:r>
            <a:r>
              <a:rPr lang="en-US" sz="2000" dirty="0">
                <a:solidFill>
                  <a:srgbClr val="FFFFFF"/>
                </a:solidFill>
              </a:rPr>
              <a:t>: which check </a:t>
            </a:r>
            <a:r>
              <a:rPr lang="en-US" sz="2000" b="1" dirty="0">
                <a:solidFill>
                  <a:srgbClr val="FFFFFF"/>
                </a:solidFill>
              </a:rPr>
              <a:t>passed</a:t>
            </a:r>
            <a:r>
              <a:rPr lang="en-US" sz="2000" dirty="0">
                <a:solidFill>
                  <a:srgbClr val="FFFFFF"/>
                </a:solidFill>
              </a:rPr>
              <a:t> and which </a:t>
            </a:r>
            <a:r>
              <a:rPr lang="en-US" sz="2000" b="1" dirty="0">
                <a:solidFill>
                  <a:srgbClr val="FFFFFF"/>
                </a:solidFill>
              </a:rPr>
              <a:t>failed</a:t>
            </a:r>
            <a:r>
              <a:rPr lang="en-US" sz="2000" dirty="0">
                <a:solidFill>
                  <a:srgbClr val="FFFFFF"/>
                </a:solidFill>
              </a:rPr>
              <a:t>.</a:t>
            </a:r>
            <a:endParaRPr lang="en-US" sz="2000" dirty="0"/>
          </a:p>
          <a:p>
            <a:pPr marL="342900" indent="-342900">
              <a:spcAft>
                <a:spcPts val="2000"/>
              </a:spcAft>
              <a:buSzPct val="100000"/>
              <a:buFont typeface="+mj-lt"/>
              <a:buAutoNum type="arabicPeriod" startAt="1"/>
            </a:pPr>
            <a:r>
              <a:rPr lang="en-US" sz="2000" dirty="0">
                <a:solidFill>
                  <a:srgbClr val="FFFFFF"/>
                </a:solidFill>
              </a:rPr>
              <a:t>It keeps </a:t>
            </a:r>
            <a:r>
              <a:rPr lang="en-US" sz="2000" b="1" dirty="0">
                <a:solidFill>
                  <a:srgbClr val="FFFFFF"/>
                </a:solidFill>
              </a:rPr>
              <a:t>medical records off-chain</a:t>
            </a:r>
            <a:r>
              <a:rPr lang="en-US" sz="2000" dirty="0">
                <a:solidFill>
                  <a:srgbClr val="FFFFFF"/>
                </a:solidFill>
              </a:rPr>
              <a:t>, so only </a:t>
            </a:r>
            <a:r>
              <a:rPr lang="en-US" sz="2000" b="1" dirty="0">
                <a:solidFill>
                  <a:srgbClr val="FFFFFF"/>
                </a:solidFill>
              </a:rPr>
              <a:t>consent evidence</a:t>
            </a:r>
            <a:r>
              <a:rPr lang="en-US" sz="2000" dirty="0">
                <a:solidFill>
                  <a:srgbClr val="FFFFFF"/>
                </a:solidFill>
              </a:rPr>
              <a:t> is shared on the blockchain.</a:t>
            </a:r>
            <a:endParaRPr lang="en-US" sz="2000" dirty="0"/>
          </a:p>
          <a:p>
            <a:pPr marL="342900" indent="-342900">
              <a:spcAft>
                <a:spcPts val="2000"/>
              </a:spcAft>
              <a:buSzPct val="100000"/>
              <a:buFont typeface="+mj-lt"/>
              <a:buAutoNum type="arabicPeriod" startAt="1"/>
            </a:pPr>
            <a:r>
              <a:rPr lang="en-US" sz="2000" dirty="0">
                <a:solidFill>
                  <a:srgbClr val="FFFFFF"/>
                </a:solidFill>
              </a:rPr>
              <a:t>It can support </a:t>
            </a:r>
            <a:r>
              <a:rPr lang="en-US" sz="2000" b="1" dirty="0">
                <a:solidFill>
                  <a:srgbClr val="FFFFFF"/>
                </a:solidFill>
              </a:rPr>
              <a:t>trust between hospitals</a:t>
            </a:r>
            <a:r>
              <a:rPr lang="en-US" sz="2000" dirty="0">
                <a:solidFill>
                  <a:srgbClr val="FFFFFF"/>
                </a:solidFill>
              </a:rPr>
              <a:t> and other </a:t>
            </a:r>
            <a:r>
              <a:rPr lang="en-US" sz="2000" b="1" dirty="0">
                <a:solidFill>
                  <a:srgbClr val="FFFFFF"/>
                </a:solidFill>
              </a:rPr>
              <a:t>independent parties</a:t>
            </a:r>
            <a:r>
              <a:rPr lang="en-US" sz="2000" dirty="0">
                <a:solidFill>
                  <a:srgbClr val="FFFFFF"/>
                </a:solidFill>
              </a:rPr>
              <a:t> when health data are shared.</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Identity and key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dentity and key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Identity and keys</a:t>
            </a:r>
            <a:endParaRPr lang="en-US" sz="1900" dirty="0"/>
          </a:p>
          <a:p>
            <a:pPr indent="0" marL="0">
              <a:spcAft>
                <a:spcPts val="400"/>
              </a:spcAft>
              <a:buNone/>
            </a:pPr>
            <a:r>
              <a:rPr lang="en-US" sz="1600" dirty="0">
                <a:solidFill>
                  <a:srgbClr val="0B1F33"/>
                </a:solidFill>
              </a:rPr>
              <a:t>Full DID resolution, proof that the user controls the DID, and wallet-held keys. Today: demo-issuer credentials, signature recovery, keys made from the DIDs (RO2, RO3).</a:t>
            </a:r>
            <a:endParaRPr lang="en-US" sz="1900" dirty="0"/>
          </a:p>
        </p:txBody>
      </p:sp>
      <p:sp>
        <p:nvSpPr>
          <p:cNvPr id="6" name="card Purpose on-chain"/>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Purpose on-chain"/>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8" name="card Lifecycle"/>
          <p:cNvSpPr/>
          <p:nvPr/>
        </p:nvSpPr>
        <p:spPr>
          <a:xfrm>
            <a:off x="804672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9" name="card text Lifecycle"/>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Lifecycle</a:t>
            </a:r>
            <a:endParaRPr lang="en-US" sz="1900" dirty="0"/>
          </a:p>
          <a:p>
            <a:pPr indent="0" marL="0">
              <a:spcAft>
                <a:spcPts val="400"/>
              </a:spcAft>
              <a:buNone/>
            </a:pPr>
            <a:r>
              <a:rPr lang="en-US" sz="1600" dirty="0">
                <a:solidFill>
                  <a:srgbClr val="0B1F33"/>
                </a:solidFill>
              </a:rPr>
              <a:t>The SUSPENDED state, the lifecycle transition check, consent modification, delegation and guardian-set changes, with a formal lifecycle model (RO5).</a:t>
            </a:r>
            <a:endParaRPr lang="en-US" sz="1900" dirty="0"/>
          </a:p>
        </p:txBody>
      </p:sp>
      <p:sp>
        <p:nvSpPr>
          <p:cNvPr id="10" name="card Formal proofs"/>
          <p:cNvSpPr/>
          <p:nvPr/>
        </p:nvSpPr>
        <p:spPr>
          <a:xfrm>
            <a:off x="640080" y="3794760"/>
            <a:ext cx="3520440" cy="2240280"/>
          </a:xfrm>
          <a:prstGeom prst="roundRect">
            <a:avLst>
              <a:gd name="adj" fmla="val 4082"/>
            </a:avLst>
          </a:prstGeom>
          <a:solidFill>
            <a:srgbClr val="FFFFFF">
              <a:alpha val="92000"/>
            </a:srgbClr>
          </a:solidFill>
          <a:ln w="19050">
            <a:solidFill>
              <a:srgbClr val="F2A900"/>
            </a:solidFill>
            <a:prstDash val="solid"/>
          </a:ln>
        </p:spPr>
      </p:sp>
      <p:sp>
        <p:nvSpPr>
          <p:cNvPr id="11" name="card text Formal proofs"/>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12" name="card Attack A11"/>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Attack A11"/>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Attack A11</a:t>
            </a:r>
            <a:endParaRPr lang="en-US" sz="1900" dirty="0"/>
          </a:p>
          <a:p>
            <a:pPr indent="0" marL="0">
              <a:spcAft>
                <a:spcPts val="400"/>
              </a:spcAft>
              <a:buNone/>
            </a:pPr>
            <a:r>
              <a:rPr lang="en-US" sz="1600" dirty="0">
                <a:solidFill>
                  <a:srgbClr val="0B1F33"/>
                </a:solidFill>
              </a:rPr>
              <a:t>Rewriting the result of an audit event changes its digest, but nothing checks the digest yet. It is marked neutral, not refused.</a:t>
            </a:r>
            <a:endParaRPr lang="en-US" sz="1900" dirty="0"/>
          </a:p>
        </p:txBody>
      </p:sp>
      <p:sp>
        <p:nvSpPr>
          <p:cNvPr id="14" name="card Scal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Scal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THE HALAH PROTOTYPE</a:t>
            </a:r>
            <a:endParaRPr lang="en-US" sz="3000" dirty="0"/>
          </a:p>
        </p:txBody>
      </p:sp>
      <p:sp>
        <p:nvSpPr>
          <p:cNvPr id="4" name="demo subtitle"/>
          <p:cNvSpPr txBox="1"/>
          <p:nvPr/>
        </p:nvSpPr>
        <p:spPr>
          <a:xfrm>
            <a:off x="731520" y="960120"/>
            <a:ext cx="10698480" cy="411480"/>
          </a:xfrm>
          <a:prstGeom prst="rect">
            <a:avLst/>
          </a:prstGeom>
          <a:noFill/>
          <a:ln/>
        </p:spPr>
        <p:txBody>
          <a:bodyPr wrap="square" rtlCol="0" anchor="ctr"/>
          <a:lstStyle/>
          <a:p>
            <a:pPr indent="0" marL="0">
              <a:buNone/>
            </a:pPr>
            <a:r>
              <a:rPr lang="en-US" sz="1500" i="1" dirty="0">
                <a:solidFill>
                  <a:srgbClr val="1FB5D6"/>
                </a:solidFill>
              </a:rPr>
              <a:t>Real prototype screens, 24 September 2026: RO1 to RO4 and part of RO6; revocation (RO5) is optional.</a:t>
            </a:r>
            <a:endParaRPr lang="en-US" sz="1500" dirty="0"/>
          </a:p>
        </p:txBody>
      </p:sp>
      <p:sp>
        <p:nvSpPr>
          <p:cNvPr id="5" name="card Four interfaces"/>
          <p:cNvSpPr/>
          <p:nvPr/>
        </p:nvSpPr>
        <p:spPr>
          <a:xfrm>
            <a:off x="64008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6" name="card text Four interfaces"/>
          <p:cNvSpPr txBox="1"/>
          <p:nvPr/>
        </p:nvSpPr>
        <p:spPr>
          <a:xfrm>
            <a:off x="77724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7" name="card Smart contract"/>
          <p:cNvSpPr/>
          <p:nvPr/>
        </p:nvSpPr>
        <p:spPr>
          <a:xfrm>
            <a:off x="434340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8" name="card text Smart contract"/>
          <p:cNvSpPr txBox="1"/>
          <p:nvPr/>
        </p:nvSpPr>
        <p:spPr>
          <a:xfrm>
            <a:off x="448056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9" name="card Guardian approval"/>
          <p:cNvSpPr/>
          <p:nvPr/>
        </p:nvSpPr>
        <p:spPr>
          <a:xfrm>
            <a:off x="8046720" y="1554480"/>
            <a:ext cx="3520440" cy="2103120"/>
          </a:xfrm>
          <a:prstGeom prst="roundRect">
            <a:avLst>
              <a:gd name="adj" fmla="val 4348"/>
            </a:avLst>
          </a:prstGeom>
          <a:solidFill>
            <a:srgbClr val="FFFFFF">
              <a:alpha val="92000"/>
            </a:srgbClr>
          </a:solidFill>
          <a:ln w="19050">
            <a:solidFill>
              <a:srgbClr val="1FB5D6"/>
            </a:solidFill>
            <a:prstDash val="solid"/>
          </a:ln>
        </p:spPr>
      </p:sp>
      <p:sp>
        <p:nvSpPr>
          <p:cNvPr id="10" name="card text Guardian approval"/>
          <p:cNvSpPr txBox="1"/>
          <p:nvPr/>
        </p:nvSpPr>
        <p:spPr>
          <a:xfrm>
            <a:off x="8183880" y="164592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1" name="card Access proof"/>
          <p:cNvSpPr/>
          <p:nvPr/>
        </p:nvSpPr>
        <p:spPr>
          <a:xfrm>
            <a:off x="64008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2" name="card text Access proof"/>
          <p:cNvSpPr txBox="1"/>
          <p:nvPr/>
        </p:nvSpPr>
        <p:spPr>
          <a:xfrm>
            <a:off x="77724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3" name="card Data"/>
          <p:cNvSpPr/>
          <p:nvPr/>
        </p:nvSpPr>
        <p:spPr>
          <a:xfrm>
            <a:off x="434340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4" name="card text Data"/>
          <p:cNvSpPr txBox="1"/>
          <p:nvPr/>
        </p:nvSpPr>
        <p:spPr>
          <a:xfrm>
            <a:off x="448056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5" name="card Evidence"/>
          <p:cNvSpPr/>
          <p:nvPr/>
        </p:nvSpPr>
        <p:spPr>
          <a:xfrm>
            <a:off x="8046720" y="3931920"/>
            <a:ext cx="3520440" cy="2103120"/>
          </a:xfrm>
          <a:prstGeom prst="roundRect">
            <a:avLst>
              <a:gd name="adj" fmla="val 4348"/>
            </a:avLst>
          </a:prstGeom>
          <a:solidFill>
            <a:srgbClr val="FFFFFF">
              <a:alpha val="92000"/>
            </a:srgbClr>
          </a:solidFill>
          <a:ln w="19050">
            <a:solidFill>
              <a:srgbClr val="1FB5D6"/>
            </a:solidFill>
            <a:prstDash val="solid"/>
          </a:ln>
        </p:spPr>
      </p:sp>
      <p:sp>
        <p:nvSpPr>
          <p:cNvPr id="16" name="card text Evidence"/>
          <p:cNvSpPr txBox="1"/>
          <p:nvPr/>
        </p:nvSpPr>
        <p:spPr>
          <a:xfrm>
            <a:off x="8183880" y="4023360"/>
            <a:ext cx="3246120" cy="192024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consent events and access decisions</a:t>
            </a:r>
            <a:r>
              <a:rPr lang="en-US" sz="1600" dirty="0">
                <a:solidFill>
                  <a:srgbClr val="0B1F33"/>
                </a:solidFill>
              </a:rPr>
              <a: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1: THE PATIENT CREATES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RO1</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Consent as an evaluable object</a:t>
            </a:r>
            <a:endParaRPr lang="en-US" sz="1600" dirty="0"/>
          </a:p>
        </p:txBody>
      </p:sp>
      <p:sp>
        <p:nvSpPr>
          <p:cNvPr id="7" name="F21x panel"/>
          <p:cNvSpPr/>
          <p:nvPr/>
        </p:nvSpPr>
        <p:spPr>
          <a:xfrm>
            <a:off x="640080" y="1600200"/>
            <a:ext cx="6949440" cy="4709160"/>
          </a:xfrm>
          <a:prstGeom prst="roundRect">
            <a:avLst>
              <a:gd name="adj" fmla="val 233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21x" descr="/tmp/deck/img/F21x.png">    </p:cNvPr>
          <p:cNvPicPr>
            <a:picLocks noChangeAspect="1"/>
          </p:cNvPicPr>
          <p:nvPr/>
        </p:nvPicPr>
        <p:blipFill>
          <a:blip r:embed="rId1"/>
          <a:stretch>
            <a:fillRect/>
          </a:stretch>
        </p:blipFill>
        <p:spPr>
          <a:xfrm>
            <a:off x="846698" y="1709928"/>
            <a:ext cx="6536203" cy="4489704"/>
          </a:xfrm>
          <a:prstGeom prst="rect">
            <a:avLst/>
          </a:prstGeom>
        </p:spPr>
      </p:pic>
      <p:sp>
        <p:nvSpPr>
          <p:cNvPr id="9" name="caption"/>
          <p:cNvSpPr txBox="1"/>
          <p:nvPr/>
        </p:nvSpPr>
        <p:spPr>
          <a:xfrm>
            <a:off x="640080" y="6355080"/>
            <a:ext cx="6949440" cy="320040"/>
          </a:xfrm>
          <a:prstGeom prst="rect">
            <a:avLst/>
          </a:prstGeom>
          <a:noFill/>
          <a:ln/>
        </p:spPr>
        <p:txBody>
          <a:bodyPr wrap="square" rtlCol="0" anchor="ctr"/>
          <a:lstStyle/>
          <a:p>
            <a:pPr algn="ctr" indent="0" marL="0">
              <a:buNone/>
            </a:pPr>
            <a:r>
              <a:rPr lang="en-US" sz="1200" i="1" dirty="0">
                <a:solidFill>
                  <a:srgbClr val="FFFFFF"/>
                </a:solidFill>
              </a:rPr>
              <a:t>Patient screen, consent 04da25f5 (shown in two parts)</a:t>
            </a:r>
            <a:endParaRPr lang="en-US" sz="1200" dirty="0"/>
          </a:p>
        </p:txBody>
      </p:sp>
      <p:sp>
        <p:nvSpPr>
          <p:cNvPr id="10" name="bullets"/>
          <p:cNvSpPr txBox="1"/>
          <p:nvPr/>
        </p:nvSpPr>
        <p:spPr>
          <a:xfrm>
            <a:off x="7863840" y="1600200"/>
            <a:ext cx="3749040" cy="47548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enters the doctor's DID, two guardians, the data modules and the end date.</a:t>
            </a:r>
            <a:endParaRPr lang="en-US" sz="1600" dirty="0"/>
          </a:p>
          <a:p>
            <a:pPr marL="342900" indent="-342900">
              <a:spcAft>
                <a:spcPts val="1000"/>
              </a:spcAft>
              <a:buSzPct val="100000"/>
              <a:buChar char="•"/>
            </a:pPr>
            <a:r>
              <a:rPr lang="en-US" sz="1600" dirty="0">
                <a:solidFill>
                  <a:srgbClr val="FFFFFF"/>
                </a:solidFill>
              </a:rPr>
              <a:t>The system saves the consent off-chain and gives it an ID.</a:t>
            </a:r>
            <a:endParaRPr lang="en-US" sz="1600" dirty="0"/>
          </a:p>
          <a:p>
            <a:pPr marL="342900" indent="-342900">
              <a:spcAft>
                <a:spcPts val="1000"/>
              </a:spcAft>
              <a:buSzPct val="100000"/>
              <a:buChar char="•"/>
            </a:pPr>
            <a:r>
              <a:rPr lang="en-US" sz="1600" dirty="0">
                <a:solidFill>
                  <a:srgbClr val="FFFFFF"/>
                </a:solidFill>
              </a:rPr>
              <a:t>The state is PENDING_SIGNATURE, with 0 of 2 signatures.</a:t>
            </a:r>
            <a:endParaRPr lang="en-US" sz="1600" dirty="0"/>
          </a:p>
          <a:p>
            <a:pPr marL="342900" indent="-342900">
              <a:spcAft>
                <a:spcPts val="1000"/>
              </a:spcAft>
              <a:buSzPct val="100000"/>
              <a:buChar char="•"/>
            </a:pPr>
            <a:r>
              <a:rPr lang="en-US" sz="1600" dirty="0">
                <a:solidFill>
                  <a:srgbClr val="FFFFFF"/>
                </a:solidFill>
              </a:rPr>
              <a:t>Nothing is on the blockchain yet.</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2: THE FIRST GUARDIAN APPROVES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Multi-party approval: one signature is not enough</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Guardian A enters the consent ID and chooses their DID.</a:t>
            </a:r>
            <a:endParaRPr lang="en-US" sz="1400" dirty="0"/>
          </a:p>
          <a:p>
            <a:pPr marL="342900" indent="-342900">
              <a:buSzPct val="100000"/>
              <a:buChar char="•"/>
            </a:pPr>
            <a:r>
              <a:rPr lang="en-US" sz="1400" dirty="0">
                <a:solidFill>
                  <a:srgbClr val="FFFFFF"/>
                </a:solidFill>
              </a:rPr>
              <a:t>The first guardian signs an EIP-712 approval. </a:t>
            </a:r>
            <a:r>
              <a:rPr lang="en-US" sz="1400" dirty="0">
                <a:solidFill>
                  <a:srgbClr val="FFFFFF"/>
                </a:solidFill>
              </a:rPr>
              <a:t>The system checks the signature and finds the signer's address.</a:t>
            </a:r>
            <a:endParaRPr lang="en-US" sz="1400" dirty="0"/>
          </a:p>
          <a:p>
            <a:pPr marL="342900" indent="-342900">
              <a:buSzPct val="100000"/>
              <a:buChar char="•"/>
            </a:pPr>
            <a:r>
              <a:rPr lang="en-US" sz="1400" dirty="0">
                <a:solidFill>
                  <a:srgbClr val="FFFFFF"/>
                </a:solidFill>
              </a:rPr>
              <a:t>The counter shows 1 of 2. The consent stays pending.</a:t>
            </a:r>
            <a:endParaRPr lang="en-US" sz="1400" dirty="0"/>
          </a:p>
        </p:txBody>
      </p:sp>
      <p:sp>
        <p:nvSpPr>
          <p:cNvPr id="8" name="F22 panel"/>
          <p:cNvSpPr/>
          <p:nvPr/>
        </p:nvSpPr>
        <p:spPr>
          <a:xfrm>
            <a:off x="1197572" y="2514600"/>
            <a:ext cx="9796551"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2" descr="/tmp/deck/img/F22.png">    </p:cNvPr>
          <p:cNvPicPr>
            <a:picLocks noChangeAspect="1"/>
          </p:cNvPicPr>
          <p:nvPr/>
        </p:nvPicPr>
        <p:blipFill>
          <a:blip r:embed="rId1"/>
          <a:stretch>
            <a:fillRect/>
          </a:stretch>
        </p:blipFill>
        <p:spPr>
          <a:xfrm>
            <a:off x="1307300" y="2624328"/>
            <a:ext cx="9577095" cy="3438144"/>
          </a:xfrm>
          <a:prstGeom prst="rect">
            <a:avLst/>
          </a:prstGeom>
        </p:spPr>
      </p:pic>
      <p:sp>
        <p:nvSpPr>
          <p:cNvPr id="10" name="caption"/>
          <p:cNvSpPr txBox="1"/>
          <p:nvPr/>
        </p:nvSpPr>
        <p:spPr>
          <a:xfrm>
            <a:off x="1197572" y="6217920"/>
            <a:ext cx="9796551" cy="320040"/>
          </a:xfrm>
          <a:prstGeom prst="rect">
            <a:avLst/>
          </a:prstGeom>
          <a:noFill/>
          <a:ln/>
        </p:spPr>
        <p:txBody>
          <a:bodyPr wrap="square" rtlCol="0" anchor="ctr"/>
          <a:lstStyle/>
          <a:p>
            <a:pPr algn="ctr" indent="0" marL="0">
              <a:buNone/>
            </a:pPr>
            <a:r>
              <a:rPr lang="en-US" sz="1200" i="1" dirty="0">
                <a:solidFill>
                  <a:srgbClr val="FFFFFF"/>
                </a:solidFill>
              </a:rPr>
              <a:t>Guardian screen at the first approval: signature verified, 1 of 2 signatures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3: SECOND APPROVAL, TOKEN MINTED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RO3</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Threshold reached: 2 of 2, then anchoring in the background</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The second signature is verified. Now 2 of 2 guardians have signed.</a:t>
            </a:r>
            <a:endParaRPr lang="en-US" sz="1400" dirty="0"/>
          </a:p>
          <a:p>
            <a:pPr marL="342900" indent="-342900">
              <a:buSzPct val="100000"/>
              <a:buChar char="•"/>
            </a:pPr>
            <a:r>
              <a:rPr lang="en-US" sz="1400" dirty="0">
                <a:solidFill>
                  <a:srgbClr val="FFFFFF"/>
                </a:solidFill>
              </a:rPr>
              <a:t>A soulbound token is minted on Sepolia in the background</a:t>
            </a:r>
            <a:r>
              <a:rPr lang="en-US" sz="1400" dirty="0">
                <a:solidFill>
                  <a:srgbClr val="FFFFFF"/>
                </a:solidFill>
              </a:rPr>
              <a:t>. The guardian does not wait.</a:t>
            </a:r>
            <a:endParaRPr lang="en-US" sz="1400" dirty="0"/>
          </a:p>
          <a:p>
            <a:pPr marL="342900" indent="-342900">
              <a:buSzPct val="100000"/>
              <a:buChar char="•"/>
            </a:pPr>
            <a:r>
              <a:rPr lang="en-US" sz="1400" dirty="0">
                <a:solidFill>
                  <a:srgbClr val="FFFFFF"/>
                </a:solidFill>
              </a:rPr>
              <a:t>Later, the same screen says: already anchored on Sepolia, token #2.</a:t>
            </a:r>
            <a:endParaRPr lang="en-US" sz="1400" dirty="0"/>
          </a:p>
        </p:txBody>
      </p:sp>
      <p:sp>
        <p:nvSpPr>
          <p:cNvPr id="8" name="F23 panel"/>
          <p:cNvSpPr/>
          <p:nvPr/>
        </p:nvSpPr>
        <p:spPr>
          <a:xfrm>
            <a:off x="64008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3" descr="/tmp/deck/img/F23.png">    </p:cNvPr>
          <p:cNvPicPr>
            <a:picLocks noChangeAspect="1"/>
          </p:cNvPicPr>
          <p:nvPr/>
        </p:nvPicPr>
        <p:blipFill>
          <a:blip r:embed="rId1"/>
          <a:stretch>
            <a:fillRect/>
          </a:stretch>
        </p:blipFill>
        <p:spPr>
          <a:xfrm>
            <a:off x="749808" y="2562614"/>
            <a:ext cx="5175504" cy="2372852"/>
          </a:xfrm>
          <a:prstGeom prst="rect">
            <a:avLst/>
          </a:prstGeom>
        </p:spPr>
      </p:pic>
      <p:sp>
        <p:nvSpPr>
          <p:cNvPr id="10" name="caption"/>
          <p:cNvSpPr txBox="1"/>
          <p:nvPr/>
        </p:nvSpPr>
        <p:spPr>
          <a:xfrm>
            <a:off x="640080" y="5166360"/>
            <a:ext cx="5394960" cy="320040"/>
          </a:xfrm>
          <a:prstGeom prst="rect">
            <a:avLst/>
          </a:prstGeom>
          <a:noFill/>
          <a:ln/>
        </p:spPr>
        <p:txBody>
          <a:bodyPr wrap="square" rtlCol="0" anchor="ctr"/>
          <a:lstStyle/>
          <a:p>
            <a:pPr algn="ctr" indent="0" marL="0">
              <a:buNone/>
            </a:pPr>
            <a:r>
              <a:rPr lang="en-US" sz="1200" i="1" dirty="0">
                <a:solidFill>
                  <a:srgbClr val="FFFFFF"/>
                </a:solidFill>
              </a:rPr>
              <a:t>Second approval: 2 of 2, token recorded, anchoring starts</a:t>
            </a:r>
            <a:endParaRPr lang="en-US" sz="1200" dirty="0"/>
          </a:p>
        </p:txBody>
      </p:sp>
      <p:sp>
        <p:nvSpPr>
          <p:cNvPr id="11" name="F25 panel"/>
          <p:cNvSpPr/>
          <p:nvPr/>
        </p:nvSpPr>
        <p:spPr>
          <a:xfrm>
            <a:off x="6172200" y="2377440"/>
            <a:ext cx="5394960" cy="2743200"/>
          </a:xfrm>
          <a:prstGeom prst="roundRect">
            <a:avLst>
              <a:gd name="adj" fmla="val 4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25" descr="/tmp/deck/img/F25.png">    </p:cNvPr>
          <p:cNvPicPr>
            <a:picLocks noChangeAspect="1"/>
          </p:cNvPicPr>
          <p:nvPr/>
        </p:nvPicPr>
        <p:blipFill>
          <a:blip r:embed="rId2"/>
          <a:stretch>
            <a:fillRect/>
          </a:stretch>
        </p:blipFill>
        <p:spPr>
          <a:xfrm>
            <a:off x="6281928" y="2949468"/>
            <a:ext cx="5175504" cy="1599144"/>
          </a:xfrm>
          <a:prstGeom prst="rect">
            <a:avLst/>
          </a:prstGeom>
        </p:spPr>
      </p:pic>
      <p:sp>
        <p:nvSpPr>
          <p:cNvPr id="13" name="caption"/>
          <p:cNvSpPr txBox="1"/>
          <p:nvPr/>
        </p:nvSpPr>
        <p:spPr>
          <a:xfrm>
            <a:off x="6172200" y="5166360"/>
            <a:ext cx="5394960" cy="320040"/>
          </a:xfrm>
          <a:prstGeom prst="rect">
            <a:avLst/>
          </a:prstGeom>
          <a:noFill/>
          <a:ln/>
        </p:spPr>
        <p:txBody>
          <a:bodyPr wrap="square" rtlCol="0" anchor="ctr"/>
          <a:lstStyle/>
          <a:p>
            <a:pPr algn="ctr" indent="0" marL="0">
              <a:buNone/>
            </a:pPr>
            <a:r>
              <a:rPr lang="en-US" sz="1200" i="1" dirty="0">
                <a:solidFill>
                  <a:srgbClr val="FFFFFF"/>
                </a:solidFill>
              </a:rPr>
              <a:t>Same screen later: already anchored on Sepolia, token #2</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4: THE DOCTOR IS ALLOWED</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RO2 + 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Five checks and a proof before any data is released</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doctor opens the consent: patient, consent ID and purpose, Treatment. The state is ACTIVE.</a:t>
            </a:r>
            <a:endParaRPr lang="en-US" sz="1400" dirty="0"/>
          </a:p>
          <a:p>
            <a:pPr marL="342900" indent="-342900">
              <a:buSzPct val="100000"/>
              <a:buChar char="•"/>
            </a:pPr>
            <a:r>
              <a:rPr lang="en-US" sz="1400" dirty="0">
                <a:solidFill>
                  <a:srgbClr val="FFFFFF"/>
                </a:solidFill>
              </a:rPr>
              <a:t>The decision matrix shows VI, VA, VP, VT, VL all PASS, so ALLOW.</a:t>
            </a:r>
            <a:endParaRPr lang="en-US" sz="1400" dirty="0"/>
          </a:p>
          <a:p>
            <a:pPr marL="342900" indent="-342900">
              <a:buSzPct val="100000"/>
              <a:buChar char="•"/>
            </a:pPr>
            <a:r>
              <a:rPr lang="en-US" sz="1400" dirty="0">
                <a:solidFill>
                  <a:srgbClr val="FFFFFF"/>
                </a:solidFill>
              </a:rPr>
              <a:t>VP is the policy check: the purpose is checked here, and the scope when the doctor asks for the data.</a:t>
            </a:r>
            <a:endParaRPr lang="en-US" sz="1400" dirty="0"/>
          </a:p>
        </p:txBody>
      </p:sp>
      <p:sp>
        <p:nvSpPr>
          <p:cNvPr id="8" name="F29m panel"/>
          <p:cNvSpPr/>
          <p:nvPr/>
        </p:nvSpPr>
        <p:spPr>
          <a:xfrm>
            <a:off x="655168" y="2514600"/>
            <a:ext cx="10881360" cy="2955976"/>
          </a:xfrm>
          <a:prstGeom prst="roundRect">
            <a:avLst>
              <a:gd name="adj" fmla="val 371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m" descr="/tmp/deck/img/F29m.png">    </p:cNvPr>
          <p:cNvPicPr>
            <a:picLocks noChangeAspect="1"/>
          </p:cNvPicPr>
          <p:nvPr/>
        </p:nvPicPr>
        <p:blipFill>
          <a:blip r:embed="rId1"/>
          <a:stretch>
            <a:fillRect/>
          </a:stretch>
        </p:blipFill>
        <p:spPr>
          <a:xfrm>
            <a:off x="764896" y="2624328"/>
            <a:ext cx="10661904" cy="2736520"/>
          </a:xfrm>
          <a:prstGeom prst="rect">
            <a:avLst/>
          </a:prstGeom>
        </p:spPr>
      </p:pic>
      <p:sp>
        <p:nvSpPr>
          <p:cNvPr id="10" name="caption"/>
          <p:cNvSpPr txBox="1"/>
          <p:nvPr/>
        </p:nvSpPr>
        <p:spPr>
          <a:xfrm>
            <a:off x="655168" y="5516296"/>
            <a:ext cx="10881360" cy="320040"/>
          </a:xfrm>
          <a:prstGeom prst="rect">
            <a:avLst/>
          </a:prstGeom>
          <a:noFill/>
          <a:ln/>
        </p:spPr>
        <p:txBody>
          <a:bodyPr wrap="square" rtlCol="0" anchor="ctr"/>
          <a:lstStyle/>
          <a:p>
            <a:pPr algn="ctr" indent="0" marL="0">
              <a:buNone/>
            </a:pPr>
            <a:r>
              <a:rPr lang="en-US" sz="1200" i="1" dirty="0">
                <a:solidFill>
                  <a:srgbClr val="FFFFFF"/>
                </a:solidFill>
              </a:rPr>
              <a:t>Doctor screen, consent 04da25f5 (shown in two parts)</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5: ONLY THE AUTHORISED RECORDS</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RO4</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Data scope enforced: nothing outside the consent</a:t>
            </a:r>
            <a:endParaRPr lang="en-US" sz="1600" dirty="0"/>
          </a:p>
        </p:txBody>
      </p:sp>
      <p:sp>
        <p:nvSpPr>
          <p:cNvPr id="7" name="bullets"/>
          <p:cNvSpPr txBox="1"/>
          <p:nvPr/>
        </p:nvSpPr>
        <p:spPr>
          <a:xfrm>
            <a:off x="731520" y="1463040"/>
            <a:ext cx="10789920" cy="868680"/>
          </a:xfrm>
          <a:prstGeom prst="rect">
            <a:avLst/>
          </a:prstGeom>
          <a:noFill/>
          <a:ln/>
        </p:spPr>
        <p:txBody>
          <a:bodyPr wrap="square" rtlCol="0" anchor="t"/>
          <a:lstStyle/>
          <a:p>
            <a:pPr marL="342900" indent="-342900">
              <a:buSzPct val="100000"/>
              <a:buChar char="•"/>
            </a:pPr>
            <a:r>
              <a:rPr lang="en-US" sz="1400" dirty="0">
                <a:solidFill>
                  <a:srgbClr val="FFFFFF"/>
                </a:solidFill>
              </a:rPr>
              <a:t>After ALLOW and the proof check, the screen shows the records, one table per module.</a:t>
            </a:r>
            <a:endParaRPr lang="en-US" sz="1400" dirty="0"/>
          </a:p>
          <a:p>
            <a:pPr marL="342900" indent="-342900">
              <a:buSzPct val="100000"/>
              <a:buChar char="•"/>
            </a:pPr>
            <a:r>
              <a:rPr lang="en-US" sz="1400" dirty="0">
                <a:solidFill>
                  <a:srgbClr val="FFFFFF"/>
                </a:solidFill>
              </a:rPr>
              <a:t>Only the four modules in the consent are shown. A request outside the scope is refused (attack test A4).</a:t>
            </a:r>
            <a:endParaRPr lang="en-US" sz="1400" dirty="0"/>
          </a:p>
          <a:p>
            <a:pPr marL="342900" indent="-342900">
              <a:buSzPct val="100000"/>
              <a:buChar char="•"/>
            </a:pPr>
            <a:r>
              <a:rPr lang="en-US" sz="1400" dirty="0">
                <a:solidFill>
                  <a:srgbClr val="FFFFFF"/>
                </a:solidFill>
              </a:rPr>
              <a:t>The data are synthetic Synthea records, not real patients.</a:t>
            </a:r>
            <a:endParaRPr lang="en-US" sz="1400" dirty="0"/>
          </a:p>
        </p:txBody>
      </p:sp>
      <p:sp>
        <p:nvSpPr>
          <p:cNvPr id="8" name="F29r panel"/>
          <p:cNvSpPr/>
          <p:nvPr/>
        </p:nvSpPr>
        <p:spPr>
          <a:xfrm>
            <a:off x="64008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29r" descr="/tmp/deck/img/F29r.png">    </p:cNvPr>
          <p:cNvPicPr>
            <a:picLocks noChangeAspect="1"/>
          </p:cNvPicPr>
          <p:nvPr/>
        </p:nvPicPr>
        <p:blipFill>
          <a:blip r:embed="rId1"/>
          <a:stretch>
            <a:fillRect/>
          </a:stretch>
        </p:blipFill>
        <p:spPr>
          <a:xfrm>
            <a:off x="1216464" y="2487168"/>
            <a:ext cx="4242192" cy="3438144"/>
          </a:xfrm>
          <a:prstGeom prst="rect">
            <a:avLst/>
          </a:prstGeom>
        </p:spPr>
      </p:pic>
      <p:sp>
        <p:nvSpPr>
          <p:cNvPr id="10" name="caption"/>
          <p:cNvSpPr txBox="1"/>
          <p:nvPr/>
        </p:nvSpPr>
        <p:spPr>
          <a:xfrm>
            <a:off x="64008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Observation and Medication</a:t>
            </a:r>
            <a:endParaRPr lang="en-US" sz="1200" dirty="0"/>
          </a:p>
        </p:txBody>
      </p:sp>
      <p:sp>
        <p:nvSpPr>
          <p:cNvPr id="11" name="F30 panel"/>
          <p:cNvSpPr/>
          <p:nvPr/>
        </p:nvSpPr>
        <p:spPr>
          <a:xfrm>
            <a:off x="6172200" y="2377440"/>
            <a:ext cx="5394960"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2" name="F30" descr="/tmp/deck/img/F30.png">    </p:cNvPr>
          <p:cNvPicPr>
            <a:picLocks noChangeAspect="1"/>
          </p:cNvPicPr>
          <p:nvPr/>
        </p:nvPicPr>
        <p:blipFill>
          <a:blip r:embed="rId2"/>
          <a:stretch>
            <a:fillRect/>
          </a:stretch>
        </p:blipFill>
        <p:spPr>
          <a:xfrm>
            <a:off x="6784147" y="2487168"/>
            <a:ext cx="4171066" cy="3438144"/>
          </a:xfrm>
          <a:prstGeom prst="rect">
            <a:avLst/>
          </a:prstGeom>
        </p:spPr>
      </p:pic>
      <p:sp>
        <p:nvSpPr>
          <p:cNvPr id="13" name="caption"/>
          <p:cNvSpPr txBox="1"/>
          <p:nvPr/>
        </p:nvSpPr>
        <p:spPr>
          <a:xfrm>
            <a:off x="6172200" y="6080760"/>
            <a:ext cx="5394960" cy="320040"/>
          </a:xfrm>
          <a:prstGeom prst="rect">
            <a:avLst/>
          </a:prstGeom>
          <a:noFill/>
          <a:ln/>
        </p:spPr>
        <p:txBody>
          <a:bodyPr wrap="square" rtlCol="0" anchor="ctr"/>
          <a:lstStyle/>
          <a:p>
            <a:pPr algn="ctr" indent="0" marL="0">
              <a:buNone/>
            </a:pPr>
            <a:r>
              <a:rPr lang="en-US" sz="1200" i="1" dirty="0">
                <a:solidFill>
                  <a:srgbClr val="FFFFFF"/>
                </a:solidFill>
              </a:rPr>
              <a:t>Authorised records: Condition and Procedure</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6: THE AUDITOR FOLLOWS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RO6 (part)</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The recorded steps, in order, with the on-chain anchor</a:t>
            </a:r>
            <a:endParaRPr lang="en-US" sz="1600" dirty="0"/>
          </a:p>
        </p:txBody>
      </p:sp>
      <p:sp>
        <p:nvSpPr>
          <p:cNvPr id="7" name="bullets"/>
          <p:cNvSpPr txBox="1"/>
          <p:nvPr/>
        </p:nvSpPr>
        <p:spPr>
          <a:xfrm>
            <a:off x="731520" y="1463040"/>
            <a:ext cx="10789920" cy="914400"/>
          </a:xfrm>
          <a:prstGeom prst="rect">
            <a:avLst/>
          </a:prstGeom>
          <a:noFill/>
          <a:ln/>
        </p:spPr>
        <p:txBody>
          <a:bodyPr wrap="square" rtlCol="0" anchor="t"/>
          <a:lstStyle/>
          <a:p>
            <a:pPr marL="342900" indent="-342900">
              <a:buSzPct val="100000"/>
              <a:buChar char="•"/>
            </a:pPr>
            <a:r>
              <a:rPr lang="en-US" sz="1400" dirty="0">
                <a:solidFill>
                  <a:srgbClr val="FFFFFF"/>
                </a:solidFill>
              </a:rPr>
              <a:t>The auditor sees the recorded steps of the consent, in order, with the time of each step.</a:t>
            </a:r>
            <a:endParaRPr lang="en-US" sz="1400" dirty="0"/>
          </a:p>
          <a:p>
            <a:pPr marL="342900" indent="-342900">
              <a:buSzPct val="100000"/>
              <a:buChar char="•"/>
            </a:pPr>
            <a:r>
              <a:rPr lang="en-US" sz="1400" dirty="0">
                <a:solidFill>
                  <a:srgbClr val="FFFFFF"/>
                </a:solidFill>
              </a:rPr>
              <a:t>Row 40 is the anchor on Sepolia: block 11,771,243.</a:t>
            </a:r>
            <a:endParaRPr lang="en-US" sz="1400" dirty="0"/>
          </a:p>
          <a:p>
            <a:pPr marL="342900" indent="-342900">
              <a:buSzPct val="100000"/>
              <a:buChar char="•"/>
            </a:pPr>
            <a:r>
              <a:rPr lang="en-US" sz="1400" dirty="0">
                <a:solidFill>
                  <a:srgbClr val="FFFFFF"/>
                </a:solidFill>
              </a:rPr>
              <a:t>This is consent f050c29a, token #1: the one the patient later revoked.</a:t>
            </a:r>
            <a:endParaRPr lang="en-US" sz="1400" dirty="0"/>
          </a:p>
        </p:txBody>
      </p:sp>
      <p:sp>
        <p:nvSpPr>
          <p:cNvPr id="8" name="F39a panel"/>
          <p:cNvSpPr/>
          <p:nvPr/>
        </p:nvSpPr>
        <p:spPr>
          <a:xfrm>
            <a:off x="1192795" y="2514600"/>
            <a:ext cx="9806106" cy="3657600"/>
          </a:xfrm>
          <a:prstGeom prst="roundRect">
            <a:avLst>
              <a:gd name="adj" fmla="val 3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9a" descr="/tmp/deck/img/F39a.png">    </p:cNvPr>
          <p:cNvPicPr>
            <a:picLocks noChangeAspect="1"/>
          </p:cNvPicPr>
          <p:nvPr/>
        </p:nvPicPr>
        <p:blipFill>
          <a:blip r:embed="rId1"/>
          <a:stretch>
            <a:fillRect/>
          </a:stretch>
        </p:blipFill>
        <p:spPr>
          <a:xfrm>
            <a:off x="1302523" y="2624328"/>
            <a:ext cx="9586650" cy="3438144"/>
          </a:xfrm>
          <a:prstGeom prst="rect">
            <a:avLst/>
          </a:prstGeom>
        </p:spPr>
      </p:pic>
      <p:sp>
        <p:nvSpPr>
          <p:cNvPr id="10" name="caption"/>
          <p:cNvSpPr txBox="1"/>
          <p:nvPr/>
        </p:nvSpPr>
        <p:spPr>
          <a:xfrm>
            <a:off x="1192795" y="6217920"/>
            <a:ext cx="9806106" cy="320040"/>
          </a:xfrm>
          <a:prstGeom prst="rect">
            <a:avLst/>
          </a:prstGeom>
          <a:noFill/>
          <a:ln/>
        </p:spPr>
        <p:txBody>
          <a:bodyPr wrap="square" rtlCol="0" anchor="ctr"/>
          <a:lstStyle/>
          <a:p>
            <a:pPr algn="ctr" indent="0" marL="0">
              <a:buNone/>
            </a:pPr>
            <a:r>
              <a:rPr lang="en-US" sz="1200" i="1" dirty="0">
                <a:solidFill>
                  <a:srgbClr val="FFFFFF"/>
                </a:solidFill>
              </a:rPr>
              <a:t>Auditor screen, 24 September 2026: ledger rows 36 to 44 of consent f050c29a</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DEMO 7 (OPTIONAL): REVOKING THE CONSENT</a:t>
            </a:r>
            <a:endParaRPr lang="en-US" sz="3000" dirty="0"/>
          </a:p>
        </p:txBody>
      </p:sp>
      <p:sp>
        <p:nvSpPr>
          <p:cNvPr id="4" name="status chip"/>
          <p:cNvSpPr/>
          <p:nvPr/>
        </p:nvSpPr>
        <p:spPr>
          <a:xfrm>
            <a:off x="731520" y="1005840"/>
            <a:ext cx="2377440" cy="411480"/>
          </a:xfrm>
          <a:prstGeom prst="roundRect">
            <a:avLst>
              <a:gd name="adj" fmla="val 44444"/>
            </a:avLst>
          </a:prstGeom>
          <a:solidFill>
            <a:srgbClr val="2F6FB0"/>
          </a:solidFill>
          <a:ln w="12700">
            <a:solidFill>
              <a:srgbClr val="2F6FB0"/>
            </a:solidFill>
            <a:prstDash val="solid"/>
          </a:ln>
        </p:spPr>
      </p:sp>
      <p:sp>
        <p:nvSpPr>
          <p:cNvPr id="5" name="status text"/>
          <p:cNvSpPr txBox="1"/>
          <p:nvPr/>
        </p:nvSpPr>
        <p:spPr>
          <a:xfrm>
            <a:off x="731520" y="1005840"/>
            <a:ext cx="2377440" cy="411480"/>
          </a:xfrm>
          <a:prstGeom prst="rect">
            <a:avLst/>
          </a:prstGeom>
          <a:noFill/>
          <a:ln/>
        </p:spPr>
        <p:txBody>
          <a:bodyPr wrap="square" rtlCol="0" anchor="ctr"/>
          <a:lstStyle/>
          <a:p>
            <a:pPr algn="ctr" indent="0" marL="0">
              <a:buNone/>
            </a:pPr>
            <a:r>
              <a:rPr lang="en-US" sz="1400" b="1" dirty="0">
                <a:solidFill>
                  <a:srgbClr val="FFFFFF"/>
                </a:solidFill>
              </a:rPr>
              <a:t>RO5</a:t>
            </a:r>
            <a:endParaRPr lang="en-US" sz="1400" dirty="0"/>
          </a:p>
        </p:txBody>
      </p:sp>
      <p:sp>
        <p:nvSpPr>
          <p:cNvPr id="6" name="ro label"/>
          <p:cNvSpPr txBox="1"/>
          <p:nvPr/>
        </p:nvSpPr>
        <p:spPr>
          <a:xfrm>
            <a:off x="3291840" y="1005840"/>
            <a:ext cx="8229600" cy="411480"/>
          </a:xfrm>
          <a:prstGeom prst="rect">
            <a:avLst/>
          </a:prstGeom>
          <a:noFill/>
          <a:ln/>
        </p:spPr>
        <p:txBody>
          <a:bodyPr wrap="square" rtlCol="0" anchor="ctr"/>
          <a:lstStyle/>
          <a:p>
            <a:pPr indent="0" marL="0">
              <a:buNone/>
            </a:pPr>
            <a:r>
              <a:rPr lang="en-US" sz="1600" i="1" dirty="0">
                <a:solidFill>
                  <a:srgbClr val="1FB5D6"/>
                </a:solidFill>
              </a:rPr>
              <a:t>Revocation on Sepolia, then access is refused</a:t>
            </a:r>
            <a:endParaRPr lang="en-US" sz="1600" dirty="0"/>
          </a:p>
        </p:txBody>
      </p:sp>
      <p:sp>
        <p:nvSpPr>
          <p:cNvPr id="7" name="F39b panel"/>
          <p:cNvSpPr/>
          <p:nvPr/>
        </p:nvSpPr>
        <p:spPr>
          <a:xfrm>
            <a:off x="640080" y="1554480"/>
            <a:ext cx="10881360" cy="1664208"/>
          </a:xfrm>
          <a:prstGeom prst="roundRect">
            <a:avLst>
              <a:gd name="adj" fmla="val 659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8" name="F39b" descr="/tmp/deck/img/F39b.png">    </p:cNvPr>
          <p:cNvPicPr>
            <a:picLocks noChangeAspect="1"/>
          </p:cNvPicPr>
          <p:nvPr/>
        </p:nvPicPr>
        <p:blipFill>
          <a:blip r:embed="rId1"/>
          <a:stretch>
            <a:fillRect/>
          </a:stretch>
        </p:blipFill>
        <p:spPr>
          <a:xfrm>
            <a:off x="749808" y="1665556"/>
            <a:ext cx="10661904" cy="1442055"/>
          </a:xfrm>
          <a:prstGeom prst="rect">
            <a:avLst/>
          </a:prstGeom>
        </p:spPr>
      </p:pic>
      <p:sp>
        <p:nvSpPr>
          <p:cNvPr id="9" name="caption"/>
          <p:cNvSpPr txBox="1"/>
          <p:nvPr/>
        </p:nvSpPr>
        <p:spPr>
          <a:xfrm>
            <a:off x="640080" y="3255264"/>
            <a:ext cx="10881360" cy="320040"/>
          </a:xfrm>
          <a:prstGeom prst="rect">
            <a:avLst/>
          </a:prstGeom>
          <a:noFill/>
          <a:ln/>
        </p:spPr>
        <p:txBody>
          <a:bodyPr wrap="square" rtlCol="0" anchor="ctr"/>
          <a:lstStyle/>
          <a:p>
            <a:pPr algn="ctr" indent="0" marL="0">
              <a:buNone/>
            </a:pPr>
            <a:r>
              <a:rPr lang="en-US" sz="1200" i="1" dirty="0">
                <a:solidFill>
                  <a:srgbClr val="FFFFFF"/>
                </a:solidFill>
              </a:rPr>
              <a:t>Audit ledger, rows 47 and 48: the patient revokes, then the revoke transaction goes on Sepolia</a:t>
            </a:r>
            <a:endParaRPr lang="en-US" sz="1200" dirty="0"/>
          </a:p>
        </p:txBody>
      </p:sp>
      <p:sp>
        <p:nvSpPr>
          <p:cNvPr id="10" name="F37t panel"/>
          <p:cNvSpPr/>
          <p:nvPr/>
        </p:nvSpPr>
        <p:spPr>
          <a:xfrm>
            <a:off x="640080" y="3657600"/>
            <a:ext cx="6035040" cy="2551176"/>
          </a:xfrm>
          <a:prstGeom prst="roundRect">
            <a:avLst>
              <a:gd name="adj" fmla="val 430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37t" descr="/tmp/deck/img/F37t.png">    </p:cNvPr>
          <p:cNvPicPr>
            <a:picLocks noChangeAspect="1"/>
          </p:cNvPicPr>
          <p:nvPr/>
        </p:nvPicPr>
        <p:blipFill>
          <a:blip r:embed="rId2"/>
          <a:stretch>
            <a:fillRect/>
          </a:stretch>
        </p:blipFill>
        <p:spPr>
          <a:xfrm>
            <a:off x="749808" y="3767763"/>
            <a:ext cx="5815584" cy="2330849"/>
          </a:xfrm>
          <a:prstGeom prst="rect">
            <a:avLst/>
          </a:prstGeom>
        </p:spPr>
      </p:pic>
      <p:sp>
        <p:nvSpPr>
          <p:cNvPr id="12" name="caption"/>
          <p:cNvSpPr txBox="1"/>
          <p:nvPr/>
        </p:nvSpPr>
        <p:spPr>
          <a:xfrm>
            <a:off x="640080" y="6245352"/>
            <a:ext cx="6035040" cy="320040"/>
          </a:xfrm>
          <a:prstGeom prst="rect">
            <a:avLst/>
          </a:prstGeom>
          <a:noFill/>
          <a:ln/>
        </p:spPr>
        <p:txBody>
          <a:bodyPr wrap="square" rtlCol="0" anchor="ctr"/>
          <a:lstStyle/>
          <a:p>
            <a:pPr algn="ctr" indent="0" marL="0">
              <a:buNone/>
            </a:pPr>
            <a:r>
              <a:rPr lang="en-US" sz="1200" i="1" dirty="0">
                <a:solidFill>
                  <a:srgbClr val="FFFFFF"/>
                </a:solidFill>
              </a:rPr>
              <a:t>Sepolia Etherscan: Revoke, Success, block 11,771,307</a:t>
            </a:r>
            <a:endParaRPr lang="en-US" sz="1200" dirty="0"/>
          </a:p>
        </p:txBody>
      </p:sp>
      <p:sp>
        <p:nvSpPr>
          <p:cNvPr id="13" name="F36m panel"/>
          <p:cNvSpPr/>
          <p:nvPr/>
        </p:nvSpPr>
        <p:spPr>
          <a:xfrm>
            <a:off x="6858000" y="3657600"/>
            <a:ext cx="4663440" cy="1271016"/>
          </a:xfrm>
          <a:prstGeom prst="roundRect">
            <a:avLst>
              <a:gd name="adj" fmla="val 86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4" name="F36m" descr="/tmp/deck/img/F36m.png">    </p:cNvPr>
          <p:cNvPicPr>
            <a:picLocks noChangeAspect="1"/>
          </p:cNvPicPr>
          <p:nvPr/>
        </p:nvPicPr>
        <p:blipFill>
          <a:blip r:embed="rId3"/>
          <a:stretch>
            <a:fillRect/>
          </a:stretch>
        </p:blipFill>
        <p:spPr>
          <a:xfrm>
            <a:off x="6967728" y="3769622"/>
            <a:ext cx="4443984" cy="1046973"/>
          </a:xfrm>
          <a:prstGeom prst="rect">
            <a:avLst/>
          </a:prstGeom>
        </p:spPr>
      </p:pic>
      <p:sp>
        <p:nvSpPr>
          <p:cNvPr id="15" name="caption"/>
          <p:cNvSpPr txBox="1"/>
          <p:nvPr/>
        </p:nvSpPr>
        <p:spPr>
          <a:xfrm>
            <a:off x="6858000" y="4965192"/>
            <a:ext cx="4663440" cy="320040"/>
          </a:xfrm>
          <a:prstGeom prst="rect">
            <a:avLst/>
          </a:prstGeom>
          <a:noFill/>
          <a:ln/>
        </p:spPr>
        <p:txBody>
          <a:bodyPr wrap="square" rtlCol="0" anchor="ctr"/>
          <a:lstStyle/>
          <a:p>
            <a:pPr algn="ctr" indent="0" marL="0">
              <a:buNone/>
            </a:pPr>
            <a:r>
              <a:rPr lang="en-US" sz="1200" i="1" dirty="0">
                <a:solidFill>
                  <a:srgbClr val="FFFFFF"/>
                </a:solidFill>
              </a:rPr>
              <a:t>Doctor screen after the revocation: access refused</a:t>
            </a:r>
            <a:endParaRPr lang="en-US" sz="1200" dirty="0"/>
          </a:p>
        </p:txBody>
      </p:sp>
      <p:sp>
        <p:nvSpPr>
          <p:cNvPr id="16" name="bullets"/>
          <p:cNvSpPr txBox="1"/>
          <p:nvPr/>
        </p:nvSpPr>
        <p:spPr>
          <a:xfrm>
            <a:off x="6858000" y="5440680"/>
            <a:ext cx="4663440" cy="109728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The revoke transaction is public on Sepolia, in block 11,771,307.</a:t>
            </a:r>
            <a:endParaRPr lang="en-US" sz="1300" dirty="0"/>
          </a:p>
          <a:p>
            <a:pPr marL="342900" indent="-342900">
              <a:spcAft>
                <a:spcPts val="1000"/>
              </a:spcAft>
              <a:buSzPct val="100000"/>
              <a:buChar char="•"/>
            </a:pPr>
            <a:r>
              <a:rPr lang="en-US" sz="1300" dirty="0">
                <a:solidFill>
                  <a:srgbClr val="FFFFFF"/>
                </a:solidFill>
              </a:rPr>
              <a:t>The doctor opens the consent again and is refused: the state is REVOKED.</a:t>
            </a:r>
            <a:endParaRPr lang="en-US" sz="13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2026-10-12T08:34:31Z</dcterms:created>
  <dcterms:modified xsi:type="dcterms:W3CDTF">2026-10-12T08:34:31Z</dcterms:modified>
</cp:coreProperties>
</file>
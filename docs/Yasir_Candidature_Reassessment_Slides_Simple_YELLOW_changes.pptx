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253ba62-fbd2-1709-315b-212b8de3f959}">
          <p14:sldIdLst>
            <p14:sldId id="256"/>
            <p14:sldId id="257"/>
          </p14:sldIdLst>
        </p14:section>
        <p14:section name="The Problem" id="{e80c5a3e-9cda-539e-b8fb-e088402297f4}">
          <p14:sldIdLst>
            <p14:sldId id="258"/>
            <p14:sldId id="259"/>
          </p14:sldIdLst>
        </p14:section>
        <p14:section name="Literature Review" id="{701ad294-19ec-cb85-1eb2-a51744e3fe8c}">
          <p14:sldIdLst>
            <p14:sldId id="260"/>
            <p14:sldId id="261"/>
          </p14:sldIdLst>
        </p14:section>
        <p14:section name="Gap, Questions and Objectives" id="{16f80dd6-803c-c6c6-205b-c2a3878f9ba8}">
          <p14:sldIdLst>
            <p14:sldId id="262"/>
            <p14:sldId id="263"/>
            <p14:sldId id="264"/>
            <p14:sldId id="265"/>
          </p14:sldIdLst>
        </p14:section>
        <p14:section name="The Framework" id="{cbe460df-a54e-ff26-6ae7-2713f7c1204a}">
          <p14:sldIdLst>
            <p14:sldId id="266"/>
            <p14:sldId id="267"/>
            <p14:sldId id="268"/>
            <p14:sldId id="269"/>
            <p14:sldId id="270"/>
            <p14:sldId id="271"/>
            <p14:sldId id="272"/>
            <p14:sldId id="273"/>
          </p14:sldIdLst>
        </p14:section>
        <p14:section name="Validation and Evaluation" id="{e2f55ee8-1b34-ef40-2c8f-fc15ed9b5089}">
          <p14:sldIdLst>
            <p14:sldId id="274"/>
            <p14:sldId id="275"/>
            <p14:sldId id="276"/>
            <p14:sldId id="277"/>
          </p14:sldIdLst>
        </p14:section>
        <p14:section name="Contribution" id="{793a8d15-0b50-ca5a-85e6-faf79f888aaf}">
          <p14:sldIdLst>
            <p14:sldId id="278"/>
            <p14:sldId id="279"/>
            <p14:sldId id="280"/>
            <p14:sldId id="281"/>
          </p14:sldIdLst>
        </p14:section>
        <p14:section name="What is Still Open" id="{44980eb5-7528-ef16-de6f-b7a00d536d7f}">
          <p14:sldIdLst>
            <p14:sldId id="282"/>
          </p14:sldIdLst>
        </p14:section>
        <p14:section name="Research Plan" id="{9096d0b4-782b-5c7b-54b0-41cb469bc9ee}">
          <p14:sldIdLst>
            <p14:sldId id="283"/>
            <p14:sldId id="284"/>
          </p14:sldIdLst>
        </p14:section>
        <p14:section name="Demo: The HALAH Prototype" id="{8e634260-1ac4-3029-7047-b21ef0fabe43}">
          <p14:sldIdLst>
            <p14:sldId id="285"/>
            <p14:sldId id="286"/>
            <p14:sldId id="287"/>
            <p14:sldId id="288"/>
            <p14:sldId id="289"/>
            <p14:sldId id="290"/>
            <p14:sldId id="291"/>
            <p14:sldId id="292"/>
            <p14:sldId id="293"/>
            <p14:sldId id="294"/>
          </p14:sldIdLst>
        </p14:section>
        <p14:section name="References" id="{5ee8b4d6-ffdd-6b90-d765-d4c9925448ae}">
          <p14:sldIdLst>
            <p14:sldId id="295"/>
            <p14:sldId id="296"/>
            <p14:sldId id="297"/>
          </p14:sldIdLst>
        </p14:section>
        <p14:section name="Thank You" id="{5c8900f5-be44-4108-2888-5883b3d6eead}">
          <p14:sldIdLst>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t>
            </a:r>
            <a:r>
              <a:rPr lang="en-US" dirty="0">
                <a:highlight>
                  <a:srgbClr val="FFFF00"/>
                </a:highlight>
              </a:rPr>
              <a:t>and</a:t>
            </a:r>
            <a:r>
              <a:rPr lang="en-US" dirty="0"/>
              <a:t>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and wallet-held guardian keys. </a:t>
            </a:r>
            <a:r>
              <a:rPr lang="en-US" dirty="0">
                <a:highlight>
                  <a:srgbClr val="FFFF00"/>
                </a:highlight>
              </a:rPr>
              <a:t>Today the guardian keys are derived from the guardian DIDs.</a:t>
            </a:r>
            <a:r>
              <a:rPr lang="en-US" dirty="0"/>
              <a:t>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t>
            </a:r>
            <a:r>
              <a:rPr lang="en-US" dirty="0">
                <a:highlight>
                  <a:srgbClr val="FFFF00"/>
                </a:highlight>
              </a:rPr>
              <a:t>and</a:t>
            </a:r>
            <a:r>
              <a:rPr lang="en-US" dirty="0"/>
              <a:t>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a:t>
            </a:r>
            <a:r>
              <a:rPr lang="en-US" dirty="0">
                <a:highlight>
                  <a:srgbClr val="FFFF00"/>
                </a:highlight>
              </a:rPr>
              <a:t>Then the five checks run: VI, VA, VP, VT and VL.</a:t>
            </a:r>
            <a:r>
              <a:rPr lang="en-US" dirty="0"/>
              <a:t>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six</a:t>
            </a:r>
            <a:r>
              <a:rPr lang="en-US" dirty="0"/>
              <a:t>.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seven</a:t>
            </a:r>
            <a:r>
              <a:rPr lang="en-US" dirty="0"/>
              <a: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eight</a:t>
            </a:r>
            <a:r>
              <a:rPr lang="en-US" dirty="0"/>
              <a: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nine</a:t>
            </a:r>
            <a:r>
              <a:rPr lang="en-US" dirty="0"/>
              <a:t>,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0B1F33"/>
                </a:solidFill>
                <a:highlight>
                  <a:srgbClr val="FFFF00"/>
                </a:highlight>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a:t>
                      </a:r>
                      <a:r>
                        <a:rPr lang="en-US" sz="1200" b="1" dirty="0">
                          <a:solidFill>
                            <a:srgbClr val="0B1F33"/>
                          </a:solidFill>
                          <a:highlight>
                            <a:srgbClr val="FFFF00"/>
                          </a:highlight>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t>
                      </a:r>
                      <a:r>
                        <a:rPr lang="en-US" sz="1200" b="1" dirty="0">
                          <a:solidFill>
                            <a:srgbClr val="0B1F33"/>
                          </a:solidFill>
                          <a:highlight>
                            <a:srgbClr val="FFFF00"/>
                          </a:highlight>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twelve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and wallet-held guardian keys. Today: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0B1F33"/>
                </a:solidFill>
                <a:highlight>
                  <a:srgbClr val="FFFF00"/>
                </a:highlight>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0B1F33"/>
                </a:solidFill>
                <a:highlight>
                  <a:srgbClr val="FFFF00"/>
                </a:highlight>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2026-10-11T07:14:12Z</dcterms:created>
  <dcterms:modified xsi:type="dcterms:W3CDTF">2026-10-11T07:14:12Z</dcterms:modified>
</cp:coreProperties>
</file>
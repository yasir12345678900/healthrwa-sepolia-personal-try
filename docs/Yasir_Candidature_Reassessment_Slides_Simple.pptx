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27d184b-fff8-8e33-3fef-03a369c23a4d}">
          <p14:sldIdLst>
            <p14:sldId id="256"/>
            <p14:sldId id="257"/>
          </p14:sldIdLst>
        </p14:section>
        <p14:section name="The Problem" id="{d7947bf4-dc5e-202b-29e4-f4f9b8b0391f}">
          <p14:sldIdLst>
            <p14:sldId id="258"/>
            <p14:sldId id="259"/>
          </p14:sldIdLst>
        </p14:section>
        <p14:section name="Literature Review" id="{5befe6ec-3a74-6d90-4d95-a0e044540e17}">
          <p14:sldIdLst>
            <p14:sldId id="260"/>
            <p14:sldId id="261"/>
          </p14:sldIdLst>
        </p14:section>
        <p14:section name="Gap, Questions and Objectives" id="{8556ea94-b3c2-3928-12ed-90eef48a6979}">
          <p14:sldIdLst>
            <p14:sldId id="262"/>
            <p14:sldId id="263"/>
            <p14:sldId id="264"/>
            <p14:sldId id="265"/>
          </p14:sldIdLst>
        </p14:section>
        <p14:section name="The Framework" id="{1b8a5e98-75cb-cd45-686a-1085d4f4936b}">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abd1c251-987d-8957-1fda-5aa58f39a97c}">
          <p14:sldIdLst>
            <p14:sldId id="280"/>
            <p14:sldId id="281"/>
            <p14:sldId id="282"/>
            <p14:sldId id="283"/>
          </p14:sldIdLst>
        </p14:section>
        <p14:section name="Contribution" id="{f78cb270-5d12-8e2f-66db-27625a119e6c}">
          <p14:sldIdLst>
            <p14:sldId id="284"/>
            <p14:sldId id="285"/>
            <p14:sldId id="286"/>
            <p14:sldId id="287"/>
          </p14:sldIdLst>
        </p14:section>
        <p14:section name="What is Still Open" id="{fc5543c8-0b2e-0ed9-f017-334892d6110d}">
          <p14:sldIdLst>
            <p14:sldId id="288"/>
          </p14:sldIdLst>
        </p14:section>
        <p14:section name="Research Plan" id="{bd1f38d5-e75f-19c2-53a0-24a206601f8f}">
          <p14:sldIdLst>
            <p14:sldId id="289"/>
            <p14:sldId id="290"/>
          </p14:sldIdLst>
        </p14:section>
        <p14:section name="Demo: The HALAH Prototype" id="{63e29fa5-f795-447b-4053-322b6a141871}">
          <p14:sldIdLst>
            <p14:sldId id="291"/>
            <p14:sldId id="292"/>
            <p14:sldId id="293"/>
            <p14:sldId id="294"/>
            <p14:sldId id="295"/>
            <p14:sldId id="296"/>
            <p14:sldId id="297"/>
            <p14:sldId id="298"/>
          </p14:sldIdLst>
        </p14:section>
        <p14:section name="References" id="{2be979d9-21d7-b5d1-2c63-b12726007714}">
          <p14:sldIdLst>
            <p14:sldId id="299"/>
          </p14:sldIdLst>
        </p14:section>
        <p14:section name="Thank You" id="{1f117e17-2ced-4515-cfb7-9b701a971502}">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has been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went on to the abstract stage, and 2,541 of them were screened. Then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The suspended state, the transition check,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
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
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and duplicates are not counted, and a signature replayed from another consent fails the identity check. In the demo, two of two guardians must sign. When both have signed, a soulbound token is minted on the Sepolia test network in the background. One honest note: in the prototype, the guardian keys are derived from the guardian DIDs. Wallet-held keys are for the next stage. RO3 is done.
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
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
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46 automated tests pass, including thirteen attack scenarios. I also measured the cost and the timing. The proof part is the next stage: formal proofs or model checking of the security properties, and a bigger evaluation under load. That is why RO6 is partly completed.
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twelve of thirteen attacks are refused. Automated tests: all 46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thirteen times, A1 to A13.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five checks of the decision rule take about 6 microseconds, and checking one credential about 6 milliseconds. 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 The timings were measured on the first of October 2026; the decision rule and the credential check on the eleventh of October, after the credential check was added.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2.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ALG1.png">    </p:cNvPr>
          <p:cNvPicPr>
            <a:picLocks noChangeAspect="1"/>
          </p:cNvPicPr>
          <p:nvPr/>
        </p:nvPicPr>
        <p:blipFill>
          <a:blip r:embed="rId1"/>
          <a:stretch>
            <a:fillRect/>
          </a:stretch>
        </p:blipFill>
        <p:spPr>
          <a:xfrm>
            <a:off x="6144768" y="1855182"/>
            <a:ext cx="5495544"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1FB5D6"/>
                </a:solidFill>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FFFFFF"/>
                </a:solidFill>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ALG2.png">    </p:cNvPr>
          <p:cNvPicPr>
            <a:picLocks noChangeAspect="1"/>
          </p:cNvPicPr>
          <p:nvPr/>
        </p:nvPicPr>
        <p:blipFill>
          <a:blip r:embed="rId1"/>
          <a:stretch>
            <a:fillRect/>
          </a:stretch>
        </p:blipFill>
        <p:spPr>
          <a:xfrm>
            <a:off x="6405761" y="1069848"/>
            <a:ext cx="497355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1FB5D6"/>
                </a:solidFill>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ALG3.png">    </p:cNvPr>
          <p:cNvPicPr>
            <a:picLocks noChangeAspect="1"/>
          </p:cNvPicPr>
          <p:nvPr/>
        </p:nvPicPr>
        <p:blipFill>
          <a:blip r:embed="rId1"/>
          <a:stretch>
            <a:fillRect/>
          </a:stretch>
        </p:blipFill>
        <p:spPr>
          <a:xfrm>
            <a:off x="6741964" y="1069848"/>
            <a:ext cx="4301152"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1FB5D6"/>
                </a:solidFill>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FFFFFF"/>
                </a:solidFill>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ALG4.png">    </p:cNvPr>
          <p:cNvPicPr>
            <a:picLocks noChangeAspect="1"/>
          </p:cNvPicPr>
          <p:nvPr/>
        </p:nvPicPr>
        <p:blipFill>
          <a:blip r:embed="rId1"/>
          <a:stretch>
            <a:fillRect/>
          </a:stretch>
        </p:blipFill>
        <p:spPr>
          <a:xfrm>
            <a:off x="6761547" y="1069848"/>
            <a:ext cx="42619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1FB5D6"/>
                </a:solidFill>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FFFFFF"/>
                </a:solidFill>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ALG5.png">    </p:cNvPr>
          <p:cNvPicPr>
            <a:picLocks noChangeAspect="1"/>
          </p:cNvPicPr>
          <p:nvPr/>
        </p:nvPicPr>
        <p:blipFill>
          <a:blip r:embed="rId1"/>
          <a:stretch>
            <a:fillRect/>
          </a:stretch>
        </p:blipFill>
        <p:spPr>
          <a:xfrm>
            <a:off x="6357807" y="1069848"/>
            <a:ext cx="506946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1FB5D6"/>
                </a:solidFill>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6144768" y="1829116"/>
            <a:ext cx="5495544"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1FB5D6"/>
                </a:solidFill>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38328">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38328">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86868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FFFFFF"/>
                </a:solidFill>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thirteen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Identity and keys</a:t>
            </a:r>
            <a:endParaRPr lang="en-US" sz="1900" dirty="0"/>
          </a:p>
          <a:p>
            <a:pPr indent="0" marL="0">
              <a:spcAft>
                <a:spcPts val="400"/>
              </a:spcAft>
              <a:buNone/>
            </a:pPr>
            <a:r>
              <a:rPr lang="en-US" sz="1600" dirty="0">
                <a:solidFill>
                  <a:srgbClr val="0B1F33"/>
                </a:solidFill>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Lifecycle</a:t>
            </a:r>
            <a:endParaRPr lang="en-US" sz="1900" dirty="0"/>
          </a:p>
          <a:p>
            <a:pPr indent="0" marL="0">
              <a:spcAft>
                <a:spcPts val="400"/>
              </a:spcAft>
              <a:buNone/>
            </a:pPr>
            <a:r>
              <a:rPr lang="en-US" sz="1600" dirty="0">
                <a:solidFill>
                  <a:srgbClr val="0B1F33"/>
                </a:solidFill>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Attack A11</a:t>
            </a:r>
            <a:endParaRPr lang="en-US" sz="1900" dirty="0"/>
          </a:p>
          <a:p>
            <a:pPr indent="0" marL="0">
              <a:spcAft>
                <a:spcPts val="400"/>
              </a:spcAft>
              <a:buNone/>
            </a:pPr>
            <a:r>
              <a:rPr lang="en-US" sz="1600" dirty="0">
                <a:solidFill>
                  <a:srgbClr val="0B1F33"/>
                </a:solidFill>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F21x.png">    </p:cNvPr>
          <p:cNvPicPr>
            <a:picLocks noChangeAspect="1"/>
          </p:cNvPicPr>
          <p:nvPr/>
        </p:nvPicPr>
        <p:blipFill>
          <a:blip r:embed="rId1"/>
          <a:stretch>
            <a:fillRect/>
          </a:stretch>
        </p:blipFill>
        <p:spPr>
          <a:xfrm>
            <a:off x="846698" y="1709928"/>
            <a:ext cx="653620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FFFFFF"/>
                </a:solidFill>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FFFFFF"/>
                </a:solidFill>
              </a:rPr>
              <a:t>. The guardian does not wait.</a:t>
            </a:r>
            <a:endParaRPr lang="en-US" sz="1400" dirty="0"/>
          </a:p>
          <a:p>
            <a:pPr marL="342900" indent="-342900">
              <a:buSzPct val="100000"/>
              <a:buChar char="•"/>
            </a:pPr>
            <a:r>
              <a:rPr lang="en-US" sz="1400" dirty="0">
                <a:solidFill>
                  <a:srgbClr val="FFFFFF"/>
                </a:solidFill>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 of 2, token recorded, anchoring starts</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F29m.png">    </p:cNvPr>
          <p:cNvPicPr>
            <a:picLocks noChangeAspect="1"/>
          </p:cNvPicPr>
          <p:nvPr/>
        </p:nvPicPr>
        <p:blipFill>
          <a:blip r:embed="rId1"/>
          <a:stretch>
            <a:fillRect/>
          </a:stretch>
        </p:blipFill>
        <p:spPr>
          <a:xfrm>
            <a:off x="764896" y="2624328"/>
            <a:ext cx="10661904"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F29r.png">    </p:cNvPr>
          <p:cNvPicPr>
            <a:picLocks noChangeAspect="1"/>
          </p:cNvPicPr>
          <p:nvPr/>
        </p:nvPicPr>
        <p:blipFill>
          <a:blip r:embed="rId1"/>
          <a:stretch>
            <a:fillRect/>
          </a:stretch>
        </p:blipFill>
        <p:spPr>
          <a:xfrm>
            <a:off x="1216464" y="2487168"/>
            <a:ext cx="4242192"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F30.png">    </p:cNvPr>
          <p:cNvPicPr>
            <a:picLocks noChangeAspect="1"/>
          </p:cNvPicPr>
          <p:nvPr/>
        </p:nvPicPr>
        <p:blipFill>
          <a:blip r:embed="rId2"/>
          <a:stretch>
            <a:fillRect/>
          </a:stretch>
        </p:blipFill>
        <p:spPr>
          <a:xfrm>
            <a:off x="6784147" y="2487168"/>
            <a:ext cx="4171066"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Row 40 is the anchor on Sepolia: block 11,771,243.</a:t>
            </a:r>
            <a:endParaRPr lang="en-US" sz="1400" dirty="0"/>
          </a:p>
          <a:p>
            <a:pPr marL="342900" indent="-342900">
              <a:buSzPct val="100000"/>
              <a:buChar char="•"/>
            </a:pPr>
            <a:r>
              <a:rPr lang="en-US" sz="1400" dirty="0">
                <a:solidFill>
                  <a:srgbClr val="FFFFFF"/>
                </a:solidFill>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F39a.png">    </p:cNvPr>
          <p:cNvPicPr>
            <a:picLocks noChangeAspect="1"/>
          </p:cNvPicPr>
          <p:nvPr/>
        </p:nvPicPr>
        <p:blipFill>
          <a:blip r:embed="rId1"/>
          <a:stretch>
            <a:fillRect/>
          </a:stretch>
        </p:blipFill>
        <p:spPr>
          <a:xfrm>
            <a:off x="1302523" y="2624328"/>
            <a:ext cx="9586650"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F39b.png">    </p:cNvPr>
          <p:cNvPicPr>
            <a:picLocks noChangeAspect="1"/>
          </p:cNvPicPr>
          <p:nvPr/>
        </p:nvPicPr>
        <p:blipFill>
          <a:blip r:embed="rId1"/>
          <a:stretch>
            <a:fillRect/>
          </a:stretch>
        </p:blipFill>
        <p:spPr>
          <a:xfrm>
            <a:off x="749808" y="1665556"/>
            <a:ext cx="10661904" cy="1442055"/>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F37t.png">    </p:cNvPr>
          <p:cNvPicPr>
            <a:picLocks noChangeAspect="1"/>
          </p:cNvPicPr>
          <p:nvPr/>
        </p:nvPicPr>
        <p:blipFill>
          <a:blip r:embed="rId2"/>
          <a:stretch>
            <a:fillRect/>
          </a:stretch>
        </p:blipFill>
        <p:spPr>
          <a:xfrm>
            <a:off x="749808" y="3767763"/>
            <a:ext cx="5815584" cy="2330849"/>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F36m.png">    </p:cNvPr>
          <p:cNvPicPr>
            <a:picLocks noChangeAspect="1"/>
          </p:cNvPicPr>
          <p:nvPr/>
        </p:nvPicPr>
        <p:blipFill>
          <a:blip r:embed="rId3"/>
          <a:stretch>
            <a:fillRect/>
          </a:stretch>
        </p:blipFill>
        <p:spPr>
          <a:xfrm>
            <a:off x="6967728" y="3769622"/>
            <a:ext cx="4443984" cy="1046973"/>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2026-10-12T12:42:09Z</dcterms:created>
  <dcterms:modified xsi:type="dcterms:W3CDTF">2026-10-12T12:42:09Z</dcterms:modified>
</cp:coreProperties>
</file>
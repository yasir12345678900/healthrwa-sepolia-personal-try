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0ffd8c4b-bbfc-3d70-e591-f02637e9971f}">
          <p14:sldIdLst>
            <p14:sldId id="256"/>
            <p14:sldId id="257"/>
          </p14:sldIdLst>
        </p14:section>
        <p14:section name="The Problem" id="{c03089b4-ab06-739b-055a-cc4d38c97b1f}">
          <p14:sldIdLst>
            <p14:sldId id="258"/>
            <p14:sldId id="259"/>
          </p14:sldIdLst>
        </p14:section>
        <p14:section name="Literature Review" id="{00214be9-b44a-a1f1-c8ff-ea5953700e95}">
          <p14:sldIdLst>
            <p14:sldId id="260"/>
            <p14:sldId id="261"/>
          </p14:sldIdLst>
        </p14:section>
        <p14:section name="Gap, Questions and Objectives" id="{cafa7ef7-2911-4070-b6cc-0d40fc729eb6}">
          <p14:sldIdLst>
            <p14:sldId id="262"/>
            <p14:sldId id="263"/>
            <p14:sldId id="264"/>
            <p14:sldId id="265"/>
          </p14:sldIdLst>
        </p14:section>
        <p14:section name="The Framework" id="{8b47df94-85ed-e787-0dd0-0bc739be7eee}">
          <p14:sldIdLst>
            <p14:sldId id="266"/>
            <p14:sldId id="267"/>
            <p14:sldId id="268"/>
            <p14:sldId id="269"/>
            <p14:sldId id="270"/>
            <p14:sldId id="271"/>
            <p14:sldId id="272"/>
            <p14:sldId id="273"/>
          </p14:sldIdLst>
        </p14:section>
        <p14:section name="Validation and Evaluation" id="{a91beeaa-69a3-4af1-47f2-ceceeab7e2a8}">
          <p14:sldIdLst>
            <p14:sldId id="274"/>
            <p14:sldId id="275"/>
            <p14:sldId id="276"/>
            <p14:sldId id="277"/>
          </p14:sldIdLst>
        </p14:section>
        <p14:section name="Contribution" id="{aa7453bd-90b3-3ddf-a936-c1fd60d3edf1}">
          <p14:sldIdLst>
            <p14:sldId id="278"/>
            <p14:sldId id="279"/>
            <p14:sldId id="280"/>
            <p14:sldId id="281"/>
          </p14:sldIdLst>
        </p14:section>
        <p14:section name="What is Still Open" id="{db7ee98d-5a7b-19d4-6da0-c7a00f37b0f3}">
          <p14:sldIdLst>
            <p14:sldId id="282"/>
          </p14:sldIdLst>
        </p14:section>
        <p14:section name="Research Plan" id="{66516345-9aae-7daa-fede-541f3a3e725e}">
          <p14:sldIdLst>
            <p14:sldId id="283"/>
            <p14:sldId id="284"/>
          </p14:sldIdLst>
        </p14:section>
        <p14:section name="Demo: The HALAH Prototype" id="{125e04a2-ff2f-0f82-1a90-32288d0ab2b8}">
          <p14:sldIdLst>
            <p14:sldId id="285"/>
            <p14:sldId id="286"/>
            <p14:sldId id="287"/>
            <p14:sldId id="288"/>
            <p14:sldId id="289"/>
            <p14:sldId id="290"/>
            <p14:sldId id="291"/>
            <p14:sldId id="292"/>
            <p14:sldId id="293"/>
            <p14:sldId id="294"/>
          </p14:sldIdLst>
        </p14:section>
        <p14:section name="References" id="{030f8305-3b7e-6e28-0d92-f3f9142d2620}">
          <p14:sldIdLst>
            <p14:sldId id="295"/>
            <p14:sldId id="296"/>
            <p14:sldId id="297"/>
          </p14:sldIdLst>
        </p14:section>
        <p14:section name="Thank You" id="{e32ffa5d-9eb1-c1d5-676b-5aeeb3b257da}">
          <p14:sldIdLst>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access decision, allowed or denied, is written to the off-chain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access decision, allowed or denied, is logged off-chain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and wallet-held guardian keys. Today the guardian keys are derived from the guardian DIDs.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VI, VA, VP, VT and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a:t>
            </a:r>
            <a:r>
              <a:rPr lang="en-US" sz="2400" b="1" dirty="0">
                <a:solidFill>
                  <a:srgbClr val="FFFFFF"/>
                </a:solidFill>
                <a:latin typeface="Cambria" pitchFamily="34" charset="0"/>
                <a:ea typeface="Cambria" pitchFamily="34" charset="-122"/>
                <a:cs typeface="Cambria" pitchFamily="34" charset="-120"/>
              </a:rPr>
              <a:t>VL(C)</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RO1: </a:t>
            </a:r>
            <a:r>
              <a:rPr lang="en-US" sz="1700" b="1" i="1" dirty="0">
                <a:solidFill>
                  <a:srgbClr val="1FB5D6"/>
                </a:solidFill>
              </a:rPr>
              <a:t>Trust-Centric Consent Model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FFFFFF"/>
                </a:solidFill>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RO2: </a:t>
            </a:r>
            <a:r>
              <a:rPr lang="en-US" sz="1700" b="1" i="1" dirty="0">
                <a:solidFill>
                  <a:srgbClr val="1FB5D6"/>
                </a:solidFill>
              </a:rPr>
              <a:t>Decentralised Identity and Authority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FFFFFF"/>
                </a:solidFill>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RO3: </a:t>
            </a:r>
            <a:r>
              <a:rPr lang="en-US" sz="1700" b="1" i="1" dirty="0">
                <a:solidFill>
                  <a:srgbClr val="1FB5D6"/>
                </a:solidFill>
              </a:rPr>
              <a:t>Trustworthy Multi-Party Authorisation</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RO4: </a:t>
            </a:r>
            <a:r>
              <a:rPr lang="en-US" sz="1700" b="1" i="1" dirty="0">
                <a:solidFill>
                  <a:srgbClr val="1FB5D6"/>
                </a:solidFill>
              </a:rPr>
              <a:t>Policy- and Context-Aware Access Control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427609"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RO5: </a:t>
            </a:r>
            <a:r>
              <a:rPr lang="en-US" sz="1700" b="1" i="1" dirty="0">
                <a:solidFill>
                  <a:srgbClr val="1FB5D6"/>
                </a:solidFill>
              </a:rPr>
              <a:t>Temporal and Lifecycle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070147"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RO6: </a:t>
            </a:r>
            <a:r>
              <a:rPr lang="en-US" sz="1700" b="1" i="1" dirty="0">
                <a:solidFill>
                  <a:srgbClr val="1FB5D6"/>
                </a:solidFill>
              </a:rPr>
              <a:t>Formal Security Assurance and Empirical Validation</a:t>
            </a:r>
            <a:endParaRPr lang="en-US" sz="17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919790"/>
            <a:ext cx="3803904" cy="370422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t>
            </a: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a:t>
            </a:r>
            <a:r>
              <a:rPr lang="en-US" sz="2000" b="1" dirty="0">
                <a:solidFill>
                  <a:srgbClr val="FFFFFF"/>
                </a:solidFill>
              </a:rPr>
              <a:t>shifts the focus</a:t>
            </a:r>
            <a:r>
              <a:rPr lang="en-US" sz="2000" dirty="0">
                <a:solidFill>
                  <a:srgbClr val="FFFFFF"/>
                </a:solidFill>
              </a:rPr>
              <a:t> from determining </a:t>
            </a:r>
            <a:r>
              <a:rPr lang="en-US" sz="2000" b="1" dirty="0">
                <a:solidFill>
                  <a:srgbClr val="FFFFFF"/>
                </a:solidFill>
              </a:rPr>
              <a:t>whether consent has merely been recorded</a:t>
            </a:r>
            <a:r>
              <a:rPr lang="en-US" sz="2000" dirty="0">
                <a:solidFill>
                  <a:srgbClr val="FFFFFF"/>
                </a:solidFill>
              </a:rPr>
              <a:t> towards determining whether a data-access decision has been generated under </a:t>
            </a:r>
            <a:r>
              <a:rPr lang="en-US" sz="2000" b="1" dirty="0">
                <a:solidFill>
                  <a:srgbClr val="FFFFFF"/>
                </a:solidFill>
              </a:rPr>
              <a:t>sufficient and independently verifiable trust conditions</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brings </a:t>
            </a:r>
            <a:r>
              <a:rPr lang="en-US" sz="2000" b="1" dirty="0">
                <a:solidFill>
                  <a:srgbClr val="FFFFFF"/>
                </a:solidFill>
              </a:rPr>
              <a:t>identity, authority, multi-party approval, policy, time and lifecycle</a:t>
            </a:r>
            <a:r>
              <a:rPr lang="en-US" sz="2000" dirty="0">
                <a:solidFill>
                  <a:srgbClr val="FFFFFF"/>
                </a:solidFill>
              </a:rPr>
              <a:t> together in </a:t>
            </a:r>
            <a:r>
              <a:rPr lang="en-US" sz="2000" b="1" dirty="0">
                <a:solidFill>
                  <a:srgbClr val="FFFFFF"/>
                </a:solidFill>
              </a:rPr>
              <a:t>one access decision</a:t>
            </a:r>
            <a:r>
              <a:rPr lang="en-US" sz="2000" dirty="0">
                <a:solidFill>
                  <a:srgbClr val="FFFFFF"/>
                </a:solidFill>
              </a:rPr>
              <a:t> that is checked at </a:t>
            </a:r>
            <a:r>
              <a:rPr lang="en-US" sz="2000" b="1" dirty="0">
                <a:solidFill>
                  <a:srgbClr val="FFFFFF"/>
                </a:solidFill>
              </a:rPr>
              <a:t>every request</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a:t>
            </a:r>
            <a:r>
              <a:rPr lang="en-US" sz="2000" b="1" dirty="0">
                <a:solidFill>
                  <a:srgbClr val="FFFFFF"/>
                </a:solidFill>
              </a:rPr>
              <a:t>multi-party approval</a:t>
            </a:r>
            <a:r>
              <a:rPr lang="en-US" sz="2000" dirty="0">
                <a:solidFill>
                  <a:srgbClr val="FFFFFF"/>
                </a:solidFill>
              </a:rPr>
              <a:t> a standing condition of access: </a:t>
            </a:r>
            <a:r>
              <a:rPr lang="en-US" sz="2000" b="1" dirty="0">
                <a:solidFill>
                  <a:srgbClr val="FFFFFF"/>
                </a:solidFill>
              </a:rPr>
              <a:t>every listed guardian</a:t>
            </a:r>
            <a:r>
              <a:rPr lang="en-US" sz="2000" dirty="0">
                <a:solidFill>
                  <a:srgbClr val="FFFFFF"/>
                </a:solidFill>
              </a:rPr>
              <a:t> must sign with </a:t>
            </a:r>
            <a:r>
              <a:rPr lang="en-US" sz="2000" b="1" dirty="0">
                <a:solidFill>
                  <a:srgbClr val="FFFFFF"/>
                </a:solidFill>
              </a:rPr>
              <a:t>EIP-712</a:t>
            </a:r>
            <a:r>
              <a:rPr lang="en-US" sz="2000" dirty="0">
                <a:solidFill>
                  <a:srgbClr val="FFFFFF"/>
                </a:solidFill>
              </a:rPr>
              <a:t>, and </a:t>
            </a:r>
            <a:r>
              <a:rPr lang="en-US" sz="2000" b="1" dirty="0">
                <a:solidFill>
                  <a:srgbClr val="FFFFFF"/>
                </a:solidFill>
              </a:rPr>
              <a:t>no single party</a:t>
            </a:r>
            <a:r>
              <a:rPr lang="en-US" sz="2000" dirty="0">
                <a:solidFill>
                  <a:srgbClr val="FFFFFF"/>
                </a:solidFill>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It is built on a </a:t>
            </a:r>
            <a:r>
              <a:rPr lang="en-US" sz="2000" b="1" dirty="0">
                <a:solidFill>
                  <a:srgbClr val="FFFFFF"/>
                </a:solidFill>
              </a:rPr>
              <a:t>PRISMA 2020 review of 25 studies</a:t>
            </a:r>
            <a:r>
              <a:rPr lang="en-US" sz="2000" dirty="0">
                <a:solidFill>
                  <a:srgbClr val="FFFFFF"/>
                </a:solidFill>
              </a:rPr>
              <a:t> and tested in a </a:t>
            </a:r>
            <a:r>
              <a:rPr lang="en-US" sz="2000" b="1" dirty="0">
                <a:solidFill>
                  <a:srgbClr val="FFFFFF"/>
                </a:solidFill>
              </a:rPr>
              <a:t>working prototype on Sepolia</a:t>
            </a:r>
            <a:r>
              <a:rPr lang="en-US" sz="2000" dirty="0">
                <a:solidFill>
                  <a:srgbClr val="FFFFFF"/>
                </a:solidFill>
              </a:rPr>
              <a:t>, with </a:t>
            </a:r>
            <a:r>
              <a:rPr lang="en-US" sz="2000" b="1" dirty="0">
                <a:solidFill>
                  <a:srgbClr val="FFFFFF"/>
                </a:solidFill>
              </a:rPr>
              <a:t>measurements</a:t>
            </a:r>
            <a:r>
              <a:rPr lang="en-US" sz="2000" dirty="0">
                <a:solidFill>
                  <a:srgbClr val="FFFFFF"/>
                </a:solidFill>
              </a:rPr>
              <a:t> and </a:t>
            </a:r>
            <a:r>
              <a:rPr lang="en-US" sz="2000" b="1" dirty="0">
                <a:solidFill>
                  <a:srgbClr val="FFFFFF"/>
                </a:solidFill>
              </a:rPr>
              <a:t>twelve attack scenarios</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gives </a:t>
            </a:r>
            <a:r>
              <a:rPr lang="en-US" sz="2000" b="1" dirty="0">
                <a:solidFill>
                  <a:srgbClr val="FFFFFF"/>
                </a:solidFill>
              </a:rPr>
              <a:t>patients and their guardians</a:t>
            </a:r>
            <a:r>
              <a:rPr lang="en-US" sz="2000" dirty="0">
                <a:solidFill>
                  <a:srgbClr val="FFFFFF"/>
                </a:solidFill>
              </a:rPr>
              <a:t> a direct role in deciding </a:t>
            </a:r>
            <a:r>
              <a:rPr lang="en-US" sz="2000" b="1" dirty="0">
                <a:solidFill>
                  <a:srgbClr val="FFFFFF"/>
                </a:solidFill>
              </a:rPr>
              <a:t>who can see the patient's data</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prevents </a:t>
            </a:r>
            <a:r>
              <a:rPr lang="en-US" sz="2000" b="1" dirty="0">
                <a:solidFill>
                  <a:srgbClr val="FFFFFF"/>
                </a:solidFill>
              </a:rPr>
              <a:t>a single person</a:t>
            </a:r>
            <a:r>
              <a:rPr lang="en-US" sz="2000" dirty="0">
                <a:solidFill>
                  <a:srgbClr val="FFFFFF"/>
                </a:solidFill>
              </a:rPr>
              <a:t> from authorising access to </a:t>
            </a:r>
            <a:r>
              <a:rPr lang="en-US" sz="2000" b="1" dirty="0">
                <a:solidFill>
                  <a:srgbClr val="FFFFFF"/>
                </a:solidFill>
              </a:rPr>
              <a:t>sensitive health data alone</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every access decision </a:t>
            </a:r>
            <a:r>
              <a:rPr lang="en-US" sz="2000" b="1" dirty="0">
                <a:solidFill>
                  <a:srgbClr val="FFFFFF"/>
                </a:solidFill>
              </a:rPr>
              <a:t>explainable to auditors</a:t>
            </a:r>
            <a:r>
              <a:rPr lang="en-US" sz="2000" dirty="0">
                <a:solidFill>
                  <a:srgbClr val="FFFFFF"/>
                </a:solidFill>
              </a:rPr>
              <a:t>: which check </a:t>
            </a:r>
            <a:r>
              <a:rPr lang="en-US" sz="2000" b="1" dirty="0">
                <a:solidFill>
                  <a:srgbClr val="FFFFFF"/>
                </a:solidFill>
              </a:rPr>
              <a:t>passed</a:t>
            </a:r>
            <a:r>
              <a:rPr lang="en-US" sz="2000" dirty="0">
                <a:solidFill>
                  <a:srgbClr val="FFFFFF"/>
                </a:solidFill>
              </a:rPr>
              <a:t> and which </a:t>
            </a:r>
            <a:r>
              <a:rPr lang="en-US" sz="2000" b="1" dirty="0">
                <a:solidFill>
                  <a:srgbClr val="FFFFFF"/>
                </a:solidFill>
              </a:rPr>
              <a:t>failed</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keeps </a:t>
            </a:r>
            <a:r>
              <a:rPr lang="en-US" sz="2000" b="1" dirty="0">
                <a:solidFill>
                  <a:srgbClr val="FFFFFF"/>
                </a:solidFill>
              </a:rPr>
              <a:t>medical records off-chain</a:t>
            </a:r>
            <a:r>
              <a:rPr lang="en-US" sz="2000" dirty="0">
                <a:solidFill>
                  <a:srgbClr val="FFFFFF"/>
                </a:solidFill>
              </a:rPr>
              <a:t>, so only </a:t>
            </a:r>
            <a:r>
              <a:rPr lang="en-US" sz="2000" b="1" dirty="0">
                <a:solidFill>
                  <a:srgbClr val="FFFFFF"/>
                </a:solidFill>
              </a:rPr>
              <a:t>consent evidence</a:t>
            </a:r>
            <a:r>
              <a:rPr lang="en-US" sz="2000" dirty="0">
                <a:solidFill>
                  <a:srgbClr val="FFFFFF"/>
                </a:solidFill>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It can support </a:t>
            </a:r>
            <a:r>
              <a:rPr lang="en-US" sz="2000" b="1" dirty="0">
                <a:solidFill>
                  <a:srgbClr val="FFFFFF"/>
                </a:solidFill>
              </a:rPr>
              <a:t>trust between hospitals</a:t>
            </a:r>
            <a:r>
              <a:rPr lang="en-US" sz="2000" dirty="0">
                <a:solidFill>
                  <a:srgbClr val="FFFFFF"/>
                </a:solidFill>
              </a:rPr>
              <a:t> and other </a:t>
            </a:r>
            <a:r>
              <a:rPr lang="en-US" sz="2000" b="1" dirty="0">
                <a:solidFill>
                  <a:srgbClr val="FFFFFF"/>
                </a:solidFill>
              </a:rPr>
              <a:t>independent parties</a:t>
            </a:r>
            <a:r>
              <a:rPr lang="en-US" sz="2000" dirty="0">
                <a:solidFill>
                  <a:srgbClr val="FFFFFF"/>
                </a:solidFill>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and wallet-held guardian keys. Today: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a:t>
            </a:r>
            <a:r>
              <a:rPr lang="en-US" sz="1600" dirty="0">
                <a:solidFill>
                  <a:srgbClr val="FFFFFF"/>
                </a:solidFill>
              </a:rPr>
              <a:t>and</a:t>
            </a:r>
            <a:r>
              <a:rPr lang="en-US" sz="1600" dirty="0">
                <a:solidFill>
                  <a:srgbClr val="FFFFFF"/>
                </a:solidFill>
              </a:rPr>
              <a:t> the validity time.</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a:t>
            </a:r>
            <a:r>
              <a:rPr lang="en-US" sz="1600" dirty="0">
                <a:solidFill>
                  <a:srgbClr val="FFFFFF"/>
                </a:solidFill>
              </a:rPr>
              <a:t>and</a:t>
            </a:r>
            <a:r>
              <a:rPr lang="en-US" sz="1600" dirty="0">
                <a:solidFill>
                  <a:srgbClr val="FFFFFF"/>
                </a:solidFill>
              </a:rPr>
              <a:t> time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a:t>
            </a:r>
            <a:r>
              <a:rPr lang="en-US" sz="3000" b="1" dirty="0">
                <a:solidFill>
                  <a:srgbClr val="FFFFFF"/>
                </a:solidFill>
                <a:latin typeface="Arial" pitchFamily="34" charset="0"/>
                <a:ea typeface="Arial" pitchFamily="34" charset="-122"/>
                <a:cs typeface="Arial" pitchFamily="34" charset="-120"/>
              </a:rPr>
              <a:t>: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a:t>
            </a:r>
            <a:r>
              <a:rPr lang="en-US" sz="3000" b="1" dirty="0">
                <a:solidFill>
                  <a:srgbClr val="FFFFFF"/>
                </a:solidFill>
                <a:latin typeface="Arial" pitchFamily="34" charset="0"/>
                <a:ea typeface="Arial" pitchFamily="34" charset="-122"/>
                <a:cs typeface="Arial" pitchFamily="34" charset="-120"/>
              </a:rPr>
              <a:t>: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a:t>
            </a:r>
            <a:r>
              <a:rPr lang="en-US" sz="3000" b="1" dirty="0">
                <a:solidFill>
                  <a:srgbClr val="FFFFFF"/>
                </a:solidFill>
                <a:latin typeface="Arial" pitchFamily="34" charset="0"/>
                <a:ea typeface="Arial" pitchFamily="34" charset="-122"/>
                <a:cs typeface="Arial" pitchFamily="34" charset="-120"/>
              </a:rPr>
              <a:t>: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a:t>
            </a:r>
            <a:r>
              <a:rPr lang="en-US" sz="3000" b="1" dirty="0">
                <a:solidFill>
                  <a:srgbClr val="FFFFFF"/>
                </a:solidFill>
                <a:latin typeface="Arial" pitchFamily="34" charset="0"/>
                <a:ea typeface="Arial" pitchFamily="34" charset="-122"/>
                <a:cs typeface="Arial" pitchFamily="34" charset="-120"/>
              </a:rPr>
              <a:t>: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2026-10-11T07:14:10Z</dcterms:created>
  <dcterms:modified xsi:type="dcterms:W3CDTF">2026-10-11T07:14:10Z</dcterms:modified>
</cp:coreProperties>
</file>
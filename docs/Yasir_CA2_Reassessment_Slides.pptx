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185553f-de5a-9140-1726-3c1c4d3930ad}">
          <p14:sldIdLst>
            <p14:sldId id="256"/>
          </p14:sldIdLst>
        </p14:section>
        <p14:section name="Outline" id="{30b8d06e-839f-4174-8883-af72b07d6dbe}">
          <p14:sldIdLst>
            <p14:sldId id="257"/>
          </p14:sldIdLst>
        </p14:section>
        <p14:section name="Introduction" id="{46691122-8e9b-93bf-9781-9a93039f7c8d}">
          <p14:sldIdLst>
            <p14:sldId id="258"/>
            <p14:sldId id="259"/>
          </p14:sldIdLst>
        </p14:section>
        <p14:section name="Systematic Literature Review" id="{47c08d4f-1d1f-8144-9903-02b2b06648cf}">
          <p14:sldIdLst>
            <p14:sldId id="260"/>
            <p14:sldId id="261"/>
            <p14:sldId id="262"/>
            <p14:sldId id="263"/>
            <p14:sldId id="264"/>
            <p14:sldId id="265"/>
            <p14:sldId id="266"/>
            <p14:sldId id="267"/>
          </p14:sldIdLst>
        </p14:section>
        <p14:section name="Research Gaps" id="{1474fc18-ea81-5826-1f36-38049da17784}">
          <p14:sldIdLst>
            <p14:sldId id="268"/>
          </p14:sldIdLst>
        </p14:section>
        <p14:section name="Research Questions" id="{b9304f7b-a844-83d0-2d78-aaaad8648b90}">
          <p14:sldIdLst>
            <p14:sldId id="269"/>
            <p14:sldId id="270"/>
          </p14:sldIdLst>
        </p14:section>
        <p14:section name="Research Objectives" id="{c61d094e-544e-4420-d2de-555784b0867b}">
          <p14:sldIdLst>
            <p14:sldId id="271"/>
          </p14:sldIdLst>
        </p14:section>
        <p14:section name="Research Methodology" id="{5193f0bb-c19e-291c-cac6-ed249912de47}">
          <p14:sldIdLst>
            <p14:sldId id="272"/>
          </p14:sldIdLst>
        </p14:section>
        <p14:section name="Research Architecture" id="{5af68347-a017-4afc-89e1-2f01e390e6ce}">
          <p14:sldIdLst>
            <p14:sldId id="273"/>
          </p14:sldIdLst>
        </p14:section>
        <p14:section name="The Proposed Solutions" id="{64ffa591-a54c-c379-a6c4-1d085a61e77a}">
          <p14:sldIdLst>
            <p14:sldId id="274"/>
            <p14:sldId id="275"/>
            <p14:sldId id="276"/>
            <p14:sldId id="277"/>
            <p14:sldId id="278"/>
            <p14:sldId id="279"/>
            <p14:sldId id="280"/>
          </p14:sldIdLst>
        </p14:section>
        <p14:section name="Implementation and Evaluation" id="{fffcce0d-0d16-7738-27a8-d425eb8ab4b8}">
          <p14:sldIdLst>
            <p14:sldId id="281"/>
            <p14:sldId id="282"/>
            <p14:sldId id="283"/>
            <p14:sldId id="284"/>
            <p14:sldId id="285"/>
            <p14:sldId id="286"/>
          </p14:sldIdLst>
        </p14:section>
        <p14:section name="Significance of the Research" id="{d079d8fb-7a4a-85ca-4287-07b72a2ea83f}">
          <p14:sldIdLst>
            <p14:sldId id="287"/>
            <p14:sldId id="288"/>
            <p14:sldId id="289"/>
            <p14:sldId id="290"/>
          </p14:sldIdLst>
        </p14:section>
        <p14:section name="Research Plan" id="{5c019973-f593-061a-bd05-060c5888063f}">
          <p14:sldIdLst>
            <p14:sldId id="291"/>
            <p14:sldId id="292"/>
          </p14:sldIdLst>
        </p14:section>
        <p14:section name="References" id="{3404da65-07c3-d697-a0d8-7b6ab8bc3ee0}">
          <p14:sldIdLst>
            <p14:sldId id="293"/>
            <p14:sldId id="294"/>
            <p14:sldId id="295"/>
            <p14:sldId id="296"/>
            <p14:sldId id="297"/>
            <p14:sldId id="298"/>
          </p14:sldIdLst>
        </p14:section>
        <p14:section name="Thank You" id="{d9780c3b-31e5-3e96-1ed7-e7f313dfab67}">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CA2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CA3.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in CA3,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how I measure the objectives. Each row is one metric, with its definition, its formula and what it measures.
Gas used comes from the receipt of each anchored transaction. It shows the on-chain execution cost. The transaction fee is gas used times the gas price, in ETH. Sepolia ETH has no money value, so this shows cost, not real spending.
Submit-to-confirmation latency is the time between the local event and the on-chain event in the ledger. It shows the anchoring delay. Processing time is the time of each decision part over repeated runs. I report the median, minimum and maximum.
For decision correctness, a scenario passes only when the observed decision equals the expected decision. Attack resistance counts how many of the twelve attacks are refused. After the hardening, eleven of twelve are refused.
Possible question: Which attack is not refused? A11. A rewritten audit event changes its digest, but no part of the prototype compares the digest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CA3 defence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CA3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CA3?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CA3</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METRICS FOR OBJECTIVES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3291840"/>
                <a:gridCol w="3017520"/>
                <a:gridCol w="2377440"/>
              </a:tblGrid>
              <a:tr h="77724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measures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execution cost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Cost in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ledger events of the local and the on-chain 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event) − t(local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Anchoring delay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Responsiveness of the access path</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Decision correctness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decision against expected decision for each scenario</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Security correctness of the decision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Attack resistance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Attack scenarios A1 to A12 that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 (11 / 12 after the hardening)</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Resilience against deliberate bypass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2026-10-04T11:57:43Z</dcterms:created>
  <dcterms:modified xsi:type="dcterms:W3CDTF">2026-10-04T11:57:43Z</dcterms:modified>
</cp:coreProperties>
</file>
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2620bcf0-6554-5a9e-e026-f4e46cc79ed6}">
          <p14:sldIdLst>
            <p14:sldId id="256"/>
            <p14:sldId id="257"/>
          </p14:sldIdLst>
        </p14:section>
        <p14:section name="The Problem" id="{59ecf3e2-2268-2793-47ea-0cfd81faa4dc}">
          <p14:sldIdLst>
            <p14:sldId id="258"/>
            <p14:sldId id="259"/>
          </p14:sldIdLst>
        </p14:section>
        <p14:section name="Literature Review" id="{61b55069-84c5-5b61-2609-ae3a231edbae}">
          <p14:sldIdLst>
            <p14:sldId id="260"/>
            <p14:sldId id="261"/>
          </p14:sldIdLst>
        </p14:section>
        <p14:section name="Gap, Questions and Objectives" id="{71b9bc9c-8098-f6e7-ee7c-0cea8de82c64}">
          <p14:sldIdLst>
            <p14:sldId id="262"/>
            <p14:sldId id="263"/>
            <p14:sldId id="264"/>
            <p14:sldId id="265"/>
          </p14:sldIdLst>
        </p14:section>
        <p14:section name="The Framework" id="{cbd67a48-b428-3645-0842-5e8c2d6253d8}">
          <p14:sldIdLst>
            <p14:sldId id="266"/>
            <p14:sldId id="267"/>
            <p14:sldId id="268"/>
            <p14:sldId id="269"/>
            <p14:sldId id="270"/>
            <p14:sldId id="271"/>
            <p14:sldId id="272"/>
            <p14:sldId id="273"/>
          </p14:sldIdLst>
        </p14:section>
        <p14:section name="Validation and Evaluation" id="{c0e1571b-117f-2d7c-9209-37bbb023e2ed}">
          <p14:sldIdLst>
            <p14:sldId id="274"/>
            <p14:sldId id="275"/>
            <p14:sldId id="276"/>
            <p14:sldId id="277"/>
          </p14:sldIdLst>
        </p14:section>
        <p14:section name="Contribution" id="{416d5278-8916-e1c4-733f-cbe5f40a354f}">
          <p14:sldIdLst>
            <p14:sldId id="278"/>
            <p14:sldId id="279"/>
            <p14:sldId id="280"/>
            <p14:sldId id="281"/>
          </p14:sldIdLst>
        </p14:section>
        <p14:section name="What is Still Open" id="{b9a78426-1382-98a0-2ffe-87ec5097b3be}">
          <p14:sldIdLst>
            <p14:sldId id="282"/>
          </p14:sldIdLst>
        </p14:section>
        <p14:section name="Research Plan" id="{01fcdc21-7013-e5a8-aa11-672b07d21368}">
          <p14:sldIdLst>
            <p14:sldId id="283"/>
            <p14:sldId id="284"/>
          </p14:sldIdLst>
        </p14:section>
        <p14:section name="Demo: The HALAH Prototype" id="{de070d4a-16d8-f26b-4895-d474c2b2ec84}">
          <p14:sldIdLst>
            <p14:sldId id="285"/>
            <p14:sldId id="286"/>
            <p14:sldId id="287"/>
            <p14:sldId id="288"/>
            <p14:sldId id="289"/>
            <p14:sldId id="290"/>
            <p14:sldId id="291"/>
            <p14:sldId id="292"/>
          </p14:sldIdLst>
        </p14:section>
        <p14:section name="References" id="{105eadea-6c4a-e3be-37ca-3274d6c6fff6}">
          <p14:sldIdLst>
            <p14:sldId id="293"/>
            <p14:sldId id="294"/>
            <p14:sldId id="295"/>
          </p14:sldIdLst>
        </p14:section>
        <p14:section name="Thank You" id="{d989bf2f-5580-7956-a490-e8b48bd155e8}">
          <p14:sldIdLst>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a:t>
            </a:r>
            <a:r>
              <a:rPr lang="en-US" dirty="0">
                <a:highlight>
                  <a:srgbClr val="FFFF00"/>
                </a:highlight>
              </a:rPr>
              <a:t>gap</a:t>
            </a:r>
            <a:r>
              <a:rPr lang="en-US" dirty="0"/>
              <a:t>, the questions and the objectives. After that, the framework and its six steps. </a:t>
            </a:r>
            <a:r>
              <a:rPr lang="en-US" dirty="0">
                <a:highlight>
                  <a:srgbClr val="FFFF00"/>
                </a:highlight>
              </a:rPr>
              <a:t>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t>
            </a:r>
            <a:r>
              <a:rPr lang="en-US" dirty="0">
                <a:highlight>
                  <a:srgbClr val="FFFF00"/>
                </a:highlight>
              </a:rPr>
              <a:t>And even with approval, a request can ask for more data than the patient allowed, or it can come after the consent has expired or has been cancelled.</a:t>
            </a:r>
            <a:r>
              <a:rPr lang="en-US" dirty="0"/>
              <a:t>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t>
            </a:r>
            <a:r>
              <a:rPr lang="en-US" dirty="0">
                <a:highlight>
                  <a:srgbClr val="FFFF00"/>
                </a:highlight>
              </a:rPr>
              <a:t>authorisation</a:t>
            </a:r>
            <a:r>
              <a:rPr lang="en-US" dirty="0"/>
              <a:t>: which guardians must approve, and how many. P is policy: the purpose and the data that was agreed. T is time: when the consent starts and when it ends. </a:t>
            </a:r>
            <a:r>
              <a:rPr lang="en-US" dirty="0">
                <a:highlight>
                  <a:srgbClr val="FFFF00"/>
                </a:highlight>
              </a:rPr>
              <a:t>L is lifecycle: the state of the consent, from creation to expiry or revocation.</a:t>
            </a:r>
            <a:r>
              <a:rPr lang="en-US" dirty="0"/>
              <a:t>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t>
            </a:r>
            <a:r>
              <a:rPr lang="en-US" dirty="0">
                <a:highlight>
                  <a:srgbClr val="FFFF00"/>
                </a:highlight>
              </a:rPr>
              <a:t>After I removed duplicates, 6,039 were screened by title. 3,129 went on to the abstract stage, and 2,541 of them were screened. Then 1,800 full texts were put in order of priority.</a:t>
            </a:r>
            <a:r>
              <a:rPr lang="en-US" dirty="0"/>
              <a:t>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a:t>
            </a:r>
            <a:r>
              <a:rPr lang="en-US" dirty="0">
                <a:highlight>
                  <a:srgbClr val="FFFF00"/>
                </a:highlight>
              </a:rPr>
              <a:t>The suspended state, the transition check, consent changes, delegation and guardian changes are for the next stage.</a:t>
            </a:r>
            <a:r>
              <a:rPr lang="en-US" dirty="0"/>
              <a:t>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a:t>
            </a:r>
            <a:r>
              <a:rPr lang="en-US" dirty="0">
                <a:highlight>
                  <a:srgbClr val="FFFF00"/>
                </a:highlight>
              </a:rPr>
              <a:t>research gap</a:t>
            </a:r>
            <a:r>
              <a:rPr lang="en-US" dirty="0"/>
              <a:t>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a:t>
            </a:r>
            <a:r>
              <a:rPr lang="en-US" dirty="0">
                <a:highlight>
                  <a:srgbClr val="FFFF00"/>
                </a:highlight>
              </a:rPr>
              <a:t>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a:t>
            </a:r>
            <a:r>
              <a:rPr lang="en-US" dirty="0"/>
              <a:t> If any one check fails, the answer is DENY. In the prototype, a Groth16 zero-knowledge proof must also pass before any data is released. And </a:t>
            </a:r>
            <a:r>
              <a:rPr lang="en-US" dirty="0">
                <a:highlight>
                  <a:srgbClr val="FFFF00"/>
                </a:highlight>
              </a:rPr>
              <a:t>every access decision, allowed or denied, is written to the off-chain audit ledger</a:t>
            </a:r>
            <a:r>
              <a:rPr lang="en-US"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t>
            </a:r>
            <a:r>
              <a:rPr lang="en-US" dirty="0">
                <a:highlight>
                  <a:srgbClr val="FFFF00"/>
                </a:highlight>
              </a:rPr>
              <a:t>and</a:t>
            </a:r>
            <a:r>
              <a:rPr lang="en-US" dirty="0"/>
              <a:t> the start and end time. The system checks every field. For example, an empty data scope or a bad guardian DID is rejected. </a:t>
            </a:r>
            <a:r>
              <a:rPr lang="en-US" dirty="0">
                <a:highlight>
                  <a:srgbClr val="FFFF00"/>
                </a:highlight>
              </a:rPr>
              <a:t>Then the system creates the consent object, assigns a consent identifier, persists the record, and records the creation event in the audit layer.</a:t>
            </a:r>
            <a:r>
              <a:rPr lang="en-US" dirty="0"/>
              <a:t> Nothing goes to the blockchain yet. This is RO1, and it is done.
Algorithm 1: Trust-Aware Consent Creation
The box in the middle of the slide is Algorithm 1 from my report. The flowchart on the right shows its main steps in a simpler form: it collects all the inputs, runs one combined validity check with a Yes and a No branch, and then creates and stores the consent and records an audit entry.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Next, we verify that the doctor is authorised.
Line 6: Validate guardian set G
We verify the guardians involved in the consent process.
Line 7: Validate purpose P_u
We check whether the purpose of accessing the patient’s data is valid.
Line 8: Validate data scope S_C
We verify which patient data can be accessed.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E)
We build the consent object from its four main parts. These are identity I, authorisation requirements A, policy constraints P such as purpose and data scope,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a:t>
            </a:r>
            <a:r>
              <a:rPr lang="en-US" dirty="0">
                <a:highlight>
                  <a:srgbClr val="FFFF00"/>
                </a:highlight>
              </a:rPr>
              <a:t>In the HALAH implementation, the guardian workflow uses a selected guardian DID and invokes VC verification before adding the guardian's signature to the consent. Full DID resolution is planned for the next stage.</a:t>
            </a:r>
            <a:r>
              <a:rPr lang="en-US" dirty="0"/>
              <a:t> So RO2 is done at the design level and in the prototype.
Algorithm 2: DID and VC Identity and Authority Verification
The box in the middle of the slide is Algorithm 2 from my report. The flowchart on the right follows the same order, but it joins the two DID checks into one “DID Valid?” decision and the two credential checks into one “VC Valid?” decision, and every “No” leads to Reject Participant, which is the INVALID result here.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a:t>
            </a:r>
            <a:r>
              <a:rPr lang="en-US" dirty="0">
                <a:highlight>
                  <a:srgbClr val="FFFF00"/>
                </a:highlight>
              </a:rPr>
              <a:t>Outsiders and duplicates are not counted, and a signature replayed from another consent fails the identity check.</a:t>
            </a:r>
            <a:r>
              <a:rPr lang="en-US" dirty="0"/>
              <a:t> In the demo, two of two guardians must sign. When both have signed, a soulbound token is minted on the Sepolia test network in the background. One honest note: in the prototype, the guardian keys are derived from the guardian DIDs. Wallet-held keys are for the next stage. RO3 is done.
Algorithm 3: Threshold-Based Multi-Party Authorisation
The box in the middle of the slide is Algorithm 3 from my report. The flowchart on the right shows the same three checks in the same order, with the identity check drawn as the prototype runs it, but it joins the three rejections into one box and shows activation last, after the token and the evidence.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
Algorithm 4: Policy-Aware Access Decision
The box in the middle of the slide is Algorithm 4 from my report. The flowchart on the right shows the same checks, but it checks the consent state before the identity, and it shows the validity interval check and the Groth16 zero-knowledge proof as separate steps before access is granted.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L is the lifecycle state: created, pending, active, suspended, revoked or expired, and VL checks a valid state and a valid transition.</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
Algorithm 5: Temporal and Lifecycle Validation
The box in the middle of the slide is Algorithm 5 from my report. The flowchart on the right shows the same four checks in the same order, with the transition check drawn in dashed lines because it is planned for the next stage; INVALID leads to Deny Access and VALID leads to Continue Authorisation Evaluation.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a:t>
            </a:r>
            <a:r>
              <a:rPr lang="en-US" dirty="0">
                <a:highlight>
                  <a:srgbClr val="FFFF00"/>
                </a:highlight>
              </a:rPr>
              <a:t>46 automated tests pass, including thirteen attack scenarios.</a:t>
            </a:r>
            <a:r>
              <a:rPr lang="en-US" dirty="0"/>
              <a:t> I also measured the cost and the timing. The proof part is the next stage: formal proofs or model checking of the security properties, and a bigger evaluation under load. That is why RO6 is partly completed.
Algorithm 6: Formal and Empirical Authorisation Validation
The box on the left of the slide is Algorithm 6 from my report. The flowchart on the right shows the same main steps, but it also adds a practical performance check and a loop that refines the framework and tests again when a property fails, which the pseudocode does not include.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a:t>
            </a:r>
            <a:r>
              <a:rPr lang="en-US" dirty="0">
                <a:highlight>
                  <a:srgbClr val="FFFF00"/>
                </a:highlight>
              </a:rPr>
              <a:t>was</a:t>
            </a:r>
            <a:r>
              <a:rPr lang="en-US" dirty="0"/>
              <a:t> refused. </a:t>
            </a:r>
            <a:r>
              <a:rPr lang="en-US" dirty="0">
                <a:highlight>
                  <a:srgbClr val="FFFF00"/>
                </a:highlight>
              </a:rPr>
              <a:t>Attack scenarios: twelve of thirteen attacks are refused. Automated tests: all 46 pass.</a:t>
            </a:r>
            <a:r>
              <a:rPr lang="en-US" dirty="0"/>
              <a:t>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t>
            </a:r>
            <a:r>
              <a:rPr lang="en-US" dirty="0">
                <a:highlight>
                  <a:srgbClr val="FFFF00"/>
                </a:highlight>
              </a:rPr>
              <a:t>All five rows</a:t>
            </a:r>
            <a:r>
              <a:rPr lang="en-US" dirty="0"/>
              <a:t> are allowed requests: all five checks PASS, the decision is ALLOW, access is GRANTED, and the proof mode is Groth16. </a:t>
            </a:r>
            <a:r>
              <a:rPr lang="en-US" dirty="0">
                <a:highlight>
                  <a:srgbClr val="FFFF00"/>
                </a:highlight>
              </a:rPr>
              <a:t>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also attacked my own system thirteen times, A1 to A13.</a:t>
            </a:r>
            <a:r>
              <a:rPr lang="en-US" dirty="0"/>
              <a:t>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t>
            </a:r>
            <a:r>
              <a:rPr lang="en-US" dirty="0">
                <a:highlight>
                  <a:srgbClr val="FFFF00"/>
                </a:highlight>
              </a:rPr>
              <a:t>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a:t>
            </a:r>
            <a:r>
              <a:rPr lang="en-US" dirty="0"/>
              <a:t> </a:t>
            </a:r>
            <a:r>
              <a:rPr lang="en-US" dirty="0">
                <a:highlight>
                  <a:srgbClr val="FFFF00"/>
                </a:highlight>
              </a:rPr>
              <a:t>The timings were measured on the first of October 2026; the decision rule and the credential check on the eleventh of October, after the credential check was added.</a:t>
            </a:r>
            <a:r>
              <a:rPr lang="en-US" dirty="0"/>
              <a:t>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a:t>
            </a:r>
            <a:r>
              <a:rPr lang="en-US" dirty="0">
                <a:highlight>
                  <a:srgbClr val="FFFF00"/>
                </a:highlight>
              </a:rPr>
              <a:t>every access decision, allowed or denied, is logged off-chain</a:t>
            </a:r>
            <a:r>
              <a:rPr lang="en-US" dirty="0"/>
              <a:t>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a:t>
            </a:r>
            <a:r>
              <a:rPr lang="en-US" dirty="0">
                <a:highlight>
                  <a:srgbClr val="FFFF00"/>
                </a:highlight>
              </a:rPr>
              <a:t>The token on Sepolia stores pseudonymous addresses, a hash of the purpose, the validity window and a revocation flag.</a:t>
            </a:r>
            <a:r>
              <a:rPr lang="en-US" dirty="0"/>
              <a:t>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a:t>
            </a:r>
            <a:r>
              <a:rPr lang="en-US" dirty="0">
                <a:highlight>
                  <a:srgbClr val="FFFF00"/>
                </a:highlight>
              </a:rPr>
              <a:t>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a:t>
            </a:r>
            <a:r>
              <a:rPr lang="en-US" dirty="0"/>
              <a:t>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a:t>
                      </a:r>
                      <a:r>
                        <a:rPr lang="en-US" sz="1300" b="1" dirty="0">
                          <a:solidFill>
                            <a:srgbClr val="0B1F33"/>
                          </a:solidFill>
                          <a:highlight>
                            <a:srgbClr val="FFFF00"/>
                          </a:highlight>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0B1F33"/>
                </a:solidFill>
                <a:highlight>
                  <a:srgbClr val="FFFF00"/>
                </a:highlight>
              </a:rPr>
              <a:t>Trust-Centric Consent Model</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The patient chooses the doctor, the guardians, the data modules, </a:t>
            </a:r>
            <a:r>
              <a:rPr lang="en-US" sz="1200" dirty="0">
                <a:solidFill>
                  <a:srgbClr val="0B1F33"/>
                </a:solidFill>
                <a:highlight>
                  <a:srgbClr val="FFFF00"/>
                </a:highlight>
              </a:rPr>
              <a:t>and</a:t>
            </a:r>
            <a:r>
              <a:rPr lang="en-US" sz="1200" dirty="0">
                <a:solidFill>
                  <a:srgbClr val="FFFFFF"/>
                </a:solidFill>
              </a:rPr>
              <a:t> the start and expiry time.</a:t>
            </a:r>
            <a:endParaRPr lang="en-US" sz="1200" dirty="0"/>
          </a:p>
          <a:p>
            <a:pPr marL="342900" indent="-342900">
              <a:spcAft>
                <a:spcPts val="1000"/>
              </a:spcAft>
              <a:buSzPct val="100000"/>
              <a:buChar char="•"/>
            </a:pPr>
            <a:r>
              <a:rPr lang="en-US" sz="1200" dirty="0">
                <a:solidFill>
                  <a:srgbClr val="FFFFFF"/>
                </a:solidFill>
              </a:rPr>
              <a:t>In this prototype the purpose is fixed to Treatment.</a:t>
            </a:r>
            <a:endParaRPr lang="en-US" sz="1200" dirty="0"/>
          </a:p>
          <a:p>
            <a:pPr marL="342900" indent="-342900">
              <a:spcAft>
                <a:spcPts val="1000"/>
              </a:spcAft>
              <a:buSzPct val="100000"/>
              <a:buChar char="•"/>
            </a:pPr>
            <a:r>
              <a:rPr lang="en-US" sz="1200" dirty="0">
                <a:solidFill>
                  <a:srgbClr val="FFFFFF"/>
                </a:solidFill>
              </a:rPr>
              <a:t>Bad input is rejected, for example an empty data scope or a malformed guardian DID.</a:t>
            </a:r>
            <a:endParaRPr lang="en-US" sz="1200" dirty="0"/>
          </a:p>
          <a:p>
            <a:pPr marL="342900" indent="-342900">
              <a:spcAft>
                <a:spcPts val="1000"/>
              </a:spcAft>
              <a:buSzPct val="100000"/>
              <a:buChar char="•"/>
            </a:pPr>
            <a:r>
              <a:rPr lang="en-US" sz="1200" dirty="0">
                <a:solidFill>
                  <a:srgbClr val="FFFFFF"/>
                </a:solidFill>
              </a:rPr>
              <a:t>​</a:t>
            </a:r>
            <a:r>
              <a:rPr lang="en-US" sz="1200" dirty="0">
                <a:solidFill>
                  <a:srgbClr val="0B1F33"/>
                </a:solidFill>
                <a:highlight>
                  <a:srgbClr val="FFFF00"/>
                </a:highlight>
              </a:rPr>
              <a:t>The system creates the consent object, assigns a consent identifier, persists the record, and records the creation event in the audit layer.</a:t>
            </a:r>
            <a:endParaRPr lang="en-US" sz="1200" dirty="0"/>
          </a:p>
          <a:p>
            <a:pPr marL="342900" indent="-342900">
              <a:spcAft>
                <a:spcPts val="1000"/>
              </a:spcAft>
              <a:buSzPct val="100000"/>
              <a:buChar char="•"/>
            </a:pPr>
            <a:r>
              <a:rPr lang="en-US" sz="1200" dirty="0">
                <a:solidFill>
                  <a:srgbClr val="FFFFFF"/>
                </a:solidFill>
              </a:rPr>
              <a:t>Nothing goes on the blockchain until all guardians approve.</a:t>
            </a:r>
            <a:endParaRPr lang="en-US" sz="1200" dirty="0"/>
          </a:p>
        </p:txBody>
      </p:sp>
      <p:sp>
        <p:nvSpPr>
          <p:cNvPr id="8" name="F10 panel"/>
          <p:cNvSpPr/>
          <p:nvPr/>
        </p:nvSpPr>
        <p:spPr>
          <a:xfrm>
            <a:off x="9089048" y="1005840"/>
            <a:ext cx="2660992" cy="5440680"/>
          </a:xfrm>
          <a:prstGeom prst="roundRect">
            <a:avLst>
              <a:gd name="adj" fmla="val 412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9198776" y="1115568"/>
            <a:ext cx="2441536" cy="5221224"/>
          </a:xfrm>
          <a:prstGeom prst="rect">
            <a:avLst/>
          </a:prstGeom>
        </p:spPr>
      </p:pic>
      <p:sp>
        <p:nvSpPr>
          <p:cNvPr id="10" name="ALG1 panel"/>
          <p:cNvSpPr/>
          <p:nvPr/>
        </p:nvSpPr>
        <p:spPr>
          <a:xfrm>
            <a:off x="4069080" y="2028780"/>
            <a:ext cx="4882808" cy="3394800"/>
          </a:xfrm>
          <a:prstGeom prst="roundRect">
            <a:avLst>
              <a:gd name="adj" fmla="val 323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1" descr="/tmp/deck/img/yellow/ALG1.png">    </p:cNvPr>
          <p:cNvPicPr>
            <a:picLocks noChangeAspect="1"/>
          </p:cNvPicPr>
          <p:nvPr/>
        </p:nvPicPr>
        <p:blipFill>
          <a:blip r:embed="rId2"/>
          <a:stretch>
            <a:fillRect/>
          </a:stretch>
        </p:blipFill>
        <p:spPr>
          <a:xfrm>
            <a:off x="4195790" y="2138508"/>
            <a:ext cx="4629389" cy="31753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0B1F33"/>
                </a:solidFill>
                <a:highlight>
                  <a:srgbClr val="FFFF00"/>
                </a:highlight>
              </a:rPr>
              <a:t>Decentralised Identity and Authority Trust</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Identity is checked through the DID; authority through a verifiable credential.</a:t>
            </a:r>
            <a:endParaRPr lang="en-US" sz="1200" dirty="0"/>
          </a:p>
          <a:p>
            <a:pPr marL="342900" indent="-342900">
              <a:spcAft>
                <a:spcPts val="1000"/>
              </a:spcAft>
              <a:buSzPct val="100000"/>
              <a:buChar char="•"/>
            </a:pPr>
            <a:r>
              <a:rPr lang="en-US" sz="1200" dirty="0">
                <a:solidFill>
                  <a:srgbClr val="FFFFFF"/>
                </a:solidFill>
              </a:rPr>
              <a:t>Identity is not authority: a valid DID alone never gives access.</a:t>
            </a:r>
            <a:endParaRPr lang="en-US" sz="1200" dirty="0"/>
          </a:p>
          <a:p>
            <a:pPr marL="342900" indent="-342900">
              <a:spcAft>
                <a:spcPts val="1000"/>
              </a:spcAft>
              <a:buSzPct val="100000"/>
              <a:buChar char="•"/>
            </a:pPr>
            <a:r>
              <a:rPr lang="en-US" sz="1200" dirty="0">
                <a:solidFill>
                  <a:srgbClr val="FFFFFF"/>
                </a:solidFill>
              </a:rPr>
              <a:t>​</a:t>
            </a:r>
            <a:r>
              <a:rPr lang="en-US" sz="12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200" dirty="0"/>
          </a:p>
          <a:p>
            <a:pPr marL="342900" indent="-342900">
              <a:spcAft>
                <a:spcPts val="1000"/>
              </a:spcAft>
              <a:buSzPct val="100000"/>
              <a:buChar char="•"/>
            </a:pPr>
            <a:r>
              <a:rPr lang="en-US" sz="1200" dirty="0">
                <a:solidFill>
                  <a:srgbClr val="FFFFFF"/>
                </a:solidFill>
              </a:rPr>
              <a:t>Full DID resolution </a:t>
            </a:r>
            <a:r>
              <a:rPr lang="en-US" sz="1200" dirty="0">
                <a:solidFill>
                  <a:srgbClr val="0B1F33"/>
                </a:solidFill>
                <a:highlight>
                  <a:srgbClr val="FFFF00"/>
                </a:highlight>
              </a:rPr>
              <a:t>is</a:t>
            </a:r>
            <a:r>
              <a:rPr lang="en-US" sz="1200" dirty="0">
                <a:solidFill>
                  <a:srgbClr val="FFFFFF"/>
                </a:solidFill>
              </a:rPr>
              <a:t> planned for the next stage.</a:t>
            </a:r>
            <a:endParaRPr lang="en-US" sz="1200" dirty="0"/>
          </a:p>
        </p:txBody>
      </p:sp>
      <p:sp>
        <p:nvSpPr>
          <p:cNvPr id="8" name="F12 panel"/>
          <p:cNvSpPr/>
          <p:nvPr/>
        </p:nvSpPr>
        <p:spPr>
          <a:xfrm>
            <a:off x="8686800" y="1498166"/>
            <a:ext cx="3063240" cy="4456029"/>
          </a:xfrm>
          <a:prstGeom prst="roundRect">
            <a:avLst>
              <a:gd name="adj" fmla="val 358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8796528" y="1607894"/>
            <a:ext cx="2843784" cy="4236573"/>
          </a:xfrm>
          <a:prstGeom prst="rect">
            <a:avLst/>
          </a:prstGeom>
        </p:spPr>
      </p:pic>
      <p:sp>
        <p:nvSpPr>
          <p:cNvPr id="10" name="ALG2 panel"/>
          <p:cNvSpPr/>
          <p:nvPr/>
        </p:nvSpPr>
        <p:spPr>
          <a:xfrm>
            <a:off x="4069080" y="1340635"/>
            <a:ext cx="4480560" cy="477109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2" descr="/tmp/deck/img/yellow/ALG2.png">    </p:cNvPr>
          <p:cNvPicPr>
            <a:picLocks noChangeAspect="1"/>
          </p:cNvPicPr>
          <p:nvPr/>
        </p:nvPicPr>
        <p:blipFill>
          <a:blip r:embed="rId2"/>
          <a:stretch>
            <a:fillRect/>
          </a:stretch>
        </p:blipFill>
        <p:spPr>
          <a:xfrm>
            <a:off x="4178808" y="1453495"/>
            <a:ext cx="4261104" cy="4545369"/>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0B1F33"/>
                </a:solidFill>
                <a:highlight>
                  <a:srgbClr val="FFFF00"/>
                </a:highlight>
              </a:rPr>
              <a:t>Trustworthy Multi-Party Authorisation</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150" dirty="0">
                <a:solidFill>
                  <a:srgbClr val="FFFFFF"/>
                </a:solidFill>
              </a:rPr>
              <a:t>The guardian set G is fixed when the consent is created.</a:t>
            </a:r>
            <a:endParaRPr lang="en-US" sz="1150" dirty="0"/>
          </a:p>
          <a:p>
            <a:pPr marL="342900" indent="-342900">
              <a:spcAft>
                <a:spcPts val="1000"/>
              </a:spcAft>
              <a:buSzPct val="100000"/>
              <a:buChar char="•"/>
            </a:pPr>
            <a:r>
              <a:rPr lang="en-US" sz="1150" dirty="0">
                <a:solidFill>
                  <a:srgbClr val="FFFFFF"/>
                </a:solidFill>
              </a:rPr>
              <a:t>Each guardian signs an EIP-712 approval; the system recovers the signer and checks it is in G.</a:t>
            </a:r>
            <a:endParaRPr lang="en-US" sz="1150" dirty="0"/>
          </a:p>
          <a:p>
            <a:pPr marL="342900" indent="-342900">
              <a:spcAft>
                <a:spcPts val="1000"/>
              </a:spcAft>
              <a:buSzPct val="100000"/>
              <a:buChar char="•"/>
            </a:pPr>
            <a:r>
              <a:rPr lang="en-US" sz="1150" dirty="0">
                <a:solidFill>
                  <a:srgbClr val="FFFFFF"/>
                </a:solidFill>
              </a:rPr>
              <a:t>​</a:t>
            </a:r>
            <a:r>
              <a:rPr lang="en-US" sz="1150" dirty="0">
                <a:solidFill>
                  <a:srgbClr val="0B1F33"/>
                </a:solidFill>
                <a:highlight>
                  <a:srgbClr val="FFFF00"/>
                </a:highlight>
              </a:rPr>
              <a:t>Approvals from outsiders and duplicates are not counted; a signature replayed from another consent fails the identity check.</a:t>
            </a:r>
            <a:endParaRPr lang="en-US" sz="1150" dirty="0"/>
          </a:p>
          <a:p>
            <a:pPr marL="342900" indent="-342900">
              <a:spcAft>
                <a:spcPts val="1000"/>
              </a:spcAft>
              <a:buSzPct val="100000"/>
              <a:buChar char="•"/>
            </a:pPr>
            <a:r>
              <a:rPr lang="en-US" sz="1150" dirty="0">
                <a:solidFill>
                  <a:srgbClr val="FFFFFF"/>
                </a:solidFill>
              </a:rPr>
              <a:t>N-of-N rule: every listed guardian must sign (2-of-2 in the demo).</a:t>
            </a:r>
            <a:endParaRPr lang="en-US" sz="1150" dirty="0"/>
          </a:p>
          <a:p>
            <a:pPr marL="342900" indent="-342900">
              <a:spcAft>
                <a:spcPts val="1000"/>
              </a:spcAft>
              <a:buSzPct val="100000"/>
              <a:buChar char="•"/>
            </a:pPr>
            <a:r>
              <a:rPr lang="en-US" sz="1150" dirty="0">
                <a:solidFill>
                  <a:srgbClr val="FFFFFF"/>
                </a:solidFill>
              </a:rPr>
              <a:t>When all have signed, a soulbound token is minted on Sepolia in the background.</a:t>
            </a:r>
            <a:endParaRPr lang="en-US" sz="1150" dirty="0"/>
          </a:p>
          <a:p>
            <a:pPr marL="342900" indent="-342900">
              <a:spcAft>
                <a:spcPts val="1000"/>
              </a:spcAft>
              <a:buSzPct val="100000"/>
              <a:buChar char="•"/>
            </a:pPr>
            <a:r>
              <a:rPr lang="en-US" sz="1150" dirty="0">
                <a:solidFill>
                  <a:srgbClr val="FFFFFF"/>
                </a:solidFill>
              </a:rPr>
              <a:t>In the prototype the guardian keys are derived from the guardian DIDs; wallet-held keys are for the next stage.</a:t>
            </a:r>
            <a:endParaRPr lang="en-US" sz="1150" dirty="0"/>
          </a:p>
        </p:txBody>
      </p:sp>
      <p:sp>
        <p:nvSpPr>
          <p:cNvPr id="8" name="F13 panel"/>
          <p:cNvSpPr/>
          <p:nvPr/>
        </p:nvSpPr>
        <p:spPr>
          <a:xfrm>
            <a:off x="8686800" y="1420345"/>
            <a:ext cx="3063240" cy="4611670"/>
          </a:xfrm>
          <a:prstGeom prst="roundRect">
            <a:avLst>
              <a:gd name="adj" fmla="val 358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8796528" y="1530073"/>
            <a:ext cx="2843784" cy="4392214"/>
          </a:xfrm>
          <a:prstGeom prst="rect">
            <a:avLst/>
          </a:prstGeom>
        </p:spPr>
      </p:pic>
      <p:sp>
        <p:nvSpPr>
          <p:cNvPr id="10" name="ALG3 panel"/>
          <p:cNvSpPr/>
          <p:nvPr/>
        </p:nvSpPr>
        <p:spPr>
          <a:xfrm>
            <a:off x="4086071" y="1005840"/>
            <a:ext cx="4446578" cy="5440680"/>
          </a:xfrm>
          <a:prstGeom prst="roundRect">
            <a:avLst>
              <a:gd name="adj" fmla="val 246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3" descr="/tmp/deck/img/yellow/ALG3.png">    </p:cNvPr>
          <p:cNvPicPr>
            <a:picLocks noChangeAspect="1"/>
          </p:cNvPicPr>
          <p:nvPr/>
        </p:nvPicPr>
        <p:blipFill>
          <a:blip r:embed="rId2"/>
          <a:stretch>
            <a:fillRect/>
          </a:stretch>
        </p:blipFill>
        <p:spPr>
          <a:xfrm>
            <a:off x="4195799" y="1126301"/>
            <a:ext cx="4227122" cy="5199759"/>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0B1F33"/>
                </a:solidFill>
                <a:highlight>
                  <a:srgbClr val="FFFF00"/>
                </a:highlight>
              </a:rPr>
              <a:t>Policy- and Context-Aware Access Control</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The requested data must be a non-empty subset of the agreed data scope.</a:t>
            </a:r>
            <a:endParaRPr lang="en-US" sz="1200" dirty="0"/>
          </a:p>
          <a:p>
            <a:pPr marL="342900" indent="-342900">
              <a:spcAft>
                <a:spcPts val="1000"/>
              </a:spcAft>
              <a:buSzPct val="100000"/>
              <a:buChar char="•"/>
            </a:pPr>
            <a:r>
              <a:rPr lang="en-US" sz="1200" dirty="0">
                <a:solidFill>
                  <a:srgbClr val="FFFFFF"/>
                </a:solidFill>
              </a:rPr>
              <a:t>The purpose must be a supported purpose of the consent.</a:t>
            </a:r>
            <a:endParaRPr lang="en-US" sz="1200" dirty="0"/>
          </a:p>
          <a:p>
            <a:pPr marL="342900" indent="-342900">
              <a:spcAft>
                <a:spcPts val="1000"/>
              </a:spcAft>
              <a:buSzPct val="100000"/>
              <a:buChar char="•"/>
            </a:pPr>
            <a:r>
              <a:rPr lang="en-US" sz="1200" dirty="0">
                <a:solidFill>
                  <a:srgbClr val="FFFFFF"/>
                </a:solidFill>
              </a:rPr>
              <a:t>Time and </a:t>
            </a:r>
            <a:r>
              <a:rPr lang="en-US" sz="1200" dirty="0">
                <a:solidFill>
                  <a:srgbClr val="0B1F33"/>
                </a:solidFill>
                <a:highlight>
                  <a:srgbClr val="FFFF00"/>
                </a:highlight>
              </a:rPr>
              <a:t>the lifecycle state</a:t>
            </a:r>
            <a:r>
              <a:rPr lang="en-US" sz="1200" dirty="0">
                <a:solidFill>
                  <a:srgbClr val="FFFFFF"/>
                </a:solidFill>
              </a:rPr>
              <a:t> are checked in the same decision.</a:t>
            </a:r>
            <a:endParaRPr lang="en-US" sz="1200" dirty="0"/>
          </a:p>
          <a:p>
            <a:pPr marL="342900" indent="-342900">
              <a:spcAft>
                <a:spcPts val="1000"/>
              </a:spcAft>
              <a:buSzPct val="100000"/>
              <a:buChar char="•"/>
            </a:pPr>
            <a:r>
              <a:rPr lang="en-US" sz="1200" dirty="0">
                <a:solidFill>
                  <a:srgbClr val="FFFFFF"/>
                </a:solidFill>
              </a:rPr>
              <a:t>A Groth16 proof must verify before any data is retrieved.</a:t>
            </a:r>
            <a:endParaRPr lang="en-US" sz="1200" dirty="0"/>
          </a:p>
          <a:p>
            <a:pPr marL="342900" indent="-342900">
              <a:spcAft>
                <a:spcPts val="1000"/>
              </a:spcAft>
              <a:buSzPct val="100000"/>
              <a:buChar char="•"/>
            </a:pPr>
            <a:r>
              <a:rPr lang="en-US" sz="1200" dirty="0">
                <a:solidFill>
                  <a:srgbClr val="FFFFFF"/>
                </a:solidFill>
              </a:rPr>
              <a:t>Example: asking for Procedure when only Observation and Medication were agreed gives DENY.</a:t>
            </a:r>
            <a:endParaRPr lang="en-US" sz="1200" dirty="0"/>
          </a:p>
        </p:txBody>
      </p:sp>
      <p:sp>
        <p:nvSpPr>
          <p:cNvPr id="8" name="F14 panel"/>
          <p:cNvSpPr/>
          <p:nvPr/>
        </p:nvSpPr>
        <p:spPr>
          <a:xfrm>
            <a:off x="9403534" y="1005840"/>
            <a:ext cx="2346506" cy="5440680"/>
          </a:xfrm>
          <a:prstGeom prst="roundRect">
            <a:avLst>
              <a:gd name="adj" fmla="val 4676"/>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9513262" y="1115568"/>
            <a:ext cx="2127050" cy="5221224"/>
          </a:xfrm>
          <a:prstGeom prst="rect">
            <a:avLst/>
          </a:prstGeom>
        </p:spPr>
      </p:pic>
      <p:sp>
        <p:nvSpPr>
          <p:cNvPr id="10" name="ALG4 panel"/>
          <p:cNvSpPr/>
          <p:nvPr/>
        </p:nvSpPr>
        <p:spPr>
          <a:xfrm>
            <a:off x="4463684" y="1005840"/>
            <a:ext cx="4408085" cy="5440680"/>
          </a:xfrm>
          <a:prstGeom prst="roundRect">
            <a:avLst>
              <a:gd name="adj" fmla="val 248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4" descr="/tmp/deck/img/yellow/ALG4.png">    </p:cNvPr>
          <p:cNvPicPr>
            <a:picLocks noChangeAspect="1"/>
          </p:cNvPicPr>
          <p:nvPr/>
        </p:nvPicPr>
        <p:blipFill>
          <a:blip r:embed="rId2"/>
          <a:stretch>
            <a:fillRect/>
          </a:stretch>
        </p:blipFill>
        <p:spPr>
          <a:xfrm>
            <a:off x="4573412" y="1125804"/>
            <a:ext cx="4188629" cy="52007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0B1F33"/>
                </a:solidFill>
                <a:highlight>
                  <a:srgbClr val="FFFF00"/>
                </a:highlight>
              </a:rPr>
              <a:t>Temporal and Lifecycle Trust</a:t>
            </a:r>
            <a:endParaRPr lang="en-US" sz="1500" dirty="0"/>
          </a:p>
        </p:txBody>
      </p:sp>
      <p:sp>
        <p:nvSpPr>
          <p:cNvPr id="5" name="status chip"/>
          <p:cNvSpPr/>
          <p:nvPr/>
        </p:nvSpPr>
        <p:spPr>
          <a:xfrm>
            <a:off x="548640" y="16916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100" dirty="0">
                <a:solidFill>
                  <a:srgbClr val="FFFFFF"/>
                </a:solidFill>
              </a:rPr>
              <a:t>Working now: the validity window is stored on-chain and checked at every request.</a:t>
            </a:r>
            <a:endParaRPr lang="en-US" sz="1100" dirty="0"/>
          </a:p>
          <a:p>
            <a:pPr marL="342900" indent="-342900">
              <a:spcAft>
                <a:spcPts val="1000"/>
              </a:spcAft>
              <a:buSzPct val="100000"/>
              <a:buChar char="•"/>
            </a:pPr>
            <a:r>
              <a:rPr lang="en-US" sz="1100" dirty="0">
                <a:solidFill>
                  <a:srgbClr val="FFFFFF"/>
                </a:solidFill>
              </a:rPr>
              <a:t>Working now: revocation end to end, including an on-chain revoke transaction.</a:t>
            </a:r>
            <a:endParaRPr lang="en-US" sz="1100" dirty="0"/>
          </a:p>
          <a:p>
            <a:pPr marL="342900" indent="-342900">
              <a:spcAft>
                <a:spcPts val="1000"/>
              </a:spcAft>
              <a:buSzPct val="100000"/>
              <a:buChar char="•"/>
            </a:pPr>
            <a:r>
              <a:rPr lang="en-US" sz="1100" dirty="0">
                <a:solidFill>
                  <a:srgbClr val="FFFFFF"/>
                </a:solidFill>
              </a:rPr>
              <a:t>​</a:t>
            </a:r>
            <a:r>
              <a:rPr lang="en-US" sz="1100" dirty="0">
                <a:solidFill>
                  <a:srgbClr val="0B1F33"/>
                </a:solidFill>
                <a:highlight>
                  <a:srgbClr val="FFFF00"/>
                </a:highlight>
              </a:rPr>
              <a:t>Design: L is the lifecycle state (CREATED, PENDING, ACTIVE, SUSPENDED, REVOKED, EXPIRED), checked by VL(C) = ValidState(C) ∧ ValidTransition(C).</a:t>
            </a:r>
            <a:endParaRPr lang="en-US" sz="1100" dirty="0"/>
          </a:p>
          <a:p>
            <a:pPr marL="342900" indent="-342900">
              <a:spcAft>
                <a:spcPts val="1000"/>
              </a:spcAft>
              <a:buSzPct val="100000"/>
              <a:buChar char="•"/>
            </a:pPr>
            <a:r>
              <a:rPr lang="en-US" sz="1100" dirty="0">
                <a:solidFill>
                  <a:srgbClr val="FFFFFF"/>
                </a:solidFill>
              </a:rPr>
              <a:t>Working now: a clear lifecycle: PENDING_SIGNATURE, PENDING_TOKEN, NOT_STARTED, ACTIVE, EXPIRED, REVOKED.</a:t>
            </a:r>
            <a:endParaRPr lang="en-US" sz="1100" dirty="0"/>
          </a:p>
          <a:p>
            <a:pPr marL="342900" indent="-342900">
              <a:spcAft>
                <a:spcPts val="1000"/>
              </a:spcAft>
              <a:buSzPct val="100000"/>
              <a:buChar char="•"/>
            </a:pPr>
            <a:r>
              <a:rPr lang="en-US" sz="1100" dirty="0">
                <a:solidFill>
                  <a:srgbClr val="FFFFFF"/>
                </a:solidFill>
              </a:rPr>
              <a:t>Next stage: </a:t>
            </a:r>
            <a:r>
              <a:rPr lang="en-US" sz="1100" dirty="0">
                <a:solidFill>
                  <a:srgbClr val="0B1F33"/>
                </a:solidFill>
                <a:highlight>
                  <a:srgbClr val="FFFF00"/>
                </a:highlight>
              </a:rPr>
              <a:t>the SUSPENDED state,</a:t>
            </a:r>
            <a:r>
              <a:rPr lang="en-US" sz="1100" dirty="0">
                <a:solidFill>
                  <a:srgbClr val="FFFFFF"/>
                </a:solidFill>
              </a:rPr>
              <a:t> the lifecycle transition check, consent modification, delegation, guardian-set changes and a formal lifecycle model.</a:t>
            </a:r>
            <a:endParaRPr lang="en-US" sz="1100" dirty="0"/>
          </a:p>
        </p:txBody>
      </p:sp>
      <p:sp>
        <p:nvSpPr>
          <p:cNvPr id="8" name="F35 panel"/>
          <p:cNvSpPr/>
          <p:nvPr/>
        </p:nvSpPr>
        <p:spPr>
          <a:xfrm>
            <a:off x="8700914" y="1005840"/>
            <a:ext cx="3049126" cy="5440680"/>
          </a:xfrm>
          <a:prstGeom prst="roundRect">
            <a:avLst>
              <a:gd name="adj" fmla="val 35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810642" y="1115568"/>
            <a:ext cx="2829670" cy="5221224"/>
          </a:xfrm>
          <a:prstGeom prst="rect">
            <a:avLst/>
          </a:prstGeom>
        </p:spPr>
      </p:pic>
      <p:sp>
        <p:nvSpPr>
          <p:cNvPr id="10" name="ALG5 panel"/>
          <p:cNvSpPr/>
          <p:nvPr/>
        </p:nvSpPr>
        <p:spPr>
          <a:xfrm>
            <a:off x="4069080" y="1376296"/>
            <a:ext cx="4494674" cy="4699769"/>
          </a:xfrm>
          <a:prstGeom prst="roundRect">
            <a:avLst>
              <a:gd name="adj" fmla="val 24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5" descr="/tmp/deck/img/yellow/ALG5.png">    </p:cNvPr>
          <p:cNvPicPr>
            <a:picLocks noChangeAspect="1"/>
          </p:cNvPicPr>
          <p:nvPr/>
        </p:nvPicPr>
        <p:blipFill>
          <a:blip r:embed="rId2"/>
          <a:stretch>
            <a:fillRect/>
          </a:stretch>
        </p:blipFill>
        <p:spPr>
          <a:xfrm>
            <a:off x="4178808" y="1488194"/>
            <a:ext cx="4275218" cy="4475972"/>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0B1F33"/>
                </a:solidFill>
                <a:highlight>
                  <a:srgbClr val="FFFF00"/>
                </a:highlight>
              </a:rPr>
              <a:t>Formal Security Assurance and Empirical Validation</a:t>
            </a:r>
            <a:endParaRPr lang="en-US" sz="1500" dirty="0"/>
          </a:p>
        </p:txBody>
      </p:sp>
      <p:sp>
        <p:nvSpPr>
          <p:cNvPr id="5" name="status chip"/>
          <p:cNvSpPr/>
          <p:nvPr/>
        </p:nvSpPr>
        <p:spPr>
          <a:xfrm>
            <a:off x="548640" y="16916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6916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4206240" y="960120"/>
            <a:ext cx="7498080" cy="160020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Done: 46 automated tests pass, including 13 attack scenarios A1 to A13.</a:t>
            </a:r>
            <a:endParaRPr lang="en-US" sz="1300" dirty="0"/>
          </a:p>
          <a:p>
            <a:pPr marL="342900" indent="-342900">
              <a:spcAft>
                <a:spcPts val="1000"/>
              </a:spcAft>
              <a:buSzPct val="100000"/>
              <a:buChar char="•"/>
            </a:pPr>
            <a:r>
              <a:rPr lang="en-US" sz="1300" dirty="0">
                <a:solidFill>
                  <a:srgbClr val="FFFFFF"/>
                </a:solidFill>
              </a:rPr>
              <a:t>Done: gas, confirmation latency and processing time measured.</a:t>
            </a:r>
            <a:endParaRPr lang="en-US" sz="1300" dirty="0"/>
          </a:p>
          <a:p>
            <a:pPr marL="342900" indent="-342900">
              <a:spcAft>
                <a:spcPts val="1000"/>
              </a:spcAft>
              <a:buSzPct val="100000"/>
              <a:buChar char="•"/>
            </a:pPr>
            <a:r>
              <a:rPr lang="en-US" sz="1300" dirty="0">
                <a:solidFill>
                  <a:srgbClr val="FFFFFF"/>
                </a:solidFill>
              </a:rPr>
              <a:t>Next stage: formal proofs or model checking of the security properties, and a larger evaluation under load.</a:t>
            </a:r>
            <a:endParaRPr lang="en-US" sz="1300" dirty="0"/>
          </a:p>
        </p:txBody>
      </p:sp>
      <p:sp>
        <p:nvSpPr>
          <p:cNvPr id="8" name="ALG6 panel"/>
          <p:cNvSpPr/>
          <p:nvPr/>
        </p:nvSpPr>
        <p:spPr>
          <a:xfrm>
            <a:off x="900247" y="2697480"/>
            <a:ext cx="5331825" cy="374904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yellow/ALG6.png">    </p:cNvPr>
          <p:cNvPicPr>
            <a:picLocks noChangeAspect="1"/>
          </p:cNvPicPr>
          <p:nvPr/>
        </p:nvPicPr>
        <p:blipFill>
          <a:blip r:embed="rId1"/>
          <a:stretch>
            <a:fillRect/>
          </a:stretch>
        </p:blipFill>
        <p:spPr>
          <a:xfrm>
            <a:off x="1028860" y="2807208"/>
            <a:ext cx="5074600" cy="3529584"/>
          </a:xfrm>
          <a:prstGeom prst="rect">
            <a:avLst/>
          </a:prstGeom>
        </p:spPr>
      </p:pic>
      <p:sp>
        <p:nvSpPr>
          <p:cNvPr id="10" name="F16 panel"/>
          <p:cNvSpPr/>
          <p:nvPr/>
        </p:nvSpPr>
        <p:spPr>
          <a:xfrm>
            <a:off x="7267708" y="2697480"/>
            <a:ext cx="3844023" cy="374904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16" descr="/tmp/deck/img/yellow/F16.png">    </p:cNvPr>
          <p:cNvPicPr>
            <a:picLocks noChangeAspect="1"/>
          </p:cNvPicPr>
          <p:nvPr/>
        </p:nvPicPr>
        <p:blipFill>
          <a:blip r:embed="rId2"/>
          <a:stretch>
            <a:fillRect/>
          </a:stretch>
        </p:blipFill>
        <p:spPr>
          <a:xfrm>
            <a:off x="7377436" y="2807208"/>
            <a:ext cx="3624567" cy="35295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t>
            </a:r>
            <a:r>
              <a:rPr lang="en-US" sz="1400" dirty="0">
                <a:solidFill>
                  <a:srgbClr val="0B1F33"/>
                </a:solidFill>
                <a:highlight>
                  <a:srgbClr val="FFFF00"/>
                </a:highlight>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VALIDATION: THIRTEEN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38328">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38328">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t>
                      </a:r>
                      <a:r>
                        <a:rPr lang="en-US" sz="1150" b="1" dirty="0">
                          <a:solidFill>
                            <a:srgbClr val="0B1F33"/>
                          </a:solidFill>
                          <a:highlight>
                            <a:srgbClr val="FFFF00"/>
                          </a:highlight>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t>
                      </a:r>
                      <a:r>
                        <a:rPr lang="en-US" sz="1150" dirty="0">
                          <a:solidFill>
                            <a:srgbClr val="0B1F33"/>
                          </a:solidFill>
                          <a:highlight>
                            <a:srgbClr val="FFFF00"/>
                          </a:highlight>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t>
                      </a:r>
                      <a:r>
                        <a:rPr lang="en-US" sz="1150" b="1" dirty="0">
                          <a:solidFill>
                            <a:srgbClr val="0B1F33"/>
                          </a:solidFill>
                          <a:highlight>
                            <a:srgbClr val="FFFF00"/>
                          </a:highlight>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a:t>
                      </a:r>
                      <a:r>
                        <a:rPr lang="en-US" sz="1150" b="1" dirty="0">
                          <a:solidFill>
                            <a:srgbClr val="0B1F33"/>
                          </a:solidFill>
                          <a:highlight>
                            <a:srgbClr val="FFFF00"/>
                          </a:highlight>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86868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0B1F33"/>
                </a:solidFill>
                <a:highlight>
                  <a:srgbClr val="FFFF00"/>
                </a:highlight>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0B1F33"/>
                </a:solidFill>
                <a:highlight>
                  <a:srgbClr val="FFFF00"/>
                </a:highlight>
              </a:rPr>
              <a:t>A authorisation</a:t>
            </a:r>
            <a:r>
              <a:rPr lang="en-US" sz="950" i="1" dirty="0">
                <a:solidFill>
                  <a:srgbClr val="FFFFFF"/>
                </a:solidFill>
              </a:rPr>
              <a:t>, P policy and scope, T time, </a:t>
            </a:r>
            <a:r>
              <a:rPr lang="en-US" sz="950" i="1" dirty="0">
                <a:solidFill>
                  <a:srgbClr val="0B1F33"/>
                </a:solidFill>
                <a:highlight>
                  <a:srgbClr val="FFFF00"/>
                </a:highlight>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a:t>
            </a:r>
            <a:r>
              <a:rPr lang="en-US" sz="2000" b="1" dirty="0">
                <a:solidFill>
                  <a:srgbClr val="0B1F33"/>
                </a:solidFill>
                <a:highlight>
                  <a:srgbClr val="FFFF00"/>
                </a:highlight>
              </a:rPr>
              <a:t>shifts the focus</a:t>
            </a:r>
            <a:r>
              <a:rPr lang="en-US" sz="2000" dirty="0">
                <a:solidFill>
                  <a:srgbClr val="0B1F33"/>
                </a:solidFill>
                <a:highlight>
                  <a:srgbClr val="FFFF00"/>
                </a:highlight>
              </a:rPr>
              <a:t> from determining </a:t>
            </a:r>
            <a:r>
              <a:rPr lang="en-US" sz="2000" b="1" dirty="0">
                <a:solidFill>
                  <a:srgbClr val="0B1F33"/>
                </a:solidFill>
                <a:highlight>
                  <a:srgbClr val="FFFF00"/>
                </a:highlight>
              </a:rPr>
              <a:t>whether consent has merely been recorded</a:t>
            </a:r>
            <a:r>
              <a:rPr lang="en-US" sz="2000" dirty="0">
                <a:solidFill>
                  <a:srgbClr val="0B1F33"/>
                </a:solidFill>
                <a:highlight>
                  <a:srgbClr val="FFFF00"/>
                </a:highlight>
              </a:rPr>
              <a:t> towards determining whether a data-access decision has been generated under </a:t>
            </a:r>
            <a:r>
              <a:rPr lang="en-US" sz="2000" b="1" dirty="0">
                <a:solidFill>
                  <a:srgbClr val="0B1F33"/>
                </a:solidFill>
                <a:highlight>
                  <a:srgbClr val="FFFF00"/>
                </a:highlight>
              </a:rPr>
              <a:t>sufficient and independently verifiable trust conditions</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brings </a:t>
            </a:r>
            <a:r>
              <a:rPr lang="en-US" sz="2000" b="1" dirty="0">
                <a:solidFill>
                  <a:srgbClr val="0B1F33"/>
                </a:solidFill>
                <a:highlight>
                  <a:srgbClr val="FFFF00"/>
                </a:highlight>
              </a:rPr>
              <a:t>identity, authority, multi-party approval, policy, time and lifecycle</a:t>
            </a:r>
            <a:r>
              <a:rPr lang="en-US" sz="2000" dirty="0">
                <a:solidFill>
                  <a:srgbClr val="0B1F33"/>
                </a:solidFill>
                <a:highlight>
                  <a:srgbClr val="FFFF00"/>
                </a:highlight>
              </a:rPr>
              <a:t> together in </a:t>
            </a:r>
            <a:r>
              <a:rPr lang="en-US" sz="2000" b="1" dirty="0">
                <a:solidFill>
                  <a:srgbClr val="0B1F33"/>
                </a:solidFill>
                <a:highlight>
                  <a:srgbClr val="FFFF00"/>
                </a:highlight>
              </a:rPr>
              <a:t>one access decision</a:t>
            </a:r>
            <a:r>
              <a:rPr lang="en-US" sz="2000" dirty="0">
                <a:solidFill>
                  <a:srgbClr val="0B1F33"/>
                </a:solidFill>
                <a:highlight>
                  <a:srgbClr val="FFFF00"/>
                </a:highlight>
              </a:rPr>
              <a:t> that is checked at </a:t>
            </a:r>
            <a:r>
              <a:rPr lang="en-US" sz="2000" b="1" dirty="0">
                <a:solidFill>
                  <a:srgbClr val="0B1F33"/>
                </a:solidFill>
                <a:highlight>
                  <a:srgbClr val="FFFF00"/>
                </a:highlight>
              </a:rPr>
              <a:t>every request</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a:t>
            </a:r>
            <a:r>
              <a:rPr lang="en-US" sz="2000" b="1" dirty="0">
                <a:solidFill>
                  <a:srgbClr val="0B1F33"/>
                </a:solidFill>
                <a:highlight>
                  <a:srgbClr val="FFFF00"/>
                </a:highlight>
              </a:rPr>
              <a:t>multi-party approval</a:t>
            </a:r>
            <a:r>
              <a:rPr lang="en-US" sz="2000" dirty="0">
                <a:solidFill>
                  <a:srgbClr val="0B1F33"/>
                </a:solidFill>
                <a:highlight>
                  <a:srgbClr val="FFFF00"/>
                </a:highlight>
              </a:rPr>
              <a:t> a standing condition of access: </a:t>
            </a:r>
            <a:r>
              <a:rPr lang="en-US" sz="2000" b="1" dirty="0">
                <a:solidFill>
                  <a:srgbClr val="0B1F33"/>
                </a:solidFill>
                <a:highlight>
                  <a:srgbClr val="FFFF00"/>
                </a:highlight>
              </a:rPr>
              <a:t>every listed guardian</a:t>
            </a:r>
            <a:r>
              <a:rPr lang="en-US" sz="2000" dirty="0">
                <a:solidFill>
                  <a:srgbClr val="0B1F33"/>
                </a:solidFill>
                <a:highlight>
                  <a:srgbClr val="FFFF00"/>
                </a:highlight>
              </a:rPr>
              <a:t> must sign with </a:t>
            </a:r>
            <a:r>
              <a:rPr lang="en-US" sz="2000" b="1" dirty="0">
                <a:solidFill>
                  <a:srgbClr val="0B1F33"/>
                </a:solidFill>
                <a:highlight>
                  <a:srgbClr val="FFFF00"/>
                </a:highlight>
              </a:rPr>
              <a:t>EIP-712</a:t>
            </a:r>
            <a:r>
              <a:rPr lang="en-US" sz="2000" dirty="0">
                <a:solidFill>
                  <a:srgbClr val="0B1F33"/>
                </a:solidFill>
                <a:highlight>
                  <a:srgbClr val="FFFF00"/>
                </a:highlight>
              </a:rPr>
              <a:t>, and </a:t>
            </a:r>
            <a:r>
              <a:rPr lang="en-US" sz="2000" b="1" dirty="0">
                <a:solidFill>
                  <a:srgbClr val="0B1F33"/>
                </a:solidFill>
                <a:highlight>
                  <a:srgbClr val="FFFF00"/>
                </a:highlight>
              </a:rPr>
              <a:t>no single party</a:t>
            </a:r>
            <a:r>
              <a:rPr lang="en-US" sz="2000" dirty="0">
                <a:solidFill>
                  <a:srgbClr val="0B1F33"/>
                </a:solidFill>
                <a:highlight>
                  <a:srgbClr val="FFFF00"/>
                </a:highlight>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is built on a </a:t>
            </a:r>
            <a:r>
              <a:rPr lang="en-US" sz="2000" b="1" dirty="0">
                <a:solidFill>
                  <a:srgbClr val="0B1F33"/>
                </a:solidFill>
                <a:highlight>
                  <a:srgbClr val="FFFF00"/>
                </a:highlight>
              </a:rPr>
              <a:t>PRISMA 2020 review of 25 studies</a:t>
            </a:r>
            <a:r>
              <a:rPr lang="en-US" sz="2000" dirty="0">
                <a:solidFill>
                  <a:srgbClr val="0B1F33"/>
                </a:solidFill>
                <a:highlight>
                  <a:srgbClr val="FFFF00"/>
                </a:highlight>
              </a:rPr>
              <a:t> and tested in a </a:t>
            </a:r>
            <a:r>
              <a:rPr lang="en-US" sz="2000" b="1" dirty="0">
                <a:solidFill>
                  <a:srgbClr val="0B1F33"/>
                </a:solidFill>
                <a:highlight>
                  <a:srgbClr val="FFFF00"/>
                </a:highlight>
              </a:rPr>
              <a:t>working prototype on Sepolia</a:t>
            </a:r>
            <a:r>
              <a:rPr lang="en-US" sz="2000" dirty="0">
                <a:solidFill>
                  <a:srgbClr val="0B1F33"/>
                </a:solidFill>
                <a:highlight>
                  <a:srgbClr val="FFFF00"/>
                </a:highlight>
              </a:rPr>
              <a:t>, with </a:t>
            </a:r>
            <a:r>
              <a:rPr lang="en-US" sz="2000" b="1" dirty="0">
                <a:solidFill>
                  <a:srgbClr val="0B1F33"/>
                </a:solidFill>
                <a:highlight>
                  <a:srgbClr val="FFFF00"/>
                </a:highlight>
              </a:rPr>
              <a:t>measurements</a:t>
            </a:r>
            <a:r>
              <a:rPr lang="en-US" sz="2000" dirty="0">
                <a:solidFill>
                  <a:srgbClr val="0B1F33"/>
                </a:solidFill>
                <a:highlight>
                  <a:srgbClr val="FFFF00"/>
                </a:highlight>
              </a:rPr>
              <a:t> and </a:t>
            </a:r>
            <a:r>
              <a:rPr lang="en-US" sz="2000" b="1" dirty="0">
                <a:solidFill>
                  <a:srgbClr val="0B1F33"/>
                </a:solidFill>
                <a:highlight>
                  <a:srgbClr val="FFFF00"/>
                </a:highlight>
              </a:rPr>
              <a:t>thirteen attack scenarios</a:t>
            </a:r>
            <a:r>
              <a:rPr lang="en-US" sz="2000" dirty="0">
                <a:solidFill>
                  <a:srgbClr val="0B1F33"/>
                </a:solidFill>
                <a:highlight>
                  <a:srgbClr val="FFFF00"/>
                </a:highlight>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gives </a:t>
            </a:r>
            <a:r>
              <a:rPr lang="en-US" sz="2000" b="1" dirty="0">
                <a:solidFill>
                  <a:srgbClr val="0B1F33"/>
                </a:solidFill>
                <a:highlight>
                  <a:srgbClr val="FFFF00"/>
                </a:highlight>
              </a:rPr>
              <a:t>patients and their guardians</a:t>
            </a:r>
            <a:r>
              <a:rPr lang="en-US" sz="2000" dirty="0">
                <a:solidFill>
                  <a:srgbClr val="0B1F33"/>
                </a:solidFill>
                <a:highlight>
                  <a:srgbClr val="FFFF00"/>
                </a:highlight>
              </a:rPr>
              <a:t> a direct role in deciding </a:t>
            </a:r>
            <a:r>
              <a:rPr lang="en-US" sz="2000" b="1" dirty="0">
                <a:solidFill>
                  <a:srgbClr val="0B1F33"/>
                </a:solidFill>
                <a:highlight>
                  <a:srgbClr val="FFFF00"/>
                </a:highlight>
              </a:rPr>
              <a:t>who can see the patient's data</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prevents </a:t>
            </a:r>
            <a:r>
              <a:rPr lang="en-US" sz="2000" b="1" dirty="0">
                <a:solidFill>
                  <a:srgbClr val="0B1F33"/>
                </a:solidFill>
                <a:highlight>
                  <a:srgbClr val="FFFF00"/>
                </a:highlight>
              </a:rPr>
              <a:t>a single person</a:t>
            </a:r>
            <a:r>
              <a:rPr lang="en-US" sz="2000" dirty="0">
                <a:solidFill>
                  <a:srgbClr val="0B1F33"/>
                </a:solidFill>
                <a:highlight>
                  <a:srgbClr val="FFFF00"/>
                </a:highlight>
              </a:rPr>
              <a:t> from authorising access to </a:t>
            </a:r>
            <a:r>
              <a:rPr lang="en-US" sz="2000" b="1" dirty="0">
                <a:solidFill>
                  <a:srgbClr val="0B1F33"/>
                </a:solidFill>
                <a:highlight>
                  <a:srgbClr val="FFFF00"/>
                </a:highlight>
              </a:rPr>
              <a:t>sensitive health data alone</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every access decision </a:t>
            </a:r>
            <a:r>
              <a:rPr lang="en-US" sz="2000" b="1" dirty="0">
                <a:solidFill>
                  <a:srgbClr val="0B1F33"/>
                </a:solidFill>
                <a:highlight>
                  <a:srgbClr val="FFFF00"/>
                </a:highlight>
              </a:rPr>
              <a:t>explainable to auditors</a:t>
            </a:r>
            <a:r>
              <a:rPr lang="en-US" sz="2000" dirty="0">
                <a:solidFill>
                  <a:srgbClr val="0B1F33"/>
                </a:solidFill>
                <a:highlight>
                  <a:srgbClr val="FFFF00"/>
                </a:highlight>
              </a:rPr>
              <a:t>: which check </a:t>
            </a:r>
            <a:r>
              <a:rPr lang="en-US" sz="2000" b="1" dirty="0">
                <a:solidFill>
                  <a:srgbClr val="0B1F33"/>
                </a:solidFill>
                <a:highlight>
                  <a:srgbClr val="FFFF00"/>
                </a:highlight>
              </a:rPr>
              <a:t>passed</a:t>
            </a:r>
            <a:r>
              <a:rPr lang="en-US" sz="2000" dirty="0">
                <a:solidFill>
                  <a:srgbClr val="0B1F33"/>
                </a:solidFill>
                <a:highlight>
                  <a:srgbClr val="FFFF00"/>
                </a:highlight>
              </a:rPr>
              <a:t> and which </a:t>
            </a:r>
            <a:r>
              <a:rPr lang="en-US" sz="2000" b="1" dirty="0">
                <a:solidFill>
                  <a:srgbClr val="0B1F33"/>
                </a:solidFill>
                <a:highlight>
                  <a:srgbClr val="FFFF00"/>
                </a:highlight>
              </a:rPr>
              <a:t>failed</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keeps </a:t>
            </a:r>
            <a:r>
              <a:rPr lang="en-US" sz="2000" b="1" dirty="0">
                <a:solidFill>
                  <a:srgbClr val="0B1F33"/>
                </a:solidFill>
                <a:highlight>
                  <a:srgbClr val="FFFF00"/>
                </a:highlight>
              </a:rPr>
              <a:t>medical records off-chain</a:t>
            </a:r>
            <a:r>
              <a:rPr lang="en-US" sz="2000" dirty="0">
                <a:solidFill>
                  <a:srgbClr val="0B1F33"/>
                </a:solidFill>
                <a:highlight>
                  <a:srgbClr val="FFFF00"/>
                </a:highlight>
              </a:rPr>
              <a:t>, so only </a:t>
            </a:r>
            <a:r>
              <a:rPr lang="en-US" sz="2000" b="1" dirty="0">
                <a:solidFill>
                  <a:srgbClr val="0B1F33"/>
                </a:solidFill>
                <a:highlight>
                  <a:srgbClr val="FFFF00"/>
                </a:highlight>
              </a:rPr>
              <a:t>consent evidence</a:t>
            </a:r>
            <a:r>
              <a:rPr lang="en-US" sz="2000" dirty="0">
                <a:solidFill>
                  <a:srgbClr val="0B1F33"/>
                </a:solidFill>
                <a:highlight>
                  <a:srgbClr val="FFFF00"/>
                </a:highlight>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can support </a:t>
            </a:r>
            <a:r>
              <a:rPr lang="en-US" sz="2000" b="1" dirty="0">
                <a:solidFill>
                  <a:srgbClr val="0B1F33"/>
                </a:solidFill>
                <a:highlight>
                  <a:srgbClr val="FFFF00"/>
                </a:highlight>
              </a:rPr>
              <a:t>trust between hospitals</a:t>
            </a:r>
            <a:r>
              <a:rPr lang="en-US" sz="2000" dirty="0">
                <a:solidFill>
                  <a:srgbClr val="0B1F33"/>
                </a:solidFill>
                <a:highlight>
                  <a:srgbClr val="FFFF00"/>
                </a:highlight>
              </a:rPr>
              <a:t> and other </a:t>
            </a:r>
            <a:r>
              <a:rPr lang="en-US" sz="2000" b="1" dirty="0">
                <a:solidFill>
                  <a:srgbClr val="0B1F33"/>
                </a:solidFill>
                <a:highlight>
                  <a:srgbClr val="FFFF00"/>
                </a:highlight>
              </a:rPr>
              <a:t>independent parties</a:t>
            </a:r>
            <a:r>
              <a:rPr lang="en-US" sz="2000" dirty="0">
                <a:solidFill>
                  <a:srgbClr val="0B1F33"/>
                </a:solidFill>
                <a:highlight>
                  <a:srgbClr val="FFFF00"/>
                </a:highlight>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Identity and keys</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Attack A11</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a:t>
            </a:r>
            <a:r>
              <a:rPr lang="en-US" sz="1500" i="1" dirty="0">
                <a:solidFill>
                  <a:srgbClr val="0B1F33"/>
                </a:solidFill>
                <a:highlight>
                  <a:srgbClr val="FFFF00"/>
                </a:highlight>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yellow/F21x.png">    </p:cNvPr>
          <p:cNvPicPr>
            <a:picLocks noChangeAspect="1"/>
          </p:cNvPicPr>
          <p:nvPr/>
        </p:nvPicPr>
        <p:blipFill>
          <a:blip r:embed="rId1"/>
          <a:stretch>
            <a:fillRect/>
          </a:stretch>
        </p:blipFill>
        <p:spPr>
          <a:xfrm>
            <a:off x="890650" y="1709928"/>
            <a:ext cx="644830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0B1F33"/>
                </a:solidFill>
                <a:highlight>
                  <a:srgbClr val="FFFF00"/>
                </a:highlight>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0B1F33"/>
                </a:solidFill>
                <a:highlight>
                  <a:srgbClr val="FFFF00"/>
                </a:highlight>
              </a:rPr>
              <a:t>. The guardian does not wait.</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Second approval: 2 of 2, token recorded, anchoring starts</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yellow/F29m.png">    </p:cNvPr>
          <p:cNvPicPr>
            <a:picLocks noChangeAspect="1"/>
          </p:cNvPicPr>
          <p:nvPr/>
        </p:nvPicPr>
        <p:blipFill>
          <a:blip r:embed="rId1"/>
          <a:stretch>
            <a:fillRect/>
          </a:stretch>
        </p:blipFill>
        <p:spPr>
          <a:xfrm>
            <a:off x="1199163" y="2624328"/>
            <a:ext cx="9793369"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yellow/F29r.png">    </p:cNvPr>
          <p:cNvPicPr>
            <a:picLocks noChangeAspect="1"/>
          </p:cNvPicPr>
          <p:nvPr/>
        </p:nvPicPr>
        <p:blipFill>
          <a:blip r:embed="rId1"/>
          <a:stretch>
            <a:fillRect/>
          </a:stretch>
        </p:blipFill>
        <p:spPr>
          <a:xfrm>
            <a:off x="1231546" y="2487168"/>
            <a:ext cx="4212029"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yellow/F30.png">    </p:cNvPr>
          <p:cNvPicPr>
            <a:picLocks noChangeAspect="1"/>
          </p:cNvPicPr>
          <p:nvPr/>
        </p:nvPicPr>
        <p:blipFill>
          <a:blip r:embed="rId2"/>
          <a:stretch>
            <a:fillRect/>
          </a:stretch>
        </p:blipFill>
        <p:spPr>
          <a:xfrm>
            <a:off x="6797673" y="2487168"/>
            <a:ext cx="4144014"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Row 40 is the anchor on Sepolia: block 11,771,243.</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yellow/F39a.png">    </p:cNvPr>
          <p:cNvPicPr>
            <a:picLocks noChangeAspect="1"/>
          </p:cNvPicPr>
          <p:nvPr/>
        </p:nvPicPr>
        <p:blipFill>
          <a:blip r:embed="rId1"/>
          <a:stretch>
            <a:fillRect/>
          </a:stretch>
        </p:blipFill>
        <p:spPr>
          <a:xfrm>
            <a:off x="1524591" y="2624328"/>
            <a:ext cx="9142514"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yellow/F39b.png">    </p:cNvPr>
          <p:cNvPicPr>
            <a:picLocks noChangeAspect="1"/>
          </p:cNvPicPr>
          <p:nvPr/>
        </p:nvPicPr>
        <p:blipFill>
          <a:blip r:embed="rId1"/>
          <a:stretch>
            <a:fillRect/>
          </a:stretch>
        </p:blipFill>
        <p:spPr>
          <a:xfrm>
            <a:off x="1530177" y="1664208"/>
            <a:ext cx="9101165" cy="1444752"/>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yellow/F37t.png">    </p:cNvPr>
          <p:cNvPicPr>
            <a:picLocks noChangeAspect="1"/>
          </p:cNvPicPr>
          <p:nvPr/>
        </p:nvPicPr>
        <p:blipFill>
          <a:blip r:embed="rId2"/>
          <a:stretch>
            <a:fillRect/>
          </a:stretch>
        </p:blipFill>
        <p:spPr>
          <a:xfrm>
            <a:off x="802250" y="3767328"/>
            <a:ext cx="5710700" cy="2331720"/>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yellow/F36m.png">    </p:cNvPr>
          <p:cNvPicPr>
            <a:picLocks noChangeAspect="1"/>
          </p:cNvPicPr>
          <p:nvPr/>
        </p:nvPicPr>
        <p:blipFill>
          <a:blip r:embed="rId3"/>
          <a:stretch>
            <a:fillRect/>
          </a:stretch>
        </p:blipFill>
        <p:spPr>
          <a:xfrm>
            <a:off x="7134090" y="3767328"/>
            <a:ext cx="4111260" cy="1051560"/>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2026-10-12T09:40:12Z</dcterms:created>
  <dcterms:modified xsi:type="dcterms:W3CDTF">2026-10-12T09:40:12Z</dcterms:modified>
</cp:coreProperties>
</file>
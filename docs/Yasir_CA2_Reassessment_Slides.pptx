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3bbe7f3-60a9-8aee-7880-f93e449098e9}">
          <p14:sldIdLst>
            <p14:sldId id="256"/>
          </p14:sldIdLst>
        </p14:section>
        <p14:section name="Outline" id="{a2c38d7c-deaa-fb1a-94d0-8e9a0fa2d9fa}">
          <p14:sldIdLst>
            <p14:sldId id="257"/>
          </p14:sldIdLst>
        </p14:section>
        <p14:section name="Introduction" id="{a867dcd1-1d16-2c2b-911e-0ecc15c2572c}">
          <p14:sldIdLst>
            <p14:sldId id="258"/>
            <p14:sldId id="259"/>
          </p14:sldIdLst>
        </p14:section>
        <p14:section name="Systematic Literature Review" id="{488c0d3c-2a00-e407-3610-c8d4c1d30c5e}">
          <p14:sldIdLst>
            <p14:sldId id="260"/>
            <p14:sldId id="261"/>
            <p14:sldId id="262"/>
            <p14:sldId id="263"/>
            <p14:sldId id="264"/>
            <p14:sldId id="265"/>
            <p14:sldId id="266"/>
            <p14:sldId id="267"/>
          </p14:sldIdLst>
        </p14:section>
        <p14:section name="Research Gap" id="{41c96388-e798-3bf6-4d02-12f0546b1a8e}">
          <p14:sldIdLst>
            <p14:sldId id="268"/>
          </p14:sldIdLst>
        </p14:section>
        <p14:section name="Research Questions" id="{5c252edd-7bae-7a44-5f98-b50dfc780af7}">
          <p14:sldIdLst>
            <p14:sldId id="269"/>
            <p14:sldId id="270"/>
          </p14:sldIdLst>
        </p14:section>
        <p14:section name="Research Objectives" id="{6974a43d-6dd0-6ade-203b-e08dbb8aca76}">
          <p14:sldIdLst>
            <p14:sldId id="271"/>
          </p14:sldIdLst>
        </p14:section>
        <p14:section name="Research Methodology" id="{68744978-705b-0402-5c53-e69499cd1a29}">
          <p14:sldIdLst>
            <p14:sldId id="272"/>
          </p14:sldIdLst>
        </p14:section>
        <p14:section name="Research Architecture" id="{4454e148-bd6a-b90e-64f3-bf3bf951d35b}">
          <p14:sldIdLst>
            <p14:sldId id="273"/>
          </p14:sldIdLst>
        </p14:section>
        <p14:section name="The Proposed Solutions" id="{b65fafc3-cfaa-bc87-4c0b-5c4daf9467ac}">
          <p14:sldIdLst>
            <p14:sldId id="274"/>
            <p14:sldId id="275"/>
            <p14:sldId id="276"/>
            <p14:sldId id="277"/>
            <p14:sldId id="278"/>
            <p14:sldId id="279"/>
            <p14:sldId id="280"/>
            <p14:sldId id="281"/>
            <p14:sldId id="282"/>
            <p14:sldId id="283"/>
            <p14:sldId id="284"/>
            <p14:sldId id="285"/>
            <p14:sldId id="286"/>
          </p14:sldIdLst>
        </p14:section>
        <p14:section name="Implementation and Evaluation" id="{353df298-9d43-15b7-c93b-b3754bbf9ef5}">
          <p14:sldIdLst>
            <p14:sldId id="287"/>
            <p14:sldId id="288"/>
            <p14:sldId id="289"/>
            <p14:sldId id="290"/>
            <p14:sldId id="291"/>
            <p14:sldId id="292"/>
            <p14:sldId id="293"/>
          </p14:sldIdLst>
        </p14:section>
        <p14:section name="Significance of the Research" id="{2c3f206f-b81f-b8ff-31df-abeac4b1d902}">
          <p14:sldIdLst>
            <p14:sldId id="294"/>
            <p14:sldId id="295"/>
            <p14:sldId id="296"/>
            <p14:sldId id="297"/>
          </p14:sldIdLst>
        </p14:section>
        <p14:section name="Research Plan" id="{71c5dc6c-8dae-5b9b-bb0d-255508cfdc54}">
          <p14:sldIdLst>
            <p14:sldId id="298"/>
            <p14:sldId id="299"/>
            <p14:sldId id="300"/>
          </p14:sldIdLst>
        </p14:section>
        <p14:section name="References" id="{a703f508-f669-5588-eaa4-65dc7a0e30b2}">
          <p14:sldIdLst>
            <p14:sldId id="301"/>
            <p14:sldId id="302"/>
            <p14:sldId id="303"/>
          </p14:sldIdLst>
        </p14:section>
        <p14:section name="Thank You" id="{60f99237-f53c-e667-f848-e8dd7106f947}">
          <p14:sldIdLst>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next stage adds the SUSPENDED state, a lifecycle transition check, consent modification, delegation, guardian-set changes and a formal lifecycle model.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participant's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VI(u) = VerifyDID(u) ∧ VerifyVC(u) ∧ Authority(u, C).</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verified by signature recovery.</a:t>
            </a:r>
            <a:endParaRPr lang="en-US" sz="1450" dirty="0"/>
          </a:p>
          <a:p>
            <a:pPr marL="342900" indent="-342900">
              <a:spcAft>
                <a:spcPts val="1000"/>
              </a:spcAft>
              <a:buSzPct val="100000"/>
              <a:buChar char="•"/>
            </a:pPr>
            <a:r>
              <a:rPr lang="en-US" sz="1450" dirty="0">
                <a:solidFill>
                  <a:srgbClr val="FFFFFF"/>
                </a:solidFill>
              </a:rPr>
              <a:t>Approvals from outside G and duplicate approvals are not counted; a replayed signature fails the identity check (VI).</a:t>
            </a:r>
            <a:endParaRPr lang="en-US" sz="1450" dirty="0"/>
          </a:p>
          <a:p>
            <a:pPr marL="342900" indent="-342900">
              <a:spcAft>
                <a:spcPts val="1000"/>
              </a:spcAft>
              <a:buSzPct val="100000"/>
              <a:buChar char="•"/>
            </a:pPr>
            <a:r>
              <a:rPr lang="en-US" sz="1450" dirty="0">
                <a:solidFill>
                  <a:srgbClr val="FFFFFF"/>
                </a:solidFill>
              </a:rPr>
              <a:t>N-of-N rule: a valid signature from every listed guardian (2-of-2 in the demo).</a:t>
            </a:r>
            <a:endParaRPr lang="en-US" sz="1450" dirty="0"/>
          </a:p>
          <a:p>
            <a:pPr marL="342900" indent="-342900">
              <a:spcAft>
                <a:spcPts val="1000"/>
              </a:spcAft>
              <a:buSzPct val="100000"/>
              <a:buChar char="•"/>
            </a:pPr>
            <a:r>
              <a:rPr lang="en-US" sz="1450" dirty="0">
                <a:solidFill>
                  <a:srgbClr val="FFFFFF"/>
                </a:solidFill>
              </a:rPr>
              <a:t>When the threshold is met, a local token is recorded and the mint is anchored on Sepolia in the background.</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 scope SR must be a non-empty subset of the authorised scope SC.</a:t>
            </a:r>
            <a:endParaRPr lang="en-US" sz="1550" dirty="0"/>
          </a:p>
          <a:p>
            <a:pPr marL="342900" indent="-342900">
              <a:spcAft>
                <a:spcPts val="1000"/>
              </a:spcAft>
              <a:buSzPct val="100000"/>
              <a:buChar char="•"/>
            </a:pPr>
            <a:r>
              <a:rPr lang="en-US" sz="1550" dirty="0">
                <a:solidFill>
                  <a:srgbClr val="FFFFFF"/>
                </a:solidFill>
              </a:rPr>
              <a:t>The purpose must be a supported healthcare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 otherwise DENY.</a:t>
            </a:r>
            <a:endParaRPr lang="en-US" sz="1550" dirty="0"/>
          </a:p>
          <a:p>
            <a:pPr marL="342900" indent="-342900">
              <a:spcAft>
                <a:spcPts val="1000"/>
              </a:spcAft>
              <a:buSzPct val="100000"/>
              <a:buChar char="•"/>
            </a:pPr>
            <a:r>
              <a:rPr lang="en-US" sz="1550" dirty="0">
                <a:solidFill>
                  <a:srgbClr val="FFFFFF"/>
                </a:solidFill>
              </a:rPr>
              <a:t>Example: requesting Procedure when only Observation and Medication are allowed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The validity window (notBefore, expiry) is stored on-chain and checked at every request through VT.</a:t>
            </a:r>
            <a:endParaRPr lang="en-US" sz="1350" dirty="0"/>
          </a:p>
          <a:p>
            <a:pPr marL="342900" indent="-342900">
              <a:spcAft>
                <a:spcPts val="1000"/>
              </a:spcAft>
              <a:buSzPct val="100000"/>
              <a:buChar char="•"/>
            </a:pPr>
            <a:r>
              <a:rPr lang="en-US" sz="1350" dirty="0">
                <a:solidFill>
                  <a:srgbClr val="FFFFFF"/>
                </a:solidFill>
              </a:rPr>
              <a:t>Revocation is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an</a:t>
            </a:r>
            <a:r>
              <a:rPr lang="en-US" sz="1350" dirty="0">
                <a:solidFill>
                  <a:srgbClr val="FFFFFF"/>
                </a:solidFill>
              </a:rPr>
              <a:t> explicit lifecycle state machine: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RO6: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PUBLICATIONS</a:t>
            </a:r>
            <a:endParaRPr lang="en-US" sz="3000" dirty="0"/>
          </a:p>
        </p:txBody>
      </p:sp>
      <p:graphicFrame>
        <p:nvGraphicFramePr>
          <p:cNvPr id="44"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a:t>
            </a:r>
            <a:r>
              <a:rPr lang="en-US" sz="1000" i="1" dirty="0">
                <a:solidFill>
                  <a:srgbClr val="0B1F33"/>
                </a:solidFill>
              </a:rPr>
              <a:t>IEEE Access</a:t>
            </a:r>
            <a:r>
              <a:rPr lang="en-US" sz="1000" dirty="0">
                <a:solidFill>
                  <a:srgbClr val="0B1F33"/>
                </a:solidFill>
              </a:rPr>
              <a:t>,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a:t>
            </a:r>
            <a:r>
              <a:rPr lang="en-US" sz="1000" i="1" dirty="0">
                <a:solidFill>
                  <a:srgbClr val="0B1F33"/>
                </a:solidFill>
              </a:rPr>
              <a:t>Proceedings of the 20th International Conference on Security and Cryptography (SECRYPT 2023)</a:t>
            </a:r>
            <a:r>
              <a:rPr lang="en-US" sz="1000" dirty="0">
                <a:solidFill>
                  <a:srgbClr val="0B1F33"/>
                </a:solidFill>
              </a:rPr>
              <a:t>,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a:t>
            </a:r>
            <a:r>
              <a:rPr lang="en-US" sz="1000" i="1" dirty="0">
                <a:solidFill>
                  <a:srgbClr val="0B1F33"/>
                </a:solidFill>
              </a:rPr>
              <a:t>JMIR Medical Informatics</a:t>
            </a:r>
            <a:r>
              <a:rPr lang="en-US" sz="1000" dirty="0">
                <a:solidFill>
                  <a:srgbClr val="0B1F33"/>
                </a:solidFill>
              </a:rPr>
              <a:t>, vol. 9, no. 11, p. e27816, &lt;https://doi.org/10.2196/27816&gt;.</a:t>
            </a:r>
            <a:endParaRPr lang="en-US" sz="1000" dirty="0"/>
          </a:p>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a:t>
            </a:r>
            <a:r>
              <a:rPr lang="en-US" sz="1000" i="1" dirty="0">
                <a:solidFill>
                  <a:srgbClr val="0B1F33"/>
                </a:solidFill>
              </a:rPr>
              <a:t>Scientific Reports</a:t>
            </a:r>
            <a:r>
              <a:rPr lang="en-US" sz="1000" dirty="0">
                <a:solidFill>
                  <a:srgbClr val="0B1F33"/>
                </a:solidFill>
              </a:rPr>
              <a:t>,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a:t>
            </a:r>
            <a:r>
              <a:rPr lang="en-US" sz="1000" i="1" dirty="0">
                <a:solidFill>
                  <a:srgbClr val="0B1F33"/>
                </a:solidFill>
              </a:rPr>
              <a:t>2026 IEEE International Conference on Blockchain and Cryptocurrency (ICBC)</a:t>
            </a:r>
            <a:r>
              <a:rPr lang="en-US" sz="1000" dirty="0">
                <a:solidFill>
                  <a:srgbClr val="0B1F33"/>
                </a:solidFill>
              </a:rPr>
              <a:t>,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a:t>
            </a:r>
            <a:r>
              <a:rPr lang="en-US" sz="1000" i="1" dirty="0">
                <a:solidFill>
                  <a:srgbClr val="0B1F33"/>
                </a:solidFill>
              </a:rPr>
              <a:t>International Journal of Medical Informatics</a:t>
            </a:r>
            <a:r>
              <a:rPr lang="en-US" sz="1000" dirty="0">
                <a:solidFill>
                  <a:srgbClr val="0B1F33"/>
                </a:solidFill>
              </a:rPr>
              <a:t>,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a:t>
            </a:r>
            <a:r>
              <a:rPr lang="en-US" sz="1000" i="1" dirty="0">
                <a:solidFill>
                  <a:srgbClr val="0B1F33"/>
                </a:solidFill>
              </a:rPr>
              <a:t>2026 6th International Conference on Expert Clouds and Applications (ICOECA)</a:t>
            </a:r>
            <a:r>
              <a:rPr lang="en-US" sz="1000" dirty="0">
                <a:solidFill>
                  <a:srgbClr val="0B1F33"/>
                </a:solidFill>
              </a:rPr>
              <a:t>, pp. 293–300, &lt;https://doi.org/10.1109/ICOECA68095.2026.11485301&gt;.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a:t>
            </a:r>
            <a:r>
              <a:rPr lang="en-US" sz="1000" i="1" dirty="0">
                <a:solidFill>
                  <a:srgbClr val="0B1F33"/>
                </a:solidFill>
              </a:rPr>
              <a:t>IEEE Access</a:t>
            </a:r>
            <a:r>
              <a:rPr lang="en-US" sz="1000" dirty="0">
                <a:solidFill>
                  <a:srgbClr val="0B1F33"/>
                </a:solidFill>
              </a:rPr>
              <a:t>,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a:t>
            </a:r>
            <a:r>
              <a:rPr lang="en-US" sz="1000" i="1" dirty="0">
                <a:solidFill>
                  <a:srgbClr val="0B1F33"/>
                </a:solidFill>
              </a:rPr>
              <a:t>IEEE Internet of Things Journal</a:t>
            </a:r>
            <a:r>
              <a:rPr lang="en-US" sz="1000" dirty="0">
                <a:solidFill>
                  <a:srgbClr val="0B1F33"/>
                </a:solidFill>
              </a:rPr>
              <a:t>,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a:t>
            </a:r>
            <a:r>
              <a:rPr lang="en-US" sz="1000" i="1" dirty="0">
                <a:solidFill>
                  <a:srgbClr val="0B1F33"/>
                </a:solidFill>
              </a:rPr>
              <a:t>IEEE Access</a:t>
            </a:r>
            <a:r>
              <a:rPr lang="en-US" sz="1000" dirty="0">
                <a:solidFill>
                  <a:srgbClr val="0B1F33"/>
                </a:solidFill>
              </a:rPr>
              <a:t>,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a:t>
            </a:r>
            <a:r>
              <a:rPr lang="en-US" sz="1000" i="1" dirty="0">
                <a:solidFill>
                  <a:srgbClr val="0B1F33"/>
                </a:solidFill>
              </a:rPr>
              <a:t>IEEE Transactions on Network and Service Management</a:t>
            </a:r>
            <a:r>
              <a:rPr lang="en-US" sz="1000" dirty="0">
                <a:solidFill>
                  <a:srgbClr val="0B1F33"/>
                </a:solidFill>
              </a:rPr>
              <a: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a:t>
            </a:r>
            <a:r>
              <a:rPr lang="en-US" sz="1000" i="1" dirty="0">
                <a:solidFill>
                  <a:srgbClr val="0B1F33"/>
                </a:solidFill>
              </a:rPr>
              <a:t>IEEE Internet of Things Journal</a:t>
            </a:r>
            <a:r>
              <a:rPr lang="en-US" sz="1000" dirty="0">
                <a:solidFill>
                  <a:srgbClr val="0B1F33"/>
                </a:solidFill>
              </a:rPr>
              <a:t>,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a:t>
            </a:r>
            <a:r>
              <a:rPr lang="en-US" sz="1000" i="1" dirty="0">
                <a:solidFill>
                  <a:srgbClr val="0B1F33"/>
                </a:solidFill>
              </a:rPr>
              <a:t>Electronics</a:t>
            </a:r>
            <a:r>
              <a:rPr lang="en-US" sz="1000" dirty="0">
                <a:solidFill>
                  <a:srgbClr val="0B1F33"/>
                </a:solidFill>
              </a:rPr>
              <a:t>,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a:t>
            </a:r>
            <a:r>
              <a:rPr lang="en-US" sz="1000" i="1" dirty="0">
                <a:solidFill>
                  <a:srgbClr val="0B1F33"/>
                </a:solidFill>
              </a:rPr>
              <a:t>Blockchain in Healthcare Today</a:t>
            </a:r>
            <a:r>
              <a:rPr lang="en-US" sz="1000" dirty="0">
                <a:solidFill>
                  <a:srgbClr val="0B1F33"/>
                </a:solidFill>
              </a:rPr>
              <a:t>,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a:t>
            </a:r>
            <a:r>
              <a:rPr lang="en-US" sz="1000" i="1" dirty="0">
                <a:solidFill>
                  <a:srgbClr val="0B1F33"/>
                </a:solidFill>
              </a:rPr>
              <a:t>IEEE Access</a:t>
            </a:r>
            <a:r>
              <a:rPr lang="en-US" sz="1000" dirty="0">
                <a:solidFill>
                  <a:srgbClr val="0B1F33"/>
                </a:solidFill>
              </a:rPr>
              <a:t>,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a:t>
            </a:r>
            <a:r>
              <a:rPr lang="en-US" sz="1000" i="1" dirty="0">
                <a:solidFill>
                  <a:srgbClr val="0B1F33"/>
                </a:solidFill>
              </a:rPr>
              <a:t>Journal of Cloud Computing</a:t>
            </a:r>
            <a:r>
              <a:rPr lang="en-US" sz="1000" dirty="0">
                <a:solidFill>
                  <a:srgbClr val="0B1F33"/>
                </a:solidFill>
              </a:rPr>
              <a:t>,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a:t>
            </a:r>
            <a:r>
              <a:rPr lang="en-US" sz="1000" i="1" dirty="0">
                <a:solidFill>
                  <a:srgbClr val="0B1F33"/>
                </a:solidFill>
              </a:rPr>
              <a:t>IEEE Access</a:t>
            </a:r>
            <a:r>
              <a:rPr lang="en-US" sz="1000" dirty="0">
                <a:solidFill>
                  <a:srgbClr val="0B1F33"/>
                </a:solidFill>
              </a:rPr>
              <a:t>, vol. 11, pp. 12727–12741, &lt;https://doi.org/10.1109/ACCESS.2023.3242605&gt;.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a:t>
            </a:r>
            <a:r>
              <a:rPr lang="en-US" sz="1000" i="1" dirty="0">
                <a:solidFill>
                  <a:srgbClr val="0B1F33"/>
                </a:solidFill>
              </a:rPr>
              <a:t>JAMIA Open</a:t>
            </a:r>
            <a:r>
              <a:rPr lang="en-US" sz="1000" dirty="0">
                <a:solidFill>
                  <a:srgbClr val="0B1F33"/>
                </a:solidFill>
              </a:rPr>
              <a:t>,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a:t>
            </a:r>
            <a:r>
              <a:rPr lang="en-US" sz="1000" i="1" dirty="0">
                <a:solidFill>
                  <a:srgbClr val="0B1F33"/>
                </a:solidFill>
              </a:rPr>
              <a:t>Wireless Networks</a:t>
            </a:r>
            <a:r>
              <a:rPr lang="en-US" sz="1000" dirty="0">
                <a:solidFill>
                  <a:srgbClr val="0B1F33"/>
                </a:solidFill>
              </a:rPr>
              <a:t>,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a:t>
            </a:r>
            <a:r>
              <a:rPr lang="en-US" sz="1000" i="1" dirty="0">
                <a:solidFill>
                  <a:srgbClr val="0B1F33"/>
                </a:solidFill>
              </a:rPr>
              <a:t>Healthcare Informatics Research</a:t>
            </a:r>
            <a:r>
              <a:rPr lang="en-US" sz="1000" dirty="0">
                <a:solidFill>
                  <a:srgbClr val="0B1F33"/>
                </a:solidFill>
              </a:rPr>
              <a:t>,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a:t>
            </a:r>
            <a:r>
              <a:rPr lang="en-US" sz="1000" i="1" dirty="0">
                <a:solidFill>
                  <a:srgbClr val="0B1F33"/>
                </a:solidFill>
              </a:rPr>
              <a:t>Patterns</a:t>
            </a:r>
            <a:r>
              <a:rPr lang="en-US" sz="1000" dirty="0">
                <a:solidFill>
                  <a:srgbClr val="0B1F33"/>
                </a:solidFill>
              </a:rPr>
              <a:t>,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a:t>
            </a:r>
            <a:r>
              <a:rPr lang="en-US" sz="1000" i="1" dirty="0">
                <a:solidFill>
                  <a:srgbClr val="0B1F33"/>
                </a:solidFill>
              </a:rPr>
              <a:t>Technologies</a:t>
            </a:r>
            <a:r>
              <a:rPr lang="en-US" sz="1000" dirty="0">
                <a:solidFill>
                  <a:srgbClr val="0B1F33"/>
                </a:solidFill>
              </a:rPr>
              <a:t>,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a:t>
            </a:r>
            <a:r>
              <a:rPr lang="en-US" sz="1000" i="1" dirty="0">
                <a:solidFill>
                  <a:srgbClr val="0B1F33"/>
                </a:solidFill>
              </a:rPr>
              <a:t>Proceedings of the International Conference on Deep Learning, Big Data and Blockchain (DBB 2022), LNNS</a:t>
            </a:r>
            <a:r>
              <a:rPr lang="en-US" sz="1000" dirty="0">
                <a:solidFill>
                  <a:srgbClr val="0B1F33"/>
                </a:solidFill>
              </a:rPr>
              <a:t>,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a:t>
            </a:r>
            <a:r>
              <a:rPr lang="en-US" sz="1000" i="1" dirty="0">
                <a:solidFill>
                  <a:srgbClr val="0B1F33"/>
                </a:solidFill>
              </a:rPr>
              <a:t>Computer Standards &amp; Interfaces</a:t>
            </a:r>
            <a:r>
              <a:rPr lang="en-US" sz="1000" dirty="0">
                <a:solidFill>
                  <a:srgbClr val="0B1F33"/>
                </a:solidFill>
              </a:rPr>
              <a:t>,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a:t>
            </a:r>
            <a:r>
              <a:rPr lang="en-US" sz="1000" i="1" dirty="0">
                <a:solidFill>
                  <a:srgbClr val="0B1F33"/>
                </a:solidFill>
              </a:rPr>
              <a:t>Computers &amp; Security</a:t>
            </a:r>
            <a:r>
              <a:rPr lang="en-US" sz="1000" dirty="0">
                <a:solidFill>
                  <a:srgbClr val="0B1F33"/>
                </a:solidFill>
              </a:rPr>
              <a:t>,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2026-10-12T13:15:24Z</dcterms:created>
  <dcterms:modified xsi:type="dcterms:W3CDTF">2026-10-12T13:15:24Z</dcterms:modified>
</cp:coreProperties>
</file>
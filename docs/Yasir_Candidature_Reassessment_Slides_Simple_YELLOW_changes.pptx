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444a624-d842-3ebe-2355-fd42457f7fcc}">
          <p14:sldIdLst>
            <p14:sldId id="256"/>
            <p14:sldId id="257"/>
          </p14:sldIdLst>
        </p14:section>
        <p14:section name="The Problem" id="{cc5d3644-f8fe-12f7-47db-8b304de8113b}">
          <p14:sldIdLst>
            <p14:sldId id="258"/>
            <p14:sldId id="259"/>
          </p14:sldIdLst>
        </p14:section>
        <p14:section name="Literature Review" id="{25982c34-a26e-eff0-8fc0-bc180e2b098f}">
          <p14:sldIdLst>
            <p14:sldId id="260"/>
            <p14:sldId id="261"/>
          </p14:sldIdLst>
        </p14:section>
        <p14:section name="Gaps, Questions and Objectives" id="{5c908b84-50ce-8463-163e-6b55f8e48545}">
          <p14:sldIdLst>
            <p14:sldId id="262"/>
            <p14:sldId id="263"/>
            <p14:sldId id="264"/>
            <p14:sldId id="265"/>
          </p14:sldIdLst>
        </p14:section>
        <p14:section name="The Framework" id="{4c33b16a-475c-c5be-e9f9-010160c12aad}">
          <p14:sldIdLst>
            <p14:sldId id="266"/>
            <p14:sldId id="267"/>
            <p14:sldId id="268"/>
            <p14:sldId id="269"/>
            <p14:sldId id="270"/>
            <p14:sldId id="271"/>
            <p14:sldId id="272"/>
            <p14:sldId id="273"/>
          </p14:sldIdLst>
        </p14:section>
        <p14:section name="Validation and Evaluation" id="{c14f4b78-a7f3-6bff-f74b-5af6673d43f8}">
          <p14:sldIdLst>
            <p14:sldId id="274"/>
            <p14:sldId id="275"/>
            <p14:sldId id="276"/>
            <p14:sldId id="277"/>
          </p14:sldIdLst>
        </p14:section>
        <p14:section name="Contribution" id="{67ee0b4c-7cbc-ebad-2609-d12da710f8cf}">
          <p14:sldIdLst>
            <p14:sldId id="278"/>
            <p14:sldId id="279"/>
            <p14:sldId id="280"/>
          </p14:sldIdLst>
        </p14:section>
        <p14:section name="What is Still Open" id="{52eea1d5-37a0-2fe2-e5a4-20517b26e55c}">
          <p14:sldIdLst>
            <p14:sldId id="281"/>
          </p14:sldIdLst>
        </p14:section>
        <p14:section name="Research Plan" id="{f31d4327-95e3-fa8e-9c53-35ce5819368f}">
          <p14:sldIdLst>
            <p14:sldId id="282"/>
            <p14:sldId id="283"/>
          </p14:sldIdLst>
        </p14:section>
        <p14:section name="Demo: The HALAH Prototype" id="{27382818-b767-809f-3869-647e761016ee}">
          <p14:sldIdLst>
            <p14:sldId id="284"/>
            <p14:sldId id="285"/>
            <p14:sldId id="286"/>
            <p14:sldId id="287"/>
            <p14:sldId id="288"/>
            <p14:sldId id="289"/>
            <p14:sldId id="290"/>
            <p14:sldId id="291"/>
            <p14:sldId id="292"/>
            <p14:sldId id="293"/>
            <p14:sldId id="294"/>
          </p14:sldIdLst>
        </p14:section>
        <p14:section name="References" id="{7ff48b02-3d44-e992-d1a1-ab71df17013d}">
          <p14:sldIdLst>
            <p14:sldId id="295"/>
            <p14:sldId id="296"/>
            <p14:sldId id="297"/>
            <p14:sldId id="298"/>
            <p14:sldId id="299"/>
            <p14:sldId id="300"/>
            <p14:sldId id="301"/>
          </p14:sldIdLst>
        </p14:section>
        <p14:section name="Thank You" id="{e92496ca-b8af-b64e-31fa-0d9abee482ca}">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a:t>
            </a:r>
            <a:r>
              <a:rPr lang="en-US" dirty="0">
                <a:highlight>
                  <a:srgbClr val="FFFF00"/>
                </a:highlight>
              </a:rPr>
              <a:t>who must approve, for example guardians, healthcare professionals or institutional representatives,</a:t>
            </a:r>
            <a:r>
              <a:rPr lang="en-US" dirty="0"/>
              <a:t> and how many. P is policy: the purpose and the data that was agreed. T is time: when the consent starts and when it ends. </a:t>
            </a:r>
            <a:r>
              <a:rPr lang="en-US" dirty="0">
                <a:highlight>
                  <a:srgbClr val="FFFF00"/>
                </a:highlight>
              </a:rPr>
              <a:t>L is lifecycle: the state of the consent, for example pending, active, suspended, revoked or expired.</a:t>
            </a:r>
            <a:r>
              <a:rPr lang="en-US" dirty="0"/>
              <a:t> And E is evidence: the signatures, the token</a:t>
            </a:r>
            <a:r>
              <a:rPr lang="en-US" dirty="0">
                <a:highlight>
                  <a:srgbClr val="FFFF00"/>
                </a:highlight>
              </a:rPr>
              <a:t> and the record of each decision</a:t>
            </a:r>
            <a:r>
              <a:rPr lang="en-US" dirty="0"/>
              <a:t>.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a:t>
            </a:r>
            <a:r>
              <a:rPr lang="en-US" dirty="0">
                <a:highlight>
                  <a:srgbClr val="FFFF00"/>
                </a:highlight>
              </a:rPr>
              <a:t>members of G approved, and the token exists</a:t>
            </a:r>
            <a:r>
              <a:rPr lang="en-US" dirty="0"/>
              <a:t>. VP: the purpose and the requested data are inside what was agreed. VT: the request is inside the validity time. </a:t>
            </a:r>
            <a:r>
              <a:rPr lang="en-US" dirty="0">
                <a:highlight>
                  <a:srgbClr val="FFFF00"/>
                </a:highlight>
              </a:rPr>
              <a:t>VL: the consent is in a valid lifecycle state, for example active and not revoked.</a:t>
            </a:r>
            <a:r>
              <a:rPr lang="en-US" dirty="0"/>
              <a:t> If any one check fails, the answer is DENY. </a:t>
            </a:r>
            <a:r>
              <a:rPr lang="en-US" dirty="0">
                <a:highlight>
                  <a:srgbClr val="FFFF00"/>
                </a:highlight>
              </a:rPr>
              <a:t>Jurisdiction is not part of this rule. It is future work, although the prototype already has an exploratory jurisdiction check, which its screen labels VL.</a:t>
            </a:r>
            <a:r>
              <a:rPr lang="en-US" dirty="0"/>
              <a:t>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a:t>
            </a:r>
            <a:r>
              <a:rPr lang="en-US" dirty="0">
                <a:highlight>
                  <a:srgbClr val="FFFF00"/>
                </a:highlight>
              </a:rPr>
              <a:t>, and the start and end time</a:t>
            </a:r>
            <a:r>
              <a:rPr lang="en-US" dirty="0"/>
              <a:t>. The system checks every field. For example, an empty data scope or a bad guardian DID is rejected. Then the consent object C is built and saved as pending</a:t>
            </a:r>
            <a:r>
              <a:rPr lang="en-US" dirty="0">
                <a:highlight>
                  <a:srgbClr val="FFFF00"/>
                </a:highlight>
              </a:rPr>
              <a:t>: its lifecycle state is PENDING</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a:t>
            </a:r>
            <a:r>
              <a:rPr lang="en-US" dirty="0">
                <a:highlight>
                  <a:srgbClr val="FFFF00"/>
                </a:highlight>
              </a:rPr>
              <a:t>The approving set G can include healthcare professionals, guardians or institutional representatives. In the prototype, G holds the guardians.</a:t>
            </a:r>
            <a:r>
              <a:rPr lang="en-US" dirty="0"/>
              <a:t>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the states are created, pending, active, suspended, revoked and expired, and VL checks them. The prototype has six working states; the suspended state is not built yet.</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a:t>
            </a:r>
            <a:r>
              <a:rPr lang="en-US" dirty="0">
                <a:highlight>
                  <a:srgbClr val="FFFF00"/>
                </a:highlight>
              </a:rPr>
              <a:t>, an exploratory check of the prototype,</a:t>
            </a:r>
            <a:r>
              <a:rPr lang="en-US" dirty="0"/>
              <a:t>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a:t>
            </a:r>
            <a:r>
              <a:rPr lang="en-US" dirty="0">
                <a:highlight>
                  <a:srgbClr val="FFFF00"/>
                </a:highlight>
              </a:rPr>
              <a:t>and the jurisdiction check fails. The prototype labels it VL; in the framework it is VJ, which is future work</a:t>
            </a:r>
            <a:r>
              <a:rPr lang="en-US" dirty="0"/>
              <a:t>,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a:t>
            </a:r>
            <a:r>
              <a:rPr lang="en-US" dirty="0">
                <a:highlight>
                  <a:srgbClr val="FFFF00"/>
                </a:highlight>
              </a:rPr>
              <a:t>members of the approving set G</a:t>
            </a:r>
            <a:r>
              <a:rPr lang="en-US" dirty="0"/>
              <a:t>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a:t>
            </a:r>
            <a:r>
              <a:rPr lang="en-US" dirty="0">
                <a:highlight>
                  <a:srgbClr val="FFFF00"/>
                </a:highlight>
              </a:rPr>
              <a:t>, and the suspended state</a:t>
            </a:r>
            <a:r>
              <a:rPr lang="en-US" dirty="0"/>
              <a:t>. Third, full DID resolution, credential validation and wallet-held guardian keys. Today it is a format check, a signature, and keys derived from the guardian DIDs. </a:t>
            </a:r>
            <a:r>
              <a:rPr lang="en-US" dirty="0">
                <a:highlight>
                  <a:srgbClr val="FFFF00"/>
                </a:highlight>
              </a:rPr>
              <a:t>Fourth, jurisdiction. It will become a policy condition of the framework, and the prototype already has an exploratory jurisdiction check.</a:t>
            </a:r>
            <a:r>
              <a:rPr lang="en-US" dirty="0"/>
              <a:t> Fifth, a bigger evaluation under load. </a:t>
            </a:r>
            <a:r>
              <a:rPr lang="en-US" dirty="0">
                <a:highlight>
                  <a:srgbClr val="FFFF00"/>
                </a:highlight>
              </a:rPr>
              <a:t>Sixth, two prototype limits: the open attack A11, and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a:t>
            </a:r>
            <a:r>
              <a:rPr lang="en-US" dirty="0">
                <a:highlight>
                  <a:srgbClr val="FFFF00"/>
                </a:highlight>
              </a:rPr>
              <a:t>PENDING_SIGNATURE is the prototype's name for the pending lifecycle state.</a:t>
            </a:r>
            <a:r>
              <a:rPr lang="en-US" dirty="0"/>
              <a:t>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a:t>
            </a:r>
            <a:r>
              <a:rPr lang="en-US" dirty="0">
                <a:highlight>
                  <a:srgbClr val="FFFF00"/>
                </a:highlight>
              </a:rPr>
              <a:t>And the exploratory jurisdiction check, which the screen labels VL.</a:t>
            </a:r>
            <a:r>
              <a:rPr lang="en-US" dirty="0"/>
              <a:t>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a:t>
            </a:r>
            <a:r>
              <a:rPr lang="en-US" dirty="0">
                <a:highlight>
                  <a:srgbClr val="FFFF00"/>
                </a:highlight>
              </a:rPr>
              <a:t>the jurisdiction check, labelled VL on the screen, fails</a:t>
            </a:r>
            <a:r>
              <a:rPr lang="en-US" dirty="0"/>
              <a:t>. One failed check is enough: access is denied. The message tells the auditor exactly which check failed. </a:t>
            </a:r>
            <a:r>
              <a:rPr lang="en-US" dirty="0">
                <a:highlight>
                  <a:srgbClr val="FFFF00"/>
                </a:highlight>
              </a:rPr>
              <a:t>Jurisdiction is future work for the framework; this exploratory check shows the same rule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t>
            </a:r>
            <a:r>
              <a:rPr lang="en-US" dirty="0">
                <a:highlight>
                  <a:srgbClr val="FFFF00"/>
                </a:highlight>
              </a:rPr>
              <a:t>In the framework, this is the lifecycle check VL. The prototype also checks revocation inside VA, so the screen shows VA FAIL.</a:t>
            </a:r>
            <a:r>
              <a:rPr lang="en-US" dirty="0"/>
              <a:t>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 They follow the UTS Harvard style, so they are listed by author name, not by number, and the names match the citations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Who must approve, G (guardians, doctors or institutions),</a:t>
            </a:r>
            <a:r>
              <a:rPr lang="en-US" sz="1600" dirty="0">
                <a:solidFill>
                  <a:srgbClr val="0B1F33"/>
                </a:solidFill>
              </a:rPr>
              <a:t>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created, pending, active, suspended, revoked or expired.</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a:t>
            </a:r>
            <a:r>
              <a:rPr lang="en-US" sz="1600" dirty="0">
                <a:solidFill>
                  <a:srgbClr val="0B1F33"/>
                </a:solidFill>
                <a:highlight>
                  <a:srgbClr val="FFFF00"/>
                </a:highlight>
              </a:rPr>
              <a:t> and the record of each decision</a:t>
            </a:r>
            <a:r>
              <a:rPr lang="en-US" sz="1600" dirty="0">
                <a:solidFill>
                  <a:srgbClr val="0B1F33"/>
                </a:solidFill>
              </a:rPr>
              <a: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Purpose and data scope</a:t>
            </a:r>
            <a:r>
              <a:rPr lang="en-US" sz="1600" dirty="0">
                <a:solidFill>
                  <a:srgbClr val="0B1F33"/>
                </a:solidFill>
              </a:rPr>
              <a:t>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members of </a:t>
                      </a:r>
                      <a:r>
                        <a:rPr lang="en-US" sz="1600" dirty="0">
                          <a:solidFill>
                            <a:srgbClr val="0B1F33"/>
                          </a:solidFill>
                          <a:highlight>
                            <a:srgbClr val="FFFF00"/>
                          </a:highlight>
                        </a:rPr>
                        <a:t>the approving set G</a:t>
                      </a:r>
                      <a:r>
                        <a:rPr lang="en-US" sz="1600" dirty="0">
                          <a:solidFill>
                            <a:srgbClr val="0B1F33"/>
                          </a:solidFill>
                        </a:rPr>
                        <a:t>,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a:t>
                      </a:r>
                      <a:r>
                        <a:rPr lang="en-US" sz="1600" dirty="0">
                          <a:solidFill>
                            <a:srgbClr val="0B1F33"/>
                          </a:solidFill>
                          <a:highlight>
                            <a:srgbClr val="FFFF00"/>
                          </a:highlight>
                        </a:rPr>
                        <a:t>purpose and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All required members of G approved; the token exists</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Lifecycle state allows access (active, not revoked)</a:t>
            </a:r>
            <a:endParaRPr lang="en-US" sz="1900" dirty="0"/>
          </a:p>
        </p:txBody>
      </p:sp>
      <p:sp>
        <p:nvSpPr>
          <p:cNvPr id="16" name="bullets"/>
          <p:cNvSpPr txBox="1"/>
          <p:nvPr/>
        </p:nvSpPr>
        <p:spPr>
          <a:xfrm>
            <a:off x="822960" y="4389120"/>
            <a:ext cx="10515600" cy="21031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One failed check is enough to say DENY.</a:t>
            </a:r>
            <a:endParaRPr lang="en-US" sz="1600" dirty="0"/>
          </a:p>
          <a:p>
            <a:pPr marL="342900" indent="-342900">
              <a:spcAft>
                <a:spcPts val="1000"/>
              </a:spcAft>
              <a:buSzPct val="100000"/>
              <a:buChar char="•"/>
            </a:pPr>
            <a:r>
              <a:rPr lang="en-US" sz="1600" dirty="0">
                <a:solidFill>
                  <a:srgbClr val="FFFFFF"/>
                </a:solidFill>
              </a:rPr>
              <a:t>A Groth16 zero-knowledge proof must also verify before any data is released.</a:t>
            </a:r>
            <a:endParaRPr lang="en-US" sz="1600" dirty="0"/>
          </a:p>
          <a:p>
            <a:pPr marL="342900" indent="-342900">
              <a:spcAft>
                <a:spcPts val="1000"/>
              </a:spcAft>
              <a:buSzPct val="100000"/>
              <a:buChar char="•"/>
            </a:pPr>
            <a:r>
              <a:rPr lang="en-US" sz="1600" dirty="0">
                <a:solidFill>
                  <a:srgbClr val="FFFFFF"/>
                </a:solidFill>
              </a:rPr>
              <a:t>Every decision on an ACTIVE consent is written to the audit ledger with its decision matrix.</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Jurisdiction is future work for the framework; the prototype already has an exploratory jurisdiction check, labelled VL on its screen.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a:t>
            </a:r>
            <a:r>
              <a:rPr lang="en-US" sz="1600" dirty="0">
                <a:solidFill>
                  <a:srgbClr val="0B1F33"/>
                </a:solidFill>
                <a:highlight>
                  <a:srgbClr val="FFFF00"/>
                </a:highlight>
              </a:rPr>
              <a:t>, and the start and expiry time</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a:t>
            </a:r>
            <a:r>
              <a:rPr lang="en-US" sz="1600" dirty="0">
                <a:solidFill>
                  <a:srgbClr val="0B1F33"/>
                </a:solidFill>
                <a:highlight>
                  <a:srgbClr val="FFFF00"/>
                </a:highlight>
              </a:rPr>
              <a:t>; its lifecycle state L is PENDING (PENDING_SIGNATURE in the prototype)</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026085" y="1115568"/>
            <a:ext cx="296735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approving set G is fixed at creation and may contain healthcare professionals, guardians or institutional representatives; in the prototype, G holds the guardians.</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a:t>
            </a:r>
            <a:endParaRPr lang="en-US" sz="1600" dirty="0"/>
          </a:p>
          <a:p>
            <a:pPr marL="342900" indent="-342900">
              <a:spcAft>
                <a:spcPts val="1000"/>
              </a:spcAft>
              <a:buSzPct val="100000"/>
              <a:buChar char="•"/>
            </a:pPr>
            <a:r>
              <a:rPr lang="en-US" sz="1600" dirty="0">
                <a:solidFill>
                  <a:srgbClr val="FFFFFF"/>
                </a:solidFill>
              </a:rPr>
              <a:t>Working now: </a:t>
            </a:r>
            <a:r>
              <a:rPr lang="en-US" sz="1600" dirty="0">
                <a:solidFill>
                  <a:srgbClr val="0B1F33"/>
                </a:solidFill>
                <a:highlight>
                  <a:srgbClr val="FFFF00"/>
                </a:highlight>
              </a:rPr>
              <a:t>six prototype states</a:t>
            </a:r>
            <a:r>
              <a:rPr lang="en-US" sz="1600" dirty="0">
                <a:solidFill>
                  <a:srgbClr val="FFFFFF"/>
                </a:solidFill>
              </a:rPr>
              <a:t>: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t>
            </a:r>
            <a:r>
              <a:rPr lang="en-US" sz="1600" dirty="0">
                <a:solidFill>
                  <a:srgbClr val="0B1F33"/>
                </a:solidFill>
                <a:highlight>
                  <a:srgbClr val="FFFF00"/>
                </a:highlight>
              </a:rPr>
              <a:t>by the exploratory jurisdiction check,</a:t>
            </a:r>
            <a:r>
              <a:rPr lang="en-US" sz="1600" dirty="0">
                <a:solidFill>
                  <a:srgbClr val="FFFFFF"/>
                </a:solidFill>
              </a:rPr>
              <a:t>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a:t>
                      </a:r>
                      <a:r>
                        <a:rPr lang="en-US" sz="1400" dirty="0">
                          <a:solidFill>
                            <a:srgbClr val="0B1F33"/>
                          </a:solidFill>
                          <a:highlight>
                            <a:srgbClr val="FFFF00"/>
                          </a:highlight>
                        </a:rPr>
                        <a:t>(exploratory check)</a:t>
                      </a:r>
                      <a:r>
                        <a:rPr lang="en-US" sz="1400" dirty="0">
                          <a:solidFill>
                            <a:srgbClr val="0B1F33"/>
                          </a:solidFill>
                        </a:rPr>
                        <a:t>.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t>
                      </a:r>
                      <a:r>
                        <a:rPr lang="en-US" sz="1300" b="1" dirty="0">
                          <a:solidFill>
                            <a:srgbClr val="0B1F33"/>
                          </a:solidFill>
                          <a:highlight>
                            <a:srgbClr val="FFFF00"/>
                          </a:highlight>
                        </a:rPr>
                        <a:t>VJ</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a:t>
            </a:r>
            <a:r>
              <a:rPr lang="en-US" sz="1400" dirty="0">
                <a:solidFill>
                  <a:srgbClr val="0B1F33"/>
                </a:solidFill>
                <a:highlight>
                  <a:srgbClr val="FFFF00"/>
                </a:highlight>
              </a:rPr>
              <a:t>the jurisdiction check VJ (VL in the prototype)</a:t>
            </a:r>
            <a:r>
              <a:rPr lang="en-US" sz="1400" dirty="0">
                <a:solidFill>
                  <a:srgbClr val="FFFFFF"/>
                </a:solidFill>
              </a:rPr>
              <a:t>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 (VJ)</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a:t>
            </a:r>
            <a:endParaRPr lang="en-US" sz="950" dirty="0"/>
          </a:p>
          <a:p>
            <a:pPr indent="0" marL="0">
              <a:buNone/>
            </a:pPr>
            <a:r>
              <a:rPr lang="en-US" sz="950" i="1" dirty="0">
                <a:solidFill>
                  <a:srgbClr val="0B1F33"/>
                </a:solidFill>
                <a:highlight>
                  <a:srgbClr val="FFFF00"/>
                </a:highlight>
              </a:rPr>
              <a:t>(A7: VJ)</a:t>
            </a:r>
            <a:r>
              <a:rPr lang="en-US" sz="950" i="1" dirty="0">
                <a:solidFill>
                  <a:srgbClr val="FFFFFF"/>
                </a:solidFill>
              </a:rPr>
              <a:t>, T time, </a:t>
            </a:r>
            <a:r>
              <a:rPr lang="en-US" sz="950" i="1" dirty="0">
                <a:solidFill>
                  <a:srgbClr val="0B1F33"/>
                </a:solidFill>
                <a:highlight>
                  <a:srgbClr val="FFFF00"/>
                </a:highlight>
              </a:rPr>
              <a:t>L lifecycle and revocation</a:t>
            </a:r>
            <a:r>
              <a:rPr lang="en-US" sz="950" i="1" dirty="0">
                <a:solidFill>
                  <a:srgbClr val="FFFFFF"/>
                </a:solidFill>
              </a:rPr>
              <a:t>, E evidence, Contract = ConsentSBTv3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members of </a:t>
                      </a:r>
                      <a:r>
                        <a:rPr lang="en-US" sz="1400" dirty="0">
                          <a:solidFill>
                            <a:srgbClr val="0B1F33"/>
                          </a:solidFill>
                          <a:highlight>
                            <a:srgbClr val="FFFF00"/>
                          </a:highlight>
                        </a:rPr>
                        <a:t>the approving set G</a:t>
                      </a:r>
                      <a:r>
                        <a:rPr lang="en-US" sz="1400" dirty="0">
                          <a:solidFill>
                            <a:srgbClr val="0B1F33"/>
                          </a:solidFill>
                        </a:rPr>
                        <a:t>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guardian-set changes</a:t>
            </a:r>
            <a:r>
              <a:rPr lang="en-US" sz="1600" dirty="0">
                <a:solidFill>
                  <a:srgbClr val="0B1F33"/>
                </a:solidFill>
                <a:highlight>
                  <a:srgbClr val="FFFF00"/>
                </a:highlight>
              </a:rPr>
              <a:t> and the SUSPENDED state</a:t>
            </a:r>
            <a:r>
              <a:rPr lang="en-US" sz="1600" dirty="0">
                <a:solidFill>
                  <a:srgbClr val="0B1F33"/>
                </a:solidFill>
              </a:rPr>
              <a:t>,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Jurisdiction"/>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Jurisdiction"/>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
            </a:r>
            <a:r>
              <a:rPr lang="en-US" sz="1900" b="1" dirty="0">
                <a:solidFill>
                  <a:srgbClr val="0B1F33"/>
                </a:solidFill>
                <a:highlight>
                  <a:srgbClr val="FFFF00"/>
                </a:highlight>
              </a:rPr>
              <a:t>Jurisdiction</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A contextual policy condition for the framework. The prototype already has an exploratory jurisdiction check (VL on its screen).</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rototype limits"/>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rototype limits"/>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
            </a:r>
            <a:r>
              <a:rPr lang="en-US" sz="1900" b="1" dirty="0">
                <a:solidFill>
                  <a:srgbClr val="0B1F33"/>
                </a:solidFill>
                <a:highlight>
                  <a:srgbClr val="FFFF00"/>
                </a:highlight>
              </a:rPr>
              <a:t>Prototype limits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A11: a changed audit digest is not yet compared (neutral, not refused). 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a:t>
            </a:r>
            <a:r>
              <a:rPr lang="en-US" sz="1600" dirty="0">
                <a:solidFill>
                  <a:srgbClr val="0B1F33"/>
                </a:solidFill>
                <a:highlight>
                  <a:srgbClr val="FFFF00"/>
                </a:highlight>
              </a:rPr>
              <a:t>, the prototype name of the PENDING lifecycle state</a:t>
            </a:r>
            <a:r>
              <a:rPr lang="en-US" sz="1600" dirty="0">
                <a:solidFill>
                  <a:srgbClr val="FFFFFF"/>
                </a:solidFill>
              </a:rPr>
              <a:t>.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a:t>
            </a:r>
            <a:r>
              <a:rPr lang="en-US" sz="1600" dirty="0">
                <a:solidFill>
                  <a:srgbClr val="0B1F33"/>
                </a:solidFill>
                <a:highlight>
                  <a:srgbClr val="FFFF00"/>
                </a:highlight>
              </a:rPr>
              <a:t>and the jurisdiction check (VL on screen)</a:t>
            </a:r>
            <a:r>
              <a:rPr lang="en-US" sz="1600" dirty="0">
                <a:solidFill>
                  <a:srgbClr val="FFFFFF"/>
                </a:solidFill>
              </a:rPr>
              <a:t>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t>
            </a:r>
            <a:r>
              <a:rPr lang="en-US" sz="1600" dirty="0">
                <a:solidFill>
                  <a:srgbClr val="0B1F33"/>
                </a:solidFill>
                <a:highlight>
                  <a:srgbClr val="FFFF00"/>
                </a:highlight>
              </a:rPr>
              <a:t>and the ACTIVE lifecycle state</a:t>
            </a:r>
            <a:r>
              <a:rPr lang="en-US" sz="1600" dirty="0">
                <a:solidFill>
                  <a:srgbClr val="FFFFFF"/>
                </a:solidFill>
              </a:rPr>
              <a:t>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exploratory jurisdiction check (VL on screen; future work for the framework) fails</a:t>
            </a:r>
            <a:r>
              <a:rPr lang="en-US" sz="1400" dirty="0">
                <a:solidFill>
                  <a:srgbClr val="FFFFFF"/>
                </a:solidFill>
              </a:rPr>
              <a:t>,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a:t>
            </a:r>
            <a:r>
              <a:rPr lang="en-US" sz="1200" i="1" dirty="0">
                <a:solidFill>
                  <a:srgbClr val="0B1F33"/>
                </a:solidFill>
                <a:highlight>
                  <a:srgbClr val="FFFF00"/>
                </a:highlight>
              </a:rPr>
              <a:t>the jurisdiction check (VL)</a:t>
            </a:r>
            <a:r>
              <a:rPr lang="en-US" sz="1200" i="1" dirty="0">
                <a:solidFill>
                  <a:srgbClr val="FFFFFF"/>
                </a:solidFill>
              </a:rPr>
              <a:t>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framework, this is the lifecycle check VL; the prototype also checks revocation within VA.</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2026-10-09T15:39:44Z</dcterms:created>
  <dcterms:modified xsi:type="dcterms:W3CDTF">2026-10-09T15:39:44Z</dcterms:modified>
</cp:coreProperties>
</file>
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79ce8cd2-bdcf-3901-a16f-e113abe043c0}">
          <p14:sldIdLst>
            <p14:sldId id="256"/>
            <p14:sldId id="257"/>
          </p14:sldIdLst>
        </p14:section>
        <p14:section name="The Problem" id="{42c99392-58e4-bbcb-ac89-844cbd5480c0}">
          <p14:sldIdLst>
            <p14:sldId id="258"/>
            <p14:sldId id="259"/>
          </p14:sldIdLst>
        </p14:section>
        <p14:section name="Literature Review" id="{5526a7c1-d75e-554d-f9d7-d380a8cf5837}">
          <p14:sldIdLst>
            <p14:sldId id="260"/>
            <p14:sldId id="261"/>
          </p14:sldIdLst>
        </p14:section>
        <p14:section name="Gap, Questions and Objectives" id="{0d77f1af-ec09-45d7-034f-b5e503e40e62}">
          <p14:sldIdLst>
            <p14:sldId id="262"/>
            <p14:sldId id="263"/>
            <p14:sldId id="264"/>
            <p14:sldId id="265"/>
          </p14:sldIdLst>
        </p14:section>
        <p14:section name="The Framework" id="{dcd1adda-7703-2b21-351a-d64802abfc08}">
          <p14:sldIdLst>
            <p14:sldId id="266"/>
            <p14:sldId id="267"/>
            <p14:sldId id="268"/>
            <p14:sldId id="269"/>
            <p14:sldId id="270"/>
            <p14:sldId id="271"/>
            <p14:sldId id="272"/>
            <p14:sldId id="273"/>
          </p14:sldIdLst>
        </p14:section>
        <p14:section name="Validation and Evaluation" id="{83e36111-7cae-0ff4-be74-244def28f3d0}">
          <p14:sldIdLst>
            <p14:sldId id="274"/>
            <p14:sldId id="275"/>
            <p14:sldId id="276"/>
            <p14:sldId id="277"/>
          </p14:sldIdLst>
        </p14:section>
        <p14:section name="Contribution" id="{1ff1dd9c-f361-ee1e-e00a-cab7104bc84d}">
          <p14:sldIdLst>
            <p14:sldId id="278"/>
            <p14:sldId id="279"/>
            <p14:sldId id="280"/>
          </p14:sldIdLst>
        </p14:section>
        <p14:section name="What is Still Open" id="{420f81b2-5a39-0a06-f399-974ba26d2c0b}">
          <p14:sldIdLst>
            <p14:sldId id="281"/>
          </p14:sldIdLst>
        </p14:section>
        <p14:section name="Research Plan" id="{e5c832bb-e5e3-49e6-0d01-d1ac0fae5e0c}">
          <p14:sldIdLst>
            <p14:sldId id="282"/>
            <p14:sldId id="283"/>
          </p14:sldIdLst>
        </p14:section>
        <p14:section name="Demo: The HALAH Prototype" id="{05d65a67-e088-3328-100a-48b197ea7570}">
          <p14:sldIdLst>
            <p14:sldId id="284"/>
            <p14:sldId id="285"/>
            <p14:sldId id="286"/>
            <p14:sldId id="287"/>
            <p14:sldId id="288"/>
            <p14:sldId id="289"/>
            <p14:sldId id="290"/>
            <p14:sldId id="291"/>
            <p14:sldId id="292"/>
            <p14:sldId id="293"/>
          </p14:sldIdLst>
        </p14:section>
        <p14:section name="References" id="{d7a242b3-a7fb-f516-7400-38a8553d2865}">
          <p14:sldIdLst>
            <p14:sldId id="294"/>
            <p14:sldId id="295"/>
            <p14:sldId id="296"/>
          </p14:sldIdLst>
        </p14:section>
        <p14:section name="Thank You" id="{ab441b60-7f19-d13d-a19d-384261d3eff3}">
          <p14:sldIdLst>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Yasir Alyoubi. My principal supervisor is Professor Farookh Hussain, and my co-supervisor is Dr Firas Al-Doghman. This is my candidature reassessment. My research asks one simple question. When a doctor asks for a patient's data, how can the system be sure that this request is really allowed? Not just who is asking. Also, did the patient and the guardians agree? Is the request inside the agreed data? And is the consent still valid today? I will show you the problem, what the literature says, my framework, the working prototype, and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for my talk. First, the problem. Then the literature review. Then the gap, the questions and the objectives. After that, the framework and its six steps. Then the validation and the evaluation results. Then I talk about what is still open and the research plan. At the end, I show a demonstration of the prototype through the slides: one real consent, from the day it is created to the day it is revoked.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the problem. Health data is very sensitive. One decision to share it can involve many people: the patient, one or more guardians, the doctor, and the hospital. Today, consent is usually just a record that is saved somewhere. That record says permission was given. But it does not check anything when someone asks for the data. A valid login does not mean you have the right to see this patient's data. And even with approval, a request can ask for more data than the patient allowed, or it can come after the consent has expired or was cancelled. So the real problem is this: there is no single trusted decision that checks all of these things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my answer in simple words. Consent should not be a record that we store. It should be an object that the system checks every time. I call this object C, and it has six parts. I is identity: who is involved. A is authorisation: which guardians must approve, and how many. P is policy: the purpose and the data that was agreed. T is time: when the consent starts and when it ends. L is lifecycle: the state of the consent, from creation to expiry or revocation. And E is evidence: the signatures, the token, and whether the consent was cancelled. At every request, the system checks all six parts. If one part fails, the answer is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 did the literature review. I followed the PRISMA 2020 method. Before I started screening, I wrote a protocol that fixed the questions, the databases, one search query, the criteria and the quality items. I searched seven databases. They gave me 9,256 records. After I removed duplicates, 6,039 were screened by title, 3,129 by abstract, and 1,800 full texts were put in order of priority. At the reporting checkpoint, 64 full texts were assessed and 47 met the criteria. From these, I analysed 25 primary studies in depth: 23 core studies and 2 supporting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sums up the review. The good news: every requirement is covered by some study. The problem: no study puts all the conditions together in one access decision. I call this the conjunction gap. And no study proves or tests the whole decision. Formal proofs exist in only 4 of the 25 studies, and they cover only a small part. I call this the assurance gap. These two gaps are what my research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research gap of my study. Existing healthcare consent and access-control research provides many of the necessary technological building blocks, but there remains a need for an integrated Trust Computing framework that treats patient consent as a security-bearing and evaluable authorisation object. Such a framework should be capable of representing the relevant trust conditions, verifying the participating entities and their authority, establishing collective authorisation where required, and enforcing the policy and data-scope constraints associated with the consent.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is my main research question. How can a trust-oriented computing framework establish and enforce trustworthy multi-party consent for decentralised healthcare data sharing, under identity, authority and policy constraints? It has six sub-questions. How to model consent. How to check identity and authority. How several guardians can approve together. How purpose and scope are checked. How time and lifecycle are checked. And how to prove and test the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question has one objective. RO1 to RO4 are done, and they are validated with the prototype. RO5 is time and lifecycle. It is in progress. The validity window and the revocation already work. Consent changes, delegation and guardian changes are for the next stage. RO6 is partly completed. The automated tests, the attack tests and the measurements are done. The formal proofs are for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steps I followed. Step one, I identified the problem. Step two, I did the systematic review. Step three, from the review I found the research gap and wrote the questions. Step four, I set the objectives. Step five, I designed the framework: the architecture, the consent object, and four algorithms. Step six, I built the prototype on the Sepolia test network. Step seven, I evaluated it with live scenarios, measurements and attack tests. The formal proofs are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 uses the Model, View, Controller pattern. The View is the four screens: patient, guardian, doctor and auditor. The View never decides who gets access. Every security decision is made in the Controller. It checks identity and authority, collects the approvals, enforces the policy, and records the evidence. The Model keeps the consent, the approvals and the evidence. Health data is released only when the Controller says ALLOW.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framework. Access is allowed only when five checks are all true. VI is identity and authority validity. VA is collective authorisation validity: all the required guardians approved. VP is policy and contextual compliance: the purpose and the requested data are inside what was agreed. VT is temporal validity: the request is inside the validity time. VL is consent lifecycle validity: the consent is in a valid state, for example active and not revoked. If any one check fails, the answer is DENY. In the prototype, a Groth16 zero-knowledge proof must also pass before any data is released. And every decision on an active consent is written to the audit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The patient creates the consent. The patient chooses the doctor, the guardians, the data modules, and the start and end time. The system checks every field. For example, an empty data scope or a bad guardian DID is rejected. Then the system creates the consent object, assigns a consent identifier, persists the record, and records the creation event in the audit layer. Nothing goes to the blockchain yet. This is RO1, and it is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I separate two questions: who are you, and what may you do? The DID answers the first question. The credential answers the second. A valid identity alone never gives access. In the HALAH implementation, the guardian workflow uses a selected guardian DID and invokes VC verification before adding the guardian's signature to the consent. Full DID resolution is planned for the next stage. So RO2 is done at the design level and in the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No single person can approve alone. Each guardian signs with an EIP-712 signature. The system recovers the signer and checks that this person is one of the listed guardians. Outsiders, replays and duplicates are not counted. In the demo, two of two guardians must sign. When both have signed, a soulbound token is minted on the Sepolia test network in the background. One honest note: in the prototype, the guardian keys are derived from the guardian DIDs. Wallet-held keys are for the next stage. RO3 is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four. A valid identity and all the approvals are still not enough. The requested data must be inside the agreed data scope. For example, if the consent allows Observation and Medication, a request that also asks for Procedure is denied. The purpose, the time and the lifecycle state are checked in the same decision. And a Groth16 proof must pass before any data is released. RO4 is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five. Time and lifecycle. What works now: the validity window is stored on-chain and checked at every request. Revocation works end to end, with an on-chain transaction. And the consent moves through a clear lifecycle. In the design, L is the lifecycle state: created, pending, active, suspended, revoked or expired, and VL checks a valid state and a valid transition. What is still open: the suspended state, the lifecycle transition check, consent modification, delegation, changes to the guardian set, and a formal lifecycle model. That is why RO5 is in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six. Prove it and test it. The testing part is done. 36 automated tests pass, including twelve attack scenarios. I also measured the cost and the timing. The proof part is the next stage: formal proofs or model checking of the security properties, and a bigger evaluation under load. That is why RO6 is partly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asks one question: does the system do what it should? I used five kinds of evidence. Valid scenarios: the correct requests were allowed. Negative scenarios: the cancelled consent was refused. Attack scenarios: eleven of twelve attacks are refused after the hardening. Automated tests: all 36 pass. And an independent check: the state on the chain matches the local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taken directly from the audit ledger of 24 September. Each row is one real request, with the five checks and the decision. All five rows are allowed requests: all five checks PASS, the decision is ALLOW, access is GRANTED, and the proof mode is Groth16. The request after revocation is not in this table, because a consent that is no longer active is refused before any decision is logged; its revocation is public on Sepolia in block 11,771,307.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attacked my own system twelve times, A1 to A12. This table shows each attack, the part of the consent it targets, and the outcome before and after the hardening on the first of October. Before the hardening, three attacks got through when the service functions were called directly: A1, a signer outside the guardian set; A3, the same guardian signing twice; and A5, an empty data scope. The interface already refused them, but the service layer did not. The hardening moved these checks into the service layer, so now they are refused on every path. After the hardening, eleven of twelve are refused. The last one, A11, changes a stored digest. The prototype does not compare that digest yet, so it is marked as differs, which is neutral, not passed. It is on the list for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asks: how fast is it, and what does it cost? The decision rule itself takes about 2 microseconds. One guardian signature takes about 11 milliseconds. The Groth16 proof is the slowest part: about 1.4 seconds to generate and about half a second to verify. Anchoring on Sepolia takes about 11.5 seconds, but it runs in the background, so nobody waits for it. A revoke uses about one sixth of the gas of a mint. The timings were measured on the first of October 2026. The gas and the anchoring times come from the five Sepolia transactions in September. These numbers are indicative.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difference in plain words. Today, a central identity provider logs you in, and a fixed permission decides. Consent is a saved record. In HALAH, every person has a DID, and identity is separate from authority. Consent is an object that is checked at every request. All the guardians must approve. Five checks and a proof run before any data is released. Time and revocation are checked every time. And every decision on an active consent is logged with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important points about the data. I use synthetic patient records from the Synthea 1K sample, in its CSV export. The prototype loads a subset of patients with their observations, conditions, medications and procedures. No real patient data is involved. The medical records stay off-chain. The token on Sepolia stores only pseudonymous addresses, a hash of the purpose, the validity window and a revocation flag. Data is released only on ALLOW, and only inside the agreed scope. One known limitation: the plain-text purpose is visible in the mint transaction. I will fix this in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matter? On the scientific side: consent becomes an object that is checked, not stored. Multi-party approval is a condition of every access. Identity is separated from authority. And the whole decision is checked in one place and tested. On the social side: patients and guardians decide together who sees the data. No single person can approve alone. Every decision can be explained to an auditor. And medical records never go on the blockchain.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clear about what is not done yet, because this is what the next stage is for. First, the formal proofs. The properties are tested, but not yet proved with a formal model. Second, the rest of the lifecycle: consent modification, delegation and guardian changes. Third, full DID resolution and wallet-held guardian keys. Today the guardian keys are derived from the guardian DIDs. Fourth, the one open attack, A11. Fifth, a bigger evaluation under load. Sixth, the plain-text purpose in the mint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 Chapters one to six are done. The conference paper was submitted to BWCCA 2026 in September. The SLR journal paper is in progress. Next comes the complete evaluation, the paper on formal assurance and lifecycle trust, and the conclusion. The final assessment is planned for January 2027, and the thesis submission for March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plan as a timeline. What is completed, what is in progress, and the planned steps up to the thesis submission in March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demonstration, through the slides. HALAH means History Access Link for Authorised Healthcare. These are its parts: four screens, a soulbound token contract on the Sepolia test network, EIP-712 guardian signatures, a Groth16 proof at access time, synthetic data, and an audit ledger. In the next slides, I walk you through one real consent, from creation to revocation. What you will see covers RO1 to RO4 in full, and the parts of RO5 and RO6 that already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 one. The patient creates the consent. On this screen you can see the four data modules, the two guardians and the state PENDING_SIGNATURE. The system checked every field before saving. Nothing has gone to the blockchain yet. This is RO1: consent as an object the system can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 two. The first guardian signs. The system takes the EIP-712 signature, finds who signed it, and confirms that this address is one of the two listed guardians. The counter shows one of two. The consent is still pending, because one approval is never enough. This is RO3.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 three. The second guardian signs. Now the threshold, two of two, is reached. The system records the token locally and starts the mint on Sepolia in the background. The guardian does not wait for the blockchain. On the right, the same screen a bit later: already anchored on Sepolia, with the token number. RO3 is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 four. The doctor asks for the patient's data. First the proof is generated and verified. Then the five checks run: VI, VA, VP, VT and VL. All five pass, so the answer is ALLOW. This is RO2 and RO4 together, in one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 five. After ALLOW, the records are shown per module. Only the modules inside the consent scope are returned. If the doctor asked for a module that was not agreed, the request would be refused. That case is covered by attack test A4. The decision and its matrix are written to the audit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 six. The patient cancels the consent. On the left, the system is sending the revoke transaction to Sepolia and waiting for the block confirmation. On the right, the consent is now REVOKED, with its token number. This is the working part of RO5.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 seven. The doctor tries again. Now VA fails, because the consent is not active any more: its state is REVOKED. Access is refused. An expired consent is refused in the same way, through the time check VT. So a consent that was valid yesterday does not stay usable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 eight. Both the mint and the revoke are public transactions on Sepolia. On the left, the anchoring transaction of the consent, in block 11,771,243. On the right, the revocation, in block 11,771,307, with the decoded function revoke and token id 1. Anyone can check them. No medical data is on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 nine, the last one. The auditor can rebuild the full life of the consent: thirteen events in order, from creation to revocation, each with its decision matrix. The dashboard shows the exported ledger: 60 events, 9 access requests and 5 on-chain anchors. And a separate tool re-checked Sepolia and found every anchored transaction in its recorded block. All checks passed. This is the working part of RO6: evidence that can be audited.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I used in this talk. They follow the UTS Harvard style, so they are listed by author name, not by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 am happy to take your questions.
Likely questions and short answers:
1. Why blockchain, if the data stays off-chain? Because it gives a shared record that cannot be changed quietly: the consent state and the revocation. No medical data is on the chain.
2. What is new? The consent object carries all the conditions. Multi-party approval is a condition of every access. And the whole decision is tested against attacks.
3. Why is RO6 only partly done? The testing is done. The formal proofs are the next stage.
4. Why Groth16? The doctor proves that they know the secret and the expiry behind the commitment stored in the consent, and that the consent has not expired, without showing them. It is the slowest part, about 1.4 seconds, and that is fine for a consent decision.
5. Why did three attacks pass before the hardening? They passed only when the service functions were called directly, not through the screens. The hardening moved the checks into the service layer, so now they are refused on every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lstStyle>
            <a:lvl1pPr algn="ctr" indent="0" marL="0">
              <a:buNone/>
              <a:defRPr lang="en-US" sz="3000" b="1" dirty="0">
                <a:solidFill>
                  <a:srgbClr val="FFFFFF"/>
                </a:solidFill>
                <a:latin typeface="Arial" pitchFamily="34" charset="0"/>
                <a:ea typeface="Arial" pitchFamily="34" charset="-122"/>
                <a:cs typeface="Arial"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2.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2.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2.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card"/>
          <p:cNvSpPr/>
          <p:nvPr/>
        </p:nvSpPr>
        <p:spPr>
          <a:xfrm>
            <a:off x="9692640" y="274320"/>
            <a:ext cx="2103120" cy="1143000"/>
          </a:xfrm>
          <a:prstGeom prst="roundRect">
            <a:avLst>
              <a:gd name="adj" fmla="val 8000"/>
            </a:avLst>
          </a:prstGeom>
          <a:solidFill>
            <a:srgbClr val="FFFFFF"/>
          </a:solidFill>
          <a:ln w="12700">
            <a:solidFill>
              <a:srgbClr val="FFFFFF"/>
            </a:solidFill>
            <a:prstDash val="solid"/>
          </a:ln>
        </p:spPr>
      </p:sp>
      <p:pic>
        <p:nvPicPr>
          <p:cNvPr id="3" name="UTS logo" descr="/tmp/deck/img/uts.png">    </p:cNvPr>
          <p:cNvPicPr>
            <a:picLocks noChangeAspect="1"/>
          </p:cNvPicPr>
          <p:nvPr/>
        </p:nvPicPr>
        <p:blipFill>
          <a:blip r:embed="rId1"/>
          <a:stretch>
            <a:fillRect/>
          </a:stretch>
        </p:blipFill>
        <p:spPr>
          <a:xfrm>
            <a:off x="9829800" y="301752"/>
            <a:ext cx="1828800" cy="1170432"/>
          </a:xfrm>
          <a:prstGeom prst="rect">
            <a:avLst/>
          </a:prstGeom>
        </p:spPr>
      </p:pic>
      <p:sp>
        <p:nvSpPr>
          <p:cNvPr id="4" name="deck title"/>
          <p:cNvSpPr txBox="1"/>
          <p:nvPr/>
        </p:nvSpPr>
        <p:spPr>
          <a:xfrm>
            <a:off x="1280160" y="1554480"/>
            <a:ext cx="9601200" cy="1463040"/>
          </a:xfrm>
          <a:prstGeom prst="rect">
            <a:avLst/>
          </a:prstGeom>
          <a:noFill/>
          <a:ln/>
        </p:spPr>
        <p:txBody>
          <a:bodyPr wrap="square" rtlCol="0" anchor="ctr"/>
          <a:lstStyle/>
          <a:p>
            <a:pPr algn="ctr" indent="0" marL="0">
              <a:buNone/>
            </a:pPr>
            <a:r>
              <a:rPr lang="en-US" sz="3200" b="1" i="1" dirty="0">
                <a:solidFill>
                  <a:srgbClr val="FFFFFF"/>
                </a:solidFill>
                <a:latin typeface="Arial" pitchFamily="34" charset="0"/>
                <a:ea typeface="Arial" pitchFamily="34" charset="-122"/>
                <a:cs typeface="Arial" pitchFamily="34" charset="-120"/>
              </a:rPr>
              <a:t>A Trusted Authorisation Framework for Multi-Party Patient Consent in Healthcare Data Sharing</a:t>
            </a:r>
            <a:endParaRPr lang="en-US" sz="3200" dirty="0"/>
          </a:p>
        </p:txBody>
      </p:sp>
      <p:sp>
        <p:nvSpPr>
          <p:cNvPr id="5" name="subtitle"/>
          <p:cNvSpPr txBox="1"/>
          <p:nvPr/>
        </p:nvSpPr>
        <p:spPr>
          <a:xfrm>
            <a:off x="4023360" y="3063240"/>
            <a:ext cx="4114800" cy="457200"/>
          </a:xfrm>
          <a:prstGeom prst="rect">
            <a:avLst/>
          </a:prstGeom>
          <a:noFill/>
          <a:ln/>
        </p:spPr>
        <p:txBody>
          <a:bodyPr wrap="square" rtlCol="0" anchor="ctr"/>
          <a:lstStyle/>
          <a:p>
            <a:pPr algn="ctr" indent="0" marL="0">
              <a:buNone/>
            </a:pPr>
            <a:r>
              <a:rPr lang="en-US" sz="2000" b="1" dirty="0">
                <a:solidFill>
                  <a:srgbClr val="1FB5D6"/>
                </a:solidFill>
              </a:rPr>
              <a:t>Candidature Reassessment</a:t>
            </a:r>
            <a:endParaRPr lang="en-US" sz="2000" dirty="0"/>
          </a:p>
        </p:txBody>
      </p:sp>
      <p:sp>
        <p:nvSpPr>
          <p:cNvPr id="6" name="people"/>
          <p:cNvSpPr txBox="1"/>
          <p:nvPr/>
        </p:nvSpPr>
        <p:spPr>
          <a:xfrm>
            <a:off x="2194560" y="3840480"/>
            <a:ext cx="7772400" cy="1737360"/>
          </a:xfrm>
          <a:prstGeom prst="rect">
            <a:avLst/>
          </a:prstGeom>
          <a:noFill/>
          <a:ln/>
        </p:spPr>
        <p:txBody>
          <a:bodyPr wrap="square" rtlCol="0" anchor="ctr"/>
          <a:lstStyle/>
          <a:p>
            <a:pPr algn="ctr" indent="0" marL="0">
              <a:spcAft>
                <a:spcPts val="400"/>
              </a:spcAft>
              <a:buNone/>
            </a:pPr>
            <a:r>
              <a:rPr lang="en-US" sz="1800" b="1" i="1" dirty="0">
                <a:solidFill>
                  <a:srgbClr val="FFFFFF"/>
                </a:solidFill>
              </a:rPr>
              <a:t>Principal Supervisor: Professor Farookh Hussain</a:t>
            </a:r>
            <a:endParaRPr lang="en-US" sz="1800" dirty="0"/>
          </a:p>
          <a:p>
            <a:pPr algn="ctr" indent="0" marL="0">
              <a:spcAft>
                <a:spcPts val="400"/>
              </a:spcAft>
              <a:buNone/>
            </a:pPr>
            <a:r>
              <a:rPr lang="en-US" sz="1800" b="1" i="1" dirty="0">
                <a:solidFill>
                  <a:srgbClr val="FFFFFF"/>
                </a:solidFill>
              </a:rPr>
              <a:t>Co-Supervisor: Dr. Firas Al-Doghman</a:t>
            </a:r>
            <a:endParaRPr lang="en-US" sz="1800" dirty="0"/>
          </a:p>
          <a:p>
            <a:pPr algn="ctr" indent="0" marL="0">
              <a:spcAft>
                <a:spcPts val="400"/>
              </a:spcAft>
              <a:buNone/>
            </a:pPr>
            <a:r>
              <a:rPr lang="en-US" sz="1800" b="1" i="1" dirty="0">
                <a:solidFill>
                  <a:srgbClr val="FFFFFF"/>
                </a:solidFill>
              </a:rPr>
              <a:t>Presenter: Yasir Dhaifallah O Alyoubi</a:t>
            </a:r>
            <a:endParaRPr lang="en-US" sz="1800" dirty="0"/>
          </a:p>
          <a:p>
            <a:pPr algn="ctr" indent="0" marL="0">
              <a:spcAft>
                <a:spcPts val="400"/>
              </a:spcAft>
              <a:buNone/>
            </a:pPr>
            <a:r>
              <a:rPr lang="en-US" sz="1800" b="1" i="1" dirty="0">
                <a:solidFill>
                  <a:srgbClr val="FFFFFF"/>
                </a:solidFill>
              </a:rPr>
              <a:t>STUDENT ID #: 24724078</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OUTLINE</a:t>
            </a:r>
            <a:endParaRPr lang="en-US" sz="3000" dirty="0"/>
          </a:p>
        </p:txBody>
      </p:sp>
      <p:sp>
        <p:nvSpPr>
          <p:cNvPr id="4" name="number 01"/>
          <p:cNvSpPr/>
          <p:nvPr/>
        </p:nvSpPr>
        <p:spPr>
          <a:xfrm>
            <a:off x="1463040" y="1234440"/>
            <a:ext cx="731520" cy="640080"/>
          </a:xfrm>
          <a:prstGeom prst="roundRect">
            <a:avLst>
              <a:gd name="adj" fmla="val 11429"/>
            </a:avLst>
          </a:prstGeom>
          <a:solidFill>
            <a:srgbClr val="2F6FB0"/>
          </a:solidFill>
          <a:ln w="12700">
            <a:solidFill>
              <a:srgbClr val="FFFFFF"/>
            </a:solidFill>
            <a:prstDash val="solid"/>
          </a:ln>
        </p:spPr>
      </p:sp>
      <p:sp>
        <p:nvSpPr>
          <p:cNvPr id="5" name="number text 01"/>
          <p:cNvSpPr txBox="1"/>
          <p:nvPr/>
        </p:nvSpPr>
        <p:spPr>
          <a:xfrm>
            <a:off x="1463040" y="1234440"/>
            <a:ext cx="731520" cy="640080"/>
          </a:xfrm>
          <a:prstGeom prst="rect">
            <a:avLst/>
          </a:prstGeom>
          <a:noFill/>
          <a:ln/>
        </p:spPr>
        <p:txBody>
          <a:bodyPr wrap="square" rtlCol="0" anchor="ctr"/>
          <a:lstStyle/>
          <a:p>
            <a:pPr algn="ctr" indent="0" marL="0">
              <a:buNone/>
            </a:pPr>
            <a:r>
              <a:rPr lang="en-US" sz="2000" b="1" dirty="0">
                <a:solidFill>
                  <a:srgbClr val="FFFFFF"/>
                </a:solidFill>
              </a:rPr>
              <a:t>01</a:t>
            </a:r>
            <a:endParaRPr lang="en-US" sz="2000" dirty="0"/>
          </a:p>
        </p:txBody>
      </p:sp>
      <p:sp>
        <p:nvSpPr>
          <p:cNvPr id="6" name="item 01"/>
          <p:cNvSpPr txBox="1"/>
          <p:nvPr/>
        </p:nvSpPr>
        <p:spPr>
          <a:xfrm>
            <a:off x="2377440" y="1234440"/>
            <a:ext cx="4206240" cy="640080"/>
          </a:xfrm>
          <a:prstGeom prst="rect">
            <a:avLst/>
          </a:prstGeom>
          <a:noFill/>
          <a:ln/>
        </p:spPr>
        <p:txBody>
          <a:bodyPr wrap="square" rtlCol="0" anchor="ctr"/>
          <a:lstStyle/>
          <a:p>
            <a:pPr indent="0" marL="0">
              <a:buNone/>
            </a:pPr>
            <a:r>
              <a:rPr lang="en-US" sz="1800" b="1" dirty="0">
                <a:solidFill>
                  <a:srgbClr val="FFFFFF"/>
                </a:solidFill>
              </a:rPr>
              <a:t>THE PROBLEM</a:t>
            </a:r>
            <a:endParaRPr lang="en-US" sz="1800" dirty="0"/>
          </a:p>
        </p:txBody>
      </p:sp>
      <p:sp>
        <p:nvSpPr>
          <p:cNvPr id="7" name="number 02"/>
          <p:cNvSpPr/>
          <p:nvPr/>
        </p:nvSpPr>
        <p:spPr>
          <a:xfrm>
            <a:off x="1463040" y="2103120"/>
            <a:ext cx="731520" cy="640080"/>
          </a:xfrm>
          <a:prstGeom prst="roundRect">
            <a:avLst>
              <a:gd name="adj" fmla="val 11429"/>
            </a:avLst>
          </a:prstGeom>
          <a:solidFill>
            <a:srgbClr val="2F6FB0"/>
          </a:solidFill>
          <a:ln w="12700">
            <a:solidFill>
              <a:srgbClr val="FFFFFF"/>
            </a:solidFill>
            <a:prstDash val="solid"/>
          </a:ln>
        </p:spPr>
      </p:sp>
      <p:sp>
        <p:nvSpPr>
          <p:cNvPr id="8" name="number text 02"/>
          <p:cNvSpPr txBox="1"/>
          <p:nvPr/>
        </p:nvSpPr>
        <p:spPr>
          <a:xfrm>
            <a:off x="1463040" y="2103120"/>
            <a:ext cx="731520" cy="640080"/>
          </a:xfrm>
          <a:prstGeom prst="rect">
            <a:avLst/>
          </a:prstGeom>
          <a:noFill/>
          <a:ln/>
        </p:spPr>
        <p:txBody>
          <a:bodyPr wrap="square" rtlCol="0" anchor="ctr"/>
          <a:lstStyle/>
          <a:p>
            <a:pPr algn="ctr" indent="0" marL="0">
              <a:buNone/>
            </a:pPr>
            <a:r>
              <a:rPr lang="en-US" sz="2000" b="1" dirty="0">
                <a:solidFill>
                  <a:srgbClr val="FFFFFF"/>
                </a:solidFill>
              </a:rPr>
              <a:t>02</a:t>
            </a:r>
            <a:endParaRPr lang="en-US" sz="2000" dirty="0"/>
          </a:p>
        </p:txBody>
      </p:sp>
      <p:sp>
        <p:nvSpPr>
          <p:cNvPr id="9" name="item 02"/>
          <p:cNvSpPr txBox="1"/>
          <p:nvPr/>
        </p:nvSpPr>
        <p:spPr>
          <a:xfrm>
            <a:off x="2377440" y="2103120"/>
            <a:ext cx="4206240" cy="640080"/>
          </a:xfrm>
          <a:prstGeom prst="rect">
            <a:avLst/>
          </a:prstGeom>
          <a:noFill/>
          <a:ln/>
        </p:spPr>
        <p:txBody>
          <a:bodyPr wrap="square" rtlCol="0" anchor="ctr"/>
          <a:lstStyle/>
          <a:p>
            <a:pPr indent="0" marL="0">
              <a:buNone/>
            </a:pPr>
            <a:r>
              <a:rPr lang="en-US" sz="1800" b="1" dirty="0">
                <a:solidFill>
                  <a:srgbClr val="FFFFFF"/>
                </a:solidFill>
              </a:rPr>
              <a:t>LITERATURE REVIEW</a:t>
            </a:r>
            <a:endParaRPr lang="en-US" sz="1800" dirty="0"/>
          </a:p>
        </p:txBody>
      </p:sp>
      <p:sp>
        <p:nvSpPr>
          <p:cNvPr id="10" name="number 03"/>
          <p:cNvSpPr/>
          <p:nvPr/>
        </p:nvSpPr>
        <p:spPr>
          <a:xfrm>
            <a:off x="1463040" y="2971800"/>
            <a:ext cx="731520" cy="640080"/>
          </a:xfrm>
          <a:prstGeom prst="roundRect">
            <a:avLst>
              <a:gd name="adj" fmla="val 11429"/>
            </a:avLst>
          </a:prstGeom>
          <a:solidFill>
            <a:srgbClr val="2F6FB0"/>
          </a:solidFill>
          <a:ln w="12700">
            <a:solidFill>
              <a:srgbClr val="FFFFFF"/>
            </a:solidFill>
            <a:prstDash val="solid"/>
          </a:ln>
        </p:spPr>
      </p:sp>
      <p:sp>
        <p:nvSpPr>
          <p:cNvPr id="11" name="number text 03"/>
          <p:cNvSpPr txBox="1"/>
          <p:nvPr/>
        </p:nvSpPr>
        <p:spPr>
          <a:xfrm>
            <a:off x="1463040" y="2971800"/>
            <a:ext cx="731520" cy="640080"/>
          </a:xfrm>
          <a:prstGeom prst="rect">
            <a:avLst/>
          </a:prstGeom>
          <a:noFill/>
          <a:ln/>
        </p:spPr>
        <p:txBody>
          <a:bodyPr wrap="square" rtlCol="0" anchor="ctr"/>
          <a:lstStyle/>
          <a:p>
            <a:pPr algn="ctr" indent="0" marL="0">
              <a:buNone/>
            </a:pPr>
            <a:r>
              <a:rPr lang="en-US" sz="2000" b="1" dirty="0">
                <a:solidFill>
                  <a:srgbClr val="FFFFFF"/>
                </a:solidFill>
              </a:rPr>
              <a:t>03</a:t>
            </a:r>
            <a:endParaRPr lang="en-US" sz="2000" dirty="0"/>
          </a:p>
        </p:txBody>
      </p:sp>
      <p:sp>
        <p:nvSpPr>
          <p:cNvPr id="12" name="item 03"/>
          <p:cNvSpPr txBox="1"/>
          <p:nvPr/>
        </p:nvSpPr>
        <p:spPr>
          <a:xfrm>
            <a:off x="2377440" y="2971800"/>
            <a:ext cx="4206240" cy="640080"/>
          </a:xfrm>
          <a:prstGeom prst="rect">
            <a:avLst/>
          </a:prstGeom>
          <a:noFill/>
          <a:ln/>
        </p:spPr>
        <p:txBody>
          <a:bodyPr wrap="square" rtlCol="0" anchor="ctr"/>
          <a:lstStyle/>
          <a:p>
            <a:pPr indent="0" marL="0">
              <a:buNone/>
            </a:pPr>
            <a:r>
              <a:rPr lang="en-US" sz="1800" b="1" dirty="0">
                <a:solidFill>
                  <a:srgbClr val="FFFFFF"/>
                </a:solidFill>
              </a:rPr>
              <a:t>GAP, QUESTIONS AND OBJECTIVES</a:t>
            </a:r>
            <a:endParaRPr lang="en-US" sz="1800" dirty="0"/>
          </a:p>
        </p:txBody>
      </p:sp>
      <p:sp>
        <p:nvSpPr>
          <p:cNvPr id="13" name="number 04"/>
          <p:cNvSpPr/>
          <p:nvPr/>
        </p:nvSpPr>
        <p:spPr>
          <a:xfrm>
            <a:off x="1463040" y="3840480"/>
            <a:ext cx="731520" cy="640080"/>
          </a:xfrm>
          <a:prstGeom prst="roundRect">
            <a:avLst>
              <a:gd name="adj" fmla="val 11429"/>
            </a:avLst>
          </a:prstGeom>
          <a:solidFill>
            <a:srgbClr val="2F6FB0"/>
          </a:solidFill>
          <a:ln w="12700">
            <a:solidFill>
              <a:srgbClr val="FFFFFF"/>
            </a:solidFill>
            <a:prstDash val="solid"/>
          </a:ln>
        </p:spPr>
      </p:sp>
      <p:sp>
        <p:nvSpPr>
          <p:cNvPr id="14" name="number text 04"/>
          <p:cNvSpPr txBox="1"/>
          <p:nvPr/>
        </p:nvSpPr>
        <p:spPr>
          <a:xfrm>
            <a:off x="1463040" y="3840480"/>
            <a:ext cx="731520" cy="640080"/>
          </a:xfrm>
          <a:prstGeom prst="rect">
            <a:avLst/>
          </a:prstGeom>
          <a:noFill/>
          <a:ln/>
        </p:spPr>
        <p:txBody>
          <a:bodyPr wrap="square" rtlCol="0" anchor="ctr"/>
          <a:lstStyle/>
          <a:p>
            <a:pPr algn="ctr" indent="0" marL="0">
              <a:buNone/>
            </a:pPr>
            <a:r>
              <a:rPr lang="en-US" sz="2000" b="1" dirty="0">
                <a:solidFill>
                  <a:srgbClr val="FFFFFF"/>
                </a:solidFill>
              </a:rPr>
              <a:t>04</a:t>
            </a:r>
            <a:endParaRPr lang="en-US" sz="2000" dirty="0"/>
          </a:p>
        </p:txBody>
      </p:sp>
      <p:sp>
        <p:nvSpPr>
          <p:cNvPr id="15" name="item 04"/>
          <p:cNvSpPr txBox="1"/>
          <p:nvPr/>
        </p:nvSpPr>
        <p:spPr>
          <a:xfrm>
            <a:off x="2377440" y="3840480"/>
            <a:ext cx="4206240" cy="640080"/>
          </a:xfrm>
          <a:prstGeom prst="rect">
            <a:avLst/>
          </a:prstGeom>
          <a:noFill/>
          <a:ln/>
        </p:spPr>
        <p:txBody>
          <a:bodyPr wrap="square" rtlCol="0" anchor="ctr"/>
          <a:lstStyle/>
          <a:p>
            <a:pPr indent="0" marL="0">
              <a:buNone/>
            </a:pPr>
            <a:r>
              <a:rPr lang="en-US" sz="1800" b="1" dirty="0">
                <a:solidFill>
                  <a:srgbClr val="FFFFFF"/>
                </a:solidFill>
              </a:rPr>
              <a:t>THE FRAMEWORK</a:t>
            </a:r>
            <a:endParaRPr lang="en-US" sz="1800" dirty="0"/>
          </a:p>
        </p:txBody>
      </p:sp>
      <p:sp>
        <p:nvSpPr>
          <p:cNvPr id="16" name="number 05"/>
          <p:cNvSpPr/>
          <p:nvPr/>
        </p:nvSpPr>
        <p:spPr>
          <a:xfrm>
            <a:off x="1463040" y="4709160"/>
            <a:ext cx="731520" cy="640080"/>
          </a:xfrm>
          <a:prstGeom prst="roundRect">
            <a:avLst>
              <a:gd name="adj" fmla="val 11429"/>
            </a:avLst>
          </a:prstGeom>
          <a:solidFill>
            <a:srgbClr val="2F6FB0"/>
          </a:solidFill>
          <a:ln w="12700">
            <a:solidFill>
              <a:srgbClr val="FFFFFF"/>
            </a:solidFill>
            <a:prstDash val="solid"/>
          </a:ln>
        </p:spPr>
      </p:sp>
      <p:sp>
        <p:nvSpPr>
          <p:cNvPr id="17" name="number text 05"/>
          <p:cNvSpPr txBox="1"/>
          <p:nvPr/>
        </p:nvSpPr>
        <p:spPr>
          <a:xfrm>
            <a:off x="1463040" y="4709160"/>
            <a:ext cx="731520" cy="640080"/>
          </a:xfrm>
          <a:prstGeom prst="rect">
            <a:avLst/>
          </a:prstGeom>
          <a:noFill/>
          <a:ln/>
        </p:spPr>
        <p:txBody>
          <a:bodyPr wrap="square" rtlCol="0" anchor="ctr"/>
          <a:lstStyle/>
          <a:p>
            <a:pPr algn="ctr" indent="0" marL="0">
              <a:buNone/>
            </a:pPr>
            <a:r>
              <a:rPr lang="en-US" sz="2000" b="1" dirty="0">
                <a:solidFill>
                  <a:srgbClr val="FFFFFF"/>
                </a:solidFill>
              </a:rPr>
              <a:t>05</a:t>
            </a:r>
            <a:endParaRPr lang="en-US" sz="2000" dirty="0"/>
          </a:p>
        </p:txBody>
      </p:sp>
      <p:sp>
        <p:nvSpPr>
          <p:cNvPr id="18" name="item 05"/>
          <p:cNvSpPr txBox="1"/>
          <p:nvPr/>
        </p:nvSpPr>
        <p:spPr>
          <a:xfrm>
            <a:off x="2377440" y="4709160"/>
            <a:ext cx="4206240" cy="640080"/>
          </a:xfrm>
          <a:prstGeom prst="rect">
            <a:avLst/>
          </a:prstGeom>
          <a:noFill/>
          <a:ln/>
        </p:spPr>
        <p:txBody>
          <a:bodyPr wrap="square" rtlCol="0" anchor="ctr"/>
          <a:lstStyle/>
          <a:p>
            <a:pPr indent="0" marL="0">
              <a:buNone/>
            </a:pPr>
            <a:r>
              <a:rPr lang="en-US" sz="1800" b="1" dirty="0">
                <a:solidFill>
                  <a:srgbClr val="FFFFFF"/>
                </a:solidFill>
              </a:rPr>
              <a:t>VALIDATION AND EVALUATION</a:t>
            </a:r>
            <a:endParaRPr lang="en-US" sz="1800" dirty="0"/>
          </a:p>
        </p:txBody>
      </p:sp>
      <p:sp>
        <p:nvSpPr>
          <p:cNvPr id="19" name="number 06"/>
          <p:cNvSpPr/>
          <p:nvPr/>
        </p:nvSpPr>
        <p:spPr>
          <a:xfrm>
            <a:off x="1463040" y="5577840"/>
            <a:ext cx="731520" cy="640080"/>
          </a:xfrm>
          <a:prstGeom prst="roundRect">
            <a:avLst>
              <a:gd name="adj" fmla="val 11429"/>
            </a:avLst>
          </a:prstGeom>
          <a:solidFill>
            <a:srgbClr val="2F6FB0"/>
          </a:solidFill>
          <a:ln w="12700">
            <a:solidFill>
              <a:srgbClr val="FFFFFF"/>
            </a:solidFill>
            <a:prstDash val="solid"/>
          </a:ln>
        </p:spPr>
      </p:sp>
      <p:sp>
        <p:nvSpPr>
          <p:cNvPr id="20" name="number text 06"/>
          <p:cNvSpPr txBox="1"/>
          <p:nvPr/>
        </p:nvSpPr>
        <p:spPr>
          <a:xfrm>
            <a:off x="1463040" y="5577840"/>
            <a:ext cx="731520" cy="640080"/>
          </a:xfrm>
          <a:prstGeom prst="rect">
            <a:avLst/>
          </a:prstGeom>
          <a:noFill/>
          <a:ln/>
        </p:spPr>
        <p:txBody>
          <a:bodyPr wrap="square" rtlCol="0" anchor="ctr"/>
          <a:lstStyle/>
          <a:p>
            <a:pPr algn="ctr" indent="0" marL="0">
              <a:buNone/>
            </a:pPr>
            <a:r>
              <a:rPr lang="en-US" sz="2000" b="1" dirty="0">
                <a:solidFill>
                  <a:srgbClr val="FFFFFF"/>
                </a:solidFill>
              </a:rPr>
              <a:t>06</a:t>
            </a:r>
            <a:endParaRPr lang="en-US" sz="2000" dirty="0"/>
          </a:p>
        </p:txBody>
      </p:sp>
      <p:sp>
        <p:nvSpPr>
          <p:cNvPr id="21" name="item 06"/>
          <p:cNvSpPr txBox="1"/>
          <p:nvPr/>
        </p:nvSpPr>
        <p:spPr>
          <a:xfrm>
            <a:off x="2377440" y="5577840"/>
            <a:ext cx="4206240" cy="640080"/>
          </a:xfrm>
          <a:prstGeom prst="rect">
            <a:avLst/>
          </a:prstGeom>
          <a:noFill/>
          <a:ln/>
        </p:spPr>
        <p:txBody>
          <a:bodyPr wrap="square" rtlCol="0" anchor="ctr"/>
          <a:lstStyle/>
          <a:p>
            <a:pPr indent="0" marL="0">
              <a:buNone/>
            </a:pPr>
            <a:r>
              <a:rPr lang="en-US" sz="1800" b="1" dirty="0">
                <a:solidFill>
                  <a:srgbClr val="FFFFFF"/>
                </a:solidFill>
              </a:rPr>
              <a:t>WHY THIS MATTERS</a:t>
            </a:r>
            <a:endParaRPr lang="en-US" sz="1800" dirty="0"/>
          </a:p>
        </p:txBody>
      </p:sp>
      <p:sp>
        <p:nvSpPr>
          <p:cNvPr id="22" name="number 07"/>
          <p:cNvSpPr/>
          <p:nvPr/>
        </p:nvSpPr>
        <p:spPr>
          <a:xfrm>
            <a:off x="6492240" y="1234440"/>
            <a:ext cx="731520" cy="640080"/>
          </a:xfrm>
          <a:prstGeom prst="roundRect">
            <a:avLst>
              <a:gd name="adj" fmla="val 11429"/>
            </a:avLst>
          </a:prstGeom>
          <a:solidFill>
            <a:srgbClr val="1FB5D6"/>
          </a:solidFill>
          <a:ln w="12700">
            <a:solidFill>
              <a:srgbClr val="FFFFFF"/>
            </a:solidFill>
            <a:prstDash val="solid"/>
          </a:ln>
        </p:spPr>
      </p:sp>
      <p:sp>
        <p:nvSpPr>
          <p:cNvPr id="23" name="number text 07"/>
          <p:cNvSpPr txBox="1"/>
          <p:nvPr/>
        </p:nvSpPr>
        <p:spPr>
          <a:xfrm>
            <a:off x="6492240" y="1234440"/>
            <a:ext cx="731520" cy="640080"/>
          </a:xfrm>
          <a:prstGeom prst="rect">
            <a:avLst/>
          </a:prstGeom>
          <a:noFill/>
          <a:ln/>
        </p:spPr>
        <p:txBody>
          <a:bodyPr wrap="square" rtlCol="0" anchor="ctr"/>
          <a:lstStyle/>
          <a:p>
            <a:pPr algn="ctr" indent="0" marL="0">
              <a:buNone/>
            </a:pPr>
            <a:r>
              <a:rPr lang="en-US" sz="2000" b="1" dirty="0">
                <a:solidFill>
                  <a:srgbClr val="FFFFFF"/>
                </a:solidFill>
              </a:rPr>
              <a:t>07</a:t>
            </a:r>
            <a:endParaRPr lang="en-US" sz="2000" dirty="0"/>
          </a:p>
        </p:txBody>
      </p:sp>
      <p:sp>
        <p:nvSpPr>
          <p:cNvPr id="24" name="item 07"/>
          <p:cNvSpPr txBox="1"/>
          <p:nvPr/>
        </p:nvSpPr>
        <p:spPr>
          <a:xfrm>
            <a:off x="7406640" y="1234440"/>
            <a:ext cx="4206240" cy="640080"/>
          </a:xfrm>
          <a:prstGeom prst="rect">
            <a:avLst/>
          </a:prstGeom>
          <a:noFill/>
          <a:ln/>
        </p:spPr>
        <p:txBody>
          <a:bodyPr wrap="square" rtlCol="0" anchor="ctr"/>
          <a:lstStyle/>
          <a:p>
            <a:pPr indent="0" marL="0">
              <a:buNone/>
            </a:pPr>
            <a:r>
              <a:rPr lang="en-US" sz="1800" b="1" dirty="0">
                <a:solidFill>
                  <a:srgbClr val="FFFFFF"/>
                </a:solidFill>
              </a:rPr>
              <a:t>WHAT IS STILL OPEN</a:t>
            </a:r>
            <a:endParaRPr lang="en-US" sz="1800" dirty="0"/>
          </a:p>
        </p:txBody>
      </p:sp>
      <p:sp>
        <p:nvSpPr>
          <p:cNvPr id="25" name="number 08"/>
          <p:cNvSpPr/>
          <p:nvPr/>
        </p:nvSpPr>
        <p:spPr>
          <a:xfrm>
            <a:off x="6492240" y="2103120"/>
            <a:ext cx="731520" cy="640080"/>
          </a:xfrm>
          <a:prstGeom prst="roundRect">
            <a:avLst>
              <a:gd name="adj" fmla="val 11429"/>
            </a:avLst>
          </a:prstGeom>
          <a:solidFill>
            <a:srgbClr val="1FB5D6"/>
          </a:solidFill>
          <a:ln w="12700">
            <a:solidFill>
              <a:srgbClr val="FFFFFF"/>
            </a:solidFill>
            <a:prstDash val="solid"/>
          </a:ln>
        </p:spPr>
      </p:sp>
      <p:sp>
        <p:nvSpPr>
          <p:cNvPr id="26" name="number text 08"/>
          <p:cNvSpPr txBox="1"/>
          <p:nvPr/>
        </p:nvSpPr>
        <p:spPr>
          <a:xfrm>
            <a:off x="6492240" y="2103120"/>
            <a:ext cx="731520" cy="640080"/>
          </a:xfrm>
          <a:prstGeom prst="rect">
            <a:avLst/>
          </a:prstGeom>
          <a:noFill/>
          <a:ln/>
        </p:spPr>
        <p:txBody>
          <a:bodyPr wrap="square" rtlCol="0" anchor="ctr"/>
          <a:lstStyle/>
          <a:p>
            <a:pPr algn="ctr" indent="0" marL="0">
              <a:buNone/>
            </a:pPr>
            <a:r>
              <a:rPr lang="en-US" sz="2000" b="1" dirty="0">
                <a:solidFill>
                  <a:srgbClr val="FFFFFF"/>
                </a:solidFill>
              </a:rPr>
              <a:t>08</a:t>
            </a:r>
            <a:endParaRPr lang="en-US" sz="2000" dirty="0"/>
          </a:p>
        </p:txBody>
      </p:sp>
      <p:sp>
        <p:nvSpPr>
          <p:cNvPr id="27" name="item 08"/>
          <p:cNvSpPr txBox="1"/>
          <p:nvPr/>
        </p:nvSpPr>
        <p:spPr>
          <a:xfrm>
            <a:off x="7406640" y="2103120"/>
            <a:ext cx="4206240" cy="640080"/>
          </a:xfrm>
          <a:prstGeom prst="rect">
            <a:avLst/>
          </a:prstGeom>
          <a:noFill/>
          <a:ln/>
        </p:spPr>
        <p:txBody>
          <a:bodyPr wrap="square" rtlCol="0" anchor="ctr"/>
          <a:lstStyle/>
          <a:p>
            <a:pPr indent="0" marL="0">
              <a:buNone/>
            </a:pPr>
            <a:r>
              <a:rPr lang="en-US" sz="1800" b="1" dirty="0">
                <a:solidFill>
                  <a:srgbClr val="FFFFFF"/>
                </a:solidFill>
              </a:rPr>
              <a:t>RESEARCH PLAN</a:t>
            </a:r>
            <a:endParaRPr lang="en-US" sz="1800" dirty="0"/>
          </a:p>
        </p:txBody>
      </p:sp>
      <p:sp>
        <p:nvSpPr>
          <p:cNvPr id="28" name="number 09"/>
          <p:cNvSpPr/>
          <p:nvPr/>
        </p:nvSpPr>
        <p:spPr>
          <a:xfrm>
            <a:off x="6492240" y="2971800"/>
            <a:ext cx="731520" cy="640080"/>
          </a:xfrm>
          <a:prstGeom prst="roundRect">
            <a:avLst>
              <a:gd name="adj" fmla="val 11429"/>
            </a:avLst>
          </a:prstGeom>
          <a:solidFill>
            <a:srgbClr val="1FB5D6"/>
          </a:solidFill>
          <a:ln w="12700">
            <a:solidFill>
              <a:srgbClr val="FFFFFF"/>
            </a:solidFill>
            <a:prstDash val="solid"/>
          </a:ln>
        </p:spPr>
      </p:sp>
      <p:sp>
        <p:nvSpPr>
          <p:cNvPr id="29" name="number text 09"/>
          <p:cNvSpPr txBox="1"/>
          <p:nvPr/>
        </p:nvSpPr>
        <p:spPr>
          <a:xfrm>
            <a:off x="6492240" y="2971800"/>
            <a:ext cx="731520" cy="640080"/>
          </a:xfrm>
          <a:prstGeom prst="rect">
            <a:avLst/>
          </a:prstGeom>
          <a:noFill/>
          <a:ln/>
        </p:spPr>
        <p:txBody>
          <a:bodyPr wrap="square" rtlCol="0" anchor="ctr"/>
          <a:lstStyle/>
          <a:p>
            <a:pPr algn="ctr" indent="0" marL="0">
              <a:buNone/>
            </a:pPr>
            <a:r>
              <a:rPr lang="en-US" sz="2000" b="1" dirty="0">
                <a:solidFill>
                  <a:srgbClr val="FFFFFF"/>
                </a:solidFill>
              </a:rPr>
              <a:t>09</a:t>
            </a:r>
            <a:endParaRPr lang="en-US" sz="2000" dirty="0"/>
          </a:p>
        </p:txBody>
      </p:sp>
      <p:sp>
        <p:nvSpPr>
          <p:cNvPr id="30" name="item 09"/>
          <p:cNvSpPr txBox="1"/>
          <p:nvPr/>
        </p:nvSpPr>
        <p:spPr>
          <a:xfrm>
            <a:off x="7406640" y="2971800"/>
            <a:ext cx="4206240" cy="640080"/>
          </a:xfrm>
          <a:prstGeom prst="rect">
            <a:avLst/>
          </a:prstGeom>
          <a:noFill/>
          <a:ln/>
        </p:spPr>
        <p:txBody>
          <a:bodyPr wrap="square" rtlCol="0" anchor="ctr"/>
          <a:lstStyle/>
          <a:p>
            <a:pPr indent="0" marL="0">
              <a:buNone/>
            </a:pPr>
            <a:r>
              <a:rPr lang="en-US" sz="1800" b="1" dirty="0">
                <a:solidFill>
                  <a:srgbClr val="FFFFFF"/>
                </a:solidFill>
              </a:rPr>
              <a:t>DEMO: THE HALAH PROTOTYPE</a:t>
            </a:r>
            <a:endParaRPr lang="en-US" sz="1800" dirty="0"/>
          </a:p>
        </p:txBody>
      </p:sp>
      <p:sp>
        <p:nvSpPr>
          <p:cNvPr id="31" name="number 10"/>
          <p:cNvSpPr/>
          <p:nvPr/>
        </p:nvSpPr>
        <p:spPr>
          <a:xfrm>
            <a:off x="6492240" y="3840480"/>
            <a:ext cx="731520" cy="640080"/>
          </a:xfrm>
          <a:prstGeom prst="roundRect">
            <a:avLst>
              <a:gd name="adj" fmla="val 11429"/>
            </a:avLst>
          </a:prstGeom>
          <a:solidFill>
            <a:srgbClr val="1FB5D6"/>
          </a:solidFill>
          <a:ln w="12700">
            <a:solidFill>
              <a:srgbClr val="FFFFFF"/>
            </a:solidFill>
            <a:prstDash val="solid"/>
          </a:ln>
        </p:spPr>
      </p:sp>
      <p:sp>
        <p:nvSpPr>
          <p:cNvPr id="32" name="number text 10"/>
          <p:cNvSpPr txBox="1"/>
          <p:nvPr/>
        </p:nvSpPr>
        <p:spPr>
          <a:xfrm>
            <a:off x="6492240" y="3840480"/>
            <a:ext cx="731520" cy="640080"/>
          </a:xfrm>
          <a:prstGeom prst="rect">
            <a:avLst/>
          </a:prstGeom>
          <a:noFill/>
          <a:ln/>
        </p:spPr>
        <p:txBody>
          <a:bodyPr wrap="square" rtlCol="0" anchor="ctr"/>
          <a:lstStyle/>
          <a:p>
            <a:pPr algn="ctr" indent="0" marL="0">
              <a:buNone/>
            </a:pPr>
            <a:r>
              <a:rPr lang="en-US" sz="2000" b="1" dirty="0">
                <a:solidFill>
                  <a:srgbClr val="FFFFFF"/>
                </a:solidFill>
              </a:rPr>
              <a:t>10</a:t>
            </a:r>
            <a:endParaRPr lang="en-US" sz="2000" dirty="0"/>
          </a:p>
        </p:txBody>
      </p:sp>
      <p:sp>
        <p:nvSpPr>
          <p:cNvPr id="33" name="item 10"/>
          <p:cNvSpPr txBox="1"/>
          <p:nvPr/>
        </p:nvSpPr>
        <p:spPr>
          <a:xfrm>
            <a:off x="7406640" y="3840480"/>
            <a:ext cx="4206240" cy="640080"/>
          </a:xfrm>
          <a:prstGeom prst="rect">
            <a:avLst/>
          </a:prstGeom>
          <a:noFill/>
          <a:ln/>
        </p:spPr>
        <p:txBody>
          <a:bodyPr wrap="square" rtlCol="0" anchor="ctr"/>
          <a:lstStyle/>
          <a:p>
            <a:pPr indent="0" marL="0">
              <a:buNone/>
            </a:pPr>
            <a:r>
              <a:rPr lang="en-US" sz="1800" b="1" dirty="0">
                <a:solidFill>
                  <a:srgbClr val="FFFFFF"/>
                </a:solidFill>
              </a:rPr>
              <a:t>REFERENCES</a:t>
            </a:r>
            <a:endParaRPr lang="en-US" sz="18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THE PROBLEM</a:t>
            </a:r>
            <a:endParaRPr lang="en-US" sz="3000" dirty="0"/>
          </a:p>
        </p:txBody>
      </p:sp>
      <p:sp>
        <p:nvSpPr>
          <p:cNvPr id="4" name="bullets"/>
          <p:cNvSpPr txBox="1"/>
          <p:nvPr/>
        </p:nvSpPr>
        <p:spPr>
          <a:xfrm>
            <a:off x="822960" y="1280160"/>
            <a:ext cx="6217920" cy="4937760"/>
          </a:xfrm>
          <a:prstGeom prst="rect">
            <a:avLst/>
          </a:prstGeom>
          <a:noFill/>
          <a:ln/>
        </p:spPr>
        <p:txBody>
          <a:bodyPr wrap="square" rtlCol="0" anchor="t"/>
          <a:lstStyle/>
          <a:p>
            <a:pPr marL="342900" indent="-342900">
              <a:spcAft>
                <a:spcPts val="1000"/>
              </a:spcAft>
              <a:buSzPct val="100000"/>
              <a:buChar char="•"/>
            </a:pPr>
            <a:r>
              <a:rPr lang="en-US" sz="1900" dirty="0">
                <a:solidFill>
                  <a:srgbClr val="FFFFFF"/>
                </a:solidFill>
              </a:rPr>
              <a:t>Healthcare data is shared between many independent parties: patient, guardians, doctor, hospital.</a:t>
            </a:r>
            <a:endParaRPr lang="en-US" sz="1900" dirty="0"/>
          </a:p>
          <a:p>
            <a:pPr marL="342900" indent="-342900">
              <a:spcAft>
                <a:spcPts val="1000"/>
              </a:spcAft>
              <a:buSzPct val="100000"/>
              <a:buChar char="•"/>
            </a:pPr>
            <a:r>
              <a:rPr lang="en-US" sz="1900" dirty="0">
                <a:solidFill>
                  <a:srgbClr val="FFFFFF"/>
                </a:solidFill>
              </a:rPr>
              <a:t>Today, consent is a stored record. It shows that permission was given, but it checks nothing at access time.</a:t>
            </a:r>
            <a:endParaRPr lang="en-US" sz="1900" dirty="0"/>
          </a:p>
          <a:p>
            <a:pPr marL="342900" indent="-342900">
              <a:spcAft>
                <a:spcPts val="1000"/>
              </a:spcAft>
              <a:buSzPct val="100000"/>
              <a:buChar char="•"/>
            </a:pPr>
            <a:r>
              <a:rPr lang="en-US" sz="1900" dirty="0">
                <a:solidFill>
                  <a:srgbClr val="FFFFFF"/>
                </a:solidFill>
              </a:rPr>
              <a:t>A valid identity does not prove the right to see this patient's data.</a:t>
            </a:r>
            <a:endParaRPr lang="en-US" sz="1900" dirty="0"/>
          </a:p>
          <a:p>
            <a:pPr marL="342900" indent="-342900">
              <a:spcAft>
                <a:spcPts val="1000"/>
              </a:spcAft>
              <a:buSzPct val="100000"/>
              <a:buChar char="•"/>
            </a:pPr>
            <a:r>
              <a:rPr lang="en-US" sz="1900" dirty="0">
                <a:solidFill>
                  <a:srgbClr val="FFFFFF"/>
                </a:solidFill>
              </a:rPr>
              <a:t>A request can ask for more data than allowed, or arrive after the consent expired or was revoked.</a:t>
            </a:r>
            <a:endParaRPr lang="en-US" sz="1900" dirty="0"/>
          </a:p>
          <a:p>
            <a:pPr marL="342900" indent="-342900">
              <a:spcAft>
                <a:spcPts val="1000"/>
              </a:spcAft>
              <a:buSzPct val="100000"/>
              <a:buChar char="•"/>
            </a:pPr>
            <a:r>
              <a:rPr lang="en-US" sz="1900" dirty="0">
                <a:solidFill>
                  <a:srgbClr val="FFFFFF"/>
                </a:solidFill>
              </a:rPr>
              <a:t>None of the reviewed studies proves or tests the whole decision.</a:t>
            </a:r>
            <a:endParaRPr lang="en-US" sz="1900" dirty="0"/>
          </a:p>
        </p:txBody>
      </p:sp>
      <p:sp>
        <p:nvSpPr>
          <p:cNvPr id="5" name="card In one sentence"/>
          <p:cNvSpPr/>
          <p:nvPr/>
        </p:nvSpPr>
        <p:spPr>
          <a:xfrm>
            <a:off x="7406640" y="1463040"/>
            <a:ext cx="3931920" cy="4114800"/>
          </a:xfrm>
          <a:prstGeom prst="roundRect">
            <a:avLst>
              <a:gd name="adj" fmla="val 2326"/>
            </a:avLst>
          </a:prstGeom>
          <a:solidFill>
            <a:srgbClr val="FFFFFF">
              <a:alpha val="92000"/>
            </a:srgbClr>
          </a:solidFill>
          <a:ln w="19050">
            <a:solidFill>
              <a:srgbClr val="1FB5D6"/>
            </a:solidFill>
            <a:prstDash val="solid"/>
          </a:ln>
        </p:spPr>
      </p:sp>
      <p:sp>
        <p:nvSpPr>
          <p:cNvPr id="6" name="card text In one sentence"/>
          <p:cNvSpPr txBox="1"/>
          <p:nvPr/>
        </p:nvSpPr>
        <p:spPr>
          <a:xfrm>
            <a:off x="7543800" y="1554480"/>
            <a:ext cx="3657600" cy="3931920"/>
          </a:xfrm>
          <a:prstGeom prst="rect">
            <a:avLst/>
          </a:prstGeom>
          <a:noFill/>
          <a:ln/>
        </p:spPr>
        <p:txBody>
          <a:bodyPr wrap="square" rtlCol="0" anchor="t"/>
          <a:lstStyle/>
          <a:p>
            <a:pPr indent="0" marL="0">
              <a:spcAft>
                <a:spcPts val="400"/>
              </a:spcAft>
              <a:buNone/>
            </a:pPr>
            <a:r>
              <a:rPr lang="en-US" sz="1900" b="1" dirty="0">
                <a:solidFill>
                  <a:srgbClr val="0B2A4A"/>
                </a:solidFill>
              </a:rPr>
              <a:t>In one sentence</a:t>
            </a:r>
            <a:endParaRPr lang="en-US" sz="1900" dirty="0"/>
          </a:p>
          <a:p>
            <a:pPr indent="0" marL="0">
              <a:spcAft>
                <a:spcPts val="400"/>
              </a:spcAft>
              <a:buNone/>
            </a:pPr>
            <a:r>
              <a:rPr lang="en-US" sz="1600" dirty="0">
                <a:solidFill>
                  <a:srgbClr val="0B1F33"/>
                </a:solidFill>
              </a:rPr>
              <a:t>There is no trusted mechanism that checks identity, authority, multi-party approval, policy, time and lifecycle together in one access decision, with evidence that it is secure.</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THE KEY IDEA</a:t>
            </a:r>
            <a:endParaRPr lang="en-US" sz="3000" dirty="0"/>
          </a:p>
        </p:txBody>
      </p:sp>
      <p:sp>
        <p:nvSpPr>
          <p:cNvPr id="4" name="idea box"/>
          <p:cNvSpPr/>
          <p:nvPr/>
        </p:nvSpPr>
        <p:spPr>
          <a:xfrm>
            <a:off x="822960" y="1188720"/>
            <a:ext cx="10424160" cy="1371600"/>
          </a:xfrm>
          <a:prstGeom prst="roundRect">
            <a:avLst>
              <a:gd name="adj" fmla="val 6667"/>
            </a:avLst>
          </a:prstGeom>
          <a:solidFill>
            <a:srgbClr val="0B2A4A">
              <a:alpha val="85000"/>
            </a:srgbClr>
          </a:solidFill>
          <a:ln w="19050">
            <a:solidFill>
              <a:srgbClr val="1FB5D6"/>
            </a:solidFill>
            <a:prstDash val="solid"/>
          </a:ln>
        </p:spPr>
      </p:sp>
      <p:sp>
        <p:nvSpPr>
          <p:cNvPr id="5" name="idea text"/>
          <p:cNvSpPr txBox="1"/>
          <p:nvPr/>
        </p:nvSpPr>
        <p:spPr>
          <a:xfrm>
            <a:off x="1005840" y="1234440"/>
            <a:ext cx="10058400" cy="1280160"/>
          </a:xfrm>
          <a:prstGeom prst="rect">
            <a:avLst/>
          </a:prstGeom>
          <a:noFill/>
          <a:ln/>
        </p:spPr>
        <p:txBody>
          <a:bodyPr wrap="square" rtlCol="0" anchor="ctr"/>
          <a:lstStyle/>
          <a:p>
            <a:pPr algn="ctr" indent="0" marL="0">
              <a:buNone/>
            </a:pPr>
            <a:r>
              <a:rPr lang="en-US" sz="2000" b="1" dirty="0">
                <a:solidFill>
                  <a:srgbClr val="FFFFFF"/>
                </a:solidFill>
              </a:rPr>
              <a:t>Consent is not a stored record. It is an object checked at every request.</a:t>
            </a:r>
            <a:endParaRPr lang="en-US" sz="2000" dirty="0"/>
          </a:p>
          <a:p>
            <a:pPr algn="ctr" indent="0" marL="0">
              <a:buNone/>
            </a:pPr>
            <a:r>
              <a:rPr lang="en-US" sz="2800" b="1" dirty="0">
                <a:solidFill>
                  <a:srgbClr val="1FB5D6"/>
                </a:solidFill>
              </a:rPr>
              <a:t>C = (I, A, P, T, L, E)</a:t>
            </a:r>
            <a:endParaRPr lang="en-US" sz="2000" dirty="0"/>
          </a:p>
        </p:txBody>
      </p:sp>
      <p:sp>
        <p:nvSpPr>
          <p:cNvPr id="6" name="card I  Identity"/>
          <p:cNvSpPr/>
          <p:nvPr/>
        </p:nvSpPr>
        <p:spPr>
          <a:xfrm>
            <a:off x="822960" y="2788920"/>
            <a:ext cx="3291840" cy="1554480"/>
          </a:xfrm>
          <a:prstGeom prst="roundRect">
            <a:avLst>
              <a:gd name="adj" fmla="val 5882"/>
            </a:avLst>
          </a:prstGeom>
          <a:solidFill>
            <a:srgbClr val="FFFFFF">
              <a:alpha val="92000"/>
            </a:srgbClr>
          </a:solidFill>
          <a:ln w="19050">
            <a:solidFill>
              <a:srgbClr val="1FB5D6"/>
            </a:solidFill>
            <a:prstDash val="solid"/>
          </a:ln>
        </p:spPr>
      </p:sp>
      <p:sp>
        <p:nvSpPr>
          <p:cNvPr id="7" name="card text I  Identity"/>
          <p:cNvSpPr txBox="1"/>
          <p:nvPr/>
        </p:nvSpPr>
        <p:spPr>
          <a:xfrm>
            <a:off x="960120" y="2880360"/>
            <a:ext cx="3017520" cy="1371600"/>
          </a:xfrm>
          <a:prstGeom prst="rect">
            <a:avLst/>
          </a:prstGeom>
          <a:noFill/>
          <a:ln/>
        </p:spPr>
        <p:txBody>
          <a:bodyPr wrap="square" rtlCol="0" anchor="t"/>
          <a:lstStyle/>
          <a:p>
            <a:pPr indent="0" marL="0">
              <a:spcAft>
                <a:spcPts val="400"/>
              </a:spcAft>
              <a:buNone/>
            </a:pPr>
            <a:r>
              <a:rPr lang="en-US" sz="1900" b="1" dirty="0">
                <a:solidFill>
                  <a:srgbClr val="0B2A4A"/>
                </a:solidFill>
              </a:rPr>
              <a:t>I  Identity</a:t>
            </a:r>
            <a:endParaRPr lang="en-US" sz="1900" dirty="0"/>
          </a:p>
          <a:p>
            <a:pPr indent="0" marL="0">
              <a:spcAft>
                <a:spcPts val="400"/>
              </a:spcAft>
              <a:buNone/>
            </a:pPr>
            <a:r>
              <a:rPr lang="en-US" sz="1600" dirty="0">
                <a:solidFill>
                  <a:srgbClr val="0B1F33"/>
                </a:solidFill>
              </a:rPr>
              <a:t>Who is the patient, the doctor and each guardian (DID).</a:t>
            </a:r>
            <a:endParaRPr lang="en-US" sz="1900" dirty="0"/>
          </a:p>
        </p:txBody>
      </p:sp>
      <p:sp>
        <p:nvSpPr>
          <p:cNvPr id="8" name="card A  Authorisation"/>
          <p:cNvSpPr/>
          <p:nvPr/>
        </p:nvSpPr>
        <p:spPr>
          <a:xfrm>
            <a:off x="4389120" y="2788920"/>
            <a:ext cx="3291840" cy="1554480"/>
          </a:xfrm>
          <a:prstGeom prst="roundRect">
            <a:avLst>
              <a:gd name="adj" fmla="val 5882"/>
            </a:avLst>
          </a:prstGeom>
          <a:solidFill>
            <a:srgbClr val="FFFFFF">
              <a:alpha val="92000"/>
            </a:srgbClr>
          </a:solidFill>
          <a:ln w="19050">
            <a:solidFill>
              <a:srgbClr val="1FB5D6"/>
            </a:solidFill>
            <a:prstDash val="solid"/>
          </a:ln>
        </p:spPr>
      </p:sp>
      <p:sp>
        <p:nvSpPr>
          <p:cNvPr id="9" name="card text A  Authorisation"/>
          <p:cNvSpPr txBox="1"/>
          <p:nvPr/>
        </p:nvSpPr>
        <p:spPr>
          <a:xfrm>
            <a:off x="4526280" y="2880360"/>
            <a:ext cx="3017520" cy="1371600"/>
          </a:xfrm>
          <a:prstGeom prst="rect">
            <a:avLst/>
          </a:prstGeom>
          <a:noFill/>
          <a:ln/>
        </p:spPr>
        <p:txBody>
          <a:bodyPr wrap="square" rtlCol="0" anchor="t"/>
          <a:lstStyle/>
          <a:p>
            <a:pPr indent="0" marL="0">
              <a:spcAft>
                <a:spcPts val="400"/>
              </a:spcAft>
              <a:buNone/>
            </a:pPr>
            <a:r>
              <a:rPr lang="en-US" sz="1900" b="1" dirty="0">
                <a:solidFill>
                  <a:srgbClr val="0B2A4A"/>
                </a:solidFill>
              </a:rPr>
              <a:t>A  Authorisation</a:t>
            </a:r>
            <a:endParaRPr lang="en-US" sz="1900" dirty="0"/>
          </a:p>
          <a:p>
            <a:pPr indent="0" marL="0">
              <a:spcAft>
                <a:spcPts val="400"/>
              </a:spcAft>
              <a:buNone/>
            </a:pPr>
            <a:r>
              <a:rPr lang="en-US" sz="1600" dirty="0">
                <a:solidFill>
                  <a:srgbClr val="0B1F33"/>
                </a:solidFill>
              </a:rPr>
              <a:t>The guardian set G and how many approvals are needed (N).</a:t>
            </a:r>
            <a:endParaRPr lang="en-US" sz="1900" dirty="0"/>
          </a:p>
        </p:txBody>
      </p:sp>
      <p:sp>
        <p:nvSpPr>
          <p:cNvPr id="10" name="card P  Policy"/>
          <p:cNvSpPr/>
          <p:nvPr/>
        </p:nvSpPr>
        <p:spPr>
          <a:xfrm>
            <a:off x="7955280" y="2788920"/>
            <a:ext cx="3291840" cy="1554480"/>
          </a:xfrm>
          <a:prstGeom prst="roundRect">
            <a:avLst>
              <a:gd name="adj" fmla="val 5882"/>
            </a:avLst>
          </a:prstGeom>
          <a:solidFill>
            <a:srgbClr val="FFFFFF">
              <a:alpha val="92000"/>
            </a:srgbClr>
          </a:solidFill>
          <a:ln w="19050">
            <a:solidFill>
              <a:srgbClr val="1FB5D6"/>
            </a:solidFill>
            <a:prstDash val="solid"/>
          </a:ln>
        </p:spPr>
      </p:sp>
      <p:sp>
        <p:nvSpPr>
          <p:cNvPr id="11" name="card text P  Policy"/>
          <p:cNvSpPr txBox="1"/>
          <p:nvPr/>
        </p:nvSpPr>
        <p:spPr>
          <a:xfrm>
            <a:off x="8092440" y="2880360"/>
            <a:ext cx="3017520" cy="1371600"/>
          </a:xfrm>
          <a:prstGeom prst="rect">
            <a:avLst/>
          </a:prstGeom>
          <a:noFill/>
          <a:ln/>
        </p:spPr>
        <p:txBody>
          <a:bodyPr wrap="square" rtlCol="0" anchor="t"/>
          <a:lstStyle/>
          <a:p>
            <a:pPr indent="0" marL="0">
              <a:spcAft>
                <a:spcPts val="400"/>
              </a:spcAft>
              <a:buNone/>
            </a:pPr>
            <a:r>
              <a:rPr lang="en-US" sz="1900" b="1" dirty="0">
                <a:solidFill>
                  <a:srgbClr val="0B2A4A"/>
                </a:solidFill>
              </a:rPr>
              <a:t>P  Policy</a:t>
            </a:r>
            <a:endParaRPr lang="en-US" sz="1900" dirty="0"/>
          </a:p>
          <a:p>
            <a:pPr indent="0" marL="0">
              <a:spcAft>
                <a:spcPts val="400"/>
              </a:spcAft>
              <a:buNone/>
            </a:pPr>
            <a:r>
              <a:rPr lang="en-US" sz="1600" dirty="0">
                <a:solidFill>
                  <a:srgbClr val="0B1F33"/>
                </a:solidFill>
              </a:rPr>
              <a:t>The purpose and the data scope that were agreed.</a:t>
            </a:r>
            <a:endParaRPr lang="en-US" sz="1900" dirty="0"/>
          </a:p>
        </p:txBody>
      </p:sp>
      <p:sp>
        <p:nvSpPr>
          <p:cNvPr id="12" name="card T  Time"/>
          <p:cNvSpPr/>
          <p:nvPr/>
        </p:nvSpPr>
        <p:spPr>
          <a:xfrm>
            <a:off x="822960" y="4572000"/>
            <a:ext cx="3291840" cy="1554480"/>
          </a:xfrm>
          <a:prstGeom prst="roundRect">
            <a:avLst>
              <a:gd name="adj" fmla="val 5882"/>
            </a:avLst>
          </a:prstGeom>
          <a:solidFill>
            <a:srgbClr val="FFFFFF">
              <a:alpha val="92000"/>
            </a:srgbClr>
          </a:solidFill>
          <a:ln w="19050">
            <a:solidFill>
              <a:srgbClr val="1FB5D6"/>
            </a:solidFill>
            <a:prstDash val="solid"/>
          </a:ln>
        </p:spPr>
      </p:sp>
      <p:sp>
        <p:nvSpPr>
          <p:cNvPr id="13" name="card text T  Time"/>
          <p:cNvSpPr txBox="1"/>
          <p:nvPr/>
        </p:nvSpPr>
        <p:spPr>
          <a:xfrm>
            <a:off x="960120" y="4663440"/>
            <a:ext cx="3017520" cy="1371600"/>
          </a:xfrm>
          <a:prstGeom prst="rect">
            <a:avLst/>
          </a:prstGeom>
          <a:noFill/>
          <a:ln/>
        </p:spPr>
        <p:txBody>
          <a:bodyPr wrap="square" rtlCol="0" anchor="t"/>
          <a:lstStyle/>
          <a:p>
            <a:pPr indent="0" marL="0">
              <a:spcAft>
                <a:spcPts val="400"/>
              </a:spcAft>
              <a:buNone/>
            </a:pPr>
            <a:r>
              <a:rPr lang="en-US" sz="1900" b="1" dirty="0">
                <a:solidFill>
                  <a:srgbClr val="0B2A4A"/>
                </a:solidFill>
              </a:rPr>
              <a:t>T  Time</a:t>
            </a:r>
            <a:endParaRPr lang="en-US" sz="1900" dirty="0"/>
          </a:p>
          <a:p>
            <a:pPr indent="0" marL="0">
              <a:spcAft>
                <a:spcPts val="400"/>
              </a:spcAft>
              <a:buNone/>
            </a:pPr>
            <a:r>
              <a:rPr lang="en-US" sz="1600" dirty="0">
                <a:solidFill>
                  <a:srgbClr val="0B1F33"/>
                </a:solidFill>
              </a:rPr>
              <a:t>When the consent starts and when it expires.</a:t>
            </a:r>
            <a:endParaRPr lang="en-US" sz="1900" dirty="0"/>
          </a:p>
        </p:txBody>
      </p:sp>
      <p:sp>
        <p:nvSpPr>
          <p:cNvPr id="14" name="card L  Lifecycle"/>
          <p:cNvSpPr/>
          <p:nvPr/>
        </p:nvSpPr>
        <p:spPr>
          <a:xfrm>
            <a:off x="4389120" y="4572000"/>
            <a:ext cx="3291840" cy="1554480"/>
          </a:xfrm>
          <a:prstGeom prst="roundRect">
            <a:avLst>
              <a:gd name="adj" fmla="val 5882"/>
            </a:avLst>
          </a:prstGeom>
          <a:solidFill>
            <a:srgbClr val="FFFFFF">
              <a:alpha val="92000"/>
            </a:srgbClr>
          </a:solidFill>
          <a:ln w="19050">
            <a:solidFill>
              <a:srgbClr val="1FB5D6"/>
            </a:solidFill>
            <a:prstDash val="solid"/>
          </a:ln>
        </p:spPr>
      </p:sp>
      <p:sp>
        <p:nvSpPr>
          <p:cNvPr id="15" name="card text L  Lifecycle"/>
          <p:cNvSpPr txBox="1"/>
          <p:nvPr/>
        </p:nvSpPr>
        <p:spPr>
          <a:xfrm>
            <a:off x="4526280" y="4663440"/>
            <a:ext cx="3017520" cy="1371600"/>
          </a:xfrm>
          <a:prstGeom prst="rect">
            <a:avLst/>
          </a:prstGeom>
          <a:noFill/>
          <a:ln/>
        </p:spPr>
        <p:txBody>
          <a:bodyPr wrap="square" rtlCol="0" anchor="t"/>
          <a:lstStyle/>
          <a:p>
            <a:pPr indent="0" marL="0">
              <a:spcAft>
                <a:spcPts val="400"/>
              </a:spcAft>
              <a:buNone/>
            </a:pPr>
            <a:r>
              <a:rPr lang="en-US" sz="1900" b="1" dirty="0">
                <a:solidFill>
                  <a:srgbClr val="0B2A4A"/>
                </a:solidFill>
              </a:rPr>
              <a:t>L  Lifecycle</a:t>
            </a:r>
            <a:endParaRPr lang="en-US" sz="1900" dirty="0"/>
          </a:p>
          <a:p>
            <a:pPr indent="0" marL="0">
              <a:spcAft>
                <a:spcPts val="400"/>
              </a:spcAft>
              <a:buNone/>
            </a:pPr>
            <a:r>
              <a:rPr lang="en-US" sz="1600" dirty="0">
                <a:solidFill>
                  <a:srgbClr val="0B1F33"/>
                </a:solidFill>
              </a:rPr>
              <a:t>The state of the consent, from creation to expiry or revocation.</a:t>
            </a:r>
            <a:endParaRPr lang="en-US" sz="1900" dirty="0"/>
          </a:p>
        </p:txBody>
      </p:sp>
      <p:sp>
        <p:nvSpPr>
          <p:cNvPr id="16" name="card E  Evidence"/>
          <p:cNvSpPr/>
          <p:nvPr/>
        </p:nvSpPr>
        <p:spPr>
          <a:xfrm>
            <a:off x="7955280" y="4572000"/>
            <a:ext cx="3291840" cy="1554480"/>
          </a:xfrm>
          <a:prstGeom prst="roundRect">
            <a:avLst>
              <a:gd name="adj" fmla="val 5882"/>
            </a:avLst>
          </a:prstGeom>
          <a:solidFill>
            <a:srgbClr val="FFFFFF">
              <a:alpha val="92000"/>
            </a:srgbClr>
          </a:solidFill>
          <a:ln w="19050">
            <a:solidFill>
              <a:srgbClr val="1FB5D6"/>
            </a:solidFill>
            <a:prstDash val="solid"/>
          </a:ln>
        </p:spPr>
      </p:sp>
      <p:sp>
        <p:nvSpPr>
          <p:cNvPr id="17" name="card text E  Evidence"/>
          <p:cNvSpPr txBox="1"/>
          <p:nvPr/>
        </p:nvSpPr>
        <p:spPr>
          <a:xfrm>
            <a:off x="8092440" y="4663440"/>
            <a:ext cx="3017520" cy="1371600"/>
          </a:xfrm>
          <a:prstGeom prst="rect">
            <a:avLst/>
          </a:prstGeom>
          <a:noFill/>
          <a:ln/>
        </p:spPr>
        <p:txBody>
          <a:bodyPr wrap="square" rtlCol="0" anchor="t"/>
          <a:lstStyle/>
          <a:p>
            <a:pPr indent="0" marL="0">
              <a:spcAft>
                <a:spcPts val="400"/>
              </a:spcAft>
              <a:buNone/>
            </a:pPr>
            <a:r>
              <a:rPr lang="en-US" sz="1900" b="1" dirty="0">
                <a:solidFill>
                  <a:srgbClr val="0B2A4A"/>
                </a:solidFill>
              </a:rPr>
              <a:t>E  Evidence</a:t>
            </a:r>
            <a:endParaRPr lang="en-US" sz="1900" dirty="0"/>
          </a:p>
          <a:p>
            <a:pPr indent="0" marL="0">
              <a:spcAft>
                <a:spcPts val="400"/>
              </a:spcAft>
              <a:buNone/>
            </a:pPr>
            <a:r>
              <a:rPr lang="en-US" sz="1600" dirty="0">
                <a:solidFill>
                  <a:srgbClr val="0B1F33"/>
                </a:solidFill>
              </a:rPr>
              <a:t>Signatures, the token, and whether it is revoked.</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LITERATURE REVIEW: HOW I DID IT</a:t>
            </a:r>
            <a:endParaRPr lang="en-US" sz="3000" dirty="0"/>
          </a:p>
        </p:txBody>
      </p:sp>
      <p:sp>
        <p:nvSpPr>
          <p:cNvPr id="4" name="F2 panel"/>
          <p:cNvSpPr/>
          <p:nvPr/>
        </p:nvSpPr>
        <p:spPr>
          <a:xfrm>
            <a:off x="640080" y="1097280"/>
            <a:ext cx="5760720" cy="5440680"/>
          </a:xfrm>
          <a:prstGeom prst="roundRect">
            <a:avLst>
              <a:gd name="adj" fmla="val 201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5" name="F2" descr="/tmp/deck/img/F2.png">    </p:cNvPr>
          <p:cNvPicPr>
            <a:picLocks noChangeAspect="1"/>
          </p:cNvPicPr>
          <p:nvPr/>
        </p:nvPicPr>
        <p:blipFill>
          <a:blip r:embed="rId1"/>
          <a:stretch>
            <a:fillRect/>
          </a:stretch>
        </p:blipFill>
        <p:spPr>
          <a:xfrm>
            <a:off x="749808" y="1288146"/>
            <a:ext cx="5541264" cy="5058949"/>
          </a:xfrm>
          <a:prstGeom prst="rect">
            <a:avLst/>
          </a:prstGeom>
        </p:spPr>
      </p:pic>
      <p:sp>
        <p:nvSpPr>
          <p:cNvPr id="6" name="stat records from seven databases"/>
          <p:cNvSpPr txBox="1"/>
          <p:nvPr/>
        </p:nvSpPr>
        <p:spPr>
          <a:xfrm>
            <a:off x="6949440" y="1280160"/>
            <a:ext cx="3291840" cy="868680"/>
          </a:xfrm>
          <a:prstGeom prst="rect">
            <a:avLst/>
          </a:prstGeom>
          <a:noFill/>
          <a:ln/>
        </p:spPr>
        <p:txBody>
          <a:bodyPr wrap="square" lIns="0" tIns="0" rIns="0" bIns="0" rtlCol="0" anchor="ctr"/>
          <a:lstStyle/>
          <a:p>
            <a:pPr indent="0" marL="0">
              <a:buNone/>
            </a:pPr>
            <a:r>
              <a:rPr lang="en-US" sz="4400" b="1" dirty="0">
                <a:solidFill>
                  <a:srgbClr val="1FB5D6"/>
                </a:solidFill>
              </a:rPr>
              <a:t>9,256</a:t>
            </a:r>
            <a:endParaRPr lang="en-US" sz="4400" dirty="0"/>
          </a:p>
        </p:txBody>
      </p:sp>
      <p:sp>
        <p:nvSpPr>
          <p:cNvPr id="7" name="stat label records from seven databases"/>
          <p:cNvSpPr txBox="1"/>
          <p:nvPr/>
        </p:nvSpPr>
        <p:spPr>
          <a:xfrm>
            <a:off x="6949440" y="2148840"/>
            <a:ext cx="3291840" cy="640080"/>
          </a:xfrm>
          <a:prstGeom prst="rect">
            <a:avLst/>
          </a:prstGeom>
          <a:noFill/>
          <a:ln/>
        </p:spPr>
        <p:txBody>
          <a:bodyPr wrap="square" lIns="0" tIns="0" rIns="0" bIns="0" rtlCol="0" anchor="ctr"/>
          <a:lstStyle/>
          <a:p>
            <a:pPr indent="0" marL="0">
              <a:buNone/>
            </a:pPr>
            <a:r>
              <a:rPr lang="en-US" sz="1600" dirty="0">
                <a:solidFill>
                  <a:srgbClr val="FFFFFF"/>
                </a:solidFill>
              </a:rPr>
              <a:t>records from seven databases</a:t>
            </a:r>
            <a:endParaRPr lang="en-US" sz="1600" dirty="0"/>
          </a:p>
        </p:txBody>
      </p:sp>
      <p:sp>
        <p:nvSpPr>
          <p:cNvPr id="8" name="stat studies met the criteria at the checkpoint"/>
          <p:cNvSpPr txBox="1"/>
          <p:nvPr/>
        </p:nvSpPr>
        <p:spPr>
          <a:xfrm>
            <a:off x="6949440" y="2926080"/>
            <a:ext cx="3291840" cy="868680"/>
          </a:xfrm>
          <a:prstGeom prst="rect">
            <a:avLst/>
          </a:prstGeom>
          <a:noFill/>
          <a:ln/>
        </p:spPr>
        <p:txBody>
          <a:bodyPr wrap="square" lIns="0" tIns="0" rIns="0" bIns="0" rtlCol="0" anchor="ctr"/>
          <a:lstStyle/>
          <a:p>
            <a:pPr indent="0" marL="0">
              <a:buNone/>
            </a:pPr>
            <a:r>
              <a:rPr lang="en-US" sz="4400" b="1" dirty="0">
                <a:solidFill>
                  <a:srgbClr val="1FB5D6"/>
                </a:solidFill>
              </a:rPr>
              <a:t>47</a:t>
            </a:r>
            <a:endParaRPr lang="en-US" sz="4400" dirty="0"/>
          </a:p>
        </p:txBody>
      </p:sp>
      <p:sp>
        <p:nvSpPr>
          <p:cNvPr id="9" name="stat label studies met the criteria at the checkpoint"/>
          <p:cNvSpPr txBox="1"/>
          <p:nvPr/>
        </p:nvSpPr>
        <p:spPr>
          <a:xfrm>
            <a:off x="6949440" y="3794760"/>
            <a:ext cx="3291840" cy="640080"/>
          </a:xfrm>
          <a:prstGeom prst="rect">
            <a:avLst/>
          </a:prstGeom>
          <a:noFill/>
          <a:ln/>
        </p:spPr>
        <p:txBody>
          <a:bodyPr wrap="square" lIns="0" tIns="0" rIns="0" bIns="0" rtlCol="0" anchor="ctr"/>
          <a:lstStyle/>
          <a:p>
            <a:pPr indent="0" marL="0">
              <a:buNone/>
            </a:pPr>
            <a:r>
              <a:rPr lang="en-US" sz="1600" dirty="0">
                <a:solidFill>
                  <a:srgbClr val="FFFFFF"/>
                </a:solidFill>
              </a:rPr>
              <a:t>studies met the criteria at the checkpoint</a:t>
            </a:r>
            <a:endParaRPr lang="en-US" sz="1600" dirty="0"/>
          </a:p>
        </p:txBody>
      </p:sp>
      <p:sp>
        <p:nvSpPr>
          <p:cNvPr id="10" name="stat primary studies analysed (23 core + 2)"/>
          <p:cNvSpPr txBox="1"/>
          <p:nvPr/>
        </p:nvSpPr>
        <p:spPr>
          <a:xfrm>
            <a:off x="6949440" y="4572000"/>
            <a:ext cx="3291840" cy="868680"/>
          </a:xfrm>
          <a:prstGeom prst="rect">
            <a:avLst/>
          </a:prstGeom>
          <a:noFill/>
          <a:ln/>
        </p:spPr>
        <p:txBody>
          <a:bodyPr wrap="square" lIns="0" tIns="0" rIns="0" bIns="0" rtlCol="0" anchor="ctr"/>
          <a:lstStyle/>
          <a:p>
            <a:pPr indent="0" marL="0">
              <a:buNone/>
            </a:pPr>
            <a:r>
              <a:rPr lang="en-US" sz="4400" b="1" dirty="0">
                <a:solidFill>
                  <a:srgbClr val="1FB5D6"/>
                </a:solidFill>
              </a:rPr>
              <a:t>25</a:t>
            </a:r>
            <a:endParaRPr lang="en-US" sz="4400" dirty="0"/>
          </a:p>
        </p:txBody>
      </p:sp>
      <p:sp>
        <p:nvSpPr>
          <p:cNvPr id="11" name="stat label primary studies analysed (23 core + 2)"/>
          <p:cNvSpPr txBox="1"/>
          <p:nvPr/>
        </p:nvSpPr>
        <p:spPr>
          <a:xfrm>
            <a:off x="6949440" y="5440680"/>
            <a:ext cx="3291840" cy="640080"/>
          </a:xfrm>
          <a:prstGeom prst="rect">
            <a:avLst/>
          </a:prstGeom>
          <a:noFill/>
          <a:ln/>
        </p:spPr>
        <p:txBody>
          <a:bodyPr wrap="square" lIns="0" tIns="0" rIns="0" bIns="0" rtlCol="0" anchor="ctr"/>
          <a:lstStyle/>
          <a:p>
            <a:pPr indent="0" marL="0">
              <a:buNone/>
            </a:pPr>
            <a:r>
              <a:rPr lang="en-US" sz="1600" dirty="0">
                <a:solidFill>
                  <a:srgbClr val="FFFFFF"/>
                </a:solidFill>
              </a:rPr>
              <a:t>primary studies analysed (23 core + 2)</a:t>
            </a:r>
            <a:endParaRPr lang="en-US" sz="16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LITERATURE REVIEW: WHAT I FOUND</a:t>
            </a:r>
            <a:endParaRPr lang="en-US" sz="3000" dirty="0"/>
          </a:p>
        </p:txBody>
      </p:sp>
      <p:sp>
        <p:nvSpPr>
          <p:cNvPr id="4" name="F5 panel"/>
          <p:cNvSpPr/>
          <p:nvPr/>
        </p:nvSpPr>
        <p:spPr>
          <a:xfrm>
            <a:off x="640080" y="1097280"/>
            <a:ext cx="6949440" cy="5440680"/>
          </a:xfrm>
          <a:prstGeom prst="roundRect">
            <a:avLst>
              <a:gd name="adj" fmla="val 201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5" name="F5" descr="/tmp/deck/img/F5.png">    </p:cNvPr>
          <p:cNvPicPr>
            <a:picLocks noChangeAspect="1"/>
          </p:cNvPicPr>
          <p:nvPr/>
        </p:nvPicPr>
        <p:blipFill>
          <a:blip r:embed="rId1"/>
          <a:stretch>
            <a:fillRect/>
          </a:stretch>
        </p:blipFill>
        <p:spPr>
          <a:xfrm>
            <a:off x="749808" y="2129189"/>
            <a:ext cx="6729984" cy="3376861"/>
          </a:xfrm>
          <a:prstGeom prst="rect">
            <a:avLst/>
          </a:prstGeom>
        </p:spPr>
      </p:pic>
      <p:sp>
        <p:nvSpPr>
          <p:cNvPr id="6" name="card Conjunction gap"/>
          <p:cNvSpPr/>
          <p:nvPr/>
        </p:nvSpPr>
        <p:spPr>
          <a:xfrm>
            <a:off x="7863840" y="1280160"/>
            <a:ext cx="3657600" cy="2377440"/>
          </a:xfrm>
          <a:prstGeom prst="roundRect">
            <a:avLst>
              <a:gd name="adj" fmla="val 3846"/>
            </a:avLst>
          </a:prstGeom>
          <a:solidFill>
            <a:srgbClr val="FFFFFF">
              <a:alpha val="92000"/>
            </a:srgbClr>
          </a:solidFill>
          <a:ln w="19050">
            <a:solidFill>
              <a:srgbClr val="1FB5D6"/>
            </a:solidFill>
            <a:prstDash val="solid"/>
          </a:ln>
        </p:spPr>
      </p:sp>
      <p:sp>
        <p:nvSpPr>
          <p:cNvPr id="7" name="card text Conjunction gap"/>
          <p:cNvSpPr txBox="1"/>
          <p:nvPr/>
        </p:nvSpPr>
        <p:spPr>
          <a:xfrm>
            <a:off x="8001000" y="1371600"/>
            <a:ext cx="3383280" cy="2194560"/>
          </a:xfrm>
          <a:prstGeom prst="rect">
            <a:avLst/>
          </a:prstGeom>
          <a:noFill/>
          <a:ln/>
        </p:spPr>
        <p:txBody>
          <a:bodyPr wrap="square" rtlCol="0" anchor="t"/>
          <a:lstStyle/>
          <a:p>
            <a:pPr indent="0" marL="0">
              <a:spcAft>
                <a:spcPts val="400"/>
              </a:spcAft>
              <a:buNone/>
            </a:pPr>
            <a:r>
              <a:rPr lang="en-US" sz="1900" b="1" dirty="0">
                <a:solidFill>
                  <a:srgbClr val="1FB5D6"/>
                </a:solidFill>
              </a:rPr>
              <a:t>Conjunction gap</a:t>
            </a:r>
            <a:endParaRPr lang="en-US" sz="1900" dirty="0"/>
          </a:p>
          <a:p>
            <a:pPr indent="0" marL="0">
              <a:spcAft>
                <a:spcPts val="400"/>
              </a:spcAft>
              <a:buNone/>
            </a:pPr>
            <a:r>
              <a:rPr lang="en-US" sz="1600" dirty="0">
                <a:solidFill>
                  <a:srgbClr val="0B1F33"/>
                </a:solidFill>
              </a:rPr>
              <a:t>Each condition exists somewhere, but no study joins identity, authority, approval, policy and time in one decision.</a:t>
            </a:r>
            <a:endParaRPr lang="en-US" sz="1900" dirty="0"/>
          </a:p>
        </p:txBody>
      </p:sp>
      <p:sp>
        <p:nvSpPr>
          <p:cNvPr id="8" name="card Assurance gap"/>
          <p:cNvSpPr/>
          <p:nvPr/>
        </p:nvSpPr>
        <p:spPr>
          <a:xfrm>
            <a:off x="7863840" y="3931920"/>
            <a:ext cx="3657600" cy="2377440"/>
          </a:xfrm>
          <a:prstGeom prst="roundRect">
            <a:avLst>
              <a:gd name="adj" fmla="val 3846"/>
            </a:avLst>
          </a:prstGeom>
          <a:solidFill>
            <a:srgbClr val="FFFFFF">
              <a:alpha val="92000"/>
            </a:srgbClr>
          </a:solidFill>
          <a:ln w="19050">
            <a:solidFill>
              <a:srgbClr val="F2A900"/>
            </a:solidFill>
            <a:prstDash val="solid"/>
          </a:ln>
        </p:spPr>
      </p:sp>
      <p:sp>
        <p:nvSpPr>
          <p:cNvPr id="9" name="card text Assurance gap"/>
          <p:cNvSpPr txBox="1"/>
          <p:nvPr/>
        </p:nvSpPr>
        <p:spPr>
          <a:xfrm>
            <a:off x="8001000" y="4023360"/>
            <a:ext cx="3383280" cy="2194560"/>
          </a:xfrm>
          <a:prstGeom prst="rect">
            <a:avLst/>
          </a:prstGeom>
          <a:noFill/>
          <a:ln/>
        </p:spPr>
        <p:txBody>
          <a:bodyPr wrap="square" rtlCol="0" anchor="t"/>
          <a:lstStyle/>
          <a:p>
            <a:pPr indent="0" marL="0">
              <a:spcAft>
                <a:spcPts val="400"/>
              </a:spcAft>
              <a:buNone/>
            </a:pPr>
            <a:r>
              <a:rPr lang="en-US" sz="1900" b="1" dirty="0">
                <a:solidFill>
                  <a:srgbClr val="F2A900"/>
                </a:solidFill>
              </a:rPr>
              <a:t>Assurance gap</a:t>
            </a:r>
            <a:endParaRPr lang="en-US" sz="1900" dirty="0"/>
          </a:p>
          <a:p>
            <a:pPr indent="0" marL="0">
              <a:spcAft>
                <a:spcPts val="400"/>
              </a:spcAft>
              <a:buNone/>
            </a:pPr>
            <a:r>
              <a:rPr lang="en-US" sz="1600" dirty="0">
                <a:solidFill>
                  <a:srgbClr val="0B1F33"/>
                </a:solidFill>
              </a:rPr>
              <a:t>The whole decision is neither formally proved nor systematically tested. Proofs exist in only 4 of 25 studies.</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GAP</a:t>
            </a:r>
            <a:endParaRPr lang="en-US" sz="3000" dirty="0"/>
          </a:p>
        </p:txBody>
      </p:sp>
      <p:sp>
        <p:nvSpPr>
          <p:cNvPr id="4" name="gap box"/>
          <p:cNvSpPr/>
          <p:nvPr/>
        </p:nvSpPr>
        <p:spPr>
          <a:xfrm>
            <a:off x="822960" y="1371600"/>
            <a:ext cx="10515600" cy="4572000"/>
          </a:xfrm>
          <a:prstGeom prst="roundRect">
            <a:avLst>
              <a:gd name="adj" fmla="val 2400"/>
            </a:avLst>
          </a:prstGeom>
          <a:solidFill>
            <a:srgbClr val="0B2A4A">
              <a:alpha val="85000"/>
            </a:srgbClr>
          </a:solidFill>
          <a:ln w="25400">
            <a:solidFill>
              <a:srgbClr val="1FB5D6"/>
            </a:solidFill>
            <a:prstDash val="solid"/>
          </a:ln>
        </p:spPr>
      </p:sp>
      <p:sp>
        <p:nvSpPr>
          <p:cNvPr id="5" name="gap text"/>
          <p:cNvSpPr txBox="1"/>
          <p:nvPr/>
        </p:nvSpPr>
        <p:spPr>
          <a:xfrm>
            <a:off x="1188720" y="1554480"/>
            <a:ext cx="9784080" cy="4206240"/>
          </a:xfrm>
          <a:prstGeom prst="rect">
            <a:avLst/>
          </a:prstGeom>
          <a:noFill/>
          <a:ln/>
        </p:spPr>
        <p:txBody>
          <a:bodyPr wrap="square" rtlCol="0" anchor="ctr"/>
          <a:lstStyle/>
          <a:p>
            <a:pPr algn="ctr" indent="0" marL="0">
              <a:buNone/>
            </a:pPr>
            <a:r>
              <a:rPr lang="en-US" sz="2400" i="1" dirty="0">
                <a:solidFill>
                  <a:srgbClr val="FFFFFF"/>
                </a:solidFill>
              </a:rPr>
              <a:t>Existing healthcare consent and access-control research provides many of the necessary technological building blocks, but there remains a need for an integrated Trust Computing framework that treats patient consent as a security-bearing and evaluable authorisation object. Such a framework should be capable of representing the relevant trust conditions, verifying the participating entities and their authority, establishing collective authorisation where required, and enforcing the policy and data-scope constraints associated with the consent.</a:t>
            </a:r>
            <a:endParaRPr lang="en-US" sz="24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QUESTIONS</a:t>
            </a:r>
            <a:endParaRPr lang="en-US" sz="3000" dirty="0"/>
          </a:p>
        </p:txBody>
      </p:sp>
      <p:sp>
        <p:nvSpPr>
          <p:cNvPr id="4" name="rq box"/>
          <p:cNvSpPr/>
          <p:nvPr/>
        </p:nvSpPr>
        <p:spPr>
          <a:xfrm>
            <a:off x="731520" y="1143000"/>
            <a:ext cx="10698480" cy="1325880"/>
          </a:xfrm>
          <a:prstGeom prst="roundRect">
            <a:avLst>
              <a:gd name="adj" fmla="val 8276"/>
            </a:avLst>
          </a:prstGeom>
          <a:solidFill>
            <a:srgbClr val="0B2A4A">
              <a:alpha val="85000"/>
            </a:srgbClr>
          </a:solidFill>
          <a:ln w="25400">
            <a:solidFill>
              <a:srgbClr val="1FB5D6"/>
            </a:solidFill>
            <a:prstDash val="solid"/>
          </a:ln>
        </p:spPr>
      </p:sp>
      <p:sp>
        <p:nvSpPr>
          <p:cNvPr id="5" name="rq text"/>
          <p:cNvSpPr txBox="1"/>
          <p:nvPr/>
        </p:nvSpPr>
        <p:spPr>
          <a:xfrm>
            <a:off x="914400" y="1188720"/>
            <a:ext cx="10332720" cy="1234440"/>
          </a:xfrm>
          <a:prstGeom prst="rect">
            <a:avLst/>
          </a:prstGeom>
          <a:noFill/>
          <a:ln/>
        </p:spPr>
        <p:txBody>
          <a:bodyPr wrap="square" rtlCol="0" anchor="ctr"/>
          <a:lstStyle/>
          <a:p>
            <a:pPr algn="ctr" indent="0" marL="0">
              <a:buNone/>
            </a:pPr>
            <a:r>
              <a:rPr lang="en-US" sz="1800" i="1" dirty="0">
                <a:solidFill>
                  <a:srgbClr val="FFFFFF"/>
                </a:solidFill>
              </a:rPr>
              <a:t>How can a trust-oriented computing framework establish and enforce trustworthy multi-party consent for decentralised healthcare data sharing under identity, authority, and policy constraints?</a:t>
            </a:r>
            <a:endParaRPr lang="en-US" sz="1800" dirty="0"/>
          </a:p>
        </p:txBody>
      </p:sp>
      <p:sp>
        <p:nvSpPr>
          <p:cNvPr id="6" name="card RQ1"/>
          <p:cNvSpPr/>
          <p:nvPr/>
        </p:nvSpPr>
        <p:spPr>
          <a:xfrm>
            <a:off x="731520" y="2606040"/>
            <a:ext cx="3429000" cy="1828800"/>
          </a:xfrm>
          <a:prstGeom prst="roundRect">
            <a:avLst>
              <a:gd name="adj" fmla="val 5000"/>
            </a:avLst>
          </a:prstGeom>
          <a:solidFill>
            <a:srgbClr val="FFFFFF">
              <a:alpha val="92000"/>
            </a:srgbClr>
          </a:solidFill>
          <a:ln w="19050">
            <a:solidFill>
              <a:srgbClr val="1FB5D6"/>
            </a:solidFill>
            <a:prstDash val="solid"/>
          </a:ln>
        </p:spPr>
      </p:sp>
      <p:sp>
        <p:nvSpPr>
          <p:cNvPr id="7" name="card text RQ1"/>
          <p:cNvSpPr txBox="1"/>
          <p:nvPr/>
        </p:nvSpPr>
        <p:spPr>
          <a:xfrm>
            <a:off x="868680" y="2697480"/>
            <a:ext cx="3154680" cy="1645920"/>
          </a:xfrm>
          <a:prstGeom prst="rect">
            <a:avLst/>
          </a:prstGeom>
          <a:noFill/>
          <a:ln/>
        </p:spPr>
        <p:txBody>
          <a:bodyPr wrap="square" rtlCol="0" anchor="t"/>
          <a:lstStyle/>
          <a:p>
            <a:pPr indent="0" marL="0">
              <a:spcAft>
                <a:spcPts val="400"/>
              </a:spcAft>
              <a:buNone/>
            </a:pPr>
            <a:r>
              <a:rPr lang="en-US" sz="1900" b="1" dirty="0">
                <a:solidFill>
                  <a:srgbClr val="0B2A4A"/>
                </a:solidFill>
              </a:rPr>
              <a:t>RQ1</a:t>
            </a:r>
            <a:endParaRPr lang="en-US" sz="1900" dirty="0"/>
          </a:p>
          <a:p>
            <a:pPr indent="0" marL="0">
              <a:spcAft>
                <a:spcPts val="400"/>
              </a:spcAft>
              <a:buNone/>
            </a:pPr>
            <a:r>
              <a:rPr lang="en-US" sz="1100" dirty="0">
                <a:solidFill>
                  <a:srgbClr val="0B1F33"/>
                </a:solidFill>
              </a:rPr>
              <a:t>How can patient consent be modelled as a trust-aware authorisation object that explicitly represents identity, authority requirements, policy constraints, and authorisation evidence?</a:t>
            </a:r>
            <a:endParaRPr lang="en-US" sz="1900" dirty="0"/>
          </a:p>
        </p:txBody>
      </p:sp>
      <p:sp>
        <p:nvSpPr>
          <p:cNvPr id="8" name="card RQ2"/>
          <p:cNvSpPr/>
          <p:nvPr/>
        </p:nvSpPr>
        <p:spPr>
          <a:xfrm>
            <a:off x="4343400" y="2606040"/>
            <a:ext cx="3429000" cy="1828800"/>
          </a:xfrm>
          <a:prstGeom prst="roundRect">
            <a:avLst>
              <a:gd name="adj" fmla="val 5000"/>
            </a:avLst>
          </a:prstGeom>
          <a:solidFill>
            <a:srgbClr val="FFFFFF">
              <a:alpha val="92000"/>
            </a:srgbClr>
          </a:solidFill>
          <a:ln w="19050">
            <a:solidFill>
              <a:srgbClr val="1FB5D6"/>
            </a:solidFill>
            <a:prstDash val="solid"/>
          </a:ln>
        </p:spPr>
      </p:sp>
      <p:sp>
        <p:nvSpPr>
          <p:cNvPr id="9" name="card text RQ2"/>
          <p:cNvSpPr txBox="1"/>
          <p:nvPr/>
        </p:nvSpPr>
        <p:spPr>
          <a:xfrm>
            <a:off x="4480560" y="2697480"/>
            <a:ext cx="3154680" cy="1645920"/>
          </a:xfrm>
          <a:prstGeom prst="rect">
            <a:avLst/>
          </a:prstGeom>
          <a:noFill/>
          <a:ln/>
        </p:spPr>
        <p:txBody>
          <a:bodyPr wrap="square" rtlCol="0" anchor="t"/>
          <a:lstStyle/>
          <a:p>
            <a:pPr indent="0" marL="0">
              <a:spcAft>
                <a:spcPts val="400"/>
              </a:spcAft>
              <a:buNone/>
            </a:pPr>
            <a:r>
              <a:rPr lang="en-US" sz="1900" b="1" dirty="0">
                <a:solidFill>
                  <a:srgbClr val="0B2A4A"/>
                </a:solidFill>
              </a:rPr>
              <a:t>RQ2</a:t>
            </a:r>
            <a:endParaRPr lang="en-US" sz="1900" dirty="0"/>
          </a:p>
          <a:p>
            <a:pPr indent="0" marL="0">
              <a:spcAft>
                <a:spcPts val="400"/>
              </a:spcAft>
              <a:buNone/>
            </a:pPr>
            <a:r>
              <a:rPr lang="en-US" sz="1100" dirty="0">
                <a:solidFill>
                  <a:srgbClr val="0B1F33"/>
                </a:solidFill>
              </a:rPr>
              <a:t>How can decentralised identities and verifiable credentials establish trustworthy participants while explicitly separating identity authentication from authorisation authority?</a:t>
            </a:r>
            <a:endParaRPr lang="en-US" sz="1900" dirty="0"/>
          </a:p>
        </p:txBody>
      </p:sp>
      <p:sp>
        <p:nvSpPr>
          <p:cNvPr id="10" name="card RQ3"/>
          <p:cNvSpPr/>
          <p:nvPr/>
        </p:nvSpPr>
        <p:spPr>
          <a:xfrm>
            <a:off x="7955280" y="2606040"/>
            <a:ext cx="3429000" cy="1828800"/>
          </a:xfrm>
          <a:prstGeom prst="roundRect">
            <a:avLst>
              <a:gd name="adj" fmla="val 5000"/>
            </a:avLst>
          </a:prstGeom>
          <a:solidFill>
            <a:srgbClr val="FFFFFF">
              <a:alpha val="92000"/>
            </a:srgbClr>
          </a:solidFill>
          <a:ln w="19050">
            <a:solidFill>
              <a:srgbClr val="1FB5D6"/>
            </a:solidFill>
            <a:prstDash val="solid"/>
          </a:ln>
        </p:spPr>
      </p:sp>
      <p:sp>
        <p:nvSpPr>
          <p:cNvPr id="11" name="card text RQ3"/>
          <p:cNvSpPr txBox="1"/>
          <p:nvPr/>
        </p:nvSpPr>
        <p:spPr>
          <a:xfrm>
            <a:off x="8092440" y="2697480"/>
            <a:ext cx="3154680" cy="1645920"/>
          </a:xfrm>
          <a:prstGeom prst="rect">
            <a:avLst/>
          </a:prstGeom>
          <a:noFill/>
          <a:ln/>
        </p:spPr>
        <p:txBody>
          <a:bodyPr wrap="square" rtlCol="0" anchor="t"/>
          <a:lstStyle/>
          <a:p>
            <a:pPr indent="0" marL="0">
              <a:spcAft>
                <a:spcPts val="400"/>
              </a:spcAft>
              <a:buNone/>
            </a:pPr>
            <a:r>
              <a:rPr lang="en-US" sz="1900" b="1" dirty="0">
                <a:solidFill>
                  <a:srgbClr val="0B2A4A"/>
                </a:solidFill>
              </a:rPr>
              <a:t>RQ3</a:t>
            </a:r>
            <a:endParaRPr lang="en-US" sz="1900" dirty="0"/>
          </a:p>
          <a:p>
            <a:pPr indent="0" marL="0">
              <a:spcAft>
                <a:spcPts val="400"/>
              </a:spcAft>
              <a:buNone/>
            </a:pPr>
            <a:r>
              <a:rPr lang="en-US" sz="1100" dirty="0">
                <a:solidFill>
                  <a:srgbClr val="0B1F33"/>
                </a:solidFill>
              </a:rPr>
              <a:t>How can multiple independently verified participants and guardians jointly establish a trustworthy consent decision without allowing a single participant to unilaterally authorise sensitive healthcare data access?</a:t>
            </a:r>
            <a:endParaRPr lang="en-US" sz="1900" dirty="0"/>
          </a:p>
        </p:txBody>
      </p:sp>
      <p:sp>
        <p:nvSpPr>
          <p:cNvPr id="12" name="card RQ4"/>
          <p:cNvSpPr/>
          <p:nvPr/>
        </p:nvSpPr>
        <p:spPr>
          <a:xfrm>
            <a:off x="731520" y="4526280"/>
            <a:ext cx="3429000" cy="1828800"/>
          </a:xfrm>
          <a:prstGeom prst="roundRect">
            <a:avLst>
              <a:gd name="adj" fmla="val 5000"/>
            </a:avLst>
          </a:prstGeom>
          <a:solidFill>
            <a:srgbClr val="FFFFFF">
              <a:alpha val="92000"/>
            </a:srgbClr>
          </a:solidFill>
          <a:ln w="19050">
            <a:solidFill>
              <a:srgbClr val="1FB5D6"/>
            </a:solidFill>
            <a:prstDash val="solid"/>
          </a:ln>
        </p:spPr>
      </p:sp>
      <p:sp>
        <p:nvSpPr>
          <p:cNvPr id="13" name="card text RQ4"/>
          <p:cNvSpPr txBox="1"/>
          <p:nvPr/>
        </p:nvSpPr>
        <p:spPr>
          <a:xfrm>
            <a:off x="868680" y="4617720"/>
            <a:ext cx="3154680" cy="1645920"/>
          </a:xfrm>
          <a:prstGeom prst="rect">
            <a:avLst/>
          </a:prstGeom>
          <a:noFill/>
          <a:ln/>
        </p:spPr>
        <p:txBody>
          <a:bodyPr wrap="square" rtlCol="0" anchor="t"/>
          <a:lstStyle/>
          <a:p>
            <a:pPr indent="0" marL="0">
              <a:spcAft>
                <a:spcPts val="400"/>
              </a:spcAft>
              <a:buNone/>
            </a:pPr>
            <a:r>
              <a:rPr lang="en-US" sz="1900" b="1" dirty="0">
                <a:solidFill>
                  <a:srgbClr val="0B2A4A"/>
                </a:solidFill>
              </a:rPr>
              <a:t>RQ4</a:t>
            </a:r>
            <a:endParaRPr lang="en-US" sz="1900" dirty="0"/>
          </a:p>
          <a:p>
            <a:pPr indent="0" marL="0">
              <a:spcAft>
                <a:spcPts val="400"/>
              </a:spcAft>
              <a:buNone/>
            </a:pPr>
            <a:r>
              <a:rPr lang="en-US" sz="1100" dirty="0">
                <a:solidFill>
                  <a:srgbClr val="0B1F33"/>
                </a:solidFill>
              </a:rPr>
              <a:t>How can policy, purpose, and data-scope constraints be incorporated into authorisation decisions so that valid identities and sufficient approvals cannot be used to obtain unauthorised healthcare data?</a:t>
            </a:r>
            <a:endParaRPr lang="en-US" sz="1900" dirty="0"/>
          </a:p>
        </p:txBody>
      </p:sp>
      <p:sp>
        <p:nvSpPr>
          <p:cNvPr id="14" name="card RQ5"/>
          <p:cNvSpPr/>
          <p:nvPr/>
        </p:nvSpPr>
        <p:spPr>
          <a:xfrm>
            <a:off x="4343400" y="4526280"/>
            <a:ext cx="3429000" cy="1828800"/>
          </a:xfrm>
          <a:prstGeom prst="roundRect">
            <a:avLst>
              <a:gd name="adj" fmla="val 5000"/>
            </a:avLst>
          </a:prstGeom>
          <a:solidFill>
            <a:srgbClr val="FFFFFF">
              <a:alpha val="92000"/>
            </a:srgbClr>
          </a:solidFill>
          <a:ln w="19050">
            <a:solidFill>
              <a:srgbClr val="1FB5D6"/>
            </a:solidFill>
            <a:prstDash val="solid"/>
          </a:ln>
        </p:spPr>
      </p:sp>
      <p:sp>
        <p:nvSpPr>
          <p:cNvPr id="15" name="card text RQ5"/>
          <p:cNvSpPr txBox="1"/>
          <p:nvPr/>
        </p:nvSpPr>
        <p:spPr>
          <a:xfrm>
            <a:off x="4480560" y="4617720"/>
            <a:ext cx="3154680" cy="1645920"/>
          </a:xfrm>
          <a:prstGeom prst="rect">
            <a:avLst/>
          </a:prstGeom>
          <a:noFill/>
          <a:ln/>
        </p:spPr>
        <p:txBody>
          <a:bodyPr wrap="square" rtlCol="0" anchor="t"/>
          <a:lstStyle/>
          <a:p>
            <a:pPr indent="0" marL="0">
              <a:spcAft>
                <a:spcPts val="400"/>
              </a:spcAft>
              <a:buNone/>
            </a:pPr>
            <a:r>
              <a:rPr lang="en-US" sz="1900" b="1" dirty="0">
                <a:solidFill>
                  <a:srgbClr val="0B2A4A"/>
                </a:solidFill>
              </a:rPr>
              <a:t>RQ5</a:t>
            </a:r>
            <a:endParaRPr lang="en-US" sz="1900" dirty="0"/>
          </a:p>
          <a:p>
            <a:pPr indent="0" marL="0">
              <a:spcAft>
                <a:spcPts val="400"/>
              </a:spcAft>
              <a:buNone/>
            </a:pPr>
            <a:r>
              <a:rPr lang="en-US" sz="1100" dirty="0">
                <a:solidFill>
                  <a:srgbClr val="0B1F33"/>
                </a:solidFill>
              </a:rPr>
              <a:t>How can temporal validity and consent lifecycle controls ensure that an authorisation remains valid only within its permitted time interval and lifecycle state, and is rejected after expiration, revocation, or an unauthorised state transition?</a:t>
            </a:r>
            <a:endParaRPr lang="en-US" sz="1900" dirty="0"/>
          </a:p>
        </p:txBody>
      </p:sp>
      <p:sp>
        <p:nvSpPr>
          <p:cNvPr id="16" name="card RQ6"/>
          <p:cNvSpPr/>
          <p:nvPr/>
        </p:nvSpPr>
        <p:spPr>
          <a:xfrm>
            <a:off x="7955280" y="4526280"/>
            <a:ext cx="3429000" cy="1828800"/>
          </a:xfrm>
          <a:prstGeom prst="roundRect">
            <a:avLst>
              <a:gd name="adj" fmla="val 5000"/>
            </a:avLst>
          </a:prstGeom>
          <a:solidFill>
            <a:srgbClr val="FFFFFF">
              <a:alpha val="92000"/>
            </a:srgbClr>
          </a:solidFill>
          <a:ln w="19050">
            <a:solidFill>
              <a:srgbClr val="1FB5D6"/>
            </a:solidFill>
            <a:prstDash val="solid"/>
          </a:ln>
        </p:spPr>
      </p:sp>
      <p:sp>
        <p:nvSpPr>
          <p:cNvPr id="17" name="card text RQ6"/>
          <p:cNvSpPr txBox="1"/>
          <p:nvPr/>
        </p:nvSpPr>
        <p:spPr>
          <a:xfrm>
            <a:off x="8092440" y="4617720"/>
            <a:ext cx="3154680" cy="1645920"/>
          </a:xfrm>
          <a:prstGeom prst="rect">
            <a:avLst/>
          </a:prstGeom>
          <a:noFill/>
          <a:ln/>
        </p:spPr>
        <p:txBody>
          <a:bodyPr wrap="square" rtlCol="0" anchor="t"/>
          <a:lstStyle/>
          <a:p>
            <a:pPr indent="0" marL="0">
              <a:spcAft>
                <a:spcPts val="400"/>
              </a:spcAft>
              <a:buNone/>
            </a:pPr>
            <a:r>
              <a:rPr lang="en-US" sz="1900" b="1" dirty="0">
                <a:solidFill>
                  <a:srgbClr val="0B2A4A"/>
                </a:solidFill>
              </a:rPr>
              <a:t>RQ6</a:t>
            </a:r>
            <a:endParaRPr lang="en-US" sz="1900" dirty="0"/>
          </a:p>
          <a:p>
            <a:pPr indent="0" marL="0">
              <a:spcAft>
                <a:spcPts val="400"/>
              </a:spcAft>
              <a:buNone/>
            </a:pPr>
            <a:r>
              <a:rPr lang="en-US" sz="1100" dirty="0">
                <a:solidFill>
                  <a:srgbClr val="0B1F33"/>
                </a:solidFill>
              </a:rPr>
              <a:t>How can the security properties of the proposed trust-oriented authorisation mechanism be formally defined and empirically evaluated to demonstrate that the implemented framework correctly enforces authorised and unauthorised healthcare data-access decisions?</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OBJECTIVES AND STATUS</a:t>
            </a:r>
            <a:endParaRPr lang="en-US" sz="30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731520" y="1188720"/>
          <a:ext cx="10698480" cy="914400"/>
        </p:xfrm>
        <a:graphic>
          <a:graphicData uri="http://schemas.openxmlformats.org/drawingml/2006/table">
            <a:tbl>
              <a:tblPr/>
              <a:tblGrid>
                <a:gridCol w="3017520"/>
                <a:gridCol w="6035040"/>
                <a:gridCol w="1645920"/>
              </a:tblGrid>
              <a:tr h="731520">
                <a:tc>
                  <a:txBody>
                    <a:bodyPr/>
                    <a:lstStyle/>
                    <a:p>
                      <a:pPr indent="0" marL="0">
                        <a:buNone/>
                      </a:pPr>
                      <a:r>
                        <a:rPr lang="en-US" sz="1300" b="1" dirty="0">
                          <a:solidFill>
                            <a:srgbClr val="FFFFFF"/>
                          </a:solidFill>
                        </a:rPr>
                        <a:t>Objective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Description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Status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731520">
                <a:tc>
                  <a:txBody>
                    <a:bodyPr/>
                    <a:lstStyle/>
                    <a:p>
                      <a:pPr indent="0" marL="0">
                        <a:buNone/>
                      </a:pPr>
                      <a:r>
                        <a:rPr lang="en-US" sz="1300" b="1" dirty="0">
                          <a:solidFill>
                            <a:srgbClr val="0B1F33"/>
                          </a:solidFill>
                        </a:rPr>
                        <a:t>RO1 – Trust-Centric Consent Model</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To develop a trust-aware consent model that represents patient consent as a structured and evaluable authorisation object.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B1F33"/>
                          </a:solidFill>
                        </a:rPr>
                        <a:t>RO2 – Decentralised Identity and Authority Trust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To develop a decentralised identity and authority verification mechanism using decentralised identifiers and verifiable credentials.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B1F33"/>
                          </a:solidFill>
                        </a:rPr>
                        <a:t>RO3 – Trustworthy Multi-Party Authorisation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To develop a threshold-based multi-party authorisation mechanism through which multiple independently verified participants and guardians can jointly establish a trustworthy consent decision.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B1F33"/>
                          </a:solidFill>
                        </a:rPr>
                        <a:t>RO4 – Policy- and Context-Aware Access Control</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To develop a policy-aware authorisation mechanism that evaluates the purpose and data scope of a requested operation against the constraints defined by the consent.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B1F33"/>
                          </a:solidFill>
                        </a:rPr>
                        <a:t>RO5 – Temporal and Lifecycle Trust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To extend the trust-oriented framework with temporal validity and consent lifecycle controls.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In Progress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0B1F33"/>
                          </a:solidFill>
                        </a:rPr>
                        <a:t>RO6 – Formal Security Assurance and Empirical Validation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To formally analyse and empirically evaluate whether the implemented framework satisfies its defined trust and authorisation properties under representative healthcare data-sharing scenarios.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Partially completed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METHODOLOGY</a:t>
            </a:r>
            <a:endParaRPr lang="en-US" sz="3000" dirty="0"/>
          </a:p>
        </p:txBody>
      </p:sp>
      <p:sp>
        <p:nvSpPr>
          <p:cNvPr id="4" name="step number 1"/>
          <p:cNvSpPr/>
          <p:nvPr/>
        </p:nvSpPr>
        <p:spPr>
          <a:xfrm>
            <a:off x="987552" y="1554480"/>
            <a:ext cx="548640" cy="548640"/>
          </a:xfrm>
          <a:prstGeom prst="ellipse">
            <a:avLst/>
          </a:prstGeom>
          <a:solidFill>
            <a:srgbClr val="1FB5D6"/>
          </a:solidFill>
          <a:ln w="19050">
            <a:solidFill>
              <a:srgbClr val="FFFFFF"/>
            </a:solidFill>
            <a:prstDash val="solid"/>
          </a:ln>
        </p:spPr>
      </p:sp>
      <p:sp>
        <p:nvSpPr>
          <p:cNvPr id="5" name="step num text 1"/>
          <p:cNvSpPr txBox="1"/>
          <p:nvPr/>
        </p:nvSpPr>
        <p:spPr>
          <a:xfrm>
            <a:off x="987552" y="1554480"/>
            <a:ext cx="548640" cy="548640"/>
          </a:xfrm>
          <a:prstGeom prst="rect">
            <a:avLst/>
          </a:prstGeom>
          <a:noFill/>
          <a:ln/>
        </p:spPr>
        <p:txBody>
          <a:bodyPr wrap="square" rtlCol="0" anchor="ctr"/>
          <a:lstStyle/>
          <a:p>
            <a:pPr algn="ctr" indent="0" marL="0">
              <a:buNone/>
            </a:pPr>
            <a:r>
              <a:rPr lang="en-US" sz="2000" b="1" dirty="0">
                <a:solidFill>
                  <a:srgbClr val="FFFFFF"/>
                </a:solidFill>
              </a:rPr>
              <a:t>1</a:t>
            </a:r>
            <a:endParaRPr lang="en-US" sz="2000" dirty="0"/>
          </a:p>
        </p:txBody>
      </p:sp>
      <p:sp>
        <p:nvSpPr>
          <p:cNvPr id="6" name="step box 1"/>
          <p:cNvSpPr/>
          <p:nvPr/>
        </p:nvSpPr>
        <p:spPr>
          <a:xfrm>
            <a:off x="502920" y="2286000"/>
            <a:ext cx="1517904" cy="2926080"/>
          </a:xfrm>
          <a:prstGeom prst="roundRect">
            <a:avLst>
              <a:gd name="adj" fmla="val 6024"/>
            </a:avLst>
          </a:prstGeom>
          <a:solidFill>
            <a:srgbClr val="FFFFFF"/>
          </a:solidFill>
          <a:ln w="19050">
            <a:solidFill>
              <a:srgbClr val="1FB5D6"/>
            </a:solidFill>
            <a:prstDash val="solid"/>
          </a:ln>
        </p:spPr>
      </p:sp>
      <p:sp>
        <p:nvSpPr>
          <p:cNvPr id="7" name="step text 1"/>
          <p:cNvSpPr txBox="1"/>
          <p:nvPr/>
        </p:nvSpPr>
        <p:spPr>
          <a:xfrm>
            <a:off x="548640"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Problem</a:t>
            </a:r>
            <a:endParaRPr lang="en-US" sz="1400" dirty="0"/>
          </a:p>
          <a:p>
            <a:pPr algn="ctr" indent="0" marL="0">
              <a:spcAft>
                <a:spcPts val="800"/>
              </a:spcAft>
              <a:buNone/>
            </a:pPr>
            <a:r>
              <a:rPr lang="en-US" sz="1300" dirty="0">
                <a:solidFill>
                  <a:srgbClr val="0B1F33"/>
                </a:solidFill>
              </a:rPr>
              <a:t>Consent is a passive record; no single trusted decision</a:t>
            </a:r>
            <a:endParaRPr lang="en-US" sz="1400" dirty="0"/>
          </a:p>
        </p:txBody>
      </p:sp>
      <p:sp>
        <p:nvSpPr>
          <p:cNvPr id="8" name="step number 2"/>
          <p:cNvSpPr/>
          <p:nvPr/>
        </p:nvSpPr>
        <p:spPr>
          <a:xfrm>
            <a:off x="2615184" y="1554480"/>
            <a:ext cx="548640" cy="548640"/>
          </a:xfrm>
          <a:prstGeom prst="ellipse">
            <a:avLst/>
          </a:prstGeom>
          <a:solidFill>
            <a:srgbClr val="1FB5D6"/>
          </a:solidFill>
          <a:ln w="19050">
            <a:solidFill>
              <a:srgbClr val="FFFFFF"/>
            </a:solidFill>
            <a:prstDash val="solid"/>
          </a:ln>
        </p:spPr>
      </p:sp>
      <p:sp>
        <p:nvSpPr>
          <p:cNvPr id="9" name="step num text 2"/>
          <p:cNvSpPr txBox="1"/>
          <p:nvPr/>
        </p:nvSpPr>
        <p:spPr>
          <a:xfrm>
            <a:off x="2615184" y="1554480"/>
            <a:ext cx="548640" cy="548640"/>
          </a:xfrm>
          <a:prstGeom prst="rect">
            <a:avLst/>
          </a:prstGeom>
          <a:noFill/>
          <a:ln/>
        </p:spPr>
        <p:txBody>
          <a:bodyPr wrap="square" rtlCol="0" anchor="ctr"/>
          <a:lstStyle/>
          <a:p>
            <a:pPr algn="ctr" indent="0" marL="0">
              <a:buNone/>
            </a:pPr>
            <a:r>
              <a:rPr lang="en-US" sz="2000" b="1" dirty="0">
                <a:solidFill>
                  <a:srgbClr val="FFFFFF"/>
                </a:solidFill>
              </a:rPr>
              <a:t>2</a:t>
            </a:r>
            <a:endParaRPr lang="en-US" sz="2000" dirty="0"/>
          </a:p>
        </p:txBody>
      </p:sp>
      <p:sp>
        <p:nvSpPr>
          <p:cNvPr id="10" name="step box 2"/>
          <p:cNvSpPr/>
          <p:nvPr/>
        </p:nvSpPr>
        <p:spPr>
          <a:xfrm>
            <a:off x="2130552" y="2286000"/>
            <a:ext cx="1517904" cy="2926080"/>
          </a:xfrm>
          <a:prstGeom prst="roundRect">
            <a:avLst>
              <a:gd name="adj" fmla="val 6024"/>
            </a:avLst>
          </a:prstGeom>
          <a:solidFill>
            <a:srgbClr val="FFFFFF"/>
          </a:solidFill>
          <a:ln w="19050">
            <a:solidFill>
              <a:srgbClr val="1FB5D6"/>
            </a:solidFill>
            <a:prstDash val="solid"/>
          </a:ln>
        </p:spPr>
      </p:sp>
      <p:sp>
        <p:nvSpPr>
          <p:cNvPr id="11" name="step text 2"/>
          <p:cNvSpPr txBox="1"/>
          <p:nvPr/>
        </p:nvSpPr>
        <p:spPr>
          <a:xfrm>
            <a:off x="2176272"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Literature review</a:t>
            </a:r>
            <a:endParaRPr lang="en-US" sz="1400" dirty="0"/>
          </a:p>
          <a:p>
            <a:pPr algn="ctr" indent="0" marL="0">
              <a:spcAft>
                <a:spcPts val="800"/>
              </a:spcAft>
              <a:buNone/>
            </a:pPr>
            <a:r>
              <a:rPr lang="en-US" sz="1300" dirty="0">
                <a:solidFill>
                  <a:srgbClr val="0B1F33"/>
                </a:solidFill>
              </a:rPr>
              <a:t>PRISMA 2020; 25 primary studies</a:t>
            </a:r>
            <a:endParaRPr lang="en-US" sz="1400" dirty="0"/>
          </a:p>
        </p:txBody>
      </p:sp>
      <p:sp>
        <p:nvSpPr>
          <p:cNvPr id="12" name="step number 3"/>
          <p:cNvSpPr/>
          <p:nvPr/>
        </p:nvSpPr>
        <p:spPr>
          <a:xfrm>
            <a:off x="4242816" y="1554480"/>
            <a:ext cx="548640" cy="548640"/>
          </a:xfrm>
          <a:prstGeom prst="ellipse">
            <a:avLst/>
          </a:prstGeom>
          <a:solidFill>
            <a:srgbClr val="1FB5D6"/>
          </a:solidFill>
          <a:ln w="19050">
            <a:solidFill>
              <a:srgbClr val="FFFFFF"/>
            </a:solidFill>
            <a:prstDash val="solid"/>
          </a:ln>
        </p:spPr>
      </p:sp>
      <p:sp>
        <p:nvSpPr>
          <p:cNvPr id="13" name="step num text 3"/>
          <p:cNvSpPr txBox="1"/>
          <p:nvPr/>
        </p:nvSpPr>
        <p:spPr>
          <a:xfrm>
            <a:off x="4242816" y="1554480"/>
            <a:ext cx="548640" cy="548640"/>
          </a:xfrm>
          <a:prstGeom prst="rect">
            <a:avLst/>
          </a:prstGeom>
          <a:noFill/>
          <a:ln/>
        </p:spPr>
        <p:txBody>
          <a:bodyPr wrap="square" rtlCol="0" anchor="ctr"/>
          <a:lstStyle/>
          <a:p>
            <a:pPr algn="ctr" indent="0" marL="0">
              <a:buNone/>
            </a:pPr>
            <a:r>
              <a:rPr lang="en-US" sz="2000" b="1" dirty="0">
                <a:solidFill>
                  <a:srgbClr val="FFFFFF"/>
                </a:solidFill>
              </a:rPr>
              <a:t>3</a:t>
            </a:r>
            <a:endParaRPr lang="en-US" sz="2000" dirty="0"/>
          </a:p>
        </p:txBody>
      </p:sp>
      <p:sp>
        <p:nvSpPr>
          <p:cNvPr id="14" name="step box 3"/>
          <p:cNvSpPr/>
          <p:nvPr/>
        </p:nvSpPr>
        <p:spPr>
          <a:xfrm>
            <a:off x="3758184" y="2286000"/>
            <a:ext cx="1517904" cy="2926080"/>
          </a:xfrm>
          <a:prstGeom prst="roundRect">
            <a:avLst>
              <a:gd name="adj" fmla="val 6024"/>
            </a:avLst>
          </a:prstGeom>
          <a:solidFill>
            <a:srgbClr val="FFFFFF"/>
          </a:solidFill>
          <a:ln w="19050">
            <a:solidFill>
              <a:srgbClr val="1FB5D6"/>
            </a:solidFill>
            <a:prstDash val="solid"/>
          </a:ln>
        </p:spPr>
      </p:sp>
      <p:sp>
        <p:nvSpPr>
          <p:cNvPr id="15" name="step text 3"/>
          <p:cNvSpPr txBox="1"/>
          <p:nvPr/>
        </p:nvSpPr>
        <p:spPr>
          <a:xfrm>
            <a:off x="3803904"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Gap and questions</a:t>
            </a:r>
            <a:endParaRPr lang="en-US" sz="1400" dirty="0"/>
          </a:p>
          <a:p>
            <a:pPr algn="ctr" indent="0" marL="0">
              <a:spcAft>
                <a:spcPts val="800"/>
              </a:spcAft>
              <a:buNone/>
            </a:pPr>
            <a:r>
              <a:rPr lang="en-US" sz="1300" dirty="0">
                <a:solidFill>
                  <a:srgbClr val="0B1F33"/>
                </a:solidFill>
              </a:rPr>
              <a:t>Research gap; RQ1 to RQ6</a:t>
            </a:r>
            <a:endParaRPr lang="en-US" sz="1400" dirty="0"/>
          </a:p>
        </p:txBody>
      </p:sp>
      <p:sp>
        <p:nvSpPr>
          <p:cNvPr id="16" name="step number 4"/>
          <p:cNvSpPr/>
          <p:nvPr/>
        </p:nvSpPr>
        <p:spPr>
          <a:xfrm>
            <a:off x="5870448" y="1554480"/>
            <a:ext cx="548640" cy="548640"/>
          </a:xfrm>
          <a:prstGeom prst="ellipse">
            <a:avLst/>
          </a:prstGeom>
          <a:solidFill>
            <a:srgbClr val="1FB5D6"/>
          </a:solidFill>
          <a:ln w="19050">
            <a:solidFill>
              <a:srgbClr val="FFFFFF"/>
            </a:solidFill>
            <a:prstDash val="solid"/>
          </a:ln>
        </p:spPr>
      </p:sp>
      <p:sp>
        <p:nvSpPr>
          <p:cNvPr id="17" name="step num text 4"/>
          <p:cNvSpPr txBox="1"/>
          <p:nvPr/>
        </p:nvSpPr>
        <p:spPr>
          <a:xfrm>
            <a:off x="5870448" y="1554480"/>
            <a:ext cx="548640" cy="548640"/>
          </a:xfrm>
          <a:prstGeom prst="rect">
            <a:avLst/>
          </a:prstGeom>
          <a:noFill/>
          <a:ln/>
        </p:spPr>
        <p:txBody>
          <a:bodyPr wrap="square" rtlCol="0" anchor="ctr"/>
          <a:lstStyle/>
          <a:p>
            <a:pPr algn="ctr" indent="0" marL="0">
              <a:buNone/>
            </a:pPr>
            <a:r>
              <a:rPr lang="en-US" sz="2000" b="1" dirty="0">
                <a:solidFill>
                  <a:srgbClr val="FFFFFF"/>
                </a:solidFill>
              </a:rPr>
              <a:t>4</a:t>
            </a:r>
            <a:endParaRPr lang="en-US" sz="2000" dirty="0"/>
          </a:p>
        </p:txBody>
      </p:sp>
      <p:sp>
        <p:nvSpPr>
          <p:cNvPr id="18" name="step box 4"/>
          <p:cNvSpPr/>
          <p:nvPr/>
        </p:nvSpPr>
        <p:spPr>
          <a:xfrm>
            <a:off x="5385816" y="2286000"/>
            <a:ext cx="1517904" cy="2926080"/>
          </a:xfrm>
          <a:prstGeom prst="roundRect">
            <a:avLst>
              <a:gd name="adj" fmla="val 6024"/>
            </a:avLst>
          </a:prstGeom>
          <a:solidFill>
            <a:srgbClr val="FFFFFF"/>
          </a:solidFill>
          <a:ln w="19050">
            <a:solidFill>
              <a:srgbClr val="1FB5D6"/>
            </a:solidFill>
            <a:prstDash val="solid"/>
          </a:ln>
        </p:spPr>
      </p:sp>
      <p:sp>
        <p:nvSpPr>
          <p:cNvPr id="19" name="step text 4"/>
          <p:cNvSpPr txBox="1"/>
          <p:nvPr/>
        </p:nvSpPr>
        <p:spPr>
          <a:xfrm>
            <a:off x="5431536"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Objectives</a:t>
            </a:r>
            <a:endParaRPr lang="en-US" sz="1400" dirty="0"/>
          </a:p>
          <a:p>
            <a:pPr algn="ctr" indent="0" marL="0">
              <a:spcAft>
                <a:spcPts val="800"/>
              </a:spcAft>
              <a:buNone/>
            </a:pPr>
            <a:r>
              <a:rPr lang="en-US" sz="1300" dirty="0">
                <a:solidFill>
                  <a:srgbClr val="0B1F33"/>
                </a:solidFill>
              </a:rPr>
              <a:t>RO1 to RO6</a:t>
            </a:r>
            <a:endParaRPr lang="en-US" sz="1400" dirty="0"/>
          </a:p>
        </p:txBody>
      </p:sp>
      <p:sp>
        <p:nvSpPr>
          <p:cNvPr id="20" name="step number 5"/>
          <p:cNvSpPr/>
          <p:nvPr/>
        </p:nvSpPr>
        <p:spPr>
          <a:xfrm>
            <a:off x="7498080" y="1554480"/>
            <a:ext cx="548640" cy="548640"/>
          </a:xfrm>
          <a:prstGeom prst="ellipse">
            <a:avLst/>
          </a:prstGeom>
          <a:solidFill>
            <a:srgbClr val="1FB5D6"/>
          </a:solidFill>
          <a:ln w="19050">
            <a:solidFill>
              <a:srgbClr val="FFFFFF"/>
            </a:solidFill>
            <a:prstDash val="solid"/>
          </a:ln>
        </p:spPr>
      </p:sp>
      <p:sp>
        <p:nvSpPr>
          <p:cNvPr id="21" name="step num text 5"/>
          <p:cNvSpPr txBox="1"/>
          <p:nvPr/>
        </p:nvSpPr>
        <p:spPr>
          <a:xfrm>
            <a:off x="7498080" y="1554480"/>
            <a:ext cx="548640" cy="548640"/>
          </a:xfrm>
          <a:prstGeom prst="rect">
            <a:avLst/>
          </a:prstGeom>
          <a:noFill/>
          <a:ln/>
        </p:spPr>
        <p:txBody>
          <a:bodyPr wrap="square" rtlCol="0" anchor="ctr"/>
          <a:lstStyle/>
          <a:p>
            <a:pPr algn="ctr" indent="0" marL="0">
              <a:buNone/>
            </a:pPr>
            <a:r>
              <a:rPr lang="en-US" sz="2000" b="1" dirty="0">
                <a:solidFill>
                  <a:srgbClr val="FFFFFF"/>
                </a:solidFill>
              </a:rPr>
              <a:t>5</a:t>
            </a:r>
            <a:endParaRPr lang="en-US" sz="2000" dirty="0"/>
          </a:p>
        </p:txBody>
      </p:sp>
      <p:sp>
        <p:nvSpPr>
          <p:cNvPr id="22" name="step box 5"/>
          <p:cNvSpPr/>
          <p:nvPr/>
        </p:nvSpPr>
        <p:spPr>
          <a:xfrm>
            <a:off x="7013448" y="2286000"/>
            <a:ext cx="1517904" cy="2926080"/>
          </a:xfrm>
          <a:prstGeom prst="roundRect">
            <a:avLst>
              <a:gd name="adj" fmla="val 6024"/>
            </a:avLst>
          </a:prstGeom>
          <a:solidFill>
            <a:srgbClr val="FFFFFF"/>
          </a:solidFill>
          <a:ln w="19050">
            <a:solidFill>
              <a:srgbClr val="1FB5D6"/>
            </a:solidFill>
            <a:prstDash val="solid"/>
          </a:ln>
        </p:spPr>
      </p:sp>
      <p:sp>
        <p:nvSpPr>
          <p:cNvPr id="23" name="step text 5"/>
          <p:cNvSpPr txBox="1"/>
          <p:nvPr/>
        </p:nvSpPr>
        <p:spPr>
          <a:xfrm>
            <a:off x="7059168"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Design</a:t>
            </a:r>
            <a:endParaRPr lang="en-US" sz="1400" dirty="0"/>
          </a:p>
          <a:p>
            <a:pPr algn="ctr" indent="0" marL="0">
              <a:spcAft>
                <a:spcPts val="800"/>
              </a:spcAft>
              <a:buNone/>
            </a:pPr>
            <a:r>
              <a:rPr lang="en-US" sz="1300" dirty="0">
                <a:solidFill>
                  <a:srgbClr val="0B1F33"/>
                </a:solidFill>
              </a:rPr>
              <a:t>MVC architecture, consent object C, Algorithms 1 to 4</a:t>
            </a:r>
            <a:endParaRPr lang="en-US" sz="1400" dirty="0"/>
          </a:p>
        </p:txBody>
      </p:sp>
      <p:sp>
        <p:nvSpPr>
          <p:cNvPr id="24" name="step number 6"/>
          <p:cNvSpPr/>
          <p:nvPr/>
        </p:nvSpPr>
        <p:spPr>
          <a:xfrm>
            <a:off x="9125712" y="1554480"/>
            <a:ext cx="548640" cy="548640"/>
          </a:xfrm>
          <a:prstGeom prst="ellipse">
            <a:avLst/>
          </a:prstGeom>
          <a:solidFill>
            <a:srgbClr val="1FB5D6"/>
          </a:solidFill>
          <a:ln w="19050">
            <a:solidFill>
              <a:srgbClr val="FFFFFF"/>
            </a:solidFill>
            <a:prstDash val="solid"/>
          </a:ln>
        </p:spPr>
      </p:sp>
      <p:sp>
        <p:nvSpPr>
          <p:cNvPr id="25" name="step num text 6"/>
          <p:cNvSpPr txBox="1"/>
          <p:nvPr/>
        </p:nvSpPr>
        <p:spPr>
          <a:xfrm>
            <a:off x="9125712" y="1554480"/>
            <a:ext cx="548640" cy="548640"/>
          </a:xfrm>
          <a:prstGeom prst="rect">
            <a:avLst/>
          </a:prstGeom>
          <a:noFill/>
          <a:ln/>
        </p:spPr>
        <p:txBody>
          <a:bodyPr wrap="square" rtlCol="0" anchor="ctr"/>
          <a:lstStyle/>
          <a:p>
            <a:pPr algn="ctr" indent="0" marL="0">
              <a:buNone/>
            </a:pPr>
            <a:r>
              <a:rPr lang="en-US" sz="2000" b="1" dirty="0">
                <a:solidFill>
                  <a:srgbClr val="FFFFFF"/>
                </a:solidFill>
              </a:rPr>
              <a:t>6</a:t>
            </a:r>
            <a:endParaRPr lang="en-US" sz="2000" dirty="0"/>
          </a:p>
        </p:txBody>
      </p:sp>
      <p:sp>
        <p:nvSpPr>
          <p:cNvPr id="26" name="step box 6"/>
          <p:cNvSpPr/>
          <p:nvPr/>
        </p:nvSpPr>
        <p:spPr>
          <a:xfrm>
            <a:off x="8641080" y="2286000"/>
            <a:ext cx="1517904" cy="2926080"/>
          </a:xfrm>
          <a:prstGeom prst="roundRect">
            <a:avLst>
              <a:gd name="adj" fmla="val 6024"/>
            </a:avLst>
          </a:prstGeom>
          <a:solidFill>
            <a:srgbClr val="FFFFFF"/>
          </a:solidFill>
          <a:ln w="19050">
            <a:solidFill>
              <a:srgbClr val="1FB5D6"/>
            </a:solidFill>
            <a:prstDash val="solid"/>
          </a:ln>
        </p:spPr>
      </p:sp>
      <p:sp>
        <p:nvSpPr>
          <p:cNvPr id="27" name="step text 6"/>
          <p:cNvSpPr txBox="1"/>
          <p:nvPr/>
        </p:nvSpPr>
        <p:spPr>
          <a:xfrm>
            <a:off x="8686800"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Prototype</a:t>
            </a:r>
            <a:endParaRPr lang="en-US" sz="1400" dirty="0"/>
          </a:p>
          <a:p>
            <a:pPr algn="ctr" indent="0" marL="0">
              <a:spcAft>
                <a:spcPts val="800"/>
              </a:spcAft>
              <a:buNone/>
            </a:pPr>
            <a:r>
              <a:rPr lang="en-US" sz="1300" dirty="0">
                <a:solidFill>
                  <a:srgbClr val="0B1F33"/>
                </a:solidFill>
              </a:rPr>
              <a:t>HALAH; ConsentSBTv3 on Sepolia</a:t>
            </a:r>
            <a:endParaRPr lang="en-US" sz="1400" dirty="0"/>
          </a:p>
        </p:txBody>
      </p:sp>
      <p:sp>
        <p:nvSpPr>
          <p:cNvPr id="28" name="step number 7"/>
          <p:cNvSpPr/>
          <p:nvPr/>
        </p:nvSpPr>
        <p:spPr>
          <a:xfrm>
            <a:off x="10753344" y="1554480"/>
            <a:ext cx="548640" cy="548640"/>
          </a:xfrm>
          <a:prstGeom prst="ellipse">
            <a:avLst/>
          </a:prstGeom>
          <a:solidFill>
            <a:srgbClr val="6D5BA8"/>
          </a:solidFill>
          <a:ln w="19050">
            <a:solidFill>
              <a:srgbClr val="FFFFFF"/>
            </a:solidFill>
            <a:prstDash val="solid"/>
          </a:ln>
        </p:spPr>
      </p:sp>
      <p:sp>
        <p:nvSpPr>
          <p:cNvPr id="29" name="step num text 7"/>
          <p:cNvSpPr txBox="1"/>
          <p:nvPr/>
        </p:nvSpPr>
        <p:spPr>
          <a:xfrm>
            <a:off x="10753344" y="1554480"/>
            <a:ext cx="548640" cy="548640"/>
          </a:xfrm>
          <a:prstGeom prst="rect">
            <a:avLst/>
          </a:prstGeom>
          <a:noFill/>
          <a:ln/>
        </p:spPr>
        <p:txBody>
          <a:bodyPr wrap="square" rtlCol="0" anchor="ctr"/>
          <a:lstStyle/>
          <a:p>
            <a:pPr algn="ctr" indent="0" marL="0">
              <a:buNone/>
            </a:pPr>
            <a:r>
              <a:rPr lang="en-US" sz="2000" b="1" dirty="0">
                <a:solidFill>
                  <a:srgbClr val="FFFFFF"/>
                </a:solidFill>
              </a:rPr>
              <a:t>7</a:t>
            </a:r>
            <a:endParaRPr lang="en-US" sz="2000" dirty="0"/>
          </a:p>
        </p:txBody>
      </p:sp>
      <p:sp>
        <p:nvSpPr>
          <p:cNvPr id="30" name="step box 7"/>
          <p:cNvSpPr/>
          <p:nvPr/>
        </p:nvSpPr>
        <p:spPr>
          <a:xfrm>
            <a:off x="10268712" y="2286000"/>
            <a:ext cx="1517904" cy="2926080"/>
          </a:xfrm>
          <a:prstGeom prst="roundRect">
            <a:avLst>
              <a:gd name="adj" fmla="val 6024"/>
            </a:avLst>
          </a:prstGeom>
          <a:solidFill>
            <a:srgbClr val="FFFFFF"/>
          </a:solidFill>
          <a:ln w="19050">
            <a:solidFill>
              <a:srgbClr val="1FB5D6"/>
            </a:solidFill>
            <a:prstDash val="solid"/>
          </a:ln>
        </p:spPr>
      </p:sp>
      <p:sp>
        <p:nvSpPr>
          <p:cNvPr id="31" name="step text 7"/>
          <p:cNvSpPr txBox="1"/>
          <p:nvPr/>
        </p:nvSpPr>
        <p:spPr>
          <a:xfrm>
            <a:off x="10314432" y="2377440"/>
            <a:ext cx="1426464" cy="2743200"/>
          </a:xfrm>
          <a:prstGeom prst="rect">
            <a:avLst/>
          </a:prstGeom>
          <a:noFill/>
          <a:ln/>
        </p:spPr>
        <p:txBody>
          <a:bodyPr wrap="square" rtlCol="0" anchor="t"/>
          <a:lstStyle/>
          <a:p>
            <a:pPr algn="ctr" indent="0" marL="0">
              <a:spcAft>
                <a:spcPts val="800"/>
              </a:spcAft>
              <a:buNone/>
            </a:pPr>
            <a:r>
              <a:rPr lang="en-US" sz="1400" b="1" dirty="0">
                <a:solidFill>
                  <a:srgbClr val="0B2A4A"/>
                </a:solidFill>
              </a:rPr>
              <a:t>Evaluation</a:t>
            </a:r>
            <a:endParaRPr lang="en-US" sz="1400" dirty="0"/>
          </a:p>
          <a:p>
            <a:pPr algn="ctr" indent="0" marL="0">
              <a:spcAft>
                <a:spcPts val="800"/>
              </a:spcAft>
              <a:buNone/>
            </a:pPr>
            <a:r>
              <a:rPr lang="en-US" sz="1300" dirty="0">
                <a:solidFill>
                  <a:srgbClr val="0B1F33"/>
                </a:solidFill>
              </a:rPr>
              <a:t>Live scenarios, measurements and 12 attack tests; formal proofs next</a:t>
            </a:r>
            <a:endParaRPr lang="en-US" sz="1400" dirty="0"/>
          </a:p>
        </p:txBody>
      </p:sp>
      <p:sp>
        <p:nvSpPr>
          <p:cNvPr id="32" name="process arrow"/>
          <p:cNvSpPr/>
          <p:nvPr/>
        </p:nvSpPr>
        <p:spPr>
          <a:xfrm>
            <a:off x="502920" y="5486400"/>
            <a:ext cx="11247120" cy="411480"/>
          </a:xfrm>
          <a:prstGeom prst="rightArrow">
            <a:avLst/>
          </a:prstGeom>
          <a:solidFill>
            <a:srgbClr val="1FB5D6">
              <a:alpha val="75000"/>
            </a:srgbClr>
          </a:solidFill>
          <a:ln w="12700">
            <a:solidFill>
              <a:srgbClr val="1FB5D6"/>
            </a:solidFill>
            <a:prstDash val="solid"/>
          </a:ln>
        </p:spPr>
      </p:sp>
      <p:sp>
        <p:nvSpPr>
          <p:cNvPr id="33" name="arrow label"/>
          <p:cNvSpPr txBox="1"/>
          <p:nvPr/>
        </p:nvSpPr>
        <p:spPr>
          <a:xfrm>
            <a:off x="731520" y="5486400"/>
            <a:ext cx="10515600" cy="411480"/>
          </a:xfrm>
          <a:prstGeom prst="rect">
            <a:avLst/>
          </a:prstGeom>
          <a:noFill/>
          <a:ln/>
        </p:spPr>
        <p:txBody>
          <a:bodyPr wrap="square" rtlCol="0" anchor="ctr"/>
          <a:lstStyle/>
          <a:p>
            <a:pPr algn="ctr" indent="0" marL="0">
              <a:buNone/>
            </a:pPr>
            <a:r>
              <a:rPr lang="en-US" sz="1400" b="1" dirty="0">
                <a:solidFill>
                  <a:srgbClr val="FFFFFF"/>
                </a:solidFill>
              </a:rPr>
              <a:t>From the problem to the evaluated prototype</a:t>
            </a:r>
            <a:endParaRPr lang="en-US" sz="14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THE FRAMEWORK: ARCHITECTURE</a:t>
            </a:r>
            <a:endParaRPr lang="en-US" sz="3000" dirty="0"/>
          </a:p>
        </p:txBody>
      </p:sp>
      <p:sp>
        <p:nvSpPr>
          <p:cNvPr id="4" name="F6 panel"/>
          <p:cNvSpPr/>
          <p:nvPr/>
        </p:nvSpPr>
        <p:spPr>
          <a:xfrm>
            <a:off x="1097280" y="1097280"/>
            <a:ext cx="9966960" cy="5440680"/>
          </a:xfrm>
          <a:prstGeom prst="roundRect">
            <a:avLst>
              <a:gd name="adj" fmla="val 201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5" name="F6" descr="/tmp/deck/img/F6.png">    </p:cNvPr>
          <p:cNvPicPr>
            <a:picLocks noChangeAspect="1"/>
          </p:cNvPicPr>
          <p:nvPr/>
        </p:nvPicPr>
        <p:blipFill>
          <a:blip r:embed="rId1"/>
          <a:stretch>
            <a:fillRect/>
          </a:stretch>
        </p:blipFill>
        <p:spPr>
          <a:xfrm>
            <a:off x="1844799" y="1207008"/>
            <a:ext cx="8471922" cy="522122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THE FRAMEWORK: THE DECISION RULE</a:t>
            </a:r>
            <a:endParaRPr lang="en-US" sz="3000" dirty="0"/>
          </a:p>
        </p:txBody>
      </p:sp>
      <p:sp>
        <p:nvSpPr>
          <p:cNvPr id="4" name="decision box"/>
          <p:cNvSpPr/>
          <p:nvPr/>
        </p:nvSpPr>
        <p:spPr>
          <a:xfrm>
            <a:off x="731520" y="1188720"/>
            <a:ext cx="10698480" cy="1097280"/>
          </a:xfrm>
          <a:prstGeom prst="roundRect">
            <a:avLst>
              <a:gd name="adj" fmla="val 8333"/>
            </a:avLst>
          </a:prstGeom>
          <a:solidFill>
            <a:srgbClr val="0B2A4A">
              <a:alpha val="85000"/>
            </a:srgbClr>
          </a:solidFill>
          <a:ln w="19050">
            <a:solidFill>
              <a:srgbClr val="1FB5D6"/>
            </a:solidFill>
            <a:prstDash val="solid"/>
          </a:ln>
        </p:spPr>
      </p:sp>
      <p:sp>
        <p:nvSpPr>
          <p:cNvPr id="5" name="decision text"/>
          <p:cNvSpPr txBox="1"/>
          <p:nvPr/>
        </p:nvSpPr>
        <p:spPr>
          <a:xfrm>
            <a:off x="822960" y="1234440"/>
            <a:ext cx="10515600" cy="100584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Decision(C, R, t) = ALLOW  ⟺  VI(u) ∧ VA(C) ∧ VP(C, R) ∧ VT(C, t) ∧ </a:t>
            </a:r>
            <a:r>
              <a:rPr lang="en-US" sz="2400" b="1" dirty="0">
                <a:solidFill>
                  <a:srgbClr val="FFFFFF"/>
                </a:solidFill>
                <a:latin typeface="Cambria" pitchFamily="34" charset="0"/>
                <a:ea typeface="Cambria" pitchFamily="34" charset="-122"/>
                <a:cs typeface="Cambria" pitchFamily="34" charset="-120"/>
              </a:rPr>
              <a:t>VL(C)</a:t>
            </a:r>
            <a:endParaRPr lang="en-US" sz="2400" dirty="0"/>
          </a:p>
        </p:txBody>
      </p:sp>
      <p:sp>
        <p:nvSpPr>
          <p:cNvPr id="6" name="card VI"/>
          <p:cNvSpPr/>
          <p:nvPr/>
        </p:nvSpPr>
        <p:spPr>
          <a:xfrm>
            <a:off x="731520" y="2606040"/>
            <a:ext cx="2011680" cy="1600200"/>
          </a:xfrm>
          <a:prstGeom prst="roundRect">
            <a:avLst>
              <a:gd name="adj" fmla="val 5714"/>
            </a:avLst>
          </a:prstGeom>
          <a:solidFill>
            <a:srgbClr val="FFFFFF">
              <a:alpha val="92000"/>
            </a:srgbClr>
          </a:solidFill>
          <a:ln w="19050">
            <a:solidFill>
              <a:srgbClr val="1FB5D6"/>
            </a:solidFill>
            <a:prstDash val="solid"/>
          </a:ln>
        </p:spPr>
      </p:sp>
      <p:sp>
        <p:nvSpPr>
          <p:cNvPr id="7" name="card text VI"/>
          <p:cNvSpPr txBox="1"/>
          <p:nvPr/>
        </p:nvSpPr>
        <p:spPr>
          <a:xfrm>
            <a:off x="868680" y="2697480"/>
            <a:ext cx="1737360" cy="1417320"/>
          </a:xfrm>
          <a:prstGeom prst="rect">
            <a:avLst/>
          </a:prstGeom>
          <a:noFill/>
          <a:ln/>
        </p:spPr>
        <p:txBody>
          <a:bodyPr wrap="square" rtlCol="0" anchor="t"/>
          <a:lstStyle/>
          <a:p>
            <a:pPr indent="0" marL="0">
              <a:spcAft>
                <a:spcPts val="400"/>
              </a:spcAft>
              <a:buNone/>
            </a:pPr>
            <a:r>
              <a:rPr lang="en-US" sz="1900" b="1" dirty="0">
                <a:solidFill>
                  <a:srgbClr val="0B2A4A"/>
                </a:solidFill>
              </a:rPr>
              <a:t>VI</a:t>
            </a:r>
            <a:endParaRPr lang="en-US" sz="1900" dirty="0"/>
          </a:p>
          <a:p>
            <a:pPr indent="0" marL="0">
              <a:spcAft>
                <a:spcPts val="400"/>
              </a:spcAft>
              <a:buNone/>
            </a:pPr>
            <a:r>
              <a:rPr lang="en-US" sz="1600" dirty="0">
                <a:solidFill>
                  <a:srgbClr val="0B1F33"/>
                </a:solidFill>
              </a:rPr>
              <a:t>Identity and authority validity</a:t>
            </a:r>
            <a:endParaRPr lang="en-US" sz="1900" dirty="0"/>
          </a:p>
        </p:txBody>
      </p:sp>
      <p:sp>
        <p:nvSpPr>
          <p:cNvPr id="8" name="card VA"/>
          <p:cNvSpPr/>
          <p:nvPr/>
        </p:nvSpPr>
        <p:spPr>
          <a:xfrm>
            <a:off x="2898648" y="2606040"/>
            <a:ext cx="2011680" cy="1600200"/>
          </a:xfrm>
          <a:prstGeom prst="roundRect">
            <a:avLst>
              <a:gd name="adj" fmla="val 5714"/>
            </a:avLst>
          </a:prstGeom>
          <a:solidFill>
            <a:srgbClr val="FFFFFF">
              <a:alpha val="92000"/>
            </a:srgbClr>
          </a:solidFill>
          <a:ln w="19050">
            <a:solidFill>
              <a:srgbClr val="1FB5D6"/>
            </a:solidFill>
            <a:prstDash val="solid"/>
          </a:ln>
        </p:spPr>
      </p:sp>
      <p:sp>
        <p:nvSpPr>
          <p:cNvPr id="9" name="card text VA"/>
          <p:cNvSpPr txBox="1"/>
          <p:nvPr/>
        </p:nvSpPr>
        <p:spPr>
          <a:xfrm>
            <a:off x="3035808" y="2697480"/>
            <a:ext cx="1737360" cy="1417320"/>
          </a:xfrm>
          <a:prstGeom prst="rect">
            <a:avLst/>
          </a:prstGeom>
          <a:noFill/>
          <a:ln/>
        </p:spPr>
        <p:txBody>
          <a:bodyPr wrap="square" rtlCol="0" anchor="t"/>
          <a:lstStyle/>
          <a:p>
            <a:pPr indent="0" marL="0">
              <a:spcAft>
                <a:spcPts val="400"/>
              </a:spcAft>
              <a:buNone/>
            </a:pPr>
            <a:r>
              <a:rPr lang="en-US" sz="1900" b="1" dirty="0">
                <a:solidFill>
                  <a:srgbClr val="0B2A4A"/>
                </a:solidFill>
              </a:rPr>
              <a:t>VA</a:t>
            </a:r>
            <a:endParaRPr lang="en-US" sz="1900" dirty="0"/>
          </a:p>
          <a:p>
            <a:pPr indent="0" marL="0">
              <a:spcAft>
                <a:spcPts val="400"/>
              </a:spcAft>
              <a:buNone/>
            </a:pPr>
            <a:r>
              <a:rPr lang="en-US" sz="1600" dirty="0">
                <a:solidFill>
                  <a:srgbClr val="0B1F33"/>
                </a:solidFill>
              </a:rPr>
              <a:t>Collective authorisation validity</a:t>
            </a:r>
            <a:endParaRPr lang="en-US" sz="1900" dirty="0"/>
          </a:p>
        </p:txBody>
      </p:sp>
      <p:sp>
        <p:nvSpPr>
          <p:cNvPr id="10" name="card VP"/>
          <p:cNvSpPr/>
          <p:nvPr/>
        </p:nvSpPr>
        <p:spPr>
          <a:xfrm>
            <a:off x="5065776" y="2606040"/>
            <a:ext cx="2011680" cy="1600200"/>
          </a:xfrm>
          <a:prstGeom prst="roundRect">
            <a:avLst>
              <a:gd name="adj" fmla="val 5714"/>
            </a:avLst>
          </a:prstGeom>
          <a:solidFill>
            <a:srgbClr val="FFFFFF">
              <a:alpha val="92000"/>
            </a:srgbClr>
          </a:solidFill>
          <a:ln w="19050">
            <a:solidFill>
              <a:srgbClr val="1FB5D6"/>
            </a:solidFill>
            <a:prstDash val="solid"/>
          </a:ln>
        </p:spPr>
      </p:sp>
      <p:sp>
        <p:nvSpPr>
          <p:cNvPr id="11" name="card text VP"/>
          <p:cNvSpPr txBox="1"/>
          <p:nvPr/>
        </p:nvSpPr>
        <p:spPr>
          <a:xfrm>
            <a:off x="5202936" y="2697480"/>
            <a:ext cx="1737360" cy="1417320"/>
          </a:xfrm>
          <a:prstGeom prst="rect">
            <a:avLst/>
          </a:prstGeom>
          <a:noFill/>
          <a:ln/>
        </p:spPr>
        <p:txBody>
          <a:bodyPr wrap="square" rtlCol="0" anchor="t"/>
          <a:lstStyle/>
          <a:p>
            <a:pPr indent="0" marL="0">
              <a:spcAft>
                <a:spcPts val="400"/>
              </a:spcAft>
              <a:buNone/>
            </a:pPr>
            <a:r>
              <a:rPr lang="en-US" sz="1900" b="1" dirty="0">
                <a:solidFill>
                  <a:srgbClr val="0B2A4A"/>
                </a:solidFill>
              </a:rPr>
              <a:t>VP</a:t>
            </a:r>
            <a:endParaRPr lang="en-US" sz="1900" dirty="0"/>
          </a:p>
          <a:p>
            <a:pPr indent="0" marL="0">
              <a:spcAft>
                <a:spcPts val="400"/>
              </a:spcAft>
              <a:buNone/>
            </a:pPr>
            <a:r>
              <a:rPr lang="en-US" sz="1600" dirty="0">
                <a:solidFill>
                  <a:srgbClr val="0B1F33"/>
                </a:solidFill>
              </a:rPr>
              <a:t>Policy and contextual compliance</a:t>
            </a:r>
            <a:endParaRPr lang="en-US" sz="1900" dirty="0"/>
          </a:p>
        </p:txBody>
      </p:sp>
      <p:sp>
        <p:nvSpPr>
          <p:cNvPr id="12" name="card VT"/>
          <p:cNvSpPr/>
          <p:nvPr/>
        </p:nvSpPr>
        <p:spPr>
          <a:xfrm>
            <a:off x="7232904" y="2606040"/>
            <a:ext cx="2011680" cy="1600200"/>
          </a:xfrm>
          <a:prstGeom prst="roundRect">
            <a:avLst>
              <a:gd name="adj" fmla="val 5714"/>
            </a:avLst>
          </a:prstGeom>
          <a:solidFill>
            <a:srgbClr val="FFFFFF">
              <a:alpha val="92000"/>
            </a:srgbClr>
          </a:solidFill>
          <a:ln w="19050">
            <a:solidFill>
              <a:srgbClr val="1FB5D6"/>
            </a:solidFill>
            <a:prstDash val="solid"/>
          </a:ln>
        </p:spPr>
      </p:sp>
      <p:sp>
        <p:nvSpPr>
          <p:cNvPr id="13" name="card text VT"/>
          <p:cNvSpPr txBox="1"/>
          <p:nvPr/>
        </p:nvSpPr>
        <p:spPr>
          <a:xfrm>
            <a:off x="7370064" y="2697480"/>
            <a:ext cx="1737360" cy="1417320"/>
          </a:xfrm>
          <a:prstGeom prst="rect">
            <a:avLst/>
          </a:prstGeom>
          <a:noFill/>
          <a:ln/>
        </p:spPr>
        <p:txBody>
          <a:bodyPr wrap="square" rtlCol="0" anchor="t"/>
          <a:lstStyle/>
          <a:p>
            <a:pPr indent="0" marL="0">
              <a:spcAft>
                <a:spcPts val="400"/>
              </a:spcAft>
              <a:buNone/>
            </a:pPr>
            <a:r>
              <a:rPr lang="en-US" sz="1900" b="1" dirty="0">
                <a:solidFill>
                  <a:srgbClr val="0B2A4A"/>
                </a:solidFill>
              </a:rPr>
              <a:t>VT</a:t>
            </a:r>
            <a:endParaRPr lang="en-US" sz="1900" dirty="0"/>
          </a:p>
          <a:p>
            <a:pPr indent="0" marL="0">
              <a:spcAft>
                <a:spcPts val="400"/>
              </a:spcAft>
              <a:buNone/>
            </a:pPr>
            <a:r>
              <a:rPr lang="en-US" sz="1600" dirty="0">
                <a:solidFill>
                  <a:srgbClr val="0B1F33"/>
                </a:solidFill>
              </a:rPr>
              <a:t>Temporal validity</a:t>
            </a:r>
            <a:endParaRPr lang="en-US" sz="1900" dirty="0"/>
          </a:p>
        </p:txBody>
      </p:sp>
      <p:sp>
        <p:nvSpPr>
          <p:cNvPr id="14" name="card VL"/>
          <p:cNvSpPr/>
          <p:nvPr/>
        </p:nvSpPr>
        <p:spPr>
          <a:xfrm>
            <a:off x="9400032" y="2606040"/>
            <a:ext cx="2011680" cy="1600200"/>
          </a:xfrm>
          <a:prstGeom prst="roundRect">
            <a:avLst>
              <a:gd name="adj" fmla="val 5714"/>
            </a:avLst>
          </a:prstGeom>
          <a:solidFill>
            <a:srgbClr val="FFFFFF">
              <a:alpha val="92000"/>
            </a:srgbClr>
          </a:solidFill>
          <a:ln w="19050">
            <a:solidFill>
              <a:srgbClr val="1FB5D6"/>
            </a:solidFill>
            <a:prstDash val="solid"/>
          </a:ln>
        </p:spPr>
      </p:sp>
      <p:sp>
        <p:nvSpPr>
          <p:cNvPr id="15" name="card text VL"/>
          <p:cNvSpPr txBox="1"/>
          <p:nvPr/>
        </p:nvSpPr>
        <p:spPr>
          <a:xfrm>
            <a:off x="9537192" y="2697480"/>
            <a:ext cx="1737360" cy="1417320"/>
          </a:xfrm>
          <a:prstGeom prst="rect">
            <a:avLst/>
          </a:prstGeom>
          <a:noFill/>
          <a:ln/>
        </p:spPr>
        <p:txBody>
          <a:bodyPr wrap="square" rtlCol="0" anchor="t"/>
          <a:lstStyle/>
          <a:p>
            <a:pPr indent="0" marL="0">
              <a:spcAft>
                <a:spcPts val="400"/>
              </a:spcAft>
              <a:buNone/>
            </a:pPr>
            <a:r>
              <a:rPr lang="en-US" sz="1900" b="1" dirty="0">
                <a:solidFill>
                  <a:srgbClr val="0B2A4A"/>
                </a:solidFill>
              </a:rPr>
              <a:t>VL</a:t>
            </a:r>
            <a:endParaRPr lang="en-US" sz="1900" dirty="0"/>
          </a:p>
          <a:p>
            <a:pPr indent="0" marL="0">
              <a:spcAft>
                <a:spcPts val="400"/>
              </a:spcAft>
              <a:buNone/>
            </a:pPr>
            <a:r>
              <a:rPr lang="en-US" sz="1600" dirty="0">
                <a:solidFill>
                  <a:srgbClr val="0B1F33"/>
                </a:solidFill>
              </a:rPr>
              <a:t>Consent lifecycle validity</a:t>
            </a:r>
            <a:endParaRPr lang="en-US" sz="1900" dirty="0"/>
          </a:p>
        </p:txBody>
      </p:sp>
      <p:sp>
        <p:nvSpPr>
          <p:cNvPr id="16" name="bullets"/>
          <p:cNvSpPr txBox="1"/>
          <p:nvPr/>
        </p:nvSpPr>
        <p:spPr>
          <a:xfrm>
            <a:off x="822960" y="4480560"/>
            <a:ext cx="10515600" cy="1828800"/>
          </a:xfrm>
          <a:prstGeom prst="rect">
            <a:avLst/>
          </a:prstGeom>
          <a:noFill/>
          <a:ln/>
        </p:spPr>
        <p:txBody>
          <a:bodyPr wrap="square" rtlCol="0" anchor="t"/>
          <a:lstStyle/>
          <a:p>
            <a:pPr marL="342900" indent="-342900">
              <a:spcAft>
                <a:spcPts val="1000"/>
              </a:spcAft>
              <a:buSzPct val="100000"/>
              <a:buChar char="•"/>
            </a:pPr>
            <a:r>
              <a:rPr lang="en-US" sz="1800" dirty="0">
                <a:solidFill>
                  <a:srgbClr val="FFFFFF"/>
                </a:solidFill>
              </a:rPr>
              <a:t>One failed check is enough to say DENY.</a:t>
            </a:r>
            <a:endParaRPr lang="en-US" sz="1800" dirty="0"/>
          </a:p>
          <a:p>
            <a:pPr marL="342900" indent="-342900">
              <a:spcAft>
                <a:spcPts val="1000"/>
              </a:spcAft>
              <a:buSzPct val="100000"/>
              <a:buChar char="•"/>
            </a:pPr>
            <a:r>
              <a:rPr lang="en-US" sz="1800" dirty="0">
                <a:solidFill>
                  <a:srgbClr val="FFFFFF"/>
                </a:solidFill>
              </a:rPr>
              <a:t>A Groth16 zero-knowledge proof must also verify before any data is released.</a:t>
            </a:r>
            <a:endParaRPr lang="en-US" sz="1800" dirty="0"/>
          </a:p>
          <a:p>
            <a:pPr marL="342900" indent="-342900">
              <a:spcAft>
                <a:spcPts val="1000"/>
              </a:spcAft>
              <a:buSzPct val="100000"/>
              <a:buChar char="•"/>
            </a:pPr>
            <a:r>
              <a:rPr lang="en-US" sz="1800" dirty="0">
                <a:solidFill>
                  <a:srgbClr val="FFFFFF"/>
                </a:solidFill>
              </a:rPr>
              <a:t>Every decision on an ACTIVE consent is written to the audit ledger with its decision matrix.</a:t>
            </a:r>
            <a:endParaRPr lang="en-US" sz="18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STEP 1: THE PATIENT CREATES THE CONSENT</a:t>
            </a:r>
            <a:endParaRPr lang="en-US" sz="3000" dirty="0"/>
          </a:p>
        </p:txBody>
      </p:sp>
      <p:sp>
        <p:nvSpPr>
          <p:cNvPr id="4" name="objective subtitle"/>
          <p:cNvSpPr txBox="1"/>
          <p:nvPr/>
        </p:nvSpPr>
        <p:spPr>
          <a:xfrm>
            <a:off x="731520" y="960120"/>
            <a:ext cx="6400800" cy="411480"/>
          </a:xfrm>
          <a:prstGeom prst="rect">
            <a:avLst/>
          </a:prstGeom>
          <a:noFill/>
          <a:ln/>
        </p:spPr>
        <p:txBody>
          <a:bodyPr wrap="square" rtlCol="0" anchor="ctr"/>
          <a:lstStyle/>
          <a:p>
            <a:pPr indent="0" marL="0">
              <a:buNone/>
            </a:pPr>
            <a:r>
              <a:rPr lang="en-US" sz="1700" b="1" i="1" dirty="0">
                <a:solidFill>
                  <a:srgbClr val="1FB5D6"/>
                </a:solidFill>
              </a:rPr>
              <a:t>RO1: </a:t>
            </a:r>
            <a:r>
              <a:rPr lang="en-US" sz="1700" b="1" i="1" dirty="0">
                <a:solidFill>
                  <a:srgbClr val="1FB5D6"/>
                </a:solidFill>
              </a:rPr>
              <a:t>Trust-Centric Consent Model</a:t>
            </a:r>
            <a:endParaRPr lang="en-US" sz="1700" dirty="0"/>
          </a:p>
        </p:txBody>
      </p:sp>
      <p:sp>
        <p:nvSpPr>
          <p:cNvPr id="5" name="status chip"/>
          <p:cNvSpPr/>
          <p:nvPr/>
        </p:nvSpPr>
        <p:spPr>
          <a:xfrm>
            <a:off x="731520" y="1463040"/>
            <a:ext cx="2377440" cy="411480"/>
          </a:xfrm>
          <a:prstGeom prst="roundRect">
            <a:avLst>
              <a:gd name="adj" fmla="val 44444"/>
            </a:avLst>
          </a:prstGeom>
          <a:solidFill>
            <a:srgbClr val="2E7D32"/>
          </a:solidFill>
          <a:ln w="12700">
            <a:solidFill>
              <a:srgbClr val="2E7D32"/>
            </a:solidFill>
            <a:prstDash val="solid"/>
          </a:ln>
        </p:spPr>
      </p:sp>
      <p:sp>
        <p:nvSpPr>
          <p:cNvPr id="6" name="status text"/>
          <p:cNvSpPr txBox="1"/>
          <p:nvPr/>
        </p:nvSpPr>
        <p:spPr>
          <a:xfrm>
            <a:off x="731520" y="1463040"/>
            <a:ext cx="2377440" cy="411480"/>
          </a:xfrm>
          <a:prstGeom prst="rect">
            <a:avLst/>
          </a:prstGeom>
          <a:noFill/>
          <a:ln/>
        </p:spPr>
        <p:txBody>
          <a:bodyPr wrap="square" rtlCol="0" anchor="ctr"/>
          <a:lstStyle/>
          <a:p>
            <a:pPr algn="ctr" indent="0" marL="0">
              <a:buNone/>
            </a:pPr>
            <a:r>
              <a:rPr lang="en-US" sz="1400" b="1" dirty="0">
                <a:solidFill>
                  <a:srgbClr val="FFFFFF"/>
                </a:solidFill>
              </a:rPr>
              <a:t>Status: Done</a:t>
            </a:r>
            <a:endParaRPr lang="en-US" sz="1400" dirty="0"/>
          </a:p>
        </p:txBody>
      </p:sp>
      <p:sp>
        <p:nvSpPr>
          <p:cNvPr id="7" name="bullets"/>
          <p:cNvSpPr txBox="1"/>
          <p:nvPr/>
        </p:nvSpPr>
        <p:spPr>
          <a:xfrm>
            <a:off x="731520" y="2103120"/>
            <a:ext cx="6126480" cy="42976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The patient chooses the doctor, the guardians, the data modules, </a:t>
            </a:r>
            <a:r>
              <a:rPr lang="en-US" sz="1600" dirty="0">
                <a:solidFill>
                  <a:srgbClr val="FFFFFF"/>
                </a:solidFill>
              </a:rPr>
              <a:t>and</a:t>
            </a:r>
            <a:r>
              <a:rPr lang="en-US" sz="1600" dirty="0">
                <a:solidFill>
                  <a:srgbClr val="FFFFFF"/>
                </a:solidFill>
              </a:rPr>
              <a:t> the start and expiry time.</a:t>
            </a:r>
            <a:endParaRPr lang="en-US" sz="1600" dirty="0"/>
          </a:p>
          <a:p>
            <a:pPr marL="342900" indent="-342900">
              <a:spcAft>
                <a:spcPts val="1000"/>
              </a:spcAft>
              <a:buSzPct val="100000"/>
              <a:buChar char="•"/>
            </a:pPr>
            <a:r>
              <a:rPr lang="en-US" sz="1600" dirty="0">
                <a:solidFill>
                  <a:srgbClr val="FFFFFF"/>
                </a:solidFill>
              </a:rPr>
              <a:t>In this prototype the purpose is fixed to Treatment.</a:t>
            </a:r>
            <a:endParaRPr lang="en-US" sz="1600" dirty="0"/>
          </a:p>
          <a:p>
            <a:pPr marL="342900" indent="-342900">
              <a:spcAft>
                <a:spcPts val="1000"/>
              </a:spcAft>
              <a:buSzPct val="100000"/>
              <a:buChar char="•"/>
            </a:pPr>
            <a:r>
              <a:rPr lang="en-US" sz="1600" dirty="0">
                <a:solidFill>
                  <a:srgbClr val="FFFFFF"/>
                </a:solidFill>
              </a:rPr>
              <a:t>Bad input is rejected, for example an empty data scope or a malformed guardian DID.</a:t>
            </a:r>
            <a:endParaRPr lang="en-US" sz="1600" dirty="0"/>
          </a:p>
          <a:p>
            <a:pPr marL="342900" indent="-342900">
              <a:spcAft>
                <a:spcPts val="1000"/>
              </a:spcAft>
              <a:buSzPct val="100000"/>
              <a:buChar char="•"/>
            </a:pPr>
            <a:r>
              <a:rPr lang="en-US" sz="1600" dirty="0">
                <a:solidFill>
                  <a:srgbClr val="FFFFFF"/>
                </a:solidFill>
              </a:rPr>
              <a:t>The system creates the consent object, assigns a consent identifier, persists the record, and records the creation event in the audit layer.</a:t>
            </a:r>
            <a:endParaRPr lang="en-US" sz="1600" dirty="0"/>
          </a:p>
          <a:p>
            <a:pPr marL="342900" indent="-342900">
              <a:spcAft>
                <a:spcPts val="1000"/>
              </a:spcAft>
              <a:buSzPct val="100000"/>
              <a:buChar char="•"/>
            </a:pPr>
            <a:r>
              <a:rPr lang="en-US" sz="1600" dirty="0">
                <a:solidFill>
                  <a:srgbClr val="FFFFFF"/>
                </a:solidFill>
              </a:rPr>
              <a:t>Nothing goes on the blockchain until all guardians approve.</a:t>
            </a:r>
            <a:endParaRPr lang="en-US" sz="1600" dirty="0"/>
          </a:p>
        </p:txBody>
      </p:sp>
      <p:sp>
        <p:nvSpPr>
          <p:cNvPr id="8" name="F10 panel"/>
          <p:cNvSpPr/>
          <p:nvPr/>
        </p:nvSpPr>
        <p:spPr>
          <a:xfrm>
            <a:off x="7498080" y="1005840"/>
            <a:ext cx="4023360" cy="5532120"/>
          </a:xfrm>
          <a:prstGeom prst="roundRect">
            <a:avLst>
              <a:gd name="adj" fmla="val 272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10" descr="/tmp/deck/img/F10.png">    </p:cNvPr>
          <p:cNvPicPr>
            <a:picLocks noChangeAspect="1"/>
          </p:cNvPicPr>
          <p:nvPr/>
        </p:nvPicPr>
        <p:blipFill>
          <a:blip r:embed="rId1"/>
          <a:stretch>
            <a:fillRect/>
          </a:stretch>
        </p:blipFill>
        <p:spPr>
          <a:xfrm>
            <a:off x="8267612" y="1115568"/>
            <a:ext cx="2484295"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STEP 2: WHO ARE YOU, AND WHAT MAY YOU DO?</a:t>
            </a:r>
            <a:endParaRPr lang="en-US" sz="3000" dirty="0"/>
          </a:p>
        </p:txBody>
      </p:sp>
      <p:sp>
        <p:nvSpPr>
          <p:cNvPr id="4" name="objective subtitle"/>
          <p:cNvSpPr txBox="1"/>
          <p:nvPr/>
        </p:nvSpPr>
        <p:spPr>
          <a:xfrm>
            <a:off x="731520" y="960120"/>
            <a:ext cx="6400800" cy="411480"/>
          </a:xfrm>
          <a:prstGeom prst="rect">
            <a:avLst/>
          </a:prstGeom>
          <a:noFill/>
          <a:ln/>
        </p:spPr>
        <p:txBody>
          <a:bodyPr wrap="square" rtlCol="0" anchor="ctr"/>
          <a:lstStyle/>
          <a:p>
            <a:pPr indent="0" marL="0">
              <a:buNone/>
            </a:pPr>
            <a:r>
              <a:rPr lang="en-US" sz="1700" b="1" i="1" dirty="0">
                <a:solidFill>
                  <a:srgbClr val="1FB5D6"/>
                </a:solidFill>
              </a:rPr>
              <a:t>RO2: </a:t>
            </a:r>
            <a:r>
              <a:rPr lang="en-US" sz="1700" b="1" i="1" dirty="0">
                <a:solidFill>
                  <a:srgbClr val="1FB5D6"/>
                </a:solidFill>
              </a:rPr>
              <a:t>Decentralised Identity and Authority Trust</a:t>
            </a:r>
            <a:endParaRPr lang="en-US" sz="1700" dirty="0"/>
          </a:p>
        </p:txBody>
      </p:sp>
      <p:sp>
        <p:nvSpPr>
          <p:cNvPr id="5" name="status chip"/>
          <p:cNvSpPr/>
          <p:nvPr/>
        </p:nvSpPr>
        <p:spPr>
          <a:xfrm>
            <a:off x="731520" y="1463040"/>
            <a:ext cx="2377440" cy="411480"/>
          </a:xfrm>
          <a:prstGeom prst="roundRect">
            <a:avLst>
              <a:gd name="adj" fmla="val 44444"/>
            </a:avLst>
          </a:prstGeom>
          <a:solidFill>
            <a:srgbClr val="2E7D32"/>
          </a:solidFill>
          <a:ln w="12700">
            <a:solidFill>
              <a:srgbClr val="2E7D32"/>
            </a:solidFill>
            <a:prstDash val="solid"/>
          </a:ln>
        </p:spPr>
      </p:sp>
      <p:sp>
        <p:nvSpPr>
          <p:cNvPr id="6" name="status text"/>
          <p:cNvSpPr txBox="1"/>
          <p:nvPr/>
        </p:nvSpPr>
        <p:spPr>
          <a:xfrm>
            <a:off x="731520" y="1463040"/>
            <a:ext cx="2377440" cy="411480"/>
          </a:xfrm>
          <a:prstGeom prst="rect">
            <a:avLst/>
          </a:prstGeom>
          <a:noFill/>
          <a:ln/>
        </p:spPr>
        <p:txBody>
          <a:bodyPr wrap="square" rtlCol="0" anchor="ctr"/>
          <a:lstStyle/>
          <a:p>
            <a:pPr algn="ctr" indent="0" marL="0">
              <a:buNone/>
            </a:pPr>
            <a:r>
              <a:rPr lang="en-US" sz="1400" b="1" dirty="0">
                <a:solidFill>
                  <a:srgbClr val="FFFFFF"/>
                </a:solidFill>
              </a:rPr>
              <a:t>Status: Done</a:t>
            </a:r>
            <a:endParaRPr lang="en-US" sz="1400" dirty="0"/>
          </a:p>
        </p:txBody>
      </p:sp>
      <p:sp>
        <p:nvSpPr>
          <p:cNvPr id="7" name="bullets"/>
          <p:cNvSpPr txBox="1"/>
          <p:nvPr/>
        </p:nvSpPr>
        <p:spPr>
          <a:xfrm>
            <a:off x="731520" y="2103120"/>
            <a:ext cx="6126480" cy="42976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Identity is checked through the DID; authority through a verifiable credential.</a:t>
            </a:r>
            <a:endParaRPr lang="en-US" sz="1600" dirty="0"/>
          </a:p>
          <a:p>
            <a:pPr marL="342900" indent="-342900">
              <a:spcAft>
                <a:spcPts val="1000"/>
              </a:spcAft>
              <a:buSzPct val="100000"/>
              <a:buChar char="•"/>
            </a:pPr>
            <a:r>
              <a:rPr lang="en-US" sz="1600" dirty="0">
                <a:solidFill>
                  <a:srgbClr val="FFFFFF"/>
                </a:solidFill>
              </a:rPr>
              <a:t>Identity is not authority: a valid DID alone never gives access.</a:t>
            </a:r>
            <a:endParaRPr lang="en-US" sz="1600" dirty="0"/>
          </a:p>
          <a:p>
            <a:pPr marL="342900" indent="-342900">
              <a:spcAft>
                <a:spcPts val="1000"/>
              </a:spcAft>
              <a:buSzPct val="100000"/>
              <a:buChar char="•"/>
            </a:pPr>
            <a:r>
              <a:rPr lang="en-US" sz="1600" dirty="0">
                <a:solidFill>
                  <a:srgbClr val="FFFFFF"/>
                </a:solidFill>
              </a:rPr>
              <a:t>In the HALAH implementation, the Guardian workflow uses a selected guardian DID and invokes VC verification before adding the guardian's signature to the consent.</a:t>
            </a:r>
            <a:endParaRPr lang="en-US" sz="1600" dirty="0"/>
          </a:p>
          <a:p>
            <a:pPr marL="342900" indent="-342900">
              <a:spcAft>
                <a:spcPts val="1000"/>
              </a:spcAft>
              <a:buSzPct val="100000"/>
              <a:buChar char="•"/>
            </a:pPr>
            <a:r>
              <a:rPr lang="en-US" sz="1600" dirty="0">
                <a:solidFill>
                  <a:srgbClr val="FFFFFF"/>
                </a:solidFill>
              </a:rPr>
              <a:t>Full DID resolution </a:t>
            </a:r>
            <a:r>
              <a:rPr lang="en-US" sz="1600" dirty="0">
                <a:solidFill>
                  <a:srgbClr val="FFFFFF"/>
                </a:solidFill>
              </a:rPr>
              <a:t>is</a:t>
            </a:r>
            <a:r>
              <a:rPr lang="en-US" sz="1600" dirty="0">
                <a:solidFill>
                  <a:srgbClr val="FFFFFF"/>
                </a:solidFill>
              </a:rPr>
              <a:t> planned for the next stage.</a:t>
            </a:r>
            <a:endParaRPr lang="en-US" sz="1600" dirty="0"/>
          </a:p>
        </p:txBody>
      </p:sp>
      <p:sp>
        <p:nvSpPr>
          <p:cNvPr id="8" name="F12 panel"/>
          <p:cNvSpPr/>
          <p:nvPr/>
        </p:nvSpPr>
        <p:spPr>
          <a:xfrm>
            <a:off x="7498080" y="1005840"/>
            <a:ext cx="4023360" cy="5532120"/>
          </a:xfrm>
          <a:prstGeom prst="roundRect">
            <a:avLst>
              <a:gd name="adj" fmla="val 272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12" descr="/tmp/deck/img/F12.png">    </p:cNvPr>
          <p:cNvPicPr>
            <a:picLocks noChangeAspect="1"/>
          </p:cNvPicPr>
          <p:nvPr/>
        </p:nvPicPr>
        <p:blipFill>
          <a:blip r:embed="rId1"/>
          <a:stretch>
            <a:fillRect/>
          </a:stretch>
        </p:blipFill>
        <p:spPr>
          <a:xfrm>
            <a:off x="7726707" y="1115568"/>
            <a:ext cx="3566106"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STEP 3: THE GUARDIANS APPROVE TOGETHER</a:t>
            </a:r>
            <a:endParaRPr lang="en-US" sz="3000" dirty="0"/>
          </a:p>
        </p:txBody>
      </p:sp>
      <p:sp>
        <p:nvSpPr>
          <p:cNvPr id="4" name="objective subtitle"/>
          <p:cNvSpPr txBox="1"/>
          <p:nvPr/>
        </p:nvSpPr>
        <p:spPr>
          <a:xfrm>
            <a:off x="731520" y="960120"/>
            <a:ext cx="6400800" cy="411480"/>
          </a:xfrm>
          <a:prstGeom prst="rect">
            <a:avLst/>
          </a:prstGeom>
          <a:noFill/>
          <a:ln/>
        </p:spPr>
        <p:txBody>
          <a:bodyPr wrap="square" rtlCol="0" anchor="ctr"/>
          <a:lstStyle/>
          <a:p>
            <a:pPr indent="0" marL="0">
              <a:buNone/>
            </a:pPr>
            <a:r>
              <a:rPr lang="en-US" sz="1700" b="1" i="1" dirty="0">
                <a:solidFill>
                  <a:srgbClr val="1FB5D6"/>
                </a:solidFill>
              </a:rPr>
              <a:t>RO3: </a:t>
            </a:r>
            <a:r>
              <a:rPr lang="en-US" sz="1700" b="1" i="1" dirty="0">
                <a:solidFill>
                  <a:srgbClr val="1FB5D6"/>
                </a:solidFill>
              </a:rPr>
              <a:t>Trustworthy Multi-Party Authorisation</a:t>
            </a:r>
            <a:endParaRPr lang="en-US" sz="1700" dirty="0"/>
          </a:p>
        </p:txBody>
      </p:sp>
      <p:sp>
        <p:nvSpPr>
          <p:cNvPr id="5" name="status chip"/>
          <p:cNvSpPr/>
          <p:nvPr/>
        </p:nvSpPr>
        <p:spPr>
          <a:xfrm>
            <a:off x="731520" y="1463040"/>
            <a:ext cx="2377440" cy="411480"/>
          </a:xfrm>
          <a:prstGeom prst="roundRect">
            <a:avLst>
              <a:gd name="adj" fmla="val 44444"/>
            </a:avLst>
          </a:prstGeom>
          <a:solidFill>
            <a:srgbClr val="2E7D32"/>
          </a:solidFill>
          <a:ln w="12700">
            <a:solidFill>
              <a:srgbClr val="2E7D32"/>
            </a:solidFill>
            <a:prstDash val="solid"/>
          </a:ln>
        </p:spPr>
      </p:sp>
      <p:sp>
        <p:nvSpPr>
          <p:cNvPr id="6" name="status text"/>
          <p:cNvSpPr txBox="1"/>
          <p:nvPr/>
        </p:nvSpPr>
        <p:spPr>
          <a:xfrm>
            <a:off x="731520" y="1463040"/>
            <a:ext cx="2377440" cy="411480"/>
          </a:xfrm>
          <a:prstGeom prst="rect">
            <a:avLst/>
          </a:prstGeom>
          <a:noFill/>
          <a:ln/>
        </p:spPr>
        <p:txBody>
          <a:bodyPr wrap="square" rtlCol="0" anchor="ctr"/>
          <a:lstStyle/>
          <a:p>
            <a:pPr algn="ctr" indent="0" marL="0">
              <a:buNone/>
            </a:pPr>
            <a:r>
              <a:rPr lang="en-US" sz="1400" b="1" dirty="0">
                <a:solidFill>
                  <a:srgbClr val="FFFFFF"/>
                </a:solidFill>
              </a:rPr>
              <a:t>Status: Done</a:t>
            </a:r>
            <a:endParaRPr lang="en-US" sz="1400" dirty="0"/>
          </a:p>
        </p:txBody>
      </p:sp>
      <p:sp>
        <p:nvSpPr>
          <p:cNvPr id="7" name="bullets"/>
          <p:cNvSpPr txBox="1"/>
          <p:nvPr/>
        </p:nvSpPr>
        <p:spPr>
          <a:xfrm>
            <a:off x="731520" y="2103120"/>
            <a:ext cx="6126480" cy="42976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The guardian set G is fixed when the consent is created.</a:t>
            </a:r>
            <a:endParaRPr lang="en-US" sz="1600" dirty="0"/>
          </a:p>
          <a:p>
            <a:pPr marL="342900" indent="-342900">
              <a:spcAft>
                <a:spcPts val="1000"/>
              </a:spcAft>
              <a:buSzPct val="100000"/>
              <a:buChar char="•"/>
            </a:pPr>
            <a:r>
              <a:rPr lang="en-US" sz="1600" dirty="0">
                <a:solidFill>
                  <a:srgbClr val="FFFFFF"/>
                </a:solidFill>
              </a:rPr>
              <a:t>Each guardian signs an EIP-712 approval; the system recovers the signer and checks it is in G.</a:t>
            </a:r>
            <a:endParaRPr lang="en-US" sz="1600" dirty="0"/>
          </a:p>
          <a:p>
            <a:pPr marL="342900" indent="-342900">
              <a:spcAft>
                <a:spcPts val="1000"/>
              </a:spcAft>
              <a:buSzPct val="100000"/>
              <a:buChar char="•"/>
            </a:pPr>
            <a:r>
              <a:rPr lang="en-US" sz="1600" dirty="0">
                <a:solidFill>
                  <a:srgbClr val="FFFFFF"/>
                </a:solidFill>
              </a:rPr>
              <a:t>Approvals from outsiders, replays and duplicates are not counted.</a:t>
            </a:r>
            <a:endParaRPr lang="en-US" sz="1600" dirty="0"/>
          </a:p>
          <a:p>
            <a:pPr marL="342900" indent="-342900">
              <a:spcAft>
                <a:spcPts val="1000"/>
              </a:spcAft>
              <a:buSzPct val="100000"/>
              <a:buChar char="•"/>
            </a:pPr>
            <a:r>
              <a:rPr lang="en-US" sz="1600" dirty="0">
                <a:solidFill>
                  <a:srgbClr val="FFFFFF"/>
                </a:solidFill>
              </a:rPr>
              <a:t>N-of-N rule: every listed guardian must sign (2-of-2 in the demo).</a:t>
            </a:r>
            <a:endParaRPr lang="en-US" sz="1600" dirty="0"/>
          </a:p>
          <a:p>
            <a:pPr marL="342900" indent="-342900">
              <a:spcAft>
                <a:spcPts val="1000"/>
              </a:spcAft>
              <a:buSzPct val="100000"/>
              <a:buChar char="•"/>
            </a:pPr>
            <a:r>
              <a:rPr lang="en-US" sz="1600" dirty="0">
                <a:solidFill>
                  <a:srgbClr val="FFFFFF"/>
                </a:solidFill>
              </a:rPr>
              <a:t>When all have signed, a soulbound token is minted on Sepolia in the background.</a:t>
            </a:r>
            <a:endParaRPr lang="en-US" sz="1600" dirty="0"/>
          </a:p>
          <a:p>
            <a:pPr marL="342900" indent="-342900">
              <a:spcAft>
                <a:spcPts val="1000"/>
              </a:spcAft>
              <a:buSzPct val="100000"/>
              <a:buChar char="•"/>
            </a:pPr>
            <a:r>
              <a:rPr lang="en-US" sz="1600" dirty="0">
                <a:solidFill>
                  <a:srgbClr val="FFFFFF"/>
                </a:solidFill>
              </a:rPr>
              <a:t>In the prototype the guardian keys are derived from the guardian DIDs; wallet-held keys are for the next stage.</a:t>
            </a:r>
            <a:endParaRPr lang="en-US" sz="1600" dirty="0"/>
          </a:p>
        </p:txBody>
      </p:sp>
      <p:sp>
        <p:nvSpPr>
          <p:cNvPr id="8" name="F13 panel"/>
          <p:cNvSpPr/>
          <p:nvPr/>
        </p:nvSpPr>
        <p:spPr>
          <a:xfrm>
            <a:off x="7498080" y="1005840"/>
            <a:ext cx="4023360" cy="5532120"/>
          </a:xfrm>
          <a:prstGeom prst="roundRect">
            <a:avLst>
              <a:gd name="adj" fmla="val 272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13" descr="/tmp/deck/img/F13.png">    </p:cNvPr>
          <p:cNvPicPr>
            <a:picLocks noChangeAspect="1"/>
          </p:cNvPicPr>
          <p:nvPr/>
        </p:nvPicPr>
        <p:blipFill>
          <a:blip r:embed="rId1"/>
          <a:stretch>
            <a:fillRect/>
          </a:stretch>
        </p:blipFill>
        <p:spPr>
          <a:xfrm>
            <a:off x="7789891" y="1115568"/>
            <a:ext cx="3439738"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STEP 4: ONLY THE AGREED DATA AND PURPOSE</a:t>
            </a:r>
            <a:endParaRPr lang="en-US" sz="3000" dirty="0"/>
          </a:p>
        </p:txBody>
      </p:sp>
      <p:sp>
        <p:nvSpPr>
          <p:cNvPr id="4" name="objective subtitle"/>
          <p:cNvSpPr txBox="1"/>
          <p:nvPr/>
        </p:nvSpPr>
        <p:spPr>
          <a:xfrm>
            <a:off x="731520" y="960120"/>
            <a:ext cx="6400800" cy="411480"/>
          </a:xfrm>
          <a:prstGeom prst="rect">
            <a:avLst/>
          </a:prstGeom>
          <a:noFill/>
          <a:ln/>
        </p:spPr>
        <p:txBody>
          <a:bodyPr wrap="square" rtlCol="0" anchor="ctr"/>
          <a:lstStyle/>
          <a:p>
            <a:pPr indent="0" marL="0">
              <a:buNone/>
            </a:pPr>
            <a:r>
              <a:rPr lang="en-US" sz="1700" b="1" i="1" dirty="0">
                <a:solidFill>
                  <a:srgbClr val="1FB5D6"/>
                </a:solidFill>
              </a:rPr>
              <a:t>RO4: </a:t>
            </a:r>
            <a:r>
              <a:rPr lang="en-US" sz="1700" b="1" i="1" dirty="0">
                <a:solidFill>
                  <a:srgbClr val="1FB5D6"/>
                </a:solidFill>
              </a:rPr>
              <a:t>Policy- and Context-Aware Access Control</a:t>
            </a:r>
            <a:endParaRPr lang="en-US" sz="1700" dirty="0"/>
          </a:p>
        </p:txBody>
      </p:sp>
      <p:sp>
        <p:nvSpPr>
          <p:cNvPr id="5" name="status chip"/>
          <p:cNvSpPr/>
          <p:nvPr/>
        </p:nvSpPr>
        <p:spPr>
          <a:xfrm>
            <a:off x="731520" y="1463040"/>
            <a:ext cx="2377440" cy="411480"/>
          </a:xfrm>
          <a:prstGeom prst="roundRect">
            <a:avLst>
              <a:gd name="adj" fmla="val 44444"/>
            </a:avLst>
          </a:prstGeom>
          <a:solidFill>
            <a:srgbClr val="2E7D32"/>
          </a:solidFill>
          <a:ln w="12700">
            <a:solidFill>
              <a:srgbClr val="2E7D32"/>
            </a:solidFill>
            <a:prstDash val="solid"/>
          </a:ln>
        </p:spPr>
      </p:sp>
      <p:sp>
        <p:nvSpPr>
          <p:cNvPr id="6" name="status text"/>
          <p:cNvSpPr txBox="1"/>
          <p:nvPr/>
        </p:nvSpPr>
        <p:spPr>
          <a:xfrm>
            <a:off x="731520" y="1463040"/>
            <a:ext cx="2377440" cy="411480"/>
          </a:xfrm>
          <a:prstGeom prst="rect">
            <a:avLst/>
          </a:prstGeom>
          <a:noFill/>
          <a:ln/>
        </p:spPr>
        <p:txBody>
          <a:bodyPr wrap="square" rtlCol="0" anchor="ctr"/>
          <a:lstStyle/>
          <a:p>
            <a:pPr algn="ctr" indent="0" marL="0">
              <a:buNone/>
            </a:pPr>
            <a:r>
              <a:rPr lang="en-US" sz="1400" b="1" dirty="0">
                <a:solidFill>
                  <a:srgbClr val="FFFFFF"/>
                </a:solidFill>
              </a:rPr>
              <a:t>Status: Done</a:t>
            </a:r>
            <a:endParaRPr lang="en-US" sz="1400" dirty="0"/>
          </a:p>
        </p:txBody>
      </p:sp>
      <p:sp>
        <p:nvSpPr>
          <p:cNvPr id="7" name="bullets"/>
          <p:cNvSpPr txBox="1"/>
          <p:nvPr/>
        </p:nvSpPr>
        <p:spPr>
          <a:xfrm>
            <a:off x="731520" y="2103120"/>
            <a:ext cx="6126480" cy="42976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The requested data must be a non-empty subset of the agreed data scope.</a:t>
            </a:r>
            <a:endParaRPr lang="en-US" sz="1600" dirty="0"/>
          </a:p>
          <a:p>
            <a:pPr marL="342900" indent="-342900">
              <a:spcAft>
                <a:spcPts val="1000"/>
              </a:spcAft>
              <a:buSzPct val="100000"/>
              <a:buChar char="•"/>
            </a:pPr>
            <a:r>
              <a:rPr lang="en-US" sz="1600" dirty="0">
                <a:solidFill>
                  <a:srgbClr val="FFFFFF"/>
                </a:solidFill>
              </a:rPr>
              <a:t>The purpose must be a supported purpose of the consent.</a:t>
            </a:r>
            <a:endParaRPr lang="en-US" sz="1600" dirty="0"/>
          </a:p>
          <a:p>
            <a:pPr marL="342900" indent="-342900">
              <a:spcAft>
                <a:spcPts val="1000"/>
              </a:spcAft>
              <a:buSzPct val="100000"/>
              <a:buChar char="•"/>
            </a:pPr>
            <a:r>
              <a:rPr lang="en-US" sz="1600" dirty="0">
                <a:solidFill>
                  <a:srgbClr val="FFFFFF"/>
                </a:solidFill>
              </a:rPr>
              <a:t>Time and </a:t>
            </a:r>
            <a:r>
              <a:rPr lang="en-US" sz="1600" dirty="0">
                <a:solidFill>
                  <a:srgbClr val="FFFFFF"/>
                </a:solidFill>
              </a:rPr>
              <a:t>the lifecycle state</a:t>
            </a:r>
            <a:r>
              <a:rPr lang="en-US" sz="1600" dirty="0">
                <a:solidFill>
                  <a:srgbClr val="FFFFFF"/>
                </a:solidFill>
              </a:rPr>
              <a:t> are checked in the same decision.</a:t>
            </a:r>
            <a:endParaRPr lang="en-US" sz="1600" dirty="0"/>
          </a:p>
          <a:p>
            <a:pPr marL="342900" indent="-342900">
              <a:spcAft>
                <a:spcPts val="1000"/>
              </a:spcAft>
              <a:buSzPct val="100000"/>
              <a:buChar char="•"/>
            </a:pPr>
            <a:r>
              <a:rPr lang="en-US" sz="1600" dirty="0">
                <a:solidFill>
                  <a:srgbClr val="FFFFFF"/>
                </a:solidFill>
              </a:rPr>
              <a:t>A Groth16 proof must verify before any data is retrieved.</a:t>
            </a:r>
            <a:endParaRPr lang="en-US" sz="1600" dirty="0"/>
          </a:p>
          <a:p>
            <a:pPr marL="342900" indent="-342900">
              <a:spcAft>
                <a:spcPts val="1000"/>
              </a:spcAft>
              <a:buSzPct val="100000"/>
              <a:buChar char="•"/>
            </a:pPr>
            <a:r>
              <a:rPr lang="en-US" sz="1600" dirty="0">
                <a:solidFill>
                  <a:srgbClr val="FFFFFF"/>
                </a:solidFill>
              </a:rPr>
              <a:t>Example: asking for Procedure when only Observation and Medication were agreed gives DENY.</a:t>
            </a:r>
            <a:endParaRPr lang="en-US" sz="1600" dirty="0"/>
          </a:p>
        </p:txBody>
      </p:sp>
      <p:sp>
        <p:nvSpPr>
          <p:cNvPr id="8" name="F14 panel"/>
          <p:cNvSpPr/>
          <p:nvPr/>
        </p:nvSpPr>
        <p:spPr>
          <a:xfrm>
            <a:off x="7498080" y="1005840"/>
            <a:ext cx="4023360" cy="5532120"/>
          </a:xfrm>
          <a:prstGeom prst="roundRect">
            <a:avLst>
              <a:gd name="adj" fmla="val 272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14" descr="/tmp/deck/img/F14.png">    </p:cNvPr>
          <p:cNvPicPr>
            <a:picLocks noChangeAspect="1"/>
          </p:cNvPicPr>
          <p:nvPr/>
        </p:nvPicPr>
        <p:blipFill>
          <a:blip r:embed="rId1"/>
          <a:stretch>
            <a:fillRect/>
          </a:stretch>
        </p:blipFill>
        <p:spPr>
          <a:xfrm>
            <a:off x="8427609" y="1115568"/>
            <a:ext cx="2164301"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STEP 5: TIME AND LIFECYCLE</a:t>
            </a:r>
            <a:endParaRPr lang="en-US" sz="3000" dirty="0"/>
          </a:p>
        </p:txBody>
      </p:sp>
      <p:sp>
        <p:nvSpPr>
          <p:cNvPr id="4" name="objective subtitle"/>
          <p:cNvSpPr txBox="1"/>
          <p:nvPr/>
        </p:nvSpPr>
        <p:spPr>
          <a:xfrm>
            <a:off x="731520" y="960120"/>
            <a:ext cx="6400800" cy="411480"/>
          </a:xfrm>
          <a:prstGeom prst="rect">
            <a:avLst/>
          </a:prstGeom>
          <a:noFill/>
          <a:ln/>
        </p:spPr>
        <p:txBody>
          <a:bodyPr wrap="square" rtlCol="0" anchor="ctr"/>
          <a:lstStyle/>
          <a:p>
            <a:pPr indent="0" marL="0">
              <a:buNone/>
            </a:pPr>
            <a:r>
              <a:rPr lang="en-US" sz="1700" b="1" i="1" dirty="0">
                <a:solidFill>
                  <a:srgbClr val="1FB5D6"/>
                </a:solidFill>
              </a:rPr>
              <a:t>RO5: </a:t>
            </a:r>
            <a:r>
              <a:rPr lang="en-US" sz="1700" b="1" i="1" dirty="0">
                <a:solidFill>
                  <a:srgbClr val="1FB5D6"/>
                </a:solidFill>
              </a:rPr>
              <a:t>Temporal and Lifecycle Trust</a:t>
            </a:r>
            <a:endParaRPr lang="en-US" sz="1700" dirty="0"/>
          </a:p>
        </p:txBody>
      </p:sp>
      <p:sp>
        <p:nvSpPr>
          <p:cNvPr id="5" name="status chip"/>
          <p:cNvSpPr/>
          <p:nvPr/>
        </p:nvSpPr>
        <p:spPr>
          <a:xfrm>
            <a:off x="731520" y="1463040"/>
            <a:ext cx="2377440" cy="411480"/>
          </a:xfrm>
          <a:prstGeom prst="roundRect">
            <a:avLst>
              <a:gd name="adj" fmla="val 44444"/>
            </a:avLst>
          </a:prstGeom>
          <a:solidFill>
            <a:srgbClr val="B7791F"/>
          </a:solidFill>
          <a:ln w="12700">
            <a:solidFill>
              <a:srgbClr val="B7791F"/>
            </a:solidFill>
            <a:prstDash val="solid"/>
          </a:ln>
        </p:spPr>
      </p:sp>
      <p:sp>
        <p:nvSpPr>
          <p:cNvPr id="6" name="status text"/>
          <p:cNvSpPr txBox="1"/>
          <p:nvPr/>
        </p:nvSpPr>
        <p:spPr>
          <a:xfrm>
            <a:off x="731520" y="1463040"/>
            <a:ext cx="2377440" cy="411480"/>
          </a:xfrm>
          <a:prstGeom prst="rect">
            <a:avLst/>
          </a:prstGeom>
          <a:noFill/>
          <a:ln/>
        </p:spPr>
        <p:txBody>
          <a:bodyPr wrap="square" rtlCol="0" anchor="ctr"/>
          <a:lstStyle/>
          <a:p>
            <a:pPr algn="ctr" indent="0" marL="0">
              <a:buNone/>
            </a:pPr>
            <a:r>
              <a:rPr lang="en-US" sz="1400" b="1" dirty="0">
                <a:solidFill>
                  <a:srgbClr val="FFFFFF"/>
                </a:solidFill>
              </a:rPr>
              <a:t>Status: In Progress</a:t>
            </a:r>
            <a:endParaRPr lang="en-US" sz="1400" dirty="0"/>
          </a:p>
        </p:txBody>
      </p:sp>
      <p:sp>
        <p:nvSpPr>
          <p:cNvPr id="7" name="bullets"/>
          <p:cNvSpPr txBox="1"/>
          <p:nvPr/>
        </p:nvSpPr>
        <p:spPr>
          <a:xfrm>
            <a:off x="731520" y="2103120"/>
            <a:ext cx="6126480" cy="42976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Working now: the validity window is stored on-chain and checked at every request.</a:t>
            </a:r>
            <a:endParaRPr lang="en-US" sz="1600" dirty="0"/>
          </a:p>
          <a:p>
            <a:pPr marL="342900" indent="-342900">
              <a:spcAft>
                <a:spcPts val="1000"/>
              </a:spcAft>
              <a:buSzPct val="100000"/>
              <a:buChar char="•"/>
            </a:pPr>
            <a:r>
              <a:rPr lang="en-US" sz="1600" dirty="0">
                <a:solidFill>
                  <a:srgbClr val="FFFFFF"/>
                </a:solidFill>
              </a:rPr>
              <a:t>Working now: revocation end to end, including an on-chain revoke transaction.</a:t>
            </a:r>
            <a:endParaRPr lang="en-US" sz="1600" dirty="0"/>
          </a:p>
          <a:p>
            <a:pPr marL="342900" indent="-342900">
              <a:spcAft>
                <a:spcPts val="1000"/>
              </a:spcAft>
              <a:buSzPct val="100000"/>
              <a:buChar char="•"/>
            </a:pPr>
            <a:r>
              <a:rPr lang="en-US" sz="1600" dirty="0">
                <a:solidFill>
                  <a:srgbClr val="FFFFFF"/>
                </a:solidFill>
              </a:rPr>
              <a:t>Design: L is the lifecycle state (CREATED, PENDING, ACTIVE, SUSPENDED, REVOKED, EXPIRED), checked by VL(C) = ValidState(C) ∧ ValidTransition(C).</a:t>
            </a:r>
            <a:endParaRPr lang="en-US" sz="1600" dirty="0"/>
          </a:p>
          <a:p>
            <a:pPr marL="342900" indent="-342900">
              <a:spcAft>
                <a:spcPts val="1000"/>
              </a:spcAft>
              <a:buSzPct val="100000"/>
              <a:buChar char="•"/>
            </a:pPr>
            <a:r>
              <a:rPr lang="en-US" sz="1600" dirty="0">
                <a:solidFill>
                  <a:srgbClr val="FFFFFF"/>
                </a:solidFill>
              </a:rPr>
              <a:t>Working now: a clear lifecycle: PENDING_SIGNATURE, PENDING_TOKEN, NOT_STARTED, ACTIVE, EXPIRED, REVOKED.</a:t>
            </a:r>
            <a:endParaRPr lang="en-US" sz="1600" dirty="0"/>
          </a:p>
          <a:p>
            <a:pPr marL="342900" indent="-342900">
              <a:spcAft>
                <a:spcPts val="1000"/>
              </a:spcAft>
              <a:buSzPct val="100000"/>
              <a:buChar char="•"/>
            </a:pPr>
            <a:r>
              <a:rPr lang="en-US" sz="1600" dirty="0">
                <a:solidFill>
                  <a:srgbClr val="FFFFFF"/>
                </a:solidFill>
              </a:rPr>
              <a:t>Next stage: </a:t>
            </a:r>
            <a:r>
              <a:rPr lang="en-US" sz="1600" dirty="0">
                <a:solidFill>
                  <a:srgbClr val="FFFFFF"/>
                </a:solidFill>
              </a:rPr>
              <a:t>the SUSPENDED state,</a:t>
            </a:r>
            <a:r>
              <a:rPr lang="en-US" sz="1600" dirty="0">
                <a:solidFill>
                  <a:srgbClr val="FFFFFF"/>
                </a:solidFill>
              </a:rPr>
              <a:t> the lifecycle transition check, consent modification, delegation, guardian-set changes and a formal lifecycle model.</a:t>
            </a:r>
            <a:endParaRPr lang="en-US" sz="1600" dirty="0"/>
          </a:p>
        </p:txBody>
      </p:sp>
      <p:sp>
        <p:nvSpPr>
          <p:cNvPr id="8" name="F35 panel"/>
          <p:cNvSpPr/>
          <p:nvPr/>
        </p:nvSpPr>
        <p:spPr>
          <a:xfrm>
            <a:off x="7498080" y="1005840"/>
            <a:ext cx="4023360" cy="5532120"/>
          </a:xfrm>
          <a:prstGeom prst="roundRect">
            <a:avLst>
              <a:gd name="adj" fmla="val 272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35" descr="/tmp/deck/img/F35.png">    </p:cNvPr>
          <p:cNvPicPr>
            <a:picLocks noChangeAspect="1"/>
          </p:cNvPicPr>
          <p:nvPr/>
        </p:nvPicPr>
        <p:blipFill>
          <a:blip r:embed="rId1"/>
          <a:stretch>
            <a:fillRect/>
          </a:stretch>
        </p:blipFill>
        <p:spPr>
          <a:xfrm>
            <a:off x="8070147" y="1115568"/>
            <a:ext cx="2879227"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STEP 6: PROVE IT AND TEST IT</a:t>
            </a:r>
            <a:endParaRPr lang="en-US" sz="3000" dirty="0"/>
          </a:p>
        </p:txBody>
      </p:sp>
      <p:sp>
        <p:nvSpPr>
          <p:cNvPr id="4" name="objective subtitle"/>
          <p:cNvSpPr txBox="1"/>
          <p:nvPr/>
        </p:nvSpPr>
        <p:spPr>
          <a:xfrm>
            <a:off x="731520" y="960120"/>
            <a:ext cx="6400800" cy="411480"/>
          </a:xfrm>
          <a:prstGeom prst="rect">
            <a:avLst/>
          </a:prstGeom>
          <a:noFill/>
          <a:ln/>
        </p:spPr>
        <p:txBody>
          <a:bodyPr wrap="square" rtlCol="0" anchor="ctr"/>
          <a:lstStyle/>
          <a:p>
            <a:pPr indent="0" marL="0">
              <a:buNone/>
            </a:pPr>
            <a:r>
              <a:rPr lang="en-US" sz="1700" b="1" i="1" dirty="0">
                <a:solidFill>
                  <a:srgbClr val="1FB5D6"/>
                </a:solidFill>
              </a:rPr>
              <a:t>RO6: </a:t>
            </a:r>
            <a:r>
              <a:rPr lang="en-US" sz="1700" b="1" i="1" dirty="0">
                <a:solidFill>
                  <a:srgbClr val="1FB5D6"/>
                </a:solidFill>
              </a:rPr>
              <a:t>Formal Security Assurance and Empirical Validation</a:t>
            </a:r>
            <a:endParaRPr lang="en-US" sz="1700" dirty="0"/>
          </a:p>
        </p:txBody>
      </p:sp>
      <p:sp>
        <p:nvSpPr>
          <p:cNvPr id="5" name="status chip"/>
          <p:cNvSpPr/>
          <p:nvPr/>
        </p:nvSpPr>
        <p:spPr>
          <a:xfrm>
            <a:off x="731520" y="1463040"/>
            <a:ext cx="3200400" cy="411480"/>
          </a:xfrm>
          <a:prstGeom prst="roundRect">
            <a:avLst>
              <a:gd name="adj" fmla="val 44444"/>
            </a:avLst>
          </a:prstGeom>
          <a:solidFill>
            <a:srgbClr val="6D5BA8"/>
          </a:solidFill>
          <a:ln w="12700">
            <a:solidFill>
              <a:srgbClr val="6D5BA8"/>
            </a:solidFill>
            <a:prstDash val="solid"/>
          </a:ln>
        </p:spPr>
      </p:sp>
      <p:sp>
        <p:nvSpPr>
          <p:cNvPr id="6" name="status text"/>
          <p:cNvSpPr txBox="1"/>
          <p:nvPr/>
        </p:nvSpPr>
        <p:spPr>
          <a:xfrm>
            <a:off x="731520" y="1463040"/>
            <a:ext cx="3200400" cy="411480"/>
          </a:xfrm>
          <a:prstGeom prst="rect">
            <a:avLst/>
          </a:prstGeom>
          <a:noFill/>
          <a:ln/>
        </p:spPr>
        <p:txBody>
          <a:bodyPr wrap="square" rtlCol="0" anchor="ctr"/>
          <a:lstStyle/>
          <a:p>
            <a:pPr algn="ctr" indent="0" marL="0">
              <a:buNone/>
            </a:pPr>
            <a:r>
              <a:rPr lang="en-US" sz="1400" b="1" dirty="0">
                <a:solidFill>
                  <a:srgbClr val="FFFFFF"/>
                </a:solidFill>
              </a:rPr>
              <a:t>Status: Partially completed</a:t>
            </a:r>
            <a:endParaRPr lang="en-US" sz="1400" dirty="0"/>
          </a:p>
        </p:txBody>
      </p:sp>
      <p:sp>
        <p:nvSpPr>
          <p:cNvPr id="7" name="bullets"/>
          <p:cNvSpPr txBox="1"/>
          <p:nvPr/>
        </p:nvSpPr>
        <p:spPr>
          <a:xfrm>
            <a:off x="731520" y="2103120"/>
            <a:ext cx="6126480" cy="42976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Done: 36 automated tests pass, including 12 attack scenarios A1 to A12.</a:t>
            </a:r>
            <a:endParaRPr lang="en-US" sz="1600" dirty="0"/>
          </a:p>
          <a:p>
            <a:pPr marL="342900" indent="-342900">
              <a:spcAft>
                <a:spcPts val="1000"/>
              </a:spcAft>
              <a:buSzPct val="100000"/>
              <a:buChar char="•"/>
            </a:pPr>
            <a:r>
              <a:rPr lang="en-US" sz="1600" dirty="0">
                <a:solidFill>
                  <a:srgbClr val="FFFFFF"/>
                </a:solidFill>
              </a:rPr>
              <a:t>Done: gas, confirmation latency and processing time measured.</a:t>
            </a:r>
            <a:endParaRPr lang="en-US" sz="1600" dirty="0"/>
          </a:p>
          <a:p>
            <a:pPr marL="342900" indent="-342900">
              <a:spcAft>
                <a:spcPts val="1000"/>
              </a:spcAft>
              <a:buSzPct val="100000"/>
              <a:buChar char="•"/>
            </a:pPr>
            <a:r>
              <a:rPr lang="en-US" sz="1600" dirty="0">
                <a:solidFill>
                  <a:srgbClr val="FFFFFF"/>
                </a:solidFill>
              </a:rPr>
              <a:t>Next stage: formal proofs or model checking of the security properties, and a larger evaluation under load.</a:t>
            </a:r>
            <a:endParaRPr lang="en-US" sz="1600" dirty="0"/>
          </a:p>
        </p:txBody>
      </p:sp>
      <p:sp>
        <p:nvSpPr>
          <p:cNvPr id="8" name="F16 panel"/>
          <p:cNvSpPr/>
          <p:nvPr/>
        </p:nvSpPr>
        <p:spPr>
          <a:xfrm>
            <a:off x="7498080" y="1005840"/>
            <a:ext cx="4023360" cy="5532120"/>
          </a:xfrm>
          <a:prstGeom prst="roundRect">
            <a:avLst>
              <a:gd name="adj" fmla="val 272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16" descr="/tmp/deck/img/F16.png">    </p:cNvPr>
          <p:cNvPicPr>
            <a:picLocks noChangeAspect="1"/>
          </p:cNvPicPr>
          <p:nvPr/>
        </p:nvPicPr>
        <p:blipFill>
          <a:blip r:embed="rId1"/>
          <a:stretch>
            <a:fillRect/>
          </a:stretch>
        </p:blipFill>
        <p:spPr>
          <a:xfrm>
            <a:off x="7607808" y="1919790"/>
            <a:ext cx="3803904" cy="3704221"/>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VALIDATION: DOES IT DO WHAT IT SHOULD?</a:t>
            </a:r>
            <a:endParaRPr lang="en-US" sz="30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640080" y="1188720"/>
          <a:ext cx="10881360" cy="914400"/>
        </p:xfrm>
        <a:graphic>
          <a:graphicData uri="http://schemas.openxmlformats.org/drawingml/2006/table">
            <a:tbl>
              <a:tblPr/>
              <a:tblGrid>
                <a:gridCol w="2103120"/>
                <a:gridCol w="3108960"/>
                <a:gridCol w="2560320"/>
                <a:gridCol w="3108960"/>
              </a:tblGrid>
              <a:tr h="502920">
                <a:tc>
                  <a:txBody>
                    <a:bodyPr/>
                    <a:lstStyle/>
                    <a:p>
                      <a:pPr indent="0" marL="0">
                        <a:buNone/>
                      </a:pPr>
                      <a:r>
                        <a:rPr lang="en-US" sz="1400" b="1" dirty="0">
                          <a:solidFill>
                            <a:srgbClr val="FFFFFF"/>
                          </a:solidFill>
                        </a:rPr>
                        <a:t>Evidence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What it checks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Pass rule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Result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868680">
                <a:tc>
                  <a:txBody>
                    <a:bodyPr/>
                    <a:lstStyle/>
                    <a:p>
                      <a:pPr indent="0" marL="0">
                        <a:buNone/>
                      </a:pPr>
                      <a:r>
                        <a:rPr lang="en-US" sz="1400" b="1" dirty="0">
                          <a:solidFill>
                            <a:srgbClr val="0B1F33"/>
                          </a:solidFill>
                        </a:rPr>
                        <a:t>Valid scenarios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Legitimate requests get access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Observed = expected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Scenarios 1 to 3: consent created, 2-of-2 approval, 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0B1F33"/>
                          </a:solidFill>
                        </a:rPr>
                        <a:t>Negative scenarios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Wrong requests are refused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Any failed check gives DENY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Scenario 5: revoked consent refused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0B1F33"/>
                          </a:solidFill>
                        </a:rPr>
                        <a:t>Attack scenarios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Deliberate attempts to bypass a check, A1 to A12</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Every attack is refused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11 of 12 refused after the hardening (A11: the changed digest is not yet compared)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0B1F33"/>
                          </a:solidFill>
                        </a:rPr>
                        <a:t>Automated tests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23 functional tests and 13 adversarial tests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All 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36 of 36 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0B1F33"/>
                          </a:solidFill>
                        </a:rPr>
                        <a:t>Independent check</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On-chain receipts against the local consent state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Local state = on-chain state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Scenario 6: all checks passed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VALIDATION: THE RECORDED DECISIONS</a:t>
            </a:r>
            <a:endParaRPr lang="en-US" sz="3000" dirty="0"/>
          </a:p>
        </p:txBody>
      </p:sp>
      <p:graphicFrame>
        <p:nvGraphicFramePr>
          <p:cNvPr id="21" name="ledger table"/>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1280160"/>
                <a:gridCol w="2286000"/>
                <a:gridCol w="777240"/>
                <a:gridCol w="777240"/>
                <a:gridCol w="777240"/>
                <a:gridCol w="777240"/>
                <a:gridCol w="777240"/>
                <a:gridCol w="1097280"/>
                <a:gridCol w="1188720"/>
                <a:gridCol w="1325880"/>
              </a:tblGrid>
              <a:tr h="502920">
                <a:tc>
                  <a:txBody>
                    <a:bodyPr/>
                    <a:lstStyle/>
                    <a:p>
                      <a:pPr algn="ctr" indent="0" marL="0">
                        <a:buNone/>
                      </a:pPr>
                      <a:r>
                        <a:rPr lang="en-US" sz="1300" b="1" dirty="0">
                          <a:solidFill>
                            <a:srgbClr val="FFFFFF"/>
                          </a:solidFill>
                        </a:rPr>
                        <a:t>Time (24 Sep)</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ctr" indent="0" marL="0">
                        <a:buNone/>
                      </a:pPr>
                      <a:r>
                        <a:rPr lang="en-US" sz="1300" b="1" dirty="0">
                          <a:solidFill>
                            <a:srgbClr val="FFFFFF"/>
                          </a:solidFill>
                        </a:rPr>
                        <a:t>Consent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ctr" indent="0" marL="0">
                        <a:buNone/>
                      </a:pPr>
                      <a:r>
                        <a:rPr lang="en-US" sz="1300" b="1" dirty="0">
                          <a:solidFill>
                            <a:srgbClr val="FFFFFF"/>
                          </a:solidFill>
                        </a:rPr>
                        <a:t>VI</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ctr" indent="0" marL="0">
                        <a:buNone/>
                      </a:pPr>
                      <a:r>
                        <a:rPr lang="en-US" sz="1300" b="1" dirty="0">
                          <a:solidFill>
                            <a:srgbClr val="FFFFFF"/>
                          </a:solidFill>
                        </a:rPr>
                        <a:t>VA</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ctr" indent="0" marL="0">
                        <a:buNone/>
                      </a:pPr>
                      <a:r>
                        <a:rPr lang="en-US" sz="1300" b="1" dirty="0">
                          <a:solidFill>
                            <a:srgbClr val="FFFFFF"/>
                          </a:solidFill>
                        </a:rPr>
                        <a:t>VP</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ctr" indent="0" marL="0">
                        <a:buNone/>
                      </a:pPr>
                      <a:r>
                        <a:rPr lang="en-US" sz="1300" b="1" dirty="0">
                          <a:solidFill>
                            <a:srgbClr val="FFFFFF"/>
                          </a:solidFill>
                        </a:rPr>
                        <a:t>VT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ctr" indent="0" marL="0">
                        <a:buNone/>
                      </a:pPr>
                      <a:r>
                        <a:rPr lang="en-US" sz="1300" b="1" dirty="0">
                          <a:solidFill>
                            <a:srgbClr val="FFFFFF"/>
                          </a:solidFill>
                        </a:rPr>
                        <a:t>VL</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ctr" indent="0" marL="0">
                        <a:buNone/>
                      </a:pPr>
                      <a:r>
                        <a:rPr lang="en-US" sz="1300" b="1" dirty="0">
                          <a:solidFill>
                            <a:srgbClr val="FFFFFF"/>
                          </a:solidFill>
                        </a:rPr>
                        <a:t>Decision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ctr" indent="0" marL="0">
                        <a:buNone/>
                      </a:pPr>
                      <a:r>
                        <a:rPr lang="en-US" sz="1300" b="1" dirty="0">
                          <a:solidFill>
                            <a:srgbClr val="FFFFFF"/>
                          </a:solidFill>
                        </a:rPr>
                        <a:t>Access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algn="ctr" indent="0" marL="0">
                        <a:buNone/>
                      </a:pPr>
                      <a:r>
                        <a:rPr lang="en-US" sz="1300" b="1" dirty="0">
                          <a:solidFill>
                            <a:srgbClr val="FFFFFF"/>
                          </a:solidFill>
                        </a:rPr>
                        <a:t>Proof</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502920">
                <a:tc>
                  <a:txBody>
                    <a:bodyPr/>
                    <a:lstStyle/>
                    <a:p>
                      <a:pPr indent="0" marL="0">
                        <a:buNone/>
                      </a:pPr>
                      <a:r>
                        <a:rPr lang="en-US" sz="1300" b="1" dirty="0">
                          <a:solidFill>
                            <a:srgbClr val="0B1F33"/>
                          </a:solidFill>
                        </a:rPr>
                        <a:t>09:51:36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f050c29a</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ALLOW</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GRANTED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groth16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0B1F33"/>
                          </a:solidFill>
                        </a:rPr>
                        <a:t>09:51:39</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f050c29a</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ALLOW</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GRANTED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groth16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0B1F33"/>
                          </a:solidFill>
                        </a:rPr>
                        <a:t>11:02:52</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04da25f5</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ALLOW</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GRANTED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groth16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0B1F33"/>
                          </a:solidFill>
                        </a:rPr>
                        <a:t>11:04:16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04da25f5</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ALLOW</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GRANTED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groth16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0B1F33"/>
                          </a:solidFill>
                        </a:rPr>
                        <a:t>11:04:26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04da25f5</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ALLOW</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rPr>
                        <a:t>GRANTED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groth16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5" name="bullets"/>
          <p:cNvSpPr txBox="1"/>
          <p:nvPr/>
        </p:nvSpPr>
        <p:spPr>
          <a:xfrm>
            <a:off x="640080" y="4892040"/>
            <a:ext cx="10881360" cy="1554480"/>
          </a:xfrm>
          <a:prstGeom prst="rect">
            <a:avLst/>
          </a:prstGeom>
          <a:noFill/>
          <a:ln/>
        </p:spPr>
        <p:txBody>
          <a:bodyPr wrap="square" rtlCol="0" anchor="t"/>
          <a:lstStyle/>
          <a:p>
            <a:pPr marL="342900" indent="-342900">
              <a:spcAft>
                <a:spcPts val="1000"/>
              </a:spcAft>
              <a:buSzPct val="100000"/>
              <a:buChar char="•"/>
            </a:pPr>
            <a:r>
              <a:rPr lang="en-US" sz="1400" dirty="0">
                <a:solidFill>
                  <a:srgbClr val="FFFFFF"/>
                </a:solidFill>
              </a:rPr>
              <a:t>Allowed requests: all five checks PASS, decision ALLOW, access GRANTED, proof mode Groth16 (Scenario 3).</a:t>
            </a:r>
            <a:endParaRPr lang="en-US" sz="1400" dirty="0"/>
          </a:p>
          <a:p>
            <a:pPr marL="342900" indent="-342900">
              <a:spcAft>
                <a:spcPts val="1000"/>
              </a:spcAft>
              <a:buSzPct val="100000"/>
              <a:buChar char="•"/>
            </a:pPr>
            <a:r>
              <a:rPr lang="en-US" sz="1400" dirty="0">
                <a:solidFill>
                  <a:srgbClr val="FFFFFF"/>
                </a:solidFill>
              </a:rPr>
              <a:t>After revocation (Scenario 5) the request is refused before any decision is logged (n/l = not logged); the revocation is public on Sepolia, block 11,771,307.</a:t>
            </a:r>
            <a:endParaRPr lang="en-US" sz="14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VALIDATION: TWELVE ATTACK SCENARIOS</a:t>
            </a:r>
            <a:endParaRPr lang="en-US" sz="3000" dirty="0"/>
          </a:p>
        </p:txBody>
      </p:sp>
      <p:graphicFrame>
        <p:nvGraphicFramePr>
          <p:cNvPr id="22" name="attack table"/>
          <p:cNvGraphicFramePr>
            <a:graphicFrameLocks noGrp="1"/>
          </p:cNvGraphicFramePr>
          <p:nvPr>
            <p:extLst>
              <p:ext uri="{D42A27DB-BD31-4B8C-83A1-F6EECF244321}">
                <p14:modId xmlns:p14="http://schemas.microsoft.com/office/powerpoint/2010/main" val="1579011935"/>
              </p:ext>
            </p:extLst>
          </p:nvPr>
        </p:nvGraphicFramePr>
        <p:xfrm>
          <a:off x="548640" y="1097280"/>
          <a:ext cx="7315200" cy="914400"/>
        </p:xfrm>
        <a:graphic>
          <a:graphicData uri="http://schemas.openxmlformats.org/drawingml/2006/table">
            <a:tbl>
              <a:tblPr/>
              <a:tblGrid>
                <a:gridCol w="548640"/>
                <a:gridCol w="3931920"/>
                <a:gridCol w="822960"/>
                <a:gridCol w="1005840"/>
                <a:gridCol w="1005840"/>
              </a:tblGrid>
              <a:tr h="365760">
                <a:tc>
                  <a:txBody>
                    <a:bodyPr/>
                    <a:lstStyle/>
                    <a:p>
                      <a:pPr indent="0" marL="0">
                        <a:buNone/>
                      </a:pPr>
                      <a:r>
                        <a:rPr lang="en-US" sz="1200" b="1" dirty="0">
                          <a:solidFill>
                            <a:srgbClr val="FFFFFF"/>
                          </a:solidFill>
                        </a:rPr>
                        <a:t>ID</a:t>
                      </a:r>
                      <a:endParaRPr lang="en-US" sz="12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200" b="1" dirty="0">
                          <a:solidFill>
                            <a:srgbClr val="FFFFFF"/>
                          </a:solidFill>
                        </a:rPr>
                        <a:t>Attack</a:t>
                      </a:r>
                      <a:endParaRPr lang="en-US" sz="12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200" b="1" dirty="0">
                          <a:solidFill>
                            <a:srgbClr val="FFFFFF"/>
                          </a:solidFill>
                        </a:rPr>
                        <a:t>Target</a:t>
                      </a:r>
                      <a:endParaRPr lang="en-US" sz="12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200" b="1" dirty="0">
                          <a:solidFill>
                            <a:srgbClr val="FFFFFF"/>
                          </a:solidFill>
                        </a:rPr>
                        <a:t>Before hardening</a:t>
                      </a:r>
                      <a:endParaRPr lang="en-US" sz="12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200" b="1" dirty="0">
                          <a:solidFill>
                            <a:srgbClr val="FFFFFF"/>
                          </a:solidFill>
                        </a:rPr>
                        <a:t>After hardening</a:t>
                      </a:r>
                      <a:endParaRPr lang="en-US" sz="12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365760">
                <a:tc>
                  <a:txBody>
                    <a:bodyPr/>
                    <a:lstStyle/>
                    <a:p>
                      <a:pPr algn="l" indent="0" marL="0">
                        <a:buNone/>
                      </a:pPr>
                      <a:r>
                        <a:rPr lang="en-US" sz="1150" b="1" dirty="0">
                          <a:solidFill>
                            <a:srgbClr val="0B1F33"/>
                          </a:solidFill>
                        </a:rPr>
                        <a:t>A1</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F33"/>
                          </a:solidFill>
                        </a:rPr>
                        <a:t>Approval signed by a signer outside G</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B1F33"/>
                          </a:solidFill>
                        </a:rPr>
                        <a:t>A</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62828"/>
                          </a:solidFill>
                        </a:rPr>
                        <a:t>Accepted*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365760">
                <a:tc>
                  <a:txBody>
                    <a:bodyPr/>
                    <a:lstStyle/>
                    <a:p>
                      <a:pPr algn="l" indent="0" marL="0">
                        <a:buNone/>
                      </a:pPr>
                      <a:r>
                        <a:rPr lang="en-US" sz="1150" b="1" dirty="0">
                          <a:solidFill>
                            <a:srgbClr val="0B1F33"/>
                          </a:solidFill>
                        </a:rPr>
                        <a:t>A2</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F33"/>
                          </a:solidFill>
                        </a:rPr>
                        <a:t>Guardian signature replayed from another consent</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B1F33"/>
                          </a:solidFill>
                        </a:rPr>
                        <a:t>I</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365760">
                <a:tc>
                  <a:txBody>
                    <a:bodyPr/>
                    <a:lstStyle/>
                    <a:p>
                      <a:pPr algn="l" indent="0" marL="0">
                        <a:buNone/>
                      </a:pPr>
                      <a:r>
                        <a:rPr lang="en-US" sz="1150" b="1" dirty="0">
                          <a:solidFill>
                            <a:srgbClr val="0B1F33"/>
                          </a:solidFill>
                        </a:rPr>
                        <a:t>A3</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F33"/>
                          </a:solidFill>
                        </a:rPr>
                        <a:t>Same guardian approves twice to reach N</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B1F33"/>
                          </a:solidFill>
                        </a:rPr>
                        <a:t>A</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62828"/>
                          </a:solidFill>
                        </a:rPr>
                        <a:t>Accepted*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365760">
                <a:tc>
                  <a:txBody>
                    <a:bodyPr/>
                    <a:lstStyle/>
                    <a:p>
                      <a:pPr algn="l" indent="0" marL="0">
                        <a:buNone/>
                      </a:pPr>
                      <a:r>
                        <a:rPr lang="en-US" sz="1150" b="1" dirty="0">
                          <a:solidFill>
                            <a:srgbClr val="0B1F33"/>
                          </a:solidFill>
                        </a:rPr>
                        <a:t>A4</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F33"/>
                          </a:solidFill>
                        </a:rPr>
                        <a:t>Requested scope exceeds the authorised scope</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B1F33"/>
                          </a:solidFill>
                        </a:rPr>
                        <a:t>P</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365760">
                <a:tc>
                  <a:txBody>
                    <a:bodyPr/>
                    <a:lstStyle/>
                    <a:p>
                      <a:pPr algn="l" indent="0" marL="0">
                        <a:buNone/>
                      </a:pPr>
                      <a:r>
                        <a:rPr lang="en-US" sz="1150" b="1" dirty="0">
                          <a:solidFill>
                            <a:srgbClr val="0B1F33"/>
                          </a:solidFill>
                        </a:rPr>
                        <a:t>A5</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F33"/>
                          </a:solidFill>
                        </a:rPr>
                        <a:t>Request with an empty scope</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B1F33"/>
                          </a:solidFill>
                        </a:rPr>
                        <a:t>P</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62828"/>
                          </a:solidFill>
                        </a:rPr>
                        <a:t>Accepted*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365760">
                <a:tc>
                  <a:txBody>
                    <a:bodyPr/>
                    <a:lstStyle/>
                    <a:p>
                      <a:pPr algn="l" indent="0" marL="0">
                        <a:buNone/>
                      </a:pPr>
                      <a:r>
                        <a:rPr lang="en-US" sz="1150" b="1" dirty="0">
                          <a:solidFill>
                            <a:srgbClr val="0B1F33"/>
                          </a:solidFill>
                        </a:rPr>
                        <a:t>A6</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F33"/>
                          </a:solidFill>
                        </a:rPr>
                        <a:t>Request before notBefore or after expiry</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B1F33"/>
                          </a:solidFill>
                        </a:rPr>
                        <a:t>T</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365760">
                <a:tc>
                  <a:txBody>
                    <a:bodyPr/>
                    <a:lstStyle/>
                    <a:p>
                      <a:pPr algn="l" indent="0" marL="0">
                        <a:buNone/>
                      </a:pPr>
                      <a:r>
                        <a:rPr lang="en-US" sz="1150" b="1" dirty="0">
                          <a:solidFill>
                            <a:srgbClr val="0B1F33"/>
                          </a:solidFill>
                        </a:rPr>
                        <a:t>A7</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F33"/>
                          </a:solidFill>
                        </a:rPr>
                        <a:t>Requester declares a different jurisdiction</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B1F33"/>
                          </a:solidFill>
                        </a:rPr>
                        <a:t>P</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365760">
                <a:tc>
                  <a:txBody>
                    <a:bodyPr/>
                    <a:lstStyle/>
                    <a:p>
                      <a:pPr algn="l" indent="0" marL="0">
                        <a:buNone/>
                      </a:pPr>
                      <a:r>
                        <a:rPr lang="en-US" sz="1150" b="1" dirty="0">
                          <a:solidFill>
                            <a:srgbClr val="0B1F33"/>
                          </a:solidFill>
                        </a:rPr>
                        <a:t>A8</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F33"/>
                          </a:solidFill>
                        </a:rPr>
                        <a:t>Access after revocation</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B1F33"/>
                          </a:solidFill>
                        </a:rPr>
                        <a:t>E</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365760">
                <a:tc>
                  <a:txBody>
                    <a:bodyPr/>
                    <a:lstStyle/>
                    <a:p>
                      <a:pPr algn="l" indent="0" marL="0">
                        <a:buNone/>
                      </a:pPr>
                      <a:r>
                        <a:rPr lang="en-US" sz="1150" b="1" dirty="0">
                          <a:solidFill>
                            <a:srgbClr val="0B1F33"/>
                          </a:solidFill>
                        </a:rPr>
                        <a:t>A9</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F33"/>
                          </a:solidFill>
                        </a:rPr>
                        <a:t>Tampered Groth16 proof or public signal</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B1F33"/>
                          </a:solidFill>
                        </a:rPr>
                        <a:t>E</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365760">
                <a:tc>
                  <a:txBody>
                    <a:bodyPr/>
                    <a:lstStyle/>
                    <a:p>
                      <a:pPr algn="l" indent="0" marL="0">
                        <a:buNone/>
                      </a:pPr>
                      <a:r>
                        <a:rPr lang="en-US" sz="1150" b="1" dirty="0">
                          <a:solidFill>
                            <a:srgbClr val="0B1F33"/>
                          </a:solidFill>
                        </a:rPr>
                        <a:t>A10</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F33"/>
                          </a:solidFill>
                        </a:rPr>
                        <a:t>Honest proof for an expired consent</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B1F33"/>
                          </a:solidFill>
                        </a:rPr>
                        <a:t>T</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365760">
                <a:tc>
                  <a:txBody>
                    <a:bodyPr/>
                    <a:lstStyle/>
                    <a:p>
                      <a:pPr algn="l" indent="0" marL="0">
                        <a:buNone/>
                      </a:pPr>
                      <a:r>
                        <a:rPr lang="en-US" sz="1150" b="1" dirty="0">
                          <a:solidFill>
                            <a:srgbClr val="0B1F33"/>
                          </a:solidFill>
                        </a:rPr>
                        <a:t>A11</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F33"/>
                          </a:solidFill>
                        </a:rPr>
                        <a:t>Result of a recorded audit event rewritten</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B1F33"/>
                          </a:solidFill>
                        </a:rPr>
                        <a:t>E</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8A6D00"/>
                          </a:solidFill>
                        </a:rPr>
                        <a:t>Differs†</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8A6D00"/>
                          </a:solidFill>
                        </a:rPr>
                        <a:t>Differs†</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365760">
                <a:tc>
                  <a:txBody>
                    <a:bodyPr/>
                    <a:lstStyle/>
                    <a:p>
                      <a:pPr algn="l" indent="0" marL="0">
                        <a:buNone/>
                      </a:pPr>
                      <a:r>
                        <a:rPr lang="en-US" sz="1150" b="1" dirty="0">
                          <a:solidFill>
                            <a:srgbClr val="0B1F33"/>
                          </a:solidFill>
                        </a:rPr>
                        <a:t>A12</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B1F33"/>
                          </a:solidFill>
                        </a:rPr>
                        <a:t>Mint or revoke by a non-owner, or token transfer</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B1F33"/>
                          </a:solidFill>
                        </a:rPr>
                        <a:t>Contract</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5" name="attack notes"/>
          <p:cNvSpPr txBox="1"/>
          <p:nvPr/>
        </p:nvSpPr>
        <p:spPr>
          <a:xfrm>
            <a:off x="548640" y="5897880"/>
            <a:ext cx="7315200" cy="731520"/>
          </a:xfrm>
          <a:prstGeom prst="rect">
            <a:avLst/>
          </a:prstGeom>
          <a:noFill/>
          <a:ln/>
        </p:spPr>
        <p:txBody>
          <a:bodyPr wrap="square" rtlCol="0" anchor="t"/>
          <a:lstStyle/>
          <a:p>
            <a:pPr indent="0" marL="0">
              <a:buNone/>
            </a:pPr>
            <a:r>
              <a:rPr lang="en-US" sz="950" i="1" dirty="0">
                <a:solidFill>
                  <a:srgbClr val="FFFFFF"/>
                </a:solidFill>
              </a:rPr>
              <a:t>* Accepted at unit level only, when the service function was called directly; the interface already refused it.</a:t>
            </a:r>
            <a:endParaRPr lang="en-US" sz="950" dirty="0"/>
          </a:p>
          <a:p>
            <a:pPr indent="0" marL="0">
              <a:buNone/>
            </a:pPr>
            <a:r>
              <a:rPr lang="en-US" sz="950" i="1" dirty="0">
                <a:solidFill>
                  <a:srgbClr val="FFFFFF"/>
                </a:solidFill>
              </a:rPr>
              <a:t>† The rewritten event's digest differs from the stored digest, but no component compares the two yet, so the result is neutral.</a:t>
            </a:r>
            <a:endParaRPr lang="en-US" sz="950" dirty="0"/>
          </a:p>
          <a:p>
            <a:pPr indent="0" marL="0">
              <a:buNone/>
            </a:pPr>
            <a:r>
              <a:rPr lang="en-US" sz="950" i="1" dirty="0">
                <a:solidFill>
                  <a:srgbClr val="FFFFFF"/>
                </a:solidFill>
              </a:rPr>
              <a:t>Target: I identity, </a:t>
            </a:r>
            <a:r>
              <a:rPr lang="en-US" sz="950" i="1" dirty="0">
                <a:solidFill>
                  <a:srgbClr val="FFFFFF"/>
                </a:solidFill>
              </a:rPr>
              <a:t>A authorisation</a:t>
            </a:r>
            <a:r>
              <a:rPr lang="en-US" sz="950" i="1" dirty="0">
                <a:solidFill>
                  <a:srgbClr val="FFFFFF"/>
                </a:solidFill>
              </a:rPr>
              <a:t>, P policy and scope, T time, </a:t>
            </a:r>
            <a:r>
              <a:rPr lang="en-US" sz="950" i="1" dirty="0">
                <a:solidFill>
                  <a:srgbClr val="FFFFFF"/>
                </a:solidFill>
              </a:rPr>
              <a:t>L lifecycle</a:t>
            </a:r>
            <a:r>
              <a:rPr lang="en-US" sz="950" i="1" dirty="0">
                <a:solidFill>
                  <a:srgbClr val="FFFFFF"/>
                </a:solidFill>
              </a:rPr>
              <a:t>, E evidence, Contract = ConsentSBTv3 on an in-memory EVM.</a:t>
            </a:r>
            <a:endParaRPr lang="en-US" sz="950" dirty="0"/>
          </a:p>
        </p:txBody>
      </p:sp>
      <p:sp>
        <p:nvSpPr>
          <p:cNvPr id="6" name="stat attack scenarios, A1 to A12"/>
          <p:cNvSpPr txBox="1"/>
          <p:nvPr/>
        </p:nvSpPr>
        <p:spPr>
          <a:xfrm>
            <a:off x="8229600" y="1188720"/>
            <a:ext cx="3383280" cy="868680"/>
          </a:xfrm>
          <a:prstGeom prst="rect">
            <a:avLst/>
          </a:prstGeom>
          <a:noFill/>
          <a:ln/>
        </p:spPr>
        <p:txBody>
          <a:bodyPr wrap="square" lIns="0" tIns="0" rIns="0" bIns="0" rtlCol="0" anchor="ctr"/>
          <a:lstStyle/>
          <a:p>
            <a:pPr indent="0" marL="0">
              <a:buNone/>
            </a:pPr>
            <a:r>
              <a:rPr lang="en-US" sz="4400" b="1" dirty="0">
                <a:solidFill>
                  <a:srgbClr val="1FB5D6"/>
                </a:solidFill>
              </a:rPr>
              <a:t>12</a:t>
            </a:r>
            <a:endParaRPr lang="en-US" sz="4400" dirty="0"/>
          </a:p>
        </p:txBody>
      </p:sp>
      <p:sp>
        <p:nvSpPr>
          <p:cNvPr id="7" name="stat label attack scenarios, A1 to A12"/>
          <p:cNvSpPr txBox="1"/>
          <p:nvPr/>
        </p:nvSpPr>
        <p:spPr>
          <a:xfrm>
            <a:off x="8229600" y="2057400"/>
            <a:ext cx="3383280" cy="640080"/>
          </a:xfrm>
          <a:prstGeom prst="rect">
            <a:avLst/>
          </a:prstGeom>
          <a:noFill/>
          <a:ln/>
        </p:spPr>
        <p:txBody>
          <a:bodyPr wrap="square" lIns="0" tIns="0" rIns="0" bIns="0" rtlCol="0" anchor="ctr"/>
          <a:lstStyle/>
          <a:p>
            <a:pPr indent="0" marL="0">
              <a:buNone/>
            </a:pPr>
            <a:r>
              <a:rPr lang="en-US" sz="1600" dirty="0">
                <a:solidFill>
                  <a:srgbClr val="FFFFFF"/>
                </a:solidFill>
              </a:rPr>
              <a:t>attack scenarios, A1 to A12</a:t>
            </a:r>
            <a:endParaRPr lang="en-US" sz="1600" dirty="0"/>
          </a:p>
        </p:txBody>
      </p:sp>
      <p:sp>
        <p:nvSpPr>
          <p:cNvPr id="8" name="stat refused after the hardening (A11 neutral)"/>
          <p:cNvSpPr txBox="1"/>
          <p:nvPr/>
        </p:nvSpPr>
        <p:spPr>
          <a:xfrm>
            <a:off x="8229600" y="2926080"/>
            <a:ext cx="3383280" cy="868680"/>
          </a:xfrm>
          <a:prstGeom prst="rect">
            <a:avLst/>
          </a:prstGeom>
          <a:noFill/>
          <a:ln/>
        </p:spPr>
        <p:txBody>
          <a:bodyPr wrap="square" lIns="0" tIns="0" rIns="0" bIns="0" rtlCol="0" anchor="ctr"/>
          <a:lstStyle/>
          <a:p>
            <a:pPr indent="0" marL="0">
              <a:buNone/>
            </a:pPr>
            <a:r>
              <a:rPr lang="en-US" sz="4400" b="1" dirty="0">
                <a:solidFill>
                  <a:srgbClr val="1FB5D6"/>
                </a:solidFill>
              </a:rPr>
              <a:t>11 / 12</a:t>
            </a:r>
            <a:endParaRPr lang="en-US" sz="4400" dirty="0"/>
          </a:p>
        </p:txBody>
      </p:sp>
      <p:sp>
        <p:nvSpPr>
          <p:cNvPr id="9" name="stat label refused after the hardening (A11 neutral)"/>
          <p:cNvSpPr txBox="1"/>
          <p:nvPr/>
        </p:nvSpPr>
        <p:spPr>
          <a:xfrm>
            <a:off x="8229600" y="3794760"/>
            <a:ext cx="3383280" cy="640080"/>
          </a:xfrm>
          <a:prstGeom prst="rect">
            <a:avLst/>
          </a:prstGeom>
          <a:noFill/>
          <a:ln/>
        </p:spPr>
        <p:txBody>
          <a:bodyPr wrap="square" lIns="0" tIns="0" rIns="0" bIns="0" rtlCol="0" anchor="ctr"/>
          <a:lstStyle/>
          <a:p>
            <a:pPr indent="0" marL="0">
              <a:buNone/>
            </a:pPr>
            <a:r>
              <a:rPr lang="en-US" sz="1600" dirty="0">
                <a:solidFill>
                  <a:srgbClr val="FFFFFF"/>
                </a:solidFill>
              </a:rPr>
              <a:t>refused after the hardening (A11 neutral)</a:t>
            </a:r>
            <a:endParaRPr lang="en-US" sz="1600" dirty="0"/>
          </a:p>
        </p:txBody>
      </p:sp>
      <p:sp>
        <p:nvSpPr>
          <p:cNvPr id="10" name="stat automated tests pass"/>
          <p:cNvSpPr txBox="1"/>
          <p:nvPr/>
        </p:nvSpPr>
        <p:spPr>
          <a:xfrm>
            <a:off x="8229600" y="4663440"/>
            <a:ext cx="3383280" cy="868680"/>
          </a:xfrm>
          <a:prstGeom prst="rect">
            <a:avLst/>
          </a:prstGeom>
          <a:noFill/>
          <a:ln/>
        </p:spPr>
        <p:txBody>
          <a:bodyPr wrap="square" lIns="0" tIns="0" rIns="0" bIns="0" rtlCol="0" anchor="ctr"/>
          <a:lstStyle/>
          <a:p>
            <a:pPr indent="0" marL="0">
              <a:buNone/>
            </a:pPr>
            <a:r>
              <a:rPr lang="en-US" sz="4400" b="1" dirty="0">
                <a:solidFill>
                  <a:srgbClr val="1FB5D6"/>
                </a:solidFill>
              </a:rPr>
              <a:t>36</a:t>
            </a:r>
            <a:endParaRPr lang="en-US" sz="4400" dirty="0"/>
          </a:p>
        </p:txBody>
      </p:sp>
      <p:sp>
        <p:nvSpPr>
          <p:cNvPr id="11" name="stat label automated tests pass"/>
          <p:cNvSpPr txBox="1"/>
          <p:nvPr/>
        </p:nvSpPr>
        <p:spPr>
          <a:xfrm>
            <a:off x="8229600" y="5532120"/>
            <a:ext cx="3383280" cy="640080"/>
          </a:xfrm>
          <a:prstGeom prst="rect">
            <a:avLst/>
          </a:prstGeom>
          <a:noFill/>
          <a:ln/>
        </p:spPr>
        <p:txBody>
          <a:bodyPr wrap="square" lIns="0" tIns="0" rIns="0" bIns="0" rtlCol="0" anchor="ctr"/>
          <a:lstStyle/>
          <a:p>
            <a:pPr indent="0" marL="0">
              <a:buNone/>
            </a:pPr>
            <a:r>
              <a:rPr lang="en-US" sz="1600" dirty="0">
                <a:solidFill>
                  <a:srgbClr val="FFFFFF"/>
                </a:solidFill>
              </a:rPr>
              <a:t>automated tests pass</a:t>
            </a:r>
            <a:endParaRPr lang="en-US" sz="16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EVALUATION: HOW FAST AND HOW MUCH?</a:t>
            </a:r>
            <a:endParaRPr lang="en-US" sz="3000" dirty="0"/>
          </a:p>
        </p:txBody>
      </p:sp>
      <p:graphicFrame>
        <p:nvGraphicFramePr>
          <p:cNvPr id="23" name="table"/>
          <p:cNvGraphicFramePr>
            <a:graphicFrameLocks noGrp="1"/>
          </p:cNvGraphicFramePr>
          <p:nvPr>
            <p:extLst>
              <p:ext uri="{D42A27DB-BD31-4B8C-83A1-F6EECF244321}">
                <p14:modId xmlns:p14="http://schemas.microsoft.com/office/powerpoint/2010/main" val="1579011935"/>
              </p:ext>
            </p:extLst>
          </p:nvPr>
        </p:nvGraphicFramePr>
        <p:xfrm>
          <a:off x="731520" y="1280160"/>
          <a:ext cx="5852160" cy="914400"/>
        </p:xfrm>
        <a:graphic>
          <a:graphicData uri="http://schemas.openxmlformats.org/drawingml/2006/table">
            <a:tbl>
              <a:tblPr/>
              <a:tblGrid>
                <a:gridCol w="2103120"/>
                <a:gridCol w="1188720"/>
                <a:gridCol w="914400"/>
                <a:gridCol w="1005840"/>
                <a:gridCol w="640080"/>
              </a:tblGrid>
              <a:tr h="548640">
                <a:tc>
                  <a:txBody>
                    <a:bodyPr/>
                    <a:lstStyle/>
                    <a:p>
                      <a:pPr indent="0" marL="0">
                        <a:buNone/>
                      </a:pPr>
                      <a:r>
                        <a:rPr lang="en-US" sz="1200" b="1" dirty="0">
                          <a:solidFill>
                            <a:srgbClr val="FFFFFF"/>
                          </a:solidFill>
                        </a:rPr>
                        <a:t>Component</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200" b="1" dirty="0">
                          <a:solidFill>
                            <a:srgbClr val="FFFFFF"/>
                          </a:solidFill>
                        </a:rPr>
                        <a:t>Median</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200" b="1" dirty="0">
                          <a:solidFill>
                            <a:srgbClr val="FFFFFF"/>
                          </a:solidFill>
                        </a:rPr>
                        <a:t>Min</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200" b="1" dirty="0">
                          <a:solidFill>
                            <a:srgbClr val="FFFFFF"/>
                          </a:solidFill>
                        </a:rPr>
                        <a:t>Max</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200" b="1" dirty="0">
                          <a:solidFill>
                            <a:srgbClr val="FFFFFF"/>
                          </a:solidFill>
                        </a:rPr>
                        <a:t>n</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548640">
                <a:tc>
                  <a:txBody>
                    <a:bodyPr/>
                    <a:lstStyle/>
                    <a:p>
                      <a:pPr indent="0" marL="0">
                        <a:buNone/>
                      </a:pPr>
                      <a:r>
                        <a:rPr lang="en-US" sz="1200" b="1" dirty="0">
                          <a:solidFill>
                            <a:srgbClr val="0B1F33"/>
                          </a:solidFill>
                        </a:rPr>
                        <a:t>Decision rule, five checks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2.37 µs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2.32 µs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31.59 µs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1,000</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0B1F33"/>
                          </a:solidFill>
                        </a:rPr>
                        <a:t>One EIP-712 signature</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10.93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10.55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15.64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20</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0B1F33"/>
                          </a:solidFill>
                        </a:rPr>
                        <a:t>Groth16 proof generation</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1,401.1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1,342.8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5,349.6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20</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0B1F33"/>
                          </a:solidFill>
                        </a:rPr>
                        <a:t>Groth16 proof verification</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465.3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441.0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525.1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20</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0B1F33"/>
                          </a:solidFill>
                        </a:rPr>
                        <a:t>On-chain checkValid read</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573.5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568.2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715.5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20</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0B1F33"/>
                          </a:solidFill>
                        </a:rPr>
                        <a:t>On-chain checkValidAt read</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574.6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568.2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745.6 ms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20</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0B1F33"/>
                          </a:solidFill>
                        </a:rPr>
                        <a:t>Anchoring confirmation</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11.5 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4.9 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22.1 s</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200" dirty="0">
                          <a:solidFill>
                            <a:srgbClr val="0B1F33"/>
                          </a:solidFill>
                        </a:rPr>
                        <a:t>5</a:t>
                      </a:r>
                      <a:endParaRPr lang="en-US" sz="12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5" name="gas line"/>
          <p:cNvSpPr txBox="1"/>
          <p:nvPr/>
        </p:nvSpPr>
        <p:spPr>
          <a:xfrm>
            <a:off x="731520" y="5760720"/>
            <a:ext cx="5852160" cy="457200"/>
          </a:xfrm>
          <a:prstGeom prst="rect">
            <a:avLst/>
          </a:prstGeom>
          <a:noFill/>
          <a:ln/>
        </p:spPr>
        <p:txBody>
          <a:bodyPr wrap="square" rtlCol="0" anchor="ctr"/>
          <a:lstStyle/>
          <a:p>
            <a:pPr indent="0" marL="0">
              <a:buNone/>
            </a:pPr>
            <a:r>
              <a:rPr lang="en-US" sz="1400" b="1" dirty="0">
                <a:solidFill>
                  <a:srgbClr val="FFFFFF"/>
                </a:solidFill>
              </a:rPr>
              <a:t>Gas used: mint #1 196,406; revoke #1 32,980. No fee above 0.00021 ETH.</a:t>
            </a:r>
            <a:endParaRPr lang="en-US" sz="1400" dirty="0"/>
          </a:p>
        </p:txBody>
      </p:sp>
      <p:sp>
        <p:nvSpPr>
          <p:cNvPr id="6" name="F42 panel"/>
          <p:cNvSpPr/>
          <p:nvPr/>
        </p:nvSpPr>
        <p:spPr>
          <a:xfrm>
            <a:off x="6812280" y="1280160"/>
            <a:ext cx="4709160" cy="3931920"/>
          </a:xfrm>
          <a:prstGeom prst="roundRect">
            <a:avLst>
              <a:gd name="adj" fmla="val 2791"/>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7" name="F42" descr="/tmp/deck/img/F42.png">    </p:cNvPr>
          <p:cNvPicPr>
            <a:picLocks noChangeAspect="1"/>
          </p:cNvPicPr>
          <p:nvPr/>
        </p:nvPicPr>
        <p:blipFill>
          <a:blip r:embed="rId1"/>
          <a:stretch>
            <a:fillRect/>
          </a:stretch>
        </p:blipFill>
        <p:spPr>
          <a:xfrm>
            <a:off x="6922008" y="2117143"/>
            <a:ext cx="4489704" cy="2257954"/>
          </a:xfrm>
          <a:prstGeom prst="rect">
            <a:avLst/>
          </a:prstGeom>
        </p:spPr>
      </p:pic>
      <p:sp>
        <p:nvSpPr>
          <p:cNvPr id="8" name="caption"/>
          <p:cNvSpPr txBox="1"/>
          <p:nvPr/>
        </p:nvSpPr>
        <p:spPr>
          <a:xfrm>
            <a:off x="6812280" y="5303520"/>
            <a:ext cx="4709160" cy="320040"/>
          </a:xfrm>
          <a:prstGeom prst="rect">
            <a:avLst/>
          </a:prstGeom>
          <a:noFill/>
          <a:ln/>
        </p:spPr>
        <p:txBody>
          <a:bodyPr wrap="square" rtlCol="0" anchor="ctr"/>
          <a:lstStyle/>
          <a:p>
            <a:pPr algn="ctr" indent="0" marL="0">
              <a:buNone/>
            </a:pPr>
            <a:r>
              <a:rPr lang="en-US" sz="1200" i="1" dirty="0">
                <a:solidFill>
                  <a:srgbClr val="FFFFFF"/>
                </a:solidFill>
              </a:rPr>
              <a:t>Timings measured on 1 October 2026; gas and anchoring from the five Sepolia transactions of September 2026; indicative only</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WHAT IS DIFFERENT FROM TODAY'S SYSTEMS</a:t>
            </a:r>
            <a:endParaRPr lang="en-US" sz="3000" dirty="0"/>
          </a:p>
        </p:txBody>
      </p:sp>
      <p:graphicFrame>
        <p:nvGraphicFramePr>
          <p:cNvPr id="24" name="table"/>
          <p:cNvGraphicFramePr>
            <a:graphicFrameLocks noGrp="1"/>
          </p:cNvGraphicFramePr>
          <p:nvPr>
            <p:extLst>
              <p:ext uri="{D42A27DB-BD31-4B8C-83A1-F6EECF244321}">
                <p14:modId xmlns:p14="http://schemas.microsoft.com/office/powerpoint/2010/main" val="1579011935"/>
              </p:ext>
            </p:extLst>
          </p:nvPr>
        </p:nvGraphicFramePr>
        <p:xfrm>
          <a:off x="640080" y="1280160"/>
          <a:ext cx="10881360" cy="914400"/>
        </p:xfrm>
        <a:graphic>
          <a:graphicData uri="http://schemas.openxmlformats.org/drawingml/2006/table">
            <a:tbl>
              <a:tblPr/>
              <a:tblGrid>
                <a:gridCol w="1828800"/>
                <a:gridCol w="4023360"/>
                <a:gridCol w="5029200"/>
              </a:tblGrid>
              <a:tr h="731520">
                <a:tc>
                  <a:txBody>
                    <a:bodyPr/>
                    <a:lstStyle/>
                    <a:p>
                      <a:pPr indent="0" marL="0">
                        <a:buNone/>
                      </a:pPr>
                      <a:r>
                        <a:rPr lang="en-US" sz="1400" b="1" dirty="0">
                          <a:solidFill>
                            <a:srgbClr val="FFFFFF"/>
                          </a:solidFill>
                        </a:rPr>
                        <a:t>Aspect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Traditional EHR access control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400" b="1" dirty="0">
                          <a:solidFill>
                            <a:srgbClr val="FFFFFF"/>
                          </a:solidFill>
                        </a:rPr>
                        <a:t>HALAH framework</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731520">
                <a:tc>
                  <a:txBody>
                    <a:bodyPr/>
                    <a:lstStyle/>
                    <a:p>
                      <a:pPr indent="0" marL="0">
                        <a:buNone/>
                      </a:pPr>
                      <a:r>
                        <a:rPr lang="en-US" sz="1400" b="1" dirty="0">
                          <a:solidFill>
                            <a:srgbClr val="0B1F33"/>
                          </a:solidFill>
                        </a:rPr>
                        <a:t>Identity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Central identity provider; institution login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 DID for every participant; identity kept separate from authority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0B1F33"/>
                          </a:solidFill>
                        </a:rPr>
                        <a:t>Consent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 stored record that permission was given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An object C = (I, A, P, T, L, E), checked at every request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0B1F33"/>
                          </a:solidFill>
                        </a:rPr>
                        <a:t>Approval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 static permission set by one party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All listed guardians sign (EIP-712); no single party can approve alone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0B1F33"/>
                          </a:solidFill>
                        </a:rPr>
                        <a:t>Access check</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Log in, then check a static permission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VI ∧ VA ∧ VP ∧ VT ∧ VL, plus a Groth16 proof before data is released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0B1F33"/>
                          </a:solidFill>
                        </a:rPr>
                        <a:t>Time and revocation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Hard to verify once the permission is stored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Validity window and revocation checked each time; on-chain revoke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0B1F33"/>
                          </a:solidFill>
                        </a:rPr>
                        <a:t>Audit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A record that consent occurred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400" dirty="0">
                          <a:solidFill>
                            <a:srgbClr val="0B1F33"/>
                          </a:solidFill>
                        </a:rPr>
                        <a:t>Each decision on an active consent logged with its decision matrix; state anchored on Sepolia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DATA AND PRIVACY</a:t>
            </a:r>
            <a:endParaRPr lang="en-US" sz="3000" dirty="0"/>
          </a:p>
        </p:txBody>
      </p:sp>
      <p:graphicFrame>
        <p:nvGraphicFramePr>
          <p:cNvPr id="25" name="table"/>
          <p:cNvGraphicFramePr>
            <a:graphicFrameLocks noGrp="1"/>
          </p:cNvGraphicFramePr>
          <p:nvPr>
            <p:extLst>
              <p:ext uri="{D42A27DB-BD31-4B8C-83A1-F6EECF244321}">
                <p14:modId xmlns:p14="http://schemas.microsoft.com/office/powerpoint/2010/main" val="1579011935"/>
              </p:ext>
            </p:extLst>
          </p:nvPr>
        </p:nvGraphicFramePr>
        <p:xfrm>
          <a:off x="640080" y="1234440"/>
          <a:ext cx="10881360" cy="914400"/>
        </p:xfrm>
        <a:graphic>
          <a:graphicData uri="http://schemas.openxmlformats.org/drawingml/2006/table">
            <a:tbl>
              <a:tblPr/>
              <a:tblGrid>
                <a:gridCol w="2194560"/>
                <a:gridCol w="8686800"/>
              </a:tblGrid>
              <a:tr h="713232">
                <a:tc>
                  <a:txBody>
                    <a:bodyPr/>
                    <a:lstStyle/>
                    <a:p>
                      <a:pPr indent="0" marL="0">
                        <a:buNone/>
                      </a:pPr>
                      <a:r>
                        <a:rPr lang="en-US" sz="1500" b="1" dirty="0">
                          <a:solidFill>
                            <a:srgbClr val="FFFFFF"/>
                          </a:solidFill>
                        </a:rPr>
                        <a:t>Aspect</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500" b="1" dirty="0">
                          <a:solidFill>
                            <a:srgbClr val="FFFFFF"/>
                          </a:solidFill>
                        </a:rPr>
                        <a:t>Key points</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713232">
                <a:tc>
                  <a:txBody>
                    <a:bodyPr/>
                    <a:lstStyle/>
                    <a:p>
                      <a:pPr indent="0" marL="0">
                        <a:buNone/>
                      </a:pPr>
                      <a:r>
                        <a:rPr lang="en-US" sz="1500" b="1" dirty="0">
                          <a:solidFill>
                            <a:srgbClr val="0B1F33"/>
                          </a:solidFill>
                        </a:rPr>
                        <a:t>Data source</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Synthea 1K sample of synthetic patient records (synthea.mitre.org), CSV export; a subset of patients with their observations, conditions, medications and procedures. No real patient data is involved.</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0B1F33"/>
                          </a:solidFill>
                        </a:rPr>
                        <a:t>Data storage</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Medical records stay off-chain in the application. No medical content is written to the chain.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0B1F33"/>
                          </a:solidFill>
                        </a:rPr>
                        <a:t>On-chain record</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Pseudonymous patient and requester addresses, a hash of the purpose, the validity window </a:t>
                      </a:r>
                      <a:r>
                        <a:rPr lang="en-US" sz="1500" dirty="0">
                          <a:solidFill>
                            <a:srgbClr val="0B1F33"/>
                          </a:solidFill>
                        </a:rPr>
                        <a:t>and</a:t>
                      </a:r>
                      <a:r>
                        <a:rPr lang="en-US" sz="1500" dirty="0">
                          <a:solidFill>
                            <a:srgbClr val="0B1F33"/>
                          </a:solidFill>
                        </a:rPr>
                        <a:t> a revocation flag.</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0B1F33"/>
                          </a:solidFill>
                        </a:rPr>
                        <a:t>Access to data</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Records are released only on ALLOW and only within the agreed data scope.</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0B1F33"/>
                          </a:solidFill>
                        </a:rPr>
                        <a:t>Audit</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Each decision on an ACTIVE consent is recorded with its decision matrix.</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0B1F33"/>
                          </a:solidFill>
                        </a:rPr>
                        <a:t>Known limitation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500" dirty="0">
                          <a:solidFill>
                            <a:srgbClr val="0B1F33"/>
                          </a:solidFill>
                        </a:rPr>
                        <a:t>The plaintext purpose is passed in the mint transaction and is visible in the public transaction input.</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WHY THIS MATTERS</a:t>
            </a:r>
            <a:endParaRPr lang="en-US" sz="3000" dirty="0"/>
          </a:p>
        </p:txBody>
      </p:sp>
      <p:sp>
        <p:nvSpPr>
          <p:cNvPr id="4" name="sci heading"/>
          <p:cNvSpPr txBox="1"/>
          <p:nvPr/>
        </p:nvSpPr>
        <p:spPr>
          <a:xfrm>
            <a:off x="731520" y="1051560"/>
            <a:ext cx="5120640" cy="411480"/>
          </a:xfrm>
          <a:prstGeom prst="rect">
            <a:avLst/>
          </a:prstGeom>
          <a:noFill/>
          <a:ln/>
        </p:spPr>
        <p:txBody>
          <a:bodyPr wrap="square" rtlCol="0" anchor="ctr"/>
          <a:lstStyle/>
          <a:p>
            <a:pPr indent="0" marL="0">
              <a:buNone/>
            </a:pPr>
            <a:r>
              <a:rPr lang="en-US" sz="2000" b="1" i="1" dirty="0">
                <a:solidFill>
                  <a:srgbClr val="1FB5D6"/>
                </a:solidFill>
              </a:rPr>
              <a:t>Scientific</a:t>
            </a:r>
            <a:endParaRPr lang="en-US" sz="2000" dirty="0"/>
          </a:p>
        </p:txBody>
      </p:sp>
      <p:sp>
        <p:nvSpPr>
          <p:cNvPr id="5" name="soc heading"/>
          <p:cNvSpPr txBox="1"/>
          <p:nvPr/>
        </p:nvSpPr>
        <p:spPr>
          <a:xfrm>
            <a:off x="6309360" y="1051560"/>
            <a:ext cx="5120640" cy="411480"/>
          </a:xfrm>
          <a:prstGeom prst="rect">
            <a:avLst/>
          </a:prstGeom>
          <a:noFill/>
          <a:ln/>
        </p:spPr>
        <p:txBody>
          <a:bodyPr wrap="square" rtlCol="0" anchor="ctr"/>
          <a:lstStyle/>
          <a:p>
            <a:pPr indent="0" marL="0">
              <a:buNone/>
            </a:pPr>
            <a:r>
              <a:rPr lang="en-US" sz="2000" b="1" i="1" dirty="0">
                <a:solidFill>
                  <a:srgbClr val="1FB5D6"/>
                </a:solidFill>
              </a:rPr>
              <a:t>Social</a:t>
            </a:r>
            <a:endParaRPr lang="en-US" sz="2000" dirty="0"/>
          </a:p>
        </p:txBody>
      </p:sp>
      <p:sp>
        <p:nvSpPr>
          <p:cNvPr id="6" name="bullets"/>
          <p:cNvSpPr txBox="1"/>
          <p:nvPr/>
        </p:nvSpPr>
        <p:spPr>
          <a:xfrm>
            <a:off x="731520" y="1554480"/>
            <a:ext cx="5212080" cy="484632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Consent is an evaluable object, C = (I, A, P, T, L, E), not a stored record.</a:t>
            </a:r>
            <a:endParaRPr lang="en-US" sz="1600" dirty="0"/>
          </a:p>
          <a:p>
            <a:pPr marL="342900" indent="-342900">
              <a:spcAft>
                <a:spcPts val="1000"/>
              </a:spcAft>
              <a:buSzPct val="100000"/>
              <a:buChar char="•"/>
            </a:pPr>
            <a:r>
              <a:rPr lang="en-US" sz="1600" dirty="0">
                <a:solidFill>
                  <a:srgbClr val="FFFFFF"/>
                </a:solidFill>
              </a:rPr>
              <a:t>Multi-party approval is a standing condition of every access decision, and the patient defines who must approve.</a:t>
            </a:r>
            <a:endParaRPr lang="en-US" sz="1600" dirty="0"/>
          </a:p>
          <a:p>
            <a:pPr marL="342900" indent="-342900">
              <a:spcAft>
                <a:spcPts val="1000"/>
              </a:spcAft>
              <a:buSzPct val="100000"/>
              <a:buChar char="•"/>
            </a:pPr>
            <a:r>
              <a:rPr lang="en-US" sz="1600" dirty="0">
                <a:solidFill>
                  <a:srgbClr val="FFFFFF"/>
                </a:solidFill>
              </a:rPr>
              <a:t>Identity is separated from authority, and all conditions are checked in one decision.</a:t>
            </a:r>
            <a:endParaRPr lang="en-US" sz="1600" dirty="0"/>
          </a:p>
          <a:p>
            <a:pPr marL="342900" indent="-342900">
              <a:spcAft>
                <a:spcPts val="1000"/>
              </a:spcAft>
              <a:buSzPct val="100000"/>
              <a:buChar char="•"/>
            </a:pPr>
            <a:r>
              <a:rPr lang="en-US" sz="1600" dirty="0">
                <a:solidFill>
                  <a:srgbClr val="FFFFFF"/>
                </a:solidFill>
              </a:rPr>
              <a:t>A PRISMA 2020 review of 25 studies names the conjunction gap and the assurance gap.</a:t>
            </a:r>
            <a:endParaRPr lang="en-US" sz="1600" dirty="0"/>
          </a:p>
          <a:p>
            <a:pPr marL="342900" indent="-342900">
              <a:spcAft>
                <a:spcPts val="1000"/>
              </a:spcAft>
              <a:buSzPct val="100000"/>
              <a:buChar char="•"/>
            </a:pPr>
            <a:r>
              <a:rPr lang="en-US" sz="1600" dirty="0">
                <a:solidFill>
                  <a:srgbClr val="FFFFFF"/>
                </a:solidFill>
              </a:rPr>
              <a:t>A working prototype on Sepolia, measured and attacked twelve times.</a:t>
            </a:r>
            <a:endParaRPr lang="en-US" sz="1600" dirty="0"/>
          </a:p>
        </p:txBody>
      </p:sp>
      <p:sp>
        <p:nvSpPr>
          <p:cNvPr id="7" name="bullets"/>
          <p:cNvSpPr txBox="1"/>
          <p:nvPr/>
        </p:nvSpPr>
        <p:spPr>
          <a:xfrm>
            <a:off x="6309360" y="1554480"/>
            <a:ext cx="5212080" cy="484632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Patients and their guardians decide together who may see the patient's data.</a:t>
            </a:r>
            <a:endParaRPr lang="en-US" sz="1600" dirty="0"/>
          </a:p>
          <a:p>
            <a:pPr marL="342900" indent="-342900">
              <a:spcAft>
                <a:spcPts val="1000"/>
              </a:spcAft>
              <a:buSzPct val="100000"/>
              <a:buChar char="•"/>
            </a:pPr>
            <a:r>
              <a:rPr lang="en-US" sz="1600" dirty="0">
                <a:solidFill>
                  <a:srgbClr val="FFFFFF"/>
                </a:solidFill>
              </a:rPr>
              <a:t>No single person can approve access to sensitive health data alone.</a:t>
            </a:r>
            <a:endParaRPr lang="en-US" sz="1600" dirty="0"/>
          </a:p>
          <a:p>
            <a:pPr marL="342900" indent="-342900">
              <a:spcAft>
                <a:spcPts val="1000"/>
              </a:spcAft>
              <a:buSzPct val="100000"/>
              <a:buChar char="•"/>
            </a:pPr>
            <a:r>
              <a:rPr lang="en-US" sz="1600" dirty="0">
                <a:solidFill>
                  <a:srgbClr val="FFFFFF"/>
                </a:solidFill>
              </a:rPr>
              <a:t>Every decision can be explained to an auditor: which check passed, which failed.</a:t>
            </a:r>
            <a:endParaRPr lang="en-US" sz="1600" dirty="0"/>
          </a:p>
          <a:p>
            <a:pPr marL="342900" indent="-342900">
              <a:spcAft>
                <a:spcPts val="1000"/>
              </a:spcAft>
              <a:buSzPct val="100000"/>
              <a:buChar char="•"/>
            </a:pPr>
            <a:r>
              <a:rPr lang="en-US" sz="1600" dirty="0">
                <a:solidFill>
                  <a:srgbClr val="FFFFFF"/>
                </a:solidFill>
              </a:rPr>
              <a:t>Medical records stay off-chain; only consent evidence is shared.</a:t>
            </a:r>
            <a:endParaRPr lang="en-US" sz="1600" dirty="0"/>
          </a:p>
          <a:p>
            <a:pPr marL="342900" indent="-342900">
              <a:spcAft>
                <a:spcPts val="1000"/>
              </a:spcAft>
              <a:buSzPct val="100000"/>
              <a:buChar char="•"/>
            </a:pPr>
            <a:r>
              <a:rPr lang="en-US" sz="1600" dirty="0">
                <a:solidFill>
                  <a:srgbClr val="FFFFFF"/>
                </a:solidFill>
              </a:rPr>
              <a:t>Supports trust when data move between hospitals and other independent parties.</a:t>
            </a:r>
            <a:endParaRPr lang="en-US" sz="16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WHAT IS STILL OPEN</a:t>
            </a:r>
            <a:endParaRPr lang="en-US" sz="3000" dirty="0"/>
          </a:p>
        </p:txBody>
      </p:sp>
      <p:sp>
        <p:nvSpPr>
          <p:cNvPr id="4" name="card Formal proofs"/>
          <p:cNvSpPr/>
          <p:nvPr/>
        </p:nvSpPr>
        <p:spPr>
          <a:xfrm>
            <a:off x="640080" y="1280160"/>
            <a:ext cx="3520440" cy="2240280"/>
          </a:xfrm>
          <a:prstGeom prst="roundRect">
            <a:avLst>
              <a:gd name="adj" fmla="val 4082"/>
            </a:avLst>
          </a:prstGeom>
          <a:solidFill>
            <a:srgbClr val="FFFFFF">
              <a:alpha val="92000"/>
            </a:srgbClr>
          </a:solidFill>
          <a:ln w="19050">
            <a:solidFill>
              <a:srgbClr val="F2A900"/>
            </a:solidFill>
            <a:prstDash val="solid"/>
          </a:ln>
        </p:spPr>
      </p:sp>
      <p:sp>
        <p:nvSpPr>
          <p:cNvPr id="5" name="card text Formal proofs"/>
          <p:cNvSpPr txBox="1"/>
          <p:nvPr/>
        </p:nvSpPr>
        <p:spPr>
          <a:xfrm>
            <a:off x="777240" y="1371600"/>
            <a:ext cx="3246120" cy="2057400"/>
          </a:xfrm>
          <a:prstGeom prst="rect">
            <a:avLst/>
          </a:prstGeom>
          <a:noFill/>
          <a:ln/>
        </p:spPr>
        <p:txBody>
          <a:bodyPr wrap="square" rtlCol="0" anchor="t"/>
          <a:lstStyle/>
          <a:p>
            <a:pPr indent="0" marL="0">
              <a:spcAft>
                <a:spcPts val="400"/>
              </a:spcAft>
              <a:buNone/>
            </a:pPr>
            <a:r>
              <a:rPr lang="en-US" sz="1900" b="1" dirty="0">
                <a:solidFill>
                  <a:srgbClr val="F2A900"/>
                </a:solidFill>
              </a:rPr>
              <a:t>Formal proofs</a:t>
            </a:r>
            <a:endParaRPr lang="en-US" sz="1900" dirty="0"/>
          </a:p>
          <a:p>
            <a:pPr indent="0" marL="0">
              <a:spcAft>
                <a:spcPts val="400"/>
              </a:spcAft>
              <a:buNone/>
            </a:pPr>
            <a:r>
              <a:rPr lang="en-US" sz="1600" dirty="0">
                <a:solidFill>
                  <a:srgbClr val="0B1F33"/>
                </a:solidFill>
              </a:rPr>
              <a:t>The security properties are tested, not yet proved. Next: a formal model and model checking or proofs (RO6).</a:t>
            </a:r>
            <a:endParaRPr lang="en-US" sz="1900" dirty="0"/>
          </a:p>
        </p:txBody>
      </p:sp>
      <p:sp>
        <p:nvSpPr>
          <p:cNvPr id="6" name="card Lifecycle"/>
          <p:cNvSpPr/>
          <p:nvPr/>
        </p:nvSpPr>
        <p:spPr>
          <a:xfrm>
            <a:off x="4343400" y="1280160"/>
            <a:ext cx="3520440" cy="2240280"/>
          </a:xfrm>
          <a:prstGeom prst="roundRect">
            <a:avLst>
              <a:gd name="adj" fmla="val 4082"/>
            </a:avLst>
          </a:prstGeom>
          <a:solidFill>
            <a:srgbClr val="FFFFFF">
              <a:alpha val="92000"/>
            </a:srgbClr>
          </a:solidFill>
          <a:ln w="19050">
            <a:solidFill>
              <a:srgbClr val="F2A900"/>
            </a:solidFill>
            <a:prstDash val="solid"/>
          </a:ln>
        </p:spPr>
      </p:sp>
      <p:sp>
        <p:nvSpPr>
          <p:cNvPr id="7" name="card text Lifecycle"/>
          <p:cNvSpPr txBox="1"/>
          <p:nvPr/>
        </p:nvSpPr>
        <p:spPr>
          <a:xfrm>
            <a:off x="4480560" y="1371600"/>
            <a:ext cx="3246120" cy="2057400"/>
          </a:xfrm>
          <a:prstGeom prst="rect">
            <a:avLst/>
          </a:prstGeom>
          <a:noFill/>
          <a:ln/>
        </p:spPr>
        <p:txBody>
          <a:bodyPr wrap="square" rtlCol="0" anchor="t"/>
          <a:lstStyle/>
          <a:p>
            <a:pPr indent="0" marL="0">
              <a:spcAft>
                <a:spcPts val="400"/>
              </a:spcAft>
              <a:buNone/>
            </a:pPr>
            <a:r>
              <a:rPr lang="en-US" sz="1900" b="1" dirty="0">
                <a:solidFill>
                  <a:srgbClr val="F2A900"/>
                </a:solidFill>
              </a:rPr>
              <a:t>Lifecycle</a:t>
            </a:r>
            <a:endParaRPr lang="en-US" sz="1900" dirty="0"/>
          </a:p>
          <a:p>
            <a:pPr indent="0" marL="0">
              <a:spcAft>
                <a:spcPts val="400"/>
              </a:spcAft>
              <a:buNone/>
            </a:pPr>
            <a:r>
              <a:rPr lang="en-US" sz="1600" dirty="0">
                <a:solidFill>
                  <a:srgbClr val="0B1F33"/>
                </a:solidFill>
              </a:rPr>
              <a:t>Consent modification, delegation and guardian-set changes, with a formal lifecycle model (RO5).</a:t>
            </a:r>
            <a:endParaRPr lang="en-US" sz="1900" dirty="0"/>
          </a:p>
        </p:txBody>
      </p:sp>
      <p:sp>
        <p:nvSpPr>
          <p:cNvPr id="8" name="card Identity and keys"/>
          <p:cNvSpPr/>
          <p:nvPr/>
        </p:nvSpPr>
        <p:spPr>
          <a:xfrm>
            <a:off x="8046720" y="1280160"/>
            <a:ext cx="3520440" cy="2240280"/>
          </a:xfrm>
          <a:prstGeom prst="roundRect">
            <a:avLst>
              <a:gd name="adj" fmla="val 4082"/>
            </a:avLst>
          </a:prstGeom>
          <a:solidFill>
            <a:srgbClr val="FFFFFF">
              <a:alpha val="92000"/>
            </a:srgbClr>
          </a:solidFill>
          <a:ln w="19050">
            <a:solidFill>
              <a:srgbClr val="1FB5D6"/>
            </a:solidFill>
            <a:prstDash val="solid"/>
          </a:ln>
        </p:spPr>
      </p:sp>
      <p:sp>
        <p:nvSpPr>
          <p:cNvPr id="9" name="card text Identity and keys"/>
          <p:cNvSpPr txBox="1"/>
          <p:nvPr/>
        </p:nvSpPr>
        <p:spPr>
          <a:xfrm>
            <a:off x="8183880" y="1371600"/>
            <a:ext cx="3246120" cy="2057400"/>
          </a:xfrm>
          <a:prstGeom prst="rect">
            <a:avLst/>
          </a:prstGeom>
          <a:noFill/>
          <a:ln/>
        </p:spPr>
        <p:txBody>
          <a:bodyPr wrap="square" rtlCol="0" anchor="t"/>
          <a:lstStyle/>
          <a:p>
            <a:pPr indent="0" marL="0">
              <a:spcAft>
                <a:spcPts val="400"/>
              </a:spcAft>
              <a:buNone/>
            </a:pPr>
            <a:r>
              <a:rPr lang="en-US" sz="1900" b="1" dirty="0">
                <a:solidFill>
                  <a:srgbClr val="1FB5D6"/>
                </a:solidFill>
              </a:rPr>
              <a:t>Identity and keys</a:t>
            </a:r>
            <a:endParaRPr lang="en-US" sz="1900" dirty="0"/>
          </a:p>
          <a:p>
            <a:pPr indent="0" marL="0">
              <a:spcAft>
                <a:spcPts val="400"/>
              </a:spcAft>
              <a:buNone/>
            </a:pPr>
            <a:r>
              <a:rPr lang="en-US" sz="1600" dirty="0">
                <a:solidFill>
                  <a:srgbClr val="0B1F33"/>
                </a:solidFill>
              </a:rPr>
              <a:t>Full DID resolution and wallet-held guardian keys. Today: signature recovery and keys derived from the guardian DIDs (RO2, RO3).</a:t>
            </a:r>
            <a:endParaRPr lang="en-US" sz="1900" dirty="0"/>
          </a:p>
        </p:txBody>
      </p:sp>
      <p:sp>
        <p:nvSpPr>
          <p:cNvPr id="10" name="card Attack A11"/>
          <p:cNvSpPr/>
          <p:nvPr/>
        </p:nvSpPr>
        <p:spPr>
          <a:xfrm>
            <a:off x="640080" y="3794760"/>
            <a:ext cx="3520440" cy="2240280"/>
          </a:xfrm>
          <a:prstGeom prst="roundRect">
            <a:avLst>
              <a:gd name="adj" fmla="val 4082"/>
            </a:avLst>
          </a:prstGeom>
          <a:solidFill>
            <a:srgbClr val="FFFFFF">
              <a:alpha val="92000"/>
            </a:srgbClr>
          </a:solidFill>
          <a:ln w="19050">
            <a:solidFill>
              <a:srgbClr val="1FB5D6"/>
            </a:solidFill>
            <a:prstDash val="solid"/>
          </a:ln>
        </p:spPr>
      </p:sp>
      <p:sp>
        <p:nvSpPr>
          <p:cNvPr id="11" name="card text Attack A11"/>
          <p:cNvSpPr txBox="1"/>
          <p:nvPr/>
        </p:nvSpPr>
        <p:spPr>
          <a:xfrm>
            <a:off x="777240" y="3886200"/>
            <a:ext cx="3246120" cy="2057400"/>
          </a:xfrm>
          <a:prstGeom prst="rect">
            <a:avLst/>
          </a:prstGeom>
          <a:noFill/>
          <a:ln/>
        </p:spPr>
        <p:txBody>
          <a:bodyPr wrap="square" rtlCol="0" anchor="t"/>
          <a:lstStyle/>
          <a:p>
            <a:pPr indent="0" marL="0">
              <a:spcAft>
                <a:spcPts val="400"/>
              </a:spcAft>
              <a:buNone/>
            </a:pPr>
            <a:r>
              <a:rPr lang="en-US" sz="1900" b="1" dirty="0">
                <a:solidFill>
                  <a:srgbClr val="1FB5D6"/>
                </a:solidFill>
              </a:rPr>
              <a:t>Attack A11</a:t>
            </a:r>
            <a:endParaRPr lang="en-US" sz="1900" dirty="0"/>
          </a:p>
          <a:p>
            <a:pPr indent="0" marL="0">
              <a:spcAft>
                <a:spcPts val="400"/>
              </a:spcAft>
              <a:buNone/>
            </a:pPr>
            <a:r>
              <a:rPr lang="en-US" sz="1600" dirty="0">
                <a:solidFill>
                  <a:srgbClr val="0B1F33"/>
                </a:solidFill>
              </a:rPr>
              <a:t>A changed audit digest is not yet compared by any component. It is marked neutral, not refused.</a:t>
            </a:r>
            <a:endParaRPr lang="en-US" sz="1900" dirty="0"/>
          </a:p>
        </p:txBody>
      </p:sp>
      <p:sp>
        <p:nvSpPr>
          <p:cNvPr id="12" name="card Scale"/>
          <p:cNvSpPr/>
          <p:nvPr/>
        </p:nvSpPr>
        <p:spPr>
          <a:xfrm>
            <a:off x="4343400" y="3794760"/>
            <a:ext cx="3520440" cy="2240280"/>
          </a:xfrm>
          <a:prstGeom prst="roundRect">
            <a:avLst>
              <a:gd name="adj" fmla="val 4082"/>
            </a:avLst>
          </a:prstGeom>
          <a:solidFill>
            <a:srgbClr val="FFFFFF">
              <a:alpha val="92000"/>
            </a:srgbClr>
          </a:solidFill>
          <a:ln w="19050">
            <a:solidFill>
              <a:srgbClr val="1FB5D6"/>
            </a:solidFill>
            <a:prstDash val="solid"/>
          </a:ln>
        </p:spPr>
      </p:sp>
      <p:sp>
        <p:nvSpPr>
          <p:cNvPr id="13" name="card text Scale"/>
          <p:cNvSpPr txBox="1"/>
          <p:nvPr/>
        </p:nvSpPr>
        <p:spPr>
          <a:xfrm>
            <a:off x="4480560" y="3886200"/>
            <a:ext cx="3246120" cy="2057400"/>
          </a:xfrm>
          <a:prstGeom prst="rect">
            <a:avLst/>
          </a:prstGeom>
          <a:noFill/>
          <a:ln/>
        </p:spPr>
        <p:txBody>
          <a:bodyPr wrap="square" rtlCol="0" anchor="t"/>
          <a:lstStyle/>
          <a:p>
            <a:pPr indent="0" marL="0">
              <a:spcAft>
                <a:spcPts val="400"/>
              </a:spcAft>
              <a:buNone/>
            </a:pPr>
            <a:r>
              <a:rPr lang="en-US" sz="1900" b="1" dirty="0">
                <a:solidFill>
                  <a:srgbClr val="1FB5D6"/>
                </a:solidFill>
              </a:rPr>
              <a:t>Scale</a:t>
            </a:r>
            <a:endParaRPr lang="en-US" sz="1900" dirty="0"/>
          </a:p>
          <a:p>
            <a:pPr indent="0" marL="0">
              <a:spcAft>
                <a:spcPts val="400"/>
              </a:spcAft>
              <a:buNone/>
            </a:pPr>
            <a:r>
              <a:rPr lang="en-US" sz="1600" dirty="0">
                <a:solidFill>
                  <a:srgbClr val="0B1F33"/>
                </a:solidFill>
              </a:rPr>
              <a:t>A larger evaluation under load, with more users, consents and concurrent requests.</a:t>
            </a:r>
            <a:endParaRPr lang="en-US" sz="1900" dirty="0"/>
          </a:p>
        </p:txBody>
      </p:sp>
      <p:sp>
        <p:nvSpPr>
          <p:cNvPr id="14" name="card Purpose on-chain"/>
          <p:cNvSpPr/>
          <p:nvPr/>
        </p:nvSpPr>
        <p:spPr>
          <a:xfrm>
            <a:off x="8046720" y="3794760"/>
            <a:ext cx="3520440" cy="2240280"/>
          </a:xfrm>
          <a:prstGeom prst="roundRect">
            <a:avLst>
              <a:gd name="adj" fmla="val 4082"/>
            </a:avLst>
          </a:prstGeom>
          <a:solidFill>
            <a:srgbClr val="FFFFFF">
              <a:alpha val="92000"/>
            </a:srgbClr>
          </a:solidFill>
          <a:ln w="19050">
            <a:solidFill>
              <a:srgbClr val="1FB5D6"/>
            </a:solidFill>
            <a:prstDash val="solid"/>
          </a:ln>
        </p:spPr>
      </p:sp>
      <p:sp>
        <p:nvSpPr>
          <p:cNvPr id="15" name="card text Purpose on-chain"/>
          <p:cNvSpPr txBox="1"/>
          <p:nvPr/>
        </p:nvSpPr>
        <p:spPr>
          <a:xfrm>
            <a:off x="8183880" y="3886200"/>
            <a:ext cx="3246120" cy="2057400"/>
          </a:xfrm>
          <a:prstGeom prst="rect">
            <a:avLst/>
          </a:prstGeom>
          <a:noFill/>
          <a:ln/>
        </p:spPr>
        <p:txBody>
          <a:bodyPr wrap="square" rtlCol="0" anchor="t"/>
          <a:lstStyle/>
          <a:p>
            <a:pPr indent="0" marL="0">
              <a:spcAft>
                <a:spcPts val="400"/>
              </a:spcAft>
              <a:buNone/>
            </a:pPr>
            <a:r>
              <a:rPr lang="en-US" sz="1900" b="1" dirty="0">
                <a:solidFill>
                  <a:srgbClr val="1FB5D6"/>
                </a:solidFill>
              </a:rPr>
              <a:t>Purpose on-chain</a:t>
            </a:r>
            <a:endParaRPr lang="en-US" sz="1900" dirty="0"/>
          </a:p>
          <a:p>
            <a:pPr indent="0" marL="0">
              <a:spcAft>
                <a:spcPts val="400"/>
              </a:spcAft>
              <a:buNone/>
            </a:pPr>
            <a:r>
              <a:rPr lang="en-US" sz="1600" dirty="0">
                <a:solidFill>
                  <a:srgbClr val="0B1F33"/>
                </a:solidFill>
              </a:rPr>
              <a:t>The plaintext purpose is visible in the mint transaction input.</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PLAN</a:t>
            </a:r>
            <a:endParaRPr lang="en-US" sz="3000" dirty="0"/>
          </a:p>
        </p:txBody>
      </p:sp>
      <p:graphicFrame>
        <p:nvGraphicFramePr>
          <p:cNvPr id="28" name="table"/>
          <p:cNvGraphicFramePr>
            <a:graphicFrameLocks noGrp="1"/>
          </p:cNvGraphicFramePr>
          <p:nvPr>
            <p:extLst>
              <p:ext uri="{D42A27DB-BD31-4B8C-83A1-F6EECF244321}">
                <p14:modId xmlns:p14="http://schemas.microsoft.com/office/powerpoint/2010/main" val="1579011935"/>
              </p:ext>
            </p:extLst>
          </p:nvPr>
        </p:nvGraphicFramePr>
        <p:xfrm>
          <a:off x="731520" y="1097280"/>
          <a:ext cx="10698480" cy="914400"/>
        </p:xfrm>
        <a:graphic>
          <a:graphicData uri="http://schemas.openxmlformats.org/drawingml/2006/table">
            <a:tbl>
              <a:tblPr/>
              <a:tblGrid>
                <a:gridCol w="1737360"/>
                <a:gridCol w="6035040"/>
                <a:gridCol w="1463040"/>
                <a:gridCol w="1463040"/>
              </a:tblGrid>
              <a:tr h="457200">
                <a:tc>
                  <a:txBody>
                    <a:bodyPr/>
                    <a:lstStyle/>
                    <a:p>
                      <a:pPr indent="0" marL="0">
                        <a:buNone/>
                      </a:pPr>
                      <a:r>
                        <a:rPr lang="en-US" sz="1300" b="1" dirty="0">
                          <a:solidFill>
                            <a:srgbClr val="FFFFFF"/>
                          </a:solidFill>
                        </a:rPr>
                        <a:t>Task</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Description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Target date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indent="0" marL="0">
                        <a:buNone/>
                      </a:pPr>
                      <a:r>
                        <a:rPr lang="en-US" sz="1300" b="1" dirty="0">
                          <a:solidFill>
                            <a:srgbClr val="FFFFFF"/>
                          </a:solidFill>
                        </a:rPr>
                        <a:t>Status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r>
              <a:tr h="457200">
                <a:tc>
                  <a:txBody>
                    <a:bodyPr/>
                    <a:lstStyle/>
                    <a:p>
                      <a:pPr indent="0" marL="0">
                        <a:buNone/>
                      </a:pPr>
                      <a:r>
                        <a:rPr lang="en-US" sz="1300" b="1" dirty="0">
                          <a:solidFill>
                            <a:srgbClr val="0B1F33"/>
                          </a:solidFill>
                        </a:rPr>
                        <a:t>Chapters 1–4</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Introduction, SLR, Research Questions and Objectives, Research Methodology</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Completed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Chapter 5</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Research Architecture (MVC) and framework design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May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Chapter 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Proposed solution for RQ1 to RQ4 and the HALAH prototype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Jul–Oct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Publication 1</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Conference paper submission, BWCCA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Sep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Publication 2</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SLR paper journal submission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Oct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In Progress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Chapter 7</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Complete prototype evaluation and integrated results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Nov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Publication 3</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Journal paper on formal security assurance, lifecycle trust and the evaluation of HALAH</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Dec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Chapter 8</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Conclusion and future work</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Dec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Final assessment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Final candidature assessment defence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Jan 2027</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0B1F33"/>
                          </a:solidFill>
                        </a:rPr>
                        <a:t>Thesis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Complete thesis submission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Mar 2027</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indent="0" marL="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RESEARCH TIMELINE</a:t>
            </a:r>
            <a:endParaRPr lang="en-US" sz="3000" dirty="0"/>
          </a:p>
        </p:txBody>
      </p:sp>
      <p:sp>
        <p:nvSpPr>
          <p:cNvPr id="4" name="Fplan panel"/>
          <p:cNvSpPr/>
          <p:nvPr/>
        </p:nvSpPr>
        <p:spPr>
          <a:xfrm>
            <a:off x="731520" y="1280160"/>
            <a:ext cx="10698480" cy="4937760"/>
          </a:xfrm>
          <a:prstGeom prst="roundRect">
            <a:avLst>
              <a:gd name="adj" fmla="val 2222"/>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5" name="Fplan" descr="/tmp/deck/img/Fplan.png">    </p:cNvPr>
          <p:cNvPicPr>
            <a:picLocks noChangeAspect="1"/>
          </p:cNvPicPr>
          <p:nvPr/>
        </p:nvPicPr>
        <p:blipFill>
          <a:blip r:embed="rId1"/>
          <a:stretch>
            <a:fillRect/>
          </a:stretch>
        </p:blipFill>
        <p:spPr>
          <a:xfrm>
            <a:off x="841248" y="1440972"/>
            <a:ext cx="10479024" cy="4616136"/>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DEMO: THE HALAH PROTOTYPE</a:t>
            </a:r>
            <a:endParaRPr lang="en-US" sz="3000" dirty="0"/>
          </a:p>
        </p:txBody>
      </p:sp>
      <p:sp>
        <p:nvSpPr>
          <p:cNvPr id="4" name="demo subtitle"/>
          <p:cNvSpPr txBox="1"/>
          <p:nvPr/>
        </p:nvSpPr>
        <p:spPr>
          <a:xfrm>
            <a:off x="731520" y="960120"/>
            <a:ext cx="10698480" cy="411480"/>
          </a:xfrm>
          <a:prstGeom prst="rect">
            <a:avLst/>
          </a:prstGeom>
          <a:noFill/>
          <a:ln/>
        </p:spPr>
        <p:txBody>
          <a:bodyPr wrap="square" rtlCol="0" anchor="ctr"/>
          <a:lstStyle/>
          <a:p>
            <a:pPr indent="0" marL="0">
              <a:buNone/>
            </a:pPr>
            <a:r>
              <a:rPr lang="en-US" sz="1700" i="1" dirty="0">
                <a:solidFill>
                  <a:srgbClr val="1FB5D6"/>
                </a:solidFill>
              </a:rPr>
              <a:t>One real consent, from creation to revocation: RO1 to RO4 in full, and the working parts of RO5 and RO6.</a:t>
            </a:r>
            <a:endParaRPr lang="en-US" sz="1700" dirty="0"/>
          </a:p>
        </p:txBody>
      </p:sp>
      <p:sp>
        <p:nvSpPr>
          <p:cNvPr id="5" name="card Four interfaces"/>
          <p:cNvSpPr/>
          <p:nvPr/>
        </p:nvSpPr>
        <p:spPr>
          <a:xfrm>
            <a:off x="640080" y="1554480"/>
            <a:ext cx="3520440" cy="2103120"/>
          </a:xfrm>
          <a:prstGeom prst="roundRect">
            <a:avLst>
              <a:gd name="adj" fmla="val 4348"/>
            </a:avLst>
          </a:prstGeom>
          <a:solidFill>
            <a:srgbClr val="FFFFFF">
              <a:alpha val="92000"/>
            </a:srgbClr>
          </a:solidFill>
          <a:ln w="19050">
            <a:solidFill>
              <a:srgbClr val="1FB5D6"/>
            </a:solidFill>
            <a:prstDash val="solid"/>
          </a:ln>
        </p:spPr>
      </p:sp>
      <p:sp>
        <p:nvSpPr>
          <p:cNvPr id="6" name="card text Four interfaces"/>
          <p:cNvSpPr txBox="1"/>
          <p:nvPr/>
        </p:nvSpPr>
        <p:spPr>
          <a:xfrm>
            <a:off x="777240" y="1645920"/>
            <a:ext cx="3246120" cy="1920240"/>
          </a:xfrm>
          <a:prstGeom prst="rect">
            <a:avLst/>
          </a:prstGeom>
          <a:noFill/>
          <a:ln/>
        </p:spPr>
        <p:txBody>
          <a:bodyPr wrap="square" rtlCol="0" anchor="t"/>
          <a:lstStyle/>
          <a:p>
            <a:pPr indent="0" marL="0">
              <a:spcAft>
                <a:spcPts val="400"/>
              </a:spcAft>
              <a:buNone/>
            </a:pPr>
            <a:r>
              <a:rPr lang="en-US" sz="1900" b="1" dirty="0">
                <a:solidFill>
                  <a:srgbClr val="0B2A4A"/>
                </a:solidFill>
              </a:rPr>
              <a:t>Four interfaces</a:t>
            </a:r>
            <a:endParaRPr lang="en-US" sz="1900" dirty="0"/>
          </a:p>
          <a:p>
            <a:pPr indent="0" marL="0">
              <a:spcAft>
                <a:spcPts val="400"/>
              </a:spcAft>
              <a:buNone/>
            </a:pPr>
            <a:r>
              <a:rPr lang="en-US" sz="1600" dirty="0">
                <a:solidFill>
                  <a:srgbClr val="0B1F33"/>
                </a:solidFill>
              </a:rPr>
              <a:t>Patient, guardian, doctor and auditor</a:t>
            </a:r>
            <a:endParaRPr lang="en-US" sz="1900" dirty="0"/>
          </a:p>
        </p:txBody>
      </p:sp>
      <p:sp>
        <p:nvSpPr>
          <p:cNvPr id="7" name="card Smart contract"/>
          <p:cNvSpPr/>
          <p:nvPr/>
        </p:nvSpPr>
        <p:spPr>
          <a:xfrm>
            <a:off x="4343400" y="1554480"/>
            <a:ext cx="3520440" cy="2103120"/>
          </a:xfrm>
          <a:prstGeom prst="roundRect">
            <a:avLst>
              <a:gd name="adj" fmla="val 4348"/>
            </a:avLst>
          </a:prstGeom>
          <a:solidFill>
            <a:srgbClr val="FFFFFF">
              <a:alpha val="92000"/>
            </a:srgbClr>
          </a:solidFill>
          <a:ln w="19050">
            <a:solidFill>
              <a:srgbClr val="1FB5D6"/>
            </a:solidFill>
            <a:prstDash val="solid"/>
          </a:ln>
        </p:spPr>
      </p:sp>
      <p:sp>
        <p:nvSpPr>
          <p:cNvPr id="8" name="card text Smart contract"/>
          <p:cNvSpPr txBox="1"/>
          <p:nvPr/>
        </p:nvSpPr>
        <p:spPr>
          <a:xfrm>
            <a:off x="4480560" y="1645920"/>
            <a:ext cx="3246120" cy="1920240"/>
          </a:xfrm>
          <a:prstGeom prst="rect">
            <a:avLst/>
          </a:prstGeom>
          <a:noFill/>
          <a:ln/>
        </p:spPr>
        <p:txBody>
          <a:bodyPr wrap="square" rtlCol="0" anchor="t"/>
          <a:lstStyle/>
          <a:p>
            <a:pPr indent="0" marL="0">
              <a:spcAft>
                <a:spcPts val="400"/>
              </a:spcAft>
              <a:buNone/>
            </a:pPr>
            <a:r>
              <a:rPr lang="en-US" sz="1900" b="1" dirty="0">
                <a:solidFill>
                  <a:srgbClr val="0B2A4A"/>
                </a:solidFill>
              </a:rPr>
              <a:t>Smart contract</a:t>
            </a:r>
            <a:endParaRPr lang="en-US" sz="1900" dirty="0"/>
          </a:p>
          <a:p>
            <a:pPr indent="0" marL="0">
              <a:spcAft>
                <a:spcPts val="400"/>
              </a:spcAft>
              <a:buNone/>
            </a:pPr>
            <a:r>
              <a:rPr lang="en-US" sz="1600" dirty="0">
                <a:solidFill>
                  <a:srgbClr val="0B1F33"/>
                </a:solidFill>
              </a:rPr>
              <a:t>ConsentSBTv3, a soulbound ERC-721 token (ERC-5484) on the Sepolia testnet</a:t>
            </a:r>
            <a:endParaRPr lang="en-US" sz="1900" dirty="0"/>
          </a:p>
        </p:txBody>
      </p:sp>
      <p:sp>
        <p:nvSpPr>
          <p:cNvPr id="9" name="card Guardian approval"/>
          <p:cNvSpPr/>
          <p:nvPr/>
        </p:nvSpPr>
        <p:spPr>
          <a:xfrm>
            <a:off x="8046720" y="1554480"/>
            <a:ext cx="3520440" cy="2103120"/>
          </a:xfrm>
          <a:prstGeom prst="roundRect">
            <a:avLst>
              <a:gd name="adj" fmla="val 4348"/>
            </a:avLst>
          </a:prstGeom>
          <a:solidFill>
            <a:srgbClr val="FFFFFF">
              <a:alpha val="92000"/>
            </a:srgbClr>
          </a:solidFill>
          <a:ln w="19050">
            <a:solidFill>
              <a:srgbClr val="1FB5D6"/>
            </a:solidFill>
            <a:prstDash val="solid"/>
          </a:ln>
        </p:spPr>
      </p:sp>
      <p:sp>
        <p:nvSpPr>
          <p:cNvPr id="10" name="card text Guardian approval"/>
          <p:cNvSpPr txBox="1"/>
          <p:nvPr/>
        </p:nvSpPr>
        <p:spPr>
          <a:xfrm>
            <a:off x="8183880" y="1645920"/>
            <a:ext cx="3246120" cy="1920240"/>
          </a:xfrm>
          <a:prstGeom prst="rect">
            <a:avLst/>
          </a:prstGeom>
          <a:noFill/>
          <a:ln/>
        </p:spPr>
        <p:txBody>
          <a:bodyPr wrap="square" rtlCol="0" anchor="t"/>
          <a:lstStyle/>
          <a:p>
            <a:pPr indent="0" marL="0">
              <a:spcAft>
                <a:spcPts val="400"/>
              </a:spcAft>
              <a:buNone/>
            </a:pPr>
            <a:r>
              <a:rPr lang="en-US" sz="1900" b="1" dirty="0">
                <a:solidFill>
                  <a:srgbClr val="0B2A4A"/>
                </a:solidFill>
              </a:rPr>
              <a:t>Guardian approval</a:t>
            </a:r>
            <a:endParaRPr lang="en-US" sz="1900" dirty="0"/>
          </a:p>
          <a:p>
            <a:pPr indent="0" marL="0">
              <a:spcAft>
                <a:spcPts val="400"/>
              </a:spcAft>
              <a:buNone/>
            </a:pPr>
            <a:r>
              <a:rPr lang="en-US" sz="1600" dirty="0">
                <a:solidFill>
                  <a:srgbClr val="0B1F33"/>
                </a:solidFill>
              </a:rPr>
              <a:t>EIP-712 typed signatures, verified by signature recovery</a:t>
            </a:r>
            <a:endParaRPr lang="en-US" sz="1900" dirty="0"/>
          </a:p>
        </p:txBody>
      </p:sp>
      <p:sp>
        <p:nvSpPr>
          <p:cNvPr id="11" name="card Access proof"/>
          <p:cNvSpPr/>
          <p:nvPr/>
        </p:nvSpPr>
        <p:spPr>
          <a:xfrm>
            <a:off x="640080" y="3931920"/>
            <a:ext cx="3520440" cy="2103120"/>
          </a:xfrm>
          <a:prstGeom prst="roundRect">
            <a:avLst>
              <a:gd name="adj" fmla="val 4348"/>
            </a:avLst>
          </a:prstGeom>
          <a:solidFill>
            <a:srgbClr val="FFFFFF">
              <a:alpha val="92000"/>
            </a:srgbClr>
          </a:solidFill>
          <a:ln w="19050">
            <a:solidFill>
              <a:srgbClr val="1FB5D6"/>
            </a:solidFill>
            <a:prstDash val="solid"/>
          </a:ln>
        </p:spPr>
      </p:sp>
      <p:sp>
        <p:nvSpPr>
          <p:cNvPr id="12" name="card text Access proof"/>
          <p:cNvSpPr txBox="1"/>
          <p:nvPr/>
        </p:nvSpPr>
        <p:spPr>
          <a:xfrm>
            <a:off x="777240" y="4023360"/>
            <a:ext cx="3246120" cy="1920240"/>
          </a:xfrm>
          <a:prstGeom prst="rect">
            <a:avLst/>
          </a:prstGeom>
          <a:noFill/>
          <a:ln/>
        </p:spPr>
        <p:txBody>
          <a:bodyPr wrap="square" rtlCol="0" anchor="t"/>
          <a:lstStyle/>
          <a:p>
            <a:pPr indent="0" marL="0">
              <a:spcAft>
                <a:spcPts val="400"/>
              </a:spcAft>
              <a:buNone/>
            </a:pPr>
            <a:r>
              <a:rPr lang="en-US" sz="1900" b="1" dirty="0">
                <a:solidFill>
                  <a:srgbClr val="0B2A4A"/>
                </a:solidFill>
              </a:rPr>
              <a:t>Access proof</a:t>
            </a:r>
            <a:endParaRPr lang="en-US" sz="1900" dirty="0"/>
          </a:p>
          <a:p>
            <a:pPr indent="0" marL="0">
              <a:spcAft>
                <a:spcPts val="400"/>
              </a:spcAft>
              <a:buNone/>
            </a:pPr>
            <a:r>
              <a:rPr lang="en-US" sz="1600" dirty="0">
                <a:solidFill>
                  <a:srgbClr val="0B1F33"/>
                </a:solidFill>
              </a:rPr>
              <a:t>Groth16 zero-knowledge proof over a Poseidon commitment</a:t>
            </a:r>
            <a:endParaRPr lang="en-US" sz="1900" dirty="0"/>
          </a:p>
        </p:txBody>
      </p:sp>
      <p:sp>
        <p:nvSpPr>
          <p:cNvPr id="13" name="card Data"/>
          <p:cNvSpPr/>
          <p:nvPr/>
        </p:nvSpPr>
        <p:spPr>
          <a:xfrm>
            <a:off x="4343400" y="3931920"/>
            <a:ext cx="3520440" cy="2103120"/>
          </a:xfrm>
          <a:prstGeom prst="roundRect">
            <a:avLst>
              <a:gd name="adj" fmla="val 4348"/>
            </a:avLst>
          </a:prstGeom>
          <a:solidFill>
            <a:srgbClr val="FFFFFF">
              <a:alpha val="92000"/>
            </a:srgbClr>
          </a:solidFill>
          <a:ln w="19050">
            <a:solidFill>
              <a:srgbClr val="1FB5D6"/>
            </a:solidFill>
            <a:prstDash val="solid"/>
          </a:ln>
        </p:spPr>
      </p:sp>
      <p:sp>
        <p:nvSpPr>
          <p:cNvPr id="14" name="card text Data"/>
          <p:cNvSpPr txBox="1"/>
          <p:nvPr/>
        </p:nvSpPr>
        <p:spPr>
          <a:xfrm>
            <a:off x="4480560" y="4023360"/>
            <a:ext cx="3246120" cy="1920240"/>
          </a:xfrm>
          <a:prstGeom prst="rect">
            <a:avLst/>
          </a:prstGeom>
          <a:noFill/>
          <a:ln/>
        </p:spPr>
        <p:txBody>
          <a:bodyPr wrap="square" rtlCol="0" anchor="t"/>
          <a:lstStyle/>
          <a:p>
            <a:pPr indent="0" marL="0">
              <a:spcAft>
                <a:spcPts val="400"/>
              </a:spcAft>
              <a:buNone/>
            </a:pPr>
            <a:r>
              <a:rPr lang="en-US" sz="1900" b="1" dirty="0">
                <a:solidFill>
                  <a:srgbClr val="0B2A4A"/>
                </a:solidFill>
              </a:rPr>
              <a:t>Data</a:t>
            </a:r>
            <a:endParaRPr lang="en-US" sz="1900" dirty="0"/>
          </a:p>
          <a:p>
            <a:pPr indent="0" marL="0">
              <a:spcAft>
                <a:spcPts val="400"/>
              </a:spcAft>
              <a:buNone/>
            </a:pPr>
            <a:r>
              <a:rPr lang="en-US" sz="1600" dirty="0">
                <a:solidFill>
                  <a:srgbClr val="0B1F33"/>
                </a:solidFill>
              </a:rPr>
              <a:t>Synthetic Synthea records: Observation, Medication, Condition, Procedure</a:t>
            </a:r>
            <a:endParaRPr lang="en-US" sz="1900" dirty="0"/>
          </a:p>
        </p:txBody>
      </p:sp>
      <p:sp>
        <p:nvSpPr>
          <p:cNvPr id="15" name="card Evidence"/>
          <p:cNvSpPr/>
          <p:nvPr/>
        </p:nvSpPr>
        <p:spPr>
          <a:xfrm>
            <a:off x="8046720" y="3931920"/>
            <a:ext cx="3520440" cy="2103120"/>
          </a:xfrm>
          <a:prstGeom prst="roundRect">
            <a:avLst>
              <a:gd name="adj" fmla="val 4348"/>
            </a:avLst>
          </a:prstGeom>
          <a:solidFill>
            <a:srgbClr val="FFFFFF">
              <a:alpha val="92000"/>
            </a:srgbClr>
          </a:solidFill>
          <a:ln w="19050">
            <a:solidFill>
              <a:srgbClr val="1FB5D6"/>
            </a:solidFill>
            <a:prstDash val="solid"/>
          </a:ln>
        </p:spPr>
      </p:sp>
      <p:sp>
        <p:nvSpPr>
          <p:cNvPr id="16" name="card text Evidence"/>
          <p:cNvSpPr txBox="1"/>
          <p:nvPr/>
        </p:nvSpPr>
        <p:spPr>
          <a:xfrm>
            <a:off x="8183880" y="4023360"/>
            <a:ext cx="3246120" cy="1920240"/>
          </a:xfrm>
          <a:prstGeom prst="rect">
            <a:avLst/>
          </a:prstGeom>
          <a:noFill/>
          <a:ln/>
        </p:spPr>
        <p:txBody>
          <a:bodyPr wrap="square" rtlCol="0" anchor="t"/>
          <a:lstStyle/>
          <a:p>
            <a:pPr indent="0" marL="0">
              <a:spcAft>
                <a:spcPts val="400"/>
              </a:spcAft>
              <a:buNone/>
            </a:pPr>
            <a:r>
              <a:rPr lang="en-US" sz="1900" b="1" dirty="0">
                <a:solidFill>
                  <a:srgbClr val="0B2A4A"/>
                </a:solidFill>
              </a:rPr>
              <a:t>Evidence</a:t>
            </a:r>
            <a:endParaRPr lang="en-US" sz="1900" dirty="0"/>
          </a:p>
          <a:p>
            <a:pPr indent="0" marL="0">
              <a:spcAft>
                <a:spcPts val="400"/>
              </a:spcAft>
              <a:buNone/>
            </a:pPr>
            <a:r>
              <a:rPr lang="en-US" sz="1600" dirty="0">
                <a:solidFill>
                  <a:srgbClr val="0B1F33"/>
                </a:solidFill>
              </a:rPr>
              <a:t>Audit ledger of every decision on an active consent; no medical content on-chain</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DEMO 1: THE PATIENT CREATES THE CONSENT</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sp>
      <p:sp>
        <p:nvSpPr>
          <p:cNvPr id="5" name="status text"/>
          <p:cNvSpPr txBox="1"/>
          <p:nvPr/>
        </p:nvSpPr>
        <p:spPr>
          <a:xfrm>
            <a:off x="731520" y="1005840"/>
            <a:ext cx="2377440" cy="411480"/>
          </a:xfrm>
          <a:prstGeom prst="rect">
            <a:avLst/>
          </a:prstGeom>
          <a:noFill/>
          <a:ln/>
        </p:spPr>
        <p:txBody>
          <a:bodyPr wrap="square" rtlCol="0" anchor="ctr"/>
          <a:lstStyle/>
          <a:p>
            <a:pPr algn="ctr" indent="0" marL="0">
              <a:buNone/>
            </a:pPr>
            <a:r>
              <a:rPr lang="en-US" sz="1400" b="1" dirty="0">
                <a:solidFill>
                  <a:srgbClr val="FFFFFF"/>
                </a:solidFill>
              </a:rPr>
              <a:t>RO1</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pPr indent="0" marL="0">
              <a:buNone/>
            </a:pPr>
            <a:r>
              <a:rPr lang="en-US" sz="1600" i="1" dirty="0">
                <a:solidFill>
                  <a:srgbClr val="1FB5D6"/>
                </a:solidFill>
              </a:rPr>
              <a:t>Consent as an evaluable object</a:t>
            </a:r>
            <a:endParaRPr lang="en-US" sz="1600" dirty="0"/>
          </a:p>
        </p:txBody>
      </p:sp>
      <p:sp>
        <p:nvSpPr>
          <p:cNvPr id="7" name="F21 panel"/>
          <p:cNvSpPr/>
          <p:nvPr/>
        </p:nvSpPr>
        <p:spPr>
          <a:xfrm>
            <a:off x="640080" y="1600200"/>
            <a:ext cx="6949440" cy="4709160"/>
          </a:xfrm>
          <a:prstGeom prst="roundRect">
            <a:avLst>
              <a:gd name="adj" fmla="val 233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8" name="F21" descr="/tmp/deck/img/F21.png">    </p:cNvPr>
          <p:cNvPicPr>
            <a:picLocks noChangeAspect="1"/>
          </p:cNvPicPr>
          <p:nvPr/>
        </p:nvPicPr>
        <p:blipFill>
          <a:blip r:embed="rId1"/>
          <a:stretch>
            <a:fillRect/>
          </a:stretch>
        </p:blipFill>
        <p:spPr>
          <a:xfrm>
            <a:off x="1079655" y="1709928"/>
            <a:ext cx="6070290" cy="4489704"/>
          </a:xfrm>
          <a:prstGeom prst="rect">
            <a:avLst/>
          </a:prstGeom>
        </p:spPr>
      </p:pic>
      <p:sp>
        <p:nvSpPr>
          <p:cNvPr id="9" name="caption"/>
          <p:cNvSpPr txBox="1"/>
          <p:nvPr/>
        </p:nvSpPr>
        <p:spPr>
          <a:xfrm>
            <a:off x="640080" y="6355080"/>
            <a:ext cx="6949440" cy="320040"/>
          </a:xfrm>
          <a:prstGeom prst="rect">
            <a:avLst/>
          </a:prstGeom>
          <a:noFill/>
          <a:ln/>
        </p:spPr>
        <p:txBody>
          <a:bodyPr wrap="square" rtlCol="0" anchor="ctr"/>
          <a:lstStyle/>
          <a:p>
            <a:pPr algn="ctr" indent="0" marL="0">
              <a:buNone/>
            </a:pPr>
            <a:r>
              <a:rPr lang="en-US" sz="1200" i="1" dirty="0">
                <a:solidFill>
                  <a:srgbClr val="FFFFFF"/>
                </a:solidFill>
              </a:rPr>
              <a:t>Patient subsystem after creation: four modules, two guardians, state PENDING_SIGNATURE</a:t>
            </a:r>
            <a:endParaRPr lang="en-US" sz="1200" dirty="0"/>
          </a:p>
        </p:txBody>
      </p:sp>
      <p:sp>
        <p:nvSpPr>
          <p:cNvPr id="10" name="bullets"/>
          <p:cNvSpPr txBox="1"/>
          <p:nvPr/>
        </p:nvSpPr>
        <p:spPr>
          <a:xfrm>
            <a:off x="7863840" y="1600200"/>
            <a:ext cx="3749040" cy="47548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The patient chooses the doctor, two guardians, the data modules </a:t>
            </a:r>
            <a:r>
              <a:rPr lang="en-US" sz="1600" dirty="0">
                <a:solidFill>
                  <a:srgbClr val="FFFFFF"/>
                </a:solidFill>
              </a:rPr>
              <a:t>and</a:t>
            </a:r>
            <a:r>
              <a:rPr lang="en-US" sz="1600" dirty="0">
                <a:solidFill>
                  <a:srgbClr val="FFFFFF"/>
                </a:solidFill>
              </a:rPr>
              <a:t> the validity time.</a:t>
            </a:r>
            <a:endParaRPr lang="en-US" sz="1600" dirty="0"/>
          </a:p>
          <a:p>
            <a:pPr marL="342900" indent="-342900">
              <a:spcAft>
                <a:spcPts val="1000"/>
              </a:spcAft>
              <a:buSzPct val="100000"/>
              <a:buChar char="•"/>
            </a:pPr>
            <a:r>
              <a:rPr lang="en-US" sz="1600" dirty="0">
                <a:solidFill>
                  <a:srgbClr val="FFFFFF"/>
                </a:solidFill>
              </a:rPr>
              <a:t>The purpose is fixed to Treatment in this prototype.</a:t>
            </a:r>
            <a:endParaRPr lang="en-US" sz="1600" dirty="0"/>
          </a:p>
          <a:p>
            <a:pPr marL="342900" indent="-342900">
              <a:spcAft>
                <a:spcPts val="1000"/>
              </a:spcAft>
              <a:buSzPct val="100000"/>
              <a:buChar char="•"/>
            </a:pPr>
            <a:r>
              <a:rPr lang="en-US" sz="1600" dirty="0">
                <a:solidFill>
                  <a:srgbClr val="FFFFFF"/>
                </a:solidFill>
              </a:rPr>
              <a:t>An empty data scope or a malformed guardian DID is rejected.</a:t>
            </a:r>
            <a:endParaRPr lang="en-US" sz="1600" dirty="0"/>
          </a:p>
          <a:p>
            <a:pPr marL="342900" indent="-342900">
              <a:spcAft>
                <a:spcPts val="1000"/>
              </a:spcAft>
              <a:buSzPct val="100000"/>
              <a:buChar char="•"/>
            </a:pPr>
            <a:r>
              <a:rPr lang="en-US" sz="1600" dirty="0">
                <a:solidFill>
                  <a:srgbClr val="FFFFFF"/>
                </a:solidFill>
              </a:rPr>
              <a:t>The consent is stored as PENDING_SIGNATURE. Nothing is on the blockchain yet.</a:t>
            </a:r>
            <a:endParaRPr lang="en-US" sz="16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DEMO 2: THE FIRST GUARDIAN APPROVES</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sp>
      <p:sp>
        <p:nvSpPr>
          <p:cNvPr id="5" name="status text"/>
          <p:cNvSpPr txBox="1"/>
          <p:nvPr/>
        </p:nvSpPr>
        <p:spPr>
          <a:xfrm>
            <a:off x="731520" y="1005840"/>
            <a:ext cx="2377440" cy="411480"/>
          </a:xfrm>
          <a:prstGeom prst="rect">
            <a:avLst/>
          </a:prstGeom>
          <a:noFill/>
          <a:ln/>
        </p:spPr>
        <p:txBody>
          <a:bodyPr wrap="square" rtlCol="0" anchor="ctr"/>
          <a:lstStyle/>
          <a:p>
            <a:pPr algn="ctr" indent="0" marL="0">
              <a:buNone/>
            </a:pPr>
            <a:r>
              <a:rPr lang="en-US" sz="1400" b="1" dirty="0">
                <a:solidFill>
                  <a:srgbClr val="FFFFFF"/>
                </a:solidFill>
              </a:rPr>
              <a:t>RO3</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pPr indent="0" marL="0">
              <a:buNone/>
            </a:pPr>
            <a:r>
              <a:rPr lang="en-US" sz="1600" i="1" dirty="0">
                <a:solidFill>
                  <a:srgbClr val="1FB5D6"/>
                </a:solidFill>
              </a:rPr>
              <a:t>Multi-party approval: one signature is not enough</a:t>
            </a:r>
            <a:endParaRPr lang="en-US" sz="1600" dirty="0"/>
          </a:p>
        </p:txBody>
      </p:sp>
      <p:sp>
        <p:nvSpPr>
          <p:cNvPr id="7" name="F22 panel"/>
          <p:cNvSpPr/>
          <p:nvPr/>
        </p:nvSpPr>
        <p:spPr>
          <a:xfrm>
            <a:off x="640080" y="1600200"/>
            <a:ext cx="6949440" cy="4709160"/>
          </a:xfrm>
          <a:prstGeom prst="roundRect">
            <a:avLst>
              <a:gd name="adj" fmla="val 233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8" name="F22" descr="/tmp/deck/img/F22.png">    </p:cNvPr>
          <p:cNvPicPr>
            <a:picLocks noChangeAspect="1"/>
          </p:cNvPicPr>
          <p:nvPr/>
        </p:nvPicPr>
        <p:blipFill>
          <a:blip r:embed="rId1"/>
          <a:stretch>
            <a:fillRect/>
          </a:stretch>
        </p:blipFill>
        <p:spPr>
          <a:xfrm>
            <a:off x="749808" y="2746760"/>
            <a:ext cx="6729984" cy="2416041"/>
          </a:xfrm>
          <a:prstGeom prst="rect">
            <a:avLst/>
          </a:prstGeom>
        </p:spPr>
      </p:pic>
      <p:sp>
        <p:nvSpPr>
          <p:cNvPr id="9" name="caption"/>
          <p:cNvSpPr txBox="1"/>
          <p:nvPr/>
        </p:nvSpPr>
        <p:spPr>
          <a:xfrm>
            <a:off x="640080" y="6355080"/>
            <a:ext cx="6949440" cy="320040"/>
          </a:xfrm>
          <a:prstGeom prst="rect">
            <a:avLst/>
          </a:prstGeom>
          <a:noFill/>
          <a:ln/>
        </p:spPr>
        <p:txBody>
          <a:bodyPr wrap="square" rtlCol="0" anchor="ctr"/>
          <a:lstStyle/>
          <a:p>
            <a:pPr algn="ctr" indent="0" marL="0">
              <a:buNone/>
            </a:pPr>
            <a:r>
              <a:rPr lang="en-US" sz="1200" i="1" dirty="0">
                <a:solidFill>
                  <a:srgbClr val="FFFFFF"/>
                </a:solidFill>
              </a:rPr>
              <a:t>Guardian subsystem at the first approval: signature verified, multi-signature count 1/2</a:t>
            </a:r>
            <a:endParaRPr lang="en-US" sz="1200" dirty="0"/>
          </a:p>
        </p:txBody>
      </p:sp>
      <p:sp>
        <p:nvSpPr>
          <p:cNvPr id="10" name="bullets"/>
          <p:cNvSpPr txBox="1"/>
          <p:nvPr/>
        </p:nvSpPr>
        <p:spPr>
          <a:xfrm>
            <a:off x="7863840" y="1600200"/>
            <a:ext cx="3749040" cy="47548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The first guardian signs an EIP-712 approval.</a:t>
            </a:r>
            <a:endParaRPr lang="en-US" sz="1600" dirty="0"/>
          </a:p>
          <a:p>
            <a:pPr marL="342900" indent="-342900">
              <a:spcAft>
                <a:spcPts val="1000"/>
              </a:spcAft>
              <a:buSzPct val="100000"/>
              <a:buChar char="•"/>
            </a:pPr>
            <a:r>
              <a:rPr lang="en-US" sz="1600" dirty="0">
                <a:solidFill>
                  <a:srgbClr val="FFFFFF"/>
                </a:solidFill>
              </a:rPr>
              <a:t>The system recovers the signer and confirms it is a listed guardian.</a:t>
            </a:r>
            <a:endParaRPr lang="en-US" sz="1600" dirty="0"/>
          </a:p>
          <a:p>
            <a:pPr marL="342900" indent="-342900">
              <a:spcAft>
                <a:spcPts val="1000"/>
              </a:spcAft>
              <a:buSzPct val="100000"/>
              <a:buChar char="•"/>
            </a:pPr>
            <a:r>
              <a:rPr lang="en-US" sz="1600" dirty="0">
                <a:solidFill>
                  <a:srgbClr val="FFFFFF"/>
                </a:solidFill>
              </a:rPr>
              <a:t>The counter shows 1 of 2. The consent stays pending.</a:t>
            </a:r>
            <a:endParaRPr lang="en-US" sz="1600" dirty="0"/>
          </a:p>
          <a:p>
            <a:pPr marL="342900" indent="-342900">
              <a:spcAft>
                <a:spcPts val="1000"/>
              </a:spcAft>
              <a:buSzPct val="100000"/>
              <a:buChar char="•"/>
            </a:pPr>
            <a:r>
              <a:rPr lang="en-US" sz="1600" dirty="0">
                <a:solidFill>
                  <a:srgbClr val="FFFFFF"/>
                </a:solidFill>
              </a:rPr>
              <a:t>Approvals from outsiders, replays and duplicates would not be counted.</a:t>
            </a:r>
            <a:endParaRPr lang="en-US" sz="16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DEMO 3: SECOND APPROVAL, TOKEN MINTED</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sp>
      <p:sp>
        <p:nvSpPr>
          <p:cNvPr id="5" name="status text"/>
          <p:cNvSpPr txBox="1"/>
          <p:nvPr/>
        </p:nvSpPr>
        <p:spPr>
          <a:xfrm>
            <a:off x="731520" y="1005840"/>
            <a:ext cx="2377440" cy="411480"/>
          </a:xfrm>
          <a:prstGeom prst="rect">
            <a:avLst/>
          </a:prstGeom>
          <a:noFill/>
          <a:ln/>
        </p:spPr>
        <p:txBody>
          <a:bodyPr wrap="square" rtlCol="0" anchor="ctr"/>
          <a:lstStyle/>
          <a:p>
            <a:pPr algn="ctr" indent="0" marL="0">
              <a:buNone/>
            </a:pPr>
            <a:r>
              <a:rPr lang="en-US" sz="1400" b="1" dirty="0">
                <a:solidFill>
                  <a:srgbClr val="FFFFFF"/>
                </a:solidFill>
              </a:rPr>
              <a:t>RO3</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pPr indent="0" marL="0">
              <a:buNone/>
            </a:pPr>
            <a:r>
              <a:rPr lang="en-US" sz="1600" i="1" dirty="0">
                <a:solidFill>
                  <a:srgbClr val="1FB5D6"/>
                </a:solidFill>
              </a:rPr>
              <a:t>Threshold reached: 2 of 2, then anchoring in the background</a:t>
            </a:r>
            <a:endParaRPr lang="en-US" sz="1600" dirty="0"/>
          </a:p>
        </p:txBody>
      </p:sp>
      <p:sp>
        <p:nvSpPr>
          <p:cNvPr id="7" name="bullets"/>
          <p:cNvSpPr txBox="1"/>
          <p:nvPr/>
        </p:nvSpPr>
        <p:spPr>
          <a:xfrm>
            <a:off x="731520" y="1463040"/>
            <a:ext cx="10789920" cy="868680"/>
          </a:xfrm>
          <a:prstGeom prst="rect">
            <a:avLst/>
          </a:prstGeom>
          <a:noFill/>
          <a:ln/>
        </p:spPr>
        <p:txBody>
          <a:bodyPr wrap="square" rtlCol="0" anchor="t"/>
          <a:lstStyle/>
          <a:p>
            <a:pPr marL="342900" indent="-342900">
              <a:buSzPct val="100000"/>
              <a:buChar char="•"/>
            </a:pPr>
            <a:r>
              <a:rPr lang="en-US" sz="1400" dirty="0">
                <a:solidFill>
                  <a:srgbClr val="FFFFFF"/>
                </a:solidFill>
              </a:rPr>
              <a:t>Second signature verified; threshold 2 of 2 reached</a:t>
            </a:r>
            <a:endParaRPr lang="en-US" sz="1400" dirty="0"/>
          </a:p>
          <a:p>
            <a:pPr marL="342900" indent="-342900">
              <a:buSzPct val="100000"/>
              <a:buChar char="•"/>
            </a:pPr>
            <a:r>
              <a:rPr lang="en-US" sz="1400" dirty="0">
                <a:solidFill>
                  <a:srgbClr val="FFFFFF"/>
                </a:solidFill>
              </a:rPr>
              <a:t>A soulbound token is minted on Sepolia in the background; the user does not wait</a:t>
            </a:r>
            <a:endParaRPr lang="en-US" sz="1400" dirty="0"/>
          </a:p>
          <a:p>
            <a:pPr marL="342900" indent="-342900">
              <a:buSzPct val="100000"/>
              <a:buChar char="•"/>
            </a:pPr>
            <a:r>
              <a:rPr lang="en-US" sz="1400" dirty="0">
                <a:solidFill>
                  <a:srgbClr val="FFFFFF"/>
                </a:solidFill>
              </a:rPr>
              <a:t>Later the same screen reads: already anchored on Sepolia</a:t>
            </a:r>
            <a:endParaRPr lang="en-US" sz="1400" dirty="0"/>
          </a:p>
        </p:txBody>
      </p:sp>
      <p:sp>
        <p:nvSpPr>
          <p:cNvPr id="8" name="F23 panel"/>
          <p:cNvSpPr/>
          <p:nvPr/>
        </p:nvSpPr>
        <p:spPr>
          <a:xfrm>
            <a:off x="640080" y="2377440"/>
            <a:ext cx="5394960" cy="2743200"/>
          </a:xfrm>
          <a:prstGeom prst="roundRect">
            <a:avLst>
              <a:gd name="adj" fmla="val 400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23" descr="/tmp/deck/img/F23.png">    </p:cNvPr>
          <p:cNvPicPr>
            <a:picLocks noChangeAspect="1"/>
          </p:cNvPicPr>
          <p:nvPr/>
        </p:nvPicPr>
        <p:blipFill>
          <a:blip r:embed="rId1"/>
          <a:stretch>
            <a:fillRect/>
          </a:stretch>
        </p:blipFill>
        <p:spPr>
          <a:xfrm>
            <a:off x="749808" y="2562614"/>
            <a:ext cx="5175504" cy="2372852"/>
          </a:xfrm>
          <a:prstGeom prst="rect">
            <a:avLst/>
          </a:prstGeom>
        </p:spPr>
      </p:pic>
      <p:sp>
        <p:nvSpPr>
          <p:cNvPr id="10" name="caption"/>
          <p:cNvSpPr txBox="1"/>
          <p:nvPr/>
        </p:nvSpPr>
        <p:spPr>
          <a:xfrm>
            <a:off x="640080" y="5166360"/>
            <a:ext cx="5394960" cy="320040"/>
          </a:xfrm>
          <a:prstGeom prst="rect">
            <a:avLst/>
          </a:prstGeom>
          <a:noFill/>
          <a:ln/>
        </p:spPr>
        <p:txBody>
          <a:bodyPr wrap="square" rtlCol="0" anchor="ctr"/>
          <a:lstStyle/>
          <a:p>
            <a:pPr algn="ctr" indent="0" marL="0">
              <a:buNone/>
            </a:pPr>
            <a:r>
              <a:rPr lang="en-US" sz="1200" i="1" dirty="0">
                <a:solidFill>
                  <a:srgbClr val="FFFFFF"/>
                </a:solidFill>
              </a:rPr>
              <a:t>Second approval: 2/2 reached, SBT minted in the background</a:t>
            </a:r>
            <a:endParaRPr lang="en-US" sz="1200" dirty="0"/>
          </a:p>
        </p:txBody>
      </p:sp>
      <p:sp>
        <p:nvSpPr>
          <p:cNvPr id="11" name="F25 panel"/>
          <p:cNvSpPr/>
          <p:nvPr/>
        </p:nvSpPr>
        <p:spPr>
          <a:xfrm>
            <a:off x="6172200" y="2377440"/>
            <a:ext cx="5394960" cy="2743200"/>
          </a:xfrm>
          <a:prstGeom prst="roundRect">
            <a:avLst>
              <a:gd name="adj" fmla="val 400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12" name="F25" descr="/tmp/deck/img/F25.png">    </p:cNvPr>
          <p:cNvPicPr>
            <a:picLocks noChangeAspect="1"/>
          </p:cNvPicPr>
          <p:nvPr/>
        </p:nvPicPr>
        <p:blipFill>
          <a:blip r:embed="rId2"/>
          <a:stretch>
            <a:fillRect/>
          </a:stretch>
        </p:blipFill>
        <p:spPr>
          <a:xfrm>
            <a:off x="6281928" y="2949468"/>
            <a:ext cx="5175504" cy="1599144"/>
          </a:xfrm>
          <a:prstGeom prst="rect">
            <a:avLst/>
          </a:prstGeom>
        </p:spPr>
      </p:pic>
      <p:sp>
        <p:nvSpPr>
          <p:cNvPr id="13" name="caption"/>
          <p:cNvSpPr txBox="1"/>
          <p:nvPr/>
        </p:nvSpPr>
        <p:spPr>
          <a:xfrm>
            <a:off x="6172200" y="5166360"/>
            <a:ext cx="5394960" cy="320040"/>
          </a:xfrm>
          <a:prstGeom prst="rect">
            <a:avLst/>
          </a:prstGeom>
          <a:noFill/>
          <a:ln/>
        </p:spPr>
        <p:txBody>
          <a:bodyPr wrap="square" rtlCol="0" anchor="ctr"/>
          <a:lstStyle/>
          <a:p>
            <a:pPr algn="ctr" indent="0" marL="0">
              <a:buNone/>
            </a:pPr>
            <a:r>
              <a:rPr lang="en-US" sz="1200" i="1" dirty="0">
                <a:solidFill>
                  <a:srgbClr val="FFFFFF"/>
                </a:solidFill>
              </a:rPr>
              <a:t>Revisited after the background job: already anchored on Sepolia</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DEMO 4: THE DOCTOR IS ALLOWED</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sp>
      <p:sp>
        <p:nvSpPr>
          <p:cNvPr id="5" name="status text"/>
          <p:cNvSpPr txBox="1"/>
          <p:nvPr/>
        </p:nvSpPr>
        <p:spPr>
          <a:xfrm>
            <a:off x="731520" y="1005840"/>
            <a:ext cx="2377440" cy="411480"/>
          </a:xfrm>
          <a:prstGeom prst="rect">
            <a:avLst/>
          </a:prstGeom>
          <a:noFill/>
          <a:ln/>
        </p:spPr>
        <p:txBody>
          <a:bodyPr wrap="square" rtlCol="0" anchor="ctr"/>
          <a:lstStyle/>
          <a:p>
            <a:pPr algn="ctr" indent="0" marL="0">
              <a:buNone/>
            </a:pPr>
            <a:r>
              <a:rPr lang="en-US" sz="1400" b="1" dirty="0">
                <a:solidFill>
                  <a:srgbClr val="FFFFFF"/>
                </a:solidFill>
              </a:rPr>
              <a:t>RO2 + RO4</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pPr indent="0" marL="0">
              <a:buNone/>
            </a:pPr>
            <a:r>
              <a:rPr lang="en-US" sz="1600" i="1" dirty="0">
                <a:solidFill>
                  <a:srgbClr val="1FB5D6"/>
                </a:solidFill>
              </a:rPr>
              <a:t>Five checks and a proof before any data is released</a:t>
            </a:r>
            <a:endParaRPr lang="en-US" sz="1600" dirty="0"/>
          </a:p>
        </p:txBody>
      </p:sp>
      <p:sp>
        <p:nvSpPr>
          <p:cNvPr id="7" name="F27 panel"/>
          <p:cNvSpPr/>
          <p:nvPr/>
        </p:nvSpPr>
        <p:spPr>
          <a:xfrm>
            <a:off x="640080" y="1600200"/>
            <a:ext cx="6949440" cy="4709160"/>
          </a:xfrm>
          <a:prstGeom prst="roundRect">
            <a:avLst>
              <a:gd name="adj" fmla="val 233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8" name="F27" descr="/tmp/deck/img/F27.png">    </p:cNvPr>
          <p:cNvPicPr>
            <a:picLocks noChangeAspect="1"/>
          </p:cNvPicPr>
          <p:nvPr/>
        </p:nvPicPr>
        <p:blipFill>
          <a:blip r:embed="rId1"/>
          <a:stretch>
            <a:fillRect/>
          </a:stretch>
        </p:blipFill>
        <p:spPr>
          <a:xfrm>
            <a:off x="1266853" y="1709928"/>
            <a:ext cx="5695893" cy="4489704"/>
          </a:xfrm>
          <a:prstGeom prst="rect">
            <a:avLst/>
          </a:prstGeom>
        </p:spPr>
      </p:pic>
      <p:sp>
        <p:nvSpPr>
          <p:cNvPr id="9" name="caption"/>
          <p:cNvSpPr txBox="1"/>
          <p:nvPr/>
        </p:nvSpPr>
        <p:spPr>
          <a:xfrm>
            <a:off x="640080" y="6355080"/>
            <a:ext cx="6949440" cy="320040"/>
          </a:xfrm>
          <a:prstGeom prst="rect">
            <a:avLst/>
          </a:prstGeom>
          <a:noFill/>
          <a:ln/>
        </p:spPr>
        <p:txBody>
          <a:bodyPr wrap="square" rtlCol="0" anchor="ctr"/>
          <a:lstStyle/>
          <a:p>
            <a:pPr algn="ctr" indent="0" marL="0">
              <a:buNone/>
            </a:pPr>
            <a:r>
              <a:rPr lang="en-US" sz="1200" i="1" dirty="0">
                <a:solidFill>
                  <a:srgbClr val="FFFFFF"/>
                </a:solidFill>
              </a:rPr>
              <a:t>Doctor subsystem: all five checks PASS, ALLOW</a:t>
            </a:r>
            <a:endParaRPr lang="en-US" sz="1200" dirty="0"/>
          </a:p>
        </p:txBody>
      </p:sp>
      <p:sp>
        <p:nvSpPr>
          <p:cNvPr id="10" name="bullets"/>
          <p:cNvSpPr txBox="1"/>
          <p:nvPr/>
        </p:nvSpPr>
        <p:spPr>
          <a:xfrm>
            <a:off x="7863840" y="1600200"/>
            <a:ext cx="3749040" cy="47548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The doctor selects the consent and a scope inside the agreed modules.</a:t>
            </a:r>
            <a:endParaRPr lang="en-US" sz="1600" dirty="0"/>
          </a:p>
          <a:p>
            <a:pPr marL="342900" indent="-342900">
              <a:spcAft>
                <a:spcPts val="1000"/>
              </a:spcAft>
              <a:buSzPct val="100000"/>
              <a:buChar char="•"/>
            </a:pPr>
            <a:r>
              <a:rPr lang="en-US" sz="1600" dirty="0">
                <a:solidFill>
                  <a:srgbClr val="FFFFFF"/>
                </a:solidFill>
              </a:rPr>
              <a:t>A Groth16 proof is generated and verified.</a:t>
            </a:r>
            <a:endParaRPr lang="en-US" sz="1600" dirty="0"/>
          </a:p>
          <a:p>
            <a:pPr marL="342900" indent="-342900">
              <a:spcAft>
                <a:spcPts val="1000"/>
              </a:spcAft>
              <a:buSzPct val="100000"/>
              <a:buChar char="•"/>
            </a:pPr>
            <a:r>
              <a:rPr lang="en-US" sz="1600" dirty="0">
                <a:solidFill>
                  <a:srgbClr val="FFFFFF"/>
                </a:solidFill>
              </a:rPr>
              <a:t>The decision matrix shows VI, VA, VP, VT, VL all PASS, so ALLOW.</a:t>
            </a:r>
            <a:endParaRPr lang="en-US" sz="1600" dirty="0"/>
          </a:p>
          <a:p>
            <a:pPr marL="342900" indent="-342900">
              <a:spcAft>
                <a:spcPts val="1000"/>
              </a:spcAft>
              <a:buSzPct val="100000"/>
              <a:buChar char="•"/>
            </a:pPr>
            <a:r>
              <a:rPr lang="en-US" sz="1600" dirty="0">
                <a:solidFill>
                  <a:srgbClr val="FFFFFF"/>
                </a:solidFill>
              </a:rPr>
              <a:t>Identity, authority, approvals, scope </a:t>
            </a:r>
            <a:r>
              <a:rPr lang="en-US" sz="1600" dirty="0">
                <a:solidFill>
                  <a:srgbClr val="FFFFFF"/>
                </a:solidFill>
              </a:rPr>
              <a:t>and</a:t>
            </a:r>
            <a:r>
              <a:rPr lang="en-US" sz="1600" dirty="0">
                <a:solidFill>
                  <a:srgbClr val="FFFFFF"/>
                </a:solidFill>
              </a:rPr>
              <a:t> time are checked in one decision.</a:t>
            </a:r>
            <a:endParaRPr lang="en-US" sz="16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DEMO 5: ONLY THE AUTHORISED RECORDS</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sp>
      <p:sp>
        <p:nvSpPr>
          <p:cNvPr id="5" name="status text"/>
          <p:cNvSpPr txBox="1"/>
          <p:nvPr/>
        </p:nvSpPr>
        <p:spPr>
          <a:xfrm>
            <a:off x="731520" y="1005840"/>
            <a:ext cx="2377440" cy="411480"/>
          </a:xfrm>
          <a:prstGeom prst="rect">
            <a:avLst/>
          </a:prstGeom>
          <a:noFill/>
          <a:ln/>
        </p:spPr>
        <p:txBody>
          <a:bodyPr wrap="square" rtlCol="0" anchor="ctr"/>
          <a:lstStyle/>
          <a:p>
            <a:pPr algn="ctr" indent="0" marL="0">
              <a:buNone/>
            </a:pPr>
            <a:r>
              <a:rPr lang="en-US" sz="1400" b="1" dirty="0">
                <a:solidFill>
                  <a:srgbClr val="FFFFFF"/>
                </a:solidFill>
              </a:rPr>
              <a:t>RO4</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pPr indent="0" marL="0">
              <a:buNone/>
            </a:pPr>
            <a:r>
              <a:rPr lang="en-US" sz="1600" i="1" dirty="0">
                <a:solidFill>
                  <a:srgbClr val="1FB5D6"/>
                </a:solidFill>
              </a:rPr>
              <a:t>Data scope enforced: nothing outside the consent</a:t>
            </a:r>
            <a:endParaRPr lang="en-US" sz="1600" dirty="0"/>
          </a:p>
        </p:txBody>
      </p:sp>
      <p:sp>
        <p:nvSpPr>
          <p:cNvPr id="7" name="F29 panel"/>
          <p:cNvSpPr/>
          <p:nvPr/>
        </p:nvSpPr>
        <p:spPr>
          <a:xfrm>
            <a:off x="640080" y="1600200"/>
            <a:ext cx="6949440" cy="4709160"/>
          </a:xfrm>
          <a:prstGeom prst="roundRect">
            <a:avLst>
              <a:gd name="adj" fmla="val 233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8" name="F29" descr="/tmp/deck/img/F29.png">    </p:cNvPr>
          <p:cNvPicPr>
            <a:picLocks noChangeAspect="1"/>
          </p:cNvPicPr>
          <p:nvPr/>
        </p:nvPicPr>
        <p:blipFill>
          <a:blip r:embed="rId1"/>
          <a:stretch>
            <a:fillRect/>
          </a:stretch>
        </p:blipFill>
        <p:spPr>
          <a:xfrm>
            <a:off x="2137378" y="1709928"/>
            <a:ext cx="3954844" cy="4489704"/>
          </a:xfrm>
          <a:prstGeom prst="rect">
            <a:avLst/>
          </a:prstGeom>
        </p:spPr>
      </p:pic>
      <p:sp>
        <p:nvSpPr>
          <p:cNvPr id="9" name="caption"/>
          <p:cNvSpPr txBox="1"/>
          <p:nvPr/>
        </p:nvSpPr>
        <p:spPr>
          <a:xfrm>
            <a:off x="640080" y="6355080"/>
            <a:ext cx="6949440" cy="320040"/>
          </a:xfrm>
          <a:prstGeom prst="rect">
            <a:avLst/>
          </a:prstGeom>
          <a:noFill/>
          <a:ln/>
        </p:spPr>
        <p:txBody>
          <a:bodyPr wrap="square" rtlCol="0" anchor="ctr"/>
          <a:lstStyle/>
          <a:p>
            <a:pPr algn="ctr" indent="0" marL="0">
              <a:buNone/>
            </a:pPr>
            <a:r>
              <a:rPr lang="en-US" sz="1200" i="1" dirty="0">
                <a:solidFill>
                  <a:srgbClr val="FFFFFF"/>
                </a:solidFill>
              </a:rPr>
              <a:t>Doctor subsystem after verification: access granted, records displayed per module</a:t>
            </a:r>
            <a:endParaRPr lang="en-US" sz="1200" dirty="0"/>
          </a:p>
        </p:txBody>
      </p:sp>
      <p:sp>
        <p:nvSpPr>
          <p:cNvPr id="10" name="bullets"/>
          <p:cNvSpPr txBox="1"/>
          <p:nvPr/>
        </p:nvSpPr>
        <p:spPr>
          <a:xfrm>
            <a:off x="7863840" y="1600200"/>
            <a:ext cx="3749040" cy="47548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Records are displayed per module: Observation, Medication, Condition, Procedure.</a:t>
            </a:r>
            <a:endParaRPr lang="en-US" sz="1600" dirty="0"/>
          </a:p>
          <a:p>
            <a:pPr marL="342900" indent="-342900">
              <a:spcAft>
                <a:spcPts val="1000"/>
              </a:spcAft>
              <a:buSzPct val="100000"/>
              <a:buChar char="•"/>
            </a:pPr>
            <a:r>
              <a:rPr lang="en-US" sz="1600" dirty="0">
                <a:solidFill>
                  <a:srgbClr val="FFFFFF"/>
                </a:solidFill>
              </a:rPr>
              <a:t>Only the modules inside the consent scope are returned.</a:t>
            </a:r>
            <a:endParaRPr lang="en-US" sz="1600" dirty="0"/>
          </a:p>
          <a:p>
            <a:pPr marL="342900" indent="-342900">
              <a:spcAft>
                <a:spcPts val="1000"/>
              </a:spcAft>
              <a:buSzPct val="100000"/>
              <a:buChar char="•"/>
            </a:pPr>
            <a:r>
              <a:rPr lang="en-US" sz="1600" dirty="0">
                <a:solidFill>
                  <a:srgbClr val="FFFFFF"/>
                </a:solidFill>
              </a:rPr>
              <a:t>A request for a module outside the scope is refused (attack test A4).</a:t>
            </a:r>
            <a:endParaRPr lang="en-US" sz="1600" dirty="0"/>
          </a:p>
          <a:p>
            <a:pPr marL="342900" indent="-342900">
              <a:spcAft>
                <a:spcPts val="1000"/>
              </a:spcAft>
              <a:buSzPct val="100000"/>
              <a:buChar char="•"/>
            </a:pPr>
            <a:r>
              <a:rPr lang="en-US" sz="1600" dirty="0">
                <a:solidFill>
                  <a:srgbClr val="FFFFFF"/>
                </a:solidFill>
              </a:rPr>
              <a:t>The decision is written to the audit ledger with its matrix.</a:t>
            </a:r>
            <a:endParaRPr lang="en-US" sz="16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DEMO 6</a:t>
            </a:r>
            <a:r>
              <a:rPr lang="en-US" sz="3000" b="1" dirty="0">
                <a:solidFill>
                  <a:srgbClr val="FFFFFF"/>
                </a:solidFill>
                <a:latin typeface="Arial" pitchFamily="34" charset="0"/>
                <a:ea typeface="Arial" pitchFamily="34" charset="-122"/>
                <a:cs typeface="Arial" pitchFamily="34" charset="-120"/>
              </a:rPr>
              <a:t>: THE PATIENT REVOKES THE CONSENT</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sp>
      <p:sp>
        <p:nvSpPr>
          <p:cNvPr id="5" name="status text"/>
          <p:cNvSpPr txBox="1"/>
          <p:nvPr/>
        </p:nvSpPr>
        <p:spPr>
          <a:xfrm>
            <a:off x="731520" y="1005840"/>
            <a:ext cx="2377440" cy="411480"/>
          </a:xfrm>
          <a:prstGeom prst="rect">
            <a:avLst/>
          </a:prstGeom>
          <a:noFill/>
          <a:ln/>
        </p:spPr>
        <p:txBody>
          <a:bodyPr wrap="square" rtlCol="0" anchor="ctr"/>
          <a:lstStyle/>
          <a:p>
            <a:pPr algn="ctr" indent="0" marL="0">
              <a:buNone/>
            </a:pPr>
            <a:r>
              <a:rPr lang="en-US" sz="1400" b="1" dirty="0">
                <a:solidFill>
                  <a:srgbClr val="FFFFFF"/>
                </a:solidFill>
              </a:rPr>
              <a:t>RO5</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pPr indent="0" marL="0">
              <a:buNone/>
            </a:pPr>
            <a:r>
              <a:rPr lang="en-US" sz="1600" i="1" dirty="0">
                <a:solidFill>
                  <a:srgbClr val="1FB5D6"/>
                </a:solidFill>
              </a:rPr>
              <a:t>Revocation end to end, with an on-chain transaction</a:t>
            </a:r>
            <a:endParaRPr lang="en-US" sz="1600" dirty="0"/>
          </a:p>
        </p:txBody>
      </p:sp>
      <p:sp>
        <p:nvSpPr>
          <p:cNvPr id="7" name="bullets"/>
          <p:cNvSpPr txBox="1"/>
          <p:nvPr/>
        </p:nvSpPr>
        <p:spPr>
          <a:xfrm>
            <a:off x="731520" y="1463040"/>
            <a:ext cx="10789920" cy="868680"/>
          </a:xfrm>
          <a:prstGeom prst="rect">
            <a:avLst/>
          </a:prstGeom>
          <a:noFill/>
          <a:ln/>
        </p:spPr>
        <p:txBody>
          <a:bodyPr wrap="square" rtlCol="0" anchor="t"/>
          <a:lstStyle/>
          <a:p>
            <a:pPr marL="342900" indent="-342900">
              <a:buSzPct val="100000"/>
              <a:buChar char="•"/>
            </a:pPr>
            <a:r>
              <a:rPr lang="en-US" sz="1400" dirty="0">
                <a:solidFill>
                  <a:srgbClr val="FFFFFF"/>
                </a:solidFill>
              </a:rPr>
              <a:t>The patient revokes the consent</a:t>
            </a:r>
            <a:endParaRPr lang="en-US" sz="1400" dirty="0"/>
          </a:p>
          <a:p>
            <a:pPr marL="342900" indent="-342900">
              <a:buSzPct val="100000"/>
              <a:buChar char="•"/>
            </a:pPr>
            <a:r>
              <a:rPr lang="en-US" sz="1400" dirty="0">
                <a:solidFill>
                  <a:srgbClr val="FFFFFF"/>
                </a:solidFill>
              </a:rPr>
              <a:t>The revoke transaction is sent to Sepolia and waits for block confirmation</a:t>
            </a:r>
            <a:endParaRPr lang="en-US" sz="1400" dirty="0"/>
          </a:p>
          <a:p>
            <a:pPr marL="342900" indent="-342900">
              <a:buSzPct val="100000"/>
              <a:buChar char="•"/>
            </a:pPr>
            <a:r>
              <a:rPr lang="en-US" sz="1400" dirty="0">
                <a:solidFill>
                  <a:srgbClr val="FFFFFF"/>
                </a:solidFill>
              </a:rPr>
              <a:t>The consent becomes REVOKED, token #1</a:t>
            </a:r>
            <a:endParaRPr lang="en-US" sz="1400" dirty="0"/>
          </a:p>
        </p:txBody>
      </p:sp>
      <p:sp>
        <p:nvSpPr>
          <p:cNvPr id="8" name="F33 panel"/>
          <p:cNvSpPr/>
          <p:nvPr/>
        </p:nvSpPr>
        <p:spPr>
          <a:xfrm>
            <a:off x="640080" y="2377440"/>
            <a:ext cx="5394960" cy="3566160"/>
          </a:xfrm>
          <a:prstGeom prst="roundRect">
            <a:avLst>
              <a:gd name="adj" fmla="val 307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33" descr="/tmp/deck/img/F33.png">    </p:cNvPr>
          <p:cNvPicPr>
            <a:picLocks noChangeAspect="1"/>
          </p:cNvPicPr>
          <p:nvPr/>
        </p:nvPicPr>
        <p:blipFill>
          <a:blip r:embed="rId1"/>
          <a:stretch>
            <a:fillRect/>
          </a:stretch>
        </p:blipFill>
        <p:spPr>
          <a:xfrm>
            <a:off x="1022756" y="2487168"/>
            <a:ext cx="4629607" cy="3346704"/>
          </a:xfrm>
          <a:prstGeom prst="rect">
            <a:avLst/>
          </a:prstGeom>
        </p:spPr>
      </p:pic>
      <p:sp>
        <p:nvSpPr>
          <p:cNvPr id="10" name="caption"/>
          <p:cNvSpPr txBox="1"/>
          <p:nvPr/>
        </p:nvSpPr>
        <p:spPr>
          <a:xfrm>
            <a:off x="640080" y="5989320"/>
            <a:ext cx="5394960" cy="320040"/>
          </a:xfrm>
          <a:prstGeom prst="rect">
            <a:avLst/>
          </a:prstGeom>
          <a:noFill/>
          <a:ln/>
        </p:spPr>
        <p:txBody>
          <a:bodyPr wrap="square" rtlCol="0" anchor="ctr"/>
          <a:lstStyle/>
          <a:p>
            <a:pPr algn="ctr" indent="0" marL="0">
              <a:buNone/>
            </a:pPr>
            <a:r>
              <a:rPr lang="en-US" sz="1200" i="1" dirty="0">
                <a:solidFill>
                  <a:srgbClr val="FFFFFF"/>
                </a:solidFill>
              </a:rPr>
              <a:t>During revocation: waiting for block confirmation</a:t>
            </a:r>
            <a:endParaRPr lang="en-US" sz="1200" dirty="0"/>
          </a:p>
        </p:txBody>
      </p:sp>
      <p:sp>
        <p:nvSpPr>
          <p:cNvPr id="11" name="F34 panel"/>
          <p:cNvSpPr/>
          <p:nvPr/>
        </p:nvSpPr>
        <p:spPr>
          <a:xfrm>
            <a:off x="6172200" y="2377440"/>
            <a:ext cx="5394960" cy="3566160"/>
          </a:xfrm>
          <a:prstGeom prst="roundRect">
            <a:avLst>
              <a:gd name="adj" fmla="val 3077"/>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12" name="F34" descr="/tmp/deck/img/F34.png">    </p:cNvPr>
          <p:cNvPicPr>
            <a:picLocks noChangeAspect="1"/>
          </p:cNvPicPr>
          <p:nvPr/>
        </p:nvPicPr>
        <p:blipFill>
          <a:blip r:embed="rId2"/>
          <a:stretch>
            <a:fillRect/>
          </a:stretch>
        </p:blipFill>
        <p:spPr>
          <a:xfrm>
            <a:off x="6344440" y="2487168"/>
            <a:ext cx="5050481" cy="3346704"/>
          </a:xfrm>
          <a:prstGeom prst="rect">
            <a:avLst/>
          </a:prstGeom>
        </p:spPr>
      </p:pic>
      <p:sp>
        <p:nvSpPr>
          <p:cNvPr id="13" name="caption"/>
          <p:cNvSpPr txBox="1"/>
          <p:nvPr/>
        </p:nvSpPr>
        <p:spPr>
          <a:xfrm>
            <a:off x="6172200" y="5989320"/>
            <a:ext cx="5394960" cy="320040"/>
          </a:xfrm>
          <a:prstGeom prst="rect">
            <a:avLst/>
          </a:prstGeom>
          <a:noFill/>
          <a:ln/>
        </p:spPr>
        <p:txBody>
          <a:bodyPr wrap="square" rtlCol="0" anchor="ctr"/>
          <a:lstStyle/>
          <a:p>
            <a:pPr algn="ctr" indent="0" marL="0">
              <a:buNone/>
            </a:pPr>
            <a:r>
              <a:rPr lang="en-US" sz="1200" i="1" dirty="0">
                <a:solidFill>
                  <a:srgbClr val="FFFFFF"/>
                </a:solidFill>
              </a:rPr>
              <a:t>After revocation: the consent is REVOKED, token #1</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DEMO 7</a:t>
            </a:r>
            <a:r>
              <a:rPr lang="en-US" sz="3000" b="1" dirty="0">
                <a:solidFill>
                  <a:srgbClr val="FFFFFF"/>
                </a:solidFill>
                <a:latin typeface="Arial" pitchFamily="34" charset="0"/>
                <a:ea typeface="Arial" pitchFamily="34" charset="-122"/>
                <a:cs typeface="Arial" pitchFamily="34" charset="-120"/>
              </a:rPr>
              <a:t>: AFTER REVOCATION, REFUSED</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sp>
      <p:sp>
        <p:nvSpPr>
          <p:cNvPr id="5" name="status text"/>
          <p:cNvSpPr txBox="1"/>
          <p:nvPr/>
        </p:nvSpPr>
        <p:spPr>
          <a:xfrm>
            <a:off x="731520" y="1005840"/>
            <a:ext cx="2377440" cy="411480"/>
          </a:xfrm>
          <a:prstGeom prst="rect">
            <a:avLst/>
          </a:prstGeom>
          <a:noFill/>
          <a:ln/>
        </p:spPr>
        <p:txBody>
          <a:bodyPr wrap="square" rtlCol="0" anchor="ctr"/>
          <a:lstStyle/>
          <a:p>
            <a:pPr algn="ctr" indent="0" marL="0">
              <a:buNone/>
            </a:pPr>
            <a:r>
              <a:rPr lang="en-US" sz="1400" b="1" dirty="0">
                <a:solidFill>
                  <a:srgbClr val="FFFFFF"/>
                </a:solidFill>
              </a:rPr>
              <a:t>RO5</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pPr indent="0" marL="0">
              <a:buNone/>
            </a:pPr>
            <a:r>
              <a:rPr lang="en-US" sz="1600" i="1" dirty="0">
                <a:solidFill>
                  <a:srgbClr val="1FB5D6"/>
                </a:solidFill>
              </a:rPr>
              <a:t>A revoked consent cannot be used</a:t>
            </a:r>
            <a:endParaRPr lang="en-US" sz="1600" dirty="0"/>
          </a:p>
        </p:txBody>
      </p:sp>
      <p:sp>
        <p:nvSpPr>
          <p:cNvPr id="7" name="F36 panel"/>
          <p:cNvSpPr/>
          <p:nvPr/>
        </p:nvSpPr>
        <p:spPr>
          <a:xfrm>
            <a:off x="640080" y="1600200"/>
            <a:ext cx="6949440" cy="4709160"/>
          </a:xfrm>
          <a:prstGeom prst="roundRect">
            <a:avLst>
              <a:gd name="adj" fmla="val 233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8" name="F36" descr="/tmp/deck/img/F36.png">    </p:cNvPr>
          <p:cNvPicPr>
            <a:picLocks noChangeAspect="1"/>
          </p:cNvPicPr>
          <p:nvPr/>
        </p:nvPicPr>
        <p:blipFill>
          <a:blip r:embed="rId1"/>
          <a:stretch>
            <a:fillRect/>
          </a:stretch>
        </p:blipFill>
        <p:spPr>
          <a:xfrm>
            <a:off x="749808" y="2246920"/>
            <a:ext cx="6729984" cy="3415721"/>
          </a:xfrm>
          <a:prstGeom prst="rect">
            <a:avLst/>
          </a:prstGeom>
        </p:spPr>
      </p:pic>
      <p:sp>
        <p:nvSpPr>
          <p:cNvPr id="9" name="caption"/>
          <p:cNvSpPr txBox="1"/>
          <p:nvPr/>
        </p:nvSpPr>
        <p:spPr>
          <a:xfrm>
            <a:off x="640080" y="6355080"/>
            <a:ext cx="6949440" cy="320040"/>
          </a:xfrm>
          <a:prstGeom prst="rect">
            <a:avLst/>
          </a:prstGeom>
          <a:noFill/>
          <a:ln/>
        </p:spPr>
        <p:txBody>
          <a:bodyPr wrap="square" rtlCol="0" anchor="ctr"/>
          <a:lstStyle/>
          <a:p>
            <a:pPr algn="ctr" indent="0" marL="0">
              <a:buNone/>
            </a:pPr>
            <a:r>
              <a:rPr lang="en-US" sz="1200" i="1" dirty="0">
                <a:solidFill>
                  <a:srgbClr val="FFFFFF"/>
                </a:solidFill>
              </a:rPr>
              <a:t>Doctor subsystem after revocation: VA FAIL, state REVOKED</a:t>
            </a:r>
            <a:endParaRPr lang="en-US" sz="1200" dirty="0"/>
          </a:p>
        </p:txBody>
      </p:sp>
      <p:sp>
        <p:nvSpPr>
          <p:cNvPr id="10" name="bullets"/>
          <p:cNvSpPr txBox="1"/>
          <p:nvPr/>
        </p:nvSpPr>
        <p:spPr>
          <a:xfrm>
            <a:off x="7863840" y="1600200"/>
            <a:ext cx="3749040" cy="47548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The same doctor repeats the request.</a:t>
            </a:r>
            <a:endParaRPr lang="en-US" sz="1600" dirty="0"/>
          </a:p>
          <a:p>
            <a:pPr marL="342900" indent="-342900">
              <a:spcAft>
                <a:spcPts val="1000"/>
              </a:spcAft>
              <a:buSzPct val="100000"/>
              <a:buChar char="•"/>
            </a:pPr>
            <a:r>
              <a:rPr lang="en-US" sz="1600" dirty="0">
                <a:solidFill>
                  <a:srgbClr val="FFFFFF"/>
                </a:solidFill>
              </a:rPr>
              <a:t>VA reports FAIL: the consent is not active, current state REVOKED.</a:t>
            </a:r>
            <a:endParaRPr lang="en-US" sz="1600" dirty="0"/>
          </a:p>
          <a:p>
            <a:pPr marL="342900" indent="-342900">
              <a:spcAft>
                <a:spcPts val="1000"/>
              </a:spcAft>
              <a:buSzPct val="100000"/>
              <a:buChar char="•"/>
            </a:pPr>
            <a:r>
              <a:rPr lang="en-US" sz="1600" dirty="0">
                <a:solidFill>
                  <a:srgbClr val="FFFFFF"/>
                </a:solidFill>
              </a:rPr>
              <a:t>Access is refused.</a:t>
            </a:r>
            <a:endParaRPr lang="en-US" sz="1600" dirty="0"/>
          </a:p>
          <a:p>
            <a:pPr marL="342900" indent="-342900">
              <a:spcAft>
                <a:spcPts val="1000"/>
              </a:spcAft>
              <a:buSzPct val="100000"/>
              <a:buChar char="•"/>
            </a:pPr>
            <a:r>
              <a:rPr lang="en-US" sz="1600" dirty="0">
                <a:solidFill>
                  <a:srgbClr val="FFFFFF"/>
                </a:solidFill>
              </a:rPr>
              <a:t>Expired consents are refused the same way through VT.</a:t>
            </a:r>
            <a:endParaRPr lang="en-US" sz="16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DEMO 8</a:t>
            </a:r>
            <a:r>
              <a:rPr lang="en-US" sz="3000" b="1" dirty="0">
                <a:solidFill>
                  <a:srgbClr val="FFFFFF"/>
                </a:solidFill>
                <a:latin typeface="Arial" pitchFamily="34" charset="0"/>
                <a:ea typeface="Arial" pitchFamily="34" charset="-122"/>
                <a:cs typeface="Arial" pitchFamily="34" charset="-120"/>
              </a:rPr>
              <a:t>: PUBLIC EVIDENCE ON SEPOLIA</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sp>
      <p:sp>
        <p:nvSpPr>
          <p:cNvPr id="5" name="status text"/>
          <p:cNvSpPr txBox="1"/>
          <p:nvPr/>
        </p:nvSpPr>
        <p:spPr>
          <a:xfrm>
            <a:off x="731520" y="1005840"/>
            <a:ext cx="2377440" cy="411480"/>
          </a:xfrm>
          <a:prstGeom prst="rect">
            <a:avLst/>
          </a:prstGeom>
          <a:noFill/>
          <a:ln/>
        </p:spPr>
        <p:txBody>
          <a:bodyPr wrap="square" rtlCol="0" anchor="ctr"/>
          <a:lstStyle/>
          <a:p>
            <a:pPr algn="ctr" indent="0" marL="0">
              <a:buNone/>
            </a:pPr>
            <a:r>
              <a:rPr lang="en-US" sz="1400" b="1" dirty="0">
                <a:solidFill>
                  <a:srgbClr val="FFFFFF"/>
                </a:solidFill>
              </a:rPr>
              <a:t>RO5 + RO6</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pPr indent="0" marL="0">
              <a:buNone/>
            </a:pPr>
            <a:r>
              <a:rPr lang="en-US" sz="1600" i="1" dirty="0">
                <a:solidFill>
                  <a:srgbClr val="1FB5D6"/>
                </a:solidFill>
              </a:rPr>
              <a:t>The mint and the revoke are public, verifiable transactions</a:t>
            </a:r>
            <a:endParaRPr lang="en-US" sz="1600" dirty="0"/>
          </a:p>
        </p:txBody>
      </p:sp>
      <p:sp>
        <p:nvSpPr>
          <p:cNvPr id="7" name="bullets"/>
          <p:cNvSpPr txBox="1"/>
          <p:nvPr/>
        </p:nvSpPr>
        <p:spPr>
          <a:xfrm>
            <a:off x="731520" y="1463040"/>
            <a:ext cx="10789920" cy="868680"/>
          </a:xfrm>
          <a:prstGeom prst="rect">
            <a:avLst/>
          </a:prstGeom>
          <a:noFill/>
          <a:ln/>
        </p:spPr>
        <p:txBody>
          <a:bodyPr wrap="square" rtlCol="0" anchor="t"/>
          <a:lstStyle/>
          <a:p>
            <a:pPr marL="342900" indent="-342900">
              <a:buSzPct val="100000"/>
              <a:buChar char="•"/>
            </a:pPr>
            <a:r>
              <a:rPr lang="en-US" sz="1400" dirty="0">
                <a:solidFill>
                  <a:srgbClr val="FFFFFF"/>
                </a:solidFill>
              </a:rPr>
              <a:t>Mint of the evaluated consent: block 11,771,243</a:t>
            </a:r>
            <a:endParaRPr lang="en-US" sz="1400" dirty="0"/>
          </a:p>
          <a:p>
            <a:pPr marL="342900" indent="-342900">
              <a:buSzPct val="100000"/>
              <a:buChar char="•"/>
            </a:pPr>
            <a:r>
              <a:rPr lang="en-US" sz="1400" dirty="0">
                <a:solidFill>
                  <a:srgbClr val="FFFFFF"/>
                </a:solidFill>
              </a:rPr>
              <a:t>Revoke of token #1: block 11,771,307, decoded input revoke(uint256 tokenId)</a:t>
            </a:r>
            <a:endParaRPr lang="en-US" sz="1400" dirty="0"/>
          </a:p>
          <a:p>
            <a:pPr marL="342900" indent="-342900">
              <a:buSzPct val="100000"/>
              <a:buChar char="•"/>
            </a:pPr>
            <a:r>
              <a:rPr lang="en-US" sz="1400" dirty="0">
                <a:solidFill>
                  <a:srgbClr val="FFFFFF"/>
                </a:solidFill>
              </a:rPr>
              <a:t>No medical data is on the chain, only the consent state</a:t>
            </a:r>
            <a:endParaRPr lang="en-US" sz="1400" dirty="0"/>
          </a:p>
        </p:txBody>
      </p:sp>
      <p:sp>
        <p:nvSpPr>
          <p:cNvPr id="8" name="F26 panel"/>
          <p:cNvSpPr/>
          <p:nvPr/>
        </p:nvSpPr>
        <p:spPr>
          <a:xfrm>
            <a:off x="640080" y="2377440"/>
            <a:ext cx="5394960" cy="3657600"/>
          </a:xfrm>
          <a:prstGeom prst="roundRect">
            <a:avLst>
              <a:gd name="adj" fmla="val 300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26" descr="/tmp/deck/img/F26.png">    </p:cNvPr>
          <p:cNvPicPr>
            <a:picLocks noChangeAspect="1"/>
          </p:cNvPicPr>
          <p:nvPr/>
        </p:nvPicPr>
        <p:blipFill>
          <a:blip r:embed="rId1"/>
          <a:stretch>
            <a:fillRect/>
          </a:stretch>
        </p:blipFill>
        <p:spPr>
          <a:xfrm>
            <a:off x="749808" y="2705041"/>
            <a:ext cx="5175504" cy="3002398"/>
          </a:xfrm>
          <a:prstGeom prst="rect">
            <a:avLst/>
          </a:prstGeom>
        </p:spPr>
      </p:pic>
      <p:sp>
        <p:nvSpPr>
          <p:cNvPr id="10" name="caption"/>
          <p:cNvSpPr txBox="1"/>
          <p:nvPr/>
        </p:nvSpPr>
        <p:spPr>
          <a:xfrm>
            <a:off x="640080" y="6080760"/>
            <a:ext cx="5394960" cy="320040"/>
          </a:xfrm>
          <a:prstGeom prst="rect">
            <a:avLst/>
          </a:prstGeom>
          <a:noFill/>
          <a:ln/>
        </p:spPr>
        <p:txBody>
          <a:bodyPr wrap="square" rtlCol="0" anchor="ctr"/>
          <a:lstStyle/>
          <a:p>
            <a:pPr algn="ctr" indent="0" marL="0">
              <a:buNone/>
            </a:pPr>
            <a:r>
              <a:rPr lang="en-US" sz="1200" i="1" dirty="0">
                <a:solidFill>
                  <a:srgbClr val="FFFFFF"/>
                </a:solidFill>
              </a:rPr>
              <a:t>Anchoring transaction: status Success, block 11,771,243</a:t>
            </a:r>
            <a:endParaRPr lang="en-US" sz="1200" dirty="0"/>
          </a:p>
        </p:txBody>
      </p:sp>
      <p:sp>
        <p:nvSpPr>
          <p:cNvPr id="11" name="F37 panel"/>
          <p:cNvSpPr/>
          <p:nvPr/>
        </p:nvSpPr>
        <p:spPr>
          <a:xfrm>
            <a:off x="6172200" y="2377440"/>
            <a:ext cx="5394960" cy="3657600"/>
          </a:xfrm>
          <a:prstGeom prst="roundRect">
            <a:avLst>
              <a:gd name="adj" fmla="val 300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12" name="F37" descr="/tmp/deck/img/F37.png">    </p:cNvPr>
          <p:cNvPicPr>
            <a:picLocks noChangeAspect="1"/>
          </p:cNvPicPr>
          <p:nvPr/>
        </p:nvPicPr>
        <p:blipFill>
          <a:blip r:embed="rId2"/>
          <a:stretch>
            <a:fillRect/>
          </a:stretch>
        </p:blipFill>
        <p:spPr>
          <a:xfrm>
            <a:off x="6964589" y="2487168"/>
            <a:ext cx="3810182" cy="3438144"/>
          </a:xfrm>
          <a:prstGeom prst="rect">
            <a:avLst/>
          </a:prstGeom>
        </p:spPr>
      </p:pic>
      <p:sp>
        <p:nvSpPr>
          <p:cNvPr id="13" name="caption"/>
          <p:cNvSpPr txBox="1"/>
          <p:nvPr/>
        </p:nvSpPr>
        <p:spPr>
          <a:xfrm>
            <a:off x="6172200" y="6080760"/>
            <a:ext cx="5394960" cy="320040"/>
          </a:xfrm>
          <a:prstGeom prst="rect">
            <a:avLst/>
          </a:prstGeom>
          <a:noFill/>
          <a:ln/>
        </p:spPr>
        <p:txBody>
          <a:bodyPr wrap="square" rtlCol="0" anchor="ctr"/>
          <a:lstStyle/>
          <a:p>
            <a:pPr algn="ctr" indent="0" marL="0">
              <a:buNone/>
            </a:pPr>
            <a:r>
              <a:rPr lang="en-US" sz="1200" i="1" dirty="0">
                <a:solidFill>
                  <a:srgbClr val="FFFFFF"/>
                </a:solidFill>
              </a:rPr>
              <a:t>Revocation transaction: status Success, block 11,771,307</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DEMO 9</a:t>
            </a:r>
            <a:r>
              <a:rPr lang="en-US" sz="3000" b="1" dirty="0">
                <a:solidFill>
                  <a:srgbClr val="FFFFFF"/>
                </a:solidFill>
                <a:latin typeface="Arial" pitchFamily="34" charset="0"/>
                <a:ea typeface="Arial" pitchFamily="34" charset="-122"/>
                <a:cs typeface="Arial" pitchFamily="34" charset="-120"/>
              </a:rPr>
              <a:t>: THE AUDITOR SEES EVERYTHING</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sp>
      <p:sp>
        <p:nvSpPr>
          <p:cNvPr id="5" name="status text"/>
          <p:cNvSpPr txBox="1"/>
          <p:nvPr/>
        </p:nvSpPr>
        <p:spPr>
          <a:xfrm>
            <a:off x="731520" y="1005840"/>
            <a:ext cx="2377440" cy="411480"/>
          </a:xfrm>
          <a:prstGeom prst="rect">
            <a:avLst/>
          </a:prstGeom>
          <a:noFill/>
          <a:ln/>
        </p:spPr>
        <p:txBody>
          <a:bodyPr wrap="square" rtlCol="0" anchor="ctr"/>
          <a:lstStyle/>
          <a:p>
            <a:pPr algn="ctr" indent="0" marL="0">
              <a:buNone/>
            </a:pPr>
            <a:r>
              <a:rPr lang="en-US" sz="1400" b="1" dirty="0">
                <a:solidFill>
                  <a:srgbClr val="FFFFFF"/>
                </a:solidFill>
              </a:rPr>
              <a:t>RO6</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pPr indent="0" marL="0">
              <a:buNone/>
            </a:pPr>
            <a:r>
              <a:rPr lang="en-US" sz="1600" i="1" dirty="0">
                <a:solidFill>
                  <a:srgbClr val="1FB5D6"/>
                </a:solidFill>
              </a:rPr>
              <a:t>Every event in order, and the chain agrees with the local records</a:t>
            </a:r>
            <a:endParaRPr lang="en-US" sz="1600" dirty="0"/>
          </a:p>
        </p:txBody>
      </p:sp>
      <p:sp>
        <p:nvSpPr>
          <p:cNvPr id="7" name="bullets"/>
          <p:cNvSpPr txBox="1"/>
          <p:nvPr/>
        </p:nvSpPr>
        <p:spPr>
          <a:xfrm>
            <a:off x="731520" y="1463040"/>
            <a:ext cx="10789920" cy="868680"/>
          </a:xfrm>
          <a:prstGeom prst="rect">
            <a:avLst/>
          </a:prstGeom>
          <a:noFill/>
          <a:ln/>
        </p:spPr>
        <p:txBody>
          <a:bodyPr wrap="square" rtlCol="0" anchor="t"/>
          <a:lstStyle/>
          <a:p>
            <a:pPr marL="342900" indent="-342900">
              <a:buSzPct val="100000"/>
              <a:buChar char="•"/>
            </a:pPr>
            <a:r>
              <a:rPr lang="en-US" sz="1400" dirty="0">
                <a:solidFill>
                  <a:srgbClr val="FFFFFF"/>
                </a:solidFill>
              </a:rPr>
              <a:t>The lifecycle of the consent: thirteen recorded events in order, from creation to revocation</a:t>
            </a:r>
            <a:endParaRPr lang="en-US" sz="1400" dirty="0"/>
          </a:p>
          <a:p>
            <a:pPr marL="342900" indent="-342900">
              <a:buSzPct val="100000"/>
              <a:buChar char="•"/>
            </a:pPr>
            <a:r>
              <a:rPr lang="en-US" sz="1400" dirty="0">
                <a:solidFill>
                  <a:srgbClr val="FFFFFF"/>
                </a:solidFill>
              </a:rPr>
              <a:t>Aggregate indicators of the exported ledger: 60 events, 9 access requests, 5 on-chain anchors</a:t>
            </a:r>
            <a:endParaRPr lang="en-US" sz="1400" dirty="0"/>
          </a:p>
          <a:p>
            <a:pPr marL="342900" indent="-342900">
              <a:buSzPct val="100000"/>
              <a:buChar char="•"/>
            </a:pPr>
            <a:r>
              <a:rPr lang="en-US" sz="1400" dirty="0">
                <a:solidFill>
                  <a:srgbClr val="FFFFFF"/>
                </a:solidFill>
              </a:rPr>
              <a:t>An independent tool re-checked Sepolia: all anchored transactions found in their recorded blocks</a:t>
            </a:r>
            <a:endParaRPr lang="en-US" sz="1400" dirty="0"/>
          </a:p>
        </p:txBody>
      </p:sp>
      <p:sp>
        <p:nvSpPr>
          <p:cNvPr id="8" name="F38 panel"/>
          <p:cNvSpPr/>
          <p:nvPr/>
        </p:nvSpPr>
        <p:spPr>
          <a:xfrm>
            <a:off x="640080" y="2377440"/>
            <a:ext cx="5394960" cy="3657600"/>
          </a:xfrm>
          <a:prstGeom prst="roundRect">
            <a:avLst>
              <a:gd name="adj" fmla="val 300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9" name="F38" descr="/tmp/deck/img/F38.png">    </p:cNvPr>
          <p:cNvPicPr>
            <a:picLocks noChangeAspect="1"/>
          </p:cNvPicPr>
          <p:nvPr/>
        </p:nvPicPr>
        <p:blipFill>
          <a:blip r:embed="rId1"/>
          <a:stretch>
            <a:fillRect/>
          </a:stretch>
        </p:blipFill>
        <p:spPr>
          <a:xfrm>
            <a:off x="1959148" y="2487168"/>
            <a:ext cx="2756824" cy="3438144"/>
          </a:xfrm>
          <a:prstGeom prst="rect">
            <a:avLst/>
          </a:prstGeom>
        </p:spPr>
      </p:pic>
      <p:sp>
        <p:nvSpPr>
          <p:cNvPr id="10" name="caption"/>
          <p:cNvSpPr txBox="1"/>
          <p:nvPr/>
        </p:nvSpPr>
        <p:spPr>
          <a:xfrm>
            <a:off x="640080" y="6080760"/>
            <a:ext cx="5394960" cy="320040"/>
          </a:xfrm>
          <a:prstGeom prst="rect">
            <a:avLst/>
          </a:prstGeom>
          <a:noFill/>
          <a:ln/>
        </p:spPr>
        <p:txBody>
          <a:bodyPr wrap="square" rtlCol="0" anchor="ctr"/>
          <a:lstStyle/>
          <a:p>
            <a:pPr algn="ctr" indent="0" marL="0">
              <a:buNone/>
            </a:pPr>
            <a:r>
              <a:rPr lang="en-US" sz="1200" i="1" dirty="0">
                <a:solidFill>
                  <a:srgbClr val="FFFFFF"/>
                </a:solidFill>
              </a:rPr>
              <a:t>Auditor subsystem: lifecycle of the evaluated consent, thirteen events in order</a:t>
            </a:r>
            <a:endParaRPr lang="en-US" sz="1200" dirty="0"/>
          </a:p>
        </p:txBody>
      </p:sp>
      <p:sp>
        <p:nvSpPr>
          <p:cNvPr id="11" name="F39 panel"/>
          <p:cNvSpPr/>
          <p:nvPr/>
        </p:nvSpPr>
        <p:spPr>
          <a:xfrm>
            <a:off x="6172200" y="2377440"/>
            <a:ext cx="5394960" cy="3657600"/>
          </a:xfrm>
          <a:prstGeom prst="roundRect">
            <a:avLst>
              <a:gd name="adj" fmla="val 3000"/>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pic>
        <p:nvPicPr>
          <p:cNvPr id="12" name="F39" descr="/tmp/deck/img/F39.png">    </p:cNvPr>
          <p:cNvPicPr>
            <a:picLocks noChangeAspect="1"/>
          </p:cNvPicPr>
          <p:nvPr/>
        </p:nvPicPr>
        <p:blipFill>
          <a:blip r:embed="rId2"/>
          <a:stretch>
            <a:fillRect/>
          </a:stretch>
        </p:blipFill>
        <p:spPr>
          <a:xfrm>
            <a:off x="6281928" y="2819493"/>
            <a:ext cx="5175504" cy="2773493"/>
          </a:xfrm>
          <a:prstGeom prst="rect">
            <a:avLst/>
          </a:prstGeom>
        </p:spPr>
      </p:pic>
      <p:sp>
        <p:nvSpPr>
          <p:cNvPr id="13" name="caption"/>
          <p:cNvSpPr txBox="1"/>
          <p:nvPr/>
        </p:nvSpPr>
        <p:spPr>
          <a:xfrm>
            <a:off x="6172200" y="6080760"/>
            <a:ext cx="5394960" cy="320040"/>
          </a:xfrm>
          <a:prstGeom prst="rect">
            <a:avLst/>
          </a:prstGeom>
          <a:noFill/>
          <a:ln/>
        </p:spPr>
        <p:txBody>
          <a:bodyPr wrap="square" rtlCol="0" anchor="ctr"/>
          <a:lstStyle/>
          <a:p>
            <a:pPr algn="ctr" indent="0" marL="0">
              <a:buNone/>
            </a:pPr>
            <a:r>
              <a:rPr lang="en-US" sz="1200" i="1" dirty="0">
                <a:solidFill>
                  <a:srgbClr val="FFFFFF"/>
                </a:solidFill>
              </a:rPr>
              <a:t>Auditor dashboard: 60 events, 9 access requests, 5 on-chain anchors</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REFERENCES (1/</a:t>
            </a:r>
            <a:r>
              <a:rPr lang="en-US" sz="3000" b="1" dirty="0">
                <a:solidFill>
                  <a:srgbClr val="FFFFFF"/>
                </a:solidFill>
                <a:latin typeface="Arial" pitchFamily="34" charset="0"/>
                <a:ea typeface="Arial" pitchFamily="34" charset="-122"/>
                <a:cs typeface="Arial" pitchFamily="34" charset="-120"/>
              </a:rPr>
              <a:t>3</a:t>
            </a:r>
            <a:r>
              <a:rPr lang="en-US" sz="3000" b="1" dirty="0">
                <a:solidFill>
                  <a:srgbClr val="FFFFFF"/>
                </a:solidFill>
                <a:latin typeface="Arial" pitchFamily="34" charset="0"/>
                <a:ea typeface="Arial" pitchFamily="34" charset="-122"/>
                <a:cs typeface="Arial" pitchFamily="34" charset="-120"/>
              </a:rPr>
              <a:t>)</a:t>
            </a:r>
            <a:endParaRPr lang="en-US" sz="3000" dirty="0"/>
          </a:p>
        </p:txBody>
      </p:sp>
      <p:sp>
        <p:nvSpPr>
          <p:cNvPr id="4" name="references panel"/>
          <p:cNvSpPr/>
          <p:nvPr/>
        </p:nvSpPr>
        <p:spPr>
          <a:xfrm>
            <a:off x="457200" y="1051560"/>
            <a:ext cx="10789920" cy="5532120"/>
          </a:xfrm>
          <a:prstGeom prst="roundRect">
            <a:avLst>
              <a:gd name="adj" fmla="val 1983"/>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sp>
        <p:nvSpPr>
          <p:cNvPr id="5" name="reference list"/>
          <p:cNvSpPr txBox="1"/>
          <p:nvPr/>
        </p:nvSpPr>
        <p:spPr>
          <a:xfrm>
            <a:off x="640080" y="1143000"/>
            <a:ext cx="10424160" cy="5349240"/>
          </a:xfrm>
          <a:prstGeom prst="rect">
            <a:avLst/>
          </a:prstGeom>
          <a:noFill/>
          <a:ln/>
        </p:spPr>
        <p:txBody>
          <a:bodyPr wrap="square" rtlCol="0" anchor="t"/>
          <a:lstStyle/>
          <a:p>
            <a:pPr indent="0" marL="0">
              <a:spcAft>
                <a:spcPts val="400"/>
              </a:spcAft>
              <a:buNone/>
            </a:pPr>
            <a:r>
              <a:rPr lang="en-US" sz="1000" dirty="0">
                <a:solidFill>
                  <a:srgbClr val="0B1F33"/>
                </a:solidFill>
              </a:rPr>
              <a:t>Abbasi, A., Humeidi, M.N. &amp; Wang, Q. 2026, 'Nexa: Enabling secure, scalable, and decentralized management of electronic health records using threshold cryptography and public blockchains', IEEE Access, vol. 14, pp. 50791–50810, &lt;https://doi.org/10.1109/ACCESS.2026.3677499&gt;.</a:t>
            </a:r>
            <a:endParaRPr lang="en-US" sz="1000" dirty="0"/>
          </a:p>
          <a:p>
            <a:pPr indent="0" marL="0">
              <a:spcAft>
                <a:spcPts val="400"/>
              </a:spcAft>
              <a:buNone/>
            </a:pPr>
            <a:r>
              <a:rPr lang="en-US" sz="1000" dirty="0">
                <a:solidFill>
                  <a:srgbClr val="0B1F33"/>
                </a:solidFill>
              </a:rPr>
              <a:t>Al Amin, M., Altarawneh, A. &amp; Ray, I. 2023, 'Informed consent as patient driven policy for clinical diagnosis and treatment: A smart contract based approach', Proceedings of the 20th International Conference on Security and Cryptography (SECRYPT 2023), pp. 159–170, SciTePress, &lt;https://doi.org/10.5220/0012090600003555&gt;.</a:t>
            </a:r>
            <a:endParaRPr lang="en-US" sz="1000" dirty="0"/>
          </a:p>
          <a:p>
            <a:pPr indent="0" marL="0">
              <a:spcAft>
                <a:spcPts val="400"/>
              </a:spcAft>
              <a:buNone/>
            </a:pPr>
            <a:r>
              <a:rPr lang="en-US" sz="1000" dirty="0">
                <a:solidFill>
                  <a:srgbClr val="0B1F33"/>
                </a:solidFill>
              </a:rPr>
              <a:t>Albalwy, F., Brass, A. &amp; Davies, A. 2021, 'A blockchain-based dynamic consent architecture to support clinical genomic data sharing (ConsentChain): Proof-of-concept study', JMIR Medical Informatics, vol. 9, no. 11, p. e27816, &lt;https://doi.org/10.2196/27816&gt;.</a:t>
            </a:r>
            <a:endParaRPr lang="en-US" sz="1000" dirty="0"/>
          </a:p>
          <a:p>
            <a:pPr indent="0" marL="0">
              <a:spcAft>
                <a:spcPts val="400"/>
              </a:spcAft>
              <a:buNone/>
            </a:pPr>
            <a:r>
              <a:rPr lang="en-US" sz="1000" dirty="0">
                <a:solidFill>
                  <a:srgbClr val="0B1F33"/>
                </a:solidFill>
              </a:rPr>
              <a:t>Bloemen, R., Logvinov, L. &amp; Evans, J. 2017, EIP-712: Typed structured data hashing and signing, Ethereum Improvement Proposals, no. 712, viewed 6 October 2026, &lt;https://eips.ethereum.org/EIPS/eip-712&gt;.</a:t>
            </a:r>
            <a:endParaRPr lang="en-US" sz="1000" dirty="0"/>
          </a:p>
          <a:p>
            <a:pPr indent="0" marL="0">
              <a:spcAft>
                <a:spcPts val="400"/>
              </a:spcAft>
              <a:buNone/>
            </a:pPr>
            <a:r>
              <a:rPr lang="en-US" sz="1000" dirty="0">
                <a:solidFill>
                  <a:srgbClr val="0B1F33"/>
                </a:solidFill>
              </a:rPr>
              <a:t>Cai, B. 2022, ERC-5484: Consensual soulbound tokens, Ethereum Improvement Proposals, no. 5484, viewed 6 October 2026, &lt;https://eips.ethereum.org/EIPS/eip-5484&gt;.</a:t>
            </a:r>
            <a:endParaRPr lang="en-US" sz="1000" dirty="0"/>
          </a:p>
          <a:p>
            <a:pPr indent="0" marL="0">
              <a:spcAft>
                <a:spcPts val="400"/>
              </a:spcAft>
              <a:buNone/>
            </a:pPr>
            <a:r>
              <a:rPr lang="en-US" sz="1000" dirty="0">
                <a:solidFill>
                  <a:srgbClr val="0B1F33"/>
                </a:solidFill>
              </a:rPr>
              <a:t>Ekholm, K., Augustinsson, A., Sundström, J., Johansen, C., Storgärds, M., Ljöstad, L. et al. 2025, 'Implementing electronic informed consent in rare disease genomics', Scientific Reports, vol. 15, no. 1, p. 44419, &lt;https://doi.org/10.1038/s41598-025-32740-1&gt;.</a:t>
            </a:r>
            <a:endParaRPr lang="en-US" sz="1000" dirty="0"/>
          </a:p>
          <a:p>
            <a:pPr indent="0" marL="0">
              <a:spcAft>
                <a:spcPts val="400"/>
              </a:spcAft>
              <a:buNone/>
            </a:pPr>
            <a:r>
              <a:rPr lang="en-US" sz="1000" dirty="0">
                <a:solidFill>
                  <a:srgbClr val="0B1F33"/>
                </a:solidFill>
              </a:rPr>
              <a:t>Eneh, A.U., Ahakonye, L.A.C., Lee, J.M. &amp; Kim, D.-S. 2026, 'Demo: EdgeConsent: On-chain attribute-based access control for data consent management', 2026 IEEE International Conference on Blockchain and Cryptocurrency (ICBC), pp. 1–2, &lt;https://doi.org/10.1109/ICBC67748.2026.11575534&gt;.</a:t>
            </a:r>
            <a:endParaRPr lang="en-US" sz="1000" dirty="0"/>
          </a:p>
          <a:p>
            <a:pPr indent="0" marL="0">
              <a:spcAft>
                <a:spcPts val="400"/>
              </a:spcAft>
              <a:buNone/>
            </a:pPr>
            <a:r>
              <a:rPr lang="en-US" sz="1000" dirty="0">
                <a:solidFill>
                  <a:srgbClr val="0B1F33"/>
                </a:solidFill>
              </a:rPr>
              <a:t>Entriken, W., Shirley, D., Evans, J. &amp; Sachs, N. 2018, ERC-721: Non-fungible token standard, Ethereum Improvement Proposals, no. 721, viewed 6 October 2026, &lt;https://eips.ethereum.org/EIPS/eip-721&gt;.</a:t>
            </a:r>
            <a:endParaRPr lang="en-US" sz="1000" dirty="0"/>
          </a:p>
          <a:p>
            <a:pPr indent="0" marL="0">
              <a:spcAft>
                <a:spcPts val="400"/>
              </a:spcAft>
              <a:buNone/>
            </a:pPr>
            <a:r>
              <a:rPr lang="en-US" sz="1000" dirty="0">
                <a:solidFill>
                  <a:srgbClr val="0B1F33"/>
                </a:solidFill>
              </a:rPr>
              <a:t>Ethereum Foundation 2026b, Networks, ethereum.org developer documentation, viewed 7 October 2026, &lt;https://ethereum.org/en/developers/docs/networks/&gt;.</a:t>
            </a:r>
            <a:endParaRPr lang="en-US" sz="1000" dirty="0"/>
          </a:p>
          <a:p>
            <a:pPr indent="0" marL="0">
              <a:spcAft>
                <a:spcPts val="400"/>
              </a:spcAft>
              <a:buNone/>
            </a:pPr>
            <a:r>
              <a:rPr lang="en-US" sz="1000" dirty="0">
                <a:solidFill>
                  <a:srgbClr val="0B1F33"/>
                </a:solidFill>
              </a:rPr>
              <a:t>Grassi, L., Khovratovich, D., Rechberger, C., Roy, A. &amp; Schofnegger, M. 2021, 'Poseidon: A new hash function for zero-knowledge proof systems', Proceedings of the 30th USENIX Security Symposium, pp. 519–535.</a:t>
            </a:r>
            <a:endParaRPr lang="en-US" sz="1000" dirty="0"/>
          </a:p>
          <a:p>
            <a:pPr indent="0" marL="0">
              <a:spcAft>
                <a:spcPts val="400"/>
              </a:spcAft>
              <a:buNone/>
            </a:pPr>
            <a:r>
              <a:rPr lang="en-US" sz="1000" dirty="0">
                <a:solidFill>
                  <a:srgbClr val="0B1F33"/>
                </a:solidFill>
              </a:rPr>
              <a:t>Groth, J. 2016, 'On the size of pairing-based non-interactive arguments', Advances in Cryptology – EUROCRYPT 2016, LNCS, vol. 9666, pp. 305–326, Springer, &lt;https://doi.org/10.1007/978-3-662-49896-5_11&gt;.</a:t>
            </a:r>
            <a:endParaRPr lang="en-US" sz="1000" dirty="0"/>
          </a:p>
          <a:p>
            <a:pPr indent="0" marL="0">
              <a:spcAft>
                <a:spcPts val="400"/>
              </a:spcAft>
              <a:buNone/>
            </a:pPr>
            <a:r>
              <a:rPr lang="en-US" sz="1000" dirty="0">
                <a:solidFill>
                  <a:srgbClr val="0B1F33"/>
                </a:solidFill>
              </a:rPr>
              <a:t>Hagström, J., Hägglund, M., Holmroos, M., Lähteenmäki, P. &amp; Hörhammer, I. 2024, 'Minors’ and guardian access to and use of a national patient portal: A retrospective comparative case study of Sweden and Finland', International Journal of Medical Informatics, vol. 187, p. 105465, &lt;https://doi.org/10.1016/j.ijmedinf.2024.105465&gt;.</a:t>
            </a:r>
            <a:endParaRPr lang="en-US" sz="1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REFERENCES (2/</a:t>
            </a:r>
            <a:r>
              <a:rPr lang="en-US" sz="3000" b="1" dirty="0">
                <a:solidFill>
                  <a:srgbClr val="FFFFFF"/>
                </a:solidFill>
                <a:latin typeface="Arial" pitchFamily="34" charset="0"/>
                <a:ea typeface="Arial" pitchFamily="34" charset="-122"/>
                <a:cs typeface="Arial" pitchFamily="34" charset="-120"/>
              </a:rPr>
              <a:t>3</a:t>
            </a:r>
            <a:r>
              <a:rPr lang="en-US" sz="3000" b="1" dirty="0">
                <a:solidFill>
                  <a:srgbClr val="FFFFFF"/>
                </a:solidFill>
                <a:latin typeface="Arial" pitchFamily="34" charset="0"/>
                <a:ea typeface="Arial" pitchFamily="34" charset="-122"/>
                <a:cs typeface="Arial" pitchFamily="34" charset="-120"/>
              </a:rPr>
              <a:t>)</a:t>
            </a:r>
            <a:endParaRPr lang="en-US" sz="3000" dirty="0"/>
          </a:p>
        </p:txBody>
      </p:sp>
      <p:sp>
        <p:nvSpPr>
          <p:cNvPr id="3" name="references panel"/>
          <p:cNvSpPr/>
          <p:nvPr/>
        </p:nvSpPr>
        <p:spPr>
          <a:xfrm>
            <a:off x="457200" y="1051560"/>
            <a:ext cx="10789920" cy="5532120"/>
          </a:xfrm>
          <a:prstGeom prst="roundRect">
            <a:avLst>
              <a:gd name="adj" fmla="val 1983"/>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sp>
        <p:nvSpPr>
          <p:cNvPr id="4" name="reference list"/>
          <p:cNvSpPr txBox="1"/>
          <p:nvPr/>
        </p:nvSpPr>
        <p:spPr>
          <a:xfrm>
            <a:off x="640080" y="1143000"/>
            <a:ext cx="10424160" cy="5349240"/>
          </a:xfrm>
          <a:prstGeom prst="rect">
            <a:avLst/>
          </a:prstGeom>
          <a:noFill/>
          <a:ln/>
        </p:spPr>
        <p:txBody>
          <a:bodyPr wrap="square" rtlCol="0" anchor="t"/>
          <a:lstStyle/>
          <a:p>
            <a:pPr indent="0" marL="0">
              <a:spcAft>
                <a:spcPts val="400"/>
              </a:spcAft>
              <a:buNone/>
            </a:pPr>
            <a:r>
              <a:rPr lang="en-US" sz="1000" dirty="0">
                <a:solidFill>
                  <a:srgbClr val="0B1F33"/>
                </a:solidFill>
              </a:rPr>
              <a:t>Hema, S., Reddy, G.B.S. &amp; Shalini, R. 2026, 'Patient centric cryptographic protection of cloud electronic health records', 2026 6th International Conference on Expert Clouds and Applications (ICOECA), pp. 293–300, &lt;https://doi.org/10.1109/ICOECA68095.2026.11485301&gt;.</a:t>
            </a:r>
            <a:endParaRPr lang="en-US" sz="1000" dirty="0"/>
          </a:p>
          <a:p>
            <a:pPr indent="0" marL="0">
              <a:spcAft>
                <a:spcPts val="400"/>
              </a:spcAft>
              <a:buNone/>
            </a:pPr>
            <a:r>
              <a:rPr lang="en-US" sz="1000" dirty="0">
                <a:solidFill>
                  <a:srgbClr val="0B1F33"/>
                </a:solidFill>
              </a:rPr>
              <a:t>HL7 International 2019, HL7 FHIR Release 4 (R4), viewed 7 October 2026, &lt;https://hl7.org/fhir/R4/&gt;.</a:t>
            </a:r>
            <a:endParaRPr lang="en-US" sz="1000" dirty="0"/>
          </a:p>
          <a:p>
            <a:pPr indent="0" marL="0">
              <a:spcAft>
                <a:spcPts val="400"/>
              </a:spcAft>
              <a:buNone/>
            </a:pPr>
            <a:r>
              <a:rPr lang="en-US" sz="1000" dirty="0">
                <a:solidFill>
                  <a:srgbClr val="0B1F33"/>
                </a:solidFill>
              </a:rPr>
              <a:t>Jaiman, V. &amp; Urovi, V. 2020, 'A consent model for blockchain-based health data sharing platforms', IEEE Access, vol. 8, pp. 143734–143745, &lt;https://doi.org/10.1109/ACCESS.2020.3014565&gt;.</a:t>
            </a:r>
            <a:endParaRPr lang="en-US" sz="1000" dirty="0"/>
          </a:p>
          <a:p>
            <a:pPr indent="0" marL="0">
              <a:spcAft>
                <a:spcPts val="400"/>
              </a:spcAft>
              <a:buNone/>
            </a:pPr>
            <a:r>
              <a:rPr lang="en-US" sz="1000" dirty="0">
                <a:solidFill>
                  <a:srgbClr val="0B1F33"/>
                </a:solidFill>
              </a:rPr>
              <a:t>Li, H., Li, D., Lv, G., Crespi, N., Minerva, R., Shao, W. et al. 2026a, 'Privacy-preserving fine-grained EMR access control for IoMT: A hybrid RBAC-smart contract scheme with attribute-based authorization', IEEE Internet of Things Journal, vol. 13, no. 2, pp. 2970–2987, &lt;https://doi.org/10.1109/JIOT.2025.3633504&gt;.</a:t>
            </a:r>
            <a:endParaRPr lang="en-US" sz="1000" dirty="0"/>
          </a:p>
          <a:p>
            <a:pPr indent="0" marL="0">
              <a:spcAft>
                <a:spcPts val="400"/>
              </a:spcAft>
              <a:buNone/>
            </a:pPr>
            <a:r>
              <a:rPr lang="en-US" sz="1000" dirty="0">
                <a:solidFill>
                  <a:srgbClr val="0B1F33"/>
                </a:solidFill>
              </a:rPr>
              <a:t>Madine, M.M., Salah, K., Jayaraman, R., Yaqoob, I., Al-Hammadi, Y., Ellahham, S. et al. 2020, 'Fully decentralized multi-party consent management for secure sharing of patient health records', IEEE Access, vol. 8, pp. 225777–225791, &lt;https://doi.org/10.1109/ACCESS.2020.3045048&gt;.</a:t>
            </a:r>
            <a:endParaRPr lang="en-US" sz="1000" dirty="0"/>
          </a:p>
          <a:p>
            <a:pPr indent="0" marL="0">
              <a:spcAft>
                <a:spcPts val="400"/>
              </a:spcAft>
              <a:buNone/>
            </a:pPr>
            <a:r>
              <a:rPr lang="en-US" sz="1000" dirty="0">
                <a:solidFill>
                  <a:srgbClr val="0B1F33"/>
                </a:solidFill>
              </a:rPr>
              <a:t>Maruthi, V. &amp; Singh, K. 2025, 'Enhancing security and privacy of IoMT data for unconscious patient with blockchain', IEEE Transactions on Network and Service Management, vol. 22, no. 6, pp. 5223–5238, &lt;https://doi.org/10.1109/TNSM.2025.3602117&gt;.</a:t>
            </a:r>
            <a:endParaRPr lang="en-US" sz="1000" dirty="0"/>
          </a:p>
          <a:p>
            <a:pPr indent="0" marL="0">
              <a:spcAft>
                <a:spcPts val="400"/>
              </a:spcAft>
              <a:buNone/>
            </a:pPr>
            <a:r>
              <a:rPr lang="en-US" sz="1000" dirty="0">
                <a:solidFill>
                  <a:srgbClr val="0B1F33"/>
                </a:solidFill>
              </a:rPr>
              <a:t>Mei, L., Huang, K., Li, X., Wang, H. &amp; Zhang, X. 2026, 'Efficient dual-revocation CP-ABE for secure and fine-grained data sharing in IoMT', IEEE Internet of Things Journal, vol. 13, no. 14, pp. 30933–30940, &lt;https://doi.org/10.1109/JIOT.2026.3685269&gt;.</a:t>
            </a:r>
            <a:endParaRPr lang="en-US" sz="1000" dirty="0"/>
          </a:p>
          <a:p>
            <a:pPr indent="0" marL="0">
              <a:spcAft>
                <a:spcPts val="400"/>
              </a:spcAft>
              <a:buNone/>
            </a:pPr>
            <a:r>
              <a:rPr lang="en-US" sz="1000" dirty="0">
                <a:solidFill>
                  <a:srgbClr val="0B1F33"/>
                </a:solidFill>
              </a:rPr>
              <a:t>Page, M.J., McKenzie, J.E., Bossuyt, P.M., Boutron, I., Hoffmann, T.C., Mulrow, C.D. et al. 2021, 'The PRISMA 2020 statement: An updated guideline for reporting systematic reviews', BMJ, vol. 372, p. n71, &lt;https://doi.org/10.1136/bmj.n71&gt;.</a:t>
            </a:r>
            <a:endParaRPr lang="en-US" sz="1000" dirty="0"/>
          </a:p>
          <a:p>
            <a:pPr indent="0" marL="0">
              <a:spcAft>
                <a:spcPts val="400"/>
              </a:spcAft>
              <a:buNone/>
            </a:pPr>
            <a:r>
              <a:rPr lang="en-US" sz="1000" dirty="0">
                <a:solidFill>
                  <a:srgbClr val="0B1F33"/>
                </a:solidFill>
              </a:rPr>
              <a:t>Panagoulias, D.P., Damian, A.I., Stamate, C., Toderian, V., Butusina, P., De Franceschi, A. et al. 2026, 'Blockchain-enabled trust and compliance for clinical AI: Decentralized governance without decentralized data storage', Electronics, vol. 15, no. 14, p. 3046, &lt;https://doi.org/10.3390/electronics15143046&gt;.</a:t>
            </a:r>
            <a:endParaRPr lang="en-US" sz="1000" dirty="0"/>
          </a:p>
          <a:p>
            <a:pPr indent="0" marL="0">
              <a:spcAft>
                <a:spcPts val="400"/>
              </a:spcAft>
              <a:buNone/>
            </a:pPr>
            <a:r>
              <a:rPr lang="en-US" sz="1000" dirty="0">
                <a:solidFill>
                  <a:srgbClr val="0B1F33"/>
                </a:solidFill>
              </a:rPr>
              <a:t>Phuyal, S., Bhandari, M., Bista, R. &amp; Ferreira, J.C. 2026a, 'A blockchain-based architecture for dynamic and auditable patient consent in secondary use of health data', Blockchain in Healthcare Today, vol. 9, no. 1, p. 491, &lt;https://doi.org/10.30953/bhty.v9.491&gt;.</a:t>
            </a:r>
            <a:endParaRPr lang="en-US" sz="1000" dirty="0"/>
          </a:p>
          <a:p>
            <a:pPr indent="0" marL="0">
              <a:spcAft>
                <a:spcPts val="400"/>
              </a:spcAft>
              <a:buNone/>
            </a:pPr>
            <a:r>
              <a:rPr lang="en-US" sz="1000" dirty="0">
                <a:solidFill>
                  <a:srgbClr val="0B1F33"/>
                </a:solidFill>
              </a:rPr>
              <a:t>Phuyal, S., Bhandari, M., Bista, R. &amp; Ferreira, J.C. 2026b, 'Enabling cross-institution health data sharing in Norway: EUDI wallets, on-chain consent, and openEHR↔FHIR translation', IEEE Access, vol. 14, pp. 20309–20327, &lt;https://doi.org/10.1109/ACCESS.2026.3661642&gt;.</a:t>
            </a:r>
            <a:endParaRPr lang="en-US" sz="1000" dirty="0"/>
          </a:p>
          <a:p>
            <a:pPr indent="0" marL="0">
              <a:spcAft>
                <a:spcPts val="400"/>
              </a:spcAft>
              <a:buNone/>
            </a:pPr>
            <a:r>
              <a:rPr lang="en-US" sz="1000" dirty="0">
                <a:solidFill>
                  <a:srgbClr val="0B1F33"/>
                </a:solidFill>
              </a:rPr>
              <a:t>Punia, A., Gulia, P., Gill, N.S., Kaushik, D., Alduaiji, N., Shukla, P.K. et al. 2025, 'An access control system for cloud-based healthcare systems driven by blockchain', Journal of Cloud Computing, vol. 14, no. 1, p. 78, &lt;https://doi.org/10.1186/s13677-025-00831-z&gt;.</a:t>
            </a:r>
            <a:endParaRPr lang="en-US" sz="1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
            <a:ext cx="10515600"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REFERENCES (3/</a:t>
            </a:r>
            <a:r>
              <a:rPr lang="en-US" sz="3000" b="1" dirty="0">
                <a:solidFill>
                  <a:srgbClr val="FFFFFF"/>
                </a:solidFill>
                <a:latin typeface="Arial" pitchFamily="34" charset="0"/>
                <a:ea typeface="Arial" pitchFamily="34" charset="-122"/>
                <a:cs typeface="Arial" pitchFamily="34" charset="-120"/>
              </a:rPr>
              <a:t>3</a:t>
            </a:r>
            <a:r>
              <a:rPr lang="en-US" sz="3000" b="1" dirty="0">
                <a:solidFill>
                  <a:srgbClr val="FFFFFF"/>
                </a:solidFill>
                <a:latin typeface="Arial" pitchFamily="34" charset="0"/>
                <a:ea typeface="Arial" pitchFamily="34" charset="-122"/>
                <a:cs typeface="Arial" pitchFamily="34" charset="-120"/>
              </a:rPr>
              <a:t>)</a:t>
            </a:r>
            <a:endParaRPr lang="en-US" sz="3000" dirty="0"/>
          </a:p>
        </p:txBody>
      </p:sp>
      <p:sp>
        <p:nvSpPr>
          <p:cNvPr id="3" name="references panel"/>
          <p:cNvSpPr/>
          <p:nvPr/>
        </p:nvSpPr>
        <p:spPr>
          <a:xfrm>
            <a:off x="457200" y="1051560"/>
            <a:ext cx="10789920" cy="5532120"/>
          </a:xfrm>
          <a:prstGeom prst="roundRect">
            <a:avLst>
              <a:gd name="adj" fmla="val 1983"/>
            </a:avLst>
          </a:prstGeom>
          <a:solidFill>
            <a:srgbClr val="FFFFFF"/>
          </a:solidFill>
          <a:ln w="12700">
            <a:solidFill>
              <a:srgbClr val="FFFFFF"/>
            </a:solidFill>
            <a:prstDash val="solid"/>
          </a:ln>
          <a:effectLst>
            <a:outerShdw sx="100000" sy="100000" kx="0" ky="0" algn="bl" rotWithShape="0" blurRad="101600" dist="38100" dir="5400000">
              <a:srgbClr val="000000">
                <a:alpha val="35000"/>
              </a:srgbClr>
            </a:outerShdw>
          </a:effectLst>
        </p:spPr>
      </p:sp>
      <p:sp>
        <p:nvSpPr>
          <p:cNvPr id="4" name="reference list"/>
          <p:cNvSpPr txBox="1"/>
          <p:nvPr/>
        </p:nvSpPr>
        <p:spPr>
          <a:xfrm>
            <a:off x="640080" y="1143000"/>
            <a:ext cx="10424160" cy="5349240"/>
          </a:xfrm>
          <a:prstGeom prst="rect">
            <a:avLst/>
          </a:prstGeom>
          <a:noFill/>
          <a:ln/>
        </p:spPr>
        <p:txBody>
          <a:bodyPr wrap="square" rtlCol="0" anchor="t"/>
          <a:lstStyle/>
          <a:p>
            <a:pPr indent="0" marL="0">
              <a:spcAft>
                <a:spcPts val="400"/>
              </a:spcAft>
              <a:buNone/>
            </a:pPr>
            <a:r>
              <a:rPr lang="en-US" sz="1000" dirty="0">
                <a:solidFill>
                  <a:srgbClr val="0B1F33"/>
                </a:solidFill>
              </a:rPr>
              <a:t>Román-Martínez, I., Calvillo-Arbizu, J., Mayor-Gallego, V.J., Madinabeitia-Luque, G., Estepa-Alonso, A.J. &amp; Estepa-Alonso, R.M. 2023, 'Blockchain-based service-oriented architecture for consent management, access control, and auditing', IEEE Access, vol. 11, pp. 12727–12741, &lt;https://doi.org/10.1109/ACCESS.2023.3242605&gt;.</a:t>
            </a:r>
            <a:endParaRPr lang="en-US" sz="1000" dirty="0"/>
          </a:p>
          <a:p>
            <a:pPr indent="0" marL="0">
              <a:spcAft>
                <a:spcPts val="400"/>
              </a:spcAft>
              <a:buNone/>
            </a:pPr>
            <a:r>
              <a:rPr lang="en-US" sz="1000" dirty="0">
                <a:solidFill>
                  <a:srgbClr val="0B1F33"/>
                </a:solidFill>
              </a:rPr>
              <a:t>SooHoo, S.L., Keller, M.S., Chen, Y., Hu, D., Huang, S.-C., Kuo, T.-T. et al. 2026, 'Development of the authentication and authorization processes for the iAgree portal, a platform for patient-controlled data sharing across health systems', JAMIA Open, vol. 9, no. 3, p. ooag111, &lt;https://doi.org/10.1093/jamiaopen/ooag111&gt;.</a:t>
            </a:r>
            <a:endParaRPr lang="en-US" sz="1000" dirty="0"/>
          </a:p>
          <a:p>
            <a:pPr indent="0" marL="0">
              <a:spcAft>
                <a:spcPts val="400"/>
              </a:spcAft>
              <a:buNone/>
            </a:pPr>
            <a:r>
              <a:rPr lang="en-US" sz="1000" dirty="0">
                <a:solidFill>
                  <a:srgbClr val="0B1F33"/>
                </a:solidFill>
              </a:rPr>
              <a:t>Tan, K.-L., Chi, C.-H. &amp; Lam, K.-Y. 2024, 'Secure and privacy-preserving sharing of personal health records with multi-party pre-authorization verification', Wireless Networks, vol. 30, no. 4, pp. 4773–4795, &lt;https://doi.org/10.1007/s11276-022-03114-6&gt;.</a:t>
            </a:r>
            <a:endParaRPr lang="en-US" sz="1000" dirty="0"/>
          </a:p>
          <a:p>
            <a:pPr indent="0" marL="0">
              <a:spcAft>
                <a:spcPts val="400"/>
              </a:spcAft>
              <a:buNone/>
            </a:pPr>
            <a:r>
              <a:rPr lang="en-US" sz="1000" dirty="0">
                <a:solidFill>
                  <a:srgbClr val="0B1F33"/>
                </a:solidFill>
              </a:rPr>
              <a:t>Tith, D., Lee, J.-S., Suzuki, H., Wijesundara, W.M.A.B., Taira, N., Obi, T. et al. 2020, 'Patient consent management by a purpose-based consent model for electronic health record based on blockchain technology', Healthcare Informatics Research, vol. 26, no. 4, pp. 265–273, &lt;https://doi.org/10.4258/hir.2020.26.4.265&gt;.</a:t>
            </a:r>
            <a:endParaRPr lang="en-US" sz="1000" dirty="0"/>
          </a:p>
          <a:p>
            <a:pPr indent="0" marL="0">
              <a:spcAft>
                <a:spcPts val="400"/>
              </a:spcAft>
              <a:buNone/>
            </a:pPr>
            <a:r>
              <a:rPr lang="en-US" sz="1000" dirty="0">
                <a:solidFill>
                  <a:srgbClr val="0B1F33"/>
                </a:solidFill>
              </a:rPr>
              <a:t>Tremper, G., Brenner, T., Ben Amor, M., Kussel, T. &amp; Lablans, M. 2026, 'Mainzelliste: Ten years of pseudonymization, record linkage, and informed consent management', Patterns, vol. 7, no. 1, p. 101432, &lt;https://doi.org/10.1016/j.patter.2025.101432&gt;.</a:t>
            </a:r>
            <a:endParaRPr lang="en-US" sz="1000" dirty="0"/>
          </a:p>
          <a:p>
            <a:pPr indent="0" marL="0">
              <a:spcAft>
                <a:spcPts val="400"/>
              </a:spcAft>
              <a:buNone/>
            </a:pPr>
            <a:r>
              <a:rPr lang="en-US" sz="1000" dirty="0">
                <a:solidFill>
                  <a:srgbClr val="0B1F33"/>
                </a:solidFill>
              </a:rPr>
              <a:t>Tseng, C.-H., Hsieh, Y.-H., Lin, H.-Y. &amp; Yuan, S.-M. 2025, 'EMR-Chain: Decentralized electronic medical record exchange system', Technologies, vol. 13, no. 10, p. 446, &lt;https://doi.org/10.3390/technologies13100446&gt;.</a:t>
            </a:r>
            <a:endParaRPr lang="en-US" sz="1000" dirty="0"/>
          </a:p>
          <a:p>
            <a:pPr indent="0" marL="0">
              <a:spcAft>
                <a:spcPts val="400"/>
              </a:spcAft>
              <a:buNone/>
            </a:pPr>
            <a:r>
              <a:rPr lang="en-US" sz="1000" dirty="0">
                <a:solidFill>
                  <a:srgbClr val="0B1F33"/>
                </a:solidFill>
              </a:rPr>
              <a:t>Walonoski, J., Kramer, M., Nichols, J., Quina, A., Moesel, C., Hall, D. et al. 2018, 'Synthea: An approach, method, and software mechanism for generating synthetic patients and the synthetic electronic health care record', Journal of the American Medical Informatics Association, vol. 25, no. 3, pp. 230–238, &lt;https://doi.org/10.1093/jamia/ocx079&gt;.</a:t>
            </a:r>
            <a:endParaRPr lang="en-US" sz="1000" dirty="0"/>
          </a:p>
          <a:p>
            <a:pPr indent="0" marL="0">
              <a:spcAft>
                <a:spcPts val="400"/>
              </a:spcAft>
              <a:buNone/>
            </a:pPr>
            <a:r>
              <a:rPr lang="en-US" sz="1000" dirty="0">
                <a:solidFill>
                  <a:srgbClr val="0B1F33"/>
                </a:solidFill>
              </a:rPr>
              <a:t>Wood, G. 2014, Ethereum: A secure decentralised generalised transaction ledger, Ethereum Project Yellow Paper.</a:t>
            </a:r>
            <a:endParaRPr lang="en-US" sz="1000" dirty="0"/>
          </a:p>
          <a:p>
            <a:pPr indent="0" marL="0">
              <a:spcAft>
                <a:spcPts val="400"/>
              </a:spcAft>
              <a:buNone/>
            </a:pPr>
            <a:r>
              <a:rPr lang="en-US" sz="1000" dirty="0">
                <a:solidFill>
                  <a:srgbClr val="0B1F33"/>
                </a:solidFill>
              </a:rPr>
              <a:t>Wu, Y., Liu, C., Sebald, L., Nguyen, P. &amp; Yesha, Y. 2022, 'Apply trust computing and privacy preserving smart contracts to manage, share, and analyze multi-site clinical trial data', Proceedings of the International Conference on Deep Learning, Big Data and Blockchain (DBB 2022), LNNS, vol. 541, pp. 3–14, Springer, &lt;https://doi.org/10.1007/978-3-031-16035-6_1&gt;.</a:t>
            </a:r>
            <a:endParaRPr lang="en-US" sz="1000" dirty="0"/>
          </a:p>
          <a:p>
            <a:pPr indent="0" marL="0">
              <a:spcAft>
                <a:spcPts val="400"/>
              </a:spcAft>
              <a:buNone/>
            </a:pPr>
            <a:r>
              <a:rPr lang="en-US" sz="1000" dirty="0">
                <a:solidFill>
                  <a:srgbClr val="0B1F33"/>
                </a:solidFill>
              </a:rPr>
              <a:t>Wu, Z. &amp; Zhang, D. 2025, 'HealthDID: An efficient and authorizable multi-party privacy-preserving EMR sharing system based on DID', Computer Standards &amp; Interfaces, vol. 93, p. 103967, &lt;https://doi.org/10.1016/j.csi.2024.103967&gt;.</a:t>
            </a:r>
            <a:endParaRPr lang="en-US" sz="1000" dirty="0"/>
          </a:p>
          <a:p>
            <a:pPr indent="0" marL="0">
              <a:spcAft>
                <a:spcPts val="400"/>
              </a:spcAft>
              <a:buNone/>
            </a:pPr>
            <a:r>
              <a:rPr lang="en-US" sz="1000" dirty="0">
                <a:solidFill>
                  <a:srgbClr val="0B1F33"/>
                </a:solidFill>
              </a:rPr>
              <a:t>Zhao, J. &amp; Su, Q. 2024, 'A threshold traceable delegation authorization scheme for data sharing in healthcare', Computers &amp; Security, vol. 139, p. 103686, &lt;https://doi.org/10.1016/j.cose.2023.103686&gt;.</a:t>
            </a:r>
            <a:endParaRPr lang="en-US" sz="1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hanks"/>
          <p:cNvSpPr txBox="1"/>
          <p:nvPr/>
        </p:nvSpPr>
        <p:spPr>
          <a:xfrm>
            <a:off x="2286000" y="2377440"/>
            <a:ext cx="7589520" cy="1280160"/>
          </a:xfrm>
          <a:prstGeom prst="rect">
            <a:avLst/>
          </a:prstGeom>
          <a:noFill/>
          <a:ln/>
        </p:spPr>
        <p:txBody>
          <a:bodyPr wrap="square" rtlCol="0" anchor="ctr"/>
          <a:lstStyle/>
          <a:p>
            <a:pPr algn="ctr" indent="0" marL="0">
              <a:buNone/>
            </a:pPr>
            <a:r>
              <a:rPr lang="en-US" sz="5400" b="1" dirty="0">
                <a:solidFill>
                  <a:srgbClr val="FFFFFF"/>
                </a:solidFill>
              </a:rPr>
              <a:t>Thank You</a:t>
            </a:r>
            <a:endParaRPr lang="en-US" sz="5400" dirty="0"/>
          </a:p>
        </p:txBody>
      </p:sp>
      <p:sp>
        <p:nvSpPr>
          <p:cNvPr id="3" name="questions"/>
          <p:cNvSpPr txBox="1"/>
          <p:nvPr/>
        </p:nvSpPr>
        <p:spPr>
          <a:xfrm>
            <a:off x="2286000" y="3657600"/>
            <a:ext cx="7589520" cy="548640"/>
          </a:xfrm>
          <a:prstGeom prst="rect">
            <a:avLst/>
          </a:prstGeom>
          <a:noFill/>
          <a:ln/>
        </p:spPr>
        <p:txBody>
          <a:bodyPr wrap="square" rtlCol="0" anchor="ctr"/>
          <a:lstStyle/>
          <a:p>
            <a:pPr algn="ctr" indent="0" marL="0">
              <a:buNone/>
            </a:pPr>
            <a:r>
              <a:rPr lang="en-US" sz="2200" i="1" dirty="0">
                <a:solidFill>
                  <a:srgbClr val="1FB5D6"/>
                </a:solidFill>
              </a:rPr>
              <a:t>Questions and discussion</a:t>
            </a:r>
            <a:endParaRPr lang="en-US" sz="2200" dirty="0"/>
          </a:p>
        </p:txBody>
      </p:sp>
    </p:spTree>
  </p:cSld>
  <p:clrMapOvr>
    <a:masterClrMapping/>
  </p:clrMapOvr>
</p:sld>
</file>

<file path=ppt/theme/theme1.xml><?xml version="1.0" encoding="utf-8"?>
<a:theme xmlns:a="http://schemas.openxmlformats.org/drawingml/2006/main" name="Trust Consent">
  <a:themeElements>
    <a:clrScheme name="Trust Consent">
      <a:dk1>
        <a:srgbClr val="0B1F33"/>
      </a:dk1>
      <a:lt1>
        <a:srgbClr val="FFFFFF"/>
      </a:lt1>
      <a:dk2>
        <a:srgbClr val="0B2A4A"/>
      </a:dk2>
      <a:lt2>
        <a:srgbClr val="E8F4F8"/>
      </a:lt2>
      <a:accent1>
        <a:srgbClr val="1FB5D6"/>
      </a:accent1>
      <a:accent2>
        <a:srgbClr val="0B2A4A"/>
      </a:accent2>
      <a:accent3>
        <a:srgbClr val="2E7D32"/>
      </a:accent3>
      <a:accent4>
        <a:srgbClr val="F2A900"/>
      </a:accent4>
      <a:accent5>
        <a:srgbClr val="C62828"/>
      </a:accent5>
      <a:accent6>
        <a:srgbClr val="5B6B7A"/>
      </a:accent6>
      <a:hlink>
        <a:srgbClr val="1FB5D6"/>
      </a:hlink>
      <a:folHlink>
        <a:srgbClr val="5B6B7A"/>
      </a:folHlink>
    </a:clrScheme>
    <a:fontScheme name="Trust Conse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Trusted Authorisation Framework for Multi-Party Patient Consent in Healthcare Data Sharing</dc:title>
  <dc:subject>Candidature Reassessment</dc:subject>
  <dc:creator>Yasir Dhaifallah O Alyoubi</dc:creator>
  <cp:lastModifiedBy>Yasir Dhaifallah O Alyoubi</cp:lastModifiedBy>
  <cp:revision>1</cp:revision>
  <dcterms:created xsi:type="dcterms:W3CDTF">2026-10-11T01:10:02Z</dcterms:created>
  <dcterms:modified xsi:type="dcterms:W3CDTF">2026-10-11T01:10:02Z</dcterms:modified>
</cp:coreProperties>
</file>
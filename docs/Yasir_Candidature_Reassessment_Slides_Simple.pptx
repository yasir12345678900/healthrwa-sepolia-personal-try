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2151970a-99fe-8918-74da-f486b620fb10}">
          <p14:sldIdLst>
            <p14:sldId id="256"/>
            <p14:sldId id="257"/>
          </p14:sldIdLst>
        </p14:section>
        <p14:section name="The Problem" id="{f535dcb1-35a9-6994-7237-f5e0938ecce2}">
          <p14:sldIdLst>
            <p14:sldId id="258"/>
            <p14:sldId id="259"/>
          </p14:sldIdLst>
        </p14:section>
        <p14:section name="Literature Review" id="{2481616f-38ac-f46f-6ef4-70356866f101}">
          <p14:sldIdLst>
            <p14:sldId id="260"/>
            <p14:sldId id="261"/>
          </p14:sldIdLst>
        </p14:section>
        <p14:section name="Gap, Questions and Objectives" id="{ddcc9821-13fa-56f9-09c3-928fa0a65044}">
          <p14:sldIdLst>
            <p14:sldId id="262"/>
            <p14:sldId id="263"/>
            <p14:sldId id="264"/>
            <p14:sldId id="265"/>
          </p14:sldIdLst>
        </p14:section>
        <p14:section name="The Framework" id="{73b9d7e0-8c47-d122-4b58-f74aadc32cf3}">
          <p14:sldIdLst>
            <p14:sldId id="266"/>
            <p14:sldId id="267"/>
            <p14:sldId id="268"/>
            <p14:sldId id="269"/>
            <p14:sldId id="270"/>
            <p14:sldId id="271"/>
            <p14:sldId id="272"/>
            <p14:sldId id="273"/>
            <p14:sldId id="274"/>
            <p14:sldId id="275"/>
            <p14:sldId id="276"/>
            <p14:sldId id="277"/>
            <p14:sldId id="278"/>
            <p14:sldId id="279"/>
          </p14:sldIdLst>
        </p14:section>
        <p14:section name="Validation and Evaluation" id="{7be5828e-19c8-9351-cc8e-10825db2fd3e}">
          <p14:sldIdLst>
            <p14:sldId id="280"/>
            <p14:sldId id="281"/>
            <p14:sldId id="282"/>
            <p14:sldId id="283"/>
          </p14:sldIdLst>
        </p14:section>
        <p14:section name="Contribution" id="{5357de9e-5382-06b4-a535-8d54da9e2cf6}">
          <p14:sldIdLst>
            <p14:sldId id="284"/>
            <p14:sldId id="285"/>
            <p14:sldId id="286"/>
            <p14:sldId id="287"/>
          </p14:sldIdLst>
        </p14:section>
        <p14:section name="What is Still Open" id="{c70637fd-d0a9-49d0-f88a-c83c9c1c6765}">
          <p14:sldIdLst>
            <p14:sldId id="288"/>
          </p14:sldIdLst>
        </p14:section>
        <p14:section name="Research Plan" id="{42881d0d-0ac5-3f43-a649-ab9c7c75e877}">
          <p14:sldIdLst>
            <p14:sldId id="289"/>
            <p14:sldId id="290"/>
          </p14:sldIdLst>
        </p14:section>
        <p14:section name="Demo: The HALAH Prototype" id="{047ad5b5-40f4-0712-900a-81b6cb75edf7}">
          <p14:sldIdLst>
            <p14:sldId id="291"/>
            <p14:sldId id="292"/>
            <p14:sldId id="293"/>
            <p14:sldId id="294"/>
            <p14:sldId id="295"/>
            <p14:sldId id="296"/>
            <p14:sldId id="297"/>
            <p14:sldId id="298"/>
          </p14:sldIdLst>
        </p14:section>
        <p14:section name="References" id="{712ea36a-8a14-f32d-a34a-bd43fab92008}">
          <p14:sldIdLst>
            <p14:sldId id="299"/>
            <p14:sldId id="300"/>
            <p14:sldId id="301"/>
          </p14:sldIdLst>
        </p14:section>
        <p14:section name="Thank You" id="{0f1c0450-9a08-c8aa-5c44-e788916955e1}">
          <p14:sldIdLst>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gap, the questions and the objectives. After that, the framework and its six steps. Then the validation and the evaluation results, and the significance of the research. Then I talk about what is still open and the research plan. At the end, I show a short demonstration of the prototype through the slides, with real prototype screens from 24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And even with approval, a request can ask for more data than the patient allowed, or it can come after the consent has expired or has been cancelled.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authorisation: which guardians must approve, and how many. P is policy: the purpose and the data that was agreed. T is time: when the consent starts and when it ends. L is lifecycle: the state of the consent, from creation to expiry or revocation.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After I removed duplicates, 6,039 were screened by title. 3,129 went on to the abstract stage, and 2,541 of them were screened. Then 1,800 full texts were put in order of priority.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The suspended state, the transition check, consent changes, delegation and guardian changes are for the next stage.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research gap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VI is identity and authority validity. VA is collective authorisation validity: all the required guardians approved. VP is policy and contextual compliance: the purpose and the requested data are inside what was agreed. VT is temporal validity: the request is inside the validity time. VL is consent lifecycle validity: the consent is in a valid state, for example active and not revoked. If any one check fails, the answer is DENY. In the prototype, a Groth16 zero-knowledge proof must also pass before any data is released. And every access decision, allowed or denied, is written to the off-chain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and the start and end time. The system checks every field. For example, an empty data scope or a bad guardian DID is rejected. Then the system creates the consent object, assigns a consent identifier, persists the record, and records the creation event in the audit layer. Nothing goes to the blockchain yet. This is RO1, and it is done.
Algorithm 1: Trust-Aware Consent Creation
The box on the right of the slide is Algorithm 1 from my report. The next slide shows the same algorithm as a flowchart.
Inputs and Output
Require: Patient identity I_p, authorised doctor D, guardian set G, purpose P_u, data scope S_C, validity interval T
Explanation: The algorithm starts by receiving the information required to create a consent.
Ensure: Consent object C or rejection
Explanation: The algorithm either creates a valid consent or rejects the request.
Step-by-Step Explanation
Line 1: Validate I_p
First, we verify the patient’s identity.
Line 2: if I_p is invalid then
We check whether the patient’s identity is invalid.
Line 3: return REJECT
If the identity is invalid, the request is rejected.
Line 4: end if
This completes the identity validation check.
Line 5: Validate authorised doctor D, guardian set G, purpose P_u and data scope S_C
Next, we check the other parts of the consent: that the doctor is authorised, that the guardians are valid, that the purpose of using the patient’s data is valid, and that the data scope, which is the patient data that can be accessed, is valid.
Line 6: if any of them is invalid then
We check whether any of these four parts is invalid.
Line 7: return REJECT
If one of them is invalid, the request is rejected, and no consent is created.
Line 8: end if
This completes these four checks.
Line 9: Validate validity interval T = (t_s, t_e)
We check the consent’s start and end times.
Line 10: if t_e ≤ t_s then
We check whether the end time is earlier than or equal to the start time.
Line 11: return REJECT
If the time interval is invalid, the request is rejected.
Line 12: end if
This completes the time validation check.
Line 13: Define authorisation requirement A
We define the conditions that must be met later before access can be granted, such as the required guardian approvals.
Line 14: Generate consent identifier id_C
We generate a unique identifier for the consent.
Line 15: Construct C = (I, A, P, T, L, E)
We build the consent object from its six parts: identity I, authorisation requirements A, policy P (the purpose and the data scope), time T (the validity interval), the lifecycle state L, which starts as pending until the guardians approve, and evidence E.
Line 16: Persist C
We store the newly created consent object.
Line 17: Record consent creation evidence
We record evidence of the consent creation for auditing and traceability.
Line 18: return C
Finally, we return the successfully created consent object.
Note: In the prototype, the purpose is fixed to Treatment. The consent is saved off-chain in the state PENDING_SIGNATURE, and nothing goes on the blockchain until all guardians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1 as a flowchart. It shows the main steps in a simpler form: it collects all the inputs, runs one combined validity check with a Yes and a No branch, and then creates and stores the consent and records an audit entry.
First, the patient starts to create a consent, and the system collects the patient DID.
Second, the patient specifies the authorised doctor and the guardian DIDs.
Third, the patient specifies the purpose and the data scope, and then the consent validity, which is the start and end time.
Fourth, the system checks if the consent specification is valid. If it is not valid, the No branch rejects the consent request.
Finally, if it is valid, the system creates the trust-aware consent object, generates the consent identifier, stores the consent record, and records the creation in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In the HALAH implementation, the guardian workflow uses a selected guardian DID and invokes VC verification before adding the guardian's signature to the consent. Full DID resolution is planned for the next stage. So RO2 is done at the design level and in the prototype.
Algorithm 2: DID and VC Identity and Authority Verification
The box on the right of the slide is Algorithm 2 from my report. The next slide shows the same algorithm as a flowchart.
Inputs and Output
Require: Participant u, consent object C
Explanation: The algorithm starts by receiving the participant who wants to take part and the consent object that defines the required authority.
Ensure: Verification result V_I(u)
Explanation: The algorithm returns VALID if both the participant’s identity and authority are verified, or INVALID otherwise. This result is not an access decision by itself; the later stages use it.
Step-by-Step Explanation
Line 1: Resolve DID of u
First, we resolve the participant’s DID to find their DID document.
Line 2: if DID resolution fails then
We check whether the DID could not be resolved.
Line 3: return INVALID
If the DID cannot be resolved, the participant is invalid and the process stops.
Line 4: end if
This completes the DID resolution check.
Line 5: Verify DID document and associated identity information
Next, we check that the DID document is well formed and that its keys can be trusted.
Line 6: if DID verification fails then
We check whether the DID verification failed.
Line 7: return INVALID
If it failed, we return INVALID.
Line 8: end if
This completes the DID verification check.
Line 9: Retrieve VC associated with u
Then, we retrieve the participant’s verifiable credential, which holds claims such as their role.
Line 10: if VC retrieval fails then
We check whether a credential could not be found.
Line 11: return INVALID
Without a credential, the participant cannot show any authority, so we return INVALID.
Line 12: end if
This completes the credential retrieval check.
Line 13: Verify VC signature, issuer, subject, and validity
We check that the signature is correct, the issuer is trusted, the credential belongs to this participant, and it is still within its valid time period.
Line 14: if VC verification fails then
We check whether any of these four checks failed.
Line 15: return INVALID
If any check fails, we return INVALID.
Line 16: end if
This completes the credential verification check.
Line 17: Extract role and authority claims from VC
Next, we read the role and authority claims from the credential, for example doctor or guardian.
Line 18: if claims do not satisfy the authority requirements of C then
We compare these claims with the authorisation requirements of consent C.
Line 19: return INVALID
If the claims do not meet the requirements, we return INVALID. A valid identity alone never gives access.
Line 20: end if
This completes the authority check.
Line 21: Record identity and authority verification evidence
We record the evidence, such as the DID, the credential, the issuer, the claims and the time, for auditing.
Line 22: return VALID
Finally, we return VALID, which means the participant’s identity and authority are both verified.
Note: Today, the guardian workflow verifies the guardian’s credential before adding the signature to the consent. Full DID resolution, in lines 1 to 8,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2 as a flowchart. It follows the same order as the algorithm, but it joins the two DID checks into one “DID Valid?” decision and the two credential checks into one “VC Valid?” decision. Every “No” leads to Reject Participant, which is the INVALID result.
First, a participant asks to take part, and the system resolves the participant’s DID.
Second, it checks if the DID is valid. If not, the participant is rejected.
Third, it retrieves the verifiable credential and checks if it is valid. If not, the participant is rejected.
Fourth, it extracts the role and authority claims, and checks if they match what the consent requires. If not, the participant is rejected.
Finally, if all checks pass, it records the verification evidence and returns the verified identity and authority.
This flowchart is the target design.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Outsiders and duplicates are not counted, and a signature replayed from another consent fails the identity check. In the demo, two of two guardians must sign. When both have signed, a soulbound token is minted on the Sepolia test network in the background. One honest note: in the prototype, the guardian keys are derived from the guardian DIDs. Wallet-held keys are for the next stage. RO3 is done.
Algorithm 3: Threshold-Based Multi-Party Authorisation
The box on the right of the slide is Algorithm 3 from my report. The next slide shows the same algorithm as a flowchart.
Inputs and Output
Require: Consent object C, participant approval a, threshold N
Explanation: The algorithm receives the consent, one approval from a participant, and the number of valid approvals that are needed.
Ensure: Authorisation result
Explanation: The algorithm returns ALLOW, PENDING or DENY for this approval.
Step-by-Step Explanation
Line 1: Retrieve required participant set G
First, we retrieve the set G of participants who are allowed to approve this consent, for example the guardians.
Line 2: Verify identity and authority of participant submitting a
Next, we verify the identity and authority of the person who submitted the approval. This can use the DID and VC check from Algorithm 2.
Line 3: if verification fails then
We check whether this verification has failed.
Line 4: Record invalid approval
If it failed, we record the approval as invalid.
Line 5: return DENY
The approval is denied, and it does not count towards the threshold.
Line 6: end if
This completes the identity and authority check.
Line 7: if participant is not in G then
Then, we check whether the participant is outside the required participant set G.
Line 8: Record unauthorised approval attempt
If so, we record it as an unauthorised approval attempt.
Line 9: return DENY
The approval is denied, because only members of G can be counted.
Line 10: end if
This completes the membership check.
Line 11: if participant has already approved C then
Next, we check whether this participant has already approved this consent.
Line 12: Record duplicate approval
If so, we record a duplicate approval.
Line 13: return DENY
The extra approval is denied, so one person cannot be counted twice.
Line 14: end if
This completes the duplicate check.
Line 15: Record valid approval a
The approval has passed all three checks, so we record it as valid.
Line 16: Update valid approval set A_v
We add this approval to the set of valid approvals, A_v.
Line 17: if |A_v| ≥ N then
We check whether the number of valid approvals has reached the threshold N.
Line 18: Activate authorisation
If it has, we activate the authorisation, so the consent can move on to the access-control stage.
Line 19: Generate activation or token evidence
We generate evidence of the activation, such as a consent token. It can include the consent identifier, the threshold N and the approving participants.
Line 20: Record threshold-satisfied event
We record in the audit log that the threshold was met, for traceability.
Line 21: return ALLOW
The result is ALLOW.
Line 22: else
Otherwise, the threshold has not been reached yet.
Line 23: Keep consent in pending state
We keep the consent in the pending state, so access is not activated.
Line 24: Record threshold-pending event
We record a threshold-pending event, so we can see later how many approvals are still needed.
Line 25: return PENDING
The result is PENDING, and the consent waits for more approvals.
Line 26: end if
Finally, this completes the threshold check, and the algorithm ends.
Note: In the prototype, N is the number of guardians, so the demo needs 2-of-2. When the threshold is met, a local token is recorded, and the mint is anchored on the Sepolia test network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3 as a flowchart. It shows the same three checks in the same order, with the identity check drawn as the prototype runs it: the DID, the credential and the EIP-712 signature. It joins the three rejections into one box, and it shows activation last, after the token and the evidence.
First, the consent needs approval from several people, so the system identifies the required participants.
Second, a participant submits an approval, and the system verifies the DID, the credential and the EIP-712 signature.
Third, it asks three questions: is the participant verified, is the participant in the guardian set G, and has the participant already approved? If the participant is not verified, is not in G, or has already approved, the approval is rejected.
Fourth, a valid approval is recorded, and the approval count goes up.
Fifth, the system checks if the threshold is met. If not, the consent stays pending.
Finally, if it is met, the system issues the consent token or activation record, records the approval evidence, and activates the authorisation.
The dashed box shows that the mint on the Sepolia test network runs in the background, so it does not delay the guardians or the doctor. In the prototype, the consent becomes active once its start time is reached.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the lifecycle state are checked in the same decision. And a Groth16 proof must pass before any data is released. RO4 is done.
Algorithm 4: Policy-Aware Access Decision
The box on the right of the slide is Algorithm 4 from my report. The next slide shows the same algorithm as a flowchart.
Inputs and Output
Require: Consent object C, access request R, requesting participant u
Explanation: The algorithm starts with the patient’s consent, the request for data, and the participant who makes the request, for example a doctor.
Ensure: Access decision
Explanation: The algorithm returns one decision, ALLOW or DENY, and it records that decision.
Step-by-Step Explanation
Line 1: Verify DID and VC of u
First, we verify the decentralised identifier and the verifiable credential of the requester. This uses the identity check from Algorithm 2.
Line 2: if identity or authority verification fails then
We check whether the identity or authority check for the requester has failed.
Line 3: Record denied decision
If it has failed, we record the denied decision for auditing.
Line 4: return DENY
The request is denied and stops here.
Line 5: end if
This completes the identity and authority check.
Line 6: Evaluate consent state
Next, we check the current state of the consent. It must be active, within its validity period, and not revoked.
Line 7: if consent is not active then
We check whether the consent is not active.
Line 8: Record denied decision
If the consent is not active, we record the denied decision.
Line 9: return DENY
The request is denied.
Line 10: end if
This completes the consent state check.
Line 11: Verify multi-party authorisation
Then, we verify the multi-party authorisation. We compare the number of valid approvals, |A_v|, with the required threshold N.
Line 12: if threshold is not satisfied then
We check whether there are fewer valid approvals than the threshold.
Line 13: Record denied decision
If there are not enough approvals, we record the denied decision.
Line 14: return DENY
The request is denied.
Line 15: end if
This completes the multi-party authorisation check.
Line 16: Evaluate requested purpose
Next, we compare the purpose of the request with the purpose the patient allowed in the consent.
Line 17: if purpose is incompatible with consent then
We check whether the purpose does not match the consent. This stops valid credentials from being used for a purpose the patient did not allow.
Line 18: Record denied decision
If the purpose does not match, we record the denied decision.
Line 19: return DENY
The request is denied.
Line 20: end if
This completes the purpose check.
Line 21: Evaluate requested data scope
We look at the data the request asks for, S_R, and the data the patient allowed, S_C.
Line 22: if S_R ⊈ S_C then
We check whether the request asks for data outside the allowed scope. For example, the request may ask for Procedure records when only Observation and Medication records are allowed.
Line 23: Record denied decision
If the request goes outside the scope, we record the denied decision.
Line 24: return DENY
The request is denied.
Line 25: end if
This completes the data scope check.
Line 26: Generate or verify access evidence
All checks have passed, so we generate or verify the evidence for this decision. In the flowchart on the next slide, this is the Groth16 proof, which must be valid before any data is released.
Line 27: Retrieve authorised healthcare data
Then, we retrieve only the data inside the authorised scope, and nothing more.
Line 28: Record granted decision
We record the granted decision, so an auditor can see why and when access was given.
Line 29: return ALLOW
Finally, we return ALLOW, and the requester receives the authorised data.
Note: In the prototype, the request uses the consent’s own purpose, so the purpose check confirms that it is a supported healthcare purpose. The requested scope must also be non-empty.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4 as a flowchart. It has the same checks, but it checks the consent state before the identity, and it shows the validity interval check and the Groth16 zero-knowledge proof as separate steps before access is granted.
First, the doctor requests patient data, and the system retrieves the consent object.
Second, it checks if the consent is ACTIVE.
Third, it verifies the identity and authority of the requester.
Fourth, it verifies the multi-party authorisation: is the threshold satisfied?
Fifth, it checks the requested purpose, and then the requested data scope, which must be inside the consent.
Sixth, it checks that the request is within the validity interval.
Seventh, it generates and verifies the Groth16 proof.
If any answer is No, access is denied, and the denied access is recorded.
Finally, if every answer is Yes, data access is granted, and the granted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In the design, L is the lifecycle state: created, pending, active, suspended, revoked or expired, and VL checks a valid state and a valid transition. What is still open: the suspended state, the lifecycle transition check, consent modification, delegation, changes to the guardian set, and a formal lifecycle model. That is why RO5 is in progress.
Algorithm 5: Temporal and Lifecycle Validation
The box on the right of the slide is Algorithm 5 from my report. The next slide shows the same algorithm as a flowchart.
Inputs and Output
Require: Consent object C, current time t, requested transition q
Explanation: The algorithm receives the consent, the time of the request, and the requested transition, which is the change of lifecycle state being asked for.
Ensure: Lifecycle validity result
Explanation: The algorithm returns VALID if the consent can still be used at this time and in its current state, or INVALID if it cannot.
Step-by-Step Explanation
Line 1: Retrieve consent start time t_s and expiry time t_e
First, we read the start time and the expiry time stored in the consent.
Line 2: if t &lt; t_s or t &gt; t_e then
We check whether the current time is before the start time or after the expiry time.
Line 3: Record temporal invalidity
If so, we record that the consent is not valid at this time.
Line 4: return INVALID
The request is outside the validity interval, so we return INVALID.
Line 5: end if
This completes the time check.
Line 6: Retrieve current lifecycle state of C
Next, we read the current lifecycle state of the consent, for example pending, active or revoked.
Line 7: if current state does not permit the requested operation then
We check whether this state does not allow the requested operation. For example, data access is allowed only when the consent is active.
Line 8: Record invalid lifecycle state
If the state does not allow it, we record that the consent is in an invalid lifecycle state.
Line 9: return INVALID
The operation is not allowed in this state, so we return INVALID.
Line 10: end if
This completes the lifecycle state check.
Line 11: Check whether C has been revoked
Then, we check whether the consent has been revoked.
Line 12: if C is revoked then
We test whether the consent is revoked.
Line 13: Record revocation-based invalidity
If it is revoked, we record that the consent is invalid because of revocation.
Line 14: return INVALID
A revoked consent must not be used, even if it was approved before, so we return INVALID.
Line 15: end if
This completes the revocation check.
Line 16: Validate requested transition q
Next, we check the requested transition, which is the change from the current state to a new state.
Line 17: if transition q is not permitted then
We check whether this change of state is not allowed.
Line 18: Record unauthorised state transition
If it is not allowed, we record an unauthorised state transition.
Line 19: return INVALID
The transition is rejected, so we return INVALID.
Line 20: end if
This completes the transition check.
Line 21: Record valid temporal and lifecycle evidence
All checks have passed, so we record evidence that the consent is valid in time and in state.
Line 22: return VALID
Finally, we return VALID, so the system can continue with the remaining authorisation conditions.
Note: Today, the prototype checks the validity interval, the lifecycle state and revocation for every access request. The transition check in lines 16 to 20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5 as a flowchart. It shows the same four checks in the same order. The transition check is drawn in dashed lines because it is planned for the next stage. INVALID leads to Deny Access, and VALID leads to Continue Authorisation Evaluation.
First, an access request comes in, and the system retrieves the consent state.
Second, it checks the consent validity interval: is the request within the valid time?
Third, it checks the lifecycle state: does the state permit access?
Fourth, it checks the revocation status: has the consent been revoked?
Fifth, in the next stage, it will also check if the requested state transition is permitted.
If any check fails, access is denied, and a lifecycle-based denial is recorded.
Finally, if all checks pass, the system records the temporal and lifecycle evidence and continues with the rest of the authorisation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46 automated tests pass, including thirteen attack scenarios. I also measured the cost and the timing. The proof part is the next stage: formal proofs or model checking of the security properties, and a bigger evaluation under load. That is why RO6 is partly completed.
Algorithm 6: Formal and Empirical Authorisation Validation
The box on the right of the slide is Algorithm 6 from my report. The next slide shows the same algorithm as a flowchart.
Inputs and Output
Require: Framework implementation F, validation scenarios S, security properties P
Explanation: The algorithm starts with the implemented framework, the set of test scenarios, and the security properties that the framework should satisfy.
Ensure: Validation evidence and evaluation results
Explanation: The algorithm produces evidence and results that show whether the framework really meets these properties.
Step-by-Step Explanation
Line 1: Define expected authorisation properties P
First, we define the security properties that the framework must satisfy, such as soundness, correct denial, threshold correctness, policy and scope compliance, and audit consistency. These are the criteria we use to judge the results.
Line 2: Define valid scenarios S_valid
We define legitimate requests that should be allowed, with valid identities, active consent and enough approvals. They show that the framework does not wrongly reject valid requests.
Line 3: Define negative scenarios S_negative
We define requests that break at least one condition, such as expired or revoked consent, too few approvals, or data outside the consent scope. They test that access is refused when a requirement is not met.
Line 4: Define adversarial scenarios S_adv
We define deliberate attempts to bypass the controls, such as replayed (reused) or duplicate approvals, forged credentials, or use of a revoked consent. They test whether the framework can resist attacks.
Line 5: for each scenario s in S_valid ∪ S_negative ∪ S_adv do
Next, we combine the three groups into one set and repeat the following steps for every scenario. Each scenario has an expected decision.
Line 6: Execute s using framework F
We run the scenario on the implemented framework. The framework performs its consent, identity, approval, policy, scope and lifecycle checks.
Line 7: Collect authorisation decision
We record the decision that the framework actually made, for example ALLOW, DENY or PENDING.
Line 8: Collect identity, approval, policy, and audit evidence
We also collect the evidence behind the decision, such as identity and credential results, approvals, policy checks, timestamps and audit records.
Line 9: Compare observed decision with expected decision
We compare the actual decision with the expected decision. The scenario passes only when the two are the same.
Line 10: Record pass or failure result
We record whether the scenario passed or failed. For a failure, we keep the details and the evidence for later analysis.
Line 11: end for
This completes the loop over all scenarios.
Line 12: Evaluate soundness property
Then, we check soundness. Every request that was allowed must really satisfy all the authorisation conditions.
Line 13: Evaluate denial property
We check that every invalid or unauthorised request was refused. This is most important for the negative and adversarial scenarios.
Line 14: Evaluate threshold correctness
We check that consent is authorised only when the number of verified approvals reaches the required threshold. Duplicate or unauthorised approvals must not be counted.
Line 15: Evaluate policy-scope enforcement
We check that every allowed request matches the consent’s purpose and stays inside the permitted data scope. This must be true even when the requester has a valid identity and credential.
Line 16: Evaluate audit consistency
We check that the audit records match the decisions that were actually made. Important evidence, such as the requester, the consent, the result and the time, must not be missing.
Line 17: Analyse failures and limitations
We study each failed scenario to find its cause, for example an implementation defect, a policy error, an integration problem or a limit of the test environment. The aim is to explain failures openly, not to hide them.
Line 18: return Validation results
Finally, we return the combined validation results, which bring together the scenario results and the result for each security property.
Note: Today, the testing part is done with 46 automated tests, including 13 attack scenarios. Formal proofs or model checking of these properties, and a larger evaluation under load,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6 as a flowchart. It has the same main steps, but it also adds a practical performance check, and a loop that refines the framework and tests again when a property fails. The algorithm itself does not include these two parts.
First, I define the security and authorisation properties, and the threat and failure conditions.
Second, I implement the validation scenarios.
Third, I run the valid consent workflow, and also the negative and adversarial scenarios.
Fourth, I collect the decision and audit evidence.
Fifth, I evaluate the security properties, compare the observed decisions with the expected ones, and evaluate the functional and practical performance.
Then I ask: are the properties satisfied? If yes, I document the evidence and the limitations.
Finally, if not, I identify the security or functional failure, refine the framework, and run the validation scenarios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cancelled consent was refused. Attack scenarios: twelve of thirteen attacks are refused. Automated tests: all 46 pass.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All five rows are allowed requests: all five checks PASS, the decision is ALLOW, access is GRANTED, and the proof mode is Groth16. The request after revocation is not in this table, because on 24 September a consent that was no longer active was refused before any decision was logged. The prototype now logs these refusals too. The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thirteen times, A1 to A13.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After the hardening, eleven of the first twelve are refused. A13, an invalid or forged credential, came with the credential check on 11 October 2026 and is refused too; before that change, a requester without a valid credential was accepted. A11 rewrites the result of a recorded audit event, so the event's digest changes. Nothing in the prototype checks that digest yet, so it is marked as differs: neutral, not refused.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five checks of the decision rule take about 6 microseconds, and checking one credential about 6 milliseconds. Checking one guardian signature takes about 11 milliseconds. The Groth16 proof is the slowest part of an access request: about 1.4 seconds to generate and about half a second to verify. Anchoring on Sepolia takes about 11.5 seconds. The mint runs in the background, so the guardians and the doctor do not wait for it; only a revoke makes the patient wait for the block. For token 1, the revoke used about one sixth of the gas of its mint. The timings were measured on the first of October 2026; the decision rule and the credential check on the eleventh of October, after the credential check was added.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every access decision, allowed or denied, is logged off-chain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The token on Sepolia stores pseudonymous addresses, a hash of the purpose, the validity window and a revocation flag.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research matter? On the scientific side, it shifts the focus from whether consent has merely been recorded to whether a data-access decision was made under sufficient and independently verifiable trust conditions. It brings identity, authority, multi-party approval, policy, time and lifecycle together in one decision at every request. Every listed guardian must sign, so no single party can authorise alone. And the work rests on a PRISMA 2020 review of 25 studies and a working prototype on Sepolia, measured and tested with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social side, patients and their guardians decide together who can see the patient's data. No single person can approve access alone. Every access decision can be explained to an auditor: which check passed and which failed. Medical records never go on the blockchain; only consent evidence is shared. And this can support trust between hospitals and other independent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full DID resolution, proof that the person controls the DID they enter, and wallet-held guardian keys. Today the credentials come from one demo issuer, and the guardian keys are derived from the guardian DIDs. Second, the plain-text purpose in the mint transaction. Third, the rest of the lifecycle: the suspended state, the lifecycle transition check, consent modification, delegation and guardian changes. Fourth, the formal proofs. The properties are tested, but not yet proved with a formal model. Fifth, the one open attack, A11: nothing checks the audit digest yet. Sixth, a bigger evaluation under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 I show it through real screens from the prototype. All the prototype screens were taken on 24 September 2026.
HALAH means History Access Link for Authorised Healthcare. The boxes show its parts: four screens, a smart contract on the Sepolia test network, guardian signatures, an access proof, synthetic data, and an audit ledger.
The demo follows the steps of a consent.
First, the patient creates the consent. This is RO1.
Second, the two guardians sign it, and the consent goes on Sepolia. This is RO2 and RO3.
Third, the doctor asks for the data. The system runs five checks, and then it shows only the agreed records. This is RO2 and RO4.
Fourth, the auditor follows the recorded steps in the ledger. This is part of RO6.
The last demo slide is about revocation, RO5. It is optional. I show it if there 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patient screen. The picture is shown in two parts.
First, the patient chooses a patient DID from the list. Then the patient types the doctor's DID, did:hospital:001.
Second, the patient adds two guardians: parent A and parent B.
Third, the patient chooses the data that the doctor may see. Here there are four modules: Observation, Medication, Condition and Procedure. The patient also sets the end date, 31 October 2026.
Fourth, the patient presses the Initial Consent button. The system saves the consent off-chain and gives it an ID, 04da25f5.
At the bottom, you can see the state: PENDING_SIGNATURE, with zero of two signatures. Nothing is on the blockchain yet. The consent goes on the chain only after both guardians sign.
This is RO1: the consent is an object that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guardian screen.
First, the guardian types the consent ID, 04da25f5. The system finds the consent and shows the patient's DID.
Second, the guardian chooses a guardian DID from the list, did:parent:A.
Third, the guardian presses the Sign button and signs with an EIP-712 signature. The system checks the signature and finds the address that signed it. You can see the start of that address in the green box.
Fourth, the counter shows one of two. One signature is not enough, so the consent is still waiting for the second guardian.
This is RO2, because the system checks which guardian key signed, and RO3, because more than one guardian must agree.
Possible question: The button says via VC. Was a credential checked? Not in this September version. It checked only the form of the DID. The credential check was added on 11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guardian screen two times.
First, on the left, the second guardian, did:parent:B, signs. The system checks the signature. Now the counter shows two of two, so both guardians have agreed.
Second, the system records the soulbound token for this consent. Then it mints the token on the Sepolia test network in the background, so the guardian does not have to wait.
Third, on the right is the same screen, a little later. It says: already anchored on Sepolia, token number 2.
Now the consent is approved by both guardians, and it is on the blockchain. This completes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doctor screen, for the same consent, 04da25f5. The picture is shown in two parts.
First, the doctor opens the consent. At the top, you can see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doctor may ask only for data inside the agreed scope. On this screen, the purpose is checked. The scope is checked when the doctor asks for the data, on the next slide. VT checks the dates.
Third, all five checks show PASS, so ALLOW is also PASS. The consent state is ACTIVE.
The Groth16 proof is not on this screen. It is checked when the doctor asks for the data, and the ledger records that it was verified.
This is RO2 and RO4 together, in one decision.
Possible question: Is this the same code as today? No. These screens are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doctor screen after the decision.
First, after ALLOW, the doctor asks for the four modules. The system checks the Groth16 proof and the requested scope. You cannot see this on the screen, but the ledger rows for these requests say: proof verified, scope valid. Then the screen shows Authorised Medical Records. There is one table for each data module.
Second, on the left, you can see Observation and Medication. On the right, you can see Condition and Procedure. All the rows belong to the same patient.
Third, these are exactly the four modules in the consent. The doctor gets nothing outside them. If the doctor asked for a module outside the consent, the request would be refused. Attack test A4 checks this.
The records are synthetic Synthea data, so no real patient is shown. This is RO4.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auditor screen. It shows the audit ledger as a table. Each row is one event, with its time.
This table is for another consent from the same day, f050c29a. It has token number 1. It went through the same steps as the consent you just saw. I use it here because this is the consent that the patient later revoked. The optional next slide shows that.
First, row 36: the patient creates the consent.
Second, rows 37 and 38: guardian A and guardian B sign.
Third, rows 39 and 40: the token is recorded, and then it is anchored on Sepolia. You can see the start of the transaction hash and the block number, 11,771,243.
Fourth, rows 41 to 44: the system checks the consent. It is ACTIVE and all five checks pass, so the doctor gets access. This happens two times.
Rows 45 and 46 are not in this picture. They record one more request from the doctor, and the system refused it.
So the auditor can follow the recorded steps, in order. This is the working part of RO6: evidence that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optional. I show it if there is time. It is about RO5: revocation. It is the same consent as on the previous slide, f050c29a.
First, at the top is the audit ledger. In row 47, the patient revokes the consent. In row 48, the revoke transaction is sent to Sepolia. It is in block 11,771,307.
Second, at the bottom left is the same transaction on Sepolia Etherscan. This is a public page. I opened it some days later, so it says 9 days ago. The action is Revoke, the status is Success, and the block is 11,771,307, on 24 September 2026.
Third, at the bottom right, the doctor opens the consent again. The screen says: Consent is not active. Current state: REVOKED. The doctor cannot see the data. On 24 September, this refusal was not yet written to the ledger. Now, when the doctor presses Request Data Access, the prototype writes this refusal to the ledger.
So after the patient revokes, the consent cannot be used any more, and anyone can check the revoke transaction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I used in this talk. They follow the UTS Harvard style, so they are listed by author name, not by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4. Why Groth16? The prototype proves that it knows the secret and the expiry behind a Poseidon commitment, and that the consent has not expired, without showing them. Today the prover and the verifier run on the same server, so this shows that the zero-knowledge step works; it is not yet an extra privacy guarantee. It is the slowest part of an access request, about 1.4 seconds, and that is fine for a consent decision.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2.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GAP,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sation"/>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sation"/>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  Authorisation</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Lifecycle"/>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Lifecycle"/>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L  Lifecycle</a:t>
            </a:r>
            <a:endParaRPr lang="en-US" sz="1900" dirty="0"/>
          </a:p>
          <a:p>
            <a:pPr indent="0" marL="0">
              <a:spcAft>
                <a:spcPts val="400"/>
              </a:spcAft>
              <a:buNone/>
            </a:pPr>
            <a:r>
              <a:rPr lang="en-US" sz="1600" dirty="0">
                <a:solidFill>
                  <a:srgbClr val="0B1F33"/>
                </a:solidFill>
              </a:rPr>
              <a:t>The state of the consent, from creation to expiry or revocation.</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7" name="card text RQ1"/>
          <p:cNvSpPr txBox="1"/>
          <p:nvPr/>
        </p:nvSpPr>
        <p:spPr>
          <a:xfrm>
            <a:off x="86868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100" dirty="0">
                <a:solidFill>
                  <a:srgbClr val="0B1F33"/>
                </a:solidFill>
              </a:rPr>
              <a:t>How can patient consent be modelled as a trust-aware authorisation object that explicitly represents identity, authority requirements, policy constraints, and authorisation evidence?</a:t>
            </a:r>
            <a:endParaRPr lang="en-US" sz="1900" dirty="0"/>
          </a:p>
        </p:txBody>
      </p:sp>
      <p:sp>
        <p:nvSpPr>
          <p:cNvPr id="8" name="card RQ2"/>
          <p:cNvSpPr/>
          <p:nvPr/>
        </p:nvSpPr>
        <p:spPr>
          <a:xfrm>
            <a:off x="434340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9" name="card text RQ2"/>
          <p:cNvSpPr txBox="1"/>
          <p:nvPr/>
        </p:nvSpPr>
        <p:spPr>
          <a:xfrm>
            <a:off x="448056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100" dirty="0">
                <a:solidFill>
                  <a:srgbClr val="0B1F33"/>
                </a:solidFill>
              </a:rPr>
              <a:t>How can decentralised identities and verifiable credentials establish trustworthy participants while explicitly separating identity authentication from authorisation authority?</a:t>
            </a:r>
            <a:endParaRPr lang="en-US" sz="1900" dirty="0"/>
          </a:p>
        </p:txBody>
      </p:sp>
      <p:sp>
        <p:nvSpPr>
          <p:cNvPr id="10" name="card RQ3"/>
          <p:cNvSpPr/>
          <p:nvPr/>
        </p:nvSpPr>
        <p:spPr>
          <a:xfrm>
            <a:off x="795528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11" name="card text RQ3"/>
          <p:cNvSpPr txBox="1"/>
          <p:nvPr/>
        </p:nvSpPr>
        <p:spPr>
          <a:xfrm>
            <a:off x="809244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100" dirty="0">
                <a:solidFill>
                  <a:srgbClr val="0B1F33"/>
                </a:solidFill>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2" name="card RQ4"/>
          <p:cNvSpPr/>
          <p:nvPr/>
        </p:nvSpPr>
        <p:spPr>
          <a:xfrm>
            <a:off x="73152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3" name="card text RQ4"/>
          <p:cNvSpPr txBox="1"/>
          <p:nvPr/>
        </p:nvSpPr>
        <p:spPr>
          <a:xfrm>
            <a:off x="86868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100" dirty="0">
                <a:solidFill>
                  <a:srgbClr val="0B1F33"/>
                </a:solidFill>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4" name="card RQ5"/>
          <p:cNvSpPr/>
          <p:nvPr/>
        </p:nvSpPr>
        <p:spPr>
          <a:xfrm>
            <a:off x="434340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5" name="card text RQ5"/>
          <p:cNvSpPr txBox="1"/>
          <p:nvPr/>
        </p:nvSpPr>
        <p:spPr>
          <a:xfrm>
            <a:off x="448056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100" dirty="0">
                <a:solidFill>
                  <a:srgbClr val="0B1F33"/>
                </a:solidFill>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6" name="card RQ6"/>
          <p:cNvSpPr/>
          <p:nvPr/>
        </p:nvSpPr>
        <p:spPr>
          <a:xfrm>
            <a:off x="795528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7" name="card text RQ6"/>
          <p:cNvSpPr txBox="1"/>
          <p:nvPr/>
        </p:nvSpPr>
        <p:spPr>
          <a:xfrm>
            <a:off x="809244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100" dirty="0">
                <a:solidFill>
                  <a:srgbClr val="0B1F33"/>
                </a:solidFill>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 and questions</a:t>
            </a:r>
            <a:endParaRPr lang="en-US" sz="1400" dirty="0"/>
          </a:p>
          <a:p>
            <a:pPr algn="ctr" indent="0" marL="0">
              <a:spcAft>
                <a:spcPts val="800"/>
              </a:spcAft>
              <a:buNone/>
            </a:pPr>
            <a:r>
              <a:rPr lang="en-US" sz="1300" dirty="0">
                <a:solidFill>
                  <a:srgbClr val="0B1F33"/>
                </a:solidFill>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13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FFFFFF"/>
                </a:solidFill>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validity</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Collective authorisation validity</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Policy and contextual compliance</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Temporal validity</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Consent lifecycle validity</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RO1: </a:t>
            </a:r>
            <a:r>
              <a:rPr lang="en-US" sz="1700" b="1" i="1" dirty="0">
                <a:solidFill>
                  <a:srgbClr val="1FB5D6"/>
                </a:solidFill>
              </a:rPr>
              <a:t>Trust-Centric Consent Model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a:t>
            </a:r>
            <a:r>
              <a:rPr lang="en-US" sz="1600" dirty="0">
                <a:solidFill>
                  <a:srgbClr val="FFFFFF"/>
                </a:solidFill>
              </a:rPr>
              <a:t>and</a:t>
            </a:r>
            <a:r>
              <a:rPr lang="en-US" sz="1600" dirty="0">
                <a:solidFill>
                  <a:srgbClr val="FFFFFF"/>
                </a:solidFill>
              </a:rPr>
              <a:t> the start and expiry time.</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The system creates the consent object, assigns a consent identifier, persists the record, and records the creation event in the audit layer.</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ALG1 panel"/>
          <p:cNvSpPr/>
          <p:nvPr/>
        </p:nvSpPr>
        <p:spPr>
          <a:xfrm>
            <a:off x="6035040" y="1745454"/>
            <a:ext cx="5715000" cy="3961452"/>
          </a:xfrm>
          <a:prstGeom prst="roundRect">
            <a:avLst>
              <a:gd name="adj" fmla="val 277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1" descr="/tmp/deck/img/ALG1.png">    </p:cNvPr>
          <p:cNvPicPr>
            <a:picLocks noChangeAspect="1"/>
          </p:cNvPicPr>
          <p:nvPr/>
        </p:nvPicPr>
        <p:blipFill>
          <a:blip r:embed="rId1"/>
          <a:stretch>
            <a:fillRect/>
          </a:stretch>
        </p:blipFill>
        <p:spPr>
          <a:xfrm>
            <a:off x="6144768" y="1855182"/>
            <a:ext cx="5495544" cy="374199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ALGORITHM 1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RO1: </a:t>
            </a:r>
            <a:r>
              <a:rPr lang="en-US" sz="1500" b="1" i="1" dirty="0">
                <a:solidFill>
                  <a:srgbClr val="1FB5D6"/>
                </a:solidFill>
              </a:rPr>
              <a:t>Trust-Centric Consent Model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0 panel"/>
          <p:cNvSpPr/>
          <p:nvPr/>
        </p:nvSpPr>
        <p:spPr>
          <a:xfrm>
            <a:off x="4743972" y="960120"/>
            <a:ext cx="2703751" cy="5532120"/>
          </a:xfrm>
          <a:prstGeom prst="roundRect">
            <a:avLst>
              <a:gd name="adj" fmla="val 405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0" descr="/tmp/deck/img/F10.png">    </p:cNvPr>
          <p:cNvPicPr>
            <a:picLocks noChangeAspect="1"/>
          </p:cNvPicPr>
          <p:nvPr/>
        </p:nvPicPr>
        <p:blipFill>
          <a:blip r:embed="rId1"/>
          <a:stretch>
            <a:fillRect/>
          </a:stretch>
        </p:blipFill>
        <p:spPr>
          <a:xfrm>
            <a:off x="4853700" y="106984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RO2: </a:t>
            </a:r>
            <a:r>
              <a:rPr lang="en-US" sz="1700" b="1" i="1" dirty="0">
                <a:solidFill>
                  <a:srgbClr val="1FB5D6"/>
                </a:solidFill>
              </a:rPr>
              <a:t>Decentralised Identity and Authority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00" dirty="0">
                <a:solidFill>
                  <a:srgbClr val="FFFFFF"/>
                </a:solidFill>
              </a:rPr>
              <a:t>Identity is checked through the DID; authority through a verifiable credential.</a:t>
            </a:r>
            <a:endParaRPr lang="en-US" sz="1500" dirty="0"/>
          </a:p>
          <a:p>
            <a:pPr marL="342900" indent="-342900">
              <a:spcAft>
                <a:spcPts val="1000"/>
              </a:spcAft>
              <a:buSzPct val="100000"/>
              <a:buChar char="•"/>
            </a:pPr>
            <a:r>
              <a:rPr lang="en-US" sz="1500" dirty="0">
                <a:solidFill>
                  <a:srgbClr val="FFFFFF"/>
                </a:solidFill>
              </a:rPr>
              <a:t>Identity is not authority: a valid DID alone never gives access.</a:t>
            </a:r>
            <a:endParaRPr lang="en-US" sz="1500" dirty="0"/>
          </a:p>
          <a:p>
            <a:pPr marL="342900" indent="-342900">
              <a:spcAft>
                <a:spcPts val="1000"/>
              </a:spcAft>
              <a:buSzPct val="100000"/>
              <a:buChar char="•"/>
            </a:pPr>
            <a:r>
              <a:rPr lang="en-US" sz="1500" dirty="0">
                <a:solidFill>
                  <a:srgbClr val="FFFFFF"/>
                </a:solidFill>
              </a:rPr>
              <a:t>In the HALAH implementation, the Guardian workflow uses a selected guardian DID and invokes VC verification before adding the guardian's signature to the consent.</a:t>
            </a:r>
            <a:endParaRPr lang="en-US" sz="1500" dirty="0"/>
          </a:p>
          <a:p>
            <a:pPr marL="342900" indent="-342900">
              <a:spcAft>
                <a:spcPts val="1000"/>
              </a:spcAft>
              <a:buSzPct val="100000"/>
              <a:buChar char="•"/>
            </a:pPr>
            <a:r>
              <a:rPr lang="en-US" sz="1500" dirty="0">
                <a:solidFill>
                  <a:srgbClr val="FFFFFF"/>
                </a:solidFill>
              </a:rPr>
              <a:t>Full DID resolution </a:t>
            </a:r>
            <a:r>
              <a:rPr lang="en-US" sz="1500" dirty="0">
                <a:solidFill>
                  <a:srgbClr val="FFFFFF"/>
                </a:solidFill>
              </a:rPr>
              <a:t>is</a:t>
            </a:r>
            <a:r>
              <a:rPr lang="en-US" sz="1500" dirty="0">
                <a:solidFill>
                  <a:srgbClr val="FFFFFF"/>
                </a:solidFill>
              </a:rPr>
              <a:t> planned for the next stage.</a:t>
            </a:r>
            <a:endParaRPr lang="en-US" sz="1500" dirty="0"/>
          </a:p>
        </p:txBody>
      </p:sp>
      <p:sp>
        <p:nvSpPr>
          <p:cNvPr id="8" name="ALG2 panel"/>
          <p:cNvSpPr/>
          <p:nvPr/>
        </p:nvSpPr>
        <p:spPr>
          <a:xfrm>
            <a:off x="6296033" y="960120"/>
            <a:ext cx="5193014" cy="5532120"/>
          </a:xfrm>
          <a:prstGeom prst="roundRect">
            <a:avLst>
              <a:gd name="adj" fmla="val 211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2" descr="/tmp/deck/img/ALG2.png">    </p:cNvPr>
          <p:cNvPicPr>
            <a:picLocks noChangeAspect="1"/>
          </p:cNvPicPr>
          <p:nvPr/>
        </p:nvPicPr>
        <p:blipFill>
          <a:blip r:embed="rId1"/>
          <a:stretch>
            <a:fillRect/>
          </a:stretch>
        </p:blipFill>
        <p:spPr>
          <a:xfrm>
            <a:off x="6405761" y="1069848"/>
            <a:ext cx="497355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ALGORITHM 2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RO2: </a:t>
            </a:r>
            <a:r>
              <a:rPr lang="en-US" sz="1500" b="1" i="1" dirty="0">
                <a:solidFill>
                  <a:srgbClr val="1FB5D6"/>
                </a:solidFill>
              </a:rPr>
              <a:t>Decentralised Identity and Authority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2 panel"/>
          <p:cNvSpPr/>
          <p:nvPr/>
        </p:nvSpPr>
        <p:spPr>
          <a:xfrm>
            <a:off x="4203067" y="960120"/>
            <a:ext cx="3785562" cy="5532120"/>
          </a:xfrm>
          <a:prstGeom prst="roundRect">
            <a:avLst>
              <a:gd name="adj" fmla="val 28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2" descr="/tmp/deck/img/F12.png">    </p:cNvPr>
          <p:cNvPicPr>
            <a:picLocks noChangeAspect="1"/>
          </p:cNvPicPr>
          <p:nvPr/>
        </p:nvPicPr>
        <p:blipFill>
          <a:blip r:embed="rId1"/>
          <a:stretch>
            <a:fillRect/>
          </a:stretch>
        </p:blipFill>
        <p:spPr>
          <a:xfrm>
            <a:off x="4312795" y="106984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RO3: </a:t>
            </a:r>
            <a:r>
              <a:rPr lang="en-US" sz="1700" b="1" i="1" dirty="0">
                <a:solidFill>
                  <a:srgbClr val="1FB5D6"/>
                </a:solidFill>
              </a:rPr>
              <a:t>Trustworthy Multi-Party Authorisation</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450" dirty="0">
                <a:solidFill>
                  <a:srgbClr val="FFFFFF"/>
                </a:solidFill>
              </a:rPr>
              <a:t>The guardian set G is fixed when the consent is created.</a:t>
            </a:r>
            <a:endParaRPr lang="en-US" sz="1450" dirty="0"/>
          </a:p>
          <a:p>
            <a:pPr marL="342900" indent="-342900">
              <a:spcAft>
                <a:spcPts val="1000"/>
              </a:spcAft>
              <a:buSzPct val="100000"/>
              <a:buChar char="•"/>
            </a:pPr>
            <a:r>
              <a:rPr lang="en-US" sz="1450" dirty="0">
                <a:solidFill>
                  <a:srgbClr val="FFFFFF"/>
                </a:solidFill>
              </a:rPr>
              <a:t>Each guardian signs an EIP-712 approval; the system recovers the signer and checks it is in G.</a:t>
            </a:r>
            <a:endParaRPr lang="en-US" sz="1450" dirty="0"/>
          </a:p>
          <a:p>
            <a:pPr marL="342900" indent="-342900">
              <a:spcAft>
                <a:spcPts val="1000"/>
              </a:spcAft>
              <a:buSzPct val="100000"/>
              <a:buChar char="•"/>
            </a:pPr>
            <a:r>
              <a:rPr lang="en-US" sz="1450" dirty="0">
                <a:solidFill>
                  <a:srgbClr val="FFFFFF"/>
                </a:solidFill>
              </a:rPr>
              <a:t>Approvals from outsiders and duplicates are not counted; a signature replayed from another consent fails the identity check.</a:t>
            </a:r>
            <a:endParaRPr lang="en-US" sz="1450" dirty="0"/>
          </a:p>
          <a:p>
            <a:pPr marL="342900" indent="-342900">
              <a:spcAft>
                <a:spcPts val="1000"/>
              </a:spcAft>
              <a:buSzPct val="100000"/>
              <a:buChar char="•"/>
            </a:pPr>
            <a:r>
              <a:rPr lang="en-US" sz="1450" dirty="0">
                <a:solidFill>
                  <a:srgbClr val="FFFFFF"/>
                </a:solidFill>
              </a:rPr>
              <a:t>N-of-N rule: every listed guardian must sign (2-of-2 in the demo).</a:t>
            </a:r>
            <a:endParaRPr lang="en-US" sz="1450" dirty="0"/>
          </a:p>
          <a:p>
            <a:pPr marL="342900" indent="-342900">
              <a:spcAft>
                <a:spcPts val="1000"/>
              </a:spcAft>
              <a:buSzPct val="100000"/>
              <a:buChar char="•"/>
            </a:pPr>
            <a:r>
              <a:rPr lang="en-US" sz="1450" dirty="0">
                <a:solidFill>
                  <a:srgbClr val="FFFFFF"/>
                </a:solidFill>
              </a:rPr>
              <a:t>When all have signed, a soulbound token is minted on Sepolia in the background.</a:t>
            </a:r>
            <a:endParaRPr lang="en-US" sz="1450" dirty="0"/>
          </a:p>
          <a:p>
            <a:pPr marL="342900" indent="-342900">
              <a:spcAft>
                <a:spcPts val="1000"/>
              </a:spcAft>
              <a:buSzPct val="100000"/>
              <a:buChar char="•"/>
            </a:pPr>
            <a:r>
              <a:rPr lang="en-US" sz="1450" dirty="0">
                <a:solidFill>
                  <a:srgbClr val="FFFFFF"/>
                </a:solidFill>
              </a:rPr>
              <a:t>In the prototype the guardian keys are derived from the guardian DIDs; wallet-held keys are for the next stage.</a:t>
            </a:r>
            <a:endParaRPr lang="en-US" sz="1450" dirty="0"/>
          </a:p>
        </p:txBody>
      </p:sp>
      <p:sp>
        <p:nvSpPr>
          <p:cNvPr id="8" name="ALG3 panel"/>
          <p:cNvSpPr/>
          <p:nvPr/>
        </p:nvSpPr>
        <p:spPr>
          <a:xfrm>
            <a:off x="6632236" y="960120"/>
            <a:ext cx="4520608" cy="5532120"/>
          </a:xfrm>
          <a:prstGeom prst="roundRect">
            <a:avLst>
              <a:gd name="adj" fmla="val 24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3" descr="/tmp/deck/img/ALG3.png">    </p:cNvPr>
          <p:cNvPicPr>
            <a:picLocks noChangeAspect="1"/>
          </p:cNvPicPr>
          <p:nvPr/>
        </p:nvPicPr>
        <p:blipFill>
          <a:blip r:embed="rId1"/>
          <a:stretch>
            <a:fillRect/>
          </a:stretch>
        </p:blipFill>
        <p:spPr>
          <a:xfrm>
            <a:off x="6741964" y="1069848"/>
            <a:ext cx="4301152"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ALGORITHM 3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RO3: </a:t>
            </a:r>
            <a:r>
              <a:rPr lang="en-US" sz="1500" b="1" i="1" dirty="0">
                <a:solidFill>
                  <a:srgbClr val="1FB5D6"/>
                </a:solidFill>
              </a:rPr>
              <a:t>Trustworthy Multi-Party Authorisation</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3 panel"/>
          <p:cNvSpPr/>
          <p:nvPr/>
        </p:nvSpPr>
        <p:spPr>
          <a:xfrm>
            <a:off x="4266250" y="960120"/>
            <a:ext cx="3659194" cy="5532120"/>
          </a:xfrm>
          <a:prstGeom prst="roundRect">
            <a:avLst>
              <a:gd name="adj" fmla="val 29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3" descr="/tmp/deck/img/F13.png">    </p:cNvPr>
          <p:cNvPicPr>
            <a:picLocks noChangeAspect="1"/>
          </p:cNvPicPr>
          <p:nvPr/>
        </p:nvPicPr>
        <p:blipFill>
          <a:blip r:embed="rId1"/>
          <a:stretch>
            <a:fillRect/>
          </a:stretch>
        </p:blipFill>
        <p:spPr>
          <a:xfrm>
            <a:off x="4375978" y="106984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RO4: </a:t>
            </a:r>
            <a:r>
              <a:rPr lang="en-US" sz="1700" b="1" i="1" dirty="0">
                <a:solidFill>
                  <a:srgbClr val="1FB5D6"/>
                </a:solidFill>
              </a:rPr>
              <a:t>Policy- and Context-Aware Access Control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50" dirty="0">
                <a:solidFill>
                  <a:srgbClr val="FFFFFF"/>
                </a:solidFill>
              </a:rPr>
              <a:t>The requested data must be a non-empty subset of the agreed data scope.</a:t>
            </a:r>
            <a:endParaRPr lang="en-US" sz="1550" dirty="0"/>
          </a:p>
          <a:p>
            <a:pPr marL="342900" indent="-342900">
              <a:spcAft>
                <a:spcPts val="1000"/>
              </a:spcAft>
              <a:buSzPct val="100000"/>
              <a:buChar char="•"/>
            </a:pPr>
            <a:r>
              <a:rPr lang="en-US" sz="1550" dirty="0">
                <a:solidFill>
                  <a:srgbClr val="FFFFFF"/>
                </a:solidFill>
              </a:rPr>
              <a:t>The purpose must be a supported purpose of the consent.</a:t>
            </a:r>
            <a:endParaRPr lang="en-US" sz="1550" dirty="0"/>
          </a:p>
          <a:p>
            <a:pPr marL="342900" indent="-342900">
              <a:spcAft>
                <a:spcPts val="1000"/>
              </a:spcAft>
              <a:buSzPct val="100000"/>
              <a:buChar char="•"/>
            </a:pPr>
            <a:r>
              <a:rPr lang="en-US" sz="1550" dirty="0">
                <a:solidFill>
                  <a:srgbClr val="FFFFFF"/>
                </a:solidFill>
              </a:rPr>
              <a:t>Time and </a:t>
            </a:r>
            <a:r>
              <a:rPr lang="en-US" sz="1550" dirty="0">
                <a:solidFill>
                  <a:srgbClr val="FFFFFF"/>
                </a:solidFill>
              </a:rPr>
              <a:t>the lifecycle state</a:t>
            </a:r>
            <a:r>
              <a:rPr lang="en-US" sz="1550" dirty="0">
                <a:solidFill>
                  <a:srgbClr val="FFFFFF"/>
                </a:solidFill>
              </a:rPr>
              <a:t> are checked in the same decision.</a:t>
            </a:r>
            <a:endParaRPr lang="en-US" sz="1550" dirty="0"/>
          </a:p>
          <a:p>
            <a:pPr marL="342900" indent="-342900">
              <a:spcAft>
                <a:spcPts val="1000"/>
              </a:spcAft>
              <a:buSzPct val="100000"/>
              <a:buChar char="•"/>
            </a:pPr>
            <a:r>
              <a:rPr lang="en-US" sz="1550" dirty="0">
                <a:solidFill>
                  <a:srgbClr val="FFFFFF"/>
                </a:solidFill>
              </a:rPr>
              <a:t>A Groth16 proof must verify before any data is retrieved.</a:t>
            </a:r>
            <a:endParaRPr lang="en-US" sz="1550" dirty="0"/>
          </a:p>
          <a:p>
            <a:pPr marL="342900" indent="-342900">
              <a:spcAft>
                <a:spcPts val="1000"/>
              </a:spcAft>
              <a:buSzPct val="100000"/>
              <a:buChar char="•"/>
            </a:pPr>
            <a:r>
              <a:rPr lang="en-US" sz="1550" dirty="0">
                <a:solidFill>
                  <a:srgbClr val="FFFFFF"/>
                </a:solidFill>
              </a:rPr>
              <a:t>Example: asking for Procedure when only Observation and Medication were agreed gives DENY.</a:t>
            </a:r>
            <a:endParaRPr lang="en-US" sz="1550" dirty="0"/>
          </a:p>
        </p:txBody>
      </p:sp>
      <p:sp>
        <p:nvSpPr>
          <p:cNvPr id="8" name="ALG4 panel"/>
          <p:cNvSpPr/>
          <p:nvPr/>
        </p:nvSpPr>
        <p:spPr>
          <a:xfrm>
            <a:off x="6651819" y="960120"/>
            <a:ext cx="4481441" cy="5532120"/>
          </a:xfrm>
          <a:prstGeom prst="roundRect">
            <a:avLst>
              <a:gd name="adj" fmla="val 244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4" descr="/tmp/deck/img/ALG4.png">    </p:cNvPr>
          <p:cNvPicPr>
            <a:picLocks noChangeAspect="1"/>
          </p:cNvPicPr>
          <p:nvPr/>
        </p:nvPicPr>
        <p:blipFill>
          <a:blip r:embed="rId1"/>
          <a:stretch>
            <a:fillRect/>
          </a:stretch>
        </p:blipFill>
        <p:spPr>
          <a:xfrm>
            <a:off x="6761547" y="1069848"/>
            <a:ext cx="42619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ALGORITHM 4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RO4: </a:t>
            </a:r>
            <a:r>
              <a:rPr lang="en-US" sz="1500" b="1" i="1" dirty="0">
                <a:solidFill>
                  <a:srgbClr val="1FB5D6"/>
                </a:solidFill>
              </a:rPr>
              <a:t>Policy- and Context-Aware Access Control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4 panel"/>
          <p:cNvSpPr/>
          <p:nvPr/>
        </p:nvSpPr>
        <p:spPr>
          <a:xfrm>
            <a:off x="4903969" y="960120"/>
            <a:ext cx="2383757" cy="5532120"/>
          </a:xfrm>
          <a:prstGeom prst="roundRect">
            <a:avLst>
              <a:gd name="adj" fmla="val 460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4" descr="/tmp/deck/img/F14.png">    </p:cNvPr>
          <p:cNvPicPr>
            <a:picLocks noChangeAspect="1"/>
          </p:cNvPicPr>
          <p:nvPr/>
        </p:nvPicPr>
        <p:blipFill>
          <a:blip r:embed="rId1"/>
          <a:stretch>
            <a:fillRect/>
          </a:stretch>
        </p:blipFill>
        <p:spPr>
          <a:xfrm>
            <a:off x="5013697" y="106984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RO5: </a:t>
            </a:r>
            <a:r>
              <a:rPr lang="en-US" sz="1700" b="1" i="1" dirty="0">
                <a:solidFill>
                  <a:srgbClr val="1FB5D6"/>
                </a:solidFill>
              </a:rPr>
              <a:t>Temporal and Lifecycle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350" dirty="0">
                <a:solidFill>
                  <a:srgbClr val="FFFFFF"/>
                </a:solidFill>
              </a:rPr>
              <a:t>Working now: the validity window is stored on-chain and checked at every request.</a:t>
            </a:r>
            <a:endParaRPr lang="en-US" sz="1350" dirty="0"/>
          </a:p>
          <a:p>
            <a:pPr marL="342900" indent="-342900">
              <a:spcAft>
                <a:spcPts val="1000"/>
              </a:spcAft>
              <a:buSzPct val="100000"/>
              <a:buChar char="•"/>
            </a:pPr>
            <a:r>
              <a:rPr lang="en-US" sz="1350" dirty="0">
                <a:solidFill>
                  <a:srgbClr val="FFFFFF"/>
                </a:solidFill>
              </a:rPr>
              <a:t>Working now: revocation end to end, including an on-chain revoke transaction.</a:t>
            </a:r>
            <a:endParaRPr lang="en-US" sz="1350" dirty="0"/>
          </a:p>
          <a:p>
            <a:pPr marL="342900" indent="-342900">
              <a:spcAft>
                <a:spcPts val="1000"/>
              </a:spcAft>
              <a:buSzPct val="100000"/>
              <a:buChar char="•"/>
            </a:pPr>
            <a:r>
              <a:rPr lang="en-US" sz="1350" dirty="0">
                <a:solidFill>
                  <a:srgbClr val="FFFFFF"/>
                </a:solidFill>
              </a:rPr>
              <a:t>Design: L is the lifecycle state (CREATED, PENDING, ACTIVE, SUSPENDED, REVOKED, EXPIRED), checked by VL(C) = ValidState(C) ∧ ValidTransition(C).</a:t>
            </a:r>
            <a:endParaRPr lang="en-US" sz="1350" dirty="0"/>
          </a:p>
          <a:p>
            <a:pPr marL="342900" indent="-342900">
              <a:spcAft>
                <a:spcPts val="1000"/>
              </a:spcAft>
              <a:buSzPct val="100000"/>
              <a:buChar char="•"/>
            </a:pPr>
            <a:r>
              <a:rPr lang="en-US" sz="1350" dirty="0">
                <a:solidFill>
                  <a:srgbClr val="FFFFFF"/>
                </a:solidFill>
              </a:rPr>
              <a:t>Working now: a clear lifecycle: PENDING_SIGNATURE, PENDING_TOKEN, NOT_STARTED, ACTIVE, EXPIRED, REVOKED.</a:t>
            </a:r>
            <a:endParaRPr lang="en-US" sz="1350" dirty="0"/>
          </a:p>
          <a:p>
            <a:pPr marL="342900" indent="-342900">
              <a:spcAft>
                <a:spcPts val="1000"/>
              </a:spcAft>
              <a:buSzPct val="100000"/>
              <a:buChar char="•"/>
            </a:pPr>
            <a:r>
              <a:rPr lang="en-US" sz="1350" dirty="0">
                <a:solidFill>
                  <a:srgbClr val="FFFFFF"/>
                </a:solidFill>
              </a:rPr>
              <a:t>Next stage: </a:t>
            </a:r>
            <a:r>
              <a:rPr lang="en-US" sz="1350" dirty="0">
                <a:solidFill>
                  <a:srgbClr val="FFFFFF"/>
                </a:solidFill>
              </a:rPr>
              <a:t>the SUSPENDED state,</a:t>
            </a:r>
            <a:r>
              <a:rPr lang="en-US" sz="1350" dirty="0">
                <a:solidFill>
                  <a:srgbClr val="FFFFFF"/>
                </a:solidFill>
              </a:rPr>
              <a:t> the lifecycle transition check, consent modification, delegation, guardian-set changes and a formal lifecycle model.</a:t>
            </a:r>
            <a:endParaRPr lang="en-US" sz="1350" dirty="0"/>
          </a:p>
        </p:txBody>
      </p:sp>
      <p:sp>
        <p:nvSpPr>
          <p:cNvPr id="8" name="ALG5 panel"/>
          <p:cNvSpPr/>
          <p:nvPr/>
        </p:nvSpPr>
        <p:spPr>
          <a:xfrm>
            <a:off x="6248079" y="960120"/>
            <a:ext cx="5288923" cy="5532120"/>
          </a:xfrm>
          <a:prstGeom prst="roundRect">
            <a:avLst>
              <a:gd name="adj" fmla="val 2075"/>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5" descr="/tmp/deck/img/ALG5.png">    </p:cNvPr>
          <p:cNvPicPr>
            <a:picLocks noChangeAspect="1"/>
          </p:cNvPicPr>
          <p:nvPr/>
        </p:nvPicPr>
        <p:blipFill>
          <a:blip r:embed="rId1"/>
          <a:stretch>
            <a:fillRect/>
          </a:stretch>
        </p:blipFill>
        <p:spPr>
          <a:xfrm>
            <a:off x="6357807" y="1069848"/>
            <a:ext cx="506946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ALGORITHM 5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RO5: </a:t>
            </a:r>
            <a:r>
              <a:rPr lang="en-US" sz="1500" b="1" i="1" dirty="0">
                <a:solidFill>
                  <a:srgbClr val="1FB5D6"/>
                </a:solidFill>
              </a:rPr>
              <a:t>Temporal and Lifecycle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6" name="F35 panel"/>
          <p:cNvSpPr/>
          <p:nvPr/>
        </p:nvSpPr>
        <p:spPr>
          <a:xfrm>
            <a:off x="4546506" y="960120"/>
            <a:ext cx="3098683" cy="5532120"/>
          </a:xfrm>
          <a:prstGeom prst="roundRect">
            <a:avLst>
              <a:gd name="adj" fmla="val 354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5" descr="/tmp/deck/img/F35.png">    </p:cNvPr>
          <p:cNvPicPr>
            <a:picLocks noChangeAspect="1"/>
          </p:cNvPicPr>
          <p:nvPr/>
        </p:nvPicPr>
        <p:blipFill>
          <a:blip r:embed="rId1"/>
          <a:stretch>
            <a:fillRect/>
          </a:stretch>
        </p:blipFill>
        <p:spPr>
          <a:xfrm>
            <a:off x="4656234" y="106984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RO6: </a:t>
            </a:r>
            <a:r>
              <a:rPr lang="en-US" sz="1700" b="1" i="1" dirty="0">
                <a:solidFill>
                  <a:srgbClr val="1FB5D6"/>
                </a:solidFill>
              </a:rPr>
              <a:t>Formal Security Assurance and Empirical Validation</a:t>
            </a:r>
            <a:endParaRPr lang="en-US" sz="1700" dirty="0"/>
          </a:p>
        </p:txBody>
      </p:sp>
      <p:sp>
        <p:nvSpPr>
          <p:cNvPr id="5"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46 automated tests pass, including 13 attack scenarios A1 to A13.</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ALG6 panel"/>
          <p:cNvSpPr/>
          <p:nvPr/>
        </p:nvSpPr>
        <p:spPr>
          <a:xfrm>
            <a:off x="6035040" y="1719388"/>
            <a:ext cx="5715000" cy="4013584"/>
          </a:xfrm>
          <a:prstGeom prst="roundRect">
            <a:avLst>
              <a:gd name="adj" fmla="val 273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6" descr="/tmp/deck/img/ALG6.png">    </p:cNvPr>
          <p:cNvPicPr>
            <a:picLocks noChangeAspect="1"/>
          </p:cNvPicPr>
          <p:nvPr/>
        </p:nvPicPr>
        <p:blipFill>
          <a:blip r:embed="rId1"/>
          <a:stretch>
            <a:fillRect/>
          </a:stretch>
        </p:blipFill>
        <p:spPr>
          <a:xfrm>
            <a:off x="6144768" y="1829116"/>
            <a:ext cx="5495544" cy="3794128"/>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ALGORITHM 6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RO6: </a:t>
            </a:r>
            <a:r>
              <a:rPr lang="en-US" sz="1500" b="1" i="1" dirty="0">
                <a:solidFill>
                  <a:srgbClr val="1FB5D6"/>
                </a:solidFill>
              </a:rPr>
              <a:t>Formal Security Assurance and Empirical Validation</a:t>
            </a:r>
            <a:endParaRPr lang="en-US" sz="1500" dirty="0"/>
          </a:p>
        </p:txBody>
      </p:sp>
      <p:sp>
        <p:nvSpPr>
          <p:cNvPr id="4"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5"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6" name="F16 panel"/>
          <p:cNvSpPr/>
          <p:nvPr/>
        </p:nvSpPr>
        <p:spPr>
          <a:xfrm>
            <a:off x="4023360" y="960120"/>
            <a:ext cx="5675087"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6" descr="/tmp/deck/img/F16.png">    </p:cNvPr>
          <p:cNvPicPr>
            <a:picLocks noChangeAspect="1"/>
          </p:cNvPicPr>
          <p:nvPr/>
        </p:nvPicPr>
        <p:blipFill>
          <a:blip r:embed="rId1"/>
          <a:stretch>
            <a:fillRect/>
          </a:stretch>
        </p:blipFill>
        <p:spPr>
          <a:xfrm>
            <a:off x="4133088" y="1069848"/>
            <a:ext cx="545563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32 functional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7"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After revocation (Scenario 5) the request was refused before any decision was logged; the prototype now logs these refusals too.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THIRTEEN ATTACK SCENARIOS</a:t>
            </a:r>
            <a:endParaRPr lang="en-US" sz="3000" dirty="0"/>
          </a:p>
        </p:txBody>
      </p:sp>
      <p:graphicFrame>
        <p:nvGraphicFramePr>
          <p:cNvPr id="28"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38328">
                <a:tc>
                  <a:txBody>
                    <a:bodyPr/>
                    <a:lstStyle/>
                    <a:p>
                      <a:pPr algn="l"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38328">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Invalid or forged credential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897880"/>
            <a:ext cx="7315200" cy="86868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pPr indent="0" marL="0">
              <a:buNone/>
            </a:pPr>
            <a:r>
              <a:rPr lang="en-US" sz="950" i="1" dirty="0">
                <a:solidFill>
                  <a:srgbClr val="FFFFFF"/>
                </a:solidFill>
              </a:rPr>
              <a:t>‡ Before the credential check was added on 11 October 2026, a requester without a valid credential was accepted.</a:t>
            </a:r>
            <a:endParaRPr lang="en-US" sz="950" dirty="0"/>
          </a:p>
          <a:p>
            <a:pPr indent="0" marL="0">
              <a:buNone/>
            </a:pPr>
            <a:r>
              <a:rPr lang="en-US" sz="950" i="1" dirty="0">
                <a:solidFill>
                  <a:srgbClr val="FFFFFF"/>
                </a:solidFill>
              </a:rPr>
              <a:t>Target: I identity, </a:t>
            </a:r>
            <a:r>
              <a:rPr lang="en-US" sz="950" i="1" dirty="0">
                <a:solidFill>
                  <a:srgbClr val="FFFFFF"/>
                </a:solidFill>
              </a:rPr>
              <a:t>A authorisation</a:t>
            </a:r>
            <a:r>
              <a:rPr lang="en-US" sz="950" i="1" dirty="0">
                <a:solidFill>
                  <a:srgbClr val="FFFFFF"/>
                </a:solidFill>
              </a:rPr>
              <a:t>, P policy and scope, T time, </a:t>
            </a:r>
            <a:r>
              <a:rPr lang="en-US" sz="950" i="1" dirty="0">
                <a:solidFill>
                  <a:srgbClr val="FFFFFF"/>
                </a:solidFill>
              </a:rPr>
              <a:t>L lifecycle</a:t>
            </a:r>
            <a:r>
              <a:rPr lang="en-US" sz="950" i="1" dirty="0">
                <a:solidFill>
                  <a:srgbClr val="FFFFFF"/>
                </a:solidFill>
              </a:rPr>
              <a:t>, E evidence, Contract = ConsentSBTv3 on an in-memory EVM.</a:t>
            </a:r>
            <a:endParaRPr lang="en-US" sz="950" dirty="0"/>
          </a:p>
        </p:txBody>
      </p:sp>
      <p:sp>
        <p:nvSpPr>
          <p:cNvPr id="6" name="stat attack scenarios, A1 to A13"/>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13</a:t>
            </a:r>
            <a:endParaRPr lang="en-US" sz="4400" dirty="0"/>
          </a:p>
        </p:txBody>
      </p:sp>
      <p:sp>
        <p:nvSpPr>
          <p:cNvPr id="7" name="stat label attack scenarios, A1 to A13"/>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A13</a:t>
            </a:r>
            <a:endParaRPr lang="en-US" sz="1600" dirty="0"/>
          </a:p>
        </p:txBody>
      </p:sp>
      <p:sp>
        <p:nvSpPr>
          <p:cNvPr id="8" name="stat refused today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12 / 13</a:t>
            </a:r>
            <a:endParaRPr lang="en-US" sz="4400" dirty="0"/>
          </a:p>
        </p:txBody>
      </p:sp>
      <p:sp>
        <p:nvSpPr>
          <p:cNvPr id="9" name="stat label refused today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refused today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46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011680"/>
                <a:gridCol w="1188720"/>
                <a:gridCol w="1005840"/>
                <a:gridCol w="1005840"/>
                <a:gridCol w="64008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1391965"/>
            <a:ext cx="4489704" cy="2528734"/>
          </a:xfrm>
          <a:prstGeom prst="rect">
            <a:avLst/>
          </a:prstGeom>
        </p:spPr>
      </p:pic>
      <p:sp>
        <p:nvSpPr>
          <p:cNvPr id="8"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Timings measured on 1 October 2026 (decision rule and credential check on 11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access decision, allowed or denied, logged off-chain with its decision matrix; consent state</a:t>
                      </a:r>
                      <a:r>
                        <a:rPr lang="en-US" sz="1400" dirty="0">
                          <a:solidFill>
                            <a:srgbClr val="0B1F33"/>
                          </a:solidFill>
                        </a:rPr>
                        <a:t>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t>
                      </a:r>
                      <a:r>
                        <a:rPr lang="en-US" sz="1500" dirty="0">
                          <a:solidFill>
                            <a:srgbClr val="0B1F33"/>
                          </a:solidFill>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ci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This research </a:t>
            </a:r>
            <a:r>
              <a:rPr lang="en-US" sz="2000" b="1" dirty="0">
                <a:solidFill>
                  <a:srgbClr val="FFFFFF"/>
                </a:solidFill>
              </a:rPr>
              <a:t>shifts the focus</a:t>
            </a:r>
            <a:r>
              <a:rPr lang="en-US" sz="2000" dirty="0">
                <a:solidFill>
                  <a:srgbClr val="FFFFFF"/>
                </a:solidFill>
              </a:rPr>
              <a:t> from determining </a:t>
            </a:r>
            <a:r>
              <a:rPr lang="en-US" sz="2000" b="1" dirty="0">
                <a:solidFill>
                  <a:srgbClr val="FFFFFF"/>
                </a:solidFill>
              </a:rPr>
              <a:t>whether consent has merely been recorded</a:t>
            </a:r>
            <a:r>
              <a:rPr lang="en-US" sz="2000" dirty="0">
                <a:solidFill>
                  <a:srgbClr val="FFFFFF"/>
                </a:solidFill>
              </a:rPr>
              <a:t> towards determining whether a data-access decision has been generated under </a:t>
            </a:r>
            <a:r>
              <a:rPr lang="en-US" sz="2000" b="1" dirty="0">
                <a:solidFill>
                  <a:srgbClr val="FFFFFF"/>
                </a:solidFill>
              </a:rPr>
              <a:t>sufficient and independently verifiable trust conditions</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brings </a:t>
            </a:r>
            <a:r>
              <a:rPr lang="en-US" sz="2000" b="1" dirty="0">
                <a:solidFill>
                  <a:srgbClr val="FFFFFF"/>
                </a:solidFill>
              </a:rPr>
              <a:t>identity, authority, multi-party approval, policy, time and lifecycle</a:t>
            </a:r>
            <a:r>
              <a:rPr lang="en-US" sz="2000" dirty="0">
                <a:solidFill>
                  <a:srgbClr val="FFFFFF"/>
                </a:solidFill>
              </a:rPr>
              <a:t> together in </a:t>
            </a:r>
            <a:r>
              <a:rPr lang="en-US" sz="2000" b="1" dirty="0">
                <a:solidFill>
                  <a:srgbClr val="FFFFFF"/>
                </a:solidFill>
              </a:rPr>
              <a:t>one access decision</a:t>
            </a:r>
            <a:r>
              <a:rPr lang="en-US" sz="2000" dirty="0">
                <a:solidFill>
                  <a:srgbClr val="FFFFFF"/>
                </a:solidFill>
              </a:rPr>
              <a:t> that is checked at </a:t>
            </a:r>
            <a:r>
              <a:rPr lang="en-US" sz="2000" b="1" dirty="0">
                <a:solidFill>
                  <a:srgbClr val="FFFFFF"/>
                </a:solidFill>
              </a:rPr>
              <a:t>every request</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makes </a:t>
            </a:r>
            <a:r>
              <a:rPr lang="en-US" sz="2000" b="1" dirty="0">
                <a:solidFill>
                  <a:srgbClr val="FFFFFF"/>
                </a:solidFill>
              </a:rPr>
              <a:t>multi-party approval</a:t>
            </a:r>
            <a:r>
              <a:rPr lang="en-US" sz="2000" dirty="0">
                <a:solidFill>
                  <a:srgbClr val="FFFFFF"/>
                </a:solidFill>
              </a:rPr>
              <a:t> a standing condition of access: </a:t>
            </a:r>
            <a:r>
              <a:rPr lang="en-US" sz="2000" b="1" dirty="0">
                <a:solidFill>
                  <a:srgbClr val="FFFFFF"/>
                </a:solidFill>
              </a:rPr>
              <a:t>every listed guardian</a:t>
            </a:r>
            <a:r>
              <a:rPr lang="en-US" sz="2000" dirty="0">
                <a:solidFill>
                  <a:srgbClr val="FFFFFF"/>
                </a:solidFill>
              </a:rPr>
              <a:t> must sign with </a:t>
            </a:r>
            <a:r>
              <a:rPr lang="en-US" sz="2000" b="1" dirty="0">
                <a:solidFill>
                  <a:srgbClr val="FFFFFF"/>
                </a:solidFill>
              </a:rPr>
              <a:t>EIP-712</a:t>
            </a:r>
            <a:r>
              <a:rPr lang="en-US" sz="2000" dirty="0">
                <a:solidFill>
                  <a:srgbClr val="FFFFFF"/>
                </a:solidFill>
              </a:rPr>
              <a:t>, and </a:t>
            </a:r>
            <a:r>
              <a:rPr lang="en-US" sz="2000" b="1" dirty="0">
                <a:solidFill>
                  <a:srgbClr val="FFFFFF"/>
                </a:solidFill>
              </a:rPr>
              <a:t>no single party</a:t>
            </a:r>
            <a:r>
              <a:rPr lang="en-US" sz="2000" dirty="0">
                <a:solidFill>
                  <a:srgbClr val="FFFFFF"/>
                </a:solidFill>
              </a:rPr>
              <a:t> can authorise alone.</a:t>
            </a:r>
            <a:endParaRPr lang="en-US" sz="2000" dirty="0"/>
          </a:p>
          <a:p>
            <a:pPr marL="342900" indent="-342900">
              <a:spcAft>
                <a:spcPts val="2000"/>
              </a:spcAft>
              <a:buSzPct val="100000"/>
              <a:buFont typeface="+mj-lt"/>
              <a:buAutoNum type="arabicPeriod" startAt="1"/>
            </a:pPr>
            <a:r>
              <a:rPr lang="en-US" sz="2000" dirty="0">
                <a:solidFill>
                  <a:srgbClr val="FFFFFF"/>
                </a:solidFill>
              </a:rPr>
              <a:t>It is built on a </a:t>
            </a:r>
            <a:r>
              <a:rPr lang="en-US" sz="2000" b="1" dirty="0">
                <a:solidFill>
                  <a:srgbClr val="FFFFFF"/>
                </a:solidFill>
              </a:rPr>
              <a:t>PRISMA 2020 review of 25 studies</a:t>
            </a:r>
            <a:r>
              <a:rPr lang="en-US" sz="2000" dirty="0">
                <a:solidFill>
                  <a:srgbClr val="FFFFFF"/>
                </a:solidFill>
              </a:rPr>
              <a:t> and tested in a </a:t>
            </a:r>
            <a:r>
              <a:rPr lang="en-US" sz="2000" b="1" dirty="0">
                <a:solidFill>
                  <a:srgbClr val="FFFFFF"/>
                </a:solidFill>
              </a:rPr>
              <a:t>working prototype on Sepolia</a:t>
            </a:r>
            <a:r>
              <a:rPr lang="en-US" sz="2000" dirty="0">
                <a:solidFill>
                  <a:srgbClr val="FFFFFF"/>
                </a:solidFill>
              </a:rPr>
              <a:t>, with </a:t>
            </a:r>
            <a:r>
              <a:rPr lang="en-US" sz="2000" b="1" dirty="0">
                <a:solidFill>
                  <a:srgbClr val="FFFFFF"/>
                </a:solidFill>
              </a:rPr>
              <a:t>measurements</a:t>
            </a:r>
            <a:r>
              <a:rPr lang="en-US" sz="2000" dirty="0">
                <a:solidFill>
                  <a:srgbClr val="FFFFFF"/>
                </a:solidFill>
              </a:rPr>
              <a:t> and </a:t>
            </a:r>
            <a:r>
              <a:rPr lang="en-US" sz="2000" b="1" dirty="0">
                <a:solidFill>
                  <a:srgbClr val="FFFFFF"/>
                </a:solidFill>
              </a:rPr>
              <a:t>thirteen attack scenarios</a:t>
            </a:r>
            <a:r>
              <a:rPr lang="en-US" sz="2000" dirty="0">
                <a:solidFill>
                  <a:srgbClr val="FFFFFF"/>
                </a:solidFill>
              </a:rPr>
              <a:t>.</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This research gives </a:t>
            </a:r>
            <a:r>
              <a:rPr lang="en-US" sz="2000" b="1" dirty="0">
                <a:solidFill>
                  <a:srgbClr val="FFFFFF"/>
                </a:solidFill>
              </a:rPr>
              <a:t>patients and their guardians</a:t>
            </a:r>
            <a:r>
              <a:rPr lang="en-US" sz="2000" dirty="0">
                <a:solidFill>
                  <a:srgbClr val="FFFFFF"/>
                </a:solidFill>
              </a:rPr>
              <a:t> a direct role in deciding </a:t>
            </a:r>
            <a:r>
              <a:rPr lang="en-US" sz="2000" b="1" dirty="0">
                <a:solidFill>
                  <a:srgbClr val="FFFFFF"/>
                </a:solidFill>
              </a:rPr>
              <a:t>who can see the patient's data</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prevents </a:t>
            </a:r>
            <a:r>
              <a:rPr lang="en-US" sz="2000" b="1" dirty="0">
                <a:solidFill>
                  <a:srgbClr val="FFFFFF"/>
                </a:solidFill>
              </a:rPr>
              <a:t>a single person</a:t>
            </a:r>
            <a:r>
              <a:rPr lang="en-US" sz="2000" dirty="0">
                <a:solidFill>
                  <a:srgbClr val="FFFFFF"/>
                </a:solidFill>
              </a:rPr>
              <a:t> from authorising access to </a:t>
            </a:r>
            <a:r>
              <a:rPr lang="en-US" sz="2000" b="1" dirty="0">
                <a:solidFill>
                  <a:srgbClr val="FFFFFF"/>
                </a:solidFill>
              </a:rPr>
              <a:t>sensitive health data alone</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makes every access decision </a:t>
            </a:r>
            <a:r>
              <a:rPr lang="en-US" sz="2000" b="1" dirty="0">
                <a:solidFill>
                  <a:srgbClr val="FFFFFF"/>
                </a:solidFill>
              </a:rPr>
              <a:t>explainable to auditors</a:t>
            </a:r>
            <a:r>
              <a:rPr lang="en-US" sz="2000" dirty="0">
                <a:solidFill>
                  <a:srgbClr val="FFFFFF"/>
                </a:solidFill>
              </a:rPr>
              <a:t>: which check </a:t>
            </a:r>
            <a:r>
              <a:rPr lang="en-US" sz="2000" b="1" dirty="0">
                <a:solidFill>
                  <a:srgbClr val="FFFFFF"/>
                </a:solidFill>
              </a:rPr>
              <a:t>passed</a:t>
            </a:r>
            <a:r>
              <a:rPr lang="en-US" sz="2000" dirty="0">
                <a:solidFill>
                  <a:srgbClr val="FFFFFF"/>
                </a:solidFill>
              </a:rPr>
              <a:t> and which </a:t>
            </a:r>
            <a:r>
              <a:rPr lang="en-US" sz="2000" b="1" dirty="0">
                <a:solidFill>
                  <a:srgbClr val="FFFFFF"/>
                </a:solidFill>
              </a:rPr>
              <a:t>failed</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keeps </a:t>
            </a:r>
            <a:r>
              <a:rPr lang="en-US" sz="2000" b="1" dirty="0">
                <a:solidFill>
                  <a:srgbClr val="FFFFFF"/>
                </a:solidFill>
              </a:rPr>
              <a:t>medical records off-chain</a:t>
            </a:r>
            <a:r>
              <a:rPr lang="en-US" sz="2000" dirty="0">
                <a:solidFill>
                  <a:srgbClr val="FFFFFF"/>
                </a:solidFill>
              </a:rPr>
              <a:t>, so only </a:t>
            </a:r>
            <a:r>
              <a:rPr lang="en-US" sz="2000" b="1" dirty="0">
                <a:solidFill>
                  <a:srgbClr val="FFFFFF"/>
                </a:solidFill>
              </a:rPr>
              <a:t>consent evidence</a:t>
            </a:r>
            <a:r>
              <a:rPr lang="en-US" sz="2000" dirty="0">
                <a:solidFill>
                  <a:srgbClr val="FFFFFF"/>
                </a:solidFill>
              </a:rPr>
              <a:t> is shared on the blockchain.</a:t>
            </a:r>
            <a:endParaRPr lang="en-US" sz="2000" dirty="0"/>
          </a:p>
          <a:p>
            <a:pPr marL="342900" indent="-342900">
              <a:spcAft>
                <a:spcPts val="2000"/>
              </a:spcAft>
              <a:buSzPct val="100000"/>
              <a:buFont typeface="+mj-lt"/>
              <a:buAutoNum type="arabicPeriod" startAt="1"/>
            </a:pPr>
            <a:r>
              <a:rPr lang="en-US" sz="2000" dirty="0">
                <a:solidFill>
                  <a:srgbClr val="FFFFFF"/>
                </a:solidFill>
              </a:rPr>
              <a:t>It can support </a:t>
            </a:r>
            <a:r>
              <a:rPr lang="en-US" sz="2000" b="1" dirty="0">
                <a:solidFill>
                  <a:srgbClr val="FFFFFF"/>
                </a:solidFill>
              </a:rPr>
              <a:t>trust between hospitals</a:t>
            </a:r>
            <a:r>
              <a:rPr lang="en-US" sz="2000" dirty="0">
                <a:solidFill>
                  <a:srgbClr val="FFFFFF"/>
                </a:solidFill>
              </a:rPr>
              <a:t> and other </a:t>
            </a:r>
            <a:r>
              <a:rPr lang="en-US" sz="2000" b="1" dirty="0">
                <a:solidFill>
                  <a:srgbClr val="FFFFFF"/>
                </a:solidFill>
              </a:rPr>
              <a:t>independent parties</a:t>
            </a:r>
            <a:r>
              <a:rPr lang="en-US" sz="2000" dirty="0">
                <a:solidFill>
                  <a:srgbClr val="FFFFFF"/>
                </a:solidFill>
              </a:rPr>
              <a:t> when health data are shared.</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Identity and key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dentity and key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Identity and keys</a:t>
            </a:r>
            <a:endParaRPr lang="en-US" sz="1900" dirty="0"/>
          </a:p>
          <a:p>
            <a:pPr indent="0" marL="0">
              <a:spcAft>
                <a:spcPts val="400"/>
              </a:spcAft>
              <a:buNone/>
            </a:pPr>
            <a:r>
              <a:rPr lang="en-US" sz="1600" dirty="0">
                <a:solidFill>
                  <a:srgbClr val="0B1F33"/>
                </a:solidFill>
              </a:rPr>
              <a:t>Full DID resolution, proof that the user controls the DID, and wallet-held keys. Today: demo-issuer credentials, signature recovery, keys made from the DIDs (RO2, RO3).</a:t>
            </a:r>
            <a:endParaRPr lang="en-US" sz="1900" dirty="0"/>
          </a:p>
        </p:txBody>
      </p:sp>
      <p:sp>
        <p:nvSpPr>
          <p:cNvPr id="6" name="card Purpose on-chain"/>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Purpose on-chain"/>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8" name="card Lifecycle"/>
          <p:cNvSpPr/>
          <p:nvPr/>
        </p:nvSpPr>
        <p:spPr>
          <a:xfrm>
            <a:off x="804672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9" name="card text Lifecycle"/>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Lifecycle</a:t>
            </a:r>
            <a:endParaRPr lang="en-US" sz="1900" dirty="0"/>
          </a:p>
          <a:p>
            <a:pPr indent="0" marL="0">
              <a:spcAft>
                <a:spcPts val="400"/>
              </a:spcAft>
              <a:buNone/>
            </a:pPr>
            <a:r>
              <a:rPr lang="en-US" sz="1600" dirty="0">
                <a:solidFill>
                  <a:srgbClr val="0B1F33"/>
                </a:solidFill>
              </a:rPr>
              <a:t>The SUSPENDED state, the lifecycle transition check, consent modification, delegation and guardian-set changes, with a formal lifecycle model (RO5).</a:t>
            </a:r>
            <a:endParaRPr lang="en-US" sz="1900" dirty="0"/>
          </a:p>
        </p:txBody>
      </p:sp>
      <p:sp>
        <p:nvSpPr>
          <p:cNvPr id="10" name="card Formal proofs"/>
          <p:cNvSpPr/>
          <p:nvPr/>
        </p:nvSpPr>
        <p:spPr>
          <a:xfrm>
            <a:off x="640080" y="3794760"/>
            <a:ext cx="3520440" cy="2240280"/>
          </a:xfrm>
          <a:prstGeom prst="roundRect">
            <a:avLst>
              <a:gd name="adj" fmla="val 4082"/>
            </a:avLst>
          </a:prstGeom>
          <a:solidFill>
            <a:srgbClr val="FFFFFF">
              <a:alpha val="92000"/>
            </a:srgbClr>
          </a:solidFill>
          <a:ln w="19050">
            <a:solidFill>
              <a:srgbClr val="F2A900"/>
            </a:solidFill>
            <a:prstDash val="solid"/>
          </a:ln>
        </p:spPr>
      </p:sp>
      <p:sp>
        <p:nvSpPr>
          <p:cNvPr id="11" name="card text Formal proofs"/>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12" name="card Attack A11"/>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Attack A11"/>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Attack A11</a:t>
            </a:r>
            <a:endParaRPr lang="en-US" sz="1900" dirty="0"/>
          </a:p>
          <a:p>
            <a:pPr indent="0" marL="0">
              <a:spcAft>
                <a:spcPts val="400"/>
              </a:spcAft>
              <a:buNone/>
            </a:pPr>
            <a:r>
              <a:rPr lang="en-US" sz="1600" dirty="0">
                <a:solidFill>
                  <a:srgbClr val="0B1F33"/>
                </a:solidFill>
              </a:rPr>
              <a:t>Rewriting the result of an audit event changes its digest, but nothing checks the digest yet. It is marked neutral, not refused.</a:t>
            </a:r>
            <a:endParaRPr lang="en-US" sz="1900" dirty="0"/>
          </a:p>
        </p:txBody>
      </p:sp>
      <p:sp>
        <p:nvSpPr>
          <p:cNvPr id="14" name="card Scal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Scal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500" i="1" dirty="0">
                <a:solidFill>
                  <a:srgbClr val="1FB5D6"/>
                </a:solidFill>
              </a:rPr>
              <a:t>Real prototype screens, 24 September 2026: RO1 to RO4 and part of RO6; revocation (RO5) is optional.</a:t>
            </a:r>
            <a:endParaRPr lang="en-US" sz="15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Off-chain audit ledger of consent events and access decisions</a:t>
            </a:r>
            <a:r>
              <a:rPr lang="en-US" sz="1600" dirty="0">
                <a:solidFill>
                  <a:srgbClr val="0B1F33"/>
                </a:solidFill>
              </a:rPr>
              <a: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x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x" descr="/tmp/deck/img/F21x.png">    </p:cNvPr>
          <p:cNvPicPr>
            <a:picLocks noChangeAspect="1"/>
          </p:cNvPicPr>
          <p:nvPr/>
        </p:nvPicPr>
        <p:blipFill>
          <a:blip r:embed="rId1"/>
          <a:stretch>
            <a:fillRect/>
          </a:stretch>
        </p:blipFill>
        <p:spPr>
          <a:xfrm>
            <a:off x="846698" y="1709928"/>
            <a:ext cx="653620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screen, consent 04da25f5 (shown in two parts)</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enters the doctor's DID, two guardians, the data modules and the end date.</a:t>
            </a:r>
            <a:endParaRPr lang="en-US" sz="1600" dirty="0"/>
          </a:p>
          <a:p>
            <a:pPr marL="342900" indent="-342900">
              <a:spcAft>
                <a:spcPts val="1000"/>
              </a:spcAft>
              <a:buSzPct val="100000"/>
              <a:buChar char="•"/>
            </a:pPr>
            <a:r>
              <a:rPr lang="en-US" sz="1600" dirty="0">
                <a:solidFill>
                  <a:srgbClr val="FFFFFF"/>
                </a:solidFill>
              </a:rPr>
              <a:t>The system saves the consent off-chain and gives it an ID.</a:t>
            </a:r>
            <a:endParaRPr lang="en-US" sz="1600" dirty="0"/>
          </a:p>
          <a:p>
            <a:pPr marL="342900" indent="-342900">
              <a:spcAft>
                <a:spcPts val="1000"/>
              </a:spcAft>
              <a:buSzPct val="100000"/>
              <a:buChar char="•"/>
            </a:pPr>
            <a:r>
              <a:rPr lang="en-US" sz="1600" dirty="0">
                <a:solidFill>
                  <a:srgbClr val="FFFFFF"/>
                </a:solidFill>
              </a:rPr>
              <a:t>The state is PENDING_SIGNATURE, with 0 of 2 signatures.</a:t>
            </a:r>
            <a:endParaRPr lang="en-US" sz="1600" dirty="0"/>
          </a:p>
          <a:p>
            <a:pPr marL="342900" indent="-342900">
              <a:spcAft>
                <a:spcPts val="1000"/>
              </a:spcAft>
              <a:buSzPct val="100000"/>
              <a:buChar char="•"/>
            </a:pPr>
            <a:r>
              <a:rPr lang="en-US" sz="1600" dirty="0">
                <a:solidFill>
                  <a:srgbClr val="FFFFFF"/>
                </a:solidFill>
              </a:rPr>
              <a:t>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Guardian A enters the consent ID and chooses their DID.</a:t>
            </a:r>
            <a:endParaRPr lang="en-US" sz="1400" dirty="0"/>
          </a:p>
          <a:p>
            <a:pPr marL="342900" indent="-342900">
              <a:buSzPct val="100000"/>
              <a:buChar char="•"/>
            </a:pPr>
            <a:r>
              <a:rPr lang="en-US" sz="1400" dirty="0">
                <a:solidFill>
                  <a:srgbClr val="FFFFFF"/>
                </a:solidFill>
              </a:rPr>
              <a:t>The first guardian signs an EIP-712 approval. </a:t>
            </a:r>
            <a:r>
              <a:rPr lang="en-US" sz="1400" dirty="0">
                <a:solidFill>
                  <a:srgbClr val="FFFFFF"/>
                </a:solidFill>
              </a:rPr>
              <a:t>The system checks the signature and finds the signer's address.</a:t>
            </a:r>
            <a:endParaRPr lang="en-US" sz="1400" dirty="0"/>
          </a:p>
          <a:p>
            <a:pPr marL="342900" indent="-342900">
              <a:buSzPct val="100000"/>
              <a:buChar char="•"/>
            </a:pPr>
            <a:r>
              <a:rPr lang="en-US" sz="1400" dirty="0">
                <a:solidFill>
                  <a:srgbClr val="FFFFFF"/>
                </a:solidFill>
              </a:rPr>
              <a:t>The counter shows 1 of 2. The consent stays pending.</a:t>
            </a:r>
            <a:endParaRPr lang="en-US" sz="1400" dirty="0"/>
          </a:p>
        </p:txBody>
      </p:sp>
      <p:sp>
        <p:nvSpPr>
          <p:cNvPr id="8" name="F22 panel"/>
          <p:cNvSpPr/>
          <p:nvPr/>
        </p:nvSpPr>
        <p:spPr>
          <a:xfrm>
            <a:off x="1197572" y="2514600"/>
            <a:ext cx="9796551"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2" descr="/tmp/deck/img/F22.png">    </p:cNvPr>
          <p:cNvPicPr>
            <a:picLocks noChangeAspect="1"/>
          </p:cNvPicPr>
          <p:nvPr/>
        </p:nvPicPr>
        <p:blipFill>
          <a:blip r:embed="rId1"/>
          <a:stretch>
            <a:fillRect/>
          </a:stretch>
        </p:blipFill>
        <p:spPr>
          <a:xfrm>
            <a:off x="1307300" y="2624328"/>
            <a:ext cx="9577095" cy="3438144"/>
          </a:xfrm>
          <a:prstGeom prst="rect">
            <a:avLst/>
          </a:prstGeom>
        </p:spPr>
      </p:pic>
      <p:sp>
        <p:nvSpPr>
          <p:cNvPr id="10" name="caption"/>
          <p:cNvSpPr txBox="1"/>
          <p:nvPr/>
        </p:nvSpPr>
        <p:spPr>
          <a:xfrm>
            <a:off x="1197572" y="6217920"/>
            <a:ext cx="9796551" cy="320040"/>
          </a:xfrm>
          <a:prstGeom prst="rect">
            <a:avLst/>
          </a:prstGeom>
          <a:noFill/>
          <a:ln/>
        </p:spPr>
        <p:txBody>
          <a:bodyPr wrap="square" rtlCol="0" anchor="ctr"/>
          <a:lstStyle/>
          <a:p>
            <a:pPr algn="ctr" indent="0" marL="0">
              <a:buNone/>
            </a:pPr>
            <a:r>
              <a:rPr lang="en-US" sz="1200" i="1" dirty="0">
                <a:solidFill>
                  <a:srgbClr val="FFFFFF"/>
                </a:solidFill>
              </a:rPr>
              <a:t>Guardian screen at the first approval: signature verified, 1 of 2 signatures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second signature is verified. Now 2 of 2 guardians have signed.</a:t>
            </a:r>
            <a:endParaRPr lang="en-US" sz="1400" dirty="0"/>
          </a:p>
          <a:p>
            <a:pPr marL="342900" indent="-342900">
              <a:buSzPct val="100000"/>
              <a:buChar char="•"/>
            </a:pPr>
            <a:r>
              <a:rPr lang="en-US" sz="1400" dirty="0">
                <a:solidFill>
                  <a:srgbClr val="FFFFFF"/>
                </a:solidFill>
              </a:rPr>
              <a:t>A soulbound token is minted on Sepolia in the background</a:t>
            </a:r>
            <a:r>
              <a:rPr lang="en-US" sz="1400" dirty="0">
                <a:solidFill>
                  <a:srgbClr val="FFFFFF"/>
                </a:solidFill>
              </a:rPr>
              <a:t>. The guardian does not wait.</a:t>
            </a:r>
            <a:endParaRPr lang="en-US" sz="1400" dirty="0"/>
          </a:p>
          <a:p>
            <a:pPr marL="342900" indent="-342900">
              <a:buSzPct val="100000"/>
              <a:buChar char="•"/>
            </a:pPr>
            <a:r>
              <a:rPr lang="en-US" sz="1400" dirty="0">
                <a:solidFill>
                  <a:srgbClr val="FFFFFF"/>
                </a:solidFill>
              </a:rPr>
              <a:t>Later, the same screen says: already anchored on Sepolia, token #2.</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 of 2, token recorded, anchoring starts</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Same screen later: already anchored on Sepolia, token #2</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The doctor opens the consent: patient, consent ID and purpose, Treatment. The state is ACTIVE.</a:t>
            </a:r>
            <a:endParaRPr lang="en-US" sz="1400" dirty="0"/>
          </a:p>
          <a:p>
            <a:pPr marL="342900" indent="-342900">
              <a:buSzPct val="100000"/>
              <a:buChar char="•"/>
            </a:pPr>
            <a:r>
              <a:rPr lang="en-US" sz="1400" dirty="0">
                <a:solidFill>
                  <a:srgbClr val="FFFFFF"/>
                </a:solidFill>
              </a:rPr>
              <a:t>The decision matrix shows VI, VA, VP, VT, VL all PASS, so ALLOW.</a:t>
            </a:r>
            <a:endParaRPr lang="en-US" sz="1400" dirty="0"/>
          </a:p>
          <a:p>
            <a:pPr marL="342900" indent="-342900">
              <a:buSzPct val="100000"/>
              <a:buChar char="•"/>
            </a:pPr>
            <a:r>
              <a:rPr lang="en-US" sz="1400" dirty="0">
                <a:solidFill>
                  <a:srgbClr val="FFFFFF"/>
                </a:solidFill>
              </a:rPr>
              <a:t>VP is the policy check: the purpose is checked here, and the scope when the doctor asks for the data.</a:t>
            </a:r>
            <a:endParaRPr lang="en-US" sz="1400" dirty="0"/>
          </a:p>
        </p:txBody>
      </p:sp>
      <p:sp>
        <p:nvSpPr>
          <p:cNvPr id="8" name="F29m panel"/>
          <p:cNvSpPr/>
          <p:nvPr/>
        </p:nvSpPr>
        <p:spPr>
          <a:xfrm>
            <a:off x="655168" y="2514600"/>
            <a:ext cx="10881360" cy="2955976"/>
          </a:xfrm>
          <a:prstGeom prst="roundRect">
            <a:avLst>
              <a:gd name="adj" fmla="val 371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m" descr="/tmp/deck/img/F29m.png">    </p:cNvPr>
          <p:cNvPicPr>
            <a:picLocks noChangeAspect="1"/>
          </p:cNvPicPr>
          <p:nvPr/>
        </p:nvPicPr>
        <p:blipFill>
          <a:blip r:embed="rId1"/>
          <a:stretch>
            <a:fillRect/>
          </a:stretch>
        </p:blipFill>
        <p:spPr>
          <a:xfrm>
            <a:off x="764896" y="2624328"/>
            <a:ext cx="10661904" cy="2736520"/>
          </a:xfrm>
          <a:prstGeom prst="rect">
            <a:avLst/>
          </a:prstGeom>
        </p:spPr>
      </p:pic>
      <p:sp>
        <p:nvSpPr>
          <p:cNvPr id="10" name="caption"/>
          <p:cNvSpPr txBox="1"/>
          <p:nvPr/>
        </p:nvSpPr>
        <p:spPr>
          <a:xfrm>
            <a:off x="655168" y="5516296"/>
            <a:ext cx="10881360" cy="320040"/>
          </a:xfrm>
          <a:prstGeom prst="rect">
            <a:avLst/>
          </a:prstGeom>
          <a:noFill/>
          <a:ln/>
        </p:spPr>
        <p:txBody>
          <a:bodyPr wrap="square" rtlCol="0" anchor="ctr"/>
          <a:lstStyle/>
          <a:p>
            <a:pPr algn="ctr" indent="0" marL="0">
              <a:buNone/>
            </a:pPr>
            <a:r>
              <a:rPr lang="en-US" sz="1200" i="1" dirty="0">
                <a:solidFill>
                  <a:srgbClr val="FFFFFF"/>
                </a:solidFill>
              </a:rPr>
              <a:t>Doctor screen, consent 04da25f5 (shown in two parts)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After ALLOW and the proof check, the screen shows the records, one table per module.</a:t>
            </a:r>
            <a:endParaRPr lang="en-US" sz="1400" dirty="0"/>
          </a:p>
          <a:p>
            <a:pPr marL="342900" indent="-342900">
              <a:buSzPct val="100000"/>
              <a:buChar char="•"/>
            </a:pPr>
            <a:r>
              <a:rPr lang="en-US" sz="1400" dirty="0">
                <a:solidFill>
                  <a:srgbClr val="FFFFFF"/>
                </a:solidFill>
              </a:rPr>
              <a:t>Only the four modules in the consent are shown. A request outside the scope is refused (attack test A4).</a:t>
            </a:r>
            <a:endParaRPr lang="en-US" sz="1400" dirty="0"/>
          </a:p>
          <a:p>
            <a:pPr marL="342900" indent="-342900">
              <a:buSzPct val="100000"/>
              <a:buChar char="•"/>
            </a:pPr>
            <a:r>
              <a:rPr lang="en-US" sz="1400" dirty="0">
                <a:solidFill>
                  <a:srgbClr val="FFFFFF"/>
                </a:solidFill>
              </a:rPr>
              <a:t>The data are synthetic Synthea records, not real patients.</a:t>
            </a:r>
            <a:endParaRPr lang="en-US" sz="1400" dirty="0"/>
          </a:p>
        </p:txBody>
      </p:sp>
      <p:sp>
        <p:nvSpPr>
          <p:cNvPr id="8" name="F29r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r" descr="/tmp/deck/img/F29r.png">    </p:cNvPr>
          <p:cNvPicPr>
            <a:picLocks noChangeAspect="1"/>
          </p:cNvPicPr>
          <p:nvPr/>
        </p:nvPicPr>
        <p:blipFill>
          <a:blip r:embed="rId1"/>
          <a:stretch>
            <a:fillRect/>
          </a:stretch>
        </p:blipFill>
        <p:spPr>
          <a:xfrm>
            <a:off x="1216464" y="2487168"/>
            <a:ext cx="4242192"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Authorised records: Observation and Medication</a:t>
            </a:r>
            <a:endParaRPr lang="en-US" sz="1200" dirty="0"/>
          </a:p>
        </p:txBody>
      </p:sp>
      <p:sp>
        <p:nvSpPr>
          <p:cNvPr id="11" name="F30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0" descr="/tmp/deck/img/F30.png">    </p:cNvPr>
          <p:cNvPicPr>
            <a:picLocks noChangeAspect="1"/>
          </p:cNvPicPr>
          <p:nvPr/>
        </p:nvPicPr>
        <p:blipFill>
          <a:blip r:embed="rId2"/>
          <a:stretch>
            <a:fillRect/>
          </a:stretch>
        </p:blipFill>
        <p:spPr>
          <a:xfrm>
            <a:off x="6784147" y="2487168"/>
            <a:ext cx="4171066"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Authorised records: Condition and Procedure</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6: THE AUDITOR FOLLOWS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 (part)</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recorded steps, in order, with the on-chain anchor</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The auditor sees the recorded steps of the consent, in order, with the time of each step.</a:t>
            </a:r>
            <a:endParaRPr lang="en-US" sz="1400" dirty="0"/>
          </a:p>
          <a:p>
            <a:pPr marL="342900" indent="-342900">
              <a:buSzPct val="100000"/>
              <a:buChar char="•"/>
            </a:pPr>
            <a:r>
              <a:rPr lang="en-US" sz="1400" dirty="0">
                <a:solidFill>
                  <a:srgbClr val="FFFFFF"/>
                </a:solidFill>
              </a:rPr>
              <a:t>Row 40 is the anchor on Sepolia: block 11,771,243.</a:t>
            </a:r>
            <a:endParaRPr lang="en-US" sz="1400" dirty="0"/>
          </a:p>
          <a:p>
            <a:pPr marL="342900" indent="-342900">
              <a:buSzPct val="100000"/>
              <a:buChar char="•"/>
            </a:pPr>
            <a:r>
              <a:rPr lang="en-US" sz="1400" dirty="0">
                <a:solidFill>
                  <a:srgbClr val="FFFFFF"/>
                </a:solidFill>
              </a:rPr>
              <a:t>This is consent f050c29a, token #1: the one the patient later revoked.</a:t>
            </a:r>
            <a:endParaRPr lang="en-US" sz="1400" dirty="0"/>
          </a:p>
        </p:txBody>
      </p:sp>
      <p:sp>
        <p:nvSpPr>
          <p:cNvPr id="8" name="F39a panel"/>
          <p:cNvSpPr/>
          <p:nvPr/>
        </p:nvSpPr>
        <p:spPr>
          <a:xfrm>
            <a:off x="1192795" y="2514600"/>
            <a:ext cx="9806106"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9a" descr="/tmp/deck/img/F39a.png">    </p:cNvPr>
          <p:cNvPicPr>
            <a:picLocks noChangeAspect="1"/>
          </p:cNvPicPr>
          <p:nvPr/>
        </p:nvPicPr>
        <p:blipFill>
          <a:blip r:embed="rId1"/>
          <a:stretch>
            <a:fillRect/>
          </a:stretch>
        </p:blipFill>
        <p:spPr>
          <a:xfrm>
            <a:off x="1302523" y="2624328"/>
            <a:ext cx="9586650" cy="3438144"/>
          </a:xfrm>
          <a:prstGeom prst="rect">
            <a:avLst/>
          </a:prstGeom>
        </p:spPr>
      </p:pic>
      <p:sp>
        <p:nvSpPr>
          <p:cNvPr id="10" name="caption"/>
          <p:cNvSpPr txBox="1"/>
          <p:nvPr/>
        </p:nvSpPr>
        <p:spPr>
          <a:xfrm>
            <a:off x="1192795" y="6217920"/>
            <a:ext cx="9806106" cy="320040"/>
          </a:xfrm>
          <a:prstGeom prst="rect">
            <a:avLst/>
          </a:prstGeom>
          <a:noFill/>
          <a:ln/>
        </p:spPr>
        <p:txBody>
          <a:bodyPr wrap="square" rtlCol="0" anchor="ctr"/>
          <a:lstStyle/>
          <a:p>
            <a:pPr algn="ctr" indent="0" marL="0">
              <a:buNone/>
            </a:pPr>
            <a:r>
              <a:rPr lang="en-US" sz="1200" i="1" dirty="0">
                <a:solidFill>
                  <a:srgbClr val="FFFFFF"/>
                </a:solidFill>
              </a:rPr>
              <a:t>Auditor screen, 24 September 2026: ledger rows 36 to 44 of consent f050c29a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7 (OPTIONAL): REVOKING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on Sepolia, then access is refused</a:t>
            </a:r>
            <a:endParaRPr lang="en-US" sz="1600" dirty="0"/>
          </a:p>
        </p:txBody>
      </p:sp>
      <p:sp>
        <p:nvSpPr>
          <p:cNvPr id="7" name="F39b panel"/>
          <p:cNvSpPr/>
          <p:nvPr/>
        </p:nvSpPr>
        <p:spPr>
          <a:xfrm>
            <a:off x="640080" y="1554480"/>
            <a:ext cx="10881360" cy="1664208"/>
          </a:xfrm>
          <a:prstGeom prst="roundRect">
            <a:avLst>
              <a:gd name="adj" fmla="val 659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9b" descr="/tmp/deck/img/F39b.png">    </p:cNvPr>
          <p:cNvPicPr>
            <a:picLocks noChangeAspect="1"/>
          </p:cNvPicPr>
          <p:nvPr/>
        </p:nvPicPr>
        <p:blipFill>
          <a:blip r:embed="rId1"/>
          <a:stretch>
            <a:fillRect/>
          </a:stretch>
        </p:blipFill>
        <p:spPr>
          <a:xfrm>
            <a:off x="749808" y="1665556"/>
            <a:ext cx="10661904" cy="1442055"/>
          </a:xfrm>
          <a:prstGeom prst="rect">
            <a:avLst/>
          </a:prstGeom>
        </p:spPr>
      </p:pic>
      <p:sp>
        <p:nvSpPr>
          <p:cNvPr id="9" name="caption"/>
          <p:cNvSpPr txBox="1"/>
          <p:nvPr/>
        </p:nvSpPr>
        <p:spPr>
          <a:xfrm>
            <a:off x="640080" y="3255264"/>
            <a:ext cx="10881360" cy="320040"/>
          </a:xfrm>
          <a:prstGeom prst="rect">
            <a:avLst/>
          </a:prstGeom>
          <a:noFill/>
          <a:ln/>
        </p:spPr>
        <p:txBody>
          <a:bodyPr wrap="square" rtlCol="0" anchor="ctr"/>
          <a:lstStyle/>
          <a:p>
            <a:pPr algn="ctr" indent="0" marL="0">
              <a:buNone/>
            </a:pPr>
            <a:r>
              <a:rPr lang="en-US" sz="1200" i="1" dirty="0">
                <a:solidFill>
                  <a:srgbClr val="FFFFFF"/>
                </a:solidFill>
              </a:rPr>
              <a:t>Audit ledger, rows 47 and 48: the patient revokes, then the revoke transaction goes on Sepolia</a:t>
            </a:r>
            <a:endParaRPr lang="en-US" sz="1200" dirty="0"/>
          </a:p>
        </p:txBody>
      </p:sp>
      <p:sp>
        <p:nvSpPr>
          <p:cNvPr id="10" name="F37t panel"/>
          <p:cNvSpPr/>
          <p:nvPr/>
        </p:nvSpPr>
        <p:spPr>
          <a:xfrm>
            <a:off x="640080" y="3657600"/>
            <a:ext cx="6035040" cy="2551176"/>
          </a:xfrm>
          <a:prstGeom prst="roundRect">
            <a:avLst>
              <a:gd name="adj" fmla="val 430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F37t" descr="/tmp/deck/img/F37t.png">    </p:cNvPr>
          <p:cNvPicPr>
            <a:picLocks noChangeAspect="1"/>
          </p:cNvPicPr>
          <p:nvPr/>
        </p:nvPicPr>
        <p:blipFill>
          <a:blip r:embed="rId2"/>
          <a:stretch>
            <a:fillRect/>
          </a:stretch>
        </p:blipFill>
        <p:spPr>
          <a:xfrm>
            <a:off x="749808" y="3767763"/>
            <a:ext cx="5815584" cy="2330849"/>
          </a:xfrm>
          <a:prstGeom prst="rect">
            <a:avLst/>
          </a:prstGeom>
        </p:spPr>
      </p:pic>
      <p:sp>
        <p:nvSpPr>
          <p:cNvPr id="12" name="caption"/>
          <p:cNvSpPr txBox="1"/>
          <p:nvPr/>
        </p:nvSpPr>
        <p:spPr>
          <a:xfrm>
            <a:off x="640080" y="6245352"/>
            <a:ext cx="6035040" cy="320040"/>
          </a:xfrm>
          <a:prstGeom prst="rect">
            <a:avLst/>
          </a:prstGeom>
          <a:noFill/>
          <a:ln/>
        </p:spPr>
        <p:txBody>
          <a:bodyPr wrap="square" rtlCol="0" anchor="ctr"/>
          <a:lstStyle/>
          <a:p>
            <a:pPr algn="ctr" indent="0" marL="0">
              <a:buNone/>
            </a:pPr>
            <a:r>
              <a:rPr lang="en-US" sz="1200" i="1" dirty="0">
                <a:solidFill>
                  <a:srgbClr val="FFFFFF"/>
                </a:solidFill>
              </a:rPr>
              <a:t>Sepolia Etherscan: Revoke, Success, block 11,771,307</a:t>
            </a:r>
            <a:endParaRPr lang="en-US" sz="1200" dirty="0"/>
          </a:p>
        </p:txBody>
      </p:sp>
      <p:sp>
        <p:nvSpPr>
          <p:cNvPr id="13" name="F36m panel"/>
          <p:cNvSpPr/>
          <p:nvPr/>
        </p:nvSpPr>
        <p:spPr>
          <a:xfrm>
            <a:off x="6858000" y="3657600"/>
            <a:ext cx="4663440" cy="1271016"/>
          </a:xfrm>
          <a:prstGeom prst="roundRect">
            <a:avLst>
              <a:gd name="adj" fmla="val 86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4" name="F36m" descr="/tmp/deck/img/F36m.png">    </p:cNvPr>
          <p:cNvPicPr>
            <a:picLocks noChangeAspect="1"/>
          </p:cNvPicPr>
          <p:nvPr/>
        </p:nvPicPr>
        <p:blipFill>
          <a:blip r:embed="rId3"/>
          <a:stretch>
            <a:fillRect/>
          </a:stretch>
        </p:blipFill>
        <p:spPr>
          <a:xfrm>
            <a:off x="6967728" y="3769622"/>
            <a:ext cx="4443984" cy="1046973"/>
          </a:xfrm>
          <a:prstGeom prst="rect">
            <a:avLst/>
          </a:prstGeom>
        </p:spPr>
      </p:pic>
      <p:sp>
        <p:nvSpPr>
          <p:cNvPr id="15" name="caption"/>
          <p:cNvSpPr txBox="1"/>
          <p:nvPr/>
        </p:nvSpPr>
        <p:spPr>
          <a:xfrm>
            <a:off x="6858000" y="4965192"/>
            <a:ext cx="4663440" cy="320040"/>
          </a:xfrm>
          <a:prstGeom prst="rect">
            <a:avLst/>
          </a:prstGeom>
          <a:noFill/>
          <a:ln/>
        </p:spPr>
        <p:txBody>
          <a:bodyPr wrap="square" rtlCol="0" anchor="ctr"/>
          <a:lstStyle/>
          <a:p>
            <a:pPr algn="ctr" indent="0" marL="0">
              <a:buNone/>
            </a:pPr>
            <a:r>
              <a:rPr lang="en-US" sz="1200" i="1" dirty="0">
                <a:solidFill>
                  <a:srgbClr val="FFFFFF"/>
                </a:solidFill>
              </a:rPr>
              <a:t>Doctor screen after the revocation: access refused</a:t>
            </a:r>
            <a:endParaRPr lang="en-US" sz="1200" dirty="0"/>
          </a:p>
        </p:txBody>
      </p:sp>
      <p:sp>
        <p:nvSpPr>
          <p:cNvPr id="16" name="bullets"/>
          <p:cNvSpPr txBox="1"/>
          <p:nvPr/>
        </p:nvSpPr>
        <p:spPr>
          <a:xfrm>
            <a:off x="6858000" y="5440680"/>
            <a:ext cx="4663440" cy="1097280"/>
          </a:xfrm>
          <a:prstGeom prst="rect">
            <a:avLst/>
          </a:prstGeom>
          <a:noFill/>
          <a:ln/>
        </p:spPr>
        <p:txBody>
          <a:bodyPr wrap="square" rtlCol="0" anchor="t"/>
          <a:lstStyle/>
          <a:p>
            <a:pPr marL="342900" indent="-342900">
              <a:spcAft>
                <a:spcPts val="1000"/>
              </a:spcAft>
              <a:buSzPct val="100000"/>
              <a:buChar char="•"/>
            </a:pPr>
            <a:r>
              <a:rPr lang="en-US" sz="1300" dirty="0">
                <a:solidFill>
                  <a:srgbClr val="FFFFFF"/>
                </a:solidFill>
              </a:rPr>
              <a:t>The revoke transaction is public on Sepolia, in block 11,771,307.</a:t>
            </a:r>
            <a:endParaRPr lang="en-US" sz="1300" dirty="0"/>
          </a:p>
          <a:p>
            <a:pPr marL="342900" indent="-342900">
              <a:spcAft>
                <a:spcPts val="1000"/>
              </a:spcAft>
              <a:buSzPct val="100000"/>
              <a:buChar char="•"/>
            </a:pPr>
            <a:r>
              <a:rPr lang="en-US" sz="1300" dirty="0">
                <a:solidFill>
                  <a:srgbClr val="FFFFFF"/>
                </a:solidFill>
              </a:rPr>
              <a:t>The doctor opens the consent again and is refused: the state is REVOKED.</a:t>
            </a:r>
            <a:endParaRPr lang="en-US" sz="13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2026-10-12T10:31:55Z</dcterms:created>
  <dcterms:modified xsi:type="dcterms:W3CDTF">2026-10-12T10:31:55Z</dcterms:modified>
</cp:coreProperties>
</file>
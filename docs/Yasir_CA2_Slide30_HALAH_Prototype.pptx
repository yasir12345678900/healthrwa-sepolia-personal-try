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30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9"/>
  </p:notesMasterIdLst>
  <p:sldIdLst>
    <p:sldId id="292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ver" id="{A6942778-0A59-C3A1-24F4-DFEFB294A139}">
          <p14:sldIdLst>
            <p14:sldId id="256"/>
            <p14:sldId id="257"/>
          </p14:sldIdLst>
        </p14:section>
        <p14:section name="The Problem" id="{96F6FDF1-3C7D-C7BC-4CB4-44E808112E56}">
          <p14:sldIdLst>
            <p14:sldId id="258"/>
            <p14:sldId id="259"/>
          </p14:sldIdLst>
        </p14:section>
        <p14:section name="Literature Review" id="{AA021B7A-1D89-DD7B-6EEA-931123681486}">
          <p14:sldIdLst>
            <p14:sldId id="304"/>
            <p14:sldId id="305"/>
            <p14:sldId id="306"/>
            <p14:sldId id="307"/>
            <p14:sldId id="308"/>
            <p14:sldId id="309"/>
            <p14:sldId id="312"/>
            <p14:sldId id="313"/>
          </p14:sldIdLst>
        </p14:section>
        <p14:section name="Gap, Questions and Objectives" id="{ACB741F8-7344-E54E-3520-6B498F895C17}">
          <p14:sldIdLst>
            <p14:sldId id="262"/>
            <p14:sldId id="302"/>
            <p14:sldId id="263"/>
            <p14:sldId id="264"/>
            <p14:sldId id="410"/>
          </p14:sldIdLst>
        </p14:section>
        <p14:section name="The Framework" id="{4674AA55-3218-DA15-E297-A596FB9CE1A2}">
          <p14:sldIdLst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  <p14:sldId id="275"/>
            <p14:sldId id="276"/>
            <p14:sldId id="278"/>
          </p14:sldIdLst>
        </p14:section>
        <p14:section name="Demo: The HALAH Prototype" id="{611104C4-4282-3E95-1D48-D00FE3F4F3EA}">
          <p14:sldIdLst>
            <p14:sldId id="292"/>
            <p14:sldId id="293"/>
            <p14:sldId id="294"/>
            <p14:sldId id="295"/>
            <p14:sldId id="296"/>
            <p14:sldId id="297"/>
          </p14:sldIdLst>
        </p14:section>
        <p14:section name="Validation and Evaluation" id="{38214D88-01AF-845D-D65A-C9A4BC2C85DF}">
          <p14:sldIdLst>
            <p14:sldId id="280"/>
            <p14:sldId id="281"/>
            <p14:sldId id="282"/>
          </p14:sldIdLst>
        </p14:section>
        <p14:section name="Contribution" id="{EB11EB97-8735-E73D-577A-B2BB861A5EB4}">
          <p14:sldIdLst>
            <p14:sldId id="284"/>
            <p14:sldId id="285"/>
            <p14:sldId id="412"/>
            <p14:sldId id="411"/>
          </p14:sldIdLst>
        </p14:section>
        <p14:section name="Research Plan" id="{1F39EFB8-3D03-66B5-86E7-768BA670C7C2}">
          <p14:sldIdLst>
            <p14:sldId id="289"/>
            <p14:sldId id="290"/>
            <p14:sldId id="291"/>
          </p14:sldIdLst>
        </p14:section>
        <p14:section name="References" id="{40AA16BB-153B-BBB1-53BB-0EB6F21829F3}">
          <p14:sldIdLst>
            <p14:sldId id="300"/>
          </p14:sldIdLst>
        </p14:section>
        <p14:section name="Thank You" id="{FD86D728-DF0D-F8E8-99EB-24A0646BFE01}">
          <p14:sldIdLst>
            <p14:sldId id="30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86667" autoAdjust="0"/>
  </p:normalViewPr>
  <p:slideViewPr>
    <p:cSldViewPr snapToGrid="0" snapToObjects="1">
      <p:cViewPr varScale="1">
        <p:scale>
          <a:sx n="83" d="100"/>
          <a:sy n="83" d="100"/>
        </p:scale>
        <p:origin x="45" y="18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8467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1" Type="http://schemas.openxmlformats.org/officeDocument/2006/relationships/slide" Target="slides/slide30.xml"/><Relationship Id="rId49" Type="http://schemas.openxmlformats.org/officeDocument/2006/relationships/notesMaster" Target="notesMasters/notesMaster1.xml"/><Relationship Id="rId50" Type="http://schemas.openxmlformats.org/officeDocument/2006/relationships/presProps" Target="presProps.xml"/><Relationship Id="rId51" Type="http://schemas.openxmlformats.org/officeDocument/2006/relationships/viewProps" Target="viewProps.xml"/><Relationship Id="rId52" Type="http://schemas.openxmlformats.org/officeDocument/2006/relationships/theme" Target="theme/theme1.xml"/><Relationship Id="rId5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346574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 let me show the prototype. HALAH means History Access Link for Authorised Healthcare.</a:t>
            </a:r>
          </a:p>
          <a:p>
            <a:r>
              <a:t>It has four interfaces: patient, guardian, doctor and auditor. Every participant has a DID, and a verifiable credential is checked before access or approval.</a:t>
            </a:r>
          </a:p>
          <a:p>
            <a:r>
              <a:t>Guardians approve with EIP-712 signatures, and then a soulbound consent token is minted on the Sepolia testnet.</a:t>
            </a:r>
          </a:p>
          <a:p>
            <a:r>
              <a:t>At the centre is the decision engine: it checks the five conditions at every request, and then a Groth16 proof must verify before data is released.</a:t>
            </a:r>
          </a:p>
          <a:p>
            <a:r>
              <a:t>The data are synthetic Synthea records, and the audit ledger keeps all events, with no medical content on-chain.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marL="0" indent="0" algn="ctr">
              <a:buNone/>
              <a:def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defRPr>
            </a:lvl1pPr>
          </a:lstStyle>
          <a:p>
            <a:pPr marL="0" indent="0" algn="ctr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183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295376-6A6A-8841-B7E4-1F35C2249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96F4E9-2DE5-D7EB-95B3-8E54FB2A71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198B3-BB9B-B6BB-C9C0-D35E110626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A31A13-ADD8-45A6-BA20-4C35DCF1F406}" type="datetimeFigureOut">
              <a:rPr lang="en-AU" smtClean="0"/>
              <a:t>14/10/2026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7D850-541D-4EC8-9030-D6F526459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0B99EC-2238-CBDA-CDDF-7C2C97A10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ADC8E-7141-4E37-96AF-0E1D097C062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486506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>
            <a:spLocks noGrp="1"/>
          </p:cNvSpPr>
          <p:nvPr>
            <p:ph type="title" idx="100" hasCustomPrompt="1"/>
          </p:nvPr>
        </p:nvSpPr>
        <p:spPr>
          <a:xfrm>
            <a:off x="822960" y="22860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HALAH PROTOTYPE</a:t>
            </a:r>
            <a:endParaRPr lang="en-US" sz="3000" dirty="0"/>
          </a:p>
        </p:txBody>
      </p:sp>
      <p:sp>
        <p:nvSpPr>
          <p:cNvPr id="5" name="card Four interfaces"/>
          <p:cNvSpPr/>
          <p:nvPr/>
        </p:nvSpPr>
        <p:spPr>
          <a:xfrm>
            <a:off x="64008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6" name="card text Four interfaces"/>
          <p:cNvSpPr txBox="1"/>
          <p:nvPr/>
        </p:nvSpPr>
        <p:spPr>
          <a:xfrm>
            <a:off x="777240" y="164592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Four interfaces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Patient, guardian, doctor and auditor</a:t>
            </a:r>
            <a:endParaRPr lang="en-US" sz="1900" dirty="0"/>
          </a:p>
        </p:txBody>
      </p:sp>
      <p:sp>
        <p:nvSpPr>
          <p:cNvPr id="7" name="card Identity and credentials"/>
          <p:cNvSpPr/>
          <p:nvPr/>
        </p:nvSpPr>
        <p:spPr>
          <a:xfrm>
            <a:off x="434340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8" name="card text Identity and credentials"/>
          <p:cNvSpPr txBox="1"/>
          <p:nvPr/>
        </p:nvSpPr>
        <p:spPr>
          <a:xfrm>
            <a:off x="4480560" y="164592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Identity and credentials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A DID for every participant; a verifiable credential is checked before access or approval</a:t>
            </a:r>
            <a:endParaRPr lang="en-US" sz="1900" dirty="0"/>
          </a:p>
        </p:txBody>
      </p:sp>
      <p:sp>
        <p:nvSpPr>
          <p:cNvPr id="9" name="card Approval and consent token"/>
          <p:cNvSpPr/>
          <p:nvPr/>
        </p:nvSpPr>
        <p:spPr>
          <a:xfrm>
            <a:off x="8046720" y="155448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0" name="card text Approval and consent token"/>
          <p:cNvSpPr txBox="1"/>
          <p:nvPr/>
        </p:nvSpPr>
        <p:spPr>
          <a:xfrm>
            <a:off x="8183880" y="164592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Approval and consent token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Guardians sign EIP-712 approvals; then a soulbound ERC-721 token (ERC-5484) is minted on Sepolia</a:t>
            </a:r>
            <a:endParaRPr lang="en-US" sz="1900" dirty="0"/>
          </a:p>
        </p:txBody>
      </p:sp>
      <p:sp>
        <p:nvSpPr>
          <p:cNvPr id="11" name="card Decision engine"/>
          <p:cNvSpPr/>
          <p:nvPr/>
        </p:nvSpPr>
        <p:spPr>
          <a:xfrm>
            <a:off x="64008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2" name="card text Decision engine"/>
          <p:cNvSpPr txBox="1"/>
          <p:nvPr/>
        </p:nvSpPr>
        <p:spPr>
          <a:xfrm>
            <a:off x="777240" y="402336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Decision engine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VI ∧ VA ∧ VP ∧ VT ∧ VL at every request, then a Groth16 proof over a Poseidon commitment</a:t>
            </a:r>
            <a:endParaRPr lang="en-US" sz="1900" dirty="0"/>
          </a:p>
        </p:txBody>
      </p:sp>
      <p:sp>
        <p:nvSpPr>
          <p:cNvPr id="13" name="card Data"/>
          <p:cNvSpPr/>
          <p:nvPr/>
        </p:nvSpPr>
        <p:spPr>
          <a:xfrm>
            <a:off x="434340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4" name="card text Data"/>
          <p:cNvSpPr txBox="1"/>
          <p:nvPr/>
        </p:nvSpPr>
        <p:spPr>
          <a:xfrm>
            <a:off x="4480560" y="402336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Data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Synthetic Synthea records: Observation, Medication, Condition, Procedure</a:t>
            </a:r>
            <a:endParaRPr lang="en-US" sz="1900" dirty="0"/>
          </a:p>
        </p:txBody>
      </p:sp>
      <p:sp>
        <p:nvSpPr>
          <p:cNvPr id="15" name="card Evidence"/>
          <p:cNvSpPr/>
          <p:nvPr/>
        </p:nvSpPr>
        <p:spPr>
          <a:xfrm>
            <a:off x="8046720" y="3931920"/>
            <a:ext cx="3520440" cy="2103120"/>
          </a:xfrm>
          <a:prstGeom prst="roundRect">
            <a:avLst>
              <a:gd name="adj" fmla="val 4348"/>
            </a:avLst>
          </a:prstGeom>
          <a:solidFill>
            <a:srgbClr val="FFFFFF">
              <a:alpha val="92000"/>
            </a:srgbClr>
          </a:solidFill>
          <a:ln w="19050">
            <a:solidFill>
              <a:srgbClr val="1FB5D6"/>
            </a:solidFill>
            <a:prstDash val="solid"/>
          </a:ln>
        </p:spPr>
        <p:txBody>
          <a:bodyPr/>
          <a:lstStyle/>
          <a:p>
            <a:endParaRPr lang="en-AU"/>
          </a:p>
        </p:txBody>
      </p:sp>
      <p:sp>
        <p:nvSpPr>
          <p:cNvPr id="16" name="card text Evidence"/>
          <p:cNvSpPr txBox="1"/>
          <p:nvPr/>
        </p:nvSpPr>
        <p:spPr>
          <a:xfrm>
            <a:off x="8183880" y="4023360"/>
            <a:ext cx="324612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spcAft>
                <a:spcPts val="400"/>
              </a:spcAft>
              <a:buNone/>
            </a:pPr>
            <a:r>
              <a:rPr lang="en-US" sz="1900" b="1" dirty="0">
                <a:solidFill>
                  <a:srgbClr val="0B2A4A"/>
                </a:solidFill>
              </a:rPr>
              <a:t>Evidence</a:t>
            </a:r>
            <a:endParaRPr lang="en-US" sz="190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600" dirty="0">
                <a:solidFill>
                  <a:srgbClr val="0B1F33"/>
                </a:solidFill>
              </a:rPr>
              <a:t>Off-chain audit ledger of consent events and access decisions; no medical content on-chain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384280" y="6355080"/>
            <a:ext cx="54864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100">
                <a:solidFill>
                  <a:srgbClr val="FFFFFF"/>
                </a:solidFill>
              </a:defRPr>
            </a:lvl1pPr>
          </a:lstStyle>
          <a:p>
            <a:pPr algn="r"/>
            <a:fld id="{F7021451-1387-4CA6-816F-3879F97B5CBC}" type="slidenum">
              <a:rPr lang="en-US" b="0"/>
              <a:t>30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rust Consent">
  <a:themeElements>
    <a:clrScheme name="Trust Consent">
      <a:dk1>
        <a:srgbClr val="0B1F33"/>
      </a:dk1>
      <a:lt1>
        <a:srgbClr val="FFFFFF"/>
      </a:lt1>
      <a:dk2>
        <a:srgbClr val="0B2A4A"/>
      </a:dk2>
      <a:lt2>
        <a:srgbClr val="E8F4F8"/>
      </a:lt2>
      <a:accent1>
        <a:srgbClr val="1FB5D6"/>
      </a:accent1>
      <a:accent2>
        <a:srgbClr val="0B2A4A"/>
      </a:accent2>
      <a:accent3>
        <a:srgbClr val="2E7D32"/>
      </a:accent3>
      <a:accent4>
        <a:srgbClr val="F2A900"/>
      </a:accent4>
      <a:accent5>
        <a:srgbClr val="C62828"/>
      </a:accent5>
      <a:accent6>
        <a:srgbClr val="5B6B7A"/>
      </a:accent6>
      <a:hlink>
        <a:srgbClr val="1FB5D6"/>
      </a:hlink>
      <a:folHlink>
        <a:srgbClr val="5B6B7A"/>
      </a:folHlink>
    </a:clrScheme>
    <a:fontScheme name="Trust Consent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1241</TotalTime>
  <Words>8014</Words>
  <Application>Microsoft Office PowerPoint</Application>
  <PresentationFormat>شاشة عريضة</PresentationFormat>
  <Paragraphs>950</Paragraphs>
  <Slides>47</Slides>
  <Notes>47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47</vt:i4>
      </vt:variant>
    </vt:vector>
  </HeadingPairs>
  <TitlesOfParts>
    <vt:vector size="51" baseType="lpstr">
      <vt:lpstr>Arial</vt:lpstr>
      <vt:lpstr>Calibri</vt:lpstr>
      <vt:lpstr>Cambria</vt:lpstr>
      <vt:lpstr>Trust Consent</vt:lpstr>
      <vt:lpstr>عرض تقديمي في PowerPoint</vt:lpstr>
      <vt:lpstr>OUTLINE</vt:lpstr>
      <vt:lpstr>THE RESEARCH PROBLEM</vt:lpstr>
      <vt:lpstr>THE KEY IDEA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RESEARCH GAP</vt:lpstr>
      <vt:lpstr>MAIN RESEARCH QUESTION</vt:lpstr>
      <vt:lpstr>SUB-RESEARCH QUESTIONS</vt:lpstr>
      <vt:lpstr>RESEARCH OBJECTIVES</vt:lpstr>
      <vt:lpstr>Research Methodology </vt:lpstr>
      <vt:lpstr>FRAMEWORK ARCHITECTURE</vt:lpstr>
      <vt:lpstr>THE DECISION RULE</vt:lpstr>
      <vt:lpstr>Proposed solution for objective 1</vt:lpstr>
      <vt:lpstr>RO1: Trust-Centric Consent Model</vt:lpstr>
      <vt:lpstr>Proposed solution for objective 2</vt:lpstr>
      <vt:lpstr>RO2: Decentralised Identity and Authority Trust</vt:lpstr>
      <vt:lpstr>Proposed solution for objective 3</vt:lpstr>
      <vt:lpstr>RO3: Trustworthy Multi-Party Authorisation</vt:lpstr>
      <vt:lpstr>Proposed solution for objective 4</vt:lpstr>
      <vt:lpstr>RO4: Policy- and Context-Aware Access Control</vt:lpstr>
      <vt:lpstr>Proposed solution for objective 5</vt:lpstr>
      <vt:lpstr>Proposed solution for objective 6</vt:lpstr>
      <vt:lpstr>THE HALAH PROTOTYPE</vt:lpstr>
      <vt:lpstr>DEMO 1: THE PATIENT CREATES THE CONSENT</vt:lpstr>
      <vt:lpstr>DEMO 2: THE FIRST GUARDIAN APPROVES</vt:lpstr>
      <vt:lpstr>DEMO 3: SECOND APPROVAL, TOKEN MINTED</vt:lpstr>
      <vt:lpstr>DEMO 4: THE DOCTOR IS ALLOWED</vt:lpstr>
      <vt:lpstr>DEMO 5: ONLY THE AUTHORISED RECORDS</vt:lpstr>
      <vt:lpstr>VALIDATION</vt:lpstr>
      <vt:lpstr>VALIDATION: THE RECORDED DECISIONS</vt:lpstr>
      <vt:lpstr>VALIDATION: ATTACK SCENARIOS</vt:lpstr>
      <vt:lpstr>Traditional EHR vs. HALAH Framework</vt:lpstr>
      <vt:lpstr>DATASET OVERVIEW</vt:lpstr>
      <vt:lpstr>RESEARCH CONTRIBUTIONS </vt:lpstr>
      <vt:lpstr>RESEARCH CONTRIBUTIONS </vt:lpstr>
      <vt:lpstr>RESEARCH PUBLICATIONS</vt:lpstr>
      <vt:lpstr>RESEARCH PLAN</vt:lpstr>
      <vt:lpstr>RESEARCH TIMELINE</vt:lpstr>
      <vt:lpstr>REFERENCES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Trusted Authorisation Framework for Multi-Party Patient Consent in Healthcare Data Sharing</dc:title>
  <dc:subject>Candidature Reassessment</dc:subject>
  <dc:creator>Yasir Dhaifallah O Alyoubi</dc:creator>
  <cp:lastModifiedBy>Ayman Alyoubi</cp:lastModifiedBy>
  <cp:revision>23</cp:revision>
  <dcterms:created xsi:type="dcterms:W3CDTF">2026-10-12T13:53:28Z</dcterms:created>
  <dcterms:modified xsi:type="dcterms:W3CDTF">2026-10-14T03:21:36Z</dcterms:modified>
</cp:coreProperties>
</file>
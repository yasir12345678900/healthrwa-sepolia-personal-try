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9643fa92-2985-d8e0-4dea-e03fadbb28bf}">
          <p14:sldIdLst>
            <p14:sldId id="256"/>
          </p14:sldIdLst>
        </p14:section>
        <p14:section name="Outline" id="{daee9d4a-8070-64b9-5748-7cffd52a1427}">
          <p14:sldIdLst>
            <p14:sldId id="257"/>
          </p14:sldIdLst>
        </p14:section>
        <p14:section name="Introduction" id="{8dacff7c-ee8b-30a7-f2ba-80f60f6e91d4}">
          <p14:sldIdLst>
            <p14:sldId id="258"/>
            <p14:sldId id="259"/>
          </p14:sldIdLst>
        </p14:section>
        <p14:section name="Systematic Literature Review" id="{3262b2b8-56fa-fc59-1827-31db91a6769f}">
          <p14:sldIdLst>
            <p14:sldId id="260"/>
            <p14:sldId id="261"/>
            <p14:sldId id="262"/>
            <p14:sldId id="263"/>
            <p14:sldId id="264"/>
            <p14:sldId id="265"/>
            <p14:sldId id="266"/>
            <p14:sldId id="267"/>
          </p14:sldIdLst>
        </p14:section>
        <p14:section name="Research Gap" id="{95d50388-18ba-7a81-1f72-d7d0e13904e5}">
          <p14:sldIdLst>
            <p14:sldId id="268"/>
          </p14:sldIdLst>
        </p14:section>
        <p14:section name="Research Questions" id="{224ee0c2-d863-1d45-7e43-0a6b180a7cd2}">
          <p14:sldIdLst>
            <p14:sldId id="269"/>
            <p14:sldId id="270"/>
          </p14:sldIdLst>
        </p14:section>
        <p14:section name="Research Objectives" id="{d94fa123-a70a-3f68-e793-a1b630f9d82e}">
          <p14:sldIdLst>
            <p14:sldId id="271"/>
          </p14:sldIdLst>
        </p14:section>
        <p14:section name="Research Methodology" id="{fa4f2a29-8b64-1bae-22dc-5284b04295c9}">
          <p14:sldIdLst>
            <p14:sldId id="272"/>
          </p14:sldIdLst>
        </p14:section>
        <p14:section name="Research Architecture" id="{0e5c5c2e-44bb-c778-c5f0-8236ca456cfd}">
          <p14:sldIdLst>
            <p14:sldId id="273"/>
          </p14:sldIdLst>
        </p14:section>
        <p14:section name="The Proposed Solutions" id="{eae73662-4bd1-28b4-5a6b-a68374e0e312}">
          <p14:sldIdLst>
            <p14:sldId id="274"/>
            <p14:sldId id="275"/>
            <p14:sldId id="276"/>
            <p14:sldId id="277"/>
            <p14:sldId id="278"/>
            <p14:sldId id="279"/>
            <p14:sldId id="280"/>
            <p14:sldId id="281"/>
            <p14:sldId id="282"/>
            <p14:sldId id="283"/>
            <p14:sldId id="284"/>
            <p14:sldId id="285"/>
            <p14:sldId id="286"/>
          </p14:sldIdLst>
        </p14:section>
        <p14:section name="Implementation and Evaluation" id="{531e6b12-d8f1-7992-62f1-8a5ac3e50595}">
          <p14:sldIdLst>
            <p14:sldId id="287"/>
            <p14:sldId id="288"/>
            <p14:sldId id="289"/>
            <p14:sldId id="290"/>
            <p14:sldId id="291"/>
            <p14:sldId id="292"/>
            <p14:sldId id="293"/>
          </p14:sldIdLst>
        </p14:section>
        <p14:section name="Significance of the Research" id="{270936f8-7179-fe4a-4198-a4cb69a2f27a}">
          <p14:sldIdLst>
            <p14:sldId id="294"/>
            <p14:sldId id="295"/>
            <p14:sldId id="296"/>
            <p14:sldId id="297"/>
          </p14:sldIdLst>
        </p14:section>
        <p14:section name="Research Plan" id="{e575f0bb-e92b-978d-793d-04dc32a88e23}">
          <p14:sldIdLst>
            <p14:sldId id="298"/>
            <p14:sldId id="299"/>
          </p14:sldIdLst>
        </p14:section>
        <p14:section name="References" id="{5bcf6447-c8ac-db48-cbdb-26628f20da1b}">
          <p14:sldIdLst>
            <p14:sldId id="300"/>
            <p14:sldId id="301"/>
            <p14:sldId id="302"/>
          </p14:sldIdLst>
        </p14:section>
        <p14:section name="Thank You" id="{5e160680-63a9-4c81-ffd2-175a1efdbd2e}">
          <p14:sldIdLst>
            <p14:sldId id="30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a:t>
            </a:r>
            <a:r>
              <a:rPr lang="en-US" dirty="0">
                <a:highlight>
                  <a:srgbClr val="FFFF00"/>
                </a:highlight>
              </a:rPr>
              <a:t>My research title is A Trusted Authorisation Framework for Multi-Party Patient Consent in Healthcare Data Sharing.</a:t>
            </a:r>
            <a:r>
              <a:rPr lang="en-US" dirty="0"/>
              <a:t>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a:t>
            </a:r>
            <a:r>
              <a:rPr lang="en-US" dirty="0">
                <a:highlight>
                  <a:srgbClr val="FFFF00"/>
                </a:highlight>
              </a:rPr>
              <a:t>gap</a:t>
            </a:r>
            <a:r>
              <a:rPr lang="en-US" dirty="0"/>
              <a:t>,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t>
            </a:r>
            <a:r>
              <a:rPr lang="en-US" dirty="0">
                <a:highlight>
                  <a:srgbClr val="FFFF00"/>
                </a:highlight>
              </a:rPr>
              <a:t>and</a:t>
            </a:r>
            <a:r>
              <a:rPr lang="en-US" dirty="0"/>
              <a:t> data scope. Time and lifecycle asks if the consent is still valid, and not expired or revoked.
The dark box brings it together. Consent becomes an object the system can evaluate: C equals I, A, P, T, L, E. That is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a:t>
            </a:r>
            <a:r>
              <a:rPr lang="en-US" dirty="0">
                <a:highlight>
                  <a:srgbClr val="FFFF00"/>
                </a:highlight>
              </a:rPr>
              <a:t>Authorisation</a:t>
            </a:r>
            <a:r>
              <a:rPr lang="en-US" dirty="0"/>
              <a:t>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a:t>
            </a:r>
            <a:r>
              <a:rPr lang="en-US" dirty="0">
                <a:highlight>
                  <a:srgbClr val="FFFF00"/>
                </a:highlight>
              </a:rPr>
              <a:t>17 were excluded. One full text could not be retrieved, and the other 1,735 are not assessed yet. That work continues.</a:t>
            </a:r>
            <a:r>
              <a:rPr lang="en-US" dirty="0"/>
              <a:t>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t>
            </a:r>
            <a:r>
              <a:rPr lang="en-US" dirty="0">
                <a:highlight>
                  <a:srgbClr val="FFFF00"/>
                </a:highlight>
              </a:rPr>
              <a:t>and</a:t>
            </a:r>
            <a:r>
              <a:rPr lang="en-US" dirty="0"/>
              <a:t>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a:t>
            </a:r>
            <a:r>
              <a:rPr lang="en-US" dirty="0">
                <a:highlight>
                  <a:srgbClr val="FFFF00"/>
                </a:highlight>
              </a:rPr>
              <a:t>For each study you see the code, the authors, the year, the title and the category.</a:t>
            </a:r>
            <a:r>
              <a:rPr lang="en-US" dirty="0"/>
              <a:t>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a:t>
            </a:r>
            <a:r>
              <a:rPr lang="en-US" dirty="0">
                <a:highlight>
                  <a:srgbClr val="FFFF00"/>
                </a:highlight>
              </a:rPr>
              <a:t>Each row gives the study number, the authors, the year, the title and the category.</a:t>
            </a:r>
            <a:r>
              <a:rPr lang="en-US" dirty="0"/>
              <a:t>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a:t>
            </a:r>
            <a:r>
              <a:rPr lang="en-US" dirty="0">
                <a:highlight>
                  <a:srgbClr val="FFFF00"/>
                </a:highlight>
              </a:rPr>
              <a:t>lifecycle</a:t>
            </a:r>
            <a:r>
              <a:rPr lang="en-US" dirty="0"/>
              <a:t>.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gap leads</a:t>
            </a:r>
            <a:r>
              <a:rPr lang="en-US" dirty="0"/>
              <a:t>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a:t>
            </a:r>
            <a:r>
              <a:rPr lang="en-US" dirty="0">
                <a:highlight>
                  <a:srgbClr val="FFFF00"/>
                </a:highlight>
              </a:rPr>
              <a:t>Next I will add the suspended state and the lifecycle transition check, and extend them to consent changes, delegation and guardian-set changes.</a:t>
            </a:r>
            <a:r>
              <a:rPr lang="en-US" dirty="0"/>
              <a:t>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a:t>
            </a:r>
            <a:r>
              <a:rPr lang="en-US" dirty="0">
                <a:highlight>
                  <a:srgbClr val="FFFF00"/>
                </a:highlight>
              </a:rPr>
              <a:t>research gap</a:t>
            </a:r>
            <a:r>
              <a:rPr lang="en-US" dirty="0"/>
              <a:t>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a:t>
            </a:r>
            <a:r>
              <a:rPr lang="en-US" dirty="0">
                <a:highlight>
                  <a:srgbClr val="FFFF00"/>
                </a:highlight>
              </a:rPr>
              <a:t>I used live scenarios, measurements and thirteen attack scenarios.</a:t>
            </a:r>
            <a:r>
              <a:rPr lang="en-US" dirty="0"/>
              <a:t>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a:t>
            </a:r>
            <a:r>
              <a:rPr lang="en-US" dirty="0">
                <a:highlight>
                  <a:srgbClr val="FFFF00"/>
                </a:highlight>
              </a:rPr>
              <a:t>No. It checks the DID syntax, and it checks a verifiable credential for each guardian when they sign and for the doctor at access time.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a:t>
            </a:r>
            <a:r>
              <a:rPr lang="en-US" dirty="0">
                <a:highlight>
                  <a:srgbClr val="FFFF00"/>
                </a:highlight>
              </a:rPr>
              <a:t>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a:t>
            </a:r>
            <a:r>
              <a:rPr lang="en-US" dirty="0"/>
              <a:t>
The points below are simple. If any one check fails, the answer is DENY. In the prototype, a Groth16 zero-knowledge proof must also verify before any data is released. This kind of proof shows something is true without showing the secret behind it. </a:t>
            </a:r>
            <a:r>
              <a:rPr lang="en-US" dirty="0">
                <a:highlight>
                  <a:srgbClr val="FFFF00"/>
                </a:highlight>
              </a:rPr>
              <a:t>Every access decision, allowed or denied, is written to the off-chain audit ledger with its decision matrix.</a:t>
            </a:r>
            <a:r>
              <a:rPr lang="en-US" dirty="0"/>
              <a:t>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t>
            </a:r>
            <a:r>
              <a:rPr lang="en-US" dirty="0">
                <a:highlight>
                  <a:srgbClr val="FFFF00"/>
                </a:highlight>
              </a:rPr>
              <a:t>and</a:t>
            </a:r>
            <a:r>
              <a:rPr lang="en-US" dirty="0"/>
              <a:t> the validity time. In the current interface the purpose is fixed to Treatment. The system then checks the input. For example, an empty data scope or a badly formed guardian DID is rejected.
</a:t>
            </a:r>
            <a:r>
              <a:rPr lang="en-US" dirty="0">
                <a:highlight>
                  <a:srgbClr val="FFFF00"/>
                </a:highlight>
              </a:rPr>
              <a:t>If the input is valid, the system builds the consent object C and assigns a consent identifier.</a:t>
            </a:r>
            <a:r>
              <a:rPr lang="en-US" dirty="0"/>
              <a:t> C has six parts: identity, </a:t>
            </a:r>
            <a:r>
              <a:rPr lang="en-US" dirty="0">
                <a:highlight>
                  <a:srgbClr val="FFFF00"/>
                </a:highlight>
              </a:rPr>
              <a:t>authorisation</a:t>
            </a:r>
            <a:r>
              <a:rPr lang="en-US" dirty="0"/>
              <a:t>, policy and data scope, time, </a:t>
            </a:r>
            <a:r>
              <a:rPr lang="en-US" dirty="0">
                <a:highlight>
                  <a:srgbClr val="FFFF00"/>
                </a:highlight>
              </a:rPr>
              <a:t>lifecycle</a:t>
            </a:r>
            <a:r>
              <a:rPr lang="en-US" dirty="0"/>
              <a:t> and evidence. The consent is saved in the state PENDING_SIGNATURE. Nothing goes on-chain until all guardians approve. Last, the creation is recorded in the audit ledger.
</a:t>
            </a:r>
            <a:r>
              <a:rPr lang="en-US" dirty="0">
                <a:highlight>
                  <a:srgbClr val="FFFF00"/>
                </a:highlight>
              </a:rPr>
              <a:t>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a:t>
            </a:r>
            <a:r>
              <a:rPr lang="en-US" dirty="0">
                <a:highlight>
                  <a:srgbClr val="FFFF00"/>
                </a:highlight>
              </a:rPr>
              <a:t>In the HALAH implementation, the guardian workflow uses a selected guardian DID and invokes VC verification before adding the guardian's signature to the consent. Each guardian's EIP-712 signature is also recovered.</a:t>
            </a:r>
            <a:r>
              <a:rPr lang="en-US" dirty="0"/>
              <a:t> EIP-712 is a typed signature format on Ethereum, so we can see who signed. Full DID resolution </a:t>
            </a:r>
            <a:r>
              <a:rPr lang="en-US" dirty="0">
                <a:highlight>
                  <a:srgbClr val="FFFF00"/>
                </a:highlight>
              </a:rPr>
              <a:t>is</a:t>
            </a:r>
            <a:r>
              <a:rPr lang="en-US" dirty="0"/>
              <a:t> planned for the next stage.
</a:t>
            </a:r>
            <a:r>
              <a:rPr lang="en-US" dirty="0">
                <a:highlight>
                  <a:srgbClr val="FFFF00"/>
                </a:highlight>
              </a:rPr>
              <a:t>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t>
            </a:r>
            <a:r>
              <a:rPr lang="en-US" dirty="0">
                <a:highlight>
                  <a:srgbClr val="FFFF00"/>
                </a:highlight>
              </a:rPr>
              <a:t>An approval from someone outside G is not counted, and a duplicate approval is not counted either. A signature replayed from another consent fails the identity check, so the answer is DENY.</a:t>
            </a:r>
            <a:r>
              <a:rPr lang="en-US" dirty="0"/>
              <a:t>
The rule is N-of-N. This means every listed guardian must give a valid signature. In the demo there are two guardians, so it is 2-of-2. One approval is not enough.
</a:t>
            </a:r>
            <a:r>
              <a:rPr lang="en-US" dirty="0">
                <a:highlight>
                  <a:srgbClr val="FFFF00"/>
                </a:highlight>
              </a:rPr>
              <a:t>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a:t>
            </a:r>
            <a:r>
              <a:rPr lang="en-US" dirty="0">
                <a:highlight>
                  <a:srgbClr val="FFFF00"/>
                </a:highlight>
              </a:rPr>
              <a:t>the lifecycle state</a:t>
            </a:r>
            <a:r>
              <a:rPr lang="en-US" dirty="0"/>
              <a:t>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t>
            </a:r>
            <a:r>
              <a:rPr lang="en-US" dirty="0">
                <a:highlight>
                  <a:srgbClr val="FFFF00"/>
                </a:highlight>
              </a:rPr>
              <a:t>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a:t>
            </a:r>
            <a:r>
              <a:rPr lang="en-US" dirty="0">
                <a:highlight>
                  <a:srgbClr val="FFFF00"/>
                </a:highlight>
              </a:rPr>
              <a:t>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a:t>
            </a:r>
            <a:r>
              <a:rPr lang="en-US" dirty="0"/>
              <a:t>
The next stage adds </a:t>
            </a:r>
            <a:r>
              <a:rPr lang="en-US" dirty="0">
                <a:highlight>
                  <a:srgbClr val="FFFF00"/>
                </a:highlight>
              </a:rPr>
              <a:t>the SUSPENDED state,</a:t>
            </a:r>
            <a:r>
              <a:rPr lang="en-US" dirty="0"/>
              <a:t> a lifecycle transition check, consent modification, delegation, guardian-set changes and a formal lifecycle model.
</a:t>
            </a:r>
            <a:r>
              <a:rPr lang="en-US" dirty="0">
                <a:highlight>
                  <a:srgbClr val="FFFF00"/>
                </a:highlight>
              </a:rPr>
              <a:t>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a:t>
            </a:r>
            <a:r>
              <a:rPr lang="en-US" dirty="0">
                <a:highlight>
                  <a:srgbClr val="FFFF00"/>
                </a:highlight>
              </a:rPr>
              <a:t>First, I have 46 automated tests. They include thirteen attack scenarios, A1 to A13.</a:t>
            </a:r>
            <a:r>
              <a:rPr lang="en-US" dirty="0"/>
              <a:t>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t>
            </a:r>
            <a:r>
              <a:rPr lang="en-US" dirty="0">
                <a:highlight>
                  <a:srgbClr val="FFFF00"/>
                </a:highlight>
              </a:rPr>
              <a:t>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a:t>
            </a:r>
            <a:r>
              <a:rPr lang="en-US" dirty="0">
                <a:highlight>
                  <a:srgbClr val="FFFF00"/>
                </a:highlight>
              </a:rPr>
              <a:t>Last, the off-chain audit ledger keeps evidence of every access decision, allowed or denied, and no medical content goes on-chain.</a:t>
            </a:r>
            <a:r>
              <a:rPr lang="en-US" dirty="0"/>
              <a:t>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 real screen from the doctor subsystem, from 24 September 2026. The picture is shown in two parts.
First, the doctor enters the consent ID, f050c29a. The screen shows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request must stay inside the agreed scope. On this screen, the purpose is checked. The scope is checked when the doctor asks for the data. VT checks the dates.
Third, all five checks show PASS, so the decision is ALLOW, and the consent state is ACTIVE.
Possible question: Is this the same code as today? No. This screen is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a:t>
            </a:r>
            <a:r>
              <a:rPr lang="en-US" dirty="0">
                <a:highlight>
                  <a:srgbClr val="FFFF00"/>
                </a:highlight>
              </a:rPr>
              <a:t>First,</a:t>
            </a:r>
            <a:r>
              <a:rPr lang="en-US" dirty="0"/>
              <a:t>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a:t>
            </a:r>
            <a:r>
              <a:rPr lang="en-US" dirty="0">
                <a:highlight>
                  <a:srgbClr val="FFFF00"/>
                </a:highlight>
              </a:rPr>
              <a:t>Second,</a:t>
            </a:r>
            <a:r>
              <a:rPr lang="en-US" dirty="0"/>
              <a:t> on the right is the gas used by the five anchored transactions. Gas is the unit of computing work on Ethereum. The first two bars are </a:t>
            </a:r>
            <a:r>
              <a:rPr lang="en-US" dirty="0">
                <a:highlight>
                  <a:srgbClr val="FFFF00"/>
                </a:highlight>
              </a:rPr>
              <a:t>for</a:t>
            </a:r>
            <a:r>
              <a:rPr lang="en-US" dirty="0"/>
              <a:t> token 8</a:t>
            </a:r>
            <a:r>
              <a:rPr lang="en-US" dirty="0">
                <a:highlight>
                  <a:srgbClr val="FFFF00"/>
                </a:highlight>
              </a:rPr>
              <a:t>,</a:t>
            </a:r>
            <a:r>
              <a:rPr lang="en-US" dirty="0"/>
              <a:t> from the earlier deployment. The other three are on the current contract, ConsentSBTv3.
</a:t>
            </a:r>
            <a:r>
              <a:rPr lang="en-US" dirty="0">
                <a:highlight>
                  <a:srgbClr val="FFFF00"/>
                </a:highlight>
              </a:rPr>
              <a:t>Third, compare the bars.</a:t>
            </a:r>
            <a:r>
              <a:rPr lang="en-US" dirty="0"/>
              <a:t>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a:t>
            </a:r>
            <a:r>
              <a:rPr lang="en-US" dirty="0">
                <a:highlight>
                  <a:srgbClr val="FFFF00"/>
                </a:highlight>
              </a:rPr>
              <a:t>In scenario 5, the consent was revoked, so the request was refused.</a:t>
            </a:r>
            <a:r>
              <a:rPr lang="en-US" dirty="0"/>
              <a:t>
</a:t>
            </a:r>
            <a:r>
              <a:rPr lang="en-US" dirty="0">
                <a:highlight>
                  <a:srgbClr val="FFFF00"/>
                </a:highlight>
              </a:rPr>
              <a:t>The third row is the thirteen attack scenarios, A1 to A13. Twelve of them are refused.</a:t>
            </a:r>
            <a:r>
              <a:rPr lang="en-US" dirty="0"/>
              <a:t> A11 is different. A rewritten audit event changes its digest, but nothing in the prototype compares the digest yet.
</a:t>
            </a:r>
            <a:r>
              <a:rPr lang="en-US" dirty="0">
                <a:highlight>
                  <a:srgbClr val="FFFF00"/>
                </a:highlight>
              </a:rPr>
              <a:t>The next slide shows these thirteen attacks in detail.</a:t>
            </a:r>
            <a:r>
              <a:rPr lang="en-US" dirty="0"/>
              <a:t>
The fourth row is the automated tests. </a:t>
            </a:r>
            <a:r>
              <a:rPr lang="en-US" dirty="0">
                <a:highlight>
                  <a:srgbClr val="FFFF00"/>
                </a:highlight>
              </a:rPr>
              <a:t>There are 32 functional and regression tests and 14 adversarial tests. All 46 pass.</a:t>
            </a:r>
            <a:r>
              <a:rPr lang="en-US" dirty="0"/>
              <a:t>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a:t>
            </a:r>
            <a:r>
              <a:rPr lang="en-US" dirty="0">
                <a:highlight>
                  <a:srgbClr val="FFFF00"/>
                </a:highlight>
              </a:rPr>
              <a:t>The table lists thirteen attack scenarios, A1 to A13.</a:t>
            </a:r>
            <a:r>
              <a:rPr lang="en-US" dirty="0"/>
              <a:t> The dots show which part each attack targets. I is identity, A is </a:t>
            </a:r>
            <a:r>
              <a:rPr lang="en-US" dirty="0">
                <a:highlight>
                  <a:srgbClr val="FFFF00"/>
                </a:highlight>
              </a:rPr>
              <a:t>authorisation</a:t>
            </a:r>
            <a:r>
              <a:rPr lang="en-US" dirty="0"/>
              <a:t>, P is policy and scope, T is time, L is </a:t>
            </a:r>
            <a:r>
              <a:rPr lang="en-US" dirty="0">
                <a:highlight>
                  <a:srgbClr val="FFFF00"/>
                </a:highlight>
              </a:rPr>
              <a:t>lifecycle</a:t>
            </a:r>
            <a:r>
              <a:rPr lang="en-US" dirty="0"/>
              <a:t>,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t>
            </a:r>
            <a:r>
              <a:rPr lang="en-US" dirty="0">
                <a:highlight>
                  <a:srgbClr val="FFFF00"/>
                </a:highlight>
              </a:rPr>
              <a:t>After the hardening, eleven of the first twelve are refused, and all 46 automated tests pass. A13, an invalid or forged credential, came with the credential check on 11 October 2026 and is refused too; before that change, a requester without a valid credential was accepted.</a:t>
            </a:r>
            <a:r>
              <a:rPr lang="en-US" dirty="0"/>
              <a:t>
A11 is different. A rewritten audit event changes its digest, but no part of the prototype compares the digest yet. </a:t>
            </a:r>
            <a:r>
              <a:rPr lang="en-US" dirty="0">
                <a:highlight>
                  <a:srgbClr val="FFFF00"/>
                </a:highlight>
              </a:rPr>
              <a:t>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a:t>
            </a:r>
            <a:r>
              <a:rPr lang="en-US" dirty="0">
                <a:highlight>
                  <a:srgbClr val="FFFF00"/>
                </a:highlight>
              </a:rPr>
              <a:t>The mint runs in the background, so the guardians and the doctor do not wait for it; a revoke makes the patient wait for the block.</a:t>
            </a:r>
            <a:r>
              <a:rPr lang="en-US" dirty="0"/>
              <a:t>
Processing time is the time of each part of a decision. </a:t>
            </a:r>
            <a:r>
              <a:rPr lang="en-US" dirty="0">
                <a:highlight>
                  <a:srgbClr val="FFFF00"/>
                </a:highlight>
              </a:rPr>
              <a:t>The five checks of the decision rule take about 6 microseconds, and checking one credential about 6 milliseconds.</a:t>
            </a:r>
            <a:r>
              <a:rPr lang="en-US" dirty="0"/>
              <a:t> </a:t>
            </a:r>
            <a:r>
              <a:rPr lang="en-US" dirty="0">
                <a:highlight>
                  <a:srgbClr val="FFFF00"/>
                </a:highlight>
              </a:rPr>
              <a:t>Checking one guardian signature takes about 11 milliseconds.</a:t>
            </a:r>
            <a:r>
              <a:rPr lang="en-US" dirty="0"/>
              <a:t> The Groth16 proof is the slow part, about 1.4 seconds to generate and 0.47 seconds to verify.
The last row is the on-chain read. Reading the contract on Sepolia takes a little over half a second.
</a:t>
            </a:r>
            <a:r>
              <a:rPr lang="en-US" dirty="0">
                <a:highlight>
                  <a:srgbClr val="FFFF00"/>
                </a:highlight>
              </a:rPr>
              <a:t>I measured the timings on 1 October 2026, in one container, and the decision rule and the credential check again on 11 October 2026. The gas, the fees and the latency come from the five Sepolia transactions of September 2026. The results are indicative only.</a:t>
            </a:r>
            <a:r>
              <a:rPr lang="en-US" dirty="0"/>
              <a:t>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a:t>
            </a:r>
            <a:r>
              <a:rPr lang="en-US" dirty="0">
                <a:highlight>
                  <a:srgbClr val="FFFF00"/>
                </a:highlight>
              </a:rPr>
              <a:t>I measured the timings on 1 October 2026, in the development container I used for the demonstration, and the decision rule and the credential check again on 11 October 2026, after the credential check was added. The anchoring times come from the five Sepolia transactions of September 2026. The results are indicative only.</a:t>
            </a:r>
            <a:r>
              <a:rPr lang="en-US" dirty="0"/>
              <a:t>
In the table, the median is the middle value. The column n is how many times I measured each step. The symbol µs means microseconds, and ms means milliseconds.
</a:t>
            </a:r>
            <a:r>
              <a:rPr lang="en-US" dirty="0">
                <a:highlight>
                  <a:srgbClr val="FFFF00"/>
                </a:highlight>
              </a:rPr>
              <a:t>The decision rule with its five checks takes about 6 microseconds, so the checks themselves cost almost nothing. Checking one credential takes about 6 milliseconds.</a:t>
            </a:r>
            <a:r>
              <a:rPr lang="en-US" dirty="0"/>
              <a:t>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a:t>
            </a:r>
            <a:r>
              <a:rPr lang="en-US" dirty="0">
                <a:highlight>
                  <a:srgbClr val="FFFF00"/>
                </a:highlight>
              </a:rPr>
              <a:t>But the mint runs in the background, so the guardians and the doctor do not wait for it; a revoke makes the patient wait for the block.</a:t>
            </a:r>
            <a:r>
              <a:rPr lang="en-US" dirty="0"/>
              <a: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a:t>
            </a:r>
            <a:r>
              <a:rPr lang="en-US" dirty="0">
                <a:highlight>
                  <a:srgbClr val="FFFF00"/>
                </a:highlight>
              </a:rPr>
              <a:t>every access decision, allowed or denied, is logged off-chain</a:t>
            </a:r>
            <a:r>
              <a:rPr lang="en-US" dirty="0"/>
              <a:t>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a:t>
            </a:r>
            <a:r>
              <a:rPr lang="en-US" dirty="0">
                <a:highlight>
                  <a:srgbClr val="FFFF00"/>
                </a:highlight>
              </a:rPr>
              <a:t>On-chain record: the ConsentSBTv3 token stores pseudonymous patient and requester addresses, a hash of the purpose, the validity window and a revocation flag.</a:t>
            </a:r>
            <a:r>
              <a:rPr lang="en-US" dirty="0"/>
              <a:t> Pseudonymous means the address does not show a real name.
Access to data: records are released only when the decision is ALLOW, and only inside the authorised scope.
Audit: </a:t>
            </a:r>
            <a:r>
              <a:rPr lang="en-US" dirty="0">
                <a:highlight>
                  <a:srgbClr val="FFFF00"/>
                </a:highlight>
              </a:rPr>
              <a:t>every access decision, allowed or denied, is saved in the off-chain audit ledger</a:t>
            </a:r>
            <a:r>
              <a:rPr lang="en-US" dirty="0"/>
              <a:t>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a:t>
            </a:r>
            <a:r>
              <a:rPr lang="en-US" dirty="0">
                <a:highlight>
                  <a:srgbClr val="FFFF00"/>
                </a:highlight>
              </a:rPr>
              <a:t>lifecycle</a:t>
            </a:r>
            <a:r>
              <a:rPr lang="en-US" dirty="0"/>
              <a:t>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t>
            </a:r>
            <a:r>
              <a:rPr lang="en-US" dirty="0">
                <a:highlight>
                  <a:srgbClr val="FFFF00"/>
                </a:highlight>
              </a:rPr>
              <a:t>and I evaluated it with measurements and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a:t>
            </a:r>
            <a:r>
              <a:rPr lang="en-US" dirty="0">
                <a:highlight>
                  <a:srgbClr val="FFFF00"/>
                </a:highlight>
              </a:rPr>
              <a:t>Chapter 6, the solution for RQ1 to RQ4 and the HALAH prototype, ran from July to October 2026 and is done.</a:t>
            </a:r>
            <a:r>
              <a:rPr lang="en-US" dirty="0"/>
              <a:t>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a:t>
            </a:r>
            <a:r>
              <a:rPr lang="en-US" dirty="0">
                <a:highlight>
                  <a:srgbClr val="FFFF00"/>
                </a:highlight>
              </a:rPr>
              <a:t>Chapter 6, the proposed solution for RQ1 to RQ4 and the HALAH prototype, ran from July to October 2026 and is done.</a:t>
            </a:r>
            <a:r>
              <a:rPr lang="en-US" dirty="0"/>
              <a:t>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I come to the references. The list has three pages and holds the sources used in these slides: the 25 primary studies of my review, and the standards and tools used in the review and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a:t>
            </a:r>
            <a:r>
              <a:rPr lang="en-US" dirty="0">
                <a:highlight>
                  <a:srgbClr val="FFFF00"/>
                </a:highlight>
              </a:rPr>
              <a:t>The token stores pseudonymous addresses, a hash of the purpose, the validity window and a revocation flag, and no medical content.</a:t>
            </a:r>
            <a:r>
              <a:rPr lang="en-US" dirty="0"/>
              <a:t>
Possible question: What is new in this work? Multi-party approval is a standing condition of every access decision, and the patient defines who must approve. </a:t>
            </a:r>
            <a:r>
              <a:rPr lang="en-US" dirty="0">
                <a:highlight>
                  <a:srgbClr val="FFFF00"/>
                </a:highlight>
              </a:rPr>
              <a:t>I tested the prototype against thirteen attack scenarios. Twelve of them are refused.</a:t>
            </a:r>
            <a:r>
              <a:rPr lang="en-US" dirty="0"/>
              <a:t>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4-1.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highlight>
                  <a:srgbClr val="FFFF00"/>
                </a:highlight>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0B1F33"/>
                </a:solidFill>
                <a:highlight>
                  <a:srgbClr val="FFFF00"/>
                </a:highlight>
              </a:rPr>
              <a:t>Authorisation</a:t>
            </a:r>
            <a:r>
              <a:rPr lang="en-US" sz="1500" dirty="0">
                <a:solidFill>
                  <a:srgbClr val="FFFFFF"/>
                </a:solidFill>
              </a:rPr>
              <a:t> (A: guardian set G, threshold N) · Policy (P: purpose, scope) · Time (T) · </a:t>
            </a:r>
            <a:r>
              <a:rPr lang="en-US" sz="1500" dirty="0">
                <a:solidFill>
                  <a:srgbClr val="0B1F33"/>
                </a:solidFill>
                <a:highlight>
                  <a:srgbClr val="FFFF00"/>
                </a:highlight>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Live scenarios, measurements and 13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0B1F33"/>
                </a:solidFill>
                <a:highlight>
                  <a:srgbClr val="FFFF00"/>
                </a:highlight>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consent object C = (I, A, P, T, L, E) is built and a consent identifier is assigned.</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yellow/ALG1.png">    </p:cNvPr>
          <p:cNvPicPr>
            <a:picLocks noChangeAspect="1"/>
          </p:cNvPicPr>
          <p:nvPr/>
        </p:nvPicPr>
        <p:blipFill>
          <a:blip r:embed="rId1"/>
          <a:stretch>
            <a:fillRect/>
          </a:stretch>
        </p:blipFill>
        <p:spPr>
          <a:xfrm>
            <a:off x="6164780" y="1855182"/>
            <a:ext cx="5455520"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yellow/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participant's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VI(u) = VerifyDID(u) ∧ VerifyVC(u) ∧ Authority(u, C).</a:t>
            </a:r>
            <a:endParaRPr lang="en-US" sz="1500" dirty="0"/>
          </a:p>
          <a:p>
            <a:pPr marL="342900" indent="-342900">
              <a:spcAft>
                <a:spcPts val="1000"/>
              </a:spcAft>
              <a:buSzPct val="100000"/>
              <a:buChar char="•"/>
            </a:pPr>
            <a:r>
              <a:rPr lang="en-US" sz="1500" dirty="0">
                <a:solidFill>
                  <a:srgbClr val="FFFFFF"/>
                </a:solidFill>
              </a:rPr>
              <a:t>​</a:t>
            </a:r>
            <a:r>
              <a:rPr lang="en-US" sz="15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0B1F33"/>
                </a:solidFill>
                <a:highlight>
                  <a:srgbClr val="FFFF00"/>
                </a:highlight>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yellow/ALG2.png">    </p:cNvPr>
          <p:cNvPicPr>
            <a:picLocks noChangeAspect="1"/>
          </p:cNvPicPr>
          <p:nvPr/>
        </p:nvPicPr>
        <p:blipFill>
          <a:blip r:embed="rId1"/>
          <a:stretch>
            <a:fillRect/>
          </a:stretch>
        </p:blipFill>
        <p:spPr>
          <a:xfrm>
            <a:off x="6405761" y="1073504"/>
            <a:ext cx="4973558" cy="5305352"/>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verified by signature recovery.</a:t>
            </a:r>
            <a:endParaRPr lang="en-US" sz="1450" dirty="0"/>
          </a:p>
          <a:p>
            <a:pPr marL="342900" indent="-342900">
              <a:spcAft>
                <a:spcPts val="1000"/>
              </a:spcAft>
              <a:buSzPct val="100000"/>
              <a:buChar char="•"/>
            </a:pPr>
            <a:r>
              <a:rPr lang="en-US" sz="1450" dirty="0">
                <a:solidFill>
                  <a:srgbClr val="FFFFFF"/>
                </a:solidFill>
              </a:rPr>
              <a:t>​</a:t>
            </a:r>
            <a:r>
              <a:rPr lang="en-US" sz="1450" dirty="0">
                <a:solidFill>
                  <a:srgbClr val="0B1F33"/>
                </a:solidFill>
                <a:highlight>
                  <a:srgbClr val="FFFF00"/>
                </a:highlight>
              </a:rPr>
              <a:t>Approvals from outside G and duplicate approvals are not counted; a replayed signature fails the identity check (VI).</a:t>
            </a:r>
            <a:endParaRPr lang="en-US" sz="1450" dirty="0"/>
          </a:p>
          <a:p>
            <a:pPr marL="342900" indent="-342900">
              <a:spcAft>
                <a:spcPts val="1000"/>
              </a:spcAft>
              <a:buSzPct val="100000"/>
              <a:buChar char="•"/>
            </a:pPr>
            <a:r>
              <a:rPr lang="en-US" sz="1450" dirty="0">
                <a:solidFill>
                  <a:srgbClr val="FFFFFF"/>
                </a:solidFill>
              </a:rPr>
              <a:t>N-of-N rule: a valid signature from every listed guardian (2-of-2 in the demo).</a:t>
            </a:r>
            <a:endParaRPr lang="en-US" sz="1450" dirty="0"/>
          </a:p>
          <a:p>
            <a:pPr marL="342900" indent="-342900">
              <a:spcAft>
                <a:spcPts val="1000"/>
              </a:spcAft>
              <a:buSzPct val="100000"/>
              <a:buChar char="•"/>
            </a:pPr>
            <a:r>
              <a:rPr lang="en-US" sz="1450" dirty="0">
                <a:solidFill>
                  <a:srgbClr val="FFFFFF"/>
                </a:solidFill>
              </a:rPr>
              <a:t>When the threshold is met, a local token is recorded and the mint is anchored on Sepolia in the background.</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yellow/ALG3.png">    </p:cNvPr>
          <p:cNvPicPr>
            <a:picLocks noChangeAspect="1"/>
          </p:cNvPicPr>
          <p:nvPr/>
        </p:nvPicPr>
        <p:blipFill>
          <a:blip r:embed="rId1"/>
          <a:stretch>
            <a:fillRect/>
          </a:stretch>
        </p:blipFill>
        <p:spPr>
          <a:xfrm>
            <a:off x="6741964" y="1080769"/>
            <a:ext cx="4301152" cy="529082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yellow/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 scope SR must be a non-empty subset of the authorised scope SC.</a:t>
            </a:r>
            <a:endParaRPr lang="en-US" sz="1550" dirty="0"/>
          </a:p>
          <a:p>
            <a:pPr marL="342900" indent="-342900">
              <a:spcAft>
                <a:spcPts val="1000"/>
              </a:spcAft>
              <a:buSzPct val="100000"/>
              <a:buChar char="•"/>
            </a:pPr>
            <a:r>
              <a:rPr lang="en-US" sz="1550" dirty="0">
                <a:solidFill>
                  <a:srgbClr val="FFFFFF"/>
                </a:solidFill>
              </a:rPr>
              <a:t>The purpose must be a supported healthcare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0B1F33"/>
                </a:solidFill>
                <a:highlight>
                  <a:srgbClr val="FFFF00"/>
                </a:highlight>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 otherwise DENY.</a:t>
            </a:r>
            <a:endParaRPr lang="en-US" sz="1550" dirty="0"/>
          </a:p>
          <a:p>
            <a:pPr marL="342900" indent="-342900">
              <a:spcAft>
                <a:spcPts val="1000"/>
              </a:spcAft>
              <a:buSzPct val="100000"/>
              <a:buChar char="•"/>
            </a:pPr>
            <a:r>
              <a:rPr lang="en-US" sz="1550" dirty="0">
                <a:solidFill>
                  <a:srgbClr val="FFFFFF"/>
                </a:solidFill>
              </a:rPr>
              <a:t>Example: requesting Procedure when only Observation and Medication are allowed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yellow/ALG4.png">    </p:cNvPr>
          <p:cNvPicPr>
            <a:picLocks noChangeAspect="1"/>
          </p:cNvPicPr>
          <p:nvPr/>
        </p:nvPicPr>
        <p:blipFill>
          <a:blip r:embed="rId1"/>
          <a:stretch>
            <a:fillRect/>
          </a:stretch>
        </p:blipFill>
        <p:spPr>
          <a:xfrm>
            <a:off x="6761547" y="1080264"/>
            <a:ext cx="4261985" cy="529183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yellow/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The validity window (notBefore, expiry) is stored on-chain and checked at every request through VT.</a:t>
            </a:r>
            <a:endParaRPr lang="en-US" sz="1350" dirty="0"/>
          </a:p>
          <a:p>
            <a:pPr marL="342900" indent="-342900">
              <a:spcAft>
                <a:spcPts val="1000"/>
              </a:spcAft>
              <a:buSzPct val="100000"/>
              <a:buChar char="•"/>
            </a:pPr>
            <a:r>
              <a:rPr lang="en-US" sz="1350" dirty="0">
                <a:solidFill>
                  <a:srgbClr val="FFFFFF"/>
                </a:solidFill>
              </a:rPr>
              <a:t>Revocation is end to end, including an on-chain revoke transaction.</a:t>
            </a:r>
            <a:endParaRPr lang="en-US" sz="1350" dirty="0"/>
          </a:p>
          <a:p>
            <a:pPr marL="342900" indent="-342900">
              <a:spcAft>
                <a:spcPts val="1000"/>
              </a:spcAft>
              <a:buSzPct val="100000"/>
              <a:buChar char="•"/>
            </a:pPr>
            <a:r>
              <a:rPr lang="en-US" sz="1350" dirty="0">
                <a:solidFill>
                  <a:srgbClr val="FFFFFF"/>
                </a:solidFill>
              </a:rPr>
              <a:t>​</a:t>
            </a:r>
            <a:r>
              <a:rPr lang="en-US" sz="1350" dirty="0">
                <a:solidFill>
                  <a:srgbClr val="0B1F33"/>
                </a:solidFill>
                <a:highlight>
                  <a:srgbClr val="FFFF00"/>
                </a:highlight>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a:t>
            </a:r>
            <a:r>
              <a:rPr lang="en-US" sz="1350" dirty="0">
                <a:solidFill>
                  <a:srgbClr val="0B1F33"/>
                </a:solidFill>
                <a:highlight>
                  <a:srgbClr val="FFFF00"/>
                </a:highlight>
              </a:rPr>
              <a:t>Working now: an</a:t>
            </a:r>
            <a:r>
              <a:rPr lang="en-US" sz="1350" dirty="0">
                <a:solidFill>
                  <a:srgbClr val="FFFFFF"/>
                </a:solidFill>
              </a:rPr>
              <a:t> explicit lifecycle state machine: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0B1F33"/>
                </a:solidFill>
                <a:highlight>
                  <a:srgbClr val="FFFF00"/>
                </a:highlight>
              </a:rPr>
              <a:t>the SUSPENDED state,</a:t>
            </a:r>
            <a:r>
              <a:rPr lang="en-US" sz="1350" dirty="0">
                <a:solidFill>
                  <a:srgbClr val="FFFFFF"/>
                </a:solidFill>
              </a:rPr>
              <a:t>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yellow/ALG5.png">    </p:cNvPr>
          <p:cNvPicPr>
            <a:picLocks noChangeAspect="1"/>
          </p:cNvPicPr>
          <p:nvPr/>
        </p:nvPicPr>
        <p:blipFill>
          <a:blip r:embed="rId1"/>
          <a:stretch>
            <a:fillRect/>
          </a:stretch>
        </p:blipFill>
        <p:spPr>
          <a:xfrm>
            <a:off x="6357807" y="1072422"/>
            <a:ext cx="5069467" cy="5307517"/>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yellow/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Done: 46 automated tests, including thirteen attack scenarios A1 to A13.</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yellow/ALG6.png">    </p:cNvPr>
          <p:cNvPicPr>
            <a:picLocks noChangeAspect="1"/>
          </p:cNvPicPr>
          <p:nvPr/>
        </p:nvPicPr>
        <p:blipFill>
          <a:blip r:embed="rId1"/>
          <a:stretch>
            <a:fillRect/>
          </a:stretch>
        </p:blipFill>
        <p:spPr>
          <a:xfrm>
            <a:off x="6165068" y="1829116"/>
            <a:ext cx="5454943"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yellow/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IMPLEMENTATION: A REAL SCENARIO</a:t>
            </a:r>
            <a:endParaRPr lang="en-US" sz="3000" dirty="0"/>
          </a:p>
        </p:txBody>
      </p:sp>
      <p:sp>
        <p:nvSpPr>
          <p:cNvPr id="4" name="F27x panel"/>
          <p:cNvSpPr/>
          <p:nvPr/>
        </p:nvSpPr>
        <p:spPr>
          <a:xfrm>
            <a:off x="2898648" y="1188720"/>
            <a:ext cx="64008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x" descr="/tmp/deck/img/yellow/F27x.png">    </p:cNvPr>
          <p:cNvPicPr>
            <a:picLocks noChangeAspect="1"/>
          </p:cNvPicPr>
          <p:nvPr/>
        </p:nvPicPr>
        <p:blipFill>
          <a:blip r:embed="rId1"/>
          <a:stretch>
            <a:fillRect/>
          </a:stretch>
        </p:blipFill>
        <p:spPr>
          <a:xfrm>
            <a:off x="3008376" y="1354535"/>
            <a:ext cx="6181344" cy="4148929"/>
          </a:xfrm>
          <a:prstGeom prst="rect">
            <a:avLst/>
          </a:prstGeom>
        </p:spPr>
      </p:pic>
      <p:sp>
        <p:nvSpPr>
          <p:cNvPr id="6" name="caption"/>
          <p:cNvSpPr txBox="1"/>
          <p:nvPr/>
        </p:nvSpPr>
        <p:spPr>
          <a:xfrm>
            <a:off x="1984248" y="5806440"/>
            <a:ext cx="822960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consent f050c29a, 24 September 2026 (shown in two parts).</a:t>
            </a:r>
            <a:r>
              <a:rPr lang="en-US" sz="1200" i="1" dirty="0">
                <a:solidFill>
                  <a:srgbClr val="FFFFFF"/>
                </a:solidFill>
              </a:rPr>
              <a:t> 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Deliberate attempts to bypass a condition,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Refused / 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32 functional and regression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13248"/>
          </a:xfrm>
          <a:prstGeom prst="roundRect">
            <a:avLst>
              <a:gd name="adj" fmla="val 20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yellow/F43.png">    </p:cNvPr>
          <p:cNvPicPr>
            <a:picLocks noChangeAspect="1"/>
          </p:cNvPicPr>
          <p:nvPr/>
        </p:nvPicPr>
        <p:blipFill>
          <a:blip r:embed="rId1"/>
          <a:stretch>
            <a:fillRect/>
          </a:stretch>
        </p:blipFill>
        <p:spPr>
          <a:xfrm>
            <a:off x="759592" y="1207008"/>
            <a:ext cx="6344655" cy="5193792"/>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13</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
            </a:r>
            <a:r>
              <a:rPr lang="en-US" sz="1800" dirty="0">
                <a:solidFill>
                  <a:srgbClr val="0B1F33"/>
                </a:solidFill>
                <a:highlight>
                  <a:srgbClr val="FFFF00"/>
                </a:highlight>
              </a:rPr>
              <a:t>attack scenarios, A1 to A13</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12 / 13</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
            </a:r>
            <a:r>
              <a:rPr lang="en-US" sz="1800" dirty="0">
                <a:solidFill>
                  <a:srgbClr val="0B1F33"/>
                </a:solidFill>
                <a:highlight>
                  <a:srgbClr val="FFFF00"/>
                </a:highlight>
              </a:rPr>
              <a:t>refused today (A11 neutral)</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46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143000"/>
          <a:ext cx="10881360" cy="914400"/>
        </p:xfrm>
        <a:graphic>
          <a:graphicData uri="http://schemas.openxmlformats.org/drawingml/2006/table">
            <a:tbl>
              <a:tblPr/>
              <a:tblGrid>
                <a:gridCol w="2377440"/>
                <a:gridCol w="2743200"/>
                <a:gridCol w="2468880"/>
                <a:gridCol w="3291840"/>
              </a:tblGrid>
              <a:tr h="457200">
                <a:tc>
                  <a:txBody>
                    <a:bodyPr/>
                    <a:lstStyle/>
                    <a:p>
                      <a:pPr indent="0" marL="0">
                        <a:buNone/>
                      </a:pPr>
                      <a:r>
                        <a:rPr lang="en-US" sz="1300" b="1" dirty="0">
                          <a:solidFill>
                            <a:srgbClr val="FFFFFF"/>
                          </a:solidFill>
                        </a:rPr>
                        <a:t>Metric</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Definition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Formula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Measured result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Gas 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 consumed by each anchored transaction, from its receipt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Mint #1: 196,406; Revoke #1: 32,980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Transaction fee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paid for each anchored transaction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 gasUsed × gasPrice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 fee above 0.00021 ETH (Sepolia ETH has no monetary value)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Submit-to-confirmation latency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between the local event and the on-chain event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Latency = t(on-chain) − t(local)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Median 11.5 s (4.9 to 22.1 s, n = 5: 3 mints, 2 revokes)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1005840">
                <a:tc>
                  <a:txBody>
                    <a:bodyPr/>
                    <a:lstStyle/>
                    <a:p>
                      <a:pPr indent="0" marL="0">
                        <a:buNone/>
                      </a:pPr>
                      <a:r>
                        <a:rPr lang="en-US" sz="1300" b="1" dirty="0">
                          <a:solidFill>
                            <a:srgbClr val="0B1F33"/>
                          </a:solidFill>
                        </a:rPr>
                        <a:t>Processing time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each decision component over repeated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minimum and maximum over n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Decision rule 5.92 µs and credential check 6.42 ms (11 Oct); EIP‑712 signature recovery 10.93 ms; Groth16 proof 1,401.1 ms to generate, 465.3 ms to verify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B1F33"/>
                          </a:solidFill>
                        </a:rPr>
                        <a:t>On-chain read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a checkValid or checkValidAt call on Sepolia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over n = 20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573.5 ms and 574.6 ms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6126480"/>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yellow/F42.png">    </p:cNvPr>
          <p:cNvPicPr>
            <a:picLocks noChangeAspect="1"/>
          </p:cNvPicPr>
          <p:nvPr/>
        </p:nvPicPr>
        <p:blipFill>
          <a:blip r:embed="rId1"/>
          <a:stretch>
            <a:fillRect/>
          </a:stretch>
        </p:blipFill>
        <p:spPr>
          <a:xfrm>
            <a:off x="6944730" y="1389888"/>
            <a:ext cx="4444261" cy="2532888"/>
          </a:xfrm>
          <a:prstGeom prst="rect">
            <a:avLst/>
          </a:prstGeom>
        </p:spPr>
      </p:pic>
      <p:sp>
        <p:nvSpPr>
          <p:cNvPr id="7"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highlight>
                  <a:srgbClr val="FFFF00"/>
                </a:highlight>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framework runs on Sepolia and is evaluated with measurements and thirteen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a:t>
            </a:r>
            <a:r>
              <a:rPr lang="en-US" sz="1000" i="1" dirty="0">
                <a:solidFill>
                  <a:srgbClr val="0B1F33"/>
                </a:solidFill>
              </a:rPr>
              <a:t>IEEE Access</a:t>
            </a:r>
            <a:r>
              <a:rPr lang="en-US" sz="1000" dirty="0">
                <a:solidFill>
                  <a:srgbClr val="0B1F33"/>
                </a:solidFill>
              </a:rPr>
              <a:t>,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a:t>
            </a:r>
            <a:r>
              <a:rPr lang="en-US" sz="1000" i="1" dirty="0">
                <a:solidFill>
                  <a:srgbClr val="0B1F33"/>
                </a:solidFill>
              </a:rPr>
              <a:t>Proceedings of the 20th International Conference on Security and Cryptography (SECRYPT 2023)</a:t>
            </a:r>
            <a:r>
              <a:rPr lang="en-US" sz="1000" dirty="0">
                <a:solidFill>
                  <a:srgbClr val="0B1F33"/>
                </a:solidFill>
              </a:rPr>
              <a:t>,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a:t>
            </a:r>
            <a:r>
              <a:rPr lang="en-US" sz="1000" i="1" dirty="0">
                <a:solidFill>
                  <a:srgbClr val="0B1F33"/>
                </a:solidFill>
              </a:rPr>
              <a:t>JMIR Medical Informatics</a:t>
            </a:r>
            <a:r>
              <a:rPr lang="en-US" sz="1000" dirty="0">
                <a:solidFill>
                  <a:srgbClr val="0B1F33"/>
                </a:solidFill>
              </a:rPr>
              <a:t>, vol. 9, no. 11, p. e27816, &lt;https://doi.org/10.2196/27816&gt;.</a:t>
            </a:r>
            <a:endParaRPr lang="en-US" sz="1000" dirty="0"/>
          </a:p>
          <a:p>
            <a:pPr indent="0" marL="0">
              <a:spcAft>
                <a:spcPts val="400"/>
              </a:spcAft>
              <a:buNone/>
            </a:pPr>
            <a:r>
              <a:rPr lang="en-US" sz="1000" dirty="0">
                <a:solidFill>
                  <a:srgbClr val="0B1F33"/>
                </a:solidFill>
              </a:rPr>
              <a:t>Bloemen, R., Logvinov, L. &amp; Evans, J. 2017, </a:t>
            </a:r>
            <a:r>
              <a:rPr lang="en-US" sz="1000" i="1" dirty="0">
                <a:solidFill>
                  <a:srgbClr val="0B1F33"/>
                </a:solidFill>
              </a:rPr>
              <a:t>EIP-712: Typed structured data hashing and signing</a:t>
            </a:r>
            <a:r>
              <a:rPr lang="en-US" sz="1000" dirty="0">
                <a:solidFill>
                  <a:srgbClr val="0B1F33"/>
                </a:solidFill>
              </a:rPr>
              <a:t>,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a:t>
            </a:r>
            <a:r>
              <a:rPr lang="en-US" sz="1000" i="1" dirty="0">
                <a:solidFill>
                  <a:srgbClr val="0B1F33"/>
                </a:solidFill>
              </a:rPr>
              <a:t>ERC-5484: Consensual soulbound tokens</a:t>
            </a:r>
            <a:r>
              <a:rPr lang="en-US" sz="1000" dirty="0">
                <a:solidFill>
                  <a:srgbClr val="0B1F33"/>
                </a:solidFill>
              </a:rPr>
              <a:t>,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a:t>
            </a:r>
            <a:r>
              <a:rPr lang="en-US" sz="1000" i="1" dirty="0">
                <a:solidFill>
                  <a:srgbClr val="0B1F33"/>
                </a:solidFill>
              </a:rPr>
              <a:t>Scientific Reports</a:t>
            </a:r>
            <a:r>
              <a:rPr lang="en-US" sz="1000" dirty="0">
                <a:solidFill>
                  <a:srgbClr val="0B1F33"/>
                </a:solidFill>
              </a:rPr>
              <a:t>,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a:t>
            </a:r>
            <a:r>
              <a:rPr lang="en-US" sz="1000" i="1" dirty="0">
                <a:solidFill>
                  <a:srgbClr val="0B1F33"/>
                </a:solidFill>
              </a:rPr>
              <a:t>2026 IEEE International Conference on Blockchain and Cryptocurrency (ICBC)</a:t>
            </a:r>
            <a:r>
              <a:rPr lang="en-US" sz="1000" dirty="0">
                <a:solidFill>
                  <a:srgbClr val="0B1F33"/>
                </a:solidFill>
              </a:rPr>
              <a:t>,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a:t>
            </a:r>
            <a:r>
              <a:rPr lang="en-US" sz="1000" i="1" dirty="0">
                <a:solidFill>
                  <a:srgbClr val="0B1F33"/>
                </a:solidFill>
              </a:rPr>
              <a:t>ERC-721: Non-fungible token standard</a:t>
            </a:r>
            <a:r>
              <a:rPr lang="en-US" sz="1000" dirty="0">
                <a:solidFill>
                  <a:srgbClr val="0B1F33"/>
                </a:solidFill>
              </a:rPr>
              <a:t>,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a:t>
            </a:r>
            <a:r>
              <a:rPr lang="en-US" sz="1000" i="1" dirty="0">
                <a:solidFill>
                  <a:srgbClr val="0B1F33"/>
                </a:solidFill>
              </a:rPr>
              <a:t>Networks</a:t>
            </a:r>
            <a:r>
              <a:rPr lang="en-US" sz="1000" dirty="0">
                <a:solidFill>
                  <a:srgbClr val="0B1F33"/>
                </a:solidFill>
              </a:rPr>
              <a:t>,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a:t>
            </a:r>
            <a:r>
              <a:rPr lang="en-US" sz="1000" i="1" dirty="0">
                <a:solidFill>
                  <a:srgbClr val="0B1F33"/>
                </a:solidFill>
              </a:rPr>
              <a:t>Proceedings of the 30th USENIX Security Symposium</a:t>
            </a:r>
            <a:r>
              <a:rPr lang="en-US" sz="1000" dirty="0">
                <a:solidFill>
                  <a:srgbClr val="0B1F33"/>
                </a:solidFill>
              </a:rPr>
              <a:t>, pp. 519–535.</a:t>
            </a:r>
            <a:endParaRPr lang="en-US" sz="1000" dirty="0"/>
          </a:p>
          <a:p>
            <a:pPr indent="0" marL="0">
              <a:spcAft>
                <a:spcPts val="400"/>
              </a:spcAft>
              <a:buNone/>
            </a:pPr>
            <a:r>
              <a:rPr lang="en-US" sz="1000" dirty="0">
                <a:solidFill>
                  <a:srgbClr val="0B1F33"/>
                </a:solidFill>
              </a:rPr>
              <a:t>Groth, J. 2016, 'On the size of pairing-based non-interactive arguments', </a:t>
            </a:r>
            <a:r>
              <a:rPr lang="en-US" sz="1000" i="1" dirty="0">
                <a:solidFill>
                  <a:srgbClr val="0B1F33"/>
                </a:solidFill>
              </a:rPr>
              <a:t>Advances in Cryptology – EUROCRYPT 2016, LNCS</a:t>
            </a:r>
            <a:r>
              <a:rPr lang="en-US" sz="1000" dirty="0">
                <a:solidFill>
                  <a:srgbClr val="0B1F33"/>
                </a:solidFill>
              </a:rPr>
              <a:t>,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a:t>
            </a:r>
            <a:r>
              <a:rPr lang="en-US" sz="1000" i="1" dirty="0">
                <a:solidFill>
                  <a:srgbClr val="0B1F33"/>
                </a:solidFill>
              </a:rPr>
              <a:t>International Journal of Medical Informatics</a:t>
            </a:r>
            <a:r>
              <a:rPr lang="en-US" sz="1000" dirty="0">
                <a:solidFill>
                  <a:srgbClr val="0B1F33"/>
                </a:solidFill>
              </a:rPr>
              <a:t>,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a:t>
            </a:r>
            <a:r>
              <a:rPr lang="en-US" sz="1000" i="1" dirty="0">
                <a:solidFill>
                  <a:srgbClr val="0B1F33"/>
                </a:solidFill>
              </a:rPr>
              <a:t>2026 6th International Conference on Expert Clouds and Applications (ICOECA)</a:t>
            </a:r>
            <a:r>
              <a:rPr lang="en-US" sz="1000" dirty="0">
                <a:solidFill>
                  <a:srgbClr val="0B1F33"/>
                </a:solidFill>
              </a:rPr>
              <a:t>, pp. 293–300, &lt;https://doi.org/10.1109/ICOECA68095.2026.11485301&gt;.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a:t>
            </a:r>
            <a:r>
              <a:rPr lang="en-US" sz="1000" i="1" dirty="0">
                <a:solidFill>
                  <a:srgbClr val="0B1F33"/>
                </a:solidFill>
              </a:rPr>
              <a:t>IEEE Access</a:t>
            </a:r>
            <a:r>
              <a:rPr lang="en-US" sz="1000" dirty="0">
                <a:solidFill>
                  <a:srgbClr val="0B1F33"/>
                </a:solidFill>
              </a:rPr>
              <a:t>,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a:t>
            </a:r>
            <a:r>
              <a:rPr lang="en-US" sz="1000" i="1" dirty="0">
                <a:solidFill>
                  <a:srgbClr val="0B1F33"/>
                </a:solidFill>
              </a:rPr>
              <a:t>IEEE Internet of Things Journal</a:t>
            </a:r>
            <a:r>
              <a:rPr lang="en-US" sz="1000" dirty="0">
                <a:solidFill>
                  <a:srgbClr val="0B1F33"/>
                </a:solidFill>
              </a:rPr>
              <a:t>,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a:t>
            </a:r>
            <a:r>
              <a:rPr lang="en-US" sz="1000" i="1" dirty="0">
                <a:solidFill>
                  <a:srgbClr val="0B1F33"/>
                </a:solidFill>
              </a:rPr>
              <a:t>IEEE Access</a:t>
            </a:r>
            <a:r>
              <a:rPr lang="en-US" sz="1000" dirty="0">
                <a:solidFill>
                  <a:srgbClr val="0B1F33"/>
                </a:solidFill>
              </a:rPr>
              <a:t>,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a:t>
            </a:r>
            <a:r>
              <a:rPr lang="en-US" sz="1000" i="1" dirty="0">
                <a:solidFill>
                  <a:srgbClr val="0B1F33"/>
                </a:solidFill>
              </a:rPr>
              <a:t>IEEE Transactions on Network and Service Management</a:t>
            </a:r>
            <a:r>
              <a:rPr lang="en-US" sz="1000" dirty="0">
                <a:solidFill>
                  <a:srgbClr val="0B1F33"/>
                </a:solidFill>
              </a:rPr>
              <a: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a:t>
            </a:r>
            <a:r>
              <a:rPr lang="en-US" sz="1000" i="1" dirty="0">
                <a:solidFill>
                  <a:srgbClr val="0B1F33"/>
                </a:solidFill>
              </a:rPr>
              <a:t>IEEE Internet of Things Journal</a:t>
            </a:r>
            <a:r>
              <a:rPr lang="en-US" sz="1000" dirty="0">
                <a:solidFill>
                  <a:srgbClr val="0B1F33"/>
                </a:solidFill>
              </a:rPr>
              <a:t>,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a:t>
            </a:r>
            <a:r>
              <a:rPr lang="en-US" sz="1000" i="1" dirty="0">
                <a:solidFill>
                  <a:srgbClr val="0B1F33"/>
                </a:solidFill>
              </a:rPr>
              <a:t>BMJ</a:t>
            </a:r>
            <a:r>
              <a:rPr lang="en-US" sz="1000" dirty="0">
                <a:solidFill>
                  <a:srgbClr val="0B1F33"/>
                </a:solidFill>
              </a:rPr>
              <a:t>,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a:t>
            </a:r>
            <a:r>
              <a:rPr lang="en-US" sz="1000" i="1" dirty="0">
                <a:solidFill>
                  <a:srgbClr val="0B1F33"/>
                </a:solidFill>
              </a:rPr>
              <a:t>Electronics</a:t>
            </a:r>
            <a:r>
              <a:rPr lang="en-US" sz="1000" dirty="0">
                <a:solidFill>
                  <a:srgbClr val="0B1F33"/>
                </a:solidFill>
              </a:rPr>
              <a:t>,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a:t>
            </a:r>
            <a:r>
              <a:rPr lang="en-US" sz="1000" i="1" dirty="0">
                <a:solidFill>
                  <a:srgbClr val="0B1F33"/>
                </a:solidFill>
              </a:rPr>
              <a:t>Blockchain in Healthcare Today</a:t>
            </a:r>
            <a:r>
              <a:rPr lang="en-US" sz="1000" dirty="0">
                <a:solidFill>
                  <a:srgbClr val="0B1F33"/>
                </a:solidFill>
              </a:rPr>
              <a:t>,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a:t>
            </a:r>
            <a:r>
              <a:rPr lang="en-US" sz="1000" i="1" dirty="0">
                <a:solidFill>
                  <a:srgbClr val="0B1F33"/>
                </a:solidFill>
              </a:rPr>
              <a:t>IEEE Access</a:t>
            </a:r>
            <a:r>
              <a:rPr lang="en-US" sz="1000" dirty="0">
                <a:solidFill>
                  <a:srgbClr val="0B1F33"/>
                </a:solidFill>
              </a:rPr>
              <a:t>,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a:t>
            </a:r>
            <a:r>
              <a:rPr lang="en-US" sz="1000" i="1" dirty="0">
                <a:solidFill>
                  <a:srgbClr val="0B1F33"/>
                </a:solidFill>
              </a:rPr>
              <a:t>Journal of Cloud Computing</a:t>
            </a:r>
            <a:r>
              <a:rPr lang="en-US" sz="1000" dirty="0">
                <a:solidFill>
                  <a:srgbClr val="0B1F33"/>
                </a:solidFill>
              </a:rPr>
              <a:t>,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a:t>
            </a:r>
            <a:r>
              <a:rPr lang="en-US" sz="1000" i="1" dirty="0">
                <a:solidFill>
                  <a:srgbClr val="0B1F33"/>
                </a:solidFill>
              </a:rPr>
              <a:t>IEEE Access</a:t>
            </a:r>
            <a:r>
              <a:rPr lang="en-US" sz="1000" dirty="0">
                <a:solidFill>
                  <a:srgbClr val="0B1F33"/>
                </a:solidFill>
              </a:rPr>
              <a:t>, vol. 11, pp. 12727–12741, &lt;https://doi.org/10.1109/ACCESS.2023.3242605&gt;.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a:t>
            </a:r>
            <a:r>
              <a:rPr lang="en-US" sz="1000" i="1" dirty="0">
                <a:solidFill>
                  <a:srgbClr val="0B1F33"/>
                </a:solidFill>
              </a:rPr>
              <a:t>JAMIA Open</a:t>
            </a:r>
            <a:r>
              <a:rPr lang="en-US" sz="1000" dirty="0">
                <a:solidFill>
                  <a:srgbClr val="0B1F33"/>
                </a:solidFill>
              </a:rPr>
              <a:t>,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a:t>
            </a:r>
            <a:r>
              <a:rPr lang="en-US" sz="1000" i="1" dirty="0">
                <a:solidFill>
                  <a:srgbClr val="0B1F33"/>
                </a:solidFill>
              </a:rPr>
              <a:t>Wireless Networks</a:t>
            </a:r>
            <a:r>
              <a:rPr lang="en-US" sz="1000" dirty="0">
                <a:solidFill>
                  <a:srgbClr val="0B1F33"/>
                </a:solidFill>
              </a:rPr>
              <a:t>,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a:t>
            </a:r>
            <a:r>
              <a:rPr lang="en-US" sz="1000" i="1" dirty="0">
                <a:solidFill>
                  <a:srgbClr val="0B1F33"/>
                </a:solidFill>
              </a:rPr>
              <a:t>Healthcare Informatics Research</a:t>
            </a:r>
            <a:r>
              <a:rPr lang="en-US" sz="1000" dirty="0">
                <a:solidFill>
                  <a:srgbClr val="0B1F33"/>
                </a:solidFill>
              </a:rPr>
              <a:t>,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a:t>
            </a:r>
            <a:r>
              <a:rPr lang="en-US" sz="1000" i="1" dirty="0">
                <a:solidFill>
                  <a:srgbClr val="0B1F33"/>
                </a:solidFill>
              </a:rPr>
              <a:t>Patterns</a:t>
            </a:r>
            <a:r>
              <a:rPr lang="en-US" sz="1000" dirty="0">
                <a:solidFill>
                  <a:srgbClr val="0B1F33"/>
                </a:solidFill>
              </a:rPr>
              <a:t>,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a:t>
            </a:r>
            <a:r>
              <a:rPr lang="en-US" sz="1000" i="1" dirty="0">
                <a:solidFill>
                  <a:srgbClr val="0B1F33"/>
                </a:solidFill>
              </a:rPr>
              <a:t>Technologies</a:t>
            </a:r>
            <a:r>
              <a:rPr lang="en-US" sz="1000" dirty="0">
                <a:solidFill>
                  <a:srgbClr val="0B1F33"/>
                </a:solidFill>
              </a:rPr>
              <a:t>,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a:t>
            </a:r>
            <a:r>
              <a:rPr lang="en-US" sz="1000" i="1" dirty="0">
                <a:solidFill>
                  <a:srgbClr val="0B1F33"/>
                </a:solidFill>
              </a:rPr>
              <a:t>Journal of the American Medical Informatics Association</a:t>
            </a:r>
            <a:r>
              <a:rPr lang="en-US" sz="1000" dirty="0">
                <a:solidFill>
                  <a:srgbClr val="0B1F33"/>
                </a:solidFill>
              </a:rPr>
              <a:t>, vol. 25, no. 3, pp. 230–238, &lt;https://doi.org/10.1093/jamia/ocx079&gt;.</a:t>
            </a:r>
            <a:endParaRPr lang="en-US" sz="1000" dirty="0"/>
          </a:p>
          <a:p>
            <a:pPr indent="0" marL="0">
              <a:spcAft>
                <a:spcPts val="400"/>
              </a:spcAft>
              <a:buNone/>
            </a:pPr>
            <a:r>
              <a:rPr lang="en-US" sz="1000" dirty="0">
                <a:solidFill>
                  <a:srgbClr val="0B1F33"/>
                </a:solidFill>
              </a:rPr>
              <a:t>Wood, G. 2014, </a:t>
            </a:r>
            <a:r>
              <a:rPr lang="en-US" sz="1000" i="1" dirty="0">
                <a:solidFill>
                  <a:srgbClr val="0B1F33"/>
                </a:solidFill>
              </a:rPr>
              <a:t>Ethereum: A secure decentralised generalised transaction ledger</a:t>
            </a:r>
            <a:r>
              <a:rPr lang="en-US" sz="1000" dirty="0">
                <a:solidFill>
                  <a:srgbClr val="0B1F33"/>
                </a:solidFill>
              </a:rPr>
              <a:t>,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a:t>
            </a:r>
            <a:r>
              <a:rPr lang="en-US" sz="1000" i="1" dirty="0">
                <a:solidFill>
                  <a:srgbClr val="0B1F33"/>
                </a:solidFill>
              </a:rPr>
              <a:t>Proceedings of the International Conference on Deep Learning, Big Data and Blockchain (DBB 2022), LNNS</a:t>
            </a:r>
            <a:r>
              <a:rPr lang="en-US" sz="1000" dirty="0">
                <a:solidFill>
                  <a:srgbClr val="0B1F33"/>
                </a:solidFill>
              </a:rPr>
              <a:t>,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a:t>
            </a:r>
            <a:r>
              <a:rPr lang="en-US" sz="1000" i="1" dirty="0">
                <a:solidFill>
                  <a:srgbClr val="0B1F33"/>
                </a:solidFill>
              </a:rPr>
              <a:t>Computer Standards &amp; Interfaces</a:t>
            </a:r>
            <a:r>
              <a:rPr lang="en-US" sz="1000" dirty="0">
                <a:solidFill>
                  <a:srgbClr val="0B1F33"/>
                </a:solidFill>
              </a:rPr>
              <a:t>,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a:t>
            </a:r>
            <a:r>
              <a:rPr lang="en-US" sz="1000" i="1" dirty="0">
                <a:solidFill>
                  <a:srgbClr val="0B1F33"/>
                </a:solidFill>
              </a:rPr>
              <a:t>Computers &amp; Security</a:t>
            </a:r>
            <a:r>
              <a:rPr lang="en-US" sz="1000" dirty="0">
                <a:solidFill>
                  <a:srgbClr val="0B1F33"/>
                </a:solidFill>
              </a:rPr>
              <a:t>,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2026-10-12T12:42:16Z</dcterms:created>
  <dcterms:modified xsi:type="dcterms:W3CDTF">2026-10-12T12:42:16Z</dcterms:modified>
</cp:coreProperties>
</file>
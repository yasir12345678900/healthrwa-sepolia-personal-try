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508322e0-b5a4-02f0-59cb-e7e1c64b284a}">
          <p14:sldIdLst>
            <p14:sldId id="256"/>
          </p14:sldIdLst>
        </p14:section>
        <p14:section name="Outline" id="{5ed699e7-1e0f-a653-e851-1cece8d5281a}">
          <p14:sldIdLst>
            <p14:sldId id="257"/>
          </p14:sldIdLst>
        </p14:section>
        <p14:section name="Introduction" id="{61fe84ed-b580-cff0-e2a6-592b0d3370dd}">
          <p14:sldIdLst>
            <p14:sldId id="258"/>
            <p14:sldId id="259"/>
          </p14:sldIdLst>
        </p14:section>
        <p14:section name="Systematic Literature Review" id="{e6c13656-a9ce-932d-072f-0d9e233af256}">
          <p14:sldIdLst>
            <p14:sldId id="260"/>
            <p14:sldId id="261"/>
            <p14:sldId id="262"/>
            <p14:sldId id="263"/>
            <p14:sldId id="264"/>
            <p14:sldId id="265"/>
            <p14:sldId id="266"/>
            <p14:sldId id="267"/>
          </p14:sldIdLst>
        </p14:section>
        <p14:section name="Research Gap" id="{f825dab4-efe4-b89a-b67a-95ee4ea3f6bf}">
          <p14:sldIdLst>
            <p14:sldId id="268"/>
          </p14:sldIdLst>
        </p14:section>
        <p14:section name="Research Questions" id="{f43ab8d8-3e05-bb8c-4986-6eaf7ef4f12c}">
          <p14:sldIdLst>
            <p14:sldId id="269"/>
            <p14:sldId id="270"/>
          </p14:sldIdLst>
        </p14:section>
        <p14:section name="Research Objectives" id="{7d8d7c8a-c7ae-d7c6-e8ab-988a1c8c60b1}">
          <p14:sldIdLst>
            <p14:sldId id="271"/>
          </p14:sldIdLst>
        </p14:section>
        <p14:section name="Research Methodology" id="{40505b18-b0bb-482e-1b1b-9deca1483275}">
          <p14:sldIdLst>
            <p14:sldId id="272"/>
          </p14:sldIdLst>
        </p14:section>
        <p14:section name="Research Architecture" id="{874f8f7c-9e0a-09ed-99f4-5be90fc5394d}">
          <p14:sldIdLst>
            <p14:sldId id="273"/>
          </p14:sldIdLst>
        </p14:section>
        <p14:section name="The Proposed Solutions" id="{944264a9-73a6-5c5a-d50d-9e99998c4ebf}">
          <p14:sldIdLst>
            <p14:sldId id="274"/>
            <p14:sldId id="275"/>
            <p14:sldId id="276"/>
            <p14:sldId id="277"/>
            <p14:sldId id="278"/>
            <p14:sldId id="279"/>
            <p14:sldId id="280"/>
          </p14:sldIdLst>
        </p14:section>
        <p14:section name="Implementation and Evaluation" id="{b0f30636-8675-8d1a-47c0-0eadd46aafb7}">
          <p14:sldIdLst>
            <p14:sldId id="281"/>
            <p14:sldId id="282"/>
            <p14:sldId id="283"/>
            <p14:sldId id="284"/>
            <p14:sldId id="285"/>
            <p14:sldId id="286"/>
            <p14:sldId id="287"/>
          </p14:sldIdLst>
        </p14:section>
        <p14:section name="Significance of the Research" id="{fa21a4b6-6f9b-8a93-8e8d-de1eeb6d4e26}">
          <p14:sldIdLst>
            <p14:sldId id="288"/>
            <p14:sldId id="289"/>
            <p14:sldId id="290"/>
            <p14:sldId id="291"/>
          </p14:sldIdLst>
        </p14:section>
        <p14:section name="Research Plan" id="{4b487dfb-7a38-0ea8-c920-f2890a268d4d}">
          <p14:sldIdLst>
            <p14:sldId id="292"/>
            <p14:sldId id="293"/>
          </p14:sldIdLst>
        </p14:section>
        <p14:section name="References" id="{cbacecb7-4e80-e98c-47dd-5f805b28c896}">
          <p14:sldIdLst>
            <p14:sldId id="294"/>
            <p14:sldId id="295"/>
            <p14:sldId id="296"/>
          </p14:sldIdLst>
        </p14:section>
        <p14:section name="Thank You" id="{2069fe91-0055-841c-be40-9b4c99d83d6b}">
          <p14:sldIdLst>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a:t>
            </a:r>
            <a:r>
              <a:rPr lang="en-US" dirty="0">
                <a:highlight>
                  <a:srgbClr val="FFFF00"/>
                </a:highlight>
              </a:rPr>
              <a:t>My research title is A Trusted Authorisation Framework for Multi-Party Patient Consent in Healthcare Data Sharing.</a:t>
            </a:r>
            <a:r>
              <a:rPr lang="en-US" dirty="0"/>
              <a:t>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a:t>
            </a:r>
            <a:r>
              <a:rPr lang="en-US" dirty="0">
                <a:highlight>
                  <a:srgbClr val="FFFF00"/>
                </a:highlight>
              </a:rPr>
              <a:t>gap</a:t>
            </a:r>
            <a:r>
              <a:rPr lang="en-US" dirty="0"/>
              <a:t>,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t>
            </a:r>
            <a:r>
              <a:rPr lang="en-US" dirty="0">
                <a:highlight>
                  <a:srgbClr val="FFFF00"/>
                </a:highlight>
              </a:rPr>
              <a:t>and</a:t>
            </a:r>
            <a:r>
              <a:rPr lang="en-US" dirty="0"/>
              <a:t> data scope. Time and lifecycle asks if the consent is still valid, and not expired or revoked.
The dark box brings it together. Consent becomes an object the system can evaluate: C equals I, A, P, T, L, E. That is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a:t>
            </a:r>
            <a:r>
              <a:rPr lang="en-US" dirty="0">
                <a:highlight>
                  <a:srgbClr val="FFFF00"/>
                </a:highlight>
              </a:rPr>
              <a:t>Authorisation</a:t>
            </a:r>
            <a:r>
              <a:rPr lang="en-US" dirty="0"/>
              <a:t> holds the guardian set G and the threshold N, which is the number of approvals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a:t>
            </a:r>
            <a:r>
              <a:rPr lang="en-US" dirty="0">
                <a:highlight>
                  <a:srgbClr val="FFFF00"/>
                </a:highlight>
              </a:rPr>
              <a:t>17 were excluded. One full text could not be retrieved, and the other 1,735 are not assessed yet. That work continues.</a:t>
            </a:r>
            <a:r>
              <a:rPr lang="en-US" dirty="0"/>
              <a:t>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t>
            </a:r>
            <a:r>
              <a:rPr lang="en-US" dirty="0">
                <a:highlight>
                  <a:srgbClr val="FFFF00"/>
                </a:highlight>
              </a:rPr>
              <a:t>and</a:t>
            </a:r>
            <a:r>
              <a:rPr lang="en-US" dirty="0"/>
              <a:t>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a:t>
            </a:r>
            <a:r>
              <a:rPr lang="en-US" dirty="0">
                <a:highlight>
                  <a:srgbClr val="FFFF00"/>
                </a:highlight>
              </a:rPr>
              <a:t>For each study you see the code, the authors, the year, the title and the category.</a:t>
            </a:r>
            <a:r>
              <a:rPr lang="en-US" dirty="0"/>
              <a:t>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a:t>
            </a:r>
            <a:r>
              <a:rPr lang="en-US" dirty="0">
                <a:highlight>
                  <a:srgbClr val="FFFF00"/>
                </a:highlight>
              </a:rPr>
              <a:t>Each row gives the study number, the authors, the year, the title and the category.</a:t>
            </a:r>
            <a:r>
              <a:rPr lang="en-US" dirty="0"/>
              <a:t>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a:t>
            </a:r>
            <a:r>
              <a:rPr lang="en-US" dirty="0">
                <a:highlight>
                  <a:srgbClr val="FFFF00"/>
                </a:highlight>
              </a:rPr>
              <a:t>lifecycle</a:t>
            </a:r>
            <a:r>
              <a:rPr lang="en-US" dirty="0"/>
              <a:t>.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gap leads</a:t>
            </a:r>
            <a:r>
              <a:rPr lang="en-US" dirty="0"/>
              <a:t>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a:t>
            </a:r>
            <a:r>
              <a:rPr lang="en-US" dirty="0">
                <a:highlight>
                  <a:srgbClr val="FFFF00"/>
                </a:highlight>
              </a:rPr>
              <a:t>Next I will add the suspended state and the lifecycle transition check, and extend them to consent changes, delegation and guardian-set changes.</a:t>
            </a:r>
            <a:r>
              <a:rPr lang="en-US" dirty="0"/>
              <a:t>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a:t>
            </a:r>
            <a:r>
              <a:rPr lang="en-US" dirty="0">
                <a:highlight>
                  <a:srgbClr val="FFFF00"/>
                </a:highlight>
              </a:rPr>
              <a:t>research gap</a:t>
            </a:r>
            <a:r>
              <a:rPr lang="en-US" dirty="0"/>
              <a:t>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a:t>
            </a:r>
            <a:r>
              <a:rPr lang="en-US" dirty="0">
                <a:highlight>
                  <a:srgbClr val="FFFF00"/>
                </a:highlight>
              </a:rPr>
              <a:t>It checks the DID format and invokes VC verification.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a:t>
            </a:r>
            <a:r>
              <a:rPr lang="en-US" dirty="0">
                <a:highlight>
                  <a:srgbClr val="FFFF00"/>
                </a:highlight>
              </a:rPr>
              <a:t>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a:t>
            </a:r>
            <a:r>
              <a:rPr lang="en-US" dirty="0"/>
              <a:t>
The points below are simple. If any one check fails, the answer is DENY. In the prototype, a Groth16 zero-knowledge proof must also verify before any data is released. This kind of proof shows something is true without showing the secret behind it. </a:t>
            </a:r>
            <a:r>
              <a:rPr lang="en-US" dirty="0">
                <a:highlight>
                  <a:srgbClr val="FFFF00"/>
                </a:highlight>
              </a:rPr>
              <a:t>Every access decision, allowed or denied, is written to the off-chain audit ledger with its decision matrix.</a:t>
            </a:r>
            <a:r>
              <a:rPr lang="en-US" dirty="0"/>
              <a:t>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t>
            </a:r>
            <a:r>
              <a:rPr lang="en-US" dirty="0">
                <a:highlight>
                  <a:srgbClr val="FFFF00"/>
                </a:highlight>
              </a:rPr>
              <a:t>and</a:t>
            </a:r>
            <a:r>
              <a:rPr lang="en-US" dirty="0"/>
              <a:t> the validity time. In the current interface the purpose is fixed to Treatment. The system then checks the input. For example, an empty data scope or a badly formed guardian DID is rejected.
</a:t>
            </a:r>
            <a:r>
              <a:rPr lang="en-US" dirty="0">
                <a:highlight>
                  <a:srgbClr val="FFFF00"/>
                </a:highlight>
              </a:rPr>
              <a:t>If the input is valid, the system builds the consent object C and assigns a consent identifier.</a:t>
            </a:r>
            <a:r>
              <a:rPr lang="en-US" dirty="0"/>
              <a:t> C has six parts: identity, </a:t>
            </a:r>
            <a:r>
              <a:rPr lang="en-US" dirty="0">
                <a:highlight>
                  <a:srgbClr val="FFFF00"/>
                </a:highlight>
              </a:rPr>
              <a:t>authorisation</a:t>
            </a:r>
            <a:r>
              <a:rPr lang="en-US" dirty="0"/>
              <a:t>, policy and data scope, time, </a:t>
            </a:r>
            <a:r>
              <a:rPr lang="en-US" dirty="0">
                <a:highlight>
                  <a:srgbClr val="FFFF00"/>
                </a:highlight>
              </a:rPr>
              <a:t>lifecycle</a:t>
            </a:r>
            <a:r>
              <a:rPr lang="en-US" dirty="0"/>
              <a:t>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a:t>
            </a:r>
            <a:r>
              <a:rPr lang="en-US" dirty="0">
                <a:highlight>
                  <a:srgbClr val="FFFF00"/>
                </a:highlight>
              </a:rPr>
              <a:t>In the HALAH implementation, the guardian workflow uses a selected guardian DID and invokes VC verification before adding the guardian's signature to the consent. Each guardian's EIP-712 signature is also recovered.</a:t>
            </a:r>
            <a:r>
              <a:rPr lang="en-US" dirty="0"/>
              <a:t> EIP-712 is a typed signature format on Ethereum, so we can see who signed. Full DID resolution </a:t>
            </a:r>
            <a:r>
              <a:rPr lang="en-US" dirty="0">
                <a:highlight>
                  <a:srgbClr val="FFFF00"/>
                </a:highlight>
              </a:rPr>
              <a:t>is</a:t>
            </a:r>
            <a:r>
              <a:rPr lang="en-US" dirty="0"/>
              <a:t>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t>
            </a:r>
            <a:r>
              <a:rPr lang="en-US" dirty="0">
                <a:highlight>
                  <a:srgbClr val="FFFF00"/>
                </a:highlight>
              </a:rPr>
              <a:t>An approval from someone outside G is not counted, and a duplicate approval is not counted either. A signature replayed from another consent fails the identity check, so the answer is DENY.</a:t>
            </a:r>
            <a:r>
              <a:rPr lang="en-US" dirty="0"/>
              <a:t>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a:t>
            </a:r>
            <a:r>
              <a:rPr lang="en-US" dirty="0">
                <a:highlight>
                  <a:srgbClr val="FFFF00"/>
                </a:highlight>
              </a:rPr>
              <a:t>the lifecycle state</a:t>
            </a:r>
            <a:r>
              <a:rPr lang="en-US" dirty="0"/>
              <a:t>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a:t>
            </a:r>
            <a:r>
              <a:rPr lang="en-US" dirty="0">
                <a:highlight>
                  <a:srgbClr val="FFFF00"/>
                </a:highlight>
              </a:rPr>
              <a:t>The flowchart follows the doctor's request from the top. A consent that is not ACTIVE, a failed identity check, failed policy or time checks, or a failed proof all lead to Deny Access, and the denied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a:t>
            </a:r>
            <a:r>
              <a:rPr lang="en-US" dirty="0">
                <a:highlight>
                  <a:srgbClr val="FFFF00"/>
                </a:highlight>
              </a:rPr>
              <a:t>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a:t>
            </a:r>
            <a:r>
              <a:rPr lang="en-US" dirty="0"/>
              <a:t>
</a:t>
            </a:r>
            <a:r>
              <a:rPr lang="en-US" dirty="0">
                <a:highlight>
                  <a:srgbClr val="FFFF00"/>
                </a:highlight>
              </a:rPr>
              <a:t>The flowchart follows Algorithm 5. It checks the validity interval, then the lifecycle state, then the revocation status. The dashed steps, the transition check, are the next stage. If all checks pass, the evidence is recorded and the authorisation evaluation continues. Any failure leads to Deny Access, and the lifecycle-based denial is recorded.</a:t>
            </a:r>
            <a:r>
              <a:rPr lang="en-US" dirty="0"/>
              <a:t>
The next stage adds </a:t>
            </a:r>
            <a:r>
              <a:rPr lang="en-US" dirty="0">
                <a:highlight>
                  <a:srgbClr val="FFFF00"/>
                </a:highlight>
              </a:rPr>
              <a:t>the SUSPENDED state,</a:t>
            </a:r>
            <a:r>
              <a:rPr lang="en-US" dirty="0"/>
              <a:t>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a:t>
            </a:r>
            <a:r>
              <a:rPr lang="en-US" dirty="0">
                <a:highlight>
                  <a:srgbClr val="FFFF00"/>
                </a:highlight>
              </a:rPr>
              <a:t>The flowchart on the right shows the method. I define the security and authorisation properties and the threat and failure conditions. Then I run the valid, negative and adversarial scenarios and collect the decisions and the audit evidence. I evaluate the security properties, compare observed with expected decisions, and evaluate the practical performance. If the properties hold, I document the evidence and limitations. If one fails, I identify the failure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a:t>
            </a:r>
            <a:r>
              <a:rPr lang="en-US" dirty="0">
                <a:highlight>
                  <a:srgbClr val="FFFF00"/>
                </a:highlight>
              </a:rPr>
              <a:t>Last, the off-chain audit ledger keeps evidence of every access decision, allowed or denied, and no medical content goes on-chain.</a:t>
            </a:r>
            <a:r>
              <a:rPr lang="en-US" dirty="0"/>
              <a:t>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 real screen from the doctor subsystem of the HALAH prototype, for the evaluated consent, f050c29a.</a:t>
            </a:r>
            <a:r>
              <a:rPr lang="en-US" dirty="0"/>
              <a:t>
</a:t>
            </a:r>
            <a:r>
              <a:rPr lang="en-US" dirty="0">
                <a:highlight>
                  <a:srgbClr val="FFFF00"/>
                </a:highlight>
              </a:rPr>
              <a:t>The doctor enters the consent ID.</a:t>
            </a:r>
            <a:r>
              <a:rPr lang="en-US" dirty="0"/>
              <a:t> Below that is the decision matrix. VI is identity and authority. VA is collective approval, and revocation is also checked inside VA. VP is policy and context. VT is time. All five </a:t>
            </a:r>
            <a:r>
              <a:rPr lang="en-US" dirty="0">
                <a:highlight>
                  <a:srgbClr val="FFFF00"/>
                </a:highlight>
              </a:rPr>
              <a:t>checks</a:t>
            </a:r>
            <a:r>
              <a:rPr lang="en-US" dirty="0"/>
              <a:t> show PASS, so the decision is ALLOW and the consent state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5, the consent was revoked, so the request failed at VA.
The third row is the twelve attack scenarios, A1 to A12. After the hardening, eleven of them are refused. A11 is different. A rewritten audit event changes its digest, but nothing in the prototype compares the digest yet.
The next slide shows these twelve attacks in detail.
The fourth row is the automated tests. There are 23 functional and regression tests and 13 adversarial tests. All 36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twelve attack scenarios, A1 to A12. The dots show which part each attack targets. I is identity, A is </a:t>
            </a:r>
            <a:r>
              <a:rPr lang="en-US" dirty="0">
                <a:highlight>
                  <a:srgbClr val="FFFF00"/>
                </a:highlight>
              </a:rPr>
              <a:t>authorisation</a:t>
            </a:r>
            <a:r>
              <a:rPr lang="en-US" dirty="0"/>
              <a:t>, P is policy and scope, T is time, L is </a:t>
            </a:r>
            <a:r>
              <a:rPr lang="en-US" dirty="0">
                <a:highlight>
                  <a:srgbClr val="FFFF00"/>
                </a:highlight>
              </a:rPr>
              <a:t>lifecycle</a:t>
            </a:r>
            <a:r>
              <a:rPr lang="en-US" dirty="0"/>
              <a:t>,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twelve are refused, and all 36 automated tests pass.
A11 is different. A rewritten audit event changes its digest, but no part of the prototype compares the digest yet. </a:t>
            </a:r>
            <a:r>
              <a:rPr lang="en-US" dirty="0">
                <a:highlight>
                  <a:srgbClr val="FFFF00"/>
                </a:highlight>
              </a:rPr>
              <a:t>So I mark it as neutral, not as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a:t>
            </a:r>
            <a:r>
              <a:rPr lang="en-US" dirty="0">
                <a:highlight>
                  <a:srgbClr val="FFFF00"/>
                </a:highlight>
              </a:rPr>
              <a:t>The mint runs in the background, so the guardians and the doctor do not wait for it; a revoke makes the patient wait for the block.</a:t>
            </a:r>
            <a:r>
              <a:rPr lang="en-US" dirty="0"/>
              <a:t>
Processing time is the time of each part of a decision. The decision rule takes about 2 microseconds. </a:t>
            </a:r>
            <a:r>
              <a:rPr lang="en-US" dirty="0">
                <a:highlight>
                  <a:srgbClr val="FFFF00"/>
                </a:highlight>
              </a:rPr>
              <a:t>Checking one guardian signature takes about 11 milliseconds.</a:t>
            </a:r>
            <a:r>
              <a:rPr lang="en-US" dirty="0"/>
              <a:t> The Groth16 proof is the slow part, about 1.4 seconds to generate and 0.47 seconds to verify.
The last row is the on-chain read. Reading the contract on Sepolia takes a little over half a second.
</a:t>
            </a:r>
            <a:r>
              <a:rPr lang="en-US" dirty="0">
                <a:highlight>
                  <a:srgbClr val="FFFF00"/>
                </a:highlight>
              </a:rPr>
              <a:t>I measured the timings on 1 October 2026, in one container. The gas, the fees and the latency come from the five Sepolia transactions of September 2026. The results are indicative only.</a:t>
            </a:r>
            <a:r>
              <a:rPr lang="en-US" dirty="0"/>
              <a:t>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a:t>
            </a:r>
            <a:r>
              <a:rPr lang="en-US" dirty="0">
                <a:highlight>
                  <a:srgbClr val="FFFF00"/>
                </a:highlight>
              </a:rPr>
              <a:t>I measured the timings on 1 October 2026, in the development container I used for the demonstration. The anchoring times come from the five Sepolia transactions of September 2026. The results are indicative only.</a:t>
            </a:r>
            <a:r>
              <a:rPr lang="en-US" dirty="0"/>
              <a:t>
In the table, the median is the middle value. The column n is how many times I measured each step. The symbol µs means microseconds, and ms means milliseconds.
The decision rule with its five checks takes about 2 microseconds, so it costs almost nothing.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a:t>
            </a:r>
            <a:r>
              <a:rPr lang="en-US" dirty="0">
                <a:highlight>
                  <a:srgbClr val="FFFF00"/>
                </a:highlight>
              </a:rPr>
              <a:t>But the mint runs in the background, so the guardians and the doctor do not wait for it; a revoke makes the patient wait for the block.</a:t>
            </a:r>
            <a:r>
              <a:rPr lang="en-US" dirty="0"/>
              <a: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a:t>
            </a:r>
            <a:r>
              <a:rPr lang="en-US" dirty="0">
                <a:highlight>
                  <a:srgbClr val="FFFF00"/>
                </a:highlight>
              </a:rPr>
              <a:t>every access decision, allowed or denied, is logged off-chain</a:t>
            </a:r>
            <a:r>
              <a:rPr lang="en-US" dirty="0"/>
              <a:t>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a:t>
            </a:r>
            <a:r>
              <a:rPr lang="en-US" dirty="0">
                <a:highlight>
                  <a:srgbClr val="FFFF00"/>
                </a:highlight>
              </a:rPr>
              <a:t>On-chain record: the ConsentSBTv3 token stores pseudonymous patient and requester addresses, a hash of the purpose, the validity window and a revocation flag.</a:t>
            </a:r>
            <a:r>
              <a:rPr lang="en-US" dirty="0"/>
              <a:t> Pseudonymous means the address does not show a real name.
Access to data: records are released only when the decision is ALLOW, and only inside the authorised scope.
Audit: </a:t>
            </a:r>
            <a:r>
              <a:rPr lang="en-US" dirty="0">
                <a:highlight>
                  <a:srgbClr val="FFFF00"/>
                </a:highlight>
              </a:rPr>
              <a:t>every access decision, allowed or denied, is saved in the off-chain audit ledger</a:t>
            </a:r>
            <a:r>
              <a:rPr lang="en-US" dirty="0"/>
              <a:t>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a:t>
            </a:r>
            <a:r>
              <a:rPr lang="en-US" dirty="0">
                <a:highlight>
                  <a:srgbClr val="FFFF00"/>
                </a:highlight>
              </a:rPr>
              <a:t>lifecycle</a:t>
            </a:r>
            <a:r>
              <a:rPr lang="en-US" dirty="0"/>
              <a:t>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a:t>
            </a:r>
            <a:r>
              <a:rPr lang="en-US" dirty="0">
                <a:highlight>
                  <a:srgbClr val="FFFF00"/>
                </a:highlight>
              </a:rPr>
              <a:t>Chapter 6, the solution for RQ1 to RQ4 and the HALAH prototype, ran from July to October 2026 and is done.</a:t>
            </a:r>
            <a:r>
              <a:rPr lang="en-US" dirty="0"/>
              <a:t>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a:t>
            </a:r>
            <a:r>
              <a:rPr lang="en-US" dirty="0">
                <a:highlight>
                  <a:srgbClr val="FFFF00"/>
                </a:highlight>
              </a:rPr>
              <a:t>Chapter 6, the proposed solution for RQ1 to RQ4 and the HALAH prototype, ran from July to October 2026 and is done.</a:t>
            </a:r>
            <a:r>
              <a:rPr lang="en-US" dirty="0"/>
              <a:t>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Now I come to the references. The list has three pages and holds the sources used in these slides: the 25 primary studies of my review, and the standards and tools used in the review and the prototype.</a:t>
            </a:r>
            <a:r>
              <a:rPr lang="en-US" dirty="0"/>
              <a:t>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a:t>
            </a:r>
            <a:r>
              <a:rPr lang="en-US" dirty="0">
                <a:highlight>
                  <a:srgbClr val="FFFF00"/>
                </a:highlight>
              </a:rPr>
              <a:t>The token stores pseudonymous addresses, a hash of the purpose, the validity window and a revocation flag, and no medical content.</a:t>
            </a:r>
            <a:r>
              <a:rPr lang="en-US" dirty="0"/>
              <a:t>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highlight>
                  <a:srgbClr val="FFFF00"/>
                </a:highlight>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0B1F33"/>
                </a:solidFill>
                <a:highlight>
                  <a:srgbClr val="FFFF00"/>
                </a:highlight>
              </a:rPr>
              <a:t>Authorisation</a:t>
            </a:r>
            <a:r>
              <a:rPr lang="en-US" sz="1500" dirty="0">
                <a:solidFill>
                  <a:srgbClr val="FFFFFF"/>
                </a:solidFill>
              </a:rPr>
              <a:t> (A: guardian set G, threshold N) · Policy (P: purpose, scope) · Time (T) · </a:t>
            </a:r>
            <a:r>
              <a:rPr lang="en-US" sz="1500" dirty="0">
                <a:solidFill>
                  <a:srgbClr val="0B1F33"/>
                </a:solidFill>
                <a:highlight>
                  <a:srgbClr val="FFFF00"/>
                </a:highlight>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3090672" y="1051560"/>
            <a:ext cx="59893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200787"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SUB-RESEARCH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0B1F33"/>
                </a:solidFill>
                <a:highlight>
                  <a:srgbClr val="FFFF00"/>
                </a:highlight>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a:t>
            </a:r>
            <a:r>
              <a:rPr lang="en-US" sz="1800" dirty="0">
                <a:solidFill>
                  <a:srgbClr val="0B1F33"/>
                </a:solidFill>
                <a:highlight>
                  <a:srgbClr val="FFFF00"/>
                </a:highlight>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Trust-Centric Consent Model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a:t>
            </a:r>
            <a:r>
              <a:rPr lang="en-US" sz="1600" dirty="0">
                <a:solidFill>
                  <a:srgbClr val="0B1F33"/>
                </a:solidFill>
                <a:highlight>
                  <a:srgbClr val="FFFF00"/>
                </a:highlight>
              </a:rPr>
              <a:t>and</a:t>
            </a:r>
            <a:r>
              <a:rPr lang="en-US" sz="1600" dirty="0">
                <a:solidFill>
                  <a:srgbClr val="FFFFFF"/>
                </a:solidFill>
              </a:rPr>
              <a:t> validity time;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consent object C = (I, A, P, T, L, E) is built and a consent identifier is assigned.</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8156448" y="1005840"/>
            <a:ext cx="2706624" cy="5532120"/>
          </a:xfrm>
          <a:prstGeom prst="roundRect">
            <a:avLst>
              <a:gd name="adj" fmla="val 405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yellow/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Decentralised Identity and Authority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0B1F33"/>
                </a:solidFill>
                <a:highlight>
                  <a:srgbClr val="FFFF00"/>
                </a:highlight>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Trustworthy Multi-Party Authorisation</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Approvals from outside G and duplicate approvals are not counted; a replayed signature fails the identity check (VI).</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yellow/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Policy- and Context-Aware Access Control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0B1F33"/>
                </a:solidFill>
                <a:highlight>
                  <a:srgbClr val="FFFF00"/>
                </a:highlight>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8321040" y="1005840"/>
            <a:ext cx="2386584" cy="5532120"/>
          </a:xfrm>
          <a:prstGeom prst="roundRect">
            <a:avLst>
              <a:gd name="adj" fmla="val 459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yellow/F14.png">    </p:cNvPr>
          <p:cNvPicPr>
            <a:picLocks noChangeAspect="1"/>
          </p:cNvPicPr>
          <p:nvPr/>
        </p:nvPicPr>
        <p:blipFill>
          <a:blip r:embed="rId1"/>
          <a:stretch>
            <a:fillRect/>
          </a:stretch>
        </p:blipFill>
        <p:spPr>
          <a:xfrm>
            <a:off x="8432181"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Temporal and Lifecycle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Working now: an</a:t>
            </a:r>
            <a:r>
              <a:rPr lang="en-US" sz="1600" dirty="0">
                <a:solidFill>
                  <a:srgbClr val="FFFFFF"/>
                </a:solidFill>
              </a:rPr>
              <a:t>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0B1F33"/>
                </a:solidFill>
                <a:highlight>
                  <a:srgbClr val="FFFF00"/>
                </a:highlight>
              </a:rPr>
              <a:t>the SUSPENDED state,</a:t>
            </a:r>
            <a:r>
              <a:rPr lang="en-US" sz="1600" dirty="0">
                <a:solidFill>
                  <a:srgbClr val="FFFFFF"/>
                </a:solidFill>
              </a:rPr>
              <a:t> lifecycle transition check, consent modification, delegation, guardian-set changes and a formal lifecycle model.</a:t>
            </a:r>
            <a:endParaRPr lang="en-US" sz="1600" dirty="0"/>
          </a:p>
        </p:txBody>
      </p:sp>
      <p:sp>
        <p:nvSpPr>
          <p:cNvPr id="8" name="F35 panel"/>
          <p:cNvSpPr/>
          <p:nvPr/>
        </p:nvSpPr>
        <p:spPr>
          <a:xfrm>
            <a:off x="7964424" y="1005840"/>
            <a:ext cx="3099816" cy="5532120"/>
          </a:xfrm>
          <a:prstGeom prst="roundRect">
            <a:avLst>
              <a:gd name="adj" fmla="val 354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yellow/F35.png">    </p:cNvPr>
          <p:cNvPicPr>
            <a:picLocks noChangeAspect="1"/>
          </p:cNvPicPr>
          <p:nvPr/>
        </p:nvPicPr>
        <p:blipFill>
          <a:blip r:embed="rId1"/>
          <a:stretch>
            <a:fillRect/>
          </a:stretch>
        </p:blipFill>
        <p:spPr>
          <a:xfrm>
            <a:off x="8074719"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Formal Security Assurance and Empirical Validation</a:t>
            </a:r>
            <a:endParaRPr lang="en-US" sz="18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810512"/>
            <a:ext cx="4023360" cy="3922776"/>
          </a:xfrm>
          <a:prstGeom prst="roundRect">
            <a:avLst>
              <a:gd name="adj" fmla="val 279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yellow/F16.png">    </p:cNvPr>
          <p:cNvPicPr>
            <a:picLocks noChangeAspect="1"/>
          </p:cNvPicPr>
          <p:nvPr/>
        </p:nvPicPr>
        <p:blipFill>
          <a:blip r:embed="rId1"/>
          <a:stretch>
            <a:fillRect/>
          </a:stretch>
        </p:blipFill>
        <p:spPr>
          <a:xfrm>
            <a:off x="7608271" y="1920240"/>
            <a:ext cx="3802979" cy="3703320"/>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Off-chain audit ledger of every access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3355848"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3465576" y="1353204"/>
            <a:ext cx="5266944" cy="4151591"/>
          </a:xfrm>
          <a:prstGeom prst="rect">
            <a:avLst/>
          </a:prstGeom>
        </p:spPr>
      </p:pic>
      <p:sp>
        <p:nvSpPr>
          <p:cNvPr id="6" name="caption"/>
          <p:cNvSpPr txBox="1"/>
          <p:nvPr/>
        </p:nvSpPr>
        <p:spPr>
          <a:xfrm>
            <a:off x="3355848"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48640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212080" cy="47091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 at VA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11 of 12 refused after the hardening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and regression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yellow/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377440"/>
                <a:gridCol w="3017520"/>
                <a:gridCol w="2468880"/>
                <a:gridCol w="3017520"/>
              </a:tblGrid>
              <a:tr h="502920">
                <a:tc>
                  <a:txBody>
                    <a:bodyPr/>
                    <a:lstStyle/>
                    <a:p>
                      <a:pPr indent="0" marL="0">
                        <a:buNone/>
                      </a:pPr>
                      <a:r>
                        <a:rPr lang="en-US" sz="1400" b="1" dirty="0">
                          <a:solidFill>
                            <a:srgbClr val="FFFFFF"/>
                          </a:solidFill>
                        </a:rPr>
                        <a:t>Metric</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Measured 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Mint #1: 196,406; Revoke #1: 32,980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 fee above 0.00021 ETH (Sepolia ETH has no monetary value)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local event and the on-chain event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Latency = t(on-chain) − t(local)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Median 11.5 s (4.9 to 22.1 s, n = 5: 3 mints, 2 revokes)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914400">
                <a:tc>
                  <a:txBody>
                    <a:bodyPr/>
                    <a:lstStyle/>
                    <a:p>
                      <a:pPr indent="0" marL="0">
                        <a:buNone/>
                      </a:pPr>
                      <a:r>
                        <a:rPr lang="en-US" sz="1400" b="1" dirty="0">
                          <a:solidFill>
                            <a:srgbClr val="0B1F33"/>
                          </a:solidFill>
                        </a:rPr>
                        <a:t>Processing time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Decision rule 2.37 µs; EIP‑712 signature recovery 10.93 ms; Groth16 proof 1,401.1 ms to generate, 465.3 ms to verify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On-chain read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a checkValid or checkValidAt call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over n = 20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573.5 ms and 574.6 ms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5943600"/>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gas, fees and latency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1828800"/>
                <a:gridCol w="4206240"/>
                <a:gridCol w="4846320"/>
              </a:tblGrid>
              <a:tr h="5029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68580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Every access decision, allowed or denied, logged off-chain with its decision matrix</a:t>
                      </a:r>
                      <a:r>
                        <a:rPr lang="en-US" sz="1400" dirty="0">
                          <a:solidFill>
                            <a:srgbClr val="0B1F33"/>
                          </a:solidFill>
                        </a:rPr>
                        <a:t>;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50292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r>
                        <a:rPr lang="en-US" sz="1500" dirty="0">
                          <a:solidFill>
                            <a:srgbClr val="0B1F33"/>
                          </a:solidFill>
                          <a:highlight>
                            <a:srgbClr val="FFFF00"/>
                          </a:highlight>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highlight>
                  <a:srgbClr val="FFFF00"/>
                </a:highlight>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2026-10-11T18:11:18Z</dcterms:created>
  <dcterms:modified xsi:type="dcterms:W3CDTF">2026-10-11T18:11:18Z</dcterms:modified>
</cp:coreProperties>
</file>
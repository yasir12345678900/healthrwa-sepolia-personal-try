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3615fc26-060a-3579-7d5e-fca05a8b68b9}">
          <p14:sldIdLst>
            <p14:sldId id="256"/>
          </p14:sldIdLst>
        </p14:section>
        <p14:section name="Introduction" id="{895bf14a-a024-cd93-7b57-5797db3c1684}">
          <p14:sldIdLst>
            <p14:sldId id="257"/>
          </p14:sldIdLst>
        </p14:section>
        <p14:section name="Systematic Literature Review" id="{c76da9c3-91f1-ece4-0ccf-6bc08846bf48}">
          <p14:sldIdLst>
            <p14:sldId id="258"/>
            <p14:sldId id="259"/>
          </p14:sldIdLst>
        </p14:section>
        <p14:section name="Research Gaps" id="{7f5f3731-a218-23b2-ad69-c52428334539}">
          <p14:sldIdLst>
            <p14:sldId id="260"/>
          </p14:sldIdLst>
        </p14:section>
        <p14:section name="Research Questions" id="{101a57f6-44c7-a57b-d52e-856d53811bf4}">
          <p14:sldIdLst>
            <p14:sldId id="261"/>
          </p14:sldIdLst>
        </p14:section>
        <p14:section name="Research Objectives" id="{4dd5b028-ce78-a86f-18a8-d4b777164b3b}">
          <p14:sldIdLst>
            <p14:sldId id="262"/>
          </p14:sldIdLst>
        </p14:section>
        <p14:section name="Research Methodology" id="{ff21cf3c-70db-de68-e0ea-fa4aa2151104}">
          <p14:sldIdLst>
            <p14:sldId id="263"/>
          </p14:sldIdLst>
        </p14:section>
        <p14:section name="The Proposed Solutions" id="{2b8eb574-dd9b-ba5c-970a-93a802388fdf}">
          <p14:sldIdLst>
            <p14:sldId id="264"/>
            <p14:sldId id="265"/>
            <p14:sldId id="266"/>
            <p14:sldId id="267"/>
          </p14:sldIdLst>
        </p14:section>
        <p14:section name="Implementation and Evaluation" id="{45f1b80f-5d18-3f88-5c96-3683812e7db4}">
          <p14:sldIdLst>
            <p14:sldId id="268"/>
            <p14:sldId id="269"/>
            <p14:sldId id="270"/>
            <p14:sldId id="271"/>
          </p14:sldIdLst>
        </p14:section>
        <p14:section name="Significance of the Research" id="{d0176ab6-6881-b482-2831-3d99170ee2c6}">
          <p14:sldIdLst>
            <p14:sldId id="272"/>
            <p14:sldId id="273"/>
          </p14:sldIdLst>
        </p14:section>
        <p14:section name="Research Plan" id="{be41fe86-59f4-9d07-b34a-c4e4e03c6470}">
          <p14:sldIdLst>
            <p14:sldId id="274"/>
          </p14:sldIdLst>
        </p14:section>
        <p14:section name="References" id="{f7432489-b0e2-5d95-5b5b-36f0fe8346dd}">
          <p14:sldIdLst>
            <p14:sldId id="275"/>
            <p14:sldId id="276"/>
            <p14:sldId id="277"/>
            <p14:sldId id="278"/>
            <p14:sldId id="279"/>
            <p14:sldId id="280"/>
          </p14:sldIdLst>
        </p14:section>
        <p14:section name="Thank You" id="{1a6f2700-bc31-aecf-ed16-6f9f8ea2a082}">
          <p14:sldIdLst>
            <p14:sldId id="281"/>
          </p14:sldIdLst>
        </p14:section>
        <p14:section name="Backup" id="{b5c61870-8b6f-4324-364b-59756469edcf}">
          <p14:sldIdLst>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Gas used by the five anchored Sepolia transactions</a:t>
            </a:r>
          </a:p>
        </c:rich>
      </c:tx>
      <c:layout/>
      <c:overlay val="0"/>
    </c:title>
    <c:autoTitleDeleted val="0"/>
    <c:plotArea>
      <c:layout/>
      <c:barChart>
        <c:barDir val="col"/>
        <c:grouping val="clustered"/>
        <c:varyColors val="0"/>
        <c:ser>
          <c:idx val="0"/>
          <c:order val="0"/>
          <c:tx>
            <c:strRef>
              <c:f>Sheet1!$B$1</c:f>
              <c:strCache>
                <c:ptCount val="1"/>
                <c:pt idx="0">
                  <c:v>Gas used</c:v>
                </c:pt>
              </c:strCache>
            </c:strRef>
          </c:tx>
          <c:spPr>
            <a:solidFill>
              <a:srgbClr val="1FB5D6"/>
            </a:solidFill>
            <a:effectLst/>
          </c:spPr>
          <c:invertIfNegative val="0"/>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Sheet1!$A$2:$A$6</c:f>
              <c:multiLvlStrCache>
                <c:ptCount val="5"/>
                <c:lvl>
                  <c:pt idx="0">
                    <c:v>Mint #8 (prev.)</c:v>
                  </c:pt>
                  <c:pt idx="1">
                    <c:v>Revoke #8 (prev.)</c:v>
                  </c:pt>
                  <c:pt idx="2">
                    <c:v>Mint #1</c:v>
                  </c:pt>
                  <c:pt idx="3">
                    <c:v>Revoke #1</c:v>
                  </c:pt>
                  <c:pt idx="4">
                    <c:v>Mint #2</c:v>
                  </c:pt>
                </c:lvl>
              </c:multiLvlStrCache>
            </c:multiLvlStrRef>
          </c:cat>
          <c:val>
            <c:numRef>
              <c:f>Sheet1!$B$2:$B$6</c:f>
              <c:numCache>
                <c:formatCode>General</c:formatCode>
                <c:ptCount val="5"/>
                <c:pt idx="0">
                  <c:v>156589</c:v>
                </c:pt>
                <c:pt idx="1">
                  <c:v>46226</c:v>
                </c:pt>
                <c:pt idx="2">
                  <c:v>196406</c:v>
                </c:pt>
                <c:pt idx="3">
                  <c:v>32980</c:v>
                </c:pt>
                <c:pt idx="4">
                  <c:v>179306</c:v>
                </c:pt>
              </c:numCache>
            </c:numRef>
          </c:val>
        </c:ser>
        <c:dLbls>
          <c:numFmt formatCode="#,##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B1F33"/>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Yasir Alyoubi. My principal supervisor is Professor Farookh Hussain, and my co-supervisor is Dr Firas Al-Doghman. Today I present my candidature reassessment.
My title is A Trusted Authorization Framework for Multi-Party Patient Consent in Healthcare Data Sharing. In simple words, before patient data is shared, how can a system check consent, identity, authority, approvals, policy and time in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data is very sensitive, and it moves between independent parties like patients, guardians, doctors and hospitals. But consent is usually kept as a passive record. Also, identity is not authority. A system may know who you are, but that does not mean you may see this patient's data. And even with approval, a request can ask for more data, or another purpose, than the patient allowed.
The box on the right is the central problem. No current mechanism links all these conditions in one decision and also shows it is secure, with exact definitions and with tests.
The bottom box is my key idea. Consent becomes an object the system can check. I is identity. A is authority, with the guardian set G and the threshold N, the number of approvals needed. P is purpose and data scope. T is time, L is jurisdiction, and E is the evidence and lifecycle state, for example active or revoked.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I ran the systematic literature review. The table on the left reads from top to bottom.
I followed PRISMA 2020, a standard guide for clear and repeatable reviews. My written protocol was fixed before screening. I used one master query and searched seven databases. Google Scholar was only a discovery arm, so I report it separately. The main searches were on 24 and 25 August, and ACM on 5 September. A study passes quality when its four QA scores add up to at least 3.0.
The flow diagram on the right shows the numbers. The databases gave 9,256 records, and 6,039 were screened by title. Then 3,129 reached the abstract stage, and 1,800 full texts were sought. 64 were assessed at the reporting checkpoint. The result is 25 primary studies: 23 core and 2 supporting.
Possible question: Why was ACM searched later? My UTS Library account was put on hold after I downloaded many full-text PDFs, so I had no access through the library. After I contacted them, the hold was removed, but this took some time. I used the same search string and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25 studies against my six requirements. Req means requirement. Each row is one study, and each column is one requirement. The requirements follow my problem, from the consent object to security assurance. Green Yes means fully met. Gold Partial means partly met. Red No means not met.
First, read down the columns. Every requirement is fully met by at least one study. Req 3, multi-party approval, is the weakest. Only 6 studies get a Yes.
Now read across the rows. No study meets all six. The best are S10, Madine et al., and S13, Panagoulias et al., with four Yes each. Five studies have no Yes at all.
So the pieces exist in the literature. But no study puts them together in one decision, and that is where my work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review, I defined six research gaps. Each gap has the same number as the requirement it comes from.
Gap 1: consent is kept as a record of permission. Where it can be checked, it holds only some conditions, and only one party issues it.
Gap 2: identity tells us who someone is, not what they may do. Only 10 of the 25 studies check authority separately.
Gap 3: multi-party approval is used as a backup path or a registration step, not at every access.
Gap 4: purpose, data scope and jurisdiction are rarely checked in the same decision as identity, authority and approval. Jurisdiction means the legal region where the consent applies.
Gap 5: time, lifecycle and revocation are often checked on a credential or at registration, not at each request.
Gap 6: nobody proves or tests the whole decision. Any proof covers only a small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gaps lead to my main research question at the top. How can a trust-oriented framework establish and enforce multi-party consent for healthcare data sharing, under identity, authority and policy limits?
Establish means building trust in the participants and in the shared consent. Enforce means checking the conditions every time someone asks for data. Multi-party means one person alone cannot approve.
I split it into six sub-questions, one for each gap. RQ1 models consent as an object. RQ2 uses DIDs and VCs. A DID is a decentralised identifier, and a VC is a verifiable credential, like proof of a role. They help keep identity separate from authority. RQ3 asks how verified participants approve together. RQ4 uses purpose and data scope to block the wrong data. RQ5 rejects access after expiry or revocation. RQ6 defines the security properties and tests them.
RQ1 to RQ5 build the decision. RQ6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questions, I set six research objectives. Each objective answers the question with the same number. The last column shows the status.
RO1 is the consent model. Consent becomes a structured object the system can check. It is done.
RO2 checks identity and authority with DIDs and VCs, and keeps them apart. It is done.
RO3 is multi-party approval. Each guardian signs with EIP-712, a standard for signing structured data. In the prototype, every listed guardian must sign. It is done.
RO4 checks purpose and data scope when access is requested. It is done.
RO5, time and lifecycle, is in progress. The validity window and revocation already work. Next I will add consent changes, delegation and guardian-set changes.
RO6 is partially completed. The automated tests and attack scenarios are done. The formal analysis comes in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method has seven steps, from left to right.
Step 1 is the problem. Consent is only a passive record, and there is no single trusted decision. Step 2 is the literature review. I followed PRISMA 2020, a standard guide for reporting reviews, and I analysed 25 primary studies.
Step 3 gives six gaps and six research questions. Step 4 turns them into six objectives, RO1 to RO6.
Step 5 is the design: an MVC architecture, the consent object C and four algorithms. Step 6 is my prototype, HALAH. Its smart contract, ConsentSBTv3, runs on Sepolia, which is an Ethereum test network.
Step 7 is the evaluation. I used live scenarios, measurements and twelve attack scenarios. The formal assurance comes in the next stage.
The arrow at the bottom shows the whole path, from the problem to the evaluated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architecture. It uses MVC, which means Model, View and Controller. Each of the four user groups has its own interface. The View only sends requests and never decides access. The checks run in the Controller. The Decision Engine joins the checks, and Audit Coordination records evidence for each decision. The Model layer keeps the state, such as the consent object C. Health data are released only on ALLOW.
The box at the top is my decision rule. For consent C, request R and time t, it is ALLOW only if all five checks pass. VI checks identity and authority. VA checks approvals, the token and that consent is not revoked. VP checks purpose and data scope. VT checks the validity window. VL checks jurisdiction. If any check fails, the answer is DENY.
In the prototype, a Groth16 proof must also verify. This zero-knowledge proof shows something is true without showing the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RO1 is the trust-centric consent model, and it is Done. The patient selects their DID, the doctor, the guardians, the data scope, the time and the jurisdiction. For now the purpose is fixed to Treatment. Invalid input is rejected, for example an empty scope. Then the system builds the consent object C. C has six parts: identity, authority, policy, time, jurisdiction and evidence. It is saved as PENDING_SIGNATURE, and the creation is logged.
RO2 is identity and authority. It is also Done. A DID, or decentralised identifier, shows who the person is. A VC, or verifiable credential, shows what they may do. So a valid DID alone never gives access. In the prototype I check the DID format and recover each EIP-712 signature. EIP-712 is a typed signature format on Ethereum. Full DID and VC checks come in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RO3 is multi-party authorisation, and it is Done. The guardian set G is fixed when the consent is created. Each guardian signs an EIP-712 approval. Approvals from outsiders are not counted, and replayed or duplicate approvals are not counted either. The rule is N-of-N, so every listed guardian must sign. In the demo that means 2-of-2. Then the mint is anchored on Sepolia in the background, so nobody has to wait for it.
RO4 is policy and context. It is also Done. The requested scope must not be empty, and it must sit inside the scope the patient allowed. Purpose, time and jurisdiction are checked in the same decision. Then a Groth16 proof must verify before any data is released. So if the consent allows only Observation and Medication, a request that adds Procedure gets DENY.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RO5 is about time and the consent lifecycle, and it is In Progress. The validity window is stored on-chain, and VT checks it at every request. Revocation works end to end, with an on-chain revoke. A consent starts as PENDING_SIGNATURE, then PENDING_TOKEN. Before its start time it is NOT_STARTED. Inside the window it is ACTIVE, and only then is access given. After expiry it is EXPIRED, and it can also be REVOKED. The red arrows are the mint and the revoke on Sepolia. Next stage, I will add a transition check, consent changes, delegation, guardian-set changes and a formal lifecycle model.
RO6 is assurance and validation. It is partially completed. I have 36 automated tests, including twelve attack scenarios, A1 to A12. I also measured cost, latency and processing time, and a live wrong-jurisdiction request was refused. The next stage adds formal proofs or model checking, and a larger evaluation under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HALAH prototype. The boxes at the top list its parts. There are four interfaces: patient, guardian, doctor and auditor. The smart contract, ConsentSBTv3, is a soulbound token on Sepolia. Soulbound means it cannot be moved to another account. Guardians approve with EIP-712 signatures. The access proof is a Groth16 proof over a Poseidon commitment, which is a kind of hash. The data are synthetic Synthea records in four modules, so no real patient is used. The audit ledger keeps the evidence, and no medical content goes on-chain.
On the left, the doctor declares the jurisdiction as AU, which matches the consent. All five checks pass, so the answer is ALLOW.
On the right, the same request is made with SA instead. Every check passes except VL. My rule needs all five checks, so one failure is enough. Access is denied, and the screen names VL as the failed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public evidence on the Sepolia test network.
On the left is the Sepolia Etherscan page for the revoke of token number 1. It was confirmed in block 11,771,307 on 24 September 2026, and the status says Success. The input data shows the revoke function with the token ID. Anyone can check this record, so the evidence is not only in my own database.
On the right is the gas used by the five anchored transactions. Gas is the unit of computing work on Ethereum. The first two bars are token 8 from the earlier deployment. The other three are on the current contract.
A mint creates a token and writes a full consent record, so it costs more. A revoke changes only one flag. For token 1, the revoke used about one sixth of the gas of its mint.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asks one simple question. Does the system make the right decision?
In the valid scenarios, a test passes only when the observed decision equals the expected one. In scenarios 1 to 3, the consent was created, both guardians approved, and the doctor got ALLOW. These cover RQ1 to RQ4.
In the negative scenarios, any failed check gives DENY. In scenario 4 the doctor declared the jurisdiction SA, so the jurisdiction check, VL, failed. In scenario 5 the consent was revoked, so the request failed at VA.
Next are twelve attack scenarios, A1 to A12. After the hardening, eleven are refused. In A11, a rewritten audit event changes its digest, but nothing compares the digest yet.
All 36 automated tests pass. Last, a separate tool compared the Sepolia receipts with the local consent state, and all checks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asks a different question. How much does the system cost, and how fast is it?
Gas used comes from each transaction receipt. The mint of token 1 used 196,406 gas, and its revoke used 32,980.
The fee is gas used times the gas price. No fee was above 0.00021 ETH. Sepolia ETH has no money value, so gas is the fair way to compare cost.
Latency is the time from the local event to the on-chain event. The median was 11.5 seconds over five transactions. It runs in the background, so the guardians and the doctor do not wait for it.
The decision rule takes about 2 microseconds. One guardian signature takes about 11 milliseconds. The Groth16 proof is the slow part. It takes about 1.4 seconds to make and under half a second to verify.
Reading the contract on Sepolia takes a little over half a second. I measured all this on 1 October 2026, so the results are indicative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table compares traditional EHR access control with my HALAH framework. EHR means electronic health record.
In HALAH, every participant has a DID, a decentralised identifier, and identity is kept separate from authority. Consent is not a passive record. It is an object C with six parts, checked at every request. All N guardians must sign with EIP-712, so no one approves alone. In the access check, the wedge symbol means AND. All five checks must be true, plus a Groth16 proof. Time and revocation are checked at each request, and each decision is logged with its decision matrix.
The right table is about data and privacy. I use synthetic Synthea records, not real patient data. Medical records stay off-chain. The token holds only pseudonymous addresses, a purpose hash, the validity window, a jurisdiction code and a revocation flag. Data is released only on ALLOW, within the authorised scope. One limitation is that the plain purpose text is visible in the public mint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why the research matters.
On the scientific side, consent becomes an object the system checks, not just a stored record. Multi-party approval is a condition of every access decision, and the patient decides who must approve. Identity is kept separate from authority, and all conditions are checked in one decision. My PRISMA 2020 review of 25 primary studies found two gaps. The conjunction gap means no study combines all these conditions in one decision. The assurance gap means they are not proved or tested together. Last, the prototype works on Sepolia, and I tested it with measurements and twelve attack scenarios.
On the social side, patients and guardians get a direct role in who sees the patient's data. No single person can approve access alone. Every decision can be explained and checked later. Medical records stay off-chain, and only consent evidence is anchored. This helps build trust when hospitals and other independent parties share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research plan as a timeline. Blue means done, orange means in progress, and grey means planned.
Chapters 1 to 4 are completed. They cover the introduction, the review, the research questions and objectives, and the methodology. Chapter 5, the research architecture based on MVC, Model View Controller, was done in May 2026. Chapter 6, the proposed solution for RQ1 to RQ4 and the HALAH prototype, was done in July. In September I submitted my first paper to the BWCCA 2026 conference.
The orange point is October 2026. This is the SLR journal paper, and I am working on it now.
Chapter 7, the complete evaluation, is planned for November. The third paper and Chapter 8 come in December. The final assessment is in January 2027, and I plan to submit the thesis in March 2027.
So RO1 to RO4 are done. RO5 is in progress, and RO6 is partially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references, numbered 1 to 72 to match the citations in my report. I will not read them, and the full details are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your questions.
Possible question: Why use blockchain at all? It gives a lasting, checkable record of the consent state, while the token stores only pseudonymous addresses, a purpose hash, the validity window, a jurisdiction code and a revocation flag.
Possible question: What is new in this work? Multi-party approval is a standing condition of every access decision, the patient defines who must approve, and after the hardening eleven of the twelve attack scenarios are refused.
Possible question: What is left for the next stage? RO5, on temporal and lifecycle trust, is in progress, and RO6, on formal security assurance and empirical validation, is partially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backup slides. I will only show them if a question needs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my quality assessment. QA1 to QA4 decide inclusion. They check for consent at the healthcare level, a real access-decision mechanism, a proper framework, and a proof of concept or an implementation.
Yes scores 1, Partial 0.5 and No 0. A study is included when QA1 to QA4 add up to at least 3.0. QA5 to QA8 only place a study in an evidence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key requirements I took from the literature. Each one matches a research question.
Req 1 makes consent something the system can evaluate at access time. Req 2 checks identity and authority in a decentralised way. Req 3 needs a set number of approvals, called the threshold. Req 4 keeps access inside the allowed purpose and scope. Req 5 stops expired or revoked consent. Req 6 keeps evidence for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the first 13 of my 25 primary studies, S1 to S13. Each row gives the authors, year, title and category. The category is the requirement where the study fits most strongly. Each study sits in one category only.
For example, S10 by Madine and others, from 2020, is about decentralised multi-party consent. So it sits under Req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continues the list with S14 to S25. Together the two slides show all 25 studies.
Most of these are very recent. Eight of these twelve are from 2025 or 2026, so the topic is active right now. The categories are mixed. For example, S14, S15 and S23 are under identity and authority. S25, HealthDID, is under security 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sums up the review. On the left, each requirement shows how many of the 25 studies get a full Yes. Assurance has 9, but only 4 have a formal proof.
The yellow box is the conjunction gap. No study joins Req 1 to Req 5 in one access decision. The red box is the assurance gap. The dark box is my proposed framework. It allows access only when all five checks pass. The symbol ∧ means 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tested the prototype against twelve attack scenarios, A1 to A12. The dots show which part each attack targets, such as identity, authority or time.
Before the hardening, A1, A3 and A5 were accepted when the service function was called directly. The demonstration interface already refused them. After the hardening, eleven of twelve are refused and all 36 automated tests pass. A11 is marked neutral, because nothing compares the audit digest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processing time, measured on 1 October 2026. The results are indicative only. The median is the middle value, and n is how many times I measured each step.
The decision rule takes about 2 microseconds. The Groth16 proof is the slow part. It takes about 1.4 seconds to generate. Anchoring on Sepolia takes about 11.5 seconds, but it runs in the background, so nobody waits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full research plan. Chapters 1 to 6 are done. My first paper was submitted to BWCCA 2026 in September. The SLR journal paper is in progress for October.
Chapter 7, the complete prototype evaluation, is planned for November. The third paper and Chapter 8 are planned for December. The final assessment is in January 2027, and thesis submission is in March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lstStyle>
            <a:lvl1pPr algn="ctr" indent="0" marL="0">
              <a:buNone/>
              <a:defRPr lang="en-US" sz="3000" b="1" dirty="0">
                <a:solidFill>
                  <a:srgbClr val="FFFFFF"/>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sp>
      <p:pic>
        <p:nvPicPr>
          <p:cNvPr id="3" name="UTS logo" descr="/tmp/deck/img/uts.png">    </p:cNvPr>
          <p:cNvPicPr>
            <a:picLocks noChangeAspect="1"/>
          </p:cNvPicPr>
          <p:nvPr/>
        </p:nvPicPr>
        <p:blipFill>
          <a:blip r:embed="rId1"/>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algn="ctr" indent="0" marL="0">
              <a:buNone/>
            </a:pPr>
            <a:r>
              <a:rPr lang="en-US" sz="3400" b="1" i="1" dirty="0">
                <a:solidFill>
                  <a:srgbClr val="FFFFFF"/>
                </a:solidFill>
                <a:latin typeface="Arial" pitchFamily="34" charset="0"/>
                <a:ea typeface="Arial" pitchFamily="34" charset="-122"/>
                <a:cs typeface="Arial" pitchFamily="34" charset="-120"/>
              </a:rPr>
              <a:t>A Trusted Authorization Framework for Multi-Party Patient Consent in Healthcare Data Sharing</a:t>
            </a:r>
            <a:endParaRPr lang="en-US" sz="3400" dirty="0"/>
          </a:p>
        </p:txBody>
      </p:sp>
      <p:sp>
        <p:nvSpPr>
          <p:cNvPr id="5" name="subtitle"/>
          <p:cNvSpPr txBox="1"/>
          <p:nvPr/>
        </p:nvSpPr>
        <p:spPr>
          <a:xfrm>
            <a:off x="4023360" y="3063240"/>
            <a:ext cx="4114800" cy="457200"/>
          </a:xfrm>
          <a:prstGeom prst="rect">
            <a:avLst/>
          </a:prstGeom>
          <a:noFill/>
          <a:ln/>
        </p:spPr>
        <p:txBody>
          <a:bodyPr wrap="square" rtlCol="0" anchor="ctr"/>
          <a:lstStyle/>
          <a:p>
            <a:pPr algn="ctr" indent="0" marL="0">
              <a:buNone/>
            </a:pPr>
            <a:r>
              <a:rPr lang="en-US" sz="2000" b="1" dirty="0">
                <a:solidFill>
                  <a:srgbClr val="1FB5D6"/>
                </a:solidFill>
              </a:rPr>
              <a:t>Candidature Reassessment</a:t>
            </a:r>
            <a:endParaRPr lang="en-US" sz="2000" dirty="0"/>
          </a:p>
        </p:txBody>
      </p:sp>
      <p:sp>
        <p:nvSpPr>
          <p:cNvPr id="6" name="people"/>
          <p:cNvSpPr txBox="1"/>
          <p:nvPr/>
        </p:nvSpPr>
        <p:spPr>
          <a:xfrm>
            <a:off x="2194560" y="3840480"/>
            <a:ext cx="7772400" cy="1737360"/>
          </a:xfrm>
          <a:prstGeom prst="rect">
            <a:avLst/>
          </a:prstGeom>
          <a:noFill/>
          <a:ln/>
        </p:spPr>
        <p:txBody>
          <a:bodyPr wrap="square" rtlCol="0" anchor="ctr"/>
          <a:lstStyle/>
          <a:p>
            <a:pPr algn="ctr" indent="0" marL="0">
              <a:spcAft>
                <a:spcPts val="400"/>
              </a:spcAft>
              <a:buNone/>
            </a:pPr>
            <a:r>
              <a:rPr lang="en-US" sz="1800" b="1" i="1" dirty="0">
                <a:solidFill>
                  <a:srgbClr val="FFFFFF"/>
                </a:solidFill>
              </a:rPr>
              <a:t>Principal Supervisor: Professor Farookh Hussain</a:t>
            </a:r>
            <a:endParaRPr lang="en-US" sz="1800" dirty="0"/>
          </a:p>
          <a:p>
            <a:pPr algn="ctr" indent="0" marL="0">
              <a:spcAft>
                <a:spcPts val="400"/>
              </a:spcAft>
              <a:buNone/>
            </a:pPr>
            <a:r>
              <a:rPr lang="en-US" sz="1800" b="1" i="1" dirty="0">
                <a:solidFill>
                  <a:srgbClr val="FFFFFF"/>
                </a:solidFill>
              </a:rPr>
              <a:t>Co-Supervisor: Dr. Firas Al-Doghman</a:t>
            </a:r>
            <a:endParaRPr lang="en-US" sz="1800" dirty="0"/>
          </a:p>
          <a:p>
            <a:pPr algn="ctr" indent="0" marL="0">
              <a:spcAft>
                <a:spcPts val="400"/>
              </a:spcAft>
              <a:buNone/>
            </a:pPr>
            <a:r>
              <a:rPr lang="en-US" sz="1800" b="1" i="1" dirty="0">
                <a:solidFill>
                  <a:srgbClr val="FFFFFF"/>
                </a:solidFill>
              </a:rPr>
              <a:t>Presenter: Yasir Dhaifallah O Alyoubi</a:t>
            </a:r>
            <a:endParaRPr lang="en-US" sz="1800" dirty="0"/>
          </a:p>
          <a:p>
            <a:pPr algn="ctr" indent="0" marL="0">
              <a:spcAft>
                <a:spcPts val="400"/>
              </a:spcAft>
              <a:buNone/>
            </a:pPr>
            <a:r>
              <a:rPr lang="en-US" sz="1800" b="1" i="1" dirty="0">
                <a:solidFill>
                  <a:srgbClr val="FFFFFF"/>
                </a:solidFill>
              </a:rPr>
              <a:t>STUDENT ID #: 24724078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INTRODUCTION</a:t>
            </a:r>
            <a:endParaRPr lang="en-US" sz="3000" dirty="0"/>
          </a:p>
        </p:txBody>
      </p:sp>
      <p:sp>
        <p:nvSpPr>
          <p:cNvPr id="3" name="bullets"/>
          <p:cNvSpPr txBox="1"/>
          <p:nvPr/>
        </p:nvSpPr>
        <p:spPr>
          <a:xfrm>
            <a:off x="731520" y="1143000"/>
            <a:ext cx="6309360" cy="3063240"/>
          </a:xfrm>
          <a:prstGeom prst="rect">
            <a:avLst/>
          </a:prstGeom>
          <a:noFill/>
          <a:ln/>
        </p:spPr>
        <p:txBody>
          <a:bodyPr wrap="square" rtlCol="0" anchor="t"/>
          <a:lstStyle/>
          <a:p>
            <a:pPr marL="342900" indent="-342900">
              <a:spcAft>
                <a:spcPts val="1000"/>
              </a:spcAft>
              <a:buSzPct val="100000"/>
              <a:buChar char="•"/>
            </a:pPr>
            <a:r>
              <a:rPr lang="en-US" sz="1700" dirty="0">
                <a:solidFill>
                  <a:srgbClr val="FFFFFF"/>
                </a:solidFill>
              </a:rPr>
              <a:t>Healthcare data is sensitive and is shared by independent parties: patients, guardians, doctors and hospitals.</a:t>
            </a:r>
            <a:endParaRPr lang="en-US" sz="1700" dirty="0"/>
          </a:p>
          <a:p>
            <a:pPr marL="342900" indent="-342900">
              <a:spcAft>
                <a:spcPts val="1000"/>
              </a:spcAft>
              <a:buSzPct val="100000"/>
              <a:buChar char="•"/>
            </a:pPr>
            <a:r>
              <a:rPr lang="en-US" sz="1700" dirty="0">
                <a:solidFill>
                  <a:srgbClr val="FFFFFF"/>
                </a:solidFill>
              </a:rPr>
              <a:t>Consent is usually kept as a passive record of permission.</a:t>
            </a:r>
            <a:endParaRPr lang="en-US" sz="1700" dirty="0"/>
          </a:p>
          <a:p>
            <a:pPr marL="342900" indent="-342900">
              <a:spcAft>
                <a:spcPts val="1000"/>
              </a:spcAft>
              <a:buSzPct val="100000"/>
              <a:buChar char="•"/>
            </a:pPr>
            <a:r>
              <a:rPr lang="en-US" sz="1700" dirty="0">
                <a:solidFill>
                  <a:srgbClr val="FFFFFF"/>
                </a:solidFill>
              </a:rPr>
              <a:t>A valid identity does not prove the authority to access a patient's data.</a:t>
            </a:r>
            <a:endParaRPr lang="en-US" sz="1700" dirty="0"/>
          </a:p>
          <a:p>
            <a:pPr marL="342900" indent="-342900">
              <a:spcAft>
                <a:spcPts val="1000"/>
              </a:spcAft>
              <a:buSzPct val="100000"/>
              <a:buChar char="•"/>
            </a:pPr>
            <a:r>
              <a:rPr lang="en-US" sz="1700" dirty="0">
                <a:solidFill>
                  <a:srgbClr val="FFFFFF"/>
                </a:solidFill>
              </a:rPr>
              <a:t>Even with approval, a request can go beyond the allowed purpose or data scope.</a:t>
            </a:r>
            <a:endParaRPr lang="en-US" sz="1700" dirty="0"/>
          </a:p>
        </p:txBody>
      </p:sp>
      <p:sp>
        <p:nvSpPr>
          <p:cNvPr id="4" name="card The central problem"/>
          <p:cNvSpPr/>
          <p:nvPr/>
        </p:nvSpPr>
        <p:spPr>
          <a:xfrm>
            <a:off x="7315200" y="1188720"/>
            <a:ext cx="4206240" cy="2926080"/>
          </a:xfrm>
          <a:prstGeom prst="roundRect">
            <a:avLst>
              <a:gd name="adj" fmla="val 3125"/>
            </a:avLst>
          </a:prstGeom>
          <a:solidFill>
            <a:srgbClr val="FFFFFF">
              <a:alpha val="92000"/>
            </a:srgbClr>
          </a:solidFill>
          <a:ln w="19050">
            <a:solidFill>
              <a:srgbClr val="1FB5D6"/>
            </a:solidFill>
            <a:prstDash val="solid"/>
          </a:ln>
        </p:spPr>
      </p:sp>
      <p:sp>
        <p:nvSpPr>
          <p:cNvPr id="5" name="card text The central problem"/>
          <p:cNvSpPr txBox="1"/>
          <p:nvPr/>
        </p:nvSpPr>
        <p:spPr>
          <a:xfrm>
            <a:off x="7424928" y="1261872"/>
            <a:ext cx="3986784" cy="2779776"/>
          </a:xfrm>
          <a:prstGeom prst="rect">
            <a:avLst/>
          </a:prstGeom>
          <a:noFill/>
          <a:ln/>
        </p:spPr>
        <p:txBody>
          <a:bodyPr wrap="square" rtlCol="0" anchor="t"/>
          <a:lstStyle/>
          <a:p>
            <a:pPr indent="0" marL="0">
              <a:spcAft>
                <a:spcPts val="300"/>
              </a:spcAft>
              <a:buNone/>
            </a:pPr>
            <a:r>
              <a:rPr lang="en-US" sz="1800" b="1" dirty="0">
                <a:solidFill>
                  <a:srgbClr val="0B2A4A"/>
                </a:solidFill>
              </a:rPr>
              <a:t>The central problem</a:t>
            </a:r>
            <a:endParaRPr lang="en-US" sz="1800" dirty="0"/>
          </a:p>
          <a:p>
            <a:pPr indent="0" marL="0">
              <a:spcAft>
                <a:spcPts val="300"/>
              </a:spcAft>
              <a:buNone/>
            </a:pPr>
            <a:r>
              <a:rPr lang="en-US" sz="1500" dirty="0">
                <a:solidFill>
                  <a:srgbClr val="0B1F33"/>
                </a:solidFill>
              </a:rPr>
              <a:t>No integrated, trust-oriented mechanism connects identity, authority, multi-party approval, policy, time and lifecycle in one authorisation decision whose security is formally and empirically shown.</a:t>
            </a:r>
            <a:endParaRPr lang="en-US" sz="1800" dirty="0"/>
          </a:p>
        </p:txBody>
      </p:sp>
      <p:sp>
        <p:nvSpPr>
          <p:cNvPr id="6" name="consent object box"/>
          <p:cNvSpPr/>
          <p:nvPr/>
        </p:nvSpPr>
        <p:spPr>
          <a:xfrm>
            <a:off x="731520" y="4389120"/>
            <a:ext cx="10789920" cy="1783080"/>
          </a:xfrm>
          <a:prstGeom prst="roundRect">
            <a:avLst>
              <a:gd name="adj" fmla="val 5128"/>
            </a:avLst>
          </a:prstGeom>
          <a:solidFill>
            <a:srgbClr val="0B2A4A">
              <a:alpha val="85000"/>
            </a:srgbClr>
          </a:solidFill>
          <a:ln w="19050">
            <a:solidFill>
              <a:srgbClr val="1FB5D6"/>
            </a:solidFill>
            <a:prstDash val="solid"/>
          </a:ln>
        </p:spPr>
      </p:sp>
      <p:sp>
        <p:nvSpPr>
          <p:cNvPr id="7" name="consent object text"/>
          <p:cNvSpPr txBox="1"/>
          <p:nvPr/>
        </p:nvSpPr>
        <p:spPr>
          <a:xfrm>
            <a:off x="914400" y="4434840"/>
            <a:ext cx="10424160" cy="1691640"/>
          </a:xfrm>
          <a:prstGeom prst="rect">
            <a:avLst/>
          </a:prstGeom>
          <a:noFill/>
          <a:ln/>
        </p:spPr>
        <p:txBody>
          <a:bodyPr wrap="square" rtlCol="0" anchor="ctr"/>
          <a:lstStyle/>
          <a:p>
            <a:pPr algn="ctr" indent="0" marL="0">
              <a:buNone/>
            </a:pPr>
            <a:r>
              <a:rPr lang="en-US" sz="1700" b="1" dirty="0">
                <a:solidFill>
                  <a:srgbClr val="1FB5D6"/>
                </a:solidFill>
              </a:rPr>
              <a:t>Key idea: consent as an evaluable authorisation object</a:t>
            </a:r>
            <a:endParaRPr lang="en-US" sz="1700" dirty="0"/>
          </a:p>
          <a:p>
            <a:pPr algn="ctr" indent="0" marL="0">
              <a:buNone/>
            </a:pPr>
            <a:r>
              <a:rPr lang="en-US" sz="2600" b="1" dirty="0">
                <a:solidFill>
                  <a:srgbClr val="FFFFFF"/>
                </a:solidFill>
              </a:rPr>
              <a:t>C = (I, A, P, T, L, E)</a:t>
            </a:r>
            <a:endParaRPr lang="en-US" sz="1700" dirty="0"/>
          </a:p>
          <a:p>
            <a:pPr algn="ctr" indent="0" marL="0">
              <a:buNone/>
            </a:pPr>
            <a:r>
              <a:rPr lang="en-US" sz="1400" dirty="0">
                <a:solidFill>
                  <a:srgbClr val="FFFFFF"/>
                </a:solidFill>
              </a:rPr>
              <a:t>Identity (I) · Authority (A: guardian set G, threshold N) · Policy (P: purpose, scope) · Time (T) · Jurisdiction (L) · Evidence and lifecycle state (E)</a:t>
            </a:r>
            <a:endParaRPr lang="en-US" sz="17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SYSTEMATIC LITERATURE REVIEW</a:t>
            </a:r>
            <a:endParaRPr lang="en-US" sz="30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5669280" cy="914400"/>
        </p:xfrm>
        <a:graphic>
          <a:graphicData uri="http://schemas.openxmlformats.org/drawingml/2006/table">
            <a:tbl>
              <a:tblPr/>
              <a:tblGrid>
                <a:gridCol w="1325880"/>
                <a:gridCol w="4343400"/>
              </a:tblGrid>
              <a:tr h="411480">
                <a:tc>
                  <a:txBody>
                    <a:bodyPr/>
                    <a:lstStyle/>
                    <a:p>
                      <a:pPr indent="0" marL="0">
                        <a:buNone/>
                      </a:pPr>
                      <a:r>
                        <a:rPr lang="en-US" sz="1300" b="1" dirty="0">
                          <a:solidFill>
                            <a:srgbClr val="FFFFFF"/>
                          </a:solidFill>
                        </a:rPr>
                        <a:t>Stage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Details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300" b="1" dirty="0">
                          <a:solidFill>
                            <a:srgbClr val="0B1F33"/>
                          </a:solidFill>
                        </a:rPr>
                        <a:t>Protocol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PRISMA 2020; written protocol (v1.1) fixed before screening</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0B1F33"/>
                          </a:solidFill>
                        </a:rPr>
                        <a:t>Search</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One master query, three concept blocks; seven databases; Google Scholar as discovery arm</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0B1F33"/>
                          </a:solidFill>
                        </a:rPr>
                        <a:t>Dates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24 and 25 August 2026; ACM DL on 5 September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Screening</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Title, abstract, then full text; IC1 to IC7, EC1 to EC9</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0B1F33"/>
                          </a:solidFill>
                        </a:rPr>
                        <a:t>Quality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Included when QA1 + QA2 + QA3 + QA4 ≥ 3.0 (Yes 1, Partial 0.5, No 0)</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0B1F33"/>
                          </a:solidFill>
                        </a:rPr>
                        <a:t>Result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25 primary studies: 23 core and 2 supporting</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4" name="F2 panel"/>
          <p:cNvSpPr/>
          <p:nvPr/>
        </p:nvSpPr>
        <p:spPr>
          <a:xfrm>
            <a:off x="6446520" y="1051560"/>
            <a:ext cx="5212080" cy="5486400"/>
          </a:xfrm>
          <a:prstGeom prst="roundRect">
            <a:avLst>
              <a:gd name="adj" fmla="val 2105"/>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2" descr="/tmp/deck/img/F2.png">    </p:cNvPr>
          <p:cNvPicPr>
            <a:picLocks noChangeAspect="1"/>
          </p:cNvPicPr>
          <p:nvPr/>
        </p:nvPicPr>
        <p:blipFill>
          <a:blip r:embed="rId1"/>
          <a:stretch>
            <a:fillRect/>
          </a:stretch>
        </p:blipFill>
        <p:spPr>
          <a:xfrm>
            <a:off x="6556248" y="1515729"/>
            <a:ext cx="4992624" cy="4558063"/>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COMPARISON AGAINST THE REQUIREMENTS</a:t>
            </a:r>
            <a:endParaRPr lang="en-US" sz="30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1097280" y="1005840"/>
          <a:ext cx="9966960" cy="914400"/>
        </p:xfrm>
        <a:graphic>
          <a:graphicData uri="http://schemas.openxmlformats.org/drawingml/2006/table">
            <a:tbl>
              <a:tblPr/>
              <a:tblGrid>
                <a:gridCol w="3383280"/>
                <a:gridCol w="1097280"/>
                <a:gridCol w="1097280"/>
                <a:gridCol w="1097280"/>
                <a:gridCol w="1097280"/>
                <a:gridCol w="1097280"/>
                <a:gridCol w="1097280"/>
              </a:tblGrid>
              <a:tr h="205740">
                <a:tc>
                  <a:txBody>
                    <a:bodyPr/>
                    <a:lstStyle/>
                    <a:p>
                      <a:pPr indent="0" marL="0">
                        <a:buNone/>
                      </a:pPr>
                      <a:r>
                        <a:rPr lang="en-US" sz="950" b="1" dirty="0">
                          <a:solidFill>
                            <a:srgbClr val="FFFFFF"/>
                          </a:solidFill>
                        </a:rPr>
                        <a:t>Study</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1</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2</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rPr>
                        <a:t>Req 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205740">
                <a:tc>
                  <a:txBody>
                    <a:bodyPr/>
                    <a:lstStyle/>
                    <a:p>
                      <a:pPr indent="0" marL="0">
                        <a:buNone/>
                      </a:pPr>
                      <a:r>
                        <a:rPr lang="en-US" sz="950" dirty="0">
                          <a:solidFill>
                            <a:srgbClr val="0B1F33"/>
                          </a:solidFill>
                        </a:rPr>
                        <a:t>S1 [50] Abbasi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 [48] Albalwy et al. (2021)</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S3 [51] Al Amin et al. (2023)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S4 [27] Ekholm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S5 [28] Eneh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S6 [52] Hagström et al.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S7 [47] Jaiman and Urovi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S8 [53] Zhao and Su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S9 [49] Li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S10 [23] Madine et al.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S11 [54] Maruthi and Singh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S12 [55] Mei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S13 [29] Panagoulias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S14 [21] Phuyal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S15 [56] Phuyal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S16 [25] Punia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S17 [30] Román-Martínez et al. (2023)</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S18 [57] Hema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S19 [58] SooHoo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S20 [26] Tan et al. (2024)</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S21 [24] Tith et al. (2020)</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S22 [59] Tremper et al. (2026)</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S23 [60] Tseng et al.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S24 [61] Wu et al. (2022)</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8A6D00"/>
                          </a:solidFill>
                        </a:rPr>
                        <a:t>Partial</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205740">
                <a:tc>
                  <a:txBody>
                    <a:bodyPr/>
                    <a:lstStyle/>
                    <a:p>
                      <a:pPr indent="0" marL="0">
                        <a:buNone/>
                      </a:pPr>
                      <a:r>
                        <a:rPr lang="en-US" sz="950" dirty="0">
                          <a:solidFill>
                            <a:srgbClr val="0B1F33"/>
                          </a:solidFill>
                        </a:rPr>
                        <a:t>S25 [22] Wu and Zhang (2025)</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rPr>
                        <a:t>No</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rPr>
                        <a:t>Yes</a:t>
                      </a:r>
                      <a:endParaRPr lang="en-US" sz="9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GAPS</a:t>
            </a:r>
            <a:endParaRPr lang="en-US" sz="3000" dirty="0"/>
          </a:p>
        </p:txBody>
      </p:sp>
      <p:sp>
        <p:nvSpPr>
          <p:cNvPr id="3" name="card Gap 1"/>
          <p:cNvSpPr/>
          <p:nvPr/>
        </p:nvSpPr>
        <p:spPr>
          <a:xfrm>
            <a:off x="640080" y="1188720"/>
            <a:ext cx="5349240" cy="1508760"/>
          </a:xfrm>
          <a:prstGeom prst="roundRect">
            <a:avLst>
              <a:gd name="adj" fmla="val 6061"/>
            </a:avLst>
          </a:prstGeom>
          <a:solidFill>
            <a:srgbClr val="FFFFFF">
              <a:alpha val="92000"/>
            </a:srgbClr>
          </a:solidFill>
          <a:ln w="19050">
            <a:solidFill>
              <a:srgbClr val="1FB5D6"/>
            </a:solidFill>
            <a:prstDash val="solid"/>
          </a:ln>
        </p:spPr>
      </p:sp>
      <p:sp>
        <p:nvSpPr>
          <p:cNvPr id="4" name="card text Gap 1"/>
          <p:cNvSpPr txBox="1"/>
          <p:nvPr/>
        </p:nvSpPr>
        <p:spPr>
          <a:xfrm>
            <a:off x="777240" y="1280160"/>
            <a:ext cx="5074920" cy="1325880"/>
          </a:xfrm>
          <a:prstGeom prst="rect">
            <a:avLst/>
          </a:prstGeom>
          <a:noFill/>
          <a:ln/>
        </p:spPr>
        <p:txBody>
          <a:bodyPr wrap="square" rtlCol="0" anchor="t"/>
          <a:lstStyle/>
          <a:p>
            <a:pPr indent="0" marL="0">
              <a:spcAft>
                <a:spcPts val="400"/>
              </a:spcAft>
              <a:buNone/>
            </a:pPr>
            <a:r>
              <a:rPr lang="en-US" sz="1900" b="1" dirty="0">
                <a:solidFill>
                  <a:srgbClr val="0B2A4A"/>
                </a:solidFill>
              </a:rPr>
              <a:t>Gap 1</a:t>
            </a:r>
            <a:endParaRPr lang="en-US" sz="1900" dirty="0"/>
          </a:p>
          <a:p>
            <a:pPr indent="0" marL="0">
              <a:spcAft>
                <a:spcPts val="400"/>
              </a:spcAft>
              <a:buNone/>
            </a:pPr>
            <a:r>
              <a:rPr lang="en-US" sz="1600" dirty="0">
                <a:solidFill>
                  <a:srgbClr val="0B1F33"/>
                </a:solidFill>
              </a:rPr>
              <a:t>Consent is treated as a record of permission; evaluable objects carry only some conditions and are issued by one party.</a:t>
            </a:r>
            <a:endParaRPr lang="en-US" sz="1900" dirty="0"/>
          </a:p>
        </p:txBody>
      </p:sp>
      <p:sp>
        <p:nvSpPr>
          <p:cNvPr id="5" name="card Gap 2"/>
          <p:cNvSpPr/>
          <p:nvPr/>
        </p:nvSpPr>
        <p:spPr>
          <a:xfrm>
            <a:off x="6172200" y="1188720"/>
            <a:ext cx="5349240" cy="1508760"/>
          </a:xfrm>
          <a:prstGeom prst="roundRect">
            <a:avLst>
              <a:gd name="adj" fmla="val 6061"/>
            </a:avLst>
          </a:prstGeom>
          <a:solidFill>
            <a:srgbClr val="FFFFFF">
              <a:alpha val="92000"/>
            </a:srgbClr>
          </a:solidFill>
          <a:ln w="19050">
            <a:solidFill>
              <a:srgbClr val="1FB5D6"/>
            </a:solidFill>
            <a:prstDash val="solid"/>
          </a:ln>
        </p:spPr>
      </p:sp>
      <p:sp>
        <p:nvSpPr>
          <p:cNvPr id="6" name="card text Gap 2"/>
          <p:cNvSpPr txBox="1"/>
          <p:nvPr/>
        </p:nvSpPr>
        <p:spPr>
          <a:xfrm>
            <a:off x="6309360" y="1280160"/>
            <a:ext cx="5074920" cy="1325880"/>
          </a:xfrm>
          <a:prstGeom prst="rect">
            <a:avLst/>
          </a:prstGeom>
          <a:noFill/>
          <a:ln/>
        </p:spPr>
        <p:txBody>
          <a:bodyPr wrap="square" rtlCol="0" anchor="t"/>
          <a:lstStyle/>
          <a:p>
            <a:pPr indent="0" marL="0">
              <a:spcAft>
                <a:spcPts val="400"/>
              </a:spcAft>
              <a:buNone/>
            </a:pPr>
            <a:r>
              <a:rPr lang="en-US" sz="1900" b="1" dirty="0">
                <a:solidFill>
                  <a:srgbClr val="0B2A4A"/>
                </a:solidFill>
              </a:rPr>
              <a:t>Gap 2</a:t>
            </a:r>
            <a:endParaRPr lang="en-US" sz="1900" dirty="0"/>
          </a:p>
          <a:p>
            <a:pPr indent="0" marL="0">
              <a:spcAft>
                <a:spcPts val="400"/>
              </a:spcAft>
              <a:buNone/>
            </a:pPr>
            <a:r>
              <a:rPr lang="en-US" sz="1600" dirty="0">
                <a:solidFill>
                  <a:srgbClr val="0B1F33"/>
                </a:solidFill>
              </a:rPr>
              <a:t>Identity shows who a participant is, not what they may do; authority is verified separately in only 10 of 25 studies.</a:t>
            </a:r>
            <a:endParaRPr lang="en-US" sz="1900" dirty="0"/>
          </a:p>
        </p:txBody>
      </p:sp>
      <p:sp>
        <p:nvSpPr>
          <p:cNvPr id="7" name="card Gap 3"/>
          <p:cNvSpPr/>
          <p:nvPr/>
        </p:nvSpPr>
        <p:spPr>
          <a:xfrm>
            <a:off x="640080" y="2880360"/>
            <a:ext cx="5349240" cy="1508760"/>
          </a:xfrm>
          <a:prstGeom prst="roundRect">
            <a:avLst>
              <a:gd name="adj" fmla="val 6061"/>
            </a:avLst>
          </a:prstGeom>
          <a:solidFill>
            <a:srgbClr val="FFFFFF">
              <a:alpha val="92000"/>
            </a:srgbClr>
          </a:solidFill>
          <a:ln w="19050">
            <a:solidFill>
              <a:srgbClr val="1FB5D6"/>
            </a:solidFill>
            <a:prstDash val="solid"/>
          </a:ln>
        </p:spPr>
      </p:sp>
      <p:sp>
        <p:nvSpPr>
          <p:cNvPr id="8" name="card text Gap 3"/>
          <p:cNvSpPr txBox="1"/>
          <p:nvPr/>
        </p:nvSpPr>
        <p:spPr>
          <a:xfrm>
            <a:off x="777240" y="2971800"/>
            <a:ext cx="5074920" cy="1325880"/>
          </a:xfrm>
          <a:prstGeom prst="rect">
            <a:avLst/>
          </a:prstGeom>
          <a:noFill/>
          <a:ln/>
        </p:spPr>
        <p:txBody>
          <a:bodyPr wrap="square" rtlCol="0" anchor="t"/>
          <a:lstStyle/>
          <a:p>
            <a:pPr indent="0" marL="0">
              <a:spcAft>
                <a:spcPts val="400"/>
              </a:spcAft>
              <a:buNone/>
            </a:pPr>
            <a:r>
              <a:rPr lang="en-US" sz="1900" b="1" dirty="0">
                <a:solidFill>
                  <a:srgbClr val="0B2A4A"/>
                </a:solidFill>
              </a:rPr>
              <a:t>Gap 3</a:t>
            </a:r>
            <a:endParaRPr lang="en-US" sz="1900" dirty="0"/>
          </a:p>
          <a:p>
            <a:pPr indent="0" marL="0">
              <a:spcAft>
                <a:spcPts val="400"/>
              </a:spcAft>
              <a:buNone/>
            </a:pPr>
            <a:r>
              <a:rPr lang="en-US" sz="1600" dirty="0">
                <a:solidFill>
                  <a:srgbClr val="0B1F33"/>
                </a:solidFill>
              </a:rPr>
              <a:t>Multi-party approval is a contingency path or a registration step, not a standing condition of every access decision.</a:t>
            </a:r>
            <a:endParaRPr lang="en-US" sz="1900" dirty="0"/>
          </a:p>
        </p:txBody>
      </p:sp>
      <p:sp>
        <p:nvSpPr>
          <p:cNvPr id="9" name="card Gap 4"/>
          <p:cNvSpPr/>
          <p:nvPr/>
        </p:nvSpPr>
        <p:spPr>
          <a:xfrm>
            <a:off x="6172200" y="2880360"/>
            <a:ext cx="5349240" cy="1508760"/>
          </a:xfrm>
          <a:prstGeom prst="roundRect">
            <a:avLst>
              <a:gd name="adj" fmla="val 6061"/>
            </a:avLst>
          </a:prstGeom>
          <a:solidFill>
            <a:srgbClr val="FFFFFF">
              <a:alpha val="92000"/>
            </a:srgbClr>
          </a:solidFill>
          <a:ln w="19050">
            <a:solidFill>
              <a:srgbClr val="1FB5D6"/>
            </a:solidFill>
            <a:prstDash val="solid"/>
          </a:ln>
        </p:spPr>
      </p:sp>
      <p:sp>
        <p:nvSpPr>
          <p:cNvPr id="10" name="card text Gap 4"/>
          <p:cNvSpPr txBox="1"/>
          <p:nvPr/>
        </p:nvSpPr>
        <p:spPr>
          <a:xfrm>
            <a:off x="6309360" y="2971800"/>
            <a:ext cx="5074920" cy="1325880"/>
          </a:xfrm>
          <a:prstGeom prst="rect">
            <a:avLst/>
          </a:prstGeom>
          <a:noFill/>
          <a:ln/>
        </p:spPr>
        <p:txBody>
          <a:bodyPr wrap="square" rtlCol="0" anchor="t"/>
          <a:lstStyle/>
          <a:p>
            <a:pPr indent="0" marL="0">
              <a:spcAft>
                <a:spcPts val="400"/>
              </a:spcAft>
              <a:buNone/>
            </a:pPr>
            <a:r>
              <a:rPr lang="en-US" sz="1900" b="1" dirty="0">
                <a:solidFill>
                  <a:srgbClr val="0B2A4A"/>
                </a:solidFill>
              </a:rPr>
              <a:t>Gap 4</a:t>
            </a:r>
            <a:endParaRPr lang="en-US" sz="1900" dirty="0"/>
          </a:p>
          <a:p>
            <a:pPr indent="0" marL="0">
              <a:spcAft>
                <a:spcPts val="400"/>
              </a:spcAft>
              <a:buNone/>
            </a:pPr>
            <a:r>
              <a:rPr lang="en-US" sz="1600" dirty="0">
                <a:solidFill>
                  <a:srgbClr val="0B1F33"/>
                </a:solidFill>
              </a:rPr>
              <a:t>Purpose, data scope and jurisdiction are rarely bound to the same decision as identity, authority and approval.</a:t>
            </a:r>
            <a:endParaRPr lang="en-US" sz="1900" dirty="0"/>
          </a:p>
        </p:txBody>
      </p:sp>
      <p:sp>
        <p:nvSpPr>
          <p:cNvPr id="11" name="card Gap 5"/>
          <p:cNvSpPr/>
          <p:nvPr/>
        </p:nvSpPr>
        <p:spPr>
          <a:xfrm>
            <a:off x="640080" y="4572000"/>
            <a:ext cx="5349240" cy="1508760"/>
          </a:xfrm>
          <a:prstGeom prst="roundRect">
            <a:avLst>
              <a:gd name="adj" fmla="val 6061"/>
            </a:avLst>
          </a:prstGeom>
          <a:solidFill>
            <a:srgbClr val="FFFFFF">
              <a:alpha val="92000"/>
            </a:srgbClr>
          </a:solidFill>
          <a:ln w="19050">
            <a:solidFill>
              <a:srgbClr val="1FB5D6"/>
            </a:solidFill>
            <a:prstDash val="solid"/>
          </a:ln>
        </p:spPr>
      </p:sp>
      <p:sp>
        <p:nvSpPr>
          <p:cNvPr id="12" name="card text Gap 5"/>
          <p:cNvSpPr txBox="1"/>
          <p:nvPr/>
        </p:nvSpPr>
        <p:spPr>
          <a:xfrm>
            <a:off x="777240" y="4663440"/>
            <a:ext cx="5074920" cy="1325880"/>
          </a:xfrm>
          <a:prstGeom prst="rect">
            <a:avLst/>
          </a:prstGeom>
          <a:noFill/>
          <a:ln/>
        </p:spPr>
        <p:txBody>
          <a:bodyPr wrap="square" rtlCol="0" anchor="t"/>
          <a:lstStyle/>
          <a:p>
            <a:pPr indent="0" marL="0">
              <a:spcAft>
                <a:spcPts val="400"/>
              </a:spcAft>
              <a:buNone/>
            </a:pPr>
            <a:r>
              <a:rPr lang="en-US" sz="1900" b="1" dirty="0">
                <a:solidFill>
                  <a:srgbClr val="0B2A4A"/>
                </a:solidFill>
              </a:rPr>
              <a:t>Gap 5</a:t>
            </a:r>
            <a:endParaRPr lang="en-US" sz="1900" dirty="0"/>
          </a:p>
          <a:p>
            <a:pPr indent="0" marL="0">
              <a:spcAft>
                <a:spcPts val="400"/>
              </a:spcAft>
              <a:buNone/>
            </a:pPr>
            <a:r>
              <a:rPr lang="en-US" sz="1600" dirty="0">
                <a:solidFill>
                  <a:srgbClr val="0B1F33"/>
                </a:solidFill>
              </a:rPr>
              <a:t>Time, lifecycle and revocation are often checked on a credential or at registration, not at each access request.</a:t>
            </a:r>
            <a:endParaRPr lang="en-US" sz="1900" dirty="0"/>
          </a:p>
        </p:txBody>
      </p:sp>
      <p:sp>
        <p:nvSpPr>
          <p:cNvPr id="13" name="card Gap 6"/>
          <p:cNvSpPr/>
          <p:nvPr/>
        </p:nvSpPr>
        <p:spPr>
          <a:xfrm>
            <a:off x="6172200" y="4572000"/>
            <a:ext cx="5349240" cy="1508760"/>
          </a:xfrm>
          <a:prstGeom prst="roundRect">
            <a:avLst>
              <a:gd name="adj" fmla="val 6061"/>
            </a:avLst>
          </a:prstGeom>
          <a:solidFill>
            <a:srgbClr val="FFFFFF">
              <a:alpha val="92000"/>
            </a:srgbClr>
          </a:solidFill>
          <a:ln w="19050">
            <a:solidFill>
              <a:srgbClr val="1FB5D6"/>
            </a:solidFill>
            <a:prstDash val="solid"/>
          </a:ln>
        </p:spPr>
      </p:sp>
      <p:sp>
        <p:nvSpPr>
          <p:cNvPr id="14" name="card text Gap 6"/>
          <p:cNvSpPr txBox="1"/>
          <p:nvPr/>
        </p:nvSpPr>
        <p:spPr>
          <a:xfrm>
            <a:off x="6309360" y="4663440"/>
            <a:ext cx="5074920" cy="1325880"/>
          </a:xfrm>
          <a:prstGeom prst="rect">
            <a:avLst/>
          </a:prstGeom>
          <a:noFill/>
          <a:ln/>
        </p:spPr>
        <p:txBody>
          <a:bodyPr wrap="square" rtlCol="0" anchor="t"/>
          <a:lstStyle/>
          <a:p>
            <a:pPr indent="0" marL="0">
              <a:spcAft>
                <a:spcPts val="400"/>
              </a:spcAft>
              <a:buNone/>
            </a:pPr>
            <a:r>
              <a:rPr lang="en-US" sz="1900" b="1" dirty="0">
                <a:solidFill>
                  <a:srgbClr val="0B2A4A"/>
                </a:solidFill>
              </a:rPr>
              <a:t>Gap 6</a:t>
            </a:r>
            <a:endParaRPr lang="en-US" sz="1900" dirty="0"/>
          </a:p>
          <a:p>
            <a:pPr indent="0" marL="0">
              <a:spcAft>
                <a:spcPts val="400"/>
              </a:spcAft>
              <a:buNone/>
            </a:pPr>
            <a:r>
              <a:rPr lang="en-US" sz="1600" dirty="0">
                <a:solidFill>
                  <a:srgbClr val="0B1F33"/>
                </a:solidFill>
              </a:rPr>
              <a:t>The decision as a whole is neither formally proved nor systematically tested; proofs cover only a fragment.</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QUESTIONS</a:t>
            </a:r>
            <a:endParaRPr lang="en-US" sz="3000" dirty="0"/>
          </a:p>
        </p:txBody>
      </p:sp>
      <p:sp>
        <p:nvSpPr>
          <p:cNvPr id="3" name="rq box"/>
          <p:cNvSpPr/>
          <p:nvPr/>
        </p:nvSpPr>
        <p:spPr>
          <a:xfrm>
            <a:off x="640080" y="1097280"/>
            <a:ext cx="10927080" cy="1234440"/>
          </a:xfrm>
          <a:prstGeom prst="roundRect">
            <a:avLst>
              <a:gd name="adj" fmla="val 7407"/>
            </a:avLst>
          </a:prstGeom>
          <a:solidFill>
            <a:srgbClr val="0B2A4A">
              <a:alpha val="85000"/>
            </a:srgbClr>
          </a:solidFill>
          <a:ln w="19050">
            <a:solidFill>
              <a:srgbClr val="1FB5D6"/>
            </a:solidFill>
            <a:prstDash val="solid"/>
          </a:ln>
        </p:spPr>
      </p:sp>
      <p:sp>
        <p:nvSpPr>
          <p:cNvPr id="4" name="rq text"/>
          <p:cNvSpPr txBox="1"/>
          <p:nvPr/>
        </p:nvSpPr>
        <p:spPr>
          <a:xfrm>
            <a:off x="822960" y="1143000"/>
            <a:ext cx="10561320" cy="1143000"/>
          </a:xfrm>
          <a:prstGeom prst="rect">
            <a:avLst/>
          </a:prstGeom>
          <a:noFill/>
          <a:ln/>
        </p:spPr>
        <p:txBody>
          <a:bodyPr wrap="square" rtlCol="0" anchor="ctr"/>
          <a:lstStyle/>
          <a:p>
            <a:pPr algn="ctr" indent="0" marL="0">
              <a:buNone/>
            </a:pPr>
            <a:r>
              <a:rPr lang="en-US" sz="1700" b="1" i="1" dirty="0">
                <a:solidFill>
                  <a:srgbClr val="1FB5D6"/>
                </a:solidFill>
              </a:rPr>
              <a:t>Main question: </a:t>
            </a:r>
            <a:pPr algn="ctr" indent="0" marL="0">
              <a:buNone/>
            </a:pPr>
            <a:r>
              <a:rPr lang="en-US" sz="1700" i="1" dirty="0">
                <a:solidFill>
                  <a:srgbClr val="FFFFFF"/>
                </a:solidFill>
              </a:rPr>
              <a:t>How can a trust-oriented computing framework establish and enforce trustworthy multi-party consent for decentralised healthcare data sharing under identity, authority, and policy constraints?</a:t>
            </a:r>
            <a:endParaRPr lang="en-US" sz="1700" dirty="0"/>
          </a:p>
        </p:txBody>
      </p:sp>
      <p:sp>
        <p:nvSpPr>
          <p:cNvPr id="5" name="card RQ1"/>
          <p:cNvSpPr/>
          <p:nvPr/>
        </p:nvSpPr>
        <p:spPr>
          <a:xfrm>
            <a:off x="640080" y="2560320"/>
            <a:ext cx="3520440" cy="1691640"/>
          </a:xfrm>
          <a:prstGeom prst="roundRect">
            <a:avLst>
              <a:gd name="adj" fmla="val 5405"/>
            </a:avLst>
          </a:prstGeom>
          <a:solidFill>
            <a:srgbClr val="FFFFFF">
              <a:alpha val="92000"/>
            </a:srgbClr>
          </a:solidFill>
          <a:ln w="19050">
            <a:solidFill>
              <a:srgbClr val="1FB5D6"/>
            </a:solidFill>
            <a:prstDash val="solid"/>
          </a:ln>
        </p:spPr>
      </p:sp>
      <p:sp>
        <p:nvSpPr>
          <p:cNvPr id="6" name="card text RQ1"/>
          <p:cNvSpPr txBox="1"/>
          <p:nvPr/>
        </p:nvSpPr>
        <p:spPr>
          <a:xfrm>
            <a:off x="749808" y="2633472"/>
            <a:ext cx="3300984" cy="1545336"/>
          </a:xfrm>
          <a:prstGeom prst="rect">
            <a:avLst/>
          </a:prstGeom>
          <a:noFill/>
          <a:ln/>
        </p:spPr>
        <p:txBody>
          <a:bodyPr wrap="square" rtlCol="0" anchor="t"/>
          <a:lstStyle/>
          <a:p>
            <a:pPr indent="0" marL="0">
              <a:spcAft>
                <a:spcPts val="300"/>
              </a:spcAft>
              <a:buNone/>
            </a:pPr>
            <a:r>
              <a:rPr lang="en-US" sz="1700" b="1" dirty="0">
                <a:solidFill>
                  <a:srgbClr val="0B2A4A"/>
                </a:solidFill>
              </a:rPr>
              <a:t>RQ1</a:t>
            </a:r>
            <a:endParaRPr lang="en-US" sz="1700" dirty="0"/>
          </a:p>
          <a:p>
            <a:pPr indent="0" marL="0">
              <a:spcAft>
                <a:spcPts val="300"/>
              </a:spcAft>
              <a:buNone/>
            </a:pPr>
            <a:r>
              <a:rPr lang="en-US" sz="1400" dirty="0">
                <a:solidFill>
                  <a:srgbClr val="0B1F33"/>
                </a:solidFill>
              </a:rPr>
              <a:t>How can patient consent be modelled as a trust-aware authorisation object with identity, authority, policy and evidence?</a:t>
            </a:r>
            <a:endParaRPr lang="en-US" sz="1700" dirty="0"/>
          </a:p>
        </p:txBody>
      </p:sp>
      <p:sp>
        <p:nvSpPr>
          <p:cNvPr id="7" name="card RQ2"/>
          <p:cNvSpPr/>
          <p:nvPr/>
        </p:nvSpPr>
        <p:spPr>
          <a:xfrm>
            <a:off x="4325112" y="2560320"/>
            <a:ext cx="3520440" cy="1691640"/>
          </a:xfrm>
          <a:prstGeom prst="roundRect">
            <a:avLst>
              <a:gd name="adj" fmla="val 5405"/>
            </a:avLst>
          </a:prstGeom>
          <a:solidFill>
            <a:srgbClr val="FFFFFF">
              <a:alpha val="92000"/>
            </a:srgbClr>
          </a:solidFill>
          <a:ln w="19050">
            <a:solidFill>
              <a:srgbClr val="1FB5D6"/>
            </a:solidFill>
            <a:prstDash val="solid"/>
          </a:ln>
        </p:spPr>
      </p:sp>
      <p:sp>
        <p:nvSpPr>
          <p:cNvPr id="8" name="card text RQ2"/>
          <p:cNvSpPr txBox="1"/>
          <p:nvPr/>
        </p:nvSpPr>
        <p:spPr>
          <a:xfrm>
            <a:off x="4434840" y="2633472"/>
            <a:ext cx="3300984" cy="1545336"/>
          </a:xfrm>
          <a:prstGeom prst="rect">
            <a:avLst/>
          </a:prstGeom>
          <a:noFill/>
          <a:ln/>
        </p:spPr>
        <p:txBody>
          <a:bodyPr wrap="square" rtlCol="0" anchor="t"/>
          <a:lstStyle/>
          <a:p>
            <a:pPr indent="0" marL="0">
              <a:spcAft>
                <a:spcPts val="300"/>
              </a:spcAft>
              <a:buNone/>
            </a:pPr>
            <a:r>
              <a:rPr lang="en-US" sz="1700" b="1" dirty="0">
                <a:solidFill>
                  <a:srgbClr val="0B2A4A"/>
                </a:solidFill>
              </a:rPr>
              <a:t>RQ2</a:t>
            </a:r>
            <a:endParaRPr lang="en-US" sz="1700" dirty="0"/>
          </a:p>
          <a:p>
            <a:pPr indent="0" marL="0">
              <a:spcAft>
                <a:spcPts val="300"/>
              </a:spcAft>
              <a:buNone/>
            </a:pPr>
            <a:r>
              <a:rPr lang="en-US" sz="1400" dirty="0">
                <a:solidFill>
                  <a:srgbClr val="0B1F33"/>
                </a:solidFill>
              </a:rPr>
              <a:t>How can DIDs and VCs establish trustworthy participants while separating authentication from authority?</a:t>
            </a:r>
            <a:endParaRPr lang="en-US" sz="1700" dirty="0"/>
          </a:p>
        </p:txBody>
      </p:sp>
      <p:sp>
        <p:nvSpPr>
          <p:cNvPr id="9" name="card RQ3"/>
          <p:cNvSpPr/>
          <p:nvPr/>
        </p:nvSpPr>
        <p:spPr>
          <a:xfrm>
            <a:off x="8010144" y="2560320"/>
            <a:ext cx="3520440" cy="1691640"/>
          </a:xfrm>
          <a:prstGeom prst="roundRect">
            <a:avLst>
              <a:gd name="adj" fmla="val 5405"/>
            </a:avLst>
          </a:prstGeom>
          <a:solidFill>
            <a:srgbClr val="FFFFFF">
              <a:alpha val="92000"/>
            </a:srgbClr>
          </a:solidFill>
          <a:ln w="19050">
            <a:solidFill>
              <a:srgbClr val="1FB5D6"/>
            </a:solidFill>
            <a:prstDash val="solid"/>
          </a:ln>
        </p:spPr>
      </p:sp>
      <p:sp>
        <p:nvSpPr>
          <p:cNvPr id="10" name="card text RQ3"/>
          <p:cNvSpPr txBox="1"/>
          <p:nvPr/>
        </p:nvSpPr>
        <p:spPr>
          <a:xfrm>
            <a:off x="8119872" y="2633472"/>
            <a:ext cx="3300984" cy="1545336"/>
          </a:xfrm>
          <a:prstGeom prst="rect">
            <a:avLst/>
          </a:prstGeom>
          <a:noFill/>
          <a:ln/>
        </p:spPr>
        <p:txBody>
          <a:bodyPr wrap="square" rtlCol="0" anchor="t"/>
          <a:lstStyle/>
          <a:p>
            <a:pPr indent="0" marL="0">
              <a:spcAft>
                <a:spcPts val="300"/>
              </a:spcAft>
              <a:buNone/>
            </a:pPr>
            <a:r>
              <a:rPr lang="en-US" sz="1700" b="1" dirty="0">
                <a:solidFill>
                  <a:srgbClr val="0B2A4A"/>
                </a:solidFill>
              </a:rPr>
              <a:t>RQ3</a:t>
            </a:r>
            <a:endParaRPr lang="en-US" sz="1700" dirty="0"/>
          </a:p>
          <a:p>
            <a:pPr indent="0" marL="0">
              <a:spcAft>
                <a:spcPts val="300"/>
              </a:spcAft>
              <a:buNone/>
            </a:pPr>
            <a:r>
              <a:rPr lang="en-US" sz="1400" dirty="0">
                <a:solidFill>
                  <a:srgbClr val="0B1F33"/>
                </a:solidFill>
              </a:rPr>
              <a:t>How can independently verified participants jointly approve, so no single participant can authorise alone?</a:t>
            </a:r>
            <a:endParaRPr lang="en-US" sz="1700" dirty="0"/>
          </a:p>
        </p:txBody>
      </p:sp>
      <p:sp>
        <p:nvSpPr>
          <p:cNvPr id="11" name="card RQ4"/>
          <p:cNvSpPr/>
          <p:nvPr/>
        </p:nvSpPr>
        <p:spPr>
          <a:xfrm>
            <a:off x="640080" y="4434840"/>
            <a:ext cx="3520440" cy="1691640"/>
          </a:xfrm>
          <a:prstGeom prst="roundRect">
            <a:avLst>
              <a:gd name="adj" fmla="val 5405"/>
            </a:avLst>
          </a:prstGeom>
          <a:solidFill>
            <a:srgbClr val="FFFFFF">
              <a:alpha val="92000"/>
            </a:srgbClr>
          </a:solidFill>
          <a:ln w="19050">
            <a:solidFill>
              <a:srgbClr val="1FB5D6"/>
            </a:solidFill>
            <a:prstDash val="solid"/>
          </a:ln>
        </p:spPr>
      </p:sp>
      <p:sp>
        <p:nvSpPr>
          <p:cNvPr id="12" name="card text RQ4"/>
          <p:cNvSpPr txBox="1"/>
          <p:nvPr/>
        </p:nvSpPr>
        <p:spPr>
          <a:xfrm>
            <a:off x="749808" y="4507992"/>
            <a:ext cx="3300984" cy="1545336"/>
          </a:xfrm>
          <a:prstGeom prst="rect">
            <a:avLst/>
          </a:prstGeom>
          <a:noFill/>
          <a:ln/>
        </p:spPr>
        <p:txBody>
          <a:bodyPr wrap="square" rtlCol="0" anchor="t"/>
          <a:lstStyle/>
          <a:p>
            <a:pPr indent="0" marL="0">
              <a:spcAft>
                <a:spcPts val="300"/>
              </a:spcAft>
              <a:buNone/>
            </a:pPr>
            <a:r>
              <a:rPr lang="en-US" sz="1700" b="1" dirty="0">
                <a:solidFill>
                  <a:srgbClr val="0B2A4A"/>
                </a:solidFill>
              </a:rPr>
              <a:t>RQ4</a:t>
            </a:r>
            <a:endParaRPr lang="en-US" sz="1700" dirty="0"/>
          </a:p>
          <a:p>
            <a:pPr indent="0" marL="0">
              <a:spcAft>
                <a:spcPts val="300"/>
              </a:spcAft>
              <a:buNone/>
            </a:pPr>
            <a:r>
              <a:rPr lang="en-US" sz="1400" dirty="0">
                <a:solidFill>
                  <a:srgbClr val="0B1F33"/>
                </a:solidFill>
              </a:rPr>
              <a:t>How can purpose and data-scope constraints stop valid identities and approvals from reaching unauthorised data?</a:t>
            </a:r>
            <a:endParaRPr lang="en-US" sz="1700" dirty="0"/>
          </a:p>
        </p:txBody>
      </p:sp>
      <p:sp>
        <p:nvSpPr>
          <p:cNvPr id="13" name="card RQ5"/>
          <p:cNvSpPr/>
          <p:nvPr/>
        </p:nvSpPr>
        <p:spPr>
          <a:xfrm>
            <a:off x="4325112" y="4434840"/>
            <a:ext cx="3520440" cy="1691640"/>
          </a:xfrm>
          <a:prstGeom prst="roundRect">
            <a:avLst>
              <a:gd name="adj" fmla="val 5405"/>
            </a:avLst>
          </a:prstGeom>
          <a:solidFill>
            <a:srgbClr val="FFFFFF">
              <a:alpha val="92000"/>
            </a:srgbClr>
          </a:solidFill>
          <a:ln w="19050">
            <a:solidFill>
              <a:srgbClr val="1FB5D6"/>
            </a:solidFill>
            <a:prstDash val="solid"/>
          </a:ln>
        </p:spPr>
      </p:sp>
      <p:sp>
        <p:nvSpPr>
          <p:cNvPr id="14" name="card text RQ5"/>
          <p:cNvSpPr txBox="1"/>
          <p:nvPr/>
        </p:nvSpPr>
        <p:spPr>
          <a:xfrm>
            <a:off x="4434840" y="4507992"/>
            <a:ext cx="3300984" cy="1545336"/>
          </a:xfrm>
          <a:prstGeom prst="rect">
            <a:avLst/>
          </a:prstGeom>
          <a:noFill/>
          <a:ln/>
        </p:spPr>
        <p:txBody>
          <a:bodyPr wrap="square" rtlCol="0" anchor="t"/>
          <a:lstStyle/>
          <a:p>
            <a:pPr indent="0" marL="0">
              <a:spcAft>
                <a:spcPts val="300"/>
              </a:spcAft>
              <a:buNone/>
            </a:pPr>
            <a:r>
              <a:rPr lang="en-US" sz="1700" b="1" dirty="0">
                <a:solidFill>
                  <a:srgbClr val="0B2A4A"/>
                </a:solidFill>
              </a:rPr>
              <a:t>RQ5</a:t>
            </a:r>
            <a:endParaRPr lang="en-US" sz="1700" dirty="0"/>
          </a:p>
          <a:p>
            <a:pPr indent="0" marL="0">
              <a:spcAft>
                <a:spcPts val="300"/>
              </a:spcAft>
              <a:buNone/>
            </a:pPr>
            <a:r>
              <a:rPr lang="en-US" sz="1400" dirty="0">
                <a:solidFill>
                  <a:srgbClr val="0B1F33"/>
                </a:solidFill>
              </a:rPr>
              <a:t>How can time and lifecycle controls reject access after expiry, revocation or an unauthorised state change?</a:t>
            </a:r>
            <a:endParaRPr lang="en-US" sz="1700" dirty="0"/>
          </a:p>
        </p:txBody>
      </p:sp>
      <p:sp>
        <p:nvSpPr>
          <p:cNvPr id="15" name="card RQ6"/>
          <p:cNvSpPr/>
          <p:nvPr/>
        </p:nvSpPr>
        <p:spPr>
          <a:xfrm>
            <a:off x="8010144" y="4434840"/>
            <a:ext cx="3520440" cy="1691640"/>
          </a:xfrm>
          <a:prstGeom prst="roundRect">
            <a:avLst>
              <a:gd name="adj" fmla="val 5405"/>
            </a:avLst>
          </a:prstGeom>
          <a:solidFill>
            <a:srgbClr val="FFFFFF">
              <a:alpha val="92000"/>
            </a:srgbClr>
          </a:solidFill>
          <a:ln w="19050">
            <a:solidFill>
              <a:srgbClr val="1FB5D6"/>
            </a:solidFill>
            <a:prstDash val="solid"/>
          </a:ln>
        </p:spPr>
      </p:sp>
      <p:sp>
        <p:nvSpPr>
          <p:cNvPr id="16" name="card text RQ6"/>
          <p:cNvSpPr txBox="1"/>
          <p:nvPr/>
        </p:nvSpPr>
        <p:spPr>
          <a:xfrm>
            <a:off x="8119872" y="4507992"/>
            <a:ext cx="3300984" cy="1545336"/>
          </a:xfrm>
          <a:prstGeom prst="rect">
            <a:avLst/>
          </a:prstGeom>
          <a:noFill/>
          <a:ln/>
        </p:spPr>
        <p:txBody>
          <a:bodyPr wrap="square" rtlCol="0" anchor="t"/>
          <a:lstStyle/>
          <a:p>
            <a:pPr indent="0" marL="0">
              <a:spcAft>
                <a:spcPts val="300"/>
              </a:spcAft>
              <a:buNone/>
            </a:pPr>
            <a:r>
              <a:rPr lang="en-US" sz="1700" b="1" dirty="0">
                <a:solidFill>
                  <a:srgbClr val="0B2A4A"/>
                </a:solidFill>
              </a:rPr>
              <a:t>RQ6</a:t>
            </a:r>
            <a:endParaRPr lang="en-US" sz="1700" dirty="0"/>
          </a:p>
          <a:p>
            <a:pPr indent="0" marL="0">
              <a:spcAft>
                <a:spcPts val="300"/>
              </a:spcAft>
              <a:buNone/>
            </a:pPr>
            <a:r>
              <a:rPr lang="en-US" sz="1400" dirty="0">
                <a:solidFill>
                  <a:srgbClr val="0B1F33"/>
                </a:solidFill>
              </a:rPr>
              <a:t>How can the security properties be formally defined and empirically evaluated?</a:t>
            </a:r>
            <a:endParaRPr lang="en-US" sz="17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OBJECTIVES</a:t>
            </a:r>
            <a:endParaRPr lang="en-US" sz="3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914400"/>
        </p:xfrm>
        <a:graphic>
          <a:graphicData uri="http://schemas.openxmlformats.org/drawingml/2006/table">
            <a:tbl>
              <a:tblPr/>
              <a:tblGrid>
                <a:gridCol w="1371600"/>
                <a:gridCol w="6949440"/>
                <a:gridCol w="2377440"/>
              </a:tblGrid>
              <a:tr h="731520">
                <a:tc>
                  <a:txBody>
                    <a:bodyPr/>
                    <a:lstStyle/>
                    <a:p>
                      <a:pPr indent="0" marL="0">
                        <a:buNone/>
                      </a:pPr>
                      <a:r>
                        <a:rPr lang="en-US" sz="1600" b="1" dirty="0">
                          <a:solidFill>
                            <a:srgbClr val="FFFFFF"/>
                          </a:solidFill>
                        </a:rPr>
                        <a:t>Objective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600" b="1" dirty="0">
                          <a:solidFill>
                            <a:srgbClr val="FFFFFF"/>
                          </a:solidFill>
                        </a:rPr>
                        <a:t>Description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600" b="1" dirty="0">
                          <a:solidFill>
                            <a:srgbClr val="FFFFFF"/>
                          </a:solidFill>
                        </a:rPr>
                        <a:t>Status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600" b="1" dirty="0">
                          <a:solidFill>
                            <a:srgbClr val="0B1F33"/>
                          </a:solidFill>
                        </a:rPr>
                        <a:t>RO1</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Trust-centric consent model: consent as a structured, evaluable authorisation object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Done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0B1F33"/>
                          </a:solidFill>
                        </a:rPr>
                        <a:t>RO2</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Decentralised identity and authority verification (DID, VC), separating identity from authority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Done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0B1F33"/>
                          </a:solidFill>
                        </a:rPr>
                        <a:t>RO3</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Threshold-based multi-party authorisation with EIP-712 guardian approvals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Done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0B1F33"/>
                          </a:solidFill>
                        </a:rPr>
                        <a:t>RO4</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Policy- and context-aware access control (purpose, data scope)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Done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0B1F33"/>
                          </a:solidFill>
                        </a:rPr>
                        <a:t>RO5</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Temporal validity and consent lifecycle control</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In Progress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0B1F33"/>
                          </a:solidFill>
                        </a:rPr>
                        <a:t>RO6</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Formal security assurance and empirical validation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600" dirty="0">
                          <a:solidFill>
                            <a:srgbClr val="0B1F33"/>
                          </a:solidFill>
                        </a:rPr>
                        <a:t>Partially completed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METHODOLOGY</a:t>
            </a:r>
            <a:endParaRPr lang="en-US" sz="3000" dirty="0"/>
          </a:p>
        </p:txBody>
      </p:sp>
      <p:sp>
        <p:nvSpPr>
          <p:cNvPr id="3" name="step number 1"/>
          <p:cNvSpPr/>
          <p:nvPr/>
        </p:nvSpPr>
        <p:spPr>
          <a:xfrm>
            <a:off x="987552" y="1554480"/>
            <a:ext cx="548640" cy="548640"/>
          </a:xfrm>
          <a:prstGeom prst="ellipse">
            <a:avLst/>
          </a:prstGeom>
          <a:solidFill>
            <a:srgbClr val="1FB5D6"/>
          </a:solidFill>
          <a:ln w="19050">
            <a:solidFill>
              <a:srgbClr val="FFFFFF"/>
            </a:solidFill>
            <a:prstDash val="solid"/>
          </a:ln>
        </p:spPr>
      </p:sp>
      <p:sp>
        <p:nvSpPr>
          <p:cNvPr id="4" name="step num text 1"/>
          <p:cNvSpPr txBox="1"/>
          <p:nvPr/>
        </p:nvSpPr>
        <p:spPr>
          <a:xfrm>
            <a:off x="987552" y="1554480"/>
            <a:ext cx="548640" cy="548640"/>
          </a:xfrm>
          <a:prstGeom prst="rect">
            <a:avLst/>
          </a:prstGeom>
          <a:noFill/>
          <a:ln/>
        </p:spPr>
        <p:txBody>
          <a:bodyPr wrap="square" rtlCol="0" anchor="ctr"/>
          <a:lstStyle/>
          <a:p>
            <a:pPr algn="ctr" indent="0" marL="0">
              <a:buNone/>
            </a:pPr>
            <a:r>
              <a:rPr lang="en-US" sz="2000" b="1" dirty="0">
                <a:solidFill>
                  <a:srgbClr val="FFFFFF"/>
                </a:solidFill>
              </a:rPr>
              <a:t>1</a:t>
            </a:r>
            <a:endParaRPr lang="en-US" sz="2000" dirty="0"/>
          </a:p>
        </p:txBody>
      </p:sp>
      <p:sp>
        <p:nvSpPr>
          <p:cNvPr id="5" name="step box 1"/>
          <p:cNvSpPr/>
          <p:nvPr/>
        </p:nvSpPr>
        <p:spPr>
          <a:xfrm>
            <a:off x="502920" y="2286000"/>
            <a:ext cx="1517904" cy="2926080"/>
          </a:xfrm>
          <a:prstGeom prst="roundRect">
            <a:avLst>
              <a:gd name="adj" fmla="val 6024"/>
            </a:avLst>
          </a:prstGeom>
          <a:solidFill>
            <a:srgbClr val="FFFFFF"/>
          </a:solidFill>
          <a:ln w="19050">
            <a:solidFill>
              <a:srgbClr val="1FB5D6"/>
            </a:solidFill>
            <a:prstDash val="solid"/>
          </a:ln>
        </p:spPr>
      </p:sp>
      <p:sp>
        <p:nvSpPr>
          <p:cNvPr id="6" name="step text 1"/>
          <p:cNvSpPr txBox="1"/>
          <p:nvPr/>
        </p:nvSpPr>
        <p:spPr>
          <a:xfrm>
            <a:off x="54864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Problem</a:t>
            </a:r>
            <a:endParaRPr lang="en-US" sz="1400" dirty="0"/>
          </a:p>
          <a:p>
            <a:pPr algn="ctr" indent="0" marL="0">
              <a:spcAft>
                <a:spcPts val="800"/>
              </a:spcAft>
              <a:buNone/>
            </a:pPr>
            <a:r>
              <a:rPr lang="en-US" sz="1300" dirty="0">
                <a:solidFill>
                  <a:srgbClr val="0B1F33"/>
                </a:solidFill>
              </a:rPr>
              <a:t>Consent is a passive record; no integrated trusted decision</a:t>
            </a:r>
            <a:endParaRPr lang="en-US" sz="1400" dirty="0"/>
          </a:p>
        </p:txBody>
      </p:sp>
      <p:sp>
        <p:nvSpPr>
          <p:cNvPr id="7" name="step number 2"/>
          <p:cNvSpPr/>
          <p:nvPr/>
        </p:nvSpPr>
        <p:spPr>
          <a:xfrm>
            <a:off x="2615184" y="1554480"/>
            <a:ext cx="548640" cy="548640"/>
          </a:xfrm>
          <a:prstGeom prst="ellipse">
            <a:avLst/>
          </a:prstGeom>
          <a:solidFill>
            <a:srgbClr val="1FB5D6"/>
          </a:solidFill>
          <a:ln w="19050">
            <a:solidFill>
              <a:srgbClr val="FFFFFF"/>
            </a:solidFill>
            <a:prstDash val="solid"/>
          </a:ln>
        </p:spPr>
      </p:sp>
      <p:sp>
        <p:nvSpPr>
          <p:cNvPr id="8" name="step num text 2"/>
          <p:cNvSpPr txBox="1"/>
          <p:nvPr/>
        </p:nvSpPr>
        <p:spPr>
          <a:xfrm>
            <a:off x="2615184" y="1554480"/>
            <a:ext cx="548640" cy="548640"/>
          </a:xfrm>
          <a:prstGeom prst="rect">
            <a:avLst/>
          </a:prstGeom>
          <a:noFill/>
          <a:ln/>
        </p:spPr>
        <p:txBody>
          <a:bodyPr wrap="square" rtlCol="0" anchor="ctr"/>
          <a:lstStyle/>
          <a:p>
            <a:pPr algn="ctr" indent="0" marL="0">
              <a:buNone/>
            </a:pPr>
            <a:r>
              <a:rPr lang="en-US" sz="2000" b="1" dirty="0">
                <a:solidFill>
                  <a:srgbClr val="FFFFFF"/>
                </a:solidFill>
              </a:rPr>
              <a:t>2</a:t>
            </a:r>
            <a:endParaRPr lang="en-US" sz="2000" dirty="0"/>
          </a:p>
        </p:txBody>
      </p:sp>
      <p:sp>
        <p:nvSpPr>
          <p:cNvPr id="9" name="step box 2"/>
          <p:cNvSpPr/>
          <p:nvPr/>
        </p:nvSpPr>
        <p:spPr>
          <a:xfrm>
            <a:off x="2130552" y="2286000"/>
            <a:ext cx="1517904" cy="2926080"/>
          </a:xfrm>
          <a:prstGeom prst="roundRect">
            <a:avLst>
              <a:gd name="adj" fmla="val 6024"/>
            </a:avLst>
          </a:prstGeom>
          <a:solidFill>
            <a:srgbClr val="FFFFFF"/>
          </a:solidFill>
          <a:ln w="19050">
            <a:solidFill>
              <a:srgbClr val="1FB5D6"/>
            </a:solidFill>
            <a:prstDash val="solid"/>
          </a:ln>
        </p:spPr>
      </p:sp>
      <p:sp>
        <p:nvSpPr>
          <p:cNvPr id="10" name="step text 2"/>
          <p:cNvSpPr txBox="1"/>
          <p:nvPr/>
        </p:nvSpPr>
        <p:spPr>
          <a:xfrm>
            <a:off x="217627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Literature review</a:t>
            </a:r>
            <a:endParaRPr lang="en-US" sz="1400" dirty="0"/>
          </a:p>
          <a:p>
            <a:pPr algn="ctr" indent="0" marL="0">
              <a:spcAft>
                <a:spcPts val="800"/>
              </a:spcAft>
              <a:buNone/>
            </a:pPr>
            <a:r>
              <a:rPr lang="en-US" sz="1300" dirty="0">
                <a:solidFill>
                  <a:srgbClr val="0B1F33"/>
                </a:solidFill>
              </a:rPr>
              <a:t>PRISMA 2020; 25 primary studies</a:t>
            </a:r>
            <a:endParaRPr lang="en-US" sz="1400" dirty="0"/>
          </a:p>
        </p:txBody>
      </p:sp>
      <p:sp>
        <p:nvSpPr>
          <p:cNvPr id="11" name="step number 3"/>
          <p:cNvSpPr/>
          <p:nvPr/>
        </p:nvSpPr>
        <p:spPr>
          <a:xfrm>
            <a:off x="4242816" y="1554480"/>
            <a:ext cx="548640" cy="548640"/>
          </a:xfrm>
          <a:prstGeom prst="ellipse">
            <a:avLst/>
          </a:prstGeom>
          <a:solidFill>
            <a:srgbClr val="1FB5D6"/>
          </a:solidFill>
          <a:ln w="19050">
            <a:solidFill>
              <a:srgbClr val="FFFFFF"/>
            </a:solidFill>
            <a:prstDash val="solid"/>
          </a:ln>
        </p:spPr>
      </p:sp>
      <p:sp>
        <p:nvSpPr>
          <p:cNvPr id="12" name="step num text 3"/>
          <p:cNvSpPr txBox="1"/>
          <p:nvPr/>
        </p:nvSpPr>
        <p:spPr>
          <a:xfrm>
            <a:off x="4242816" y="1554480"/>
            <a:ext cx="548640" cy="548640"/>
          </a:xfrm>
          <a:prstGeom prst="rect">
            <a:avLst/>
          </a:prstGeom>
          <a:noFill/>
          <a:ln/>
        </p:spPr>
        <p:txBody>
          <a:bodyPr wrap="square" rtlCol="0" anchor="ctr"/>
          <a:lstStyle/>
          <a:p>
            <a:pPr algn="ctr" indent="0" marL="0">
              <a:buNone/>
            </a:pPr>
            <a:r>
              <a:rPr lang="en-US" sz="2000" b="1" dirty="0">
                <a:solidFill>
                  <a:srgbClr val="FFFFFF"/>
                </a:solidFill>
              </a:rPr>
              <a:t>3</a:t>
            </a:r>
            <a:endParaRPr lang="en-US" sz="2000" dirty="0"/>
          </a:p>
        </p:txBody>
      </p:sp>
      <p:sp>
        <p:nvSpPr>
          <p:cNvPr id="13" name="step box 3"/>
          <p:cNvSpPr/>
          <p:nvPr/>
        </p:nvSpPr>
        <p:spPr>
          <a:xfrm>
            <a:off x="3758184" y="2286000"/>
            <a:ext cx="1517904" cy="2926080"/>
          </a:xfrm>
          <a:prstGeom prst="roundRect">
            <a:avLst>
              <a:gd name="adj" fmla="val 6024"/>
            </a:avLst>
          </a:prstGeom>
          <a:solidFill>
            <a:srgbClr val="FFFFFF"/>
          </a:solidFill>
          <a:ln w="19050">
            <a:solidFill>
              <a:srgbClr val="1FB5D6"/>
            </a:solidFill>
            <a:prstDash val="solid"/>
          </a:ln>
        </p:spPr>
      </p:sp>
      <p:sp>
        <p:nvSpPr>
          <p:cNvPr id="14" name="step text 3"/>
          <p:cNvSpPr txBox="1"/>
          <p:nvPr/>
        </p:nvSpPr>
        <p:spPr>
          <a:xfrm>
            <a:off x="3803904"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Gaps and RQs</a:t>
            </a:r>
            <a:endParaRPr lang="en-US" sz="1400" dirty="0"/>
          </a:p>
          <a:p>
            <a:pPr algn="ctr" indent="0" marL="0">
              <a:spcAft>
                <a:spcPts val="800"/>
              </a:spcAft>
              <a:buNone/>
            </a:pPr>
            <a:r>
              <a:rPr lang="en-US" sz="1300" dirty="0">
                <a:solidFill>
                  <a:srgbClr val="0B1F33"/>
                </a:solidFill>
              </a:rPr>
              <a:t>Gap 1 to Gap 6; RQ1 to RQ6</a:t>
            </a:r>
            <a:endParaRPr lang="en-US" sz="1400" dirty="0"/>
          </a:p>
        </p:txBody>
      </p:sp>
      <p:sp>
        <p:nvSpPr>
          <p:cNvPr id="15" name="step number 4"/>
          <p:cNvSpPr/>
          <p:nvPr/>
        </p:nvSpPr>
        <p:spPr>
          <a:xfrm>
            <a:off x="5870448" y="1554480"/>
            <a:ext cx="548640" cy="548640"/>
          </a:xfrm>
          <a:prstGeom prst="ellipse">
            <a:avLst/>
          </a:prstGeom>
          <a:solidFill>
            <a:srgbClr val="1FB5D6"/>
          </a:solidFill>
          <a:ln w="19050">
            <a:solidFill>
              <a:srgbClr val="FFFFFF"/>
            </a:solidFill>
            <a:prstDash val="solid"/>
          </a:ln>
        </p:spPr>
      </p:sp>
      <p:sp>
        <p:nvSpPr>
          <p:cNvPr id="16" name="step num text 4"/>
          <p:cNvSpPr txBox="1"/>
          <p:nvPr/>
        </p:nvSpPr>
        <p:spPr>
          <a:xfrm>
            <a:off x="5870448" y="1554480"/>
            <a:ext cx="548640" cy="548640"/>
          </a:xfrm>
          <a:prstGeom prst="rect">
            <a:avLst/>
          </a:prstGeom>
          <a:noFill/>
          <a:ln/>
        </p:spPr>
        <p:txBody>
          <a:bodyPr wrap="square" rtlCol="0" anchor="ctr"/>
          <a:lstStyle/>
          <a:p>
            <a:pPr algn="ctr" indent="0" marL="0">
              <a:buNone/>
            </a:pPr>
            <a:r>
              <a:rPr lang="en-US" sz="2000" b="1" dirty="0">
                <a:solidFill>
                  <a:srgbClr val="FFFFFF"/>
                </a:solidFill>
              </a:rPr>
              <a:t>4</a:t>
            </a:r>
            <a:endParaRPr lang="en-US" sz="2000" dirty="0"/>
          </a:p>
        </p:txBody>
      </p:sp>
      <p:sp>
        <p:nvSpPr>
          <p:cNvPr id="17" name="step box 4"/>
          <p:cNvSpPr/>
          <p:nvPr/>
        </p:nvSpPr>
        <p:spPr>
          <a:xfrm>
            <a:off x="5385816" y="2286000"/>
            <a:ext cx="1517904" cy="2926080"/>
          </a:xfrm>
          <a:prstGeom prst="roundRect">
            <a:avLst>
              <a:gd name="adj" fmla="val 6024"/>
            </a:avLst>
          </a:prstGeom>
          <a:solidFill>
            <a:srgbClr val="FFFFFF"/>
          </a:solidFill>
          <a:ln w="19050">
            <a:solidFill>
              <a:srgbClr val="1FB5D6"/>
            </a:solidFill>
            <a:prstDash val="solid"/>
          </a:ln>
        </p:spPr>
      </p:sp>
      <p:sp>
        <p:nvSpPr>
          <p:cNvPr id="18" name="step text 4"/>
          <p:cNvSpPr txBox="1"/>
          <p:nvPr/>
        </p:nvSpPr>
        <p:spPr>
          <a:xfrm>
            <a:off x="5431536"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Objectives</a:t>
            </a:r>
            <a:endParaRPr lang="en-US" sz="1400" dirty="0"/>
          </a:p>
          <a:p>
            <a:pPr algn="ctr" indent="0" marL="0">
              <a:spcAft>
                <a:spcPts val="800"/>
              </a:spcAft>
              <a:buNone/>
            </a:pPr>
            <a:r>
              <a:rPr lang="en-US" sz="1300" dirty="0">
                <a:solidFill>
                  <a:srgbClr val="0B1F33"/>
                </a:solidFill>
              </a:rPr>
              <a:t>RO1 to RO6</a:t>
            </a:r>
            <a:endParaRPr lang="en-US" sz="1400" dirty="0"/>
          </a:p>
        </p:txBody>
      </p:sp>
      <p:sp>
        <p:nvSpPr>
          <p:cNvPr id="19" name="step number 5"/>
          <p:cNvSpPr/>
          <p:nvPr/>
        </p:nvSpPr>
        <p:spPr>
          <a:xfrm>
            <a:off x="7498080" y="1554480"/>
            <a:ext cx="548640" cy="548640"/>
          </a:xfrm>
          <a:prstGeom prst="ellipse">
            <a:avLst/>
          </a:prstGeom>
          <a:solidFill>
            <a:srgbClr val="1FB5D6"/>
          </a:solidFill>
          <a:ln w="19050">
            <a:solidFill>
              <a:srgbClr val="FFFFFF"/>
            </a:solidFill>
            <a:prstDash val="solid"/>
          </a:ln>
        </p:spPr>
      </p:sp>
      <p:sp>
        <p:nvSpPr>
          <p:cNvPr id="20" name="step num text 5"/>
          <p:cNvSpPr txBox="1"/>
          <p:nvPr/>
        </p:nvSpPr>
        <p:spPr>
          <a:xfrm>
            <a:off x="7498080" y="1554480"/>
            <a:ext cx="548640" cy="548640"/>
          </a:xfrm>
          <a:prstGeom prst="rect">
            <a:avLst/>
          </a:prstGeom>
          <a:noFill/>
          <a:ln/>
        </p:spPr>
        <p:txBody>
          <a:bodyPr wrap="square" rtlCol="0" anchor="ctr"/>
          <a:lstStyle/>
          <a:p>
            <a:pPr algn="ctr" indent="0" marL="0">
              <a:buNone/>
            </a:pPr>
            <a:r>
              <a:rPr lang="en-US" sz="2000" b="1" dirty="0">
                <a:solidFill>
                  <a:srgbClr val="FFFFFF"/>
                </a:solidFill>
              </a:rPr>
              <a:t>5</a:t>
            </a:r>
            <a:endParaRPr lang="en-US" sz="2000" dirty="0"/>
          </a:p>
        </p:txBody>
      </p:sp>
      <p:sp>
        <p:nvSpPr>
          <p:cNvPr id="21" name="step box 5"/>
          <p:cNvSpPr/>
          <p:nvPr/>
        </p:nvSpPr>
        <p:spPr>
          <a:xfrm>
            <a:off x="7013448" y="2286000"/>
            <a:ext cx="1517904" cy="2926080"/>
          </a:xfrm>
          <a:prstGeom prst="roundRect">
            <a:avLst>
              <a:gd name="adj" fmla="val 6024"/>
            </a:avLst>
          </a:prstGeom>
          <a:solidFill>
            <a:srgbClr val="FFFFFF"/>
          </a:solidFill>
          <a:ln w="19050">
            <a:solidFill>
              <a:srgbClr val="1FB5D6"/>
            </a:solidFill>
            <a:prstDash val="solid"/>
          </a:ln>
        </p:spPr>
      </p:sp>
      <p:sp>
        <p:nvSpPr>
          <p:cNvPr id="22" name="step text 5"/>
          <p:cNvSpPr txBox="1"/>
          <p:nvPr/>
        </p:nvSpPr>
        <p:spPr>
          <a:xfrm>
            <a:off x="7059168"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Design</a:t>
            </a:r>
            <a:endParaRPr lang="en-US" sz="1400" dirty="0"/>
          </a:p>
          <a:p>
            <a:pPr algn="ctr" indent="0" marL="0">
              <a:spcAft>
                <a:spcPts val="800"/>
              </a:spcAft>
              <a:buNone/>
            </a:pPr>
            <a:r>
              <a:rPr lang="en-US" sz="1300" dirty="0">
                <a:solidFill>
                  <a:srgbClr val="0B1F33"/>
                </a:solidFill>
              </a:rPr>
              <a:t>MVC architecture, consent object C, Algorithms 1 to 4</a:t>
            </a:r>
            <a:endParaRPr lang="en-US" sz="1400" dirty="0"/>
          </a:p>
        </p:txBody>
      </p:sp>
      <p:sp>
        <p:nvSpPr>
          <p:cNvPr id="23" name="step number 6"/>
          <p:cNvSpPr/>
          <p:nvPr/>
        </p:nvSpPr>
        <p:spPr>
          <a:xfrm>
            <a:off x="9125712" y="1554480"/>
            <a:ext cx="548640" cy="548640"/>
          </a:xfrm>
          <a:prstGeom prst="ellipse">
            <a:avLst/>
          </a:prstGeom>
          <a:solidFill>
            <a:srgbClr val="1FB5D6"/>
          </a:solidFill>
          <a:ln w="19050">
            <a:solidFill>
              <a:srgbClr val="FFFFFF"/>
            </a:solidFill>
            <a:prstDash val="solid"/>
          </a:ln>
        </p:spPr>
      </p:sp>
      <p:sp>
        <p:nvSpPr>
          <p:cNvPr id="24" name="step num text 6"/>
          <p:cNvSpPr txBox="1"/>
          <p:nvPr/>
        </p:nvSpPr>
        <p:spPr>
          <a:xfrm>
            <a:off x="9125712" y="1554480"/>
            <a:ext cx="548640" cy="548640"/>
          </a:xfrm>
          <a:prstGeom prst="rect">
            <a:avLst/>
          </a:prstGeom>
          <a:noFill/>
          <a:ln/>
        </p:spPr>
        <p:txBody>
          <a:bodyPr wrap="square" rtlCol="0" anchor="ctr"/>
          <a:lstStyle/>
          <a:p>
            <a:pPr algn="ctr" indent="0" marL="0">
              <a:buNone/>
            </a:pPr>
            <a:r>
              <a:rPr lang="en-US" sz="2000" b="1" dirty="0">
                <a:solidFill>
                  <a:srgbClr val="FFFFFF"/>
                </a:solidFill>
              </a:rPr>
              <a:t>6</a:t>
            </a:r>
            <a:endParaRPr lang="en-US" sz="2000" dirty="0"/>
          </a:p>
        </p:txBody>
      </p:sp>
      <p:sp>
        <p:nvSpPr>
          <p:cNvPr id="25" name="step box 6"/>
          <p:cNvSpPr/>
          <p:nvPr/>
        </p:nvSpPr>
        <p:spPr>
          <a:xfrm>
            <a:off x="8641080" y="2286000"/>
            <a:ext cx="1517904" cy="2926080"/>
          </a:xfrm>
          <a:prstGeom prst="roundRect">
            <a:avLst>
              <a:gd name="adj" fmla="val 6024"/>
            </a:avLst>
          </a:prstGeom>
          <a:solidFill>
            <a:srgbClr val="FFFFFF"/>
          </a:solidFill>
          <a:ln w="19050">
            <a:solidFill>
              <a:srgbClr val="1FB5D6"/>
            </a:solidFill>
            <a:prstDash val="solid"/>
          </a:ln>
        </p:spPr>
      </p:sp>
      <p:sp>
        <p:nvSpPr>
          <p:cNvPr id="26" name="step text 6"/>
          <p:cNvSpPr txBox="1"/>
          <p:nvPr/>
        </p:nvSpPr>
        <p:spPr>
          <a:xfrm>
            <a:off x="868680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Prototype</a:t>
            </a:r>
            <a:endParaRPr lang="en-US" sz="1400" dirty="0"/>
          </a:p>
          <a:p>
            <a:pPr algn="ctr" indent="0" marL="0">
              <a:spcAft>
                <a:spcPts val="800"/>
              </a:spcAft>
              <a:buNone/>
            </a:pPr>
            <a:r>
              <a:rPr lang="en-US" sz="1300" dirty="0">
                <a:solidFill>
                  <a:srgbClr val="0B1F33"/>
                </a:solidFill>
              </a:rPr>
              <a:t>HALAH prototype; ConsentSBTv3 on Sepolia</a:t>
            </a:r>
            <a:endParaRPr lang="en-US" sz="1400" dirty="0"/>
          </a:p>
        </p:txBody>
      </p:sp>
      <p:sp>
        <p:nvSpPr>
          <p:cNvPr id="27" name="step number 7"/>
          <p:cNvSpPr/>
          <p:nvPr/>
        </p:nvSpPr>
        <p:spPr>
          <a:xfrm>
            <a:off x="10753344" y="1554480"/>
            <a:ext cx="548640" cy="548640"/>
          </a:xfrm>
          <a:prstGeom prst="ellipse">
            <a:avLst/>
          </a:prstGeom>
          <a:solidFill>
            <a:srgbClr val="6D5BA8"/>
          </a:solidFill>
          <a:ln w="19050">
            <a:solidFill>
              <a:srgbClr val="FFFFFF"/>
            </a:solidFill>
            <a:prstDash val="solid"/>
          </a:ln>
        </p:spPr>
      </p:sp>
      <p:sp>
        <p:nvSpPr>
          <p:cNvPr id="28" name="step num text 7"/>
          <p:cNvSpPr txBox="1"/>
          <p:nvPr/>
        </p:nvSpPr>
        <p:spPr>
          <a:xfrm>
            <a:off x="10753344" y="1554480"/>
            <a:ext cx="548640" cy="548640"/>
          </a:xfrm>
          <a:prstGeom prst="rect">
            <a:avLst/>
          </a:prstGeom>
          <a:noFill/>
          <a:ln/>
        </p:spPr>
        <p:txBody>
          <a:bodyPr wrap="square" rtlCol="0" anchor="ctr"/>
          <a:lstStyle/>
          <a:p>
            <a:pPr algn="ctr" indent="0" marL="0">
              <a:buNone/>
            </a:pPr>
            <a:r>
              <a:rPr lang="en-US" sz="2000" b="1" dirty="0">
                <a:solidFill>
                  <a:srgbClr val="FFFFFF"/>
                </a:solidFill>
              </a:rPr>
              <a:t>7</a:t>
            </a:r>
            <a:endParaRPr lang="en-US" sz="2000" dirty="0"/>
          </a:p>
        </p:txBody>
      </p:sp>
      <p:sp>
        <p:nvSpPr>
          <p:cNvPr id="29" name="step box 7"/>
          <p:cNvSpPr/>
          <p:nvPr/>
        </p:nvSpPr>
        <p:spPr>
          <a:xfrm>
            <a:off x="10268712" y="2286000"/>
            <a:ext cx="1517904" cy="2926080"/>
          </a:xfrm>
          <a:prstGeom prst="roundRect">
            <a:avLst>
              <a:gd name="adj" fmla="val 6024"/>
            </a:avLst>
          </a:prstGeom>
          <a:solidFill>
            <a:srgbClr val="FFFFFF"/>
          </a:solidFill>
          <a:ln w="19050">
            <a:solidFill>
              <a:srgbClr val="1FB5D6"/>
            </a:solidFill>
            <a:prstDash val="solid"/>
          </a:ln>
        </p:spPr>
      </p:sp>
      <p:sp>
        <p:nvSpPr>
          <p:cNvPr id="30" name="step text 7"/>
          <p:cNvSpPr txBox="1"/>
          <p:nvPr/>
        </p:nvSpPr>
        <p:spPr>
          <a:xfrm>
            <a:off x="1031443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Evaluation</a:t>
            </a:r>
            <a:endParaRPr lang="en-US" sz="1400" dirty="0"/>
          </a:p>
          <a:p>
            <a:pPr algn="ctr" indent="0" marL="0">
              <a:spcAft>
                <a:spcPts val="800"/>
              </a:spcAft>
              <a:buNone/>
            </a:pPr>
            <a:r>
              <a:rPr lang="en-US" sz="1300" dirty="0">
                <a:solidFill>
                  <a:srgbClr val="0B1F33"/>
                </a:solidFill>
              </a:rPr>
              <a:t>Live scenarios, measurements and 12 attack scenarios; formal assurance in the next stage</a:t>
            </a:r>
            <a:endParaRPr lang="en-US" sz="1400" dirty="0"/>
          </a:p>
        </p:txBody>
      </p:sp>
      <p:sp>
        <p:nvSpPr>
          <p:cNvPr id="31" name="process arrow"/>
          <p:cNvSpPr/>
          <p:nvPr/>
        </p:nvSpPr>
        <p:spPr>
          <a:xfrm>
            <a:off x="502920" y="5486400"/>
            <a:ext cx="11247120" cy="411480"/>
          </a:xfrm>
          <a:prstGeom prst="rightArrow">
            <a:avLst/>
          </a:prstGeom>
          <a:solidFill>
            <a:srgbClr val="1FB5D6">
              <a:alpha val="75000"/>
            </a:srgbClr>
          </a:solidFill>
          <a:ln w="12700">
            <a:solidFill>
              <a:srgbClr val="1FB5D6"/>
            </a:solidFill>
            <a:prstDash val="solid"/>
          </a:ln>
        </p:spPr>
      </p:sp>
      <p:sp>
        <p:nvSpPr>
          <p:cNvPr id="32" name="arrow label"/>
          <p:cNvSpPr txBox="1"/>
          <p:nvPr/>
        </p:nvSpPr>
        <p:spPr>
          <a:xfrm>
            <a:off x="731520" y="5486400"/>
            <a:ext cx="10515600" cy="411480"/>
          </a:xfrm>
          <a:prstGeom prst="rect">
            <a:avLst/>
          </a:prstGeom>
          <a:noFill/>
          <a:ln/>
        </p:spPr>
        <p:txBody>
          <a:bodyPr wrap="square" rtlCol="0" anchor="ctr"/>
          <a:lstStyle/>
          <a:p>
            <a:pPr algn="ctr" indent="0" marL="0">
              <a:buNone/>
            </a:pPr>
            <a:r>
              <a:rPr lang="en-US" sz="1400" b="1" dirty="0">
                <a:solidFill>
                  <a:srgbClr val="FFFFFF"/>
                </a:solidFill>
              </a:rPr>
              <a:t>From the problem to the evaluated prototype</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ARCHITECTURE AND SOLUTION OVERVIEW</a:t>
            </a:r>
            <a:endParaRPr lang="en-US" sz="3000" dirty="0"/>
          </a:p>
        </p:txBody>
      </p:sp>
      <p:sp>
        <p:nvSpPr>
          <p:cNvPr id="3" name="decision box"/>
          <p:cNvSpPr/>
          <p:nvPr/>
        </p:nvSpPr>
        <p:spPr>
          <a:xfrm>
            <a:off x="548640" y="1097280"/>
            <a:ext cx="11064240" cy="822960"/>
          </a:xfrm>
          <a:prstGeom prst="roundRect">
            <a:avLst>
              <a:gd name="adj" fmla="val 11111"/>
            </a:avLst>
          </a:prstGeom>
          <a:solidFill>
            <a:srgbClr val="0B2A4A">
              <a:alpha val="85000"/>
            </a:srgbClr>
          </a:solidFill>
          <a:ln w="19050">
            <a:solidFill>
              <a:srgbClr val="1FB5D6"/>
            </a:solidFill>
            <a:prstDash val="solid"/>
          </a:ln>
        </p:spPr>
      </p:sp>
      <p:sp>
        <p:nvSpPr>
          <p:cNvPr id="4" name="decision text"/>
          <p:cNvSpPr txBox="1"/>
          <p:nvPr/>
        </p:nvSpPr>
        <p:spPr>
          <a:xfrm>
            <a:off x="640080" y="1115568"/>
            <a:ext cx="10881360" cy="786384"/>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Decision(C, R, t) = ALLOW  ⟺  VI(u) ∧ VA(C) ∧ VP(C, R) ∧ VT(C, t) ∧ VL(C, R)</a:t>
            </a:r>
            <a:endParaRPr lang="en-US" sz="1900" dirty="0"/>
          </a:p>
        </p:txBody>
      </p:sp>
      <p:sp>
        <p:nvSpPr>
          <p:cNvPr id="5" name="F6 panel"/>
          <p:cNvSpPr/>
          <p:nvPr/>
        </p:nvSpPr>
        <p:spPr>
          <a:xfrm>
            <a:off x="548640" y="2103120"/>
            <a:ext cx="6949440" cy="4434840"/>
          </a:xfrm>
          <a:prstGeom prst="roundRect">
            <a:avLst>
              <a:gd name="adj" fmla="val 2474"/>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6" name="F6" descr="/tmp/deck/img/F6.png">    </p:cNvPr>
          <p:cNvPicPr>
            <a:picLocks noChangeAspect="1"/>
          </p:cNvPicPr>
          <p:nvPr/>
        </p:nvPicPr>
        <p:blipFill>
          <a:blip r:embed="rId1"/>
          <a:stretch>
            <a:fillRect/>
          </a:stretch>
        </p:blipFill>
        <p:spPr>
          <a:xfrm>
            <a:off x="658368" y="2246704"/>
            <a:ext cx="6729984" cy="4147672"/>
          </a:xfrm>
          <a:prstGeom prst="rect">
            <a:avLst/>
          </a:prstGeom>
        </p:spPr>
      </p:pic>
      <p:sp>
        <p:nvSpPr>
          <p:cNvPr id="7" name="check VI"/>
          <p:cNvSpPr/>
          <p:nvPr/>
        </p:nvSpPr>
        <p:spPr>
          <a:xfrm>
            <a:off x="7726680" y="2103120"/>
            <a:ext cx="3886200" cy="621792"/>
          </a:xfrm>
          <a:prstGeom prst="roundRect">
            <a:avLst>
              <a:gd name="adj" fmla="val 11765"/>
            </a:avLst>
          </a:prstGeom>
          <a:solidFill>
            <a:srgbClr val="FFFFFF">
              <a:alpha val="92000"/>
            </a:srgbClr>
          </a:solidFill>
          <a:ln w="15240">
            <a:solidFill>
              <a:srgbClr val="1FB5D6"/>
            </a:solidFill>
            <a:prstDash val="solid"/>
          </a:ln>
        </p:spPr>
      </p:sp>
      <p:sp>
        <p:nvSpPr>
          <p:cNvPr id="8" name="check text VI"/>
          <p:cNvSpPr txBox="1"/>
          <p:nvPr/>
        </p:nvSpPr>
        <p:spPr>
          <a:xfrm>
            <a:off x="7863840" y="2103120"/>
            <a:ext cx="3657600" cy="621792"/>
          </a:xfrm>
          <a:prstGeom prst="rect">
            <a:avLst/>
          </a:prstGeom>
          <a:noFill/>
          <a:ln/>
        </p:spPr>
        <p:txBody>
          <a:bodyPr wrap="square" rtlCol="0" anchor="ctr"/>
          <a:lstStyle/>
          <a:p>
            <a:pPr indent="0" marL="0">
              <a:buNone/>
            </a:pPr>
            <a:r>
              <a:rPr lang="en-US" sz="1700" b="1" dirty="0">
                <a:solidFill>
                  <a:srgbClr val="0B2A4A"/>
                </a:solidFill>
              </a:rPr>
              <a:t>VI  </a:t>
            </a:r>
            <a:pPr indent="0" marL="0">
              <a:buNone/>
            </a:pPr>
            <a:r>
              <a:rPr lang="en-US" sz="1400" dirty="0">
                <a:solidFill>
                  <a:srgbClr val="0B1F33"/>
                </a:solidFill>
              </a:rPr>
              <a:t>Identity and authority</a:t>
            </a:r>
            <a:endParaRPr lang="en-US" sz="1700" dirty="0"/>
          </a:p>
        </p:txBody>
      </p:sp>
      <p:sp>
        <p:nvSpPr>
          <p:cNvPr id="9" name="check VA"/>
          <p:cNvSpPr/>
          <p:nvPr/>
        </p:nvSpPr>
        <p:spPr>
          <a:xfrm>
            <a:off x="7726680" y="2834640"/>
            <a:ext cx="3886200" cy="621792"/>
          </a:xfrm>
          <a:prstGeom prst="roundRect">
            <a:avLst>
              <a:gd name="adj" fmla="val 11765"/>
            </a:avLst>
          </a:prstGeom>
          <a:solidFill>
            <a:srgbClr val="FFFFFF">
              <a:alpha val="92000"/>
            </a:srgbClr>
          </a:solidFill>
          <a:ln w="15240">
            <a:solidFill>
              <a:srgbClr val="1FB5D6"/>
            </a:solidFill>
            <a:prstDash val="solid"/>
          </a:ln>
        </p:spPr>
      </p:sp>
      <p:sp>
        <p:nvSpPr>
          <p:cNvPr id="10" name="check text VA"/>
          <p:cNvSpPr txBox="1"/>
          <p:nvPr/>
        </p:nvSpPr>
        <p:spPr>
          <a:xfrm>
            <a:off x="7863840" y="2834640"/>
            <a:ext cx="3657600" cy="621792"/>
          </a:xfrm>
          <a:prstGeom prst="rect">
            <a:avLst/>
          </a:prstGeom>
          <a:noFill/>
          <a:ln/>
        </p:spPr>
        <p:txBody>
          <a:bodyPr wrap="square" rtlCol="0" anchor="ctr"/>
          <a:lstStyle/>
          <a:p>
            <a:pPr indent="0" marL="0">
              <a:buNone/>
            </a:pPr>
            <a:r>
              <a:rPr lang="en-US" sz="1700" b="1" dirty="0">
                <a:solidFill>
                  <a:srgbClr val="0B2A4A"/>
                </a:solidFill>
              </a:rPr>
              <a:t>VA  </a:t>
            </a:r>
            <a:pPr indent="0" marL="0">
              <a:buNone/>
            </a:pPr>
            <a:r>
              <a:rPr lang="en-US" sz="1400" dirty="0">
                <a:solidFill>
                  <a:srgbClr val="0B1F33"/>
                </a:solidFill>
              </a:rPr>
              <a:t>All approvals, token, not revoked</a:t>
            </a:r>
            <a:endParaRPr lang="en-US" sz="1700" dirty="0"/>
          </a:p>
        </p:txBody>
      </p:sp>
      <p:sp>
        <p:nvSpPr>
          <p:cNvPr id="11" name="check VP"/>
          <p:cNvSpPr/>
          <p:nvPr/>
        </p:nvSpPr>
        <p:spPr>
          <a:xfrm>
            <a:off x="7726680" y="3566160"/>
            <a:ext cx="3886200" cy="621792"/>
          </a:xfrm>
          <a:prstGeom prst="roundRect">
            <a:avLst>
              <a:gd name="adj" fmla="val 11765"/>
            </a:avLst>
          </a:prstGeom>
          <a:solidFill>
            <a:srgbClr val="FFFFFF">
              <a:alpha val="92000"/>
            </a:srgbClr>
          </a:solidFill>
          <a:ln w="15240">
            <a:solidFill>
              <a:srgbClr val="1FB5D6"/>
            </a:solidFill>
            <a:prstDash val="solid"/>
          </a:ln>
        </p:spPr>
      </p:sp>
      <p:sp>
        <p:nvSpPr>
          <p:cNvPr id="12" name="check text VP"/>
          <p:cNvSpPr txBox="1"/>
          <p:nvPr/>
        </p:nvSpPr>
        <p:spPr>
          <a:xfrm>
            <a:off x="7863840" y="3566160"/>
            <a:ext cx="3657600" cy="621792"/>
          </a:xfrm>
          <a:prstGeom prst="rect">
            <a:avLst/>
          </a:prstGeom>
          <a:noFill/>
          <a:ln/>
        </p:spPr>
        <p:txBody>
          <a:bodyPr wrap="square" rtlCol="0" anchor="ctr"/>
          <a:lstStyle/>
          <a:p>
            <a:pPr indent="0" marL="0">
              <a:buNone/>
            </a:pPr>
            <a:r>
              <a:rPr lang="en-US" sz="1700" b="1" dirty="0">
                <a:solidFill>
                  <a:srgbClr val="0B2A4A"/>
                </a:solidFill>
              </a:rPr>
              <a:t>VP  </a:t>
            </a:r>
            <a:pPr indent="0" marL="0">
              <a:buNone/>
            </a:pPr>
            <a:r>
              <a:rPr lang="en-US" sz="1400" dirty="0">
                <a:solidFill>
                  <a:srgbClr val="0B1F33"/>
                </a:solidFill>
              </a:rPr>
              <a:t>Purpose and data scope</a:t>
            </a:r>
            <a:endParaRPr lang="en-US" sz="1700" dirty="0"/>
          </a:p>
        </p:txBody>
      </p:sp>
      <p:sp>
        <p:nvSpPr>
          <p:cNvPr id="13" name="check VT"/>
          <p:cNvSpPr/>
          <p:nvPr/>
        </p:nvSpPr>
        <p:spPr>
          <a:xfrm>
            <a:off x="7726680" y="4297680"/>
            <a:ext cx="3886200" cy="621792"/>
          </a:xfrm>
          <a:prstGeom prst="roundRect">
            <a:avLst>
              <a:gd name="adj" fmla="val 11765"/>
            </a:avLst>
          </a:prstGeom>
          <a:solidFill>
            <a:srgbClr val="FFFFFF">
              <a:alpha val="92000"/>
            </a:srgbClr>
          </a:solidFill>
          <a:ln w="15240">
            <a:solidFill>
              <a:srgbClr val="1FB5D6"/>
            </a:solidFill>
            <a:prstDash val="solid"/>
          </a:ln>
        </p:spPr>
      </p:sp>
      <p:sp>
        <p:nvSpPr>
          <p:cNvPr id="14" name="check text VT"/>
          <p:cNvSpPr txBox="1"/>
          <p:nvPr/>
        </p:nvSpPr>
        <p:spPr>
          <a:xfrm>
            <a:off x="7863840" y="4297680"/>
            <a:ext cx="3657600" cy="621792"/>
          </a:xfrm>
          <a:prstGeom prst="rect">
            <a:avLst/>
          </a:prstGeom>
          <a:noFill/>
          <a:ln/>
        </p:spPr>
        <p:txBody>
          <a:bodyPr wrap="square" rtlCol="0" anchor="ctr"/>
          <a:lstStyle/>
          <a:p>
            <a:pPr indent="0" marL="0">
              <a:buNone/>
            </a:pPr>
            <a:r>
              <a:rPr lang="en-US" sz="1700" b="1" dirty="0">
                <a:solidFill>
                  <a:srgbClr val="0B2A4A"/>
                </a:solidFill>
              </a:rPr>
              <a:t>VT  </a:t>
            </a:r>
            <a:pPr indent="0" marL="0">
              <a:buNone/>
            </a:pPr>
            <a:r>
              <a:rPr lang="en-US" sz="1400" dirty="0">
                <a:solidFill>
                  <a:srgbClr val="0B1F33"/>
                </a:solidFill>
              </a:rPr>
              <a:t>Inside the validity window</a:t>
            </a:r>
            <a:endParaRPr lang="en-US" sz="1700" dirty="0"/>
          </a:p>
        </p:txBody>
      </p:sp>
      <p:sp>
        <p:nvSpPr>
          <p:cNvPr id="15" name="check VL"/>
          <p:cNvSpPr/>
          <p:nvPr/>
        </p:nvSpPr>
        <p:spPr>
          <a:xfrm>
            <a:off x="7726680" y="5029200"/>
            <a:ext cx="3886200" cy="621792"/>
          </a:xfrm>
          <a:prstGeom prst="roundRect">
            <a:avLst>
              <a:gd name="adj" fmla="val 11765"/>
            </a:avLst>
          </a:prstGeom>
          <a:solidFill>
            <a:srgbClr val="FFFFFF">
              <a:alpha val="92000"/>
            </a:srgbClr>
          </a:solidFill>
          <a:ln w="15240">
            <a:solidFill>
              <a:srgbClr val="1FB5D6"/>
            </a:solidFill>
            <a:prstDash val="solid"/>
          </a:ln>
        </p:spPr>
      </p:sp>
      <p:sp>
        <p:nvSpPr>
          <p:cNvPr id="16" name="check text VL"/>
          <p:cNvSpPr txBox="1"/>
          <p:nvPr/>
        </p:nvSpPr>
        <p:spPr>
          <a:xfrm>
            <a:off x="7863840" y="5029200"/>
            <a:ext cx="3657600" cy="621792"/>
          </a:xfrm>
          <a:prstGeom prst="rect">
            <a:avLst/>
          </a:prstGeom>
          <a:noFill/>
          <a:ln/>
        </p:spPr>
        <p:txBody>
          <a:bodyPr wrap="square" rtlCol="0" anchor="ctr"/>
          <a:lstStyle/>
          <a:p>
            <a:pPr indent="0" marL="0">
              <a:buNone/>
            </a:pPr>
            <a:r>
              <a:rPr lang="en-US" sz="1700" b="1" dirty="0">
                <a:solidFill>
                  <a:srgbClr val="0B2A4A"/>
                </a:solidFill>
              </a:rPr>
              <a:t>VL  </a:t>
            </a:r>
            <a:pPr indent="0" marL="0">
              <a:buNone/>
            </a:pPr>
            <a:r>
              <a:rPr lang="en-US" sz="1400" dirty="0">
                <a:solidFill>
                  <a:srgbClr val="0B1F33"/>
                </a:solidFill>
              </a:rPr>
              <a:t>Jurisdiction matches</a:t>
            </a:r>
            <a:endParaRPr lang="en-US" sz="1700" dirty="0"/>
          </a:p>
        </p:txBody>
      </p:sp>
      <p:sp>
        <p:nvSpPr>
          <p:cNvPr id="17" name="deny note"/>
          <p:cNvSpPr txBox="1"/>
          <p:nvPr/>
        </p:nvSpPr>
        <p:spPr>
          <a:xfrm>
            <a:off x="7726680" y="5779008"/>
            <a:ext cx="3886200" cy="777240"/>
          </a:xfrm>
          <a:prstGeom prst="rect">
            <a:avLst/>
          </a:prstGeom>
          <a:noFill/>
          <a:ln/>
        </p:spPr>
        <p:txBody>
          <a:bodyPr wrap="square" lIns="0" tIns="0" rIns="0" bIns="0" rtlCol="0" anchor="t"/>
          <a:lstStyle/>
          <a:p>
            <a:pPr indent="0" marL="0">
              <a:buNone/>
            </a:pPr>
            <a:r>
              <a:rPr lang="en-US" sz="1300" i="1" dirty="0">
                <a:solidFill>
                  <a:srgbClr val="FFFFFF"/>
                </a:solidFill>
              </a:rPr>
              <a:t>Any failed check gives DENY. In the prototype, a Groth16 proof must also verify before data is released.</a:t>
            </a:r>
            <a:endParaRPr lang="en-US" sz="13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RO1 AND RO2</a:t>
            </a:r>
            <a:endParaRPr lang="en-US" sz="3000" dirty="0"/>
          </a:p>
        </p:txBody>
      </p:sp>
      <p:sp>
        <p:nvSpPr>
          <p:cNvPr id="3" name="RO1 panel"/>
          <p:cNvSpPr/>
          <p:nvPr/>
        </p:nvSpPr>
        <p:spPr>
          <a:xfrm>
            <a:off x="502920" y="1097280"/>
            <a:ext cx="5486400" cy="5440680"/>
          </a:xfrm>
          <a:prstGeom prst="roundRect">
            <a:avLst>
              <a:gd name="adj" fmla="val 1681"/>
            </a:avLst>
          </a:prstGeom>
          <a:solidFill>
            <a:srgbClr val="0B2A4A">
              <a:alpha val="65000"/>
            </a:srgbClr>
          </a:solidFill>
          <a:ln w="12700">
            <a:solidFill>
              <a:srgbClr val="1FB5D6"/>
            </a:solidFill>
            <a:prstDash val="solid"/>
          </a:ln>
        </p:spPr>
      </p:sp>
      <p:sp>
        <p:nvSpPr>
          <p:cNvPr id="4" name="RO1 subtitle"/>
          <p:cNvSpPr txBox="1"/>
          <p:nvPr/>
        </p:nvSpPr>
        <p:spPr>
          <a:xfrm>
            <a:off x="685800" y="1188720"/>
            <a:ext cx="5120640" cy="457200"/>
          </a:xfrm>
          <a:prstGeom prst="rect">
            <a:avLst/>
          </a:prstGeom>
          <a:noFill/>
          <a:ln/>
        </p:spPr>
        <p:txBody>
          <a:bodyPr wrap="square" lIns="0" tIns="0" rIns="0" bIns="0" rtlCol="0" anchor="ctr"/>
          <a:lstStyle/>
          <a:p>
            <a:pPr indent="0" marL="0">
              <a:buNone/>
            </a:pPr>
            <a:r>
              <a:rPr lang="en-US" sz="1800" b="1" i="1" dirty="0">
                <a:solidFill>
                  <a:srgbClr val="FFFFFF"/>
                </a:solidFill>
              </a:rPr>
              <a:t>RO1: </a:t>
            </a:r>
            <a:pPr indent="0" marL="0">
              <a:buNone/>
            </a:pPr>
            <a:r>
              <a:rPr lang="en-US" sz="1800" b="1" i="1" dirty="0">
                <a:solidFill>
                  <a:srgbClr val="1FB5D6"/>
                </a:solidFill>
              </a:rPr>
              <a:t>Trust-centric consent model</a:t>
            </a:r>
            <a:endParaRPr lang="en-US" sz="1800" dirty="0"/>
          </a:p>
        </p:txBody>
      </p:sp>
      <p:sp>
        <p:nvSpPr>
          <p:cNvPr id="5" name="status chip"/>
          <p:cNvSpPr/>
          <p:nvPr/>
        </p:nvSpPr>
        <p:spPr>
          <a:xfrm>
            <a:off x="685800" y="1719072"/>
            <a:ext cx="1664208" cy="347472"/>
          </a:xfrm>
          <a:prstGeom prst="roundRect">
            <a:avLst>
              <a:gd name="adj" fmla="val 47368"/>
            </a:avLst>
          </a:prstGeom>
          <a:solidFill>
            <a:srgbClr val="2E7D32"/>
          </a:solidFill>
          <a:ln w="12700">
            <a:solidFill>
              <a:srgbClr val="2E7D32"/>
            </a:solidFill>
            <a:prstDash val="solid"/>
          </a:ln>
        </p:spPr>
      </p:sp>
      <p:sp>
        <p:nvSpPr>
          <p:cNvPr id="6" name="status text"/>
          <p:cNvSpPr txBox="1"/>
          <p:nvPr/>
        </p:nvSpPr>
        <p:spPr>
          <a:xfrm>
            <a:off x="685800" y="1719072"/>
            <a:ext cx="1664208" cy="347472"/>
          </a:xfrm>
          <a:prstGeom prst="rect">
            <a:avLst/>
          </a:prstGeom>
          <a:noFill/>
          <a:ln/>
        </p:spPr>
        <p:txBody>
          <a:bodyPr wrap="square" rtlCol="0" anchor="ctr"/>
          <a:lstStyle/>
          <a:p>
            <a:pPr algn="ctr" indent="0" marL="0">
              <a:buNone/>
            </a:pPr>
            <a:r>
              <a:rPr lang="en-US" sz="1200" b="1" dirty="0">
                <a:solidFill>
                  <a:srgbClr val="FFFFFF"/>
                </a:solidFill>
              </a:rPr>
              <a:t>Status: Done</a:t>
            </a:r>
            <a:endParaRPr lang="en-US" sz="1200" dirty="0"/>
          </a:p>
        </p:txBody>
      </p:sp>
      <p:sp>
        <p:nvSpPr>
          <p:cNvPr id="7" name="bullets"/>
          <p:cNvSpPr txBox="1"/>
          <p:nvPr/>
        </p:nvSpPr>
        <p:spPr>
          <a:xfrm>
            <a:off x="640080" y="2240280"/>
            <a:ext cx="3063240" cy="416052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The patient selects the DID, doctor, guardians, data scope, time and jurisdiction; the purpose is fixed to Treatment.</a:t>
            </a:r>
            <a:endParaRPr lang="en-US" sz="1400" dirty="0"/>
          </a:p>
          <a:p>
            <a:pPr marL="342900" indent="-342900">
              <a:spcAft>
                <a:spcPts val="1000"/>
              </a:spcAft>
              <a:buSzPct val="100000"/>
              <a:buChar char="•"/>
            </a:pPr>
            <a:r>
              <a:rPr lang="en-US" sz="1400" dirty="0">
                <a:solidFill>
                  <a:srgbClr val="FFFFFF"/>
                </a:solidFill>
              </a:rPr>
              <a:t>Invalid input is rejected, for example an empty scope.</a:t>
            </a:r>
            <a:endParaRPr lang="en-US" sz="1400" dirty="0"/>
          </a:p>
          <a:p>
            <a:pPr marL="342900" indent="-342900">
              <a:spcAft>
                <a:spcPts val="1000"/>
              </a:spcAft>
              <a:buSzPct val="100000"/>
              <a:buChar char="•"/>
            </a:pPr>
            <a:r>
              <a:rPr lang="en-US" sz="1400" dirty="0">
                <a:solidFill>
                  <a:srgbClr val="FFFFFF"/>
                </a:solidFill>
              </a:rPr>
              <a:t>C = (I, A, P, T, L, E) is stored as PENDING_SIGNATURE and the creation is logged.</a:t>
            </a:r>
            <a:endParaRPr lang="en-US" sz="1400" dirty="0"/>
          </a:p>
        </p:txBody>
      </p:sp>
      <p:sp>
        <p:nvSpPr>
          <p:cNvPr id="8" name="F10 panel"/>
          <p:cNvSpPr/>
          <p:nvPr/>
        </p:nvSpPr>
        <p:spPr>
          <a:xfrm>
            <a:off x="3749040" y="1691640"/>
            <a:ext cx="2103120" cy="4709160"/>
          </a:xfrm>
          <a:prstGeom prst="roundRect">
            <a:avLst>
              <a:gd name="adj" fmla="val 52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0" descr="/tmp/deck/img/F10.png">    </p:cNvPr>
          <p:cNvPicPr>
            <a:picLocks noChangeAspect="1"/>
          </p:cNvPicPr>
          <p:nvPr/>
        </p:nvPicPr>
        <p:blipFill>
          <a:blip r:embed="rId1"/>
          <a:stretch>
            <a:fillRect/>
          </a:stretch>
        </p:blipFill>
        <p:spPr>
          <a:xfrm>
            <a:off x="3822192" y="2154732"/>
            <a:ext cx="1956816" cy="3782975"/>
          </a:xfrm>
          <a:prstGeom prst="rect">
            <a:avLst/>
          </a:prstGeom>
        </p:spPr>
      </p:pic>
      <p:sp>
        <p:nvSpPr>
          <p:cNvPr id="10" name="RO2 panel"/>
          <p:cNvSpPr/>
          <p:nvPr/>
        </p:nvSpPr>
        <p:spPr>
          <a:xfrm>
            <a:off x="6199632" y="1097280"/>
            <a:ext cx="5486400" cy="5440680"/>
          </a:xfrm>
          <a:prstGeom prst="roundRect">
            <a:avLst>
              <a:gd name="adj" fmla="val 1681"/>
            </a:avLst>
          </a:prstGeom>
          <a:solidFill>
            <a:srgbClr val="0B2A4A">
              <a:alpha val="65000"/>
            </a:srgbClr>
          </a:solidFill>
          <a:ln w="12700">
            <a:solidFill>
              <a:srgbClr val="1FB5D6"/>
            </a:solidFill>
            <a:prstDash val="solid"/>
          </a:ln>
        </p:spPr>
      </p:sp>
      <p:sp>
        <p:nvSpPr>
          <p:cNvPr id="11" name="RO2 subtitle"/>
          <p:cNvSpPr txBox="1"/>
          <p:nvPr/>
        </p:nvSpPr>
        <p:spPr>
          <a:xfrm>
            <a:off x="6382512" y="1188720"/>
            <a:ext cx="5120640" cy="457200"/>
          </a:xfrm>
          <a:prstGeom prst="rect">
            <a:avLst/>
          </a:prstGeom>
          <a:noFill/>
          <a:ln/>
        </p:spPr>
        <p:txBody>
          <a:bodyPr wrap="square" lIns="0" tIns="0" rIns="0" bIns="0" rtlCol="0" anchor="ctr"/>
          <a:lstStyle/>
          <a:p>
            <a:pPr indent="0" marL="0">
              <a:buNone/>
            </a:pPr>
            <a:r>
              <a:rPr lang="en-US" sz="1800" b="1" i="1" dirty="0">
                <a:solidFill>
                  <a:srgbClr val="FFFFFF"/>
                </a:solidFill>
              </a:rPr>
              <a:t>RO2: </a:t>
            </a:r>
            <a:pPr indent="0" marL="0">
              <a:buNone/>
            </a:pPr>
            <a:r>
              <a:rPr lang="en-US" sz="1800" b="1" i="1" dirty="0">
                <a:solidFill>
                  <a:srgbClr val="1FB5D6"/>
                </a:solidFill>
              </a:rPr>
              <a:t>Identity and authority</a:t>
            </a:r>
            <a:endParaRPr lang="en-US" sz="1800" dirty="0"/>
          </a:p>
        </p:txBody>
      </p:sp>
      <p:sp>
        <p:nvSpPr>
          <p:cNvPr id="12" name="status chip"/>
          <p:cNvSpPr/>
          <p:nvPr/>
        </p:nvSpPr>
        <p:spPr>
          <a:xfrm>
            <a:off x="6382512" y="1719072"/>
            <a:ext cx="1664208" cy="347472"/>
          </a:xfrm>
          <a:prstGeom prst="roundRect">
            <a:avLst>
              <a:gd name="adj" fmla="val 47368"/>
            </a:avLst>
          </a:prstGeom>
          <a:solidFill>
            <a:srgbClr val="2E7D32"/>
          </a:solidFill>
          <a:ln w="12700">
            <a:solidFill>
              <a:srgbClr val="2E7D32"/>
            </a:solidFill>
            <a:prstDash val="solid"/>
          </a:ln>
        </p:spPr>
      </p:sp>
      <p:sp>
        <p:nvSpPr>
          <p:cNvPr id="13" name="status text"/>
          <p:cNvSpPr txBox="1"/>
          <p:nvPr/>
        </p:nvSpPr>
        <p:spPr>
          <a:xfrm>
            <a:off x="6382512" y="1719072"/>
            <a:ext cx="1664208" cy="347472"/>
          </a:xfrm>
          <a:prstGeom prst="rect">
            <a:avLst/>
          </a:prstGeom>
          <a:noFill/>
          <a:ln/>
        </p:spPr>
        <p:txBody>
          <a:bodyPr wrap="square" rtlCol="0" anchor="ctr"/>
          <a:lstStyle/>
          <a:p>
            <a:pPr algn="ctr" indent="0" marL="0">
              <a:buNone/>
            </a:pPr>
            <a:r>
              <a:rPr lang="en-US" sz="1200" b="1" dirty="0">
                <a:solidFill>
                  <a:srgbClr val="FFFFFF"/>
                </a:solidFill>
              </a:rPr>
              <a:t>Status: Done</a:t>
            </a:r>
            <a:endParaRPr lang="en-US" sz="1200" dirty="0"/>
          </a:p>
        </p:txBody>
      </p:sp>
      <p:sp>
        <p:nvSpPr>
          <p:cNvPr id="14" name="bullets"/>
          <p:cNvSpPr txBox="1"/>
          <p:nvPr/>
        </p:nvSpPr>
        <p:spPr>
          <a:xfrm>
            <a:off x="6336792" y="2240280"/>
            <a:ext cx="3063240" cy="416052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DID shows who the participant is; a VC shows what they may do.</a:t>
            </a:r>
            <a:endParaRPr lang="en-US" sz="1400" dirty="0"/>
          </a:p>
          <a:p>
            <a:pPr marL="342900" indent="-342900">
              <a:spcAft>
                <a:spcPts val="1000"/>
              </a:spcAft>
              <a:buSzPct val="100000"/>
              <a:buChar char="•"/>
            </a:pPr>
            <a:r>
              <a:rPr lang="en-US" sz="1400" dirty="0">
                <a:solidFill>
                  <a:srgbClr val="FFFFFF"/>
                </a:solidFill>
              </a:rPr>
              <a:t>A valid DID alone never gives access.</a:t>
            </a:r>
            <a:endParaRPr lang="en-US" sz="1400" dirty="0"/>
          </a:p>
          <a:p>
            <a:pPr marL="342900" indent="-342900">
              <a:spcAft>
                <a:spcPts val="1000"/>
              </a:spcAft>
              <a:buSzPct val="100000"/>
              <a:buChar char="•"/>
            </a:pPr>
            <a:r>
              <a:rPr lang="en-US" sz="1400" dirty="0">
                <a:solidFill>
                  <a:srgbClr val="FFFFFF"/>
                </a:solidFill>
              </a:rPr>
              <a:t>Prototype: DID-format check and EIP-712 signature recovery; full DID and VC checks next stage.</a:t>
            </a:r>
            <a:endParaRPr lang="en-US" sz="1400" dirty="0"/>
          </a:p>
        </p:txBody>
      </p:sp>
      <p:sp>
        <p:nvSpPr>
          <p:cNvPr id="15" name="F12 panel"/>
          <p:cNvSpPr/>
          <p:nvPr/>
        </p:nvSpPr>
        <p:spPr>
          <a:xfrm>
            <a:off x="9445752" y="1691640"/>
            <a:ext cx="2103120" cy="4709160"/>
          </a:xfrm>
          <a:prstGeom prst="roundRect">
            <a:avLst>
              <a:gd name="adj" fmla="val 52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6" name="F12" descr="/tmp/deck/img/F12.png">    </p:cNvPr>
          <p:cNvPicPr>
            <a:picLocks noChangeAspect="1"/>
          </p:cNvPicPr>
          <p:nvPr/>
        </p:nvPicPr>
        <p:blipFill>
          <a:blip r:embed="rId2"/>
          <a:stretch>
            <a:fillRect/>
          </a:stretch>
        </p:blipFill>
        <p:spPr>
          <a:xfrm>
            <a:off x="9518904" y="2588621"/>
            <a:ext cx="1956816" cy="2915198"/>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RO3 AND RO4</a:t>
            </a:r>
            <a:endParaRPr lang="en-US" sz="3000" dirty="0"/>
          </a:p>
        </p:txBody>
      </p:sp>
      <p:sp>
        <p:nvSpPr>
          <p:cNvPr id="3" name="RO3 panel"/>
          <p:cNvSpPr/>
          <p:nvPr/>
        </p:nvSpPr>
        <p:spPr>
          <a:xfrm>
            <a:off x="502920" y="1097280"/>
            <a:ext cx="5486400" cy="5440680"/>
          </a:xfrm>
          <a:prstGeom prst="roundRect">
            <a:avLst>
              <a:gd name="adj" fmla="val 1681"/>
            </a:avLst>
          </a:prstGeom>
          <a:solidFill>
            <a:srgbClr val="0B2A4A">
              <a:alpha val="65000"/>
            </a:srgbClr>
          </a:solidFill>
          <a:ln w="12700">
            <a:solidFill>
              <a:srgbClr val="1FB5D6"/>
            </a:solidFill>
            <a:prstDash val="solid"/>
          </a:ln>
        </p:spPr>
      </p:sp>
      <p:sp>
        <p:nvSpPr>
          <p:cNvPr id="4" name="RO3 subtitle"/>
          <p:cNvSpPr txBox="1"/>
          <p:nvPr/>
        </p:nvSpPr>
        <p:spPr>
          <a:xfrm>
            <a:off x="685800" y="1188720"/>
            <a:ext cx="5120640" cy="457200"/>
          </a:xfrm>
          <a:prstGeom prst="rect">
            <a:avLst/>
          </a:prstGeom>
          <a:noFill/>
          <a:ln/>
        </p:spPr>
        <p:txBody>
          <a:bodyPr wrap="square" lIns="0" tIns="0" rIns="0" bIns="0" rtlCol="0" anchor="ctr"/>
          <a:lstStyle/>
          <a:p>
            <a:pPr indent="0" marL="0">
              <a:buNone/>
            </a:pPr>
            <a:r>
              <a:rPr lang="en-US" sz="1800" b="1" i="1" dirty="0">
                <a:solidFill>
                  <a:srgbClr val="FFFFFF"/>
                </a:solidFill>
              </a:rPr>
              <a:t>RO3: </a:t>
            </a:r>
            <a:pPr indent="0" marL="0">
              <a:buNone/>
            </a:pPr>
            <a:r>
              <a:rPr lang="en-US" sz="1800" b="1" i="1" dirty="0">
                <a:solidFill>
                  <a:srgbClr val="1FB5D6"/>
                </a:solidFill>
              </a:rPr>
              <a:t>Multi-party authorisation</a:t>
            </a:r>
            <a:endParaRPr lang="en-US" sz="1800" dirty="0"/>
          </a:p>
        </p:txBody>
      </p:sp>
      <p:sp>
        <p:nvSpPr>
          <p:cNvPr id="5" name="status chip"/>
          <p:cNvSpPr/>
          <p:nvPr/>
        </p:nvSpPr>
        <p:spPr>
          <a:xfrm>
            <a:off x="685800" y="1719072"/>
            <a:ext cx="1664208" cy="347472"/>
          </a:xfrm>
          <a:prstGeom prst="roundRect">
            <a:avLst>
              <a:gd name="adj" fmla="val 47368"/>
            </a:avLst>
          </a:prstGeom>
          <a:solidFill>
            <a:srgbClr val="2E7D32"/>
          </a:solidFill>
          <a:ln w="12700">
            <a:solidFill>
              <a:srgbClr val="2E7D32"/>
            </a:solidFill>
            <a:prstDash val="solid"/>
          </a:ln>
        </p:spPr>
      </p:sp>
      <p:sp>
        <p:nvSpPr>
          <p:cNvPr id="6" name="status text"/>
          <p:cNvSpPr txBox="1"/>
          <p:nvPr/>
        </p:nvSpPr>
        <p:spPr>
          <a:xfrm>
            <a:off x="685800" y="1719072"/>
            <a:ext cx="1664208" cy="347472"/>
          </a:xfrm>
          <a:prstGeom prst="rect">
            <a:avLst/>
          </a:prstGeom>
          <a:noFill/>
          <a:ln/>
        </p:spPr>
        <p:txBody>
          <a:bodyPr wrap="square" rtlCol="0" anchor="ctr"/>
          <a:lstStyle/>
          <a:p>
            <a:pPr algn="ctr" indent="0" marL="0">
              <a:buNone/>
            </a:pPr>
            <a:r>
              <a:rPr lang="en-US" sz="1200" b="1" dirty="0">
                <a:solidFill>
                  <a:srgbClr val="FFFFFF"/>
                </a:solidFill>
              </a:rPr>
              <a:t>Status: Done</a:t>
            </a:r>
            <a:endParaRPr lang="en-US" sz="1200" dirty="0"/>
          </a:p>
        </p:txBody>
      </p:sp>
      <p:sp>
        <p:nvSpPr>
          <p:cNvPr id="7" name="bullets"/>
          <p:cNvSpPr txBox="1"/>
          <p:nvPr/>
        </p:nvSpPr>
        <p:spPr>
          <a:xfrm>
            <a:off x="640080" y="2240280"/>
            <a:ext cx="3063240" cy="416052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Guardian set G is fixed at creation; each guardian signs an EIP-712 approval.</a:t>
            </a:r>
            <a:endParaRPr lang="en-US" sz="1400" dirty="0"/>
          </a:p>
          <a:p>
            <a:pPr marL="342900" indent="-342900">
              <a:spcAft>
                <a:spcPts val="1000"/>
              </a:spcAft>
              <a:buSzPct val="100000"/>
              <a:buChar char="•"/>
            </a:pPr>
            <a:r>
              <a:rPr lang="en-US" sz="1400" dirty="0">
                <a:solidFill>
                  <a:srgbClr val="FFFFFF"/>
                </a:solidFill>
              </a:rPr>
              <a:t>Outsider, replayed and duplicate approvals are not counted.</a:t>
            </a:r>
            <a:endParaRPr lang="en-US" sz="1400" dirty="0"/>
          </a:p>
          <a:p>
            <a:pPr marL="342900" indent="-342900">
              <a:spcAft>
                <a:spcPts val="1000"/>
              </a:spcAft>
              <a:buSzPct val="100000"/>
              <a:buChar char="•"/>
            </a:pPr>
            <a:r>
              <a:rPr lang="en-US" sz="1400" dirty="0">
                <a:solidFill>
                  <a:srgbClr val="FFFFFF"/>
                </a:solidFill>
              </a:rPr>
              <a:t>N-of-N rule (2-of-2 in the demo); then the mint is anchored on Sepolia in the background.</a:t>
            </a:r>
            <a:endParaRPr lang="en-US" sz="1400" dirty="0"/>
          </a:p>
        </p:txBody>
      </p:sp>
      <p:sp>
        <p:nvSpPr>
          <p:cNvPr id="8" name="F13 panel"/>
          <p:cNvSpPr/>
          <p:nvPr/>
        </p:nvSpPr>
        <p:spPr>
          <a:xfrm>
            <a:off x="3749040" y="1691640"/>
            <a:ext cx="2103120" cy="4709160"/>
          </a:xfrm>
          <a:prstGeom prst="roundRect">
            <a:avLst>
              <a:gd name="adj" fmla="val 52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3" descr="/tmp/deck/img/F13.png">    </p:cNvPr>
          <p:cNvPicPr>
            <a:picLocks noChangeAspect="1"/>
          </p:cNvPicPr>
          <p:nvPr/>
        </p:nvPicPr>
        <p:blipFill>
          <a:blip r:embed="rId1"/>
          <a:stretch>
            <a:fillRect/>
          </a:stretch>
        </p:blipFill>
        <p:spPr>
          <a:xfrm>
            <a:off x="3822192" y="2544913"/>
            <a:ext cx="1956816" cy="3002614"/>
          </a:xfrm>
          <a:prstGeom prst="rect">
            <a:avLst/>
          </a:prstGeom>
        </p:spPr>
      </p:pic>
      <p:sp>
        <p:nvSpPr>
          <p:cNvPr id="10" name="RO4 panel"/>
          <p:cNvSpPr/>
          <p:nvPr/>
        </p:nvSpPr>
        <p:spPr>
          <a:xfrm>
            <a:off x="6199632" y="1097280"/>
            <a:ext cx="5486400" cy="5440680"/>
          </a:xfrm>
          <a:prstGeom prst="roundRect">
            <a:avLst>
              <a:gd name="adj" fmla="val 1681"/>
            </a:avLst>
          </a:prstGeom>
          <a:solidFill>
            <a:srgbClr val="0B2A4A">
              <a:alpha val="65000"/>
            </a:srgbClr>
          </a:solidFill>
          <a:ln w="12700">
            <a:solidFill>
              <a:srgbClr val="1FB5D6"/>
            </a:solidFill>
            <a:prstDash val="solid"/>
          </a:ln>
        </p:spPr>
      </p:sp>
      <p:sp>
        <p:nvSpPr>
          <p:cNvPr id="11" name="RO4 subtitle"/>
          <p:cNvSpPr txBox="1"/>
          <p:nvPr/>
        </p:nvSpPr>
        <p:spPr>
          <a:xfrm>
            <a:off x="6382512" y="1188720"/>
            <a:ext cx="5120640" cy="457200"/>
          </a:xfrm>
          <a:prstGeom prst="rect">
            <a:avLst/>
          </a:prstGeom>
          <a:noFill/>
          <a:ln/>
        </p:spPr>
        <p:txBody>
          <a:bodyPr wrap="square" lIns="0" tIns="0" rIns="0" bIns="0" rtlCol="0" anchor="ctr"/>
          <a:lstStyle/>
          <a:p>
            <a:pPr indent="0" marL="0">
              <a:buNone/>
            </a:pPr>
            <a:r>
              <a:rPr lang="en-US" sz="1800" b="1" i="1" dirty="0">
                <a:solidFill>
                  <a:srgbClr val="FFFFFF"/>
                </a:solidFill>
              </a:rPr>
              <a:t>RO4: </a:t>
            </a:r>
            <a:pPr indent="0" marL="0">
              <a:buNone/>
            </a:pPr>
            <a:r>
              <a:rPr lang="en-US" sz="1800" b="1" i="1" dirty="0">
                <a:solidFill>
                  <a:srgbClr val="1FB5D6"/>
                </a:solidFill>
              </a:rPr>
              <a:t>Policy and context</a:t>
            </a:r>
            <a:endParaRPr lang="en-US" sz="1800" dirty="0"/>
          </a:p>
        </p:txBody>
      </p:sp>
      <p:sp>
        <p:nvSpPr>
          <p:cNvPr id="12" name="status chip"/>
          <p:cNvSpPr/>
          <p:nvPr/>
        </p:nvSpPr>
        <p:spPr>
          <a:xfrm>
            <a:off x="6382512" y="1719072"/>
            <a:ext cx="1664208" cy="347472"/>
          </a:xfrm>
          <a:prstGeom prst="roundRect">
            <a:avLst>
              <a:gd name="adj" fmla="val 47368"/>
            </a:avLst>
          </a:prstGeom>
          <a:solidFill>
            <a:srgbClr val="2E7D32"/>
          </a:solidFill>
          <a:ln w="12700">
            <a:solidFill>
              <a:srgbClr val="2E7D32"/>
            </a:solidFill>
            <a:prstDash val="solid"/>
          </a:ln>
        </p:spPr>
      </p:sp>
      <p:sp>
        <p:nvSpPr>
          <p:cNvPr id="13" name="status text"/>
          <p:cNvSpPr txBox="1"/>
          <p:nvPr/>
        </p:nvSpPr>
        <p:spPr>
          <a:xfrm>
            <a:off x="6382512" y="1719072"/>
            <a:ext cx="1664208" cy="347472"/>
          </a:xfrm>
          <a:prstGeom prst="rect">
            <a:avLst/>
          </a:prstGeom>
          <a:noFill/>
          <a:ln/>
        </p:spPr>
        <p:txBody>
          <a:bodyPr wrap="square" rtlCol="0" anchor="ctr"/>
          <a:lstStyle/>
          <a:p>
            <a:pPr algn="ctr" indent="0" marL="0">
              <a:buNone/>
            </a:pPr>
            <a:r>
              <a:rPr lang="en-US" sz="1200" b="1" dirty="0">
                <a:solidFill>
                  <a:srgbClr val="FFFFFF"/>
                </a:solidFill>
              </a:rPr>
              <a:t>Status: Done</a:t>
            </a:r>
            <a:endParaRPr lang="en-US" sz="1200" dirty="0"/>
          </a:p>
        </p:txBody>
      </p:sp>
      <p:sp>
        <p:nvSpPr>
          <p:cNvPr id="14" name="bullets"/>
          <p:cNvSpPr txBox="1"/>
          <p:nvPr/>
        </p:nvSpPr>
        <p:spPr>
          <a:xfrm>
            <a:off x="6336792" y="2240280"/>
            <a:ext cx="3063240" cy="416052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Requested scope must be a non-empty subset of the authorised scope.</a:t>
            </a:r>
            <a:endParaRPr lang="en-US" sz="1400" dirty="0"/>
          </a:p>
          <a:p>
            <a:pPr marL="342900" indent="-342900">
              <a:spcAft>
                <a:spcPts val="1000"/>
              </a:spcAft>
              <a:buSzPct val="100000"/>
              <a:buChar char="•"/>
            </a:pPr>
            <a:r>
              <a:rPr lang="en-US" sz="1400" dirty="0">
                <a:solidFill>
                  <a:srgbClr val="FFFFFF"/>
                </a:solidFill>
              </a:rPr>
              <a:t>Purpose, time and jurisdiction are checked in the same decision.</a:t>
            </a:r>
            <a:endParaRPr lang="en-US" sz="1400" dirty="0"/>
          </a:p>
          <a:p>
            <a:pPr marL="342900" indent="-342900">
              <a:spcAft>
                <a:spcPts val="1000"/>
              </a:spcAft>
              <a:buSzPct val="100000"/>
              <a:buChar char="•"/>
            </a:pPr>
            <a:r>
              <a:rPr lang="en-US" sz="1400" dirty="0">
                <a:solidFill>
                  <a:srgbClr val="FFFFFF"/>
                </a:solidFill>
              </a:rPr>
              <a:t>A Groth16 proof must verify; asking for Procedure when only Observation and Medication are allowed gives DENY.</a:t>
            </a:r>
            <a:endParaRPr lang="en-US" sz="1400" dirty="0"/>
          </a:p>
        </p:txBody>
      </p:sp>
      <p:sp>
        <p:nvSpPr>
          <p:cNvPr id="15" name="F14 panel"/>
          <p:cNvSpPr/>
          <p:nvPr/>
        </p:nvSpPr>
        <p:spPr>
          <a:xfrm>
            <a:off x="9445752" y="1691640"/>
            <a:ext cx="2103120" cy="4709160"/>
          </a:xfrm>
          <a:prstGeom prst="roundRect">
            <a:avLst>
              <a:gd name="adj" fmla="val 52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6" name="F14" descr="/tmp/deck/img/F14.png">    </p:cNvPr>
          <p:cNvPicPr>
            <a:picLocks noChangeAspect="1"/>
          </p:cNvPicPr>
          <p:nvPr/>
        </p:nvPicPr>
        <p:blipFill>
          <a:blip r:embed="rId2"/>
          <a:stretch>
            <a:fillRect/>
          </a:stretch>
        </p:blipFill>
        <p:spPr>
          <a:xfrm>
            <a:off x="9518904" y="2305832"/>
            <a:ext cx="1956816" cy="348077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PROPOSED SOLUTION FOR RO5 AND RO6</a:t>
            </a:r>
            <a:endParaRPr lang="en-US" sz="3000" dirty="0"/>
          </a:p>
        </p:txBody>
      </p:sp>
      <p:sp>
        <p:nvSpPr>
          <p:cNvPr id="3" name="RO5 panel"/>
          <p:cNvSpPr/>
          <p:nvPr/>
        </p:nvSpPr>
        <p:spPr>
          <a:xfrm>
            <a:off x="502920" y="1097280"/>
            <a:ext cx="5486400" cy="5440680"/>
          </a:xfrm>
          <a:prstGeom prst="roundRect">
            <a:avLst>
              <a:gd name="adj" fmla="val 1681"/>
            </a:avLst>
          </a:prstGeom>
          <a:solidFill>
            <a:srgbClr val="0B2A4A">
              <a:alpha val="65000"/>
            </a:srgbClr>
          </a:solidFill>
          <a:ln w="12700">
            <a:solidFill>
              <a:srgbClr val="1FB5D6"/>
            </a:solidFill>
            <a:prstDash val="solid"/>
          </a:ln>
        </p:spPr>
      </p:sp>
      <p:sp>
        <p:nvSpPr>
          <p:cNvPr id="4" name="RO5 subtitle"/>
          <p:cNvSpPr txBox="1"/>
          <p:nvPr/>
        </p:nvSpPr>
        <p:spPr>
          <a:xfrm>
            <a:off x="685800" y="1188720"/>
            <a:ext cx="5120640" cy="457200"/>
          </a:xfrm>
          <a:prstGeom prst="rect">
            <a:avLst/>
          </a:prstGeom>
          <a:noFill/>
          <a:ln/>
        </p:spPr>
        <p:txBody>
          <a:bodyPr wrap="square" lIns="0" tIns="0" rIns="0" bIns="0" rtlCol="0" anchor="ctr"/>
          <a:lstStyle/>
          <a:p>
            <a:pPr indent="0" marL="0">
              <a:buNone/>
            </a:pPr>
            <a:r>
              <a:rPr lang="en-US" sz="1800" b="1" i="1" dirty="0">
                <a:solidFill>
                  <a:srgbClr val="FFFFFF"/>
                </a:solidFill>
              </a:rPr>
              <a:t>RO5: </a:t>
            </a:r>
            <a:pPr indent="0" marL="0">
              <a:buNone/>
            </a:pPr>
            <a:r>
              <a:rPr lang="en-US" sz="1800" b="1" i="1" dirty="0">
                <a:solidFill>
                  <a:srgbClr val="1FB5D6"/>
                </a:solidFill>
              </a:rPr>
              <a:t>Temporal and lifecycle trust</a:t>
            </a:r>
            <a:endParaRPr lang="en-US" sz="1800" dirty="0"/>
          </a:p>
        </p:txBody>
      </p:sp>
      <p:sp>
        <p:nvSpPr>
          <p:cNvPr id="5" name="status chip"/>
          <p:cNvSpPr/>
          <p:nvPr/>
        </p:nvSpPr>
        <p:spPr>
          <a:xfrm>
            <a:off x="685800" y="1719072"/>
            <a:ext cx="2368296" cy="347472"/>
          </a:xfrm>
          <a:prstGeom prst="roundRect">
            <a:avLst>
              <a:gd name="adj" fmla="val 47368"/>
            </a:avLst>
          </a:prstGeom>
          <a:solidFill>
            <a:srgbClr val="B7791F"/>
          </a:solidFill>
          <a:ln w="12700">
            <a:solidFill>
              <a:srgbClr val="B7791F"/>
            </a:solidFill>
            <a:prstDash val="solid"/>
          </a:ln>
        </p:spPr>
      </p:sp>
      <p:sp>
        <p:nvSpPr>
          <p:cNvPr id="6" name="status text"/>
          <p:cNvSpPr txBox="1"/>
          <p:nvPr/>
        </p:nvSpPr>
        <p:spPr>
          <a:xfrm>
            <a:off x="685800" y="1719072"/>
            <a:ext cx="2368296" cy="347472"/>
          </a:xfrm>
          <a:prstGeom prst="rect">
            <a:avLst/>
          </a:prstGeom>
          <a:noFill/>
          <a:ln/>
        </p:spPr>
        <p:txBody>
          <a:bodyPr wrap="square" rtlCol="0" anchor="ctr"/>
          <a:lstStyle/>
          <a:p>
            <a:pPr algn="ctr" indent="0" marL="0">
              <a:buNone/>
            </a:pPr>
            <a:r>
              <a:rPr lang="en-US" sz="1200" b="1" dirty="0">
                <a:solidFill>
                  <a:srgbClr val="FFFFFF"/>
                </a:solidFill>
              </a:rPr>
              <a:t>Status: In Progress</a:t>
            </a:r>
            <a:endParaRPr lang="en-US" sz="1200" dirty="0"/>
          </a:p>
        </p:txBody>
      </p:sp>
      <p:sp>
        <p:nvSpPr>
          <p:cNvPr id="7" name="bullets"/>
          <p:cNvSpPr txBox="1"/>
          <p:nvPr/>
        </p:nvSpPr>
        <p:spPr>
          <a:xfrm>
            <a:off x="640080" y="2240280"/>
            <a:ext cx="5212080" cy="22402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Validity window stored on-chain and checked at every request (VT).</a:t>
            </a:r>
            <a:endParaRPr lang="en-US" sz="1400" dirty="0"/>
          </a:p>
          <a:p>
            <a:pPr marL="342900" indent="-342900">
              <a:spcAft>
                <a:spcPts val="1000"/>
              </a:spcAft>
              <a:buSzPct val="100000"/>
              <a:buChar char="•"/>
            </a:pPr>
            <a:r>
              <a:rPr lang="en-US" sz="1400" dirty="0">
                <a:solidFill>
                  <a:srgbClr val="FFFFFF"/>
                </a:solidFill>
              </a:rPr>
              <a:t>Revocation works end to end, with an on-chain revoke.</a:t>
            </a:r>
            <a:endParaRPr lang="en-US" sz="1400" dirty="0"/>
          </a:p>
          <a:p>
            <a:pPr marL="342900" indent="-342900">
              <a:spcAft>
                <a:spcPts val="1000"/>
              </a:spcAft>
              <a:buSzPct val="100000"/>
              <a:buChar char="•"/>
            </a:pPr>
            <a:r>
              <a:rPr lang="en-US" sz="1400" dirty="0">
                <a:solidFill>
                  <a:srgbClr val="FFFFFF"/>
                </a:solidFill>
              </a:rPr>
              <a:t>Next stage: transition check, modification, delegation, guardian-set changes, formal lifecycle model.</a:t>
            </a:r>
            <a:endParaRPr lang="en-US" sz="1400" dirty="0"/>
          </a:p>
        </p:txBody>
      </p:sp>
      <p:sp>
        <p:nvSpPr>
          <p:cNvPr id="8" name="F35 panel"/>
          <p:cNvSpPr/>
          <p:nvPr/>
        </p:nvSpPr>
        <p:spPr>
          <a:xfrm>
            <a:off x="685800" y="4526280"/>
            <a:ext cx="5120640" cy="1874520"/>
          </a:xfrm>
          <a:prstGeom prst="roundRect">
            <a:avLst>
              <a:gd name="adj" fmla="val 5854"/>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35" descr="/tmp/deck/img/F35.png">    </p:cNvPr>
          <p:cNvPicPr>
            <a:picLocks noChangeAspect="1"/>
          </p:cNvPicPr>
          <p:nvPr/>
        </p:nvPicPr>
        <p:blipFill>
          <a:blip r:embed="rId1"/>
          <a:stretch>
            <a:fillRect/>
          </a:stretch>
        </p:blipFill>
        <p:spPr>
          <a:xfrm>
            <a:off x="1046572" y="4599432"/>
            <a:ext cx="4399095" cy="1728216"/>
          </a:xfrm>
          <a:prstGeom prst="rect">
            <a:avLst/>
          </a:prstGeom>
        </p:spPr>
      </p:pic>
      <p:sp>
        <p:nvSpPr>
          <p:cNvPr id="10" name="RO6 panel"/>
          <p:cNvSpPr/>
          <p:nvPr/>
        </p:nvSpPr>
        <p:spPr>
          <a:xfrm>
            <a:off x="6199632" y="1097280"/>
            <a:ext cx="5486400" cy="5440680"/>
          </a:xfrm>
          <a:prstGeom prst="roundRect">
            <a:avLst>
              <a:gd name="adj" fmla="val 1681"/>
            </a:avLst>
          </a:prstGeom>
          <a:solidFill>
            <a:srgbClr val="0B2A4A">
              <a:alpha val="65000"/>
            </a:srgbClr>
          </a:solidFill>
          <a:ln w="12700">
            <a:solidFill>
              <a:srgbClr val="1FB5D6"/>
            </a:solidFill>
            <a:prstDash val="solid"/>
          </a:ln>
        </p:spPr>
      </p:sp>
      <p:sp>
        <p:nvSpPr>
          <p:cNvPr id="11" name="RO6 subtitle"/>
          <p:cNvSpPr txBox="1"/>
          <p:nvPr/>
        </p:nvSpPr>
        <p:spPr>
          <a:xfrm>
            <a:off x="6382512" y="1188720"/>
            <a:ext cx="5120640" cy="457200"/>
          </a:xfrm>
          <a:prstGeom prst="rect">
            <a:avLst/>
          </a:prstGeom>
          <a:noFill/>
          <a:ln/>
        </p:spPr>
        <p:txBody>
          <a:bodyPr wrap="square" lIns="0" tIns="0" rIns="0" bIns="0" rtlCol="0" anchor="ctr"/>
          <a:lstStyle/>
          <a:p>
            <a:pPr indent="0" marL="0">
              <a:buNone/>
            </a:pPr>
            <a:r>
              <a:rPr lang="en-US" sz="1800" b="1" i="1" dirty="0">
                <a:solidFill>
                  <a:srgbClr val="FFFFFF"/>
                </a:solidFill>
              </a:rPr>
              <a:t>RO6: </a:t>
            </a:r>
            <a:pPr indent="0" marL="0">
              <a:buNone/>
            </a:pPr>
            <a:r>
              <a:rPr lang="en-US" sz="1800" b="1" i="1" dirty="0">
                <a:solidFill>
                  <a:srgbClr val="1FB5D6"/>
                </a:solidFill>
              </a:rPr>
              <a:t>Assurance and validation</a:t>
            </a:r>
            <a:endParaRPr lang="en-US" sz="1800" dirty="0"/>
          </a:p>
        </p:txBody>
      </p:sp>
      <p:sp>
        <p:nvSpPr>
          <p:cNvPr id="12" name="status chip"/>
          <p:cNvSpPr/>
          <p:nvPr/>
        </p:nvSpPr>
        <p:spPr>
          <a:xfrm>
            <a:off x="6382512" y="1719072"/>
            <a:ext cx="3172968" cy="347472"/>
          </a:xfrm>
          <a:prstGeom prst="roundRect">
            <a:avLst>
              <a:gd name="adj" fmla="val 47368"/>
            </a:avLst>
          </a:prstGeom>
          <a:solidFill>
            <a:srgbClr val="6D5BA8"/>
          </a:solidFill>
          <a:ln w="12700">
            <a:solidFill>
              <a:srgbClr val="6D5BA8"/>
            </a:solidFill>
            <a:prstDash val="solid"/>
          </a:ln>
        </p:spPr>
      </p:sp>
      <p:sp>
        <p:nvSpPr>
          <p:cNvPr id="13" name="status text"/>
          <p:cNvSpPr txBox="1"/>
          <p:nvPr/>
        </p:nvSpPr>
        <p:spPr>
          <a:xfrm>
            <a:off x="6382512" y="1719072"/>
            <a:ext cx="3172968" cy="347472"/>
          </a:xfrm>
          <a:prstGeom prst="rect">
            <a:avLst/>
          </a:prstGeom>
          <a:noFill/>
          <a:ln/>
        </p:spPr>
        <p:txBody>
          <a:bodyPr wrap="square" rtlCol="0" anchor="ctr"/>
          <a:lstStyle/>
          <a:p>
            <a:pPr algn="ctr" indent="0" marL="0">
              <a:buNone/>
            </a:pPr>
            <a:r>
              <a:rPr lang="en-US" sz="1200" b="1" dirty="0">
                <a:solidFill>
                  <a:srgbClr val="FFFFFF"/>
                </a:solidFill>
              </a:rPr>
              <a:t>Status: Partially completed</a:t>
            </a:r>
            <a:endParaRPr lang="en-US" sz="1200" dirty="0"/>
          </a:p>
        </p:txBody>
      </p:sp>
      <p:sp>
        <p:nvSpPr>
          <p:cNvPr id="14" name="bullets"/>
          <p:cNvSpPr txBox="1"/>
          <p:nvPr/>
        </p:nvSpPr>
        <p:spPr>
          <a:xfrm>
            <a:off x="6336792" y="2240280"/>
            <a:ext cx="3063240" cy="416052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Done: 36 automated tests, including attack scenarios A1 to A12.</a:t>
            </a:r>
            <a:endParaRPr lang="en-US" sz="1400" dirty="0"/>
          </a:p>
          <a:p>
            <a:pPr marL="342900" indent="-342900">
              <a:spcAft>
                <a:spcPts val="1000"/>
              </a:spcAft>
              <a:buSzPct val="100000"/>
              <a:buChar char="•"/>
            </a:pPr>
            <a:r>
              <a:rPr lang="en-US" sz="1400" dirty="0">
                <a:solidFill>
                  <a:srgbClr val="FFFFFF"/>
                </a:solidFill>
              </a:rPr>
              <a:t>Done: cost, latency and processing time measured; a live wrong-jurisdiction request was refused.</a:t>
            </a:r>
            <a:endParaRPr lang="en-US" sz="1400" dirty="0"/>
          </a:p>
          <a:p>
            <a:pPr marL="342900" indent="-342900">
              <a:spcAft>
                <a:spcPts val="1000"/>
              </a:spcAft>
              <a:buSzPct val="100000"/>
              <a:buChar char="•"/>
            </a:pPr>
            <a:r>
              <a:rPr lang="en-US" sz="1400" dirty="0">
                <a:solidFill>
                  <a:srgbClr val="FFFFFF"/>
                </a:solidFill>
              </a:rPr>
              <a:t>Next stage: formal proofs or model checking and a larger evaluation under load.</a:t>
            </a:r>
            <a:endParaRPr lang="en-US" sz="1400" dirty="0"/>
          </a:p>
        </p:txBody>
      </p:sp>
      <p:sp>
        <p:nvSpPr>
          <p:cNvPr id="15" name="F16 panel"/>
          <p:cNvSpPr/>
          <p:nvPr/>
        </p:nvSpPr>
        <p:spPr>
          <a:xfrm>
            <a:off x="9445752" y="1691640"/>
            <a:ext cx="2103120" cy="4709160"/>
          </a:xfrm>
          <a:prstGeom prst="roundRect">
            <a:avLst>
              <a:gd name="adj" fmla="val 52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6" name="F16" descr="/tmp/deck/img/F16.png">    </p:cNvPr>
          <p:cNvPicPr>
            <a:picLocks noChangeAspect="1"/>
          </p:cNvPicPr>
          <p:nvPr/>
        </p:nvPicPr>
        <p:blipFill>
          <a:blip r:embed="rId2"/>
          <a:stretch>
            <a:fillRect/>
          </a:stretch>
        </p:blipFill>
        <p:spPr>
          <a:xfrm>
            <a:off x="9518904" y="2948620"/>
            <a:ext cx="1956816" cy="2195199"/>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IMPLEMENTATION AND LIVE SCENARIOS</a:t>
            </a:r>
            <a:endParaRPr lang="en-US" sz="3000" dirty="0"/>
          </a:p>
        </p:txBody>
      </p:sp>
      <p:sp>
        <p:nvSpPr>
          <p:cNvPr id="3" name="card Interfaces"/>
          <p:cNvSpPr/>
          <p:nvPr/>
        </p:nvSpPr>
        <p:spPr>
          <a:xfrm>
            <a:off x="548640" y="1097280"/>
            <a:ext cx="3584448" cy="786384"/>
          </a:xfrm>
          <a:prstGeom prst="roundRect">
            <a:avLst>
              <a:gd name="adj" fmla="val 11628"/>
            </a:avLst>
          </a:prstGeom>
          <a:solidFill>
            <a:srgbClr val="FFFFFF">
              <a:alpha val="92000"/>
            </a:srgbClr>
          </a:solidFill>
          <a:ln w="19050">
            <a:solidFill>
              <a:srgbClr val="1FB5D6"/>
            </a:solidFill>
            <a:prstDash val="solid"/>
          </a:ln>
        </p:spPr>
      </p:sp>
      <p:sp>
        <p:nvSpPr>
          <p:cNvPr id="4" name="card text Interfaces"/>
          <p:cNvSpPr txBox="1"/>
          <p:nvPr/>
        </p:nvSpPr>
        <p:spPr>
          <a:xfrm>
            <a:off x="658368" y="1170432"/>
            <a:ext cx="3364992" cy="640080"/>
          </a:xfrm>
          <a:prstGeom prst="rect">
            <a:avLst/>
          </a:prstGeom>
          <a:noFill/>
          <a:ln/>
        </p:spPr>
        <p:txBody>
          <a:bodyPr wrap="square" rtlCol="0" anchor="t"/>
          <a:lstStyle/>
          <a:p>
            <a:pPr indent="0" marL="0">
              <a:spcAft>
                <a:spcPts val="300"/>
              </a:spcAft>
              <a:buNone/>
            </a:pPr>
            <a:r>
              <a:rPr lang="en-US" sz="1400" b="1" dirty="0">
                <a:solidFill>
                  <a:srgbClr val="0B2A4A"/>
                </a:solidFill>
              </a:rPr>
              <a:t>Interfaces</a:t>
            </a:r>
            <a:endParaRPr lang="en-US" sz="1400" dirty="0"/>
          </a:p>
          <a:p>
            <a:pPr indent="0" marL="0">
              <a:spcAft>
                <a:spcPts val="300"/>
              </a:spcAft>
              <a:buNone/>
            </a:pPr>
            <a:r>
              <a:rPr lang="en-US" sz="1200" dirty="0">
                <a:solidFill>
                  <a:srgbClr val="0B1F33"/>
                </a:solidFill>
              </a:rPr>
              <a:t>Patient, guardian, doctor and auditor</a:t>
            </a:r>
            <a:endParaRPr lang="en-US" sz="1400" dirty="0"/>
          </a:p>
        </p:txBody>
      </p:sp>
      <p:sp>
        <p:nvSpPr>
          <p:cNvPr id="5" name="card Smart contract"/>
          <p:cNvSpPr/>
          <p:nvPr/>
        </p:nvSpPr>
        <p:spPr>
          <a:xfrm>
            <a:off x="4270248" y="1097280"/>
            <a:ext cx="3584448" cy="786384"/>
          </a:xfrm>
          <a:prstGeom prst="roundRect">
            <a:avLst>
              <a:gd name="adj" fmla="val 11628"/>
            </a:avLst>
          </a:prstGeom>
          <a:solidFill>
            <a:srgbClr val="FFFFFF">
              <a:alpha val="92000"/>
            </a:srgbClr>
          </a:solidFill>
          <a:ln w="19050">
            <a:solidFill>
              <a:srgbClr val="1FB5D6"/>
            </a:solidFill>
            <a:prstDash val="solid"/>
          </a:ln>
        </p:spPr>
      </p:sp>
      <p:sp>
        <p:nvSpPr>
          <p:cNvPr id="6" name="card text Smart contract"/>
          <p:cNvSpPr txBox="1"/>
          <p:nvPr/>
        </p:nvSpPr>
        <p:spPr>
          <a:xfrm>
            <a:off x="4379976" y="1170432"/>
            <a:ext cx="3364992" cy="640080"/>
          </a:xfrm>
          <a:prstGeom prst="rect">
            <a:avLst/>
          </a:prstGeom>
          <a:noFill/>
          <a:ln/>
        </p:spPr>
        <p:txBody>
          <a:bodyPr wrap="square" rtlCol="0" anchor="t"/>
          <a:lstStyle/>
          <a:p>
            <a:pPr indent="0" marL="0">
              <a:spcAft>
                <a:spcPts val="300"/>
              </a:spcAft>
              <a:buNone/>
            </a:pPr>
            <a:r>
              <a:rPr lang="en-US" sz="1400" b="1" dirty="0">
                <a:solidFill>
                  <a:srgbClr val="0B2A4A"/>
                </a:solidFill>
              </a:rPr>
              <a:t>Smart contract</a:t>
            </a:r>
            <a:endParaRPr lang="en-US" sz="1400" dirty="0"/>
          </a:p>
          <a:p>
            <a:pPr indent="0" marL="0">
              <a:spcAft>
                <a:spcPts val="300"/>
              </a:spcAft>
              <a:buNone/>
            </a:pPr>
            <a:r>
              <a:rPr lang="en-US" sz="1200" dirty="0">
                <a:solidFill>
                  <a:srgbClr val="0B1F33"/>
                </a:solidFill>
              </a:rPr>
              <a:t>ConsentSBTv3, soulbound ERC-721 (ERC-5484) on Sepolia</a:t>
            </a:r>
            <a:endParaRPr lang="en-US" sz="1400" dirty="0"/>
          </a:p>
        </p:txBody>
      </p:sp>
      <p:sp>
        <p:nvSpPr>
          <p:cNvPr id="7" name="card Guardian approval"/>
          <p:cNvSpPr/>
          <p:nvPr/>
        </p:nvSpPr>
        <p:spPr>
          <a:xfrm>
            <a:off x="7991856" y="1097280"/>
            <a:ext cx="3584448" cy="786384"/>
          </a:xfrm>
          <a:prstGeom prst="roundRect">
            <a:avLst>
              <a:gd name="adj" fmla="val 11628"/>
            </a:avLst>
          </a:prstGeom>
          <a:solidFill>
            <a:srgbClr val="FFFFFF">
              <a:alpha val="92000"/>
            </a:srgbClr>
          </a:solidFill>
          <a:ln w="19050">
            <a:solidFill>
              <a:srgbClr val="1FB5D6"/>
            </a:solidFill>
            <a:prstDash val="solid"/>
          </a:ln>
        </p:spPr>
      </p:sp>
      <p:sp>
        <p:nvSpPr>
          <p:cNvPr id="8" name="card text Guardian approval"/>
          <p:cNvSpPr txBox="1"/>
          <p:nvPr/>
        </p:nvSpPr>
        <p:spPr>
          <a:xfrm>
            <a:off x="8101584" y="1170432"/>
            <a:ext cx="3364992" cy="640080"/>
          </a:xfrm>
          <a:prstGeom prst="rect">
            <a:avLst/>
          </a:prstGeom>
          <a:noFill/>
          <a:ln/>
        </p:spPr>
        <p:txBody>
          <a:bodyPr wrap="square" rtlCol="0" anchor="t"/>
          <a:lstStyle/>
          <a:p>
            <a:pPr indent="0" marL="0">
              <a:spcAft>
                <a:spcPts val="300"/>
              </a:spcAft>
              <a:buNone/>
            </a:pPr>
            <a:r>
              <a:rPr lang="en-US" sz="1400" b="1" dirty="0">
                <a:solidFill>
                  <a:srgbClr val="0B2A4A"/>
                </a:solidFill>
              </a:rPr>
              <a:t>Guardian approval</a:t>
            </a:r>
            <a:endParaRPr lang="en-US" sz="1400" dirty="0"/>
          </a:p>
          <a:p>
            <a:pPr indent="0" marL="0">
              <a:spcAft>
                <a:spcPts val="300"/>
              </a:spcAft>
              <a:buNone/>
            </a:pPr>
            <a:r>
              <a:rPr lang="en-US" sz="1200" dirty="0">
                <a:solidFill>
                  <a:srgbClr val="0B1F33"/>
                </a:solidFill>
              </a:rPr>
              <a:t>EIP-712 typed signatures</a:t>
            </a:r>
            <a:endParaRPr lang="en-US" sz="1400" dirty="0"/>
          </a:p>
        </p:txBody>
      </p:sp>
      <p:sp>
        <p:nvSpPr>
          <p:cNvPr id="9" name="card Access proof"/>
          <p:cNvSpPr/>
          <p:nvPr/>
        </p:nvSpPr>
        <p:spPr>
          <a:xfrm>
            <a:off x="548640" y="1993392"/>
            <a:ext cx="3584448" cy="786384"/>
          </a:xfrm>
          <a:prstGeom prst="roundRect">
            <a:avLst>
              <a:gd name="adj" fmla="val 11628"/>
            </a:avLst>
          </a:prstGeom>
          <a:solidFill>
            <a:srgbClr val="FFFFFF">
              <a:alpha val="92000"/>
            </a:srgbClr>
          </a:solidFill>
          <a:ln w="19050">
            <a:solidFill>
              <a:srgbClr val="1FB5D6"/>
            </a:solidFill>
            <a:prstDash val="solid"/>
          </a:ln>
        </p:spPr>
      </p:sp>
      <p:sp>
        <p:nvSpPr>
          <p:cNvPr id="10" name="card text Access proof"/>
          <p:cNvSpPr txBox="1"/>
          <p:nvPr/>
        </p:nvSpPr>
        <p:spPr>
          <a:xfrm>
            <a:off x="658368" y="2066544"/>
            <a:ext cx="3364992" cy="640080"/>
          </a:xfrm>
          <a:prstGeom prst="rect">
            <a:avLst/>
          </a:prstGeom>
          <a:noFill/>
          <a:ln/>
        </p:spPr>
        <p:txBody>
          <a:bodyPr wrap="square" rtlCol="0" anchor="t"/>
          <a:lstStyle/>
          <a:p>
            <a:pPr indent="0" marL="0">
              <a:spcAft>
                <a:spcPts val="300"/>
              </a:spcAft>
              <a:buNone/>
            </a:pPr>
            <a:r>
              <a:rPr lang="en-US" sz="1400" b="1" dirty="0">
                <a:solidFill>
                  <a:srgbClr val="0B2A4A"/>
                </a:solidFill>
              </a:rPr>
              <a:t>Access proof</a:t>
            </a:r>
            <a:endParaRPr lang="en-US" sz="1400" dirty="0"/>
          </a:p>
          <a:p>
            <a:pPr indent="0" marL="0">
              <a:spcAft>
                <a:spcPts val="300"/>
              </a:spcAft>
              <a:buNone/>
            </a:pPr>
            <a:r>
              <a:rPr lang="en-US" sz="1200" dirty="0">
                <a:solidFill>
                  <a:srgbClr val="0B1F33"/>
                </a:solidFill>
              </a:rPr>
              <a:t>Groth16 proof over a Poseidon commitment</a:t>
            </a:r>
            <a:endParaRPr lang="en-US" sz="1400" dirty="0"/>
          </a:p>
        </p:txBody>
      </p:sp>
      <p:sp>
        <p:nvSpPr>
          <p:cNvPr id="11" name="card Data"/>
          <p:cNvSpPr/>
          <p:nvPr/>
        </p:nvSpPr>
        <p:spPr>
          <a:xfrm>
            <a:off x="4270248" y="1993392"/>
            <a:ext cx="3584448" cy="786384"/>
          </a:xfrm>
          <a:prstGeom prst="roundRect">
            <a:avLst>
              <a:gd name="adj" fmla="val 11628"/>
            </a:avLst>
          </a:prstGeom>
          <a:solidFill>
            <a:srgbClr val="FFFFFF">
              <a:alpha val="92000"/>
            </a:srgbClr>
          </a:solidFill>
          <a:ln w="19050">
            <a:solidFill>
              <a:srgbClr val="1FB5D6"/>
            </a:solidFill>
            <a:prstDash val="solid"/>
          </a:ln>
        </p:spPr>
      </p:sp>
      <p:sp>
        <p:nvSpPr>
          <p:cNvPr id="12" name="card text Data"/>
          <p:cNvSpPr txBox="1"/>
          <p:nvPr/>
        </p:nvSpPr>
        <p:spPr>
          <a:xfrm>
            <a:off x="4379976" y="2066544"/>
            <a:ext cx="3364992" cy="640080"/>
          </a:xfrm>
          <a:prstGeom prst="rect">
            <a:avLst/>
          </a:prstGeom>
          <a:noFill/>
          <a:ln/>
        </p:spPr>
        <p:txBody>
          <a:bodyPr wrap="square" rtlCol="0" anchor="t"/>
          <a:lstStyle/>
          <a:p>
            <a:pPr indent="0" marL="0">
              <a:spcAft>
                <a:spcPts val="300"/>
              </a:spcAft>
              <a:buNone/>
            </a:pPr>
            <a:r>
              <a:rPr lang="en-US" sz="1400" b="1" dirty="0">
                <a:solidFill>
                  <a:srgbClr val="0B2A4A"/>
                </a:solidFill>
              </a:rPr>
              <a:t>Data</a:t>
            </a:r>
            <a:endParaRPr lang="en-US" sz="1400" dirty="0"/>
          </a:p>
          <a:p>
            <a:pPr indent="0" marL="0">
              <a:spcAft>
                <a:spcPts val="300"/>
              </a:spcAft>
              <a:buNone/>
            </a:pPr>
            <a:r>
              <a:rPr lang="en-US" sz="1200" dirty="0">
                <a:solidFill>
                  <a:srgbClr val="0B1F33"/>
                </a:solidFill>
              </a:rPr>
              <a:t>Synthetic Synthea records, four modules</a:t>
            </a:r>
            <a:endParaRPr lang="en-US" sz="1400" dirty="0"/>
          </a:p>
        </p:txBody>
      </p:sp>
      <p:sp>
        <p:nvSpPr>
          <p:cNvPr id="13" name="card Evidence"/>
          <p:cNvSpPr/>
          <p:nvPr/>
        </p:nvSpPr>
        <p:spPr>
          <a:xfrm>
            <a:off x="7991856" y="1993392"/>
            <a:ext cx="3584448" cy="786384"/>
          </a:xfrm>
          <a:prstGeom prst="roundRect">
            <a:avLst>
              <a:gd name="adj" fmla="val 11628"/>
            </a:avLst>
          </a:prstGeom>
          <a:solidFill>
            <a:srgbClr val="FFFFFF">
              <a:alpha val="92000"/>
            </a:srgbClr>
          </a:solidFill>
          <a:ln w="19050">
            <a:solidFill>
              <a:srgbClr val="1FB5D6"/>
            </a:solidFill>
            <a:prstDash val="solid"/>
          </a:ln>
        </p:spPr>
      </p:sp>
      <p:sp>
        <p:nvSpPr>
          <p:cNvPr id="14" name="card text Evidence"/>
          <p:cNvSpPr txBox="1"/>
          <p:nvPr/>
        </p:nvSpPr>
        <p:spPr>
          <a:xfrm>
            <a:off x="8101584" y="2066544"/>
            <a:ext cx="3364992" cy="640080"/>
          </a:xfrm>
          <a:prstGeom prst="rect">
            <a:avLst/>
          </a:prstGeom>
          <a:noFill/>
          <a:ln/>
        </p:spPr>
        <p:txBody>
          <a:bodyPr wrap="square" rtlCol="0" anchor="t"/>
          <a:lstStyle/>
          <a:p>
            <a:pPr indent="0" marL="0">
              <a:spcAft>
                <a:spcPts val="300"/>
              </a:spcAft>
              <a:buNone/>
            </a:pPr>
            <a:r>
              <a:rPr lang="en-US" sz="1400" b="1" dirty="0">
                <a:solidFill>
                  <a:srgbClr val="0B2A4A"/>
                </a:solidFill>
              </a:rPr>
              <a:t>Evidence</a:t>
            </a:r>
            <a:endParaRPr lang="en-US" sz="1400" dirty="0"/>
          </a:p>
          <a:p>
            <a:pPr indent="0" marL="0">
              <a:spcAft>
                <a:spcPts val="300"/>
              </a:spcAft>
              <a:buNone/>
            </a:pPr>
            <a:r>
              <a:rPr lang="en-US" sz="1200" dirty="0">
                <a:solidFill>
                  <a:srgbClr val="0B1F33"/>
                </a:solidFill>
              </a:rPr>
              <a:t>Audit ledger; no medical content on-chain</a:t>
            </a:r>
            <a:endParaRPr lang="en-US" sz="1400" dirty="0"/>
          </a:p>
        </p:txBody>
      </p:sp>
      <p:sp>
        <p:nvSpPr>
          <p:cNvPr id="15" name="F27 panel"/>
          <p:cNvSpPr/>
          <p:nvPr/>
        </p:nvSpPr>
        <p:spPr>
          <a:xfrm>
            <a:off x="548640" y="2971800"/>
            <a:ext cx="5440680" cy="2971800"/>
          </a:xfrm>
          <a:prstGeom prst="roundRect">
            <a:avLst>
              <a:gd name="adj" fmla="val 369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6" name="F27" descr="/tmp/deck/img/F27.png">    </p:cNvPr>
          <p:cNvPicPr>
            <a:picLocks noChangeAspect="1"/>
          </p:cNvPicPr>
          <p:nvPr/>
        </p:nvPicPr>
        <p:blipFill>
          <a:blip r:embed="rId1"/>
          <a:stretch>
            <a:fillRect/>
          </a:stretch>
        </p:blipFill>
        <p:spPr>
          <a:xfrm>
            <a:off x="1485830" y="3081528"/>
            <a:ext cx="3566299" cy="2752344"/>
          </a:xfrm>
          <a:prstGeom prst="rect">
            <a:avLst/>
          </a:prstGeom>
        </p:spPr>
      </p:pic>
      <p:sp>
        <p:nvSpPr>
          <p:cNvPr id="17" name="F32 panel"/>
          <p:cNvSpPr/>
          <p:nvPr/>
        </p:nvSpPr>
        <p:spPr>
          <a:xfrm>
            <a:off x="6172200" y="2971800"/>
            <a:ext cx="5440680" cy="2971800"/>
          </a:xfrm>
          <a:prstGeom prst="roundRect">
            <a:avLst>
              <a:gd name="adj" fmla="val 369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8" name="F32" descr="/tmp/deck/img/F32.png">    </p:cNvPr>
          <p:cNvPicPr>
            <a:picLocks noChangeAspect="1"/>
          </p:cNvPicPr>
          <p:nvPr/>
        </p:nvPicPr>
        <p:blipFill>
          <a:blip r:embed="rId2"/>
          <a:stretch>
            <a:fillRect/>
          </a:stretch>
        </p:blipFill>
        <p:spPr>
          <a:xfrm>
            <a:off x="6281928" y="3167751"/>
            <a:ext cx="5221224" cy="2579899"/>
          </a:xfrm>
          <a:prstGeom prst="rect">
            <a:avLst/>
          </a:prstGeom>
        </p:spPr>
      </p:pic>
      <p:sp>
        <p:nvSpPr>
          <p:cNvPr id="19" name="caption"/>
          <p:cNvSpPr txBox="1"/>
          <p:nvPr/>
        </p:nvSpPr>
        <p:spPr>
          <a:xfrm>
            <a:off x="548640" y="6035040"/>
            <a:ext cx="5440680" cy="320040"/>
          </a:xfrm>
          <a:prstGeom prst="rect">
            <a:avLst/>
          </a:prstGeom>
          <a:noFill/>
          <a:ln/>
        </p:spPr>
        <p:txBody>
          <a:bodyPr wrap="square" rtlCol="0" anchor="ctr"/>
          <a:lstStyle/>
          <a:p>
            <a:pPr algn="ctr" indent="0" marL="0">
              <a:buNone/>
            </a:pPr>
            <a:r>
              <a:rPr lang="en-US" sz="1200" i="1" dirty="0">
                <a:solidFill>
                  <a:srgbClr val="FFFFFF"/>
                </a:solidFill>
              </a:rPr>
              <a:t>Evaluated consent, jurisdiction AU: all five checks pass, ALLOW</a:t>
            </a:r>
            <a:endParaRPr lang="en-US" sz="1200" dirty="0"/>
          </a:p>
        </p:txBody>
      </p:sp>
      <p:sp>
        <p:nvSpPr>
          <p:cNvPr id="20" name="caption"/>
          <p:cNvSpPr txBox="1"/>
          <p:nvPr/>
        </p:nvSpPr>
        <p:spPr>
          <a:xfrm>
            <a:off x="6172200" y="6035040"/>
            <a:ext cx="5440680" cy="320040"/>
          </a:xfrm>
          <a:prstGeom prst="rect">
            <a:avLst/>
          </a:prstGeom>
          <a:noFill/>
          <a:ln/>
        </p:spPr>
        <p:txBody>
          <a:bodyPr wrap="square" rtlCol="0" anchor="ctr"/>
          <a:lstStyle/>
          <a:p>
            <a:pPr algn="ctr" indent="0" marL="0">
              <a:buNone/>
            </a:pPr>
            <a:r>
              <a:rPr lang="en-US" sz="1200" i="1" dirty="0">
                <a:solidFill>
                  <a:srgbClr val="FFFFFF"/>
                </a:solidFill>
              </a:rPr>
              <a:t>Same request, jurisdiction SA: VL fails, access denied</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IMPLEMENTATION: ON-CHAIN EVIDENCE</a:t>
            </a:r>
            <a:endParaRPr lang="en-US" sz="3000" dirty="0"/>
          </a:p>
        </p:txBody>
      </p:sp>
      <p:sp>
        <p:nvSpPr>
          <p:cNvPr id="3" name="F37 panel"/>
          <p:cNvSpPr/>
          <p:nvPr/>
        </p:nvSpPr>
        <p:spPr>
          <a:xfrm>
            <a:off x="640080" y="1097280"/>
            <a:ext cx="5120640" cy="4983480"/>
          </a:xfrm>
          <a:prstGeom prst="roundRect">
            <a:avLst>
              <a:gd name="adj" fmla="val 220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4" name="F37" descr="/tmp/deck/img/F37.png">    </p:cNvPr>
          <p:cNvPicPr>
            <a:picLocks noChangeAspect="1"/>
          </p:cNvPicPr>
          <p:nvPr/>
        </p:nvPicPr>
        <p:blipFill>
          <a:blip r:embed="rId1"/>
          <a:stretch>
            <a:fillRect/>
          </a:stretch>
        </p:blipFill>
        <p:spPr>
          <a:xfrm>
            <a:off x="749808" y="1377711"/>
            <a:ext cx="4901184" cy="4422617"/>
          </a:xfrm>
          <a:prstGeom prst="rect">
            <a:avLst/>
          </a:prstGeom>
        </p:spPr>
      </p:pic>
      <p:sp>
        <p:nvSpPr>
          <p:cNvPr id="5" name="caption"/>
          <p:cNvSpPr txBox="1"/>
          <p:nvPr/>
        </p:nvSpPr>
        <p:spPr>
          <a:xfrm>
            <a:off x="640080" y="6172200"/>
            <a:ext cx="5120640" cy="320040"/>
          </a:xfrm>
          <a:prstGeom prst="rect">
            <a:avLst/>
          </a:prstGeom>
          <a:noFill/>
          <a:ln/>
        </p:spPr>
        <p:txBody>
          <a:bodyPr wrap="square" rtlCol="0" anchor="ctr"/>
          <a:lstStyle/>
          <a:p>
            <a:pPr algn="ctr" indent="0" marL="0">
              <a:buNone/>
            </a:pPr>
            <a:r>
              <a:rPr lang="en-US" sz="1200" i="1" dirty="0">
                <a:solidFill>
                  <a:srgbClr val="FFFFFF"/>
                </a:solidFill>
              </a:rPr>
              <a:t>Revocation of token #1 on Sepolia Etherscan, block 11,771,307</a:t>
            </a:r>
            <a:endParaRPr lang="en-US" sz="1200" dirty="0"/>
          </a:p>
        </p:txBody>
      </p:sp>
      <p:sp>
        <p:nvSpPr>
          <p:cNvPr id="6" name="chart panel"/>
          <p:cNvSpPr/>
          <p:nvPr/>
        </p:nvSpPr>
        <p:spPr>
          <a:xfrm>
            <a:off x="6035040" y="1097280"/>
            <a:ext cx="557784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graphicFrame>
        <p:nvGraphicFramePr>
          <p:cNvPr id="7" name="gas chart" descr=""/>
          <p:cNvGraphicFramePr/>
          <p:nvPr/>
        </p:nvGraphicFramePr>
        <p:xfrm>
          <a:off x="6172200" y="1234440"/>
          <a:ext cx="5303520" cy="516636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a:t>
            </a:r>
            <a:endParaRPr lang="en-US" sz="30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914400"/>
        </p:xfrm>
        <a:graphic>
          <a:graphicData uri="http://schemas.openxmlformats.org/drawingml/2006/table">
            <a:tbl>
              <a:tblPr/>
              <a:tblGrid>
                <a:gridCol w="2103120"/>
                <a:gridCol w="3108960"/>
                <a:gridCol w="2560320"/>
                <a:gridCol w="3108960"/>
              </a:tblGrid>
              <a:tr h="502920">
                <a:tc>
                  <a:txBody>
                    <a:bodyPr/>
                    <a:lstStyle/>
                    <a:p>
                      <a:pPr indent="0" marL="0">
                        <a:buNone/>
                      </a:pPr>
                      <a:r>
                        <a:rPr lang="en-US" sz="1400" b="1" dirty="0">
                          <a:solidFill>
                            <a:srgbClr val="FFFFFF"/>
                          </a:solidFill>
                        </a:rPr>
                        <a:t>Validation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Definition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Criterion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868680">
                <a:tc>
                  <a:txBody>
                    <a:bodyPr/>
                    <a:lstStyle/>
                    <a:p>
                      <a:pPr indent="0" marL="0">
                        <a:buNone/>
                      </a:pPr>
                      <a:r>
                        <a:rPr lang="en-US" sz="1400" b="1" dirty="0">
                          <a:solidFill>
                            <a:srgbClr val="0B1F33"/>
                          </a:solidFill>
                        </a:rPr>
                        <a:t>Valid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Legitimate requests must obtain authorised 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Pass(s) ⟺ Dobs(s) = Dexp(s)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Scenarios 1 to 3: consent created, 2-of-2 approval, ALLOW (RQ1 to RQ4)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Negative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Invalid requests must be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Any failed check ⇒ 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4: jurisdiction SA, VL fails, refused. Scenario 5: revoked consent refused at 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Adversarial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Deliberate attempts to bypass a condition, A1 to A12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Refused / 12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11 of 12 refused after the hardening (A11: the changed digest is not yet compared)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Automated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23 functional and regression tests and 13 adversarial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All tests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36 of 36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Independent verification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On-chain receipts compared with the local consent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Local state = on-chain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6: RESULT: ALL CHECKS PASSED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EVALUATION</a:t>
            </a:r>
            <a:endParaRPr lang="en-US" sz="30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914400"/>
        </p:xfrm>
        <a:graphic>
          <a:graphicData uri="http://schemas.openxmlformats.org/drawingml/2006/table">
            <a:tbl>
              <a:tblPr/>
              <a:tblGrid>
                <a:gridCol w="2377440"/>
                <a:gridCol w="3017520"/>
                <a:gridCol w="2468880"/>
                <a:gridCol w="3017520"/>
              </a:tblGrid>
              <a:tr h="502920">
                <a:tc>
                  <a:txBody>
                    <a:bodyPr/>
                    <a:lstStyle/>
                    <a:p>
                      <a:pPr indent="0" marL="0">
                        <a:buNone/>
                      </a:pPr>
                      <a:r>
                        <a:rPr lang="en-US" sz="1400" b="1" dirty="0">
                          <a:solidFill>
                            <a:srgbClr val="FFFFFF"/>
                          </a:solidFill>
                        </a:rPr>
                        <a:t>Metric</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Definition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Formula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Measured 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77240">
                <a:tc>
                  <a:txBody>
                    <a:bodyPr/>
                    <a:lstStyle/>
                    <a:p>
                      <a:pPr indent="0" marL="0">
                        <a:buNone/>
                      </a:pPr>
                      <a:r>
                        <a:rPr lang="en-US" sz="1400" b="1" dirty="0">
                          <a:solidFill>
                            <a:srgbClr val="0B1F33"/>
                          </a:solidFill>
                        </a:rPr>
                        <a:t>Gas 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Gas consumed by each anchored transaction, from its receipt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gasUsed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Mint #1: 196,406; Revoke #1: 32,980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B1F33"/>
                          </a:solidFill>
                        </a:rPr>
                        <a:t>Transaction fee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Fee paid for each anchored transaction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Fee = gasUsed × gasPrice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No fee above 0.00021 ETH (Sepolia ETH has no monetary value)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B1F33"/>
                          </a:solidFill>
                        </a:rPr>
                        <a:t>Submit-to-confirmation latency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Time between the local event and the on-chain event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 = t(on-chain) − t(local)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Median 11.5 s (4.9 to 22.1 s, n = 5), in the background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0B1F33"/>
                          </a:solidFill>
                        </a:rPr>
                        <a:t>Processing time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Time of each decision component over repeated runs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Median, minimum and maximum over n runs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Decision rule 2.37 µs; one EIP-712 signature 10.93 ms; Groth16 proof 1,401.1 ms to generate, 465.3 ms to verify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B1F33"/>
                          </a:solidFill>
                        </a:rPr>
                        <a:t>On-chain read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Time of a checkValid or checkValidAt call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Median over n = 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573.5 ms and 574.6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4" name="caption"/>
          <p:cNvSpPr txBox="1"/>
          <p:nvPr/>
        </p:nvSpPr>
        <p:spPr>
          <a:xfrm>
            <a:off x="640080" y="5943600"/>
            <a:ext cx="10881360" cy="320040"/>
          </a:xfrm>
          <a:prstGeom prst="rect">
            <a:avLst/>
          </a:prstGeom>
          <a:noFill/>
          <a:ln/>
        </p:spPr>
        <p:txBody>
          <a:bodyPr wrap="square" rtlCol="0" anchor="ctr"/>
          <a:lstStyle/>
          <a:p>
            <a:pPr algn="ctr" indent="0" marL="0">
              <a:buNone/>
            </a:pPr>
            <a:r>
              <a:rPr lang="en-US" sz="1200" i="1" dirty="0">
                <a:solidFill>
                  <a:srgbClr val="FFFFFF"/>
                </a:solidFill>
              </a:rPr>
              <a:t>Measured on 1 October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TRADITIONAL EHR VS HALAH, DATA AND PRIVACY</a:t>
            </a:r>
            <a:endParaRPr lang="en-US" sz="3000" dirty="0"/>
          </a:p>
        </p:txBody>
      </p:sp>
      <p:sp>
        <p:nvSpPr>
          <p:cNvPr id="3" name="heading Differences from traditional EHR access control"/>
          <p:cNvSpPr txBox="1"/>
          <p:nvPr/>
        </p:nvSpPr>
        <p:spPr>
          <a:xfrm>
            <a:off x="548640" y="1051560"/>
            <a:ext cx="6766560" cy="384048"/>
          </a:xfrm>
          <a:prstGeom prst="rect">
            <a:avLst/>
          </a:prstGeom>
          <a:noFill/>
          <a:ln/>
        </p:spPr>
        <p:txBody>
          <a:bodyPr wrap="square" lIns="0" tIns="0" rIns="0" bIns="0" rtlCol="0" anchor="ctr"/>
          <a:lstStyle/>
          <a:p>
            <a:pPr indent="0" marL="0">
              <a:buNone/>
            </a:pPr>
            <a:r>
              <a:rPr lang="en-US" sz="1600" b="1" i="1" dirty="0">
                <a:solidFill>
                  <a:srgbClr val="1FB5D6"/>
                </a:solidFill>
              </a:rPr>
              <a:t>Differences from traditional EHR access control</a:t>
            </a:r>
            <a:endParaRPr lang="en-US" sz="16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481328"/>
          <a:ext cx="6812280" cy="914400"/>
        </p:xfrm>
        <a:graphic>
          <a:graphicData uri="http://schemas.openxmlformats.org/drawingml/2006/table">
            <a:tbl>
              <a:tblPr/>
              <a:tblGrid>
                <a:gridCol w="1371600"/>
                <a:gridCol w="2194560"/>
                <a:gridCol w="3246120"/>
              </a:tblGrid>
              <a:tr h="384048">
                <a:tc>
                  <a:txBody>
                    <a:bodyPr/>
                    <a:lstStyle/>
                    <a:p>
                      <a:pPr indent="0" marL="0">
                        <a:buNone/>
                      </a:pPr>
                      <a:r>
                        <a:rPr lang="en-US" sz="1200" b="1" dirty="0">
                          <a:solidFill>
                            <a:srgbClr val="FFFFFF"/>
                          </a:solidFill>
                        </a:rPr>
                        <a:t>Aspect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Traditional EHR</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HALAH framework</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77240">
                <a:tc>
                  <a:txBody>
                    <a:bodyPr/>
                    <a:lstStyle/>
                    <a:p>
                      <a:pPr indent="0" marL="0">
                        <a:buNone/>
                      </a:pPr>
                      <a:r>
                        <a:rPr lang="en-US" sz="1200" b="1" dirty="0">
                          <a:solidFill>
                            <a:srgbClr val="0B1F33"/>
                          </a:solidFill>
                        </a:rPr>
                        <a:t>Identity</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Central identity providers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A DID for every participant; identity separate from authority</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0B1F33"/>
                          </a:solidFill>
                        </a:rPr>
                        <a:t>Consent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A passive record of permission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Object C = (I, A, P, T, L, E), checked at every request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0B1F33"/>
                          </a:solidFill>
                        </a:rPr>
                        <a:t>Approval</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Static permission set by one party</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All N guardians sign (EIP-712); no one approves alone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0B1F33"/>
                          </a:solidFill>
                        </a:rPr>
                        <a:t>Access check</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Log in, then a static permission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VI ∧ VA ∧ VP ∧ VT ∧ VL, plus a Groth16 proof</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0B1F33"/>
                          </a:solidFill>
                        </a:rPr>
                        <a:t>Time and revocation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Hard to verify once stored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Checked at each request; on-chain revoke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0B1F33"/>
                          </a:solidFill>
                        </a:rPr>
                        <a:t>Audit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Shows that consent occurred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Each decision logged with its decision matrix</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heading Data management and privacy"/>
          <p:cNvSpPr txBox="1"/>
          <p:nvPr/>
        </p:nvSpPr>
        <p:spPr>
          <a:xfrm>
            <a:off x="7589520" y="1051560"/>
            <a:ext cx="4023360" cy="384048"/>
          </a:xfrm>
          <a:prstGeom prst="rect">
            <a:avLst/>
          </a:prstGeom>
          <a:noFill/>
          <a:ln/>
        </p:spPr>
        <p:txBody>
          <a:bodyPr wrap="square" lIns="0" tIns="0" rIns="0" bIns="0" rtlCol="0" anchor="ctr"/>
          <a:lstStyle/>
          <a:p>
            <a:pPr indent="0" marL="0">
              <a:buNone/>
            </a:pPr>
            <a:r>
              <a:rPr lang="en-US" sz="1600" b="1" i="1" dirty="0">
                <a:solidFill>
                  <a:srgbClr val="1FB5D6"/>
                </a:solidFill>
              </a:rPr>
              <a:t>Data management and privacy</a:t>
            </a:r>
            <a:endParaRPr lang="en-US" sz="16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7589520" y="1481328"/>
          <a:ext cx="4069080" cy="914400"/>
        </p:xfrm>
        <a:graphic>
          <a:graphicData uri="http://schemas.openxmlformats.org/drawingml/2006/table">
            <a:tbl>
              <a:tblPr/>
              <a:tblGrid>
                <a:gridCol w="1234440"/>
                <a:gridCol w="2834640"/>
              </a:tblGrid>
              <a:tr h="384048">
                <a:tc>
                  <a:txBody>
                    <a:bodyPr/>
                    <a:lstStyle/>
                    <a:p>
                      <a:pPr indent="0" marL="0">
                        <a:buNone/>
                      </a:pPr>
                      <a:r>
                        <a:rPr lang="en-US" sz="1200" b="1" dirty="0">
                          <a:solidFill>
                            <a:srgbClr val="FFFFFF"/>
                          </a:solidFill>
                        </a:rPr>
                        <a:t>Aspect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Key point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77240">
                <a:tc>
                  <a:txBody>
                    <a:bodyPr/>
                    <a:lstStyle/>
                    <a:p>
                      <a:pPr indent="0" marL="0">
                        <a:buNone/>
                      </a:pPr>
                      <a:r>
                        <a:rPr lang="en-US" sz="1200" b="1" dirty="0">
                          <a:solidFill>
                            <a:srgbClr val="0B1F33"/>
                          </a:solidFill>
                        </a:rPr>
                        <a:t>Data source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Synthetic Synthea records; no real patient data</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0B1F33"/>
                          </a:solidFill>
                        </a:rPr>
                        <a:t>Storage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Medical records stay off-chain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1325880">
                <a:tc>
                  <a:txBody>
                    <a:bodyPr/>
                    <a:lstStyle/>
                    <a:p>
                      <a:pPr indent="0" marL="0">
                        <a:buNone/>
                      </a:pPr>
                      <a:r>
                        <a:rPr lang="en-US" sz="1200" b="1" dirty="0">
                          <a:solidFill>
                            <a:srgbClr val="0B1F33"/>
                          </a:solidFill>
                        </a:rPr>
                        <a:t>On-chain record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Pseudonymous addresses, purpose hash, validity window, jurisdiction code, revocation flag</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0B1F33"/>
                          </a:solidFill>
                        </a:rPr>
                        <a:t>Access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Released only on ALLOW and only within the authorised scope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960120">
                <a:tc>
                  <a:txBody>
                    <a:bodyPr/>
                    <a:lstStyle/>
                    <a:p>
                      <a:pPr indent="0" marL="0">
                        <a:buNone/>
                      </a:pPr>
                      <a:r>
                        <a:rPr lang="en-US" sz="1200" b="1" dirty="0">
                          <a:solidFill>
                            <a:srgbClr val="0B1F33"/>
                          </a:solidFill>
                        </a:rPr>
                        <a:t>Known limitation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Plaintext purpose visible in the public mint input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SIGNIFICANCE OF THE RESEARCH</a:t>
            </a:r>
            <a:endParaRPr lang="en-US" sz="3000" dirty="0"/>
          </a:p>
        </p:txBody>
      </p:sp>
      <p:sp>
        <p:nvSpPr>
          <p:cNvPr id="3" name="Scientific significance panel"/>
          <p:cNvSpPr/>
          <p:nvPr/>
        </p:nvSpPr>
        <p:spPr>
          <a:xfrm>
            <a:off x="548640" y="1097280"/>
            <a:ext cx="5440680" cy="5440680"/>
          </a:xfrm>
          <a:prstGeom prst="roundRect">
            <a:avLst>
              <a:gd name="adj" fmla="val 1681"/>
            </a:avLst>
          </a:prstGeom>
          <a:solidFill>
            <a:srgbClr val="0B2A4A">
              <a:alpha val="85000"/>
            </a:srgbClr>
          </a:solidFill>
          <a:ln w="19050">
            <a:solidFill>
              <a:srgbClr val="1FB5D6"/>
            </a:solidFill>
            <a:prstDash val="solid"/>
          </a:ln>
        </p:spPr>
      </p:sp>
      <p:sp>
        <p:nvSpPr>
          <p:cNvPr id="4" name="Scientific significance"/>
          <p:cNvSpPr txBox="1"/>
          <p:nvPr/>
        </p:nvSpPr>
        <p:spPr>
          <a:xfrm>
            <a:off x="777240" y="1188720"/>
            <a:ext cx="5029200" cy="457200"/>
          </a:xfrm>
          <a:prstGeom prst="rect">
            <a:avLst/>
          </a:prstGeom>
          <a:noFill/>
          <a:ln/>
        </p:spPr>
        <p:txBody>
          <a:bodyPr wrap="square" lIns="0" tIns="0" rIns="0" bIns="0" rtlCol="0" anchor="ctr"/>
          <a:lstStyle/>
          <a:p>
            <a:pPr indent="0" marL="0">
              <a:buNone/>
            </a:pPr>
            <a:r>
              <a:rPr lang="en-US" sz="2000" b="1" i="1" dirty="0">
                <a:solidFill>
                  <a:srgbClr val="1FB5D6"/>
                </a:solidFill>
              </a:rPr>
              <a:t>Scientific significance</a:t>
            </a:r>
            <a:endParaRPr lang="en-US" sz="2000" dirty="0"/>
          </a:p>
        </p:txBody>
      </p:sp>
      <p:sp>
        <p:nvSpPr>
          <p:cNvPr id="5" name="bullets"/>
          <p:cNvSpPr txBox="1"/>
          <p:nvPr/>
        </p:nvSpPr>
        <p:spPr>
          <a:xfrm>
            <a:off x="685800" y="1737360"/>
            <a:ext cx="5166360" cy="466344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rPr>
              <a:t>Consent becomes an evaluable object, C = (I, A, P, T, L, E), not a stored record.</a:t>
            </a:r>
            <a:endParaRPr lang="en-US" sz="1500" dirty="0"/>
          </a:p>
          <a:p>
            <a:pPr marL="342900" indent="-342900">
              <a:spcAft>
                <a:spcPts val="1000"/>
              </a:spcAft>
              <a:buSzPct val="100000"/>
              <a:buChar char="•"/>
            </a:pPr>
            <a:r>
              <a:rPr lang="en-US" sz="1500" dirty="0">
                <a:solidFill>
                  <a:srgbClr val="FFFFFF"/>
                </a:solidFill>
              </a:rPr>
              <a:t>Multi-party approval is a standing condition of every access decision, and the patient defines who must approve.</a:t>
            </a:r>
            <a:endParaRPr lang="en-US" sz="1500" dirty="0"/>
          </a:p>
          <a:p>
            <a:pPr marL="342900" indent="-342900">
              <a:spcAft>
                <a:spcPts val="1000"/>
              </a:spcAft>
              <a:buSzPct val="100000"/>
              <a:buChar char="•"/>
            </a:pPr>
            <a:r>
              <a:rPr lang="en-US" sz="1500" dirty="0">
                <a:solidFill>
                  <a:srgbClr val="FFFFFF"/>
                </a:solidFill>
              </a:rPr>
              <a:t>Identity is separated from authority, and all conditions are checked in one decision.</a:t>
            </a:r>
            <a:endParaRPr lang="en-US" sz="1500" dirty="0"/>
          </a:p>
          <a:p>
            <a:pPr marL="342900" indent="-342900">
              <a:spcAft>
                <a:spcPts val="1000"/>
              </a:spcAft>
              <a:buSzPct val="100000"/>
              <a:buChar char="•"/>
            </a:pPr>
            <a:r>
              <a:rPr lang="en-US" sz="1500" dirty="0">
                <a:solidFill>
                  <a:srgbClr val="FFFFFF"/>
                </a:solidFill>
              </a:rPr>
              <a:t>A PRISMA 2020 review of 25 primary studies shows the conjunction gap and the assurance gap.</a:t>
            </a:r>
            <a:endParaRPr lang="en-US" sz="1500" dirty="0"/>
          </a:p>
          <a:p>
            <a:pPr marL="342900" indent="-342900">
              <a:spcAft>
                <a:spcPts val="1000"/>
              </a:spcAft>
              <a:buSzPct val="100000"/>
              <a:buChar char="•"/>
            </a:pPr>
            <a:r>
              <a:rPr lang="en-US" sz="1500" dirty="0">
                <a:solidFill>
                  <a:srgbClr val="FFFFFF"/>
                </a:solidFill>
              </a:rPr>
              <a:t>A working prototype on Sepolia, evaluated with measurements and twelve attack scenarios.</a:t>
            </a:r>
            <a:endParaRPr lang="en-US" sz="1500" dirty="0"/>
          </a:p>
        </p:txBody>
      </p:sp>
      <p:sp>
        <p:nvSpPr>
          <p:cNvPr id="6" name="Social contributions panel"/>
          <p:cNvSpPr/>
          <p:nvPr/>
        </p:nvSpPr>
        <p:spPr>
          <a:xfrm>
            <a:off x="6199632" y="1097280"/>
            <a:ext cx="5440680" cy="5440680"/>
          </a:xfrm>
          <a:prstGeom prst="roundRect">
            <a:avLst>
              <a:gd name="adj" fmla="val 1681"/>
            </a:avLst>
          </a:prstGeom>
          <a:solidFill>
            <a:srgbClr val="0B2A4A">
              <a:alpha val="85000"/>
            </a:srgbClr>
          </a:solidFill>
          <a:ln w="19050">
            <a:solidFill>
              <a:srgbClr val="1FB5D6"/>
            </a:solidFill>
            <a:prstDash val="solid"/>
          </a:ln>
        </p:spPr>
      </p:sp>
      <p:sp>
        <p:nvSpPr>
          <p:cNvPr id="7" name="Social contributions"/>
          <p:cNvSpPr txBox="1"/>
          <p:nvPr/>
        </p:nvSpPr>
        <p:spPr>
          <a:xfrm>
            <a:off x="6428232" y="1188720"/>
            <a:ext cx="5029200" cy="457200"/>
          </a:xfrm>
          <a:prstGeom prst="rect">
            <a:avLst/>
          </a:prstGeom>
          <a:noFill/>
          <a:ln/>
        </p:spPr>
        <p:txBody>
          <a:bodyPr wrap="square" lIns="0" tIns="0" rIns="0" bIns="0" rtlCol="0" anchor="ctr"/>
          <a:lstStyle/>
          <a:p>
            <a:pPr indent="0" marL="0">
              <a:buNone/>
            </a:pPr>
            <a:r>
              <a:rPr lang="en-US" sz="2000" b="1" i="1" dirty="0">
                <a:solidFill>
                  <a:srgbClr val="1FB5D6"/>
                </a:solidFill>
              </a:rPr>
              <a:t>Social contributions</a:t>
            </a:r>
            <a:endParaRPr lang="en-US" sz="2000" dirty="0"/>
          </a:p>
        </p:txBody>
      </p:sp>
      <p:sp>
        <p:nvSpPr>
          <p:cNvPr id="8" name="bullets"/>
          <p:cNvSpPr txBox="1"/>
          <p:nvPr/>
        </p:nvSpPr>
        <p:spPr>
          <a:xfrm>
            <a:off x="6336792" y="1737360"/>
            <a:ext cx="5166360" cy="466344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rPr>
              <a:t>Patients and guardians get a direct role in deciding who sees the patient's data.</a:t>
            </a:r>
            <a:endParaRPr lang="en-US" sz="1500" dirty="0"/>
          </a:p>
          <a:p>
            <a:pPr marL="342900" indent="-342900">
              <a:spcAft>
                <a:spcPts val="1000"/>
              </a:spcAft>
              <a:buSzPct val="100000"/>
              <a:buChar char="•"/>
            </a:pPr>
            <a:r>
              <a:rPr lang="en-US" sz="1500" dirty="0">
                <a:solidFill>
                  <a:srgbClr val="FFFFFF"/>
                </a:solidFill>
              </a:rPr>
              <a:t>No single person can authorise access to sensitive health data alone.</a:t>
            </a:r>
            <a:endParaRPr lang="en-US" sz="1500" dirty="0"/>
          </a:p>
          <a:p>
            <a:pPr marL="342900" indent="-342900">
              <a:spcAft>
                <a:spcPts val="1000"/>
              </a:spcAft>
              <a:buSzPct val="100000"/>
              <a:buChar char="•"/>
            </a:pPr>
            <a:r>
              <a:rPr lang="en-US" sz="1500" dirty="0">
                <a:solidFill>
                  <a:srgbClr val="FFFFFF"/>
                </a:solidFill>
              </a:rPr>
              <a:t>Every access decision is explainable and auditable.</a:t>
            </a:r>
            <a:endParaRPr lang="en-US" sz="1500" dirty="0"/>
          </a:p>
          <a:p>
            <a:pPr marL="342900" indent="-342900">
              <a:spcAft>
                <a:spcPts val="1000"/>
              </a:spcAft>
              <a:buSzPct val="100000"/>
              <a:buChar char="•"/>
            </a:pPr>
            <a:r>
              <a:rPr lang="en-US" sz="1500" dirty="0">
                <a:solidFill>
                  <a:srgbClr val="FFFFFF"/>
                </a:solidFill>
              </a:rPr>
              <a:t>Medical records stay off-chain; only consent evidence is anchored.</a:t>
            </a:r>
            <a:endParaRPr lang="en-US" sz="1500" dirty="0"/>
          </a:p>
          <a:p>
            <a:pPr marL="342900" indent="-342900">
              <a:spcAft>
                <a:spcPts val="1000"/>
              </a:spcAft>
              <a:buSzPct val="100000"/>
              <a:buChar char="•"/>
            </a:pPr>
            <a:r>
              <a:rPr lang="en-US" sz="1500" dirty="0">
                <a:solidFill>
                  <a:srgbClr val="FFFFFF"/>
                </a:solidFill>
              </a:rPr>
              <a:t>Supports trust when data is shared between hospitals and other independent parties.</a:t>
            </a:r>
            <a:endParaRPr lang="en-US" sz="15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sp>
        <p:nvSpPr>
          <p:cNvPr id="3"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4" name="Fplan" descr="/tmp/deck/img/Fplan.png">    </p:cNvPr>
          <p:cNvPicPr>
            <a:picLocks noChangeAspect="1"/>
          </p:cNvPicPr>
          <p:nvPr/>
        </p:nvPicPr>
        <p:blipFill>
          <a:blip r:embed="rId1"/>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(1/6)</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[1] A. Ghafoor, I. Symeonidis, A. Rydberg, C. Lindahl, and A. Q. Abbasi. Towards empowering stakeholders through decentralized trust and secure livestock data sharing. Cryptography, 9(3):52, 2025. doi:10.3390/cryptography9030052</a:t>
            </a:r>
            <a:endParaRPr lang="en-US" sz="1000" dirty="0"/>
          </a:p>
          <a:p>
            <a:pPr indent="0" marL="0">
              <a:spcAft>
                <a:spcPts val="400"/>
              </a:spcAft>
              <a:buNone/>
            </a:pPr>
            <a:r>
              <a:rPr lang="en-US" sz="1000" dirty="0">
                <a:solidFill>
                  <a:srgbClr val="0B1F33"/>
                </a:solidFill>
              </a:rPr>
              <a:t>[2] R. K. Lomotey, S. Kumi, and R. Deters. Data trusts as a service: Providing a platform for multi-party data sharing. International Journal of Information Management Data Insights, 2(1):100075, 2022. doi:10.1016/j.jjimei.2022.100075</a:t>
            </a:r>
            <a:endParaRPr lang="en-US" sz="1000" dirty="0"/>
          </a:p>
          <a:p>
            <a:pPr indent="0" marL="0">
              <a:spcAft>
                <a:spcPts val="400"/>
              </a:spcAft>
              <a:buNone/>
            </a:pPr>
            <a:r>
              <a:rPr lang="en-US" sz="1000" dirty="0">
                <a:solidFill>
                  <a:srgbClr val="0B1F33"/>
                </a:solidFill>
              </a:rPr>
              <a:t>[3] T. L. Nguyen, L. Nguyen, T. Hoang, D. Bandara, Q. Wang, Q. Lu, et al. Blockchain-empowered trustworthy data sharing: Fundamentals, applications, and challenges. ACM Computing Surveys, 57(8):195, 2025. doi:10.1145/3718082</a:t>
            </a:r>
            <a:endParaRPr lang="en-US" sz="1000" dirty="0"/>
          </a:p>
          <a:p>
            <a:pPr indent="0" marL="0">
              <a:spcAft>
                <a:spcPts val="400"/>
              </a:spcAft>
              <a:buNone/>
            </a:pPr>
            <a:r>
              <a:rPr lang="en-US" sz="1000" dirty="0">
                <a:solidFill>
                  <a:srgbClr val="0B1F33"/>
                </a:solidFill>
              </a:rPr>
              <a:t>[4] E. C. Webber, D. Brick, J. P. Scibilia, P. Dehnel, Council on Clinical Information Technology, et al. Electronic communication of the health record and information with pediatric patients and their guardians. Pediatrics, 144(1):e20191359, 2019. doi:10.1542/peds.2019-1359</a:t>
            </a:r>
            <a:endParaRPr lang="en-US" sz="1000" dirty="0"/>
          </a:p>
          <a:p>
            <a:pPr indent="0" marL="0">
              <a:spcAft>
                <a:spcPts val="400"/>
              </a:spcAft>
              <a:buNone/>
            </a:pPr>
            <a:r>
              <a:rPr lang="en-US" sz="1000" dirty="0">
                <a:solidFill>
                  <a:srgbClr val="0B1F33"/>
                </a:solidFill>
              </a:rPr>
              <a:t>[5] C. Welzel, M. Ostermann, H. L. Smith, T. Minssen, T. Kirsten, and S. Gilbert. Enabling secure and self determined health data sharing and consent management. npj Digital Medicine, 8(1):560, 2025. doi:10.1038/s41746-025-01945-z</a:t>
            </a:r>
            <a:endParaRPr lang="en-US" sz="1000" dirty="0"/>
          </a:p>
          <a:p>
            <a:pPr indent="0" marL="0">
              <a:spcAft>
                <a:spcPts val="400"/>
              </a:spcAft>
              <a:buNone/>
            </a:pPr>
            <a:r>
              <a:rPr lang="en-US" sz="1000" dirty="0">
                <a:solidFill>
                  <a:srgbClr val="0B1F33"/>
                </a:solidFill>
              </a:rPr>
              <a:t>[6] M. R. Narkhede, N. I. Wankhede, and A. M. Kamble. Enhancing patient autonomy in data ownership: Privacy models and consent frameworks for healthcare. Journal of Digital Health, 4(1):1–23, 2025. doi:10.55976/jdh.4202513361-23</a:t>
            </a:r>
            <a:endParaRPr lang="en-US" sz="1000" dirty="0"/>
          </a:p>
          <a:p>
            <a:pPr indent="0" marL="0">
              <a:spcAft>
                <a:spcPts val="400"/>
              </a:spcAft>
              <a:buNone/>
            </a:pPr>
            <a:r>
              <a:rPr lang="en-US" sz="1000" dirty="0">
                <a:solidFill>
                  <a:srgbClr val="0B1F33"/>
                </a:solidFill>
              </a:rPr>
              <a:t>[7] R. McClelland and C. M. Harper. Information privacy in healthcare — the vital role of informed consent. European Journal of Health Law, 30(4):469–480, 2023. doi:10.1163/15718093-bja10097</a:t>
            </a:r>
            <a:endParaRPr lang="en-US" sz="1000" dirty="0"/>
          </a:p>
          <a:p>
            <a:pPr indent="0" marL="0">
              <a:spcAft>
                <a:spcPts val="400"/>
              </a:spcAft>
              <a:buNone/>
            </a:pPr>
            <a:r>
              <a:rPr lang="en-US" sz="1000" dirty="0">
                <a:solidFill>
                  <a:srgbClr val="0B1F33"/>
                </a:solidFill>
              </a:rPr>
              <a:t>[8] K. Kaplow, M. Downey, D. Stewart, A. B. Massie, J. D. Motter, L. Taylor, et al. Data professionals’ attitudes on data privacy, sharing, and consent in healthcare and research. Digital Health, 10:20552076241290964, 2024. doi:10.1177/20552076241290964</a:t>
            </a:r>
            <a:endParaRPr lang="en-US" sz="1000" dirty="0"/>
          </a:p>
          <a:p>
            <a:pPr indent="0" marL="0">
              <a:spcAft>
                <a:spcPts val="400"/>
              </a:spcAft>
              <a:buNone/>
            </a:pPr>
            <a:r>
              <a:rPr lang="en-US" sz="1000" dirty="0">
                <a:solidFill>
                  <a:srgbClr val="0B1F33"/>
                </a:solidFill>
              </a:rPr>
              <a:t>[9] A. Nazir, M. H. Rehmani, B. Butler, and D. O’Shea. Access control in healthcare IoT: A comprehensive survey. Engineering Reports, 8(4):e70766, 2026. doi:10.1002/eng2.70766</a:t>
            </a:r>
            <a:endParaRPr lang="en-US" sz="1000" dirty="0"/>
          </a:p>
          <a:p>
            <a:pPr indent="0" marL="0">
              <a:spcAft>
                <a:spcPts val="400"/>
              </a:spcAft>
              <a:buNone/>
            </a:pPr>
            <a:r>
              <a:rPr lang="en-US" sz="1000" dirty="0">
                <a:solidFill>
                  <a:srgbClr val="0B1F33"/>
                </a:solidFill>
              </a:rPr>
              <a:t>[10] A. M. Tawfik, A. Al-Ahwal, A. S. Tag Eldien, and H. H. Zayed. Blockchain-based access control and privacy preservation in healthcare: A comprehensive survey. Cluster Computing, 28:529, 2025. doi:10.1007/s10586-025-05308-x</a:t>
            </a:r>
            <a:endParaRPr lang="en-US" sz="1000" dirty="0"/>
          </a:p>
          <a:p>
            <a:pPr indent="0" marL="0">
              <a:spcAft>
                <a:spcPts val="400"/>
              </a:spcAft>
              <a:buNone/>
            </a:pPr>
            <a:r>
              <a:rPr lang="en-US" sz="1000" dirty="0">
                <a:solidFill>
                  <a:srgbClr val="0B1F33"/>
                </a:solidFill>
              </a:rPr>
              <a:t>[11] A. M. Ibrahim, H. R. Abdel-Aziz, H. A. H. Mohamed, D. E. F. Zaghamir, N. M. I. Wahba, G. A. Hassan, et al. Balancing confidentiality and care coordination: Challenges in patient privacy. BMC Nursing, 23(1):564, 2024. doi:10.1186/s12912-024-02231-1</a:t>
            </a:r>
            <a:endParaRPr lang="en-US" sz="1000" dirty="0"/>
          </a:p>
          <a:p>
            <a:pPr indent="0" marL="0">
              <a:spcAft>
                <a:spcPts val="400"/>
              </a:spcAft>
              <a:buNone/>
            </a:pPr>
            <a:r>
              <a:rPr lang="en-US" sz="1000" dirty="0">
                <a:solidFill>
                  <a:srgbClr val="0B1F33"/>
                </a:solidFill>
              </a:rPr>
              <a:t>[12] L. Theodorakopoulos, A. Theodoropoulou, and C. Halkiopoulos. Enhancing decentralized decision-making with big data and blockchain technology: A comprehensive review. Applied Sciences, 14(16):7007, 2024. doi:10.3390/app14167007</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(2/6)</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[13] A. Al Mamun, S. Azam, and C. Gritti. Blockchain-based electronic health records management: A comprehensive review and future research direction. IEEE Access, 10:5768–5789, 2022. doi:10.1109/ACCESS.2022.3141079</a:t>
            </a:r>
            <a:endParaRPr lang="en-US" sz="1000" dirty="0"/>
          </a:p>
          <a:p>
            <a:pPr indent="0" marL="0">
              <a:spcAft>
                <a:spcPts val="400"/>
              </a:spcAft>
              <a:buNone/>
            </a:pPr>
            <a:r>
              <a:rPr lang="en-US" sz="1000" dirty="0">
                <a:solidFill>
                  <a:srgbClr val="0B1F33"/>
                </a:solidFill>
              </a:rPr>
              <a:t>[14] R. Hellstern, D. C. Park, V. Lemieux, and G. Salimjan. Leveraging blockchain-based archival solutions for sensitive documentation: A Xinjiang case study. Digital Society, 1(1):4, 2022. doi:10.1007/s44206-022-00007-1</a:t>
            </a:r>
            <a:endParaRPr lang="en-US" sz="1000" dirty="0"/>
          </a:p>
          <a:p>
            <a:pPr indent="0" marL="0">
              <a:spcAft>
                <a:spcPts val="400"/>
              </a:spcAft>
              <a:buNone/>
            </a:pPr>
            <a:r>
              <a:rPr lang="en-US" sz="1000" dirty="0">
                <a:solidFill>
                  <a:srgbClr val="0B1F33"/>
                </a:solidFill>
              </a:rPr>
              <a:t>[15] L. Li, C. Z. Liu, and S. Shrestha. Analytical entropy approach for measuring blockchain immutability and tamper-resilient trust. Entropy, 28(6):690, 2026. doi:10.3390/e28060690</a:t>
            </a:r>
            <a:endParaRPr lang="en-US" sz="1000" dirty="0"/>
          </a:p>
          <a:p>
            <a:pPr indent="0" marL="0">
              <a:spcAft>
                <a:spcPts val="400"/>
              </a:spcAft>
              <a:buNone/>
            </a:pPr>
            <a:r>
              <a:rPr lang="en-US" sz="1000" dirty="0">
                <a:solidFill>
                  <a:srgbClr val="0B1F33"/>
                </a:solidFill>
              </a:rPr>
              <a:t>[16] C. Mazzocca, A. Acar, A. S. Uluagac, R. Montanari, P. Bellavista, and M. Conti. A survey on decentralized identifiers and verifiable credentials. IEEE Communications Surveys &amp; Tutorials, 27(6):3641–3671, 2025. doi:10.1109/COMST.2025.3543197</a:t>
            </a:r>
            <a:endParaRPr lang="en-US" sz="1000" dirty="0"/>
          </a:p>
          <a:p>
            <a:pPr indent="0" marL="0">
              <a:spcAft>
                <a:spcPts val="400"/>
              </a:spcAft>
              <a:buNone/>
            </a:pPr>
            <a:r>
              <a:rPr lang="en-US" sz="1000" dirty="0">
                <a:solidFill>
                  <a:srgbClr val="0B1F33"/>
                </a:solidFill>
              </a:rPr>
              <a:t>[17] A. Flamini, G. Sciarretta, M. Scuro, A. Sharif, A. Tomasi, and S. Ranise. On cryptographic mechanisms for the selective disclosure of verifiable credentials. Journal of Information Security and Applications, 83:103789, 2024. doi:10.1016/j.jisa.2024.103789</a:t>
            </a:r>
            <a:endParaRPr lang="en-US" sz="1000" dirty="0"/>
          </a:p>
          <a:p>
            <a:pPr indent="0" marL="0">
              <a:spcAft>
                <a:spcPts val="400"/>
              </a:spcAft>
              <a:buNone/>
            </a:pPr>
            <a:r>
              <a:rPr lang="en-US" sz="1000" dirty="0">
                <a:solidFill>
                  <a:srgbClr val="0B1F33"/>
                </a:solidFill>
              </a:rPr>
              <a:t>[18] J. Andrew, D. P. Isravel, K. M. Sagayam, B. Bhushan, Y. Sei, and J. Eunice. Blockchain for healthcare systems: Architecture, security challenges, trends and future directions. Journal of Network and Computer Applications, 215:103633, 2023. doi:10.1016/j.jnca.2023.103633</a:t>
            </a:r>
            <a:endParaRPr lang="en-US" sz="1000" dirty="0"/>
          </a:p>
          <a:p>
            <a:pPr indent="0" marL="0">
              <a:spcAft>
                <a:spcPts val="400"/>
              </a:spcAft>
              <a:buNone/>
            </a:pPr>
            <a:r>
              <a:rPr lang="en-US" sz="1000" dirty="0">
                <a:solidFill>
                  <a:srgbClr val="0B1F33"/>
                </a:solidFill>
              </a:rPr>
              <a:t>[19] M. I. Khalid, M. Ahmed, M. Helfert, and J. Kim. Privacy-first paradigm for dynamic consent management systems: Empowering data subjects through decentralized data controllers and privacy-preserving techniques. Electronics, 12(24):4973, 2023. doi:10.3390/electronics12244973</a:t>
            </a:r>
            <a:endParaRPr lang="en-US" sz="1000" dirty="0"/>
          </a:p>
          <a:p>
            <a:pPr indent="0" marL="0">
              <a:spcAft>
                <a:spcPts val="400"/>
              </a:spcAft>
              <a:buNone/>
            </a:pPr>
            <a:r>
              <a:rPr lang="en-US" sz="1000" dirty="0">
                <a:solidFill>
                  <a:srgbClr val="0B1F33"/>
                </a:solidFill>
              </a:rPr>
              <a:t>[20] V. Jesus and H. J. Pandit. Consent receipts for a usable and auditable web of personal data. IEEE Access, 10:28545–28563, 2022. doi:10.1109/ACCESS.2022.3157850</a:t>
            </a:r>
            <a:endParaRPr lang="en-US" sz="1000" dirty="0"/>
          </a:p>
          <a:p>
            <a:pPr indent="0" marL="0">
              <a:spcAft>
                <a:spcPts val="400"/>
              </a:spcAft>
              <a:buNone/>
            </a:pPr>
            <a:r>
              <a:rPr lang="en-US" sz="1000" dirty="0">
                <a:solidFill>
                  <a:srgbClr val="0B1F33"/>
                </a:solidFill>
              </a:rPr>
              <a:t>[21] S. Phuyal, M. Bhandari, R. Bista, and J. C. Ferreira. Enabling cross-institution health data sharing in Norway: EUDI wallets, on-chain consent, and openEHR↔FHIR translation. IEEE Access, 14:20309–20327, 2026. doi:10.1109/ACCESS.2026.3661642</a:t>
            </a:r>
            <a:endParaRPr lang="en-US" sz="1000" dirty="0"/>
          </a:p>
          <a:p>
            <a:pPr indent="0" marL="0">
              <a:spcAft>
                <a:spcPts val="400"/>
              </a:spcAft>
              <a:buNone/>
            </a:pPr>
            <a:r>
              <a:rPr lang="en-US" sz="1000" dirty="0">
                <a:solidFill>
                  <a:srgbClr val="0B1F33"/>
                </a:solidFill>
              </a:rPr>
              <a:t>[22] Z. Wu and D. Zhang. HealthDID: An efficient and authorizable multi-party privacy-preserving EMR sharing system based on DID. Computer Standards &amp; Interfaces, 93:103967, 2025. doi:10.1016/j.csi.2024.103967</a:t>
            </a:r>
            <a:endParaRPr lang="en-US" sz="1000" dirty="0"/>
          </a:p>
          <a:p>
            <a:pPr indent="0" marL="0">
              <a:spcAft>
                <a:spcPts val="400"/>
              </a:spcAft>
              <a:buNone/>
            </a:pPr>
            <a:r>
              <a:rPr lang="en-US" sz="1000" dirty="0">
                <a:solidFill>
                  <a:srgbClr val="0B1F33"/>
                </a:solidFill>
              </a:rPr>
              <a:t>[23] M. M. Madine, K. Salah, R. Jayaraman, I. Yaqoob, Y. Al-Hammadi, S. Ellahham, et al. Fully decentralized multi-party consent management for secure sharing of patient health records. IEEE Access, 8:225777–225791, 2020. doi:10.1109/ACCESS.2020.3045048</a:t>
            </a:r>
            <a:endParaRPr lang="en-US" sz="1000" dirty="0"/>
          </a:p>
          <a:p>
            <a:pPr indent="0" marL="0">
              <a:spcAft>
                <a:spcPts val="400"/>
              </a:spcAft>
              <a:buNone/>
            </a:pPr>
            <a:r>
              <a:rPr lang="en-US" sz="1000" dirty="0">
                <a:solidFill>
                  <a:srgbClr val="0B1F33"/>
                </a:solidFill>
              </a:rPr>
              <a:t>[24] D. Tith, J.-S. Lee, H. Suzuki, W. M. A. B. Wijesundara, N. Taira, T. Obi, et al. Patient consent management by a purpose-based consent model for electronic health record based on blockchain technology. Healthcare Informatics Research, 26(4):265–273, 2020. doi:10.4258/hir.2020.26.4.265</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(3/6)</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[25] A. Punia, P. Gulia, N. S. Gill, D. Kaushik, N. Alduaiji, P. K. Shukla, et al. An access control system for cloud-based healthcare systems driven by blockchain. Journal of Cloud Computing, 14(1):78, 2025. doi:10.1186/s13677-025-00831-z</a:t>
            </a:r>
            <a:endParaRPr lang="en-US" sz="1000" dirty="0"/>
          </a:p>
          <a:p>
            <a:pPr indent="0" marL="0">
              <a:spcAft>
                <a:spcPts val="400"/>
              </a:spcAft>
              <a:buNone/>
            </a:pPr>
            <a:r>
              <a:rPr lang="en-US" sz="1000" dirty="0">
                <a:solidFill>
                  <a:srgbClr val="0B1F33"/>
                </a:solidFill>
              </a:rPr>
              <a:t>[26] K.-L. Tan, C.-H. Chi, and K.-Y. Lam. Secure and privacy-preserving sharing of personal health records with multi-party pre-authorization verification. Wireless Networks, 30(4):4773–4795, 2024. doi:10.1007/s11276-022-03114-6</a:t>
            </a:r>
            <a:endParaRPr lang="en-US" sz="1000" dirty="0"/>
          </a:p>
          <a:p>
            <a:pPr indent="0" marL="0">
              <a:spcAft>
                <a:spcPts val="400"/>
              </a:spcAft>
              <a:buNone/>
            </a:pPr>
            <a:r>
              <a:rPr lang="en-US" sz="1000" dirty="0">
                <a:solidFill>
                  <a:srgbClr val="0B1F33"/>
                </a:solidFill>
              </a:rPr>
              <a:t>[27] K. Ekholm, A. Augustinsson, J. Sundström, C. Johansen, M. Storgärds, L. Ljöstad, et al. Implementing electronic informed consent in rare disease genomics. Scientific Reports, 15(1):44419, 2025. doi:10.1038/s41598-025-32740-1</a:t>
            </a:r>
            <a:endParaRPr lang="en-US" sz="1000" dirty="0"/>
          </a:p>
          <a:p>
            <a:pPr indent="0" marL="0">
              <a:spcAft>
                <a:spcPts val="400"/>
              </a:spcAft>
              <a:buNone/>
            </a:pPr>
            <a:r>
              <a:rPr lang="en-US" sz="1000" dirty="0">
                <a:solidFill>
                  <a:srgbClr val="0B1F33"/>
                </a:solidFill>
              </a:rPr>
              <a:t>[28] A. U. Eneh, L. A. C. Ahakonye, J. M. Lee, and D.-S. Kim. Demo: EdgeConsent: On-chain attribute-based access control for data consent management. In 2026 IEEE International Conference on Blockchain and Cryptocurrency (ICBC), 2026. doi:10.1109/ICBC67748.2026.11575534</a:t>
            </a:r>
            <a:endParaRPr lang="en-US" sz="1000" dirty="0"/>
          </a:p>
          <a:p>
            <a:pPr indent="0" marL="0">
              <a:spcAft>
                <a:spcPts val="400"/>
              </a:spcAft>
              <a:buNone/>
            </a:pPr>
            <a:r>
              <a:rPr lang="en-US" sz="1000" dirty="0">
                <a:solidFill>
                  <a:srgbClr val="0B1F33"/>
                </a:solidFill>
              </a:rPr>
              <a:t>[29] D. P. Panagoulias, A. I. Damian, C. Stamate, V. Toderian, P. Butusina, A. De Franceschi, et al. Blockchain-enabled trust and compliance for clinical AI: Decentralized governance without decentralized data storage. Electronics, 15(14):3046, 2026. doi:10.3390/electronics15143046</a:t>
            </a:r>
            <a:endParaRPr lang="en-US" sz="1000" dirty="0"/>
          </a:p>
          <a:p>
            <a:pPr indent="0" marL="0">
              <a:spcAft>
                <a:spcPts val="400"/>
              </a:spcAft>
              <a:buNone/>
            </a:pPr>
            <a:r>
              <a:rPr lang="en-US" sz="1000" dirty="0">
                <a:solidFill>
                  <a:srgbClr val="0B1F33"/>
                </a:solidFill>
              </a:rPr>
              <a:t>[30] I. Román-Martínez, J. Calvillo-Arbizu, V. J. Mayor-Gallego, G. Madinabeitia-Luque, A. J. Estepa-Alonso, and R. M. Estepa-Alonso. Blockchain-based service-oriented architecture for consent management, access control, and auditing. IEEE Access, 11:12727–12741, 2023. doi:10.1109/ACCESS.2023.3242605</a:t>
            </a:r>
            <a:endParaRPr lang="en-US" sz="1000" dirty="0"/>
          </a:p>
          <a:p>
            <a:pPr indent="0" marL="0">
              <a:spcAft>
                <a:spcPts val="400"/>
              </a:spcAft>
              <a:buNone/>
            </a:pPr>
            <a:r>
              <a:rPr lang="en-US" sz="1000" dirty="0">
                <a:solidFill>
                  <a:srgbClr val="0B1F33"/>
                </a:solidFill>
              </a:rPr>
              <a:t>[31] B. Khayer, S. Mirzaei, H. Alavizadeh, and A. Salehi Shahraki. Blockchain for secure IoT: A review of identity management, access control, and trust mechanisms. IoT, 6(4):65, 2025. doi:10.3390/iot6040065</a:t>
            </a:r>
            <a:endParaRPr lang="en-US" sz="1000" dirty="0"/>
          </a:p>
          <a:p>
            <a:pPr indent="0" marL="0">
              <a:spcAft>
                <a:spcPts val="400"/>
              </a:spcAft>
              <a:buNone/>
            </a:pPr>
            <a:r>
              <a:rPr lang="en-US" sz="1000" dirty="0">
                <a:solidFill>
                  <a:srgbClr val="0B1F33"/>
                </a:solidFill>
              </a:rPr>
              <a:t>[32] J. C. Ferreira, R. Correia, L. Rosário, and A. Vila. Blockchain integration for trust and consent management in MCP-enabled FHIR systems. In 2025 IEEE International Conference on Distributed Ledger Technologies (ICDLT), pages 1–10, 2025. doi:10.1109/ICDLT66400.2025.11466653</a:t>
            </a:r>
            <a:endParaRPr lang="en-US" sz="1000" dirty="0"/>
          </a:p>
          <a:p>
            <a:pPr indent="0" marL="0">
              <a:spcAft>
                <a:spcPts val="400"/>
              </a:spcAft>
              <a:buNone/>
            </a:pPr>
            <a:r>
              <a:rPr lang="en-US" sz="1000" dirty="0">
                <a:solidFill>
                  <a:srgbClr val="0B1F33"/>
                </a:solidFill>
              </a:rPr>
              <a:t>[33] J. Ménétrey, C. Göttel, A. Khurshid, M. Pasin, P. Felber, V. Schiavoni, et al. Attestation mechanisms for trusted execution environments demystified. In IFIP International Conference on Distributed Applications and Interoperable Systems (DAIS 2022), LNCS, vol. 13272, pages 95–113. Springer, 2022. doi:10.1007/978-3-031-16092-9_7</a:t>
            </a:r>
            <a:endParaRPr lang="en-US" sz="1000" dirty="0"/>
          </a:p>
          <a:p>
            <a:pPr indent="0" marL="0">
              <a:spcAft>
                <a:spcPts val="400"/>
              </a:spcAft>
              <a:buNone/>
            </a:pPr>
            <a:r>
              <a:rPr lang="en-US" sz="1000" dirty="0">
                <a:solidFill>
                  <a:srgbClr val="0B1F33"/>
                </a:solidFill>
              </a:rPr>
              <a:t>[34] L. Li, C. Z. Liu, K. Huang, R. Deng, M. A. Alrowaily, M. Alghamdi, et al. Trust-aware environmental state consensus for smart agriculture with TEE-enabled sensing and Byzantine-resilient blockchain coordination. Sensors, 26(14):4577, 2026. doi:10.3390/s26144577</a:t>
            </a:r>
            <a:endParaRPr lang="en-US" sz="1000" dirty="0"/>
          </a:p>
          <a:p>
            <a:pPr indent="0" marL="0">
              <a:spcAft>
                <a:spcPts val="400"/>
              </a:spcAft>
              <a:buNone/>
            </a:pPr>
            <a:r>
              <a:rPr lang="en-US" sz="1000" dirty="0">
                <a:solidFill>
                  <a:srgbClr val="0B1F33"/>
                </a:solidFill>
              </a:rPr>
              <a:t>[35] J. Walonoski, M. Kramer, J. Nichols, A. Quina, C. Moesel, D. Hall, et al. Synthea: An approach, method, and software mechanism for generating synthetic patients and the synthetic electronic health care record. Journal of the American Medical Informatics Association, 25(3):230–238, 2018. doi:10.1093/jamia/ocx079</a:t>
            </a:r>
            <a:endParaRPr lang="en-US" sz="1000" dirty="0"/>
          </a:p>
          <a:p>
            <a:pPr indent="0" marL="0">
              <a:spcAft>
                <a:spcPts val="400"/>
              </a:spcAft>
              <a:buNone/>
            </a:pPr>
            <a:r>
              <a:rPr lang="en-US" sz="1000" dirty="0">
                <a:solidFill>
                  <a:srgbClr val="0B1F33"/>
                </a:solidFill>
              </a:rPr>
              <a:t>[36] A. Kharlamov, R. Hohmann, and G. Parry. Data sharing decisions: Perceptions and intentions in healthcare. Strategic Change, 32(6):223–237, 2023. doi:10.1002/jsc.2558</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(4/6)</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[37] P. K. Ghosh, A. Chakraborty, M. Hasan, K. Rashid, and A. H. Siddique. Blockchain application in healthcare systems: A review. Systems, 11(1):38, 2023. doi:10.3390/systems11010038</a:t>
            </a:r>
            <a:endParaRPr lang="en-US" sz="1000" dirty="0"/>
          </a:p>
          <a:p>
            <a:pPr indent="0" marL="0">
              <a:spcAft>
                <a:spcPts val="400"/>
              </a:spcAft>
              <a:buNone/>
            </a:pPr>
            <a:r>
              <a:rPr lang="en-US" sz="1000" dirty="0">
                <a:solidFill>
                  <a:srgbClr val="0B1F33"/>
                </a:solidFill>
              </a:rPr>
              <a:t>[38] M. S. Arbabi, C. Lal, N. R. Veeraragavan, D. Marijan, J. F. Nygård, and R. Vitenberg. A survey on blockchain for healthcare: Challenges, benefits, and future directions. IEEE Communications Surveys &amp; Tutorials, 25(1):386–424, 2023. doi:10.1109/COMST.2022.3224644</a:t>
            </a:r>
            <a:endParaRPr lang="en-US" sz="1000" dirty="0"/>
          </a:p>
          <a:p>
            <a:pPr indent="0" marL="0">
              <a:spcAft>
                <a:spcPts val="400"/>
              </a:spcAft>
              <a:buNone/>
            </a:pPr>
            <a:r>
              <a:rPr lang="en-US" sz="1000" dirty="0">
                <a:solidFill>
                  <a:srgbClr val="0B1F33"/>
                </a:solidFill>
              </a:rPr>
              <a:t>[39] M. N. Turan, I. A. Hashimzai, and M. Q. Qiam. A blockchain-based framework for secure and transparent environmental data sharing in smart cities: Enhancing trust, integrity, and interoperability in urban sustainability systems. Nata Palemahan: Journal of Environmental Engineering Innovations, 2(2):70–79, 2025. doi:10.38043/natapalemahan.v2i2.6996</a:t>
            </a:r>
            <a:endParaRPr lang="en-US" sz="1000" dirty="0"/>
          </a:p>
          <a:p>
            <a:pPr indent="0" marL="0">
              <a:spcAft>
                <a:spcPts val="400"/>
              </a:spcAft>
              <a:buNone/>
            </a:pPr>
            <a:r>
              <a:rPr lang="en-US" sz="1000" dirty="0">
                <a:solidFill>
                  <a:srgbClr val="0B1F33"/>
                </a:solidFill>
              </a:rPr>
              <a:t>[40] J. Yin, Y. Xiao, Q. Chen, Y. Z. Lim, X. Liu, Q. Pei, et al. DP-DID: A dynamic and proactive decentralized identity system. IEEE Transactions on Information Forensics and Security, 20:4999–5014, 2025. doi:10.1109/TIFS.2025.3561662</a:t>
            </a:r>
            <a:endParaRPr lang="en-US" sz="1000" dirty="0"/>
          </a:p>
          <a:p>
            <a:pPr indent="0" marL="0">
              <a:spcAft>
                <a:spcPts val="400"/>
              </a:spcAft>
              <a:buNone/>
            </a:pPr>
            <a:r>
              <a:rPr lang="en-US" sz="1000" dirty="0">
                <a:solidFill>
                  <a:srgbClr val="0B1F33"/>
                </a:solidFill>
              </a:rPr>
              <a:t>[41] H. Deng, J. Liang, C. Zhang, X. Liu, L. Zhu, and S. Guo. FutureDID: A fully decentralized identity system with multi-party verification. IEEE Transactions on Computers, 73(8):2051–2065, 2024. doi:10.1109/TC.2024.3398509</a:t>
            </a:r>
            <a:endParaRPr lang="en-US" sz="1000" dirty="0"/>
          </a:p>
          <a:p>
            <a:pPr indent="0" marL="0">
              <a:spcAft>
                <a:spcPts val="400"/>
              </a:spcAft>
              <a:buNone/>
            </a:pPr>
            <a:r>
              <a:rPr lang="en-US" sz="1000" dirty="0">
                <a:solidFill>
                  <a:srgbClr val="0B1F33"/>
                </a:solidFill>
              </a:rPr>
              <a:t>[42] C. D. Nassar Kyriakidou, A. M. Papathanasiou, and G. C. Polyzos. Decentralized identity with applications to security and privacy for the internet of things. Computer Networks and Communications, 1(2):244–271, 2023. doi:10.37256/cnc.1220233048</a:t>
            </a:r>
            <a:endParaRPr lang="en-US" sz="1000" dirty="0"/>
          </a:p>
          <a:p>
            <a:pPr indent="0" marL="0">
              <a:spcAft>
                <a:spcPts val="400"/>
              </a:spcAft>
              <a:buNone/>
            </a:pPr>
            <a:r>
              <a:rPr lang="en-US" sz="1000" dirty="0">
                <a:solidFill>
                  <a:srgbClr val="0B1F33"/>
                </a:solidFill>
              </a:rPr>
              <a:t>[43] R. P. Parameswarath, P. Gope, and B. Sikdar. User-empowered privacy-preserving authentication protocol for electric vehicle charging based on decentralized identity and verifiable credential. ACM Transactions on Management Information Systems, 13(4):44, 2022. doi:10.1145/3532869</a:t>
            </a:r>
            <a:endParaRPr lang="en-US" sz="1000" dirty="0"/>
          </a:p>
          <a:p>
            <a:pPr indent="0" marL="0">
              <a:spcAft>
                <a:spcPts val="400"/>
              </a:spcAft>
              <a:buNone/>
            </a:pPr>
            <a:r>
              <a:rPr lang="en-US" sz="1000" dirty="0">
                <a:solidFill>
                  <a:srgbClr val="0B1F33"/>
                </a:solidFill>
              </a:rPr>
              <a:t>[44] H. Yin, Y. Zhao, L. Zhang, B. Qiao, W. Chen, and H. Wang. Attribute-based searchable encryption with decentralized key management for healthcare data sharing. Journal of Systems Architecture, 148:103081, 2024. doi:10.1016/j.sysarc.2024.103081</a:t>
            </a:r>
            <a:endParaRPr lang="en-US" sz="1000" dirty="0"/>
          </a:p>
          <a:p>
            <a:pPr indent="0" marL="0">
              <a:spcAft>
                <a:spcPts val="400"/>
              </a:spcAft>
              <a:buNone/>
            </a:pPr>
            <a:r>
              <a:rPr lang="en-US" sz="1000" dirty="0">
                <a:solidFill>
                  <a:srgbClr val="0B1F33"/>
                </a:solidFill>
              </a:rPr>
              <a:t>[45] R. Jiang, X. Chen, Y. Yu, Y. Zhang, and W. Ding. Risk and UCON-based access control model for healthcare big data. Journal of Big Data, 10(1):104, 2023. doi:10.1186/s40537-023-00783-8</a:t>
            </a:r>
            <a:endParaRPr lang="en-US" sz="1000" dirty="0"/>
          </a:p>
          <a:p>
            <a:pPr indent="0" marL="0">
              <a:spcAft>
                <a:spcPts val="400"/>
              </a:spcAft>
              <a:buNone/>
            </a:pPr>
            <a:r>
              <a:rPr lang="en-US" sz="1000" dirty="0">
                <a:solidFill>
                  <a:srgbClr val="0B1F33"/>
                </a:solidFill>
              </a:rPr>
              <a:t>[46] M. J. Page, J. E. McKenzie, P. M. Bossuyt, I. Boutron, T. C. Hoffmann, C. D. Mulrow, et al. The PRISMA 2020 statement: An updated guideline for reporting systematic reviews. BMJ, 372:n71, 2021. doi:10.1136/bmj.n71</a:t>
            </a:r>
            <a:endParaRPr lang="en-US" sz="1000" dirty="0"/>
          </a:p>
          <a:p>
            <a:pPr indent="0" marL="0">
              <a:spcAft>
                <a:spcPts val="400"/>
              </a:spcAft>
              <a:buNone/>
            </a:pPr>
            <a:r>
              <a:rPr lang="en-US" sz="1000" dirty="0">
                <a:solidFill>
                  <a:srgbClr val="0B1F33"/>
                </a:solidFill>
              </a:rPr>
              <a:t>[47] V. Jaiman and V. Urovi. A consent model for blockchain-based health data sharing platforms. IEEE Access, 8:143734–143745, 2020. doi:10.1109/ACCESS.2020.3014565</a:t>
            </a:r>
            <a:endParaRPr lang="en-US" sz="1000" dirty="0"/>
          </a:p>
          <a:p>
            <a:pPr indent="0" marL="0">
              <a:spcAft>
                <a:spcPts val="400"/>
              </a:spcAft>
              <a:buNone/>
            </a:pPr>
            <a:r>
              <a:rPr lang="en-US" sz="1000" dirty="0">
                <a:solidFill>
                  <a:srgbClr val="0B1F33"/>
                </a:solidFill>
              </a:rPr>
              <a:t>[48] F. Albalwy, A. Brass, and A. Davies. A blockchain-based dynamic consent architecture to support clinical genomic data sharing (ConsentChain): Proof-of-concept study. JMIR Medical Informatics, 9(11):e27816, 2021. doi:10.2196/27816</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(5/6)</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[49] H. Li, D. Li, G. Lv, N. Crespi, R. Minerva, W. Shao, et al. Privacy-preserving fine-grained EMR access control for IoMT: A hybrid RBAC-smart contract scheme with attribute-based authorization. IEEE Internet of Things Journal, 13(2):2970–2987, 2026. doi:10.1109/JIOT.2025.3633504</a:t>
            </a:r>
            <a:endParaRPr lang="en-US" sz="1000" dirty="0"/>
          </a:p>
          <a:p>
            <a:pPr indent="0" marL="0">
              <a:spcAft>
                <a:spcPts val="400"/>
              </a:spcAft>
              <a:buNone/>
            </a:pPr>
            <a:r>
              <a:rPr lang="en-US" sz="1000" dirty="0">
                <a:solidFill>
                  <a:srgbClr val="0B1F33"/>
                </a:solidFill>
              </a:rPr>
              <a:t>[50] A. Abbasi, M. N. Humeidi, and Q. Wang. Nexa: Enabling secure, scalable, and decentralized management of electronic health records using threshold cryptography and public blockchains. IEEE Access, 14:50791–50810, 2026. doi:10.1109/ACCESS.2026.3677499</a:t>
            </a:r>
            <a:endParaRPr lang="en-US" sz="1000" dirty="0"/>
          </a:p>
          <a:p>
            <a:pPr indent="0" marL="0">
              <a:spcAft>
                <a:spcPts val="400"/>
              </a:spcAft>
              <a:buNone/>
            </a:pPr>
            <a:r>
              <a:rPr lang="en-US" sz="1000" dirty="0">
                <a:solidFill>
                  <a:srgbClr val="0B1F33"/>
                </a:solidFill>
              </a:rPr>
              <a:t>[51] M. Al Amin, A. Altarawneh, and I. Ray. Informed consent as patient driven policy for clinical diagnosis and treatment: A smart contract based approach. In Proceedings of the 20th International Conference on Security and Cryptography (SECRYPT 2023), pages 159–170. SciTePress, 2023. doi:10.5220/0012090600003555</a:t>
            </a:r>
            <a:endParaRPr lang="en-US" sz="1000" dirty="0"/>
          </a:p>
          <a:p>
            <a:pPr indent="0" marL="0">
              <a:spcAft>
                <a:spcPts val="400"/>
              </a:spcAft>
              <a:buNone/>
            </a:pPr>
            <a:r>
              <a:rPr lang="en-US" sz="1000" dirty="0">
                <a:solidFill>
                  <a:srgbClr val="0B1F33"/>
                </a:solidFill>
              </a:rPr>
              <a:t>[52] J. Hagström, M. Hägglund, M. Holmroos, P. Lähteenmäki, and I. Hörhammer. Minors’ and guardian access to and use of a national patient portal: A retrospective comparative case study of Sweden and Finland. International Journal of Medical Informatics, 187:105465, 2024. doi:10.1016/j.ijmedinf.2024.105465</a:t>
            </a:r>
            <a:endParaRPr lang="en-US" sz="1000" dirty="0"/>
          </a:p>
          <a:p>
            <a:pPr indent="0" marL="0">
              <a:spcAft>
                <a:spcPts val="400"/>
              </a:spcAft>
              <a:buNone/>
            </a:pPr>
            <a:r>
              <a:rPr lang="en-US" sz="1000" dirty="0">
                <a:solidFill>
                  <a:srgbClr val="0B1F33"/>
                </a:solidFill>
              </a:rPr>
              <a:t>[53] J. Zhao and Q. Su. A threshold traceable delegation authorization scheme for data sharing in healthcare. Computers &amp; Security, 139:103686, 2024. doi:10.1016/j.cose.2023.103686</a:t>
            </a:r>
            <a:endParaRPr lang="en-US" sz="1000" dirty="0"/>
          </a:p>
          <a:p>
            <a:pPr indent="0" marL="0">
              <a:spcAft>
                <a:spcPts val="400"/>
              </a:spcAft>
              <a:buNone/>
            </a:pPr>
            <a:r>
              <a:rPr lang="en-US" sz="1000" dirty="0">
                <a:solidFill>
                  <a:srgbClr val="0B1F33"/>
                </a:solidFill>
              </a:rPr>
              <a:t>[54] V. Maruthi and K. Singh. Enhancing security and privacy of IoMT data for unconscious patient with blockchain. IEEE Transactions on Network and Service Management, 22(6):5223–5238, 2025. doi:10.1109/TNSM.2025.3602117</a:t>
            </a:r>
            <a:endParaRPr lang="en-US" sz="1000" dirty="0"/>
          </a:p>
          <a:p>
            <a:pPr indent="0" marL="0">
              <a:spcAft>
                <a:spcPts val="400"/>
              </a:spcAft>
              <a:buNone/>
            </a:pPr>
            <a:r>
              <a:rPr lang="en-US" sz="1000" dirty="0">
                <a:solidFill>
                  <a:srgbClr val="0B1F33"/>
                </a:solidFill>
              </a:rPr>
              <a:t>[55] L. Mei, K. Huang, X. Li, H. Wang, and X. Zhang. Efficient dual-revocation CP-ABE for secure and fine-grained data sharing in IoMT. IEEE Internet of Things Journal, 13(14):30933–30940, 2026. doi:10.1109/JIOT.2026.3685269</a:t>
            </a:r>
            <a:endParaRPr lang="en-US" sz="1000" dirty="0"/>
          </a:p>
          <a:p>
            <a:pPr indent="0" marL="0">
              <a:spcAft>
                <a:spcPts val="400"/>
              </a:spcAft>
              <a:buNone/>
            </a:pPr>
            <a:r>
              <a:rPr lang="en-US" sz="1000" dirty="0">
                <a:solidFill>
                  <a:srgbClr val="0B1F33"/>
                </a:solidFill>
              </a:rPr>
              <a:t>[56] S. Phuyal, M. Bhandari, R. Bista, and J. C. Ferreira. A blockchain-based architecture for dynamic and auditable patient consent in secondary use of health data. Blockchain in Healthcare Today, 9(1), 2026. doi:10.30953/bhty.v9.491</a:t>
            </a:r>
            <a:endParaRPr lang="en-US" sz="1000" dirty="0"/>
          </a:p>
          <a:p>
            <a:pPr indent="0" marL="0">
              <a:spcAft>
                <a:spcPts val="400"/>
              </a:spcAft>
              <a:buNone/>
            </a:pPr>
            <a:r>
              <a:rPr lang="en-US" sz="1000" dirty="0">
                <a:solidFill>
                  <a:srgbClr val="0B1F33"/>
                </a:solidFill>
              </a:rPr>
              <a:t>[57] S. Hema, G. B. S. Reddy, and R. Shalini. Patient centric cryptographic protection of cloud electronic health records. In 2026 6th International Conference on Expert Clouds and Applications (ICOECA), pages 293–300, 2026. doi:10.1109/ICOECA68095.2026.11485301</a:t>
            </a:r>
            <a:endParaRPr lang="en-US" sz="1000" dirty="0"/>
          </a:p>
          <a:p>
            <a:pPr indent="0" marL="0">
              <a:spcAft>
                <a:spcPts val="400"/>
              </a:spcAft>
              <a:buNone/>
            </a:pPr>
            <a:r>
              <a:rPr lang="en-US" sz="1000" dirty="0">
                <a:solidFill>
                  <a:srgbClr val="0B1F33"/>
                </a:solidFill>
              </a:rPr>
              <a:t>[58] S. L. SooHoo, M. S. Keller, Y. Chen, D. Hu, S.-C. Huang, T.-T. Kuo, et al. Development of the authentication and authorization processes for the iAgree portal, a platform for patient-controlled data sharing across health systems. JAMIA Open, 9(3):ooag111, 2026. doi:10.1093/jamiaopen/ooag111</a:t>
            </a:r>
            <a:endParaRPr lang="en-US" sz="1000" dirty="0"/>
          </a:p>
          <a:p>
            <a:pPr indent="0" marL="0">
              <a:spcAft>
                <a:spcPts val="400"/>
              </a:spcAft>
              <a:buNone/>
            </a:pPr>
            <a:r>
              <a:rPr lang="en-US" sz="1000" dirty="0">
                <a:solidFill>
                  <a:srgbClr val="0B1F33"/>
                </a:solidFill>
              </a:rPr>
              <a:t>[59] G. Tremper, T. Brenner, M. Ben Amor, T. Kussel, and M. Lablans. Mainzelliste: Ten years of pseudonymization, record linkage, and informed consent management. Patterns, 7(1):101432, 2026. doi:10.1016/j.patter.2025.101432</a:t>
            </a:r>
            <a:endParaRPr lang="en-US" sz="1000" dirty="0"/>
          </a:p>
          <a:p>
            <a:pPr indent="0" marL="0">
              <a:spcAft>
                <a:spcPts val="400"/>
              </a:spcAft>
              <a:buNone/>
            </a:pPr>
            <a:r>
              <a:rPr lang="en-US" sz="1000" dirty="0">
                <a:solidFill>
                  <a:srgbClr val="0B1F33"/>
                </a:solidFill>
              </a:rPr>
              <a:t>[60] C.-H. Tseng, Y.-H. Hsieh, H.-Y. Lin, and S.-M. Yuan. EMR-Chain: Decentralized electronic medical record exchange system. Technologies, 13(10):446, 2025. doi:10.3390/technologies13100446</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(6/6)</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[61] Y. Wu, C. Liu, L. Sebald, P. Nguyen, and Y. Yesha. Apply trust computing and privacy preserving smart contracts to manage, share, and analyze multi-site clinical trial data. In Proceedings of the International Conference on Deep Learning, Big Data and Blockchain (DBB 2022), LNNS, vol. 541, pages 3–14. Springer, 2022. doi:10.1007/978-3-031-16035-6_1</a:t>
            </a:r>
            <a:endParaRPr lang="en-US" sz="1000" dirty="0"/>
          </a:p>
          <a:p>
            <a:pPr indent="0" marL="0">
              <a:spcAft>
                <a:spcPts val="400"/>
              </a:spcAft>
              <a:buNone/>
            </a:pPr>
            <a:r>
              <a:rPr lang="en-US" sz="1000" dirty="0">
                <a:solidFill>
                  <a:srgbClr val="0B1F33"/>
                </a:solidFill>
              </a:rPr>
              <a:t>[62] S. Akter and T. F. Sanam. A blockchain framework for secure healthcare data management using role-based access control and smart contracts. In 2025 International Conference on Electrical, Computer and Communication Engineering (ECCE), pages 1–6, 2025. doi:10.1109/ECCE64574.2025.11013162</a:t>
            </a:r>
            <a:endParaRPr lang="en-US" sz="1000" dirty="0"/>
          </a:p>
          <a:p>
            <a:pPr indent="0" marL="0">
              <a:spcAft>
                <a:spcPts val="400"/>
              </a:spcAft>
              <a:buNone/>
            </a:pPr>
            <a:r>
              <a:rPr lang="en-US" sz="1000" dirty="0">
                <a:solidFill>
                  <a:srgbClr val="0B1F33"/>
                </a:solidFill>
              </a:rPr>
              <a:t>[63] M. S. Prashanth, R. Karnati, M. S. Velpuru, and H. Venkateshwara Reddy. Enhancing health record security and privacy with blockchain-based access management. In Pervasive Knowledge and Collective Intelligence on Web and Social Media (PerSOM 2023), LNICST, vol. 517, pages 182–202. Springer, 2024. doi:10.1007/978-3-031-66044-3_13</a:t>
            </a:r>
            <a:endParaRPr lang="en-US" sz="1000" dirty="0"/>
          </a:p>
          <a:p>
            <a:pPr indent="0" marL="0">
              <a:spcAft>
                <a:spcPts val="400"/>
              </a:spcAft>
              <a:buNone/>
            </a:pPr>
            <a:r>
              <a:rPr lang="en-US" sz="1000" dirty="0">
                <a:solidFill>
                  <a:srgbClr val="0B1F33"/>
                </a:solidFill>
              </a:rPr>
              <a:t>[64] L. Zhang, H. Kan, and H. Huang. Patient-centered cross-enterprise document sharing and dynamic consent framework using consortium blockchain and ciphertext-policy attribute-based encryption. In Proceedings of the 19th ACM International Conference on Computing Frontiers (CF ’22), pages 58–66, 2022. doi:10.1145/3528416.3530228</a:t>
            </a:r>
            <a:endParaRPr lang="en-US" sz="1000" dirty="0"/>
          </a:p>
          <a:p>
            <a:pPr indent="0" marL="0">
              <a:spcAft>
                <a:spcPts val="400"/>
              </a:spcAft>
              <a:buNone/>
            </a:pPr>
            <a:r>
              <a:rPr lang="en-US" sz="1000" dirty="0">
                <a:solidFill>
                  <a:srgbClr val="0B1F33"/>
                </a:solidFill>
              </a:rPr>
              <a:t>[65] A. Teeda and Y. V. Subba Rao. A patient-centric blockchain based electronic health records for data privacy and confidentiality. In International Conference on Smart Computing and Informatics, LNNS, vol. 1684, pages 179–192. Springer, 2026. doi:10.1007/978-3-032-08246-6_15</a:t>
            </a:r>
            <a:endParaRPr lang="en-US" sz="1000" dirty="0"/>
          </a:p>
          <a:p>
            <a:pPr indent="0" marL="0">
              <a:spcAft>
                <a:spcPts val="400"/>
              </a:spcAft>
              <a:buNone/>
            </a:pPr>
            <a:r>
              <a:rPr lang="en-US" sz="1000" dirty="0">
                <a:solidFill>
                  <a:srgbClr val="0B1F33"/>
                </a:solidFill>
              </a:rPr>
              <a:t>[66] R. Bloemen, L. Logvinov, and J. Evans. EIP-712: Typed structured data hashing and signing. Ethereum Improvement Proposals, no. 712, 2017.</a:t>
            </a:r>
            <a:endParaRPr lang="en-US" sz="1000" dirty="0"/>
          </a:p>
          <a:p>
            <a:pPr indent="0" marL="0">
              <a:spcAft>
                <a:spcPts val="400"/>
              </a:spcAft>
              <a:buNone/>
            </a:pPr>
            <a:r>
              <a:rPr lang="en-US" sz="1000" dirty="0">
                <a:solidFill>
                  <a:srgbClr val="0B1F33"/>
                </a:solidFill>
              </a:rPr>
              <a:t>[67] M. Shanmugham and C. Senthilkumar. Blockchain enabled self-sovereign identity and consent framework for secure healthcare data access. In 2026 3rd International Conference on Emerging Trends in Engineering and Medical Sciences (ICETEMS), pages 1–6, 2026. doi:10.1109/ICETEMS66917.2026.11469586</a:t>
            </a:r>
            <a:endParaRPr lang="en-US" sz="1000" dirty="0"/>
          </a:p>
          <a:p>
            <a:pPr indent="0" marL="0">
              <a:spcAft>
                <a:spcPts val="400"/>
              </a:spcAft>
              <a:buNone/>
            </a:pPr>
            <a:r>
              <a:rPr lang="en-US" sz="1000" dirty="0">
                <a:solidFill>
                  <a:srgbClr val="0B1F33"/>
                </a:solidFill>
              </a:rPr>
              <a:t>[68] N. M. Sawant and J. Gomes. A decentralized solution for smarter and safer healthcare systems with FabricMedChain. Iranian Journal of Science and Technology, Transactions of Electrical Engineering, 50:2843–2869, 2026. doi:10.1007/s40998-025-00994-0</a:t>
            </a:r>
            <a:endParaRPr lang="en-US" sz="1000" dirty="0"/>
          </a:p>
          <a:p>
            <a:pPr indent="0" marL="0">
              <a:spcAft>
                <a:spcPts val="400"/>
              </a:spcAft>
              <a:buNone/>
            </a:pPr>
            <a:r>
              <a:rPr lang="en-US" sz="1000" dirty="0">
                <a:solidFill>
                  <a:srgbClr val="0B1F33"/>
                </a:solidFill>
              </a:rPr>
              <a:t>[69] J. Groth. On the size of pairing-based non-interactive arguments. In Advances in Cryptology – EUROCRYPT 2016, LNCS, vol. 9666, pages 305–326. Springer, 2016. doi:10.1007/978-3-662-49896-5_11</a:t>
            </a:r>
            <a:endParaRPr lang="en-US" sz="1000" dirty="0"/>
          </a:p>
          <a:p>
            <a:pPr indent="0" marL="0">
              <a:spcAft>
                <a:spcPts val="400"/>
              </a:spcAft>
              <a:buNone/>
            </a:pPr>
            <a:r>
              <a:rPr lang="en-US" sz="1000" dirty="0">
                <a:solidFill>
                  <a:srgbClr val="0B1F33"/>
                </a:solidFill>
              </a:rPr>
              <a:t>[70] L. Grassi, D. Khovratovich, C. Rechberger, A. Roy, and M. Schofnegger. Poseidon: A new hash function for zero-knowledge proof systems. In Proceedings of the 30th USENIX Security Symposium, pages 519–535, 2021.</a:t>
            </a:r>
            <a:endParaRPr lang="en-US" sz="1000" dirty="0"/>
          </a:p>
          <a:p>
            <a:pPr indent="0" marL="0">
              <a:spcAft>
                <a:spcPts val="400"/>
              </a:spcAft>
              <a:buNone/>
            </a:pPr>
            <a:r>
              <a:rPr lang="en-US" sz="1000" dirty="0">
                <a:solidFill>
                  <a:srgbClr val="0B1F33"/>
                </a:solidFill>
              </a:rPr>
              <a:t>[71] W. Entriken, D. Shirley, J. Evans, and N. Sachs. ERC-721: Non-fungible token standard. Ethereum Improvement Proposals, no. 721, 2018.</a:t>
            </a:r>
            <a:endParaRPr lang="en-US" sz="1000" dirty="0"/>
          </a:p>
          <a:p>
            <a:pPr indent="0" marL="0">
              <a:spcAft>
                <a:spcPts val="400"/>
              </a:spcAft>
              <a:buNone/>
            </a:pPr>
            <a:r>
              <a:rPr lang="en-US" sz="1000" dirty="0">
                <a:solidFill>
                  <a:srgbClr val="0B1F33"/>
                </a:solidFill>
              </a:rPr>
              <a:t>[72] B. Cai. ERC-5484: Consensual soulbound tokens. Ethereum Improvement Proposals, no. 5484, 2022.</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algn="ctr" indent="0" marL="0">
              <a:buNone/>
            </a:pPr>
            <a:r>
              <a:rPr lang="en-US" sz="5400" b="1" dirty="0">
                <a:solidFill>
                  <a:srgbClr val="FFFFFF"/>
                </a:solidFill>
              </a:rPr>
              <a:t>Thank You</a:t>
            </a:r>
            <a:endParaRPr lang="en-US" sz="5400" dirty="0"/>
          </a:p>
        </p:txBody>
      </p:sp>
      <p:sp>
        <p:nvSpPr>
          <p:cNvPr id="3" name="questions"/>
          <p:cNvSpPr txBox="1"/>
          <p:nvPr/>
        </p:nvSpPr>
        <p:spPr>
          <a:xfrm>
            <a:off x="2286000" y="3657600"/>
            <a:ext cx="7589520" cy="548640"/>
          </a:xfrm>
          <a:prstGeom prst="rect">
            <a:avLst/>
          </a:prstGeom>
          <a:noFill/>
          <a:ln/>
        </p:spPr>
        <p:txBody>
          <a:bodyPr wrap="square" rtlCol="0" anchor="ctr"/>
          <a:lstStyle/>
          <a:p>
            <a:pPr algn="ctr" indent="0" marL="0">
              <a:buNone/>
            </a:pPr>
            <a:r>
              <a:rPr lang="en-US" sz="2200" i="1" dirty="0">
                <a:solidFill>
                  <a:srgbClr val="1FB5D6"/>
                </a:solidFill>
              </a:rPr>
              <a:t>Questions and discussion</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backup title"/>
          <p:cNvSpPr txBox="1"/>
          <p:nvPr/>
        </p:nvSpPr>
        <p:spPr>
          <a:xfrm>
            <a:off x="2286000" y="2468880"/>
            <a:ext cx="7589520" cy="1097280"/>
          </a:xfrm>
          <a:prstGeom prst="rect">
            <a:avLst/>
          </a:prstGeom>
          <a:noFill/>
          <a:ln/>
        </p:spPr>
        <p:txBody>
          <a:bodyPr wrap="square" rtlCol="0" anchor="ctr"/>
          <a:lstStyle/>
          <a:p>
            <a:pPr algn="ctr" indent="0" marL="0">
              <a:buNone/>
            </a:pPr>
            <a:r>
              <a:rPr lang="en-US" sz="4800" b="1" dirty="0">
                <a:solidFill>
                  <a:srgbClr val="FFFFFF"/>
                </a:solidFill>
              </a:rPr>
              <a:t>Backup Slides</a:t>
            </a:r>
            <a:endParaRPr lang="en-US" sz="4800" dirty="0"/>
          </a:p>
        </p:txBody>
      </p:sp>
      <p:sp>
        <p:nvSpPr>
          <p:cNvPr id="3" name="backup sub"/>
          <p:cNvSpPr txBox="1"/>
          <p:nvPr/>
        </p:nvSpPr>
        <p:spPr>
          <a:xfrm>
            <a:off x="2286000" y="3566160"/>
            <a:ext cx="7589520" cy="548640"/>
          </a:xfrm>
          <a:prstGeom prst="rect">
            <a:avLst/>
          </a:prstGeom>
          <a:noFill/>
          <a:ln/>
        </p:spPr>
        <p:txBody>
          <a:bodyPr wrap="square" rtlCol="0" anchor="ctr"/>
          <a:lstStyle/>
          <a:p>
            <a:pPr algn="ctr" indent="0" marL="0">
              <a:buNone/>
            </a:pPr>
            <a:r>
              <a:rPr lang="en-US" sz="2200" i="1" dirty="0">
                <a:solidFill>
                  <a:srgbClr val="1FB5D6"/>
                </a:solidFill>
              </a:rPr>
              <a:t>Details for questions</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BACKUP: QUALITY ASSESSMENT</a:t>
            </a:r>
            <a:endParaRPr lang="en-US" sz="30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914400"/>
        </p:xfrm>
        <a:graphic>
          <a:graphicData uri="http://schemas.openxmlformats.org/drawingml/2006/table">
            <a:tbl>
              <a:tblPr/>
              <a:tblGrid>
                <a:gridCol w="1463040"/>
                <a:gridCol w="7223760"/>
                <a:gridCol w="2011680"/>
              </a:tblGrid>
              <a:tr h="713232">
                <a:tc>
                  <a:txBody>
                    <a:bodyPr/>
                    <a:lstStyle/>
                    <a:p>
                      <a:pPr indent="0" marL="0">
                        <a:buNone/>
                      </a:pPr>
                      <a:r>
                        <a:rPr lang="en-US" sz="1500" b="1" dirty="0">
                          <a:solidFill>
                            <a:srgbClr val="FFFFFF"/>
                          </a:solidFill>
                        </a:rPr>
                        <a:t>Item</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Question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Used for</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13232">
                <a:tc>
                  <a:txBody>
                    <a:bodyPr/>
                    <a:lstStyle/>
                    <a:p>
                      <a:pPr indent="0" marL="0">
                        <a:buNone/>
                      </a:pPr>
                      <a:r>
                        <a:rPr lang="en-US" sz="1500" b="1" dirty="0">
                          <a:solidFill>
                            <a:srgbClr val="0B1F33"/>
                          </a:solidFill>
                        </a:rPr>
                        <a:t>QA1</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the study deal with patient consent or consent-governed data access at the healthcare level?</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QA2</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it deal with an authorisation or access-decision mechanism, not storage or recording only?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QA3</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Does it introduce a proper framework, model, protocol or architecture to address its aim?</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QA4</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Is the proposed methodology validated by a proof of concept or an implementation?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Inclusion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QA5 to QA8</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Further quality items scored for every included study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Evidence tier only</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Rule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Yes = 1, Partial = 0.5, No = 0; included when QA1 + QA2 + QA3 + QA4 ≥ 3.0</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BACKUP: KEY REQUIREMENTS</a:t>
            </a:r>
            <a:endParaRPr lang="en-US" sz="3000" dirty="0"/>
          </a:p>
        </p:txBody>
      </p:sp>
      <p:sp>
        <p:nvSpPr>
          <p:cNvPr id="3" name="card Req 1"/>
          <p:cNvSpPr/>
          <p:nvPr/>
        </p:nvSpPr>
        <p:spPr>
          <a:xfrm>
            <a:off x="82296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4" name="card text Req 1"/>
          <p:cNvSpPr txBox="1"/>
          <p:nvPr/>
        </p:nvSpPr>
        <p:spPr>
          <a:xfrm>
            <a:off x="96012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1</a:t>
            </a:r>
            <a:endParaRPr lang="en-US" sz="1900" dirty="0"/>
          </a:p>
          <a:p>
            <a:pPr indent="0" marL="0">
              <a:spcAft>
                <a:spcPts val="400"/>
              </a:spcAft>
              <a:buNone/>
            </a:pPr>
            <a:r>
              <a:rPr lang="en-US" sz="1600" dirty="0">
                <a:solidFill>
                  <a:srgbClr val="0B1F33"/>
                </a:solidFill>
              </a:rPr>
              <a:t>Consent as an evaluable authorisation object</a:t>
            </a:r>
            <a:endParaRPr lang="en-US" sz="1900" dirty="0"/>
          </a:p>
        </p:txBody>
      </p:sp>
      <p:sp>
        <p:nvSpPr>
          <p:cNvPr id="5" name="card Req 2"/>
          <p:cNvSpPr/>
          <p:nvPr/>
        </p:nvSpPr>
        <p:spPr>
          <a:xfrm>
            <a:off x="438912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6" name="card text Req 2"/>
          <p:cNvSpPr txBox="1"/>
          <p:nvPr/>
        </p:nvSpPr>
        <p:spPr>
          <a:xfrm>
            <a:off x="452628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2</a:t>
            </a:r>
            <a:endParaRPr lang="en-US" sz="1900" dirty="0"/>
          </a:p>
          <a:p>
            <a:pPr indent="0" marL="0">
              <a:spcAft>
                <a:spcPts val="400"/>
              </a:spcAft>
              <a:buNone/>
            </a:pPr>
            <a:r>
              <a:rPr lang="en-US" sz="1600" dirty="0">
                <a:solidFill>
                  <a:srgbClr val="0B1F33"/>
                </a:solidFill>
              </a:rPr>
              <a:t>Decentralised verification of identity and authority</a:t>
            </a:r>
            <a:endParaRPr lang="en-US" sz="1900" dirty="0"/>
          </a:p>
        </p:txBody>
      </p:sp>
      <p:sp>
        <p:nvSpPr>
          <p:cNvPr id="7" name="card Req 3"/>
          <p:cNvSpPr/>
          <p:nvPr/>
        </p:nvSpPr>
        <p:spPr>
          <a:xfrm>
            <a:off x="7955280" y="1371600"/>
            <a:ext cx="3291840" cy="2011680"/>
          </a:xfrm>
          <a:prstGeom prst="roundRect">
            <a:avLst>
              <a:gd name="adj" fmla="val 4545"/>
            </a:avLst>
          </a:prstGeom>
          <a:solidFill>
            <a:srgbClr val="FFFFFF">
              <a:alpha val="92000"/>
            </a:srgbClr>
          </a:solidFill>
          <a:ln w="19050">
            <a:solidFill>
              <a:srgbClr val="1FB5D6"/>
            </a:solidFill>
            <a:prstDash val="solid"/>
          </a:ln>
        </p:spPr>
      </p:sp>
      <p:sp>
        <p:nvSpPr>
          <p:cNvPr id="8" name="card text Req 3"/>
          <p:cNvSpPr txBox="1"/>
          <p:nvPr/>
        </p:nvSpPr>
        <p:spPr>
          <a:xfrm>
            <a:off x="8092440" y="146304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3</a:t>
            </a:r>
            <a:endParaRPr lang="en-US" sz="1900" dirty="0"/>
          </a:p>
          <a:p>
            <a:pPr indent="0" marL="0">
              <a:spcAft>
                <a:spcPts val="400"/>
              </a:spcAft>
              <a:buNone/>
            </a:pPr>
            <a:r>
              <a:rPr lang="en-US" sz="1600" dirty="0">
                <a:solidFill>
                  <a:srgbClr val="0B1F33"/>
                </a:solidFill>
              </a:rPr>
              <a:t>Multi-party authorisation through a verifiable threshold</a:t>
            </a:r>
            <a:endParaRPr lang="en-US" sz="1900" dirty="0"/>
          </a:p>
        </p:txBody>
      </p:sp>
      <p:sp>
        <p:nvSpPr>
          <p:cNvPr id="9" name="card Req 4"/>
          <p:cNvSpPr/>
          <p:nvPr/>
        </p:nvSpPr>
        <p:spPr>
          <a:xfrm>
            <a:off x="82296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0" name="card text Req 4"/>
          <p:cNvSpPr txBox="1"/>
          <p:nvPr/>
        </p:nvSpPr>
        <p:spPr>
          <a:xfrm>
            <a:off x="96012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4</a:t>
            </a:r>
            <a:endParaRPr lang="en-US" sz="1900" dirty="0"/>
          </a:p>
          <a:p>
            <a:pPr indent="0" marL="0">
              <a:spcAft>
                <a:spcPts val="400"/>
              </a:spcAft>
              <a:buNone/>
            </a:pPr>
            <a:r>
              <a:rPr lang="en-US" sz="1600" dirty="0">
                <a:solidFill>
                  <a:srgbClr val="0B1F33"/>
                </a:solidFill>
              </a:rPr>
              <a:t>Policy- and context-aware enforcement at access time</a:t>
            </a:r>
            <a:endParaRPr lang="en-US" sz="1900" dirty="0"/>
          </a:p>
        </p:txBody>
      </p:sp>
      <p:sp>
        <p:nvSpPr>
          <p:cNvPr id="11" name="card Req 5"/>
          <p:cNvSpPr/>
          <p:nvPr/>
        </p:nvSpPr>
        <p:spPr>
          <a:xfrm>
            <a:off x="438912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2" name="card text Req 5"/>
          <p:cNvSpPr txBox="1"/>
          <p:nvPr/>
        </p:nvSpPr>
        <p:spPr>
          <a:xfrm>
            <a:off x="452628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5</a:t>
            </a:r>
            <a:endParaRPr lang="en-US" sz="1900" dirty="0"/>
          </a:p>
          <a:p>
            <a:pPr indent="0" marL="0">
              <a:spcAft>
                <a:spcPts val="400"/>
              </a:spcAft>
              <a:buNone/>
            </a:pPr>
            <a:r>
              <a:rPr lang="en-US" sz="1600" dirty="0">
                <a:solidFill>
                  <a:srgbClr val="0B1F33"/>
                </a:solidFill>
              </a:rPr>
              <a:t>Temporal validity and lifecycle control of consent</a:t>
            </a:r>
            <a:endParaRPr lang="en-US" sz="1900" dirty="0"/>
          </a:p>
        </p:txBody>
      </p:sp>
      <p:sp>
        <p:nvSpPr>
          <p:cNvPr id="13" name="card Req 6"/>
          <p:cNvSpPr/>
          <p:nvPr/>
        </p:nvSpPr>
        <p:spPr>
          <a:xfrm>
            <a:off x="7955280" y="3749040"/>
            <a:ext cx="3291840" cy="2011680"/>
          </a:xfrm>
          <a:prstGeom prst="roundRect">
            <a:avLst>
              <a:gd name="adj" fmla="val 4545"/>
            </a:avLst>
          </a:prstGeom>
          <a:solidFill>
            <a:srgbClr val="FFFFFF">
              <a:alpha val="92000"/>
            </a:srgbClr>
          </a:solidFill>
          <a:ln w="19050">
            <a:solidFill>
              <a:srgbClr val="1FB5D6"/>
            </a:solidFill>
            <a:prstDash val="solid"/>
          </a:ln>
        </p:spPr>
      </p:sp>
      <p:sp>
        <p:nvSpPr>
          <p:cNvPr id="14" name="card text Req 6"/>
          <p:cNvSpPr txBox="1"/>
          <p:nvPr/>
        </p:nvSpPr>
        <p:spPr>
          <a:xfrm>
            <a:off x="8092440" y="3840480"/>
            <a:ext cx="3017520" cy="1828800"/>
          </a:xfrm>
          <a:prstGeom prst="rect">
            <a:avLst/>
          </a:prstGeom>
          <a:noFill/>
          <a:ln/>
        </p:spPr>
        <p:txBody>
          <a:bodyPr wrap="square" rtlCol="0" anchor="t"/>
          <a:lstStyle/>
          <a:p>
            <a:pPr indent="0" marL="0">
              <a:spcAft>
                <a:spcPts val="400"/>
              </a:spcAft>
              <a:buNone/>
            </a:pPr>
            <a:r>
              <a:rPr lang="en-US" sz="1900" b="1" dirty="0">
                <a:solidFill>
                  <a:srgbClr val="0B2A4A"/>
                </a:solidFill>
              </a:rPr>
              <a:t>Req 6</a:t>
            </a:r>
            <a:endParaRPr lang="en-US" sz="1900" dirty="0"/>
          </a:p>
          <a:p>
            <a:pPr indent="0" marL="0">
              <a:spcAft>
                <a:spcPts val="400"/>
              </a:spcAft>
              <a:buNone/>
            </a:pPr>
            <a:r>
              <a:rPr lang="en-US" sz="1600" dirty="0">
                <a:solidFill>
                  <a:srgbClr val="0B1F33"/>
                </a:solidFill>
              </a:rPr>
              <a:t>Verifiable auditability and security assurance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BACKUP: THE 25 PRIMARY STUDIES</a:t>
            </a:r>
            <a:endParaRPr lang="en-US" sz="300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548640"/>
                <a:gridCol w="1920240"/>
                <a:gridCol w="640080"/>
                <a:gridCol w="5486400"/>
                <a:gridCol w="2651760"/>
              </a:tblGrid>
              <a:tr h="0">
                <a:tc>
                  <a:txBody>
                    <a:bodyPr/>
                    <a:lstStyle/>
                    <a:p>
                      <a:pPr indent="0" marL="0">
                        <a:buNone/>
                      </a:pPr>
                      <a:r>
                        <a:rPr lang="en-US" sz="1050" b="1" dirty="0">
                          <a:solidFill>
                            <a:srgbClr val="FFFFFF"/>
                          </a:solidFill>
                        </a:rPr>
                        <a:t>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Author(s)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Year</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Title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Category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0">
                <a:tc>
                  <a:txBody>
                    <a:bodyPr/>
                    <a:lstStyle/>
                    <a:p>
                      <a:pPr indent="0" marL="0">
                        <a:buNone/>
                      </a:pPr>
                      <a:r>
                        <a:rPr lang="en-US" sz="1050" b="1" dirty="0">
                          <a:solidFill>
                            <a:srgbClr val="0B1F33"/>
                          </a:solidFill>
                        </a:rPr>
                        <a:t>S1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Abbasi et al. [50]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Nexa: Enabling Secure, Scalable, and Decentralized Management of Electronic Health Records Using Threshold Cryptography and Public Blockchains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Albalwy et al. [48]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Blockchain-based dynamic consent architecture to support clinical genomic data sharing (ConsentChain): Proof-of-concept 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Al Amin et al. [51]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Informed Consent as Patient Driven Policy for Clinical Diagnosis and Treatment: A Smart Contract Based Approach</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Ekholm et al. [27]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Implementing electronic informed consent in rare disease genomics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Eneh et al. [28]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Demo: EdgeConsent: On-Chain Attribute-Based Access Control for Data Consent Management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Hagström et al. [52]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Minors’ and guardian access to and use of a national patient portal: A retrospective comparative case study of Sweden and Finland</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Jaiman and Urovi [47]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Consent Model for Blockchain-Based Health Data Sharing Platforms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Zhao and Su [53]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threshold traceable delegation authorization scheme for data sharing in healthcare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Li et al. [49]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Privacy-Preserving Fine-Grained EMR Access Control for IoMT: A Hybrid RBAC-Smart Contract Scheme With Attribute-Based Authorization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Madine et al. [23]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Fully Decentralized Multi-Party Consent Management for Secure Sharing of Patient Health Records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Maruthi and Singh [54]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Enhancing Security and Privacy of IoMT Data for Unconscious Patient With Blockchain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Mei et al. [55]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Efficient Dual-Revocation CP-ABE for Secure and Fine-Grained Data Sharing in IoMT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Panagoulias et al. [29]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Blockchain-Enabled Trust and Compliance for Clinical AI: Decentralized Governance Without Decentralized Data Storage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BACKUP: THE 25 PRIMARY STUDIES (CONT.)</a:t>
            </a:r>
            <a:endParaRPr lang="en-US" sz="3000" dirty="0"/>
          </a:p>
        </p:txBody>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548640"/>
                <a:gridCol w="1920240"/>
                <a:gridCol w="640080"/>
                <a:gridCol w="5486400"/>
                <a:gridCol w="2651760"/>
              </a:tblGrid>
              <a:tr h="0">
                <a:tc>
                  <a:txBody>
                    <a:bodyPr/>
                    <a:lstStyle/>
                    <a:p>
                      <a:pPr indent="0" marL="0">
                        <a:buNone/>
                      </a:pPr>
                      <a:r>
                        <a:rPr lang="en-US" sz="1050" b="1" dirty="0">
                          <a:solidFill>
                            <a:srgbClr val="FFFFFF"/>
                          </a:solidFill>
                        </a:rPr>
                        <a:t>Study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Author(s)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Year</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Title</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050" b="1" dirty="0">
                          <a:solidFill>
                            <a:srgbClr val="FFFFFF"/>
                          </a:solidFill>
                        </a:rPr>
                        <a:t>Category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0">
                <a:tc>
                  <a:txBody>
                    <a:bodyPr/>
                    <a:lstStyle/>
                    <a:p>
                      <a:pPr indent="0" marL="0">
                        <a:buNone/>
                      </a:pPr>
                      <a:r>
                        <a:rPr lang="en-US" sz="1050" b="1" dirty="0">
                          <a:solidFill>
                            <a:srgbClr val="0B1F33"/>
                          </a:solidFill>
                        </a:rPr>
                        <a:t>S14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Phuyal et al. [21]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Enabling Cross-Institution Health Data Sharing in Norway: EUDI Wallets, On-Chain Consent, and openEHR↔FHIR Translation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Phuyal et al. [56]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 Blockchain-Based Architecture for Dynamic and Auditable Patient Consent in Secondary Use of Health Data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Punia et al. [25]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An access control system for cloud-based healthcare systems driven by blockchain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Román-Martínez et al. [30]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Blockchain-Based Service-Oriented Architecture for Consent Management, Access Control, and Auditing</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Hema et al. [57]</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Patient Centric Cryptographic Protection of Cloud Electronic Health Records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Temporal and lifecycle (Req 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S19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SooHoo et al. [58]</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Development of the authentication and authorization processes for the iAgree portal, a platform for patient-controlled data sharing across health systems</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Tan et al. [26]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Secure and privacy-preserving sharing of personal health records with multi-party pre-authorization verification</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Tith et al. [24]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Patient consent management by a purpose-based consent model for electronic health record based on blockchain technology</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Policy and context (Req 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Tremper et al. [59]</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Mainzelliste: Ten years of pseudonymization, record linkage, and informed consent management</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Consent representation (Req 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Tseng et al. [60]</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EMR-Chain: Decentralized Electronic Medical Record Exchange System</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Identity and authority (Req 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S24</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Wu et al. [61]</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Apply Trust Computing and Privacy Preserving Smart Contracts to Manage, Share, and Analyze Multi-site Clinical Trial Data</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Multi-party authorisation (Req 3)</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3"/>
                          </a:solidFill>
                        </a:rPr>
                        <a:t>S25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Wu and Zhang [22]</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2025</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HealthDID: An efficient and authorizable multi-party privacy-preserving EMR sharing system based on DID</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050" dirty="0">
                          <a:solidFill>
                            <a:srgbClr val="0B1F33"/>
                          </a:solidFill>
                        </a:rPr>
                        <a:t>Security assurance (Req 6)</a:t>
                      </a:r>
                      <a:endParaRPr lang="en-US" sz="105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BACKUP: SYNTHESIS OF THE REVIEW</a:t>
            </a:r>
            <a:endParaRPr lang="en-US" sz="3000" dirty="0"/>
          </a:p>
        </p:txBody>
      </p:sp>
      <p:sp>
        <p:nvSpPr>
          <p:cNvPr id="3" name="F5 panel"/>
          <p:cNvSpPr/>
          <p:nvPr/>
        </p:nvSpPr>
        <p:spPr>
          <a:xfrm>
            <a:off x="822960" y="1143000"/>
            <a:ext cx="10515600" cy="5349240"/>
          </a:xfrm>
          <a:prstGeom prst="roundRect">
            <a:avLst>
              <a:gd name="adj" fmla="val 2051"/>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4" name="F5" descr="/tmp/deck/img/F5.png">    </p:cNvPr>
          <p:cNvPicPr>
            <a:picLocks noChangeAspect="1"/>
          </p:cNvPicPr>
          <p:nvPr/>
        </p:nvPicPr>
        <p:blipFill>
          <a:blip r:embed="rId1"/>
          <a:stretch>
            <a:fillRect/>
          </a:stretch>
        </p:blipFill>
        <p:spPr>
          <a:xfrm>
            <a:off x="969007" y="1252728"/>
            <a:ext cx="10223506" cy="512978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BACKUP: ADVERSARIAL TESTS</a:t>
            </a:r>
            <a:endParaRPr lang="en-US" sz="3000" dirty="0"/>
          </a:p>
        </p:txBody>
      </p:sp>
      <p:sp>
        <p:nvSpPr>
          <p:cNvPr id="3" name="F43 panel"/>
          <p:cNvSpPr/>
          <p:nvPr/>
        </p:nvSpPr>
        <p:spPr>
          <a:xfrm>
            <a:off x="640080" y="1097280"/>
            <a:ext cx="658368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4" name="F43" descr="/tmp/deck/img/F43.png">    </p:cNvPr>
          <p:cNvPicPr>
            <a:picLocks noChangeAspect="1"/>
          </p:cNvPicPr>
          <p:nvPr/>
        </p:nvPicPr>
        <p:blipFill>
          <a:blip r:embed="rId1"/>
          <a:stretch>
            <a:fillRect/>
          </a:stretch>
        </p:blipFill>
        <p:spPr>
          <a:xfrm>
            <a:off x="749808" y="1488727"/>
            <a:ext cx="6364224" cy="4657786"/>
          </a:xfrm>
          <a:prstGeom prst="rect">
            <a:avLst/>
          </a:prstGeom>
        </p:spPr>
      </p:pic>
      <p:sp>
        <p:nvSpPr>
          <p:cNvPr id="5" name="stat 0"/>
          <p:cNvSpPr txBox="1"/>
          <p:nvPr/>
        </p:nvSpPr>
        <p:spPr>
          <a:xfrm>
            <a:off x="7589520" y="123444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12</a:t>
            </a:r>
            <a:endParaRPr lang="en-US" sz="4800" dirty="0"/>
          </a:p>
        </p:txBody>
      </p:sp>
      <p:sp>
        <p:nvSpPr>
          <p:cNvPr id="6" name="stat label 0"/>
          <p:cNvSpPr txBox="1"/>
          <p:nvPr/>
        </p:nvSpPr>
        <p:spPr>
          <a:xfrm>
            <a:off x="7589520" y="2103120"/>
            <a:ext cx="3931920" cy="457200"/>
          </a:xfrm>
          <a:prstGeom prst="rect">
            <a:avLst/>
          </a:prstGeom>
          <a:noFill/>
          <a:ln/>
        </p:spPr>
        <p:txBody>
          <a:bodyPr wrap="square" lIns="0" tIns="0" rIns="0" bIns="0" rtlCol="0" anchor="ctr"/>
          <a:lstStyle/>
          <a:p>
            <a:pPr indent="0" marL="0">
              <a:buNone/>
            </a:pPr>
            <a:r>
              <a:rPr lang="en-US" sz="1800" dirty="0">
                <a:solidFill>
                  <a:srgbClr val="FFFFFF"/>
                </a:solidFill>
              </a:rPr>
              <a:t>attack scenarios, A1 to A12</a:t>
            </a:r>
            <a:endParaRPr lang="en-US" sz="1800" dirty="0"/>
          </a:p>
        </p:txBody>
      </p:sp>
      <p:sp>
        <p:nvSpPr>
          <p:cNvPr id="7" name="stat 1"/>
          <p:cNvSpPr txBox="1"/>
          <p:nvPr/>
        </p:nvSpPr>
        <p:spPr>
          <a:xfrm>
            <a:off x="7589520" y="301752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11 / 12</a:t>
            </a:r>
            <a:endParaRPr lang="en-US" sz="4800" dirty="0"/>
          </a:p>
        </p:txBody>
      </p:sp>
      <p:sp>
        <p:nvSpPr>
          <p:cNvPr id="8" name="stat label 1"/>
          <p:cNvSpPr txBox="1"/>
          <p:nvPr/>
        </p:nvSpPr>
        <p:spPr>
          <a:xfrm>
            <a:off x="7589520" y="3886200"/>
            <a:ext cx="3931920" cy="457200"/>
          </a:xfrm>
          <a:prstGeom prst="rect">
            <a:avLst/>
          </a:prstGeom>
          <a:noFill/>
          <a:ln/>
        </p:spPr>
        <p:txBody>
          <a:bodyPr wrap="square" lIns="0" tIns="0" rIns="0" bIns="0" rtlCol="0" anchor="ctr"/>
          <a:lstStyle/>
          <a:p>
            <a:pPr indent="0" marL="0">
              <a:buNone/>
            </a:pPr>
            <a:r>
              <a:rPr lang="en-US" sz="1800" dirty="0">
                <a:solidFill>
                  <a:srgbClr val="FFFFFF"/>
                </a:solidFill>
              </a:rPr>
              <a:t>refused after the hardening</a:t>
            </a:r>
            <a:endParaRPr lang="en-US" sz="1800" dirty="0"/>
          </a:p>
        </p:txBody>
      </p:sp>
      <p:sp>
        <p:nvSpPr>
          <p:cNvPr id="9" name="stat 2"/>
          <p:cNvSpPr txBox="1"/>
          <p:nvPr/>
        </p:nvSpPr>
        <p:spPr>
          <a:xfrm>
            <a:off x="7589520" y="4800600"/>
            <a:ext cx="3931920" cy="914400"/>
          </a:xfrm>
          <a:prstGeom prst="rect">
            <a:avLst/>
          </a:prstGeom>
          <a:noFill/>
          <a:ln/>
        </p:spPr>
        <p:txBody>
          <a:bodyPr wrap="square" lIns="0" tIns="0" rIns="0" bIns="0" rtlCol="0" anchor="ctr"/>
          <a:lstStyle/>
          <a:p>
            <a:pPr algn="l" indent="0" marL="0">
              <a:buNone/>
            </a:pPr>
            <a:r>
              <a:rPr lang="en-US" sz="4800" b="1" dirty="0">
                <a:solidFill>
                  <a:srgbClr val="1FB5D6"/>
                </a:solidFill>
              </a:rPr>
              <a:t>36</a:t>
            </a:r>
            <a:endParaRPr lang="en-US" sz="4800" dirty="0"/>
          </a:p>
        </p:txBody>
      </p:sp>
      <p:sp>
        <p:nvSpPr>
          <p:cNvPr id="10" name="stat label 2"/>
          <p:cNvSpPr txBox="1"/>
          <p:nvPr/>
        </p:nvSpPr>
        <p:spPr>
          <a:xfrm>
            <a:off x="7589520" y="5669280"/>
            <a:ext cx="3931920" cy="457200"/>
          </a:xfrm>
          <a:prstGeom prst="rect">
            <a:avLst/>
          </a:prstGeom>
          <a:noFill/>
          <a:ln/>
        </p:spPr>
        <p:txBody>
          <a:bodyPr wrap="square" lIns="0" tIns="0" rIns="0" bIns="0" rtlCol="0" anchor="ctr"/>
          <a:lstStyle/>
          <a:p>
            <a:pPr indent="0" marL="0">
              <a:buNone/>
            </a:pPr>
            <a:r>
              <a:rPr lang="en-US" sz="1800" dirty="0">
                <a:solidFill>
                  <a:srgbClr val="FFFFFF"/>
                </a:solidFill>
              </a:rPr>
              <a:t>automated tests pass</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BACKUP: PROCESSING TIME</a:t>
            </a:r>
            <a:endParaRPr lang="en-US" sz="30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731520" y="1280160"/>
          <a:ext cx="5852160" cy="914400"/>
        </p:xfrm>
        <a:graphic>
          <a:graphicData uri="http://schemas.openxmlformats.org/drawingml/2006/table">
            <a:tbl>
              <a:tblPr/>
              <a:tblGrid>
                <a:gridCol w="1965960"/>
                <a:gridCol w="1005840"/>
                <a:gridCol w="1005840"/>
                <a:gridCol w="1188720"/>
                <a:gridCol w="685800"/>
              </a:tblGrid>
              <a:tr h="548640">
                <a:tc>
                  <a:txBody>
                    <a:bodyPr/>
                    <a:lstStyle/>
                    <a:p>
                      <a:pPr indent="0" marL="0">
                        <a:buNone/>
                      </a:pPr>
                      <a:r>
                        <a:rPr lang="en-US" sz="1200" b="1" dirty="0">
                          <a:solidFill>
                            <a:srgbClr val="FFFFFF"/>
                          </a:solidFill>
                        </a:rPr>
                        <a:t>Component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Median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Minimum</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Maximum</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548640">
                <a:tc>
                  <a:txBody>
                    <a:bodyPr/>
                    <a:lstStyle/>
                    <a:p>
                      <a:pPr indent="0" marL="0">
                        <a:buNone/>
                      </a:pPr>
                      <a:r>
                        <a:rPr lang="en-US" sz="1200" b="1" dirty="0">
                          <a:solidFill>
                            <a:srgbClr val="0B1F33"/>
                          </a:solidFill>
                        </a:rPr>
                        <a:t>Decision rule, five predicates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2.37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2.32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31.59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1,000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EIP-712 signature recovery, one signature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10.93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10.55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15.64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Groth16 proof generation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1,401.1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1,342.8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5,349.6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Groth16 proof verification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465.3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441.0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525.1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On-chain checkValid read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573.5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568.2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715.5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On-chain checkValidAt read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574.6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568.2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745.6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Anchoring confirmation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11.5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4.9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22.1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4" name="F42 panel"/>
          <p:cNvSpPr/>
          <p:nvPr/>
        </p:nvSpPr>
        <p:spPr>
          <a:xfrm>
            <a:off x="6812280" y="1280160"/>
            <a:ext cx="4709160" cy="3931920"/>
          </a:xfrm>
          <a:prstGeom prst="roundRect">
            <a:avLst>
              <a:gd name="adj" fmla="val 2791"/>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42" descr="/tmp/deck/img/F42.png">    </p:cNvPr>
          <p:cNvPicPr>
            <a:picLocks noChangeAspect="1"/>
          </p:cNvPicPr>
          <p:nvPr/>
        </p:nvPicPr>
        <p:blipFill>
          <a:blip r:embed="rId1"/>
          <a:stretch>
            <a:fillRect/>
          </a:stretch>
        </p:blipFill>
        <p:spPr>
          <a:xfrm>
            <a:off x="6922008" y="2117143"/>
            <a:ext cx="4489704" cy="2257954"/>
          </a:xfrm>
          <a:prstGeom prst="rect">
            <a:avLst/>
          </a:prstGeom>
        </p:spPr>
      </p:pic>
      <p:sp>
        <p:nvSpPr>
          <p:cNvPr id="6" name="caption"/>
          <p:cNvSpPr txBox="1"/>
          <p:nvPr/>
        </p:nvSpPr>
        <p:spPr>
          <a:xfrm>
            <a:off x="6812280" y="5349240"/>
            <a:ext cx="4709160" cy="320040"/>
          </a:xfrm>
          <a:prstGeom prst="rect">
            <a:avLst/>
          </a:prstGeom>
          <a:noFill/>
          <a:ln/>
        </p:spPr>
        <p:txBody>
          <a:bodyPr wrap="square" rtlCol="0" anchor="ctr"/>
          <a:lstStyle/>
          <a:p>
            <a:pPr algn="ctr" indent="0" marL="0">
              <a:buNone/>
            </a:pPr>
            <a:r>
              <a:rPr lang="en-US" sz="1200" i="1" dirty="0">
                <a:solidFill>
                  <a:srgbClr val="FFFFFF"/>
                </a:solidFill>
              </a:rPr>
              <a:t>Measured on 1 October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BACKUP: RESEARCH PLAN TABLE</a:t>
            </a:r>
            <a:endParaRPr lang="en-US" sz="3000" dirty="0"/>
          </a:p>
        </p:txBody>
      </p:sp>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731520" y="1097280"/>
          <a:ext cx="10698480" cy="914400"/>
        </p:xfrm>
        <a:graphic>
          <a:graphicData uri="http://schemas.openxmlformats.org/drawingml/2006/table">
            <a:tbl>
              <a:tblPr/>
              <a:tblGrid>
                <a:gridCol w="1737360"/>
                <a:gridCol w="6035040"/>
                <a:gridCol w="1463040"/>
                <a:gridCol w="1463040"/>
              </a:tblGrid>
              <a:tr h="457200">
                <a:tc>
                  <a:txBody>
                    <a:bodyPr/>
                    <a:lstStyle/>
                    <a:p>
                      <a:pPr indent="0" marL="0">
                        <a:buNone/>
                      </a:pPr>
                      <a:r>
                        <a:rPr lang="en-US" sz="1300" b="1" dirty="0">
                          <a:solidFill>
                            <a:srgbClr val="FFFFFF"/>
                          </a:solidFill>
                        </a:rPr>
                        <a:t>Task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Target date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457200">
                <a:tc>
                  <a:txBody>
                    <a:bodyPr/>
                    <a:lstStyle/>
                    <a:p>
                      <a:pPr indent="0" marL="0">
                        <a:buNone/>
                      </a:pPr>
                      <a:r>
                        <a:rPr lang="en-US" sz="1300" b="1" dirty="0">
                          <a:solidFill>
                            <a:srgbClr val="0B1F33"/>
                          </a:solidFill>
                        </a:rPr>
                        <a:t>Chapters 1–4</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Introduction, SLR, Research Questions and Objectives, Research Methodology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Research Architecture (MVC) and framework design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May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Proposed solution for RQ1 to RQ4 and the HALAH prototype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Jul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1</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Conference paper submission, BWCCA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Sep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SLR paper journal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prototype evaluation and integrated results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Nov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3</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Journal paper on formal security assurance, lifecycle trust and the evaluation of HALAH</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8</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Conclusion and future work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Final assessment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Final candidature assessment defence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Jan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Thesis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thesis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Mar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Authorization Framework for Multi-Party Patient Consent in Healthcare Data Sharing</dc:title>
  <dc:subject>Candidature Reassessment</dc:subject>
  <dc:creator>Yasir Dhaifallah O Alyoubi</dc:creator>
  <cp:lastModifiedBy>Yasir Dhaifallah O Alyoubi</cp:lastModifiedBy>
  <cp:revision>1</cp:revision>
  <dcterms:created xsi:type="dcterms:W3CDTF">2026-10-05T10:55:24Z</dcterms:created>
  <dcterms:modified xsi:type="dcterms:W3CDTF">2026-10-05T10:55:24Z</dcterms:modified>
</cp:coreProperties>
</file>
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27b260e-575a-3d73-43ca-69575f35d5ca}">
          <p14:sldIdLst>
            <p14:sldId id="256"/>
          </p14:sldIdLst>
        </p14:section>
        <p14:section name="Outline" id="{9b8d0199-687a-8c00-7917-bc726c789229}">
          <p14:sldIdLst>
            <p14:sldId id="257"/>
          </p14:sldIdLst>
        </p14:section>
        <p14:section name="Introduction" id="{ac3b2885-b348-66f1-dc04-7e4169457bd4}">
          <p14:sldIdLst>
            <p14:sldId id="258"/>
            <p14:sldId id="259"/>
          </p14:sldIdLst>
        </p14:section>
        <p14:section name="Systematic Literature Review" id="{7106540a-859c-6f52-57df-aaff4d857a13}">
          <p14:sldIdLst>
            <p14:sldId id="260"/>
            <p14:sldId id="261"/>
            <p14:sldId id="262"/>
            <p14:sldId id="263"/>
            <p14:sldId id="264"/>
            <p14:sldId id="265"/>
            <p14:sldId id="266"/>
            <p14:sldId id="267"/>
          </p14:sldIdLst>
        </p14:section>
        <p14:section name="Research Gaps" id="{aa522df0-d685-e05e-a8d1-a7f884e647ed}">
          <p14:sldIdLst>
            <p14:sldId id="268"/>
          </p14:sldIdLst>
        </p14:section>
        <p14:section name="Research Questions" id="{30af8466-ab7d-bddc-6fec-1b8889046f1f}">
          <p14:sldIdLst>
            <p14:sldId id="269"/>
            <p14:sldId id="270"/>
          </p14:sldIdLst>
        </p14:section>
        <p14:section name="Research Objectives" id="{20d4123f-1dc2-df01-0a33-ff3be62758e9}">
          <p14:sldIdLst>
            <p14:sldId id="271"/>
          </p14:sldIdLst>
        </p14:section>
        <p14:section name="Research Methodology" id="{acd87285-c4ea-81f3-04b8-fe90c633e89d}">
          <p14:sldIdLst>
            <p14:sldId id="272"/>
          </p14:sldIdLst>
        </p14:section>
        <p14:section name="Research Architecture" id="{de631d30-d855-58b3-1242-ad1e50192309}">
          <p14:sldIdLst>
            <p14:sldId id="273"/>
          </p14:sldIdLst>
        </p14:section>
        <p14:section name="The Proposed Solutions" id="{9c91b1c8-6af6-227c-b97c-2c3302208cd0}">
          <p14:sldIdLst>
            <p14:sldId id="274"/>
            <p14:sldId id="275"/>
            <p14:sldId id="276"/>
            <p14:sldId id="277"/>
            <p14:sldId id="278"/>
            <p14:sldId id="279"/>
            <p14:sldId id="280"/>
          </p14:sldIdLst>
        </p14:section>
        <p14:section name="Implementation and Evaluation" id="{ca7e7eda-0f21-4c55-6204-dddf88bbb125}">
          <p14:sldIdLst>
            <p14:sldId id="281"/>
            <p14:sldId id="282"/>
            <p14:sldId id="283"/>
            <p14:sldId id="284"/>
            <p14:sldId id="285"/>
            <p14:sldId id="286"/>
            <p14:sldId id="287"/>
          </p14:sldIdLst>
        </p14:section>
        <p14:section name="Significance of the Research" id="{10f212a7-4c3f-9ea6-03e0-c293efa79f43}">
          <p14:sldIdLst>
            <p14:sldId id="288"/>
            <p14:sldId id="289"/>
            <p14:sldId id="290"/>
            <p14:sldId id="291"/>
          </p14:sldIdLst>
        </p14:section>
        <p14:section name="Research Plan" id="{10af3489-c134-3e1d-bfc3-450f0336a9cd}">
          <p14:sldIdLst>
            <p14:sldId id="292"/>
            <p14:sldId id="293"/>
          </p14:sldIdLst>
        </p14:section>
        <p14:section name="References" id="{3cac8e70-38a9-6e70-564e-62328a628610}">
          <p14:sldIdLst>
            <p14:sldId id="294"/>
            <p14:sldId id="295"/>
            <p14:sldId id="296"/>
            <p14:sldId id="297"/>
            <p14:sldId id="298"/>
            <p14:sldId id="299"/>
            <p14:sldId id="300"/>
          </p14:sldIdLst>
        </p14:section>
        <p14:section name="Thank You" id="{542eee7d-4514-7f07-280d-d8a40e57a582}">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a:t>
            </a:r>
            <a:r>
              <a:rPr lang="en-US" dirty="0">
                <a:highlight>
                  <a:srgbClr val="FFFF00"/>
                </a:highlight>
              </a:rPr>
              <a:t>purpose and data scope</a:t>
            </a:r>
            <a:r>
              <a:rPr lang="en-US" dirty="0"/>
              <a:t>. Time and lifecycle asks if the consent is still valid, and not expired or revoked.
The dark box brings it together. Consent becomes an object the system can evaluate: C equals I, A, P, T, L, E. That is identity, authority, policy, time, </a:t>
            </a:r>
            <a:r>
              <a:rPr lang="en-US" dirty="0">
                <a:highlight>
                  <a:srgbClr val="FFFF00"/>
                </a:highlight>
              </a:rPr>
              <a:t>lifecycle</a:t>
            </a:r>
            <a:r>
              <a:rPr lang="en-US" dirty="0"/>
              <a:t> and evidence. Authority holds </a:t>
            </a:r>
            <a:r>
              <a:rPr lang="en-US" dirty="0">
                <a:highlight>
                  <a:srgbClr val="FFFF00"/>
                </a:highlight>
              </a:rPr>
              <a:t>the approving set G, which may include guardians, healthcare professionals or institutional representatives,</a:t>
            </a:r>
            <a:r>
              <a:rPr lang="en-US" dirty="0"/>
              <a:t> and the threshold N, which is the number of approvals needed. </a:t>
            </a:r>
            <a:r>
              <a:rPr lang="en-US" dirty="0">
                <a:highlight>
                  <a:srgbClr val="FFFF00"/>
                </a:highlight>
              </a:rPr>
              <a:t>L means lifecycle: the state of the consent, such as pending, active, suspended, revoked or expired.</a:t>
            </a:r>
            <a:r>
              <a:rPr lang="en-US" dirty="0"/>
              <a:t> </a:t>
            </a:r>
            <a:r>
              <a:rPr lang="en-US" dirty="0">
                <a:highlight>
                  <a:srgbClr val="FFFF00"/>
                </a:highlight>
              </a:rPr>
              <a:t>Whether the consent is active or revoked is part of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a:t>
            </a:r>
            <a:r>
              <a:rPr lang="en-US" dirty="0">
                <a:highlight>
                  <a:srgbClr val="FFFF00"/>
                </a:highlight>
              </a:rPr>
              <a:t>purpose and data scope</a:t>
            </a:r>
            <a:r>
              <a:rPr lang="en-US" dirty="0"/>
              <a:t>.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a:t>
            </a:r>
            <a:r>
              <a:rPr lang="en-US" dirty="0">
                <a:highlight>
                  <a:srgbClr val="FFFF00"/>
                </a:highlight>
              </a:rPr>
              <a:t>purpose and data scope</a:t>
            </a:r>
            <a:r>
              <a:rPr lang="en-US" dirty="0"/>
              <a:t> are rarely checked in the same decision as identity, authority and approval. </a:t>
            </a:r>
            <a:r>
              <a:rPr lang="en-US" dirty="0">
                <a:highlight>
                  <a:srgbClr val="FFFF00"/>
                </a:highlight>
              </a:rPr>
              <a:t>Jurisdiction, the legal region where the consent may be used, is left for the next stage.</a:t>
            </a:r>
            <a:r>
              <a:rPr lang="en-US" dirty="0"/>
              <a:t>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a:t>
            </a:r>
            <a:r>
              <a:rPr lang="en-US" dirty="0">
                <a:highlight>
                  <a:srgbClr val="FFFF00"/>
                </a:highlight>
              </a:rPr>
              <a:t>the approving set G</a:t>
            </a:r>
            <a:r>
              <a:rPr lang="en-US" dirty="0"/>
              <a:t>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a:t>
            </a:r>
            <a:r>
              <a:rPr lang="en-US" dirty="0">
                <a:highlight>
                  <a:srgbClr val="FFFF00"/>
                </a:highlight>
              </a:rPr>
              <a:t>required members of G approved and that the token exists</a:t>
            </a:r>
            <a:r>
              <a:rPr lang="en-US" dirty="0"/>
              <a:t>. VP checks the purpose and the data scope. VT checks that the request is inside the validity window. </a:t>
            </a:r>
            <a:r>
              <a:rPr lang="en-US" dirty="0">
                <a:highlight>
                  <a:srgbClr val="FFFF00"/>
                </a:highlight>
              </a:rPr>
              <a:t>VL checks that the consent is in a valid lifecycle state, for example active and not revoked. Jurisdiction is future work; the prototype already has an exploratory jurisdiction check, which its screen labels VL.</a:t>
            </a:r>
            <a:r>
              <a:rPr lang="en-US" dirty="0"/>
              <a:t>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 the validity time</a:t>
            </a:r>
            <a:r>
              <a:rPr lang="en-US" dirty="0"/>
              <a:t>.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a:t>
            </a:r>
            <a:r>
              <a:rPr lang="en-US" dirty="0">
                <a:highlight>
                  <a:srgbClr val="FFFF00"/>
                </a:highlight>
              </a:rPr>
              <a:t>lifecycle</a:t>
            </a:r>
            <a:r>
              <a:rPr lang="en-US" dirty="0"/>
              <a:t> and evidence. The consent </a:t>
            </a:r>
            <a:r>
              <a:rPr lang="en-US" dirty="0">
                <a:highlight>
                  <a:srgbClr val="FFFF00"/>
                </a:highlight>
              </a:rPr>
              <a:t>starts in the lifecycle state PENDING, which the prototype calls PENDING_SIGNATURE</a:t>
            </a:r>
            <a:r>
              <a:rPr lang="en-US" dirty="0"/>
              <a:t>.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a:t>
            </a:r>
            <a:r>
              <a:rPr lang="en-US" dirty="0">
                <a:highlight>
                  <a:srgbClr val="FFFF00"/>
                </a:highlight>
              </a:rPr>
              <a:t>The approving set G is fixed when the consent is created. It may include healthcare professionals, guardians or institutional representatives; in the prototype, G holds the guardians.</a:t>
            </a:r>
            <a:r>
              <a:rPr lang="en-US" dirty="0"/>
              <a:t>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it.</a:t>
            </a:r>
            <a:r>
              <a:rPr lang="en-US" dirty="0"/>
              <a:t> The diagram shows the lifecycle </a:t>
            </a:r>
            <a:r>
              <a:rPr lang="en-US" dirty="0">
                <a:highlight>
                  <a:srgbClr val="FFFF00"/>
                </a:highlight>
              </a:rPr>
              <a:t>of the prototype</a:t>
            </a:r>
            <a:r>
              <a:rPr lang="en-US" dirty="0"/>
              <a:t>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a:t>
            </a:r>
            <a:r>
              <a:rPr lang="en-US" dirty="0">
                <a:highlight>
                  <a:srgbClr val="FFFF00"/>
                </a:highlight>
              </a:rPr>
              <a:t>by the exploratory jurisdiction check</a:t>
            </a:r>
            <a:r>
              <a:rPr lang="en-US" dirty="0"/>
              <a:t>.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a:t>
            </a:r>
            <a:r>
              <a:rPr lang="en-US" dirty="0">
                <a:highlight>
                  <a:srgbClr val="FFFF00"/>
                </a:highlight>
              </a:rPr>
              <a:t>On this screen, VL is the prototype's jurisdiction check. In the framework, VL is the lifecycle check, and jurisdiction is future work.</a:t>
            </a:r>
            <a:r>
              <a:rPr lang="en-US" dirty="0"/>
              <a:t> All five show PASS, so the decision is ALLOW and the consent state is ACTIVE.
On the right, the same doctor asks for the four data modules again. This time the declared jurisdiction is SA, not AU. Every check passes except </a:t>
            </a:r>
            <a:r>
              <a:rPr lang="en-US" dirty="0">
                <a:highlight>
                  <a:srgbClr val="FFFF00"/>
                </a:highlight>
              </a:rPr>
              <a:t>the jurisdiction check</a:t>
            </a:r>
            <a:r>
              <a:rPr lang="en-US" dirty="0"/>
              <a:t>.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a:t>
            </a:r>
            <a:r>
              <a:rPr lang="en-US" dirty="0">
                <a:highlight>
                  <a:srgbClr val="FFFF00"/>
                </a:highlight>
              </a:rPr>
              <a:t>the exploratory jurisdiction check</a:t>
            </a:r>
            <a:r>
              <a:rPr lang="en-US" dirty="0"/>
              <a:t>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a:t>
            </a:r>
            <a:r>
              <a:rPr lang="en-US" dirty="0">
                <a:highlight>
                  <a:srgbClr val="FFFF00"/>
                </a:highlight>
              </a:rPr>
              <a:t>L is lifecycle and revocation, and E is evidence. A7, the jurisdiction attack, targets the exploratory jurisdiction check, which belongs to P</a:t>
            </a:r>
            <a:r>
              <a:rPr lang="en-US" dirty="0"/>
              <a:t>.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seven pages and holds every source cited in my report. It follows the UTS Harvard style, so the sources are listed by author name and year, and the names match the citations in the text. This first page runs from Abbasi to Ekholm. It includes the primary studies on threshold cryptography for health records, dynamic consent and informed consent, together with the technical standards for typed-data signing and soulbound tokens.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from Eneh to Hagström. It holds sources on on-chain consent management, blockchain-based health record systems, decentralised identifiers and verifiable credentials, and the documentation of the Ethereum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from Hellstern to Kharlamov. It covers consent models for health data platforms, access control for healthcare big data, attitudes to data sharing and consent, and the zero-knowledge proof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from Khayer to Narkhede. It covers identity management and trust mechanisms, fine-grained access control for medical records, decentralised multi-party consent, and patient autonomy in data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from Nassar Kyriakidou to Sawant. It covers decentralised identity, access control surveys, the PRISMA reporting guideline for the review, the Poseidon hash function used in the proof, and several blockchain architectures for consent and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sixth page, from Shanmugham to Webber. It covers self-sovereign identity frameworks, multi-party pre-authorisation, purpose-based consent models, consent management services, the Synthea synthetic patient generator, and the guardian access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from Welzel to Zhao. It covers self-determined health data sharing, the Ethereum yellow paper, trust computing for clinical trial data, multi-party EMR sharing with decentralised identifiers, searchable encryption, and threshold delegation.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a:t>
            </a:r>
            <a:r>
              <a:rPr lang="en-US" sz="1600" dirty="0">
                <a:solidFill>
                  <a:srgbClr val="0B1F33"/>
                </a:solidFill>
                <a:highlight>
                  <a:srgbClr val="FFFF00"/>
                </a:highlight>
              </a:rPr>
              <a:t>participants</a:t>
            </a:r>
            <a:r>
              <a:rPr lang="en-US" sz="1600" dirty="0">
                <a:solidFill>
                  <a:srgbClr val="0B1F33"/>
                </a:solidFill>
              </a:rPr>
              <a:t>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a:t>
            </a:r>
            <a:r>
              <a:rPr lang="en-US" sz="1600" dirty="0">
                <a:solidFill>
                  <a:srgbClr val="0B1F33"/>
                </a:solidFill>
                <a:highlight>
                  <a:srgbClr val="FFFF00"/>
                </a:highlight>
              </a:rPr>
              <a:t>purpose and data scope</a:t>
            </a:r>
            <a:r>
              <a:rPr lang="en-US" sz="1600" dirty="0">
                <a:solidFill>
                  <a:srgbClr val="0B1F33"/>
                </a:solidFill>
              </a:rPr>
              <a:t>?</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a:t>
            </a:r>
            <a:r>
              <a:rPr lang="en-US" sz="1500" dirty="0">
                <a:solidFill>
                  <a:srgbClr val="0B1F33"/>
                </a:solidFill>
                <a:highlight>
                  <a:srgbClr val="FFFF00"/>
                </a:highlight>
              </a:rPr>
              <a:t>approving set G</a:t>
            </a:r>
            <a:r>
              <a:rPr lang="en-US" sz="1500" dirty="0">
                <a:solidFill>
                  <a:srgbClr val="FFFFFF"/>
                </a:solidFill>
              </a:rPr>
              <a:t>, threshold N) · Policy (P: purpose, scope) · Time (T) · </a:t>
            </a:r>
            <a:r>
              <a:rPr lang="en-US" sz="1500" dirty="0">
                <a:solidFill>
                  <a:srgbClr val="0B1F33"/>
                </a:solidFill>
                <a:highlight>
                  <a:srgbClr val="FFFF00"/>
                </a:highlight>
              </a:rPr>
              <a:t>Lifecycle (L)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Purpose and data scope</a:t>
            </a:r>
            <a:r>
              <a:rPr lang="en-US" sz="1600" dirty="0">
                <a:solidFill>
                  <a:srgbClr val="0B1F33"/>
                </a:solidFill>
              </a:rPr>
              <a:t>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All approvals of G; token exists</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Lifecycle state allows access</a:t>
            </a:r>
            <a:endParaRPr lang="en-US" sz="1900" dirty="0"/>
          </a:p>
        </p:txBody>
      </p:sp>
      <p:sp>
        <p:nvSpPr>
          <p:cNvPr id="16" name="bullets"/>
          <p:cNvSpPr txBox="1"/>
          <p:nvPr/>
        </p:nvSpPr>
        <p:spPr>
          <a:xfrm>
            <a:off x="822960" y="4206240"/>
            <a:ext cx="10515600" cy="219456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Failure of any one condition gives DENY.</a:t>
            </a:r>
            <a:endParaRPr lang="en-US" sz="1600" dirty="0"/>
          </a:p>
          <a:p>
            <a:pPr marL="342900" indent="-342900">
              <a:spcAft>
                <a:spcPts val="1000"/>
              </a:spcAft>
              <a:buSzPct val="100000"/>
              <a:buChar char="•"/>
            </a:pPr>
            <a:r>
              <a:rPr lang="en-US" sz="1600" dirty="0">
                <a:solidFill>
                  <a:srgbClr val="FFFFFF"/>
                </a:solidFill>
              </a:rPr>
              <a:t>In the prototype, a Groth16 zero-knowledge proof must also verify before any data is released.</a:t>
            </a:r>
            <a:endParaRPr lang="en-US" sz="1600" dirty="0"/>
          </a:p>
          <a:p>
            <a:pPr marL="342900" indent="-342900">
              <a:spcAft>
                <a:spcPts val="1000"/>
              </a:spcAft>
              <a:buSzPct val="100000"/>
              <a:buChar char="•"/>
            </a:pPr>
            <a:r>
              <a:rPr lang="en-US" sz="1600" dirty="0">
                <a:solidFill>
                  <a:srgbClr val="FFFFFF"/>
                </a:solidFill>
              </a:rPr>
              <a:t>Every decision on an ACTIVE consent is written to the audit ledger with its decision matrix.</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Jurisdiction is future work for the framework; the prototype already has an exploratory jurisdiction check, labelled VL on its screen.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a:t>
            </a:r>
            <a:r>
              <a:rPr lang="en-US" sz="1600" dirty="0">
                <a:solidFill>
                  <a:srgbClr val="0B1F33"/>
                </a:solidFill>
                <a:highlight>
                  <a:srgbClr val="FFFF00"/>
                </a:highlight>
              </a:rPr>
              <a:t> and validity time</a:t>
            </a:r>
            <a:r>
              <a:rPr lang="en-US" sz="1600" dirty="0">
                <a:solidFill>
                  <a:srgbClr val="FFFFFF"/>
                </a:solidFill>
              </a:rPr>
              <a:t>;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a:t>
            </a:r>
            <a:r>
              <a:rPr lang="en-US" sz="1600" dirty="0">
                <a:solidFill>
                  <a:srgbClr val="0B1F33"/>
                </a:solidFill>
                <a:highlight>
                  <a:srgbClr val="FFFF00"/>
                </a:highlight>
              </a:rPr>
              <a:t>starts in the lifecycle state PENDING (PENDING_SIGNATURE in the prototype)</a:t>
            </a:r>
            <a:r>
              <a:rPr lang="en-US" sz="1600" dirty="0">
                <a:solidFill>
                  <a:srgbClr val="FFFFFF"/>
                </a:solidFill>
              </a:rPr>
              <a:t>;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026085" y="1115568"/>
            <a:ext cx="296735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approving set G is fixed at creation and may contain healthcare professionals, guardians or institutional representatives; in the prototype, G holds the guardians.</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prototype, six states</a:t>
            </a:r>
            <a:r>
              <a:rPr lang="en-US" sz="1600" dirty="0">
                <a:solidFill>
                  <a:srgbClr val="FFFFFF"/>
                </a:solidFill>
              </a:rPr>
              <a:t>: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 </a:t>
            </a:r>
            <a:r>
              <a:rPr lang="en-US" sz="1600" dirty="0">
                <a:solidFill>
                  <a:srgbClr val="0B1F33"/>
                </a:solidFill>
                <a:highlight>
                  <a:srgbClr val="FFFF00"/>
                </a:highlight>
              </a:rPr>
              <a:t>by the exploratory jurisdiction check</a:t>
            </a:r>
            <a:r>
              <a:rPr lang="en-US" sz="1600" dirty="0">
                <a:solidFill>
                  <a:srgbClr val="FFFFFF"/>
                </a:solidFill>
              </a:rPr>
              <a: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a:t>
            </a:r>
            <a:r>
              <a:rPr lang="en-US" sz="1200" i="1" dirty="0">
                <a:solidFill>
                  <a:srgbClr val="0B1F33"/>
                </a:solidFill>
                <a:highlight>
                  <a:srgbClr val="FFFF00"/>
                </a:highlight>
              </a:rPr>
              <a:t>jurisdiction check (VL) fails</a:t>
            </a:r>
            <a:r>
              <a:rPr lang="en-US" sz="1200" i="1" dirty="0">
                <a:solidFill>
                  <a:srgbClr val="FFFFFF"/>
                </a:solidFill>
              </a:rPr>
              <a:t>,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a:t>
                      </a:r>
                      <a:r>
                        <a:rPr lang="en-US" sz="1400" dirty="0">
                          <a:solidFill>
                            <a:srgbClr val="0B1F33"/>
                          </a:solidFill>
                          <a:highlight>
                            <a:srgbClr val="FFFF00"/>
                          </a:highlight>
                        </a:rPr>
                        <a:t>exploratory jurisdiction check</a:t>
                      </a:r>
                      <a:r>
                        <a:rPr lang="en-US" sz="1400" dirty="0">
                          <a:solidFill>
                            <a:srgbClr val="0B1F33"/>
                          </a:solidFill>
                        </a:rPr>
                        <a:t>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Latency</a:t>
                      </a:r>
                      <a:r>
                        <a:rPr lang="en-US" sz="1400" dirty="0">
                          <a:solidFill>
                            <a:srgbClr val="0B1F33"/>
                          </a:solidFill>
                        </a:rPr>
                        <a:t>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approvals </a:t>
                      </a:r>
                      <a:r>
                        <a:rPr lang="en-US" sz="1400" dirty="0">
                          <a:solidFill>
                            <a:srgbClr val="0B1F33"/>
                          </a:solidFill>
                          <a:highlight>
                            <a:srgbClr val="FFFF00"/>
                          </a:highlight>
                        </a:rPr>
                        <a:t>by the approving set G</a:t>
                      </a:r>
                      <a:r>
                        <a:rPr lang="en-US" sz="1400" dirty="0">
                          <a:solidFill>
                            <a:srgbClr val="0B1F33"/>
                          </a:solidFill>
                        </a:rPr>
                        <a:t>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zkSNARKs implementation in JavaScript, version 0.7, npm package, viewed 7 October 2026, &lt;https://www.npmjs.com/package/snarkjs&gt;.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2026-10-09T15:40:32Z</dcterms:created>
  <dcterms:modified xsi:type="dcterms:W3CDTF">2026-10-09T15:40:32Z</dcterms:modified>
</cp:coreProperties>
</file>